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5" r:id="rId1"/>
  </p:sldMasterIdLst>
  <p:notesMasterIdLst>
    <p:notesMasterId r:id="rId11"/>
  </p:notesMasterIdLst>
  <p:sldIdLst>
    <p:sldId id="2974" r:id="rId2"/>
    <p:sldId id="2981" r:id="rId3"/>
    <p:sldId id="2982" r:id="rId4"/>
    <p:sldId id="2987" r:id="rId5"/>
    <p:sldId id="2988" r:id="rId6"/>
    <p:sldId id="2985" r:id="rId7"/>
    <p:sldId id="2986" r:id="rId8"/>
    <p:sldId id="2994" r:id="rId9"/>
    <p:sldId id="299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" id="{226FA086-DDF9-422C-93BC-8C558B5A0CB5}">
          <p14:sldIdLst>
            <p14:sldId id="2974"/>
            <p14:sldId id="2981"/>
            <p14:sldId id="2982"/>
            <p14:sldId id="2987"/>
            <p14:sldId id="2988"/>
            <p14:sldId id="2985"/>
            <p14:sldId id="2986"/>
            <p14:sldId id="2994"/>
            <p14:sldId id="2993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385B"/>
    <a:srgbClr val="CFCDE0"/>
    <a:srgbClr val="817AB0"/>
    <a:srgbClr val="240085"/>
    <a:srgbClr val="969083"/>
    <a:srgbClr val="EEC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461" autoAdjust="0"/>
    <p:restoredTop sz="72505" autoAdjust="0"/>
  </p:normalViewPr>
  <p:slideViewPr>
    <p:cSldViewPr snapToGrid="0" showGuides="1">
      <p:cViewPr varScale="1">
        <p:scale>
          <a:sx n="76" d="100"/>
          <a:sy n="76" d="100"/>
        </p:scale>
        <p:origin x="675" y="39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61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B2C8F33C-395D-49DE-BFCA-75C79E84CF48}" type="datetimeFigureOut">
              <a:rPr lang="en-US" smtClean="0"/>
              <a:pPr/>
              <a:t>10/8/2023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7341FE7A-8EF3-4502-8788-3F64DADF0B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652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Hello. In this video I will show you how to calculate the </a:t>
            </a:r>
            <a:r>
              <a:rPr lang="en-US" sz="1200" b="0" i="0" dirty="0" smtClean="0"/>
              <a:t>value of a property </a:t>
            </a:r>
            <a:r>
              <a:rPr lang="en-US" sz="1200" dirty="0" smtClean="0"/>
              <a:t>given the projected cash flows. 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 </a:t>
            </a:r>
          </a:p>
          <a:p>
            <a:endParaRPr lang="en-US" sz="1200" dirty="0" smtClean="0"/>
          </a:p>
          <a:p>
            <a:r>
              <a:rPr lang="en-US" sz="1200" dirty="0" smtClean="0"/>
              <a:t>This is necessary in order to calculate the </a:t>
            </a:r>
            <a:r>
              <a:rPr lang="en-US" sz="1200" b="0" i="0" dirty="0" smtClean="0"/>
              <a:t>expected return </a:t>
            </a:r>
            <a:r>
              <a:rPr lang="en-US" sz="1200" dirty="0" smtClean="0"/>
              <a:t>on a real estate investment. 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 </a:t>
            </a:r>
          </a:p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943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I will start by defining “return” through a simple two-period model : purchase at time 0 and sale at time 1.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  Y APARECE EL TEXTO DEBAJO DE LA FLECHA DELGADA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 smtClean="0"/>
              <a:t>Return</a:t>
            </a:r>
            <a:r>
              <a:rPr lang="en-US" sz="1200" dirty="0" smtClean="0"/>
              <a:t>, is the change in price of an investment over time, which can either be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 APARECE LA LLAVE Y EL TEXTO SUPERIOR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Positive, meaning that the investment has been profitable.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 Y APARECE Y EL TEXTO INFERIOR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Or negative, meaning that the investment has resulted in a loss of money.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 Y APARECE LA FÓRMULA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It is usually calculated as a percentage: Profit (the total money taken out of the investment minus the original total invested) divided by the total amount of money initially put into the investment.</a:t>
            </a:r>
          </a:p>
          <a:p>
            <a:endParaRPr lang="es-PE" dirty="0" smtClean="0"/>
          </a:p>
          <a:p>
            <a:r>
              <a:rPr lang="en-US" sz="1200" b="1" dirty="0" smtClean="0"/>
              <a:t>CLIC EN PANTALLA </a:t>
            </a:r>
            <a:endParaRPr lang="es-PE" dirty="0" smtClean="0"/>
          </a:p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8181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Now, two important observations: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  Y APARECE CONTENIDO DEL NRO.1 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/>
              <a:t>Firstly, “Price” and “Return” are opposite sides of the same coin. As the </a:t>
            </a:r>
            <a:r>
              <a:rPr lang="en-US" sz="1200" b="0" i="0" dirty="0" smtClean="0"/>
              <a:t>price </a:t>
            </a:r>
            <a:r>
              <a:rPr lang="en-US" sz="1200" dirty="0" smtClean="0"/>
              <a:t>of an investment increases, the </a:t>
            </a:r>
            <a:r>
              <a:rPr lang="en-US" sz="1200" b="0" i="0" dirty="0" smtClean="0"/>
              <a:t>return decreases</a:t>
            </a:r>
            <a:r>
              <a:rPr lang="en-US" sz="1200" dirty="0" smtClean="0"/>
              <a:t>, and vice versa. An investor looking for a larger return from their investment has to pay a lower price in order to meet their required return.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 Y APARECE CONTENIDO DEL NRO.2</a:t>
            </a:r>
            <a:endParaRPr lang="en-US" sz="1200" dirty="0" smtClean="0"/>
          </a:p>
          <a:p>
            <a:endParaRPr lang="en-US" sz="1200" dirty="0" smtClean="0"/>
          </a:p>
          <a:p>
            <a:r>
              <a:rPr lang="en-US" sz="1200" dirty="0" smtClean="0">
                <a:solidFill>
                  <a:schemeClr val="accent4"/>
                </a:solidFill>
              </a:rPr>
              <a:t>Secondly</a:t>
            </a:r>
            <a:r>
              <a:rPr lang="en-US" sz="1200" i="1" dirty="0" smtClean="0">
                <a:solidFill>
                  <a:schemeClr val="accent4"/>
                </a:solidFill>
              </a:rPr>
              <a:t>, </a:t>
            </a:r>
            <a:r>
              <a:rPr lang="en-US" sz="1200" b="0" i="0" dirty="0" smtClean="0">
                <a:solidFill>
                  <a:schemeClr val="accent4"/>
                </a:solidFill>
              </a:rPr>
              <a:t>money is made not when you sell but when you buy an asset</a:t>
            </a:r>
            <a:r>
              <a:rPr lang="en-US" sz="1200" b="1" i="1" dirty="0" smtClean="0">
                <a:solidFill>
                  <a:schemeClr val="accent4"/>
                </a:solidFill>
              </a:rPr>
              <a:t>.</a:t>
            </a:r>
            <a:r>
              <a:rPr lang="en-US" sz="1200" i="1" dirty="0" smtClean="0">
                <a:solidFill>
                  <a:schemeClr val="accent4"/>
                </a:solidFill>
              </a:rPr>
              <a:t> </a:t>
            </a:r>
            <a:r>
              <a:rPr lang="en-US" sz="1200" dirty="0" smtClean="0">
                <a:solidFill>
                  <a:schemeClr val="accent4"/>
                </a:solidFill>
              </a:rPr>
              <a:t>This </a:t>
            </a:r>
            <a:r>
              <a:rPr lang="en-US" sz="1200" dirty="0" smtClean="0"/>
              <a:t>is because once your purchase price is set, so is your expected return. 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 Y APARECE BLOQUE DE TEXTO SUPERIOR - ANIMARLO</a:t>
            </a:r>
          </a:p>
          <a:p>
            <a:endParaRPr lang="en-US" sz="1200" dirty="0" smtClean="0"/>
          </a:p>
          <a:p>
            <a:r>
              <a:rPr lang="en-US" sz="1200" dirty="0" smtClean="0"/>
              <a:t>However your expected return is not completely in your control, as future cash flows are to a large extent dictated by the fluctuations of the market and so it is important to be prepared for unforeseen volatility in the market and your returns. 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</a:t>
            </a:r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16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 smtClean="0"/>
              <a:t>Now. I will show you how to calculate the return if there is operational cash flow (rent) in addition to the reversion cash flow (sale). </a:t>
            </a:r>
          </a:p>
          <a:p>
            <a:endParaRPr lang="en-US" sz="1200" dirty="0" smtClean="0"/>
          </a:p>
          <a:p>
            <a:r>
              <a:rPr lang="en-US" sz="1200" b="1" dirty="0" smtClean="0"/>
              <a:t>CLIC EN PANTALLA</a:t>
            </a:r>
          </a:p>
          <a:p>
            <a:endParaRPr lang="en-US" sz="1200" dirty="0" smtClean="0"/>
          </a:p>
          <a:p>
            <a:r>
              <a:rPr lang="en-US" sz="1200" dirty="0" smtClean="0"/>
              <a:t>This is the equation: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Where </a:t>
            </a:r>
            <a:r>
              <a:rPr lang="en-US" dirty="0" err="1" smtClean="0"/>
              <a:t>Rt</a:t>
            </a:r>
            <a:r>
              <a:rPr lang="en-US" dirty="0" smtClean="0"/>
              <a:t> = return</a:t>
            </a:r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CF = Operational cash flow (rent)   and</a:t>
            </a:r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V = property’s market value</a:t>
            </a:r>
            <a:endParaRPr lang="es-PE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PE" sz="1200" dirty="0" err="1" smtClean="0"/>
              <a:t>Now</a:t>
            </a:r>
            <a:r>
              <a:rPr lang="es-PE" sz="1200" dirty="0" smtClean="0"/>
              <a:t>, </a:t>
            </a:r>
            <a:r>
              <a:rPr lang="es-PE" sz="1200" dirty="0" err="1" smtClean="0"/>
              <a:t>let’s</a:t>
            </a:r>
            <a:r>
              <a:rPr lang="es-PE" sz="1200" dirty="0" smtClean="0"/>
              <a:t> </a:t>
            </a:r>
            <a:r>
              <a:rPr lang="en-US" sz="1200" dirty="0" smtClean="0"/>
              <a:t>complete the following 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</a:t>
            </a:r>
          </a:p>
          <a:p>
            <a:endParaRPr lang="en-US" sz="1200" dirty="0" smtClean="0"/>
          </a:p>
          <a:p>
            <a:r>
              <a:rPr lang="en-US" sz="1200" dirty="0" smtClean="0"/>
              <a:t>A property is bought for </a:t>
            </a:r>
            <a:r>
              <a:rPr lang="fr-FR" sz="1200" dirty="0" smtClean="0"/>
              <a:t>€</a:t>
            </a:r>
            <a:r>
              <a:rPr lang="en-GB" sz="1200" dirty="0" smtClean="0"/>
              <a:t>2</a:t>
            </a:r>
            <a:r>
              <a:rPr lang="en-US" sz="1200" dirty="0" smtClean="0"/>
              <a:t>00,000 at t=0</a:t>
            </a:r>
          </a:p>
          <a:p>
            <a:r>
              <a:rPr lang="en-US" sz="1200" dirty="0" smtClean="0"/>
              <a:t>The landlord receives </a:t>
            </a:r>
            <a:r>
              <a:rPr lang="fr-FR" sz="1200" dirty="0" smtClean="0"/>
              <a:t>€</a:t>
            </a:r>
            <a:r>
              <a:rPr lang="en-US" sz="1200" dirty="0" smtClean="0"/>
              <a:t>7,000 rent and sells the property for </a:t>
            </a:r>
            <a:r>
              <a:rPr lang="fr-FR" sz="1200" dirty="0" smtClean="0"/>
              <a:t>€</a:t>
            </a:r>
            <a:r>
              <a:rPr lang="en-US" sz="1200" dirty="0" smtClean="0"/>
              <a:t>205,000 at t = 1</a:t>
            </a:r>
          </a:p>
          <a:p>
            <a:endParaRPr lang="en-US" sz="1200" dirty="0" smtClean="0"/>
          </a:p>
          <a:p>
            <a:r>
              <a:rPr lang="en-US" sz="1200" dirty="0" smtClean="0"/>
              <a:t>In this case, what is the rate of return?</a:t>
            </a:r>
          </a:p>
          <a:p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</a:t>
            </a:r>
            <a:endParaRPr lang="en-US" sz="1200" dirty="0" smtClean="0"/>
          </a:p>
          <a:p>
            <a:endParaRPr lang="en-US" sz="1200" dirty="0" smtClean="0"/>
          </a:p>
          <a:p>
            <a:pPr lvl="0"/>
            <a:r>
              <a:rPr lang="en-US" sz="1200" b="1" i="1" dirty="0" smtClean="0"/>
              <a:t>EL EJERCICIO Y LA FÓRMULA APARECE AHORA EN LA PARTE SUPERIOR DE LA PANTALLA</a:t>
            </a:r>
            <a:endParaRPr lang="en-US" sz="1200" dirty="0" smtClean="0"/>
          </a:p>
          <a:p>
            <a:pPr lvl="0"/>
            <a:endParaRPr lang="en-US" sz="1200" dirty="0" smtClean="0"/>
          </a:p>
          <a:p>
            <a:pPr lvl="0"/>
            <a:r>
              <a:rPr lang="en-US" sz="1200" dirty="0" smtClean="0"/>
              <a:t>According to the equation in this case we have:</a:t>
            </a:r>
          </a:p>
          <a:p>
            <a:pPr lvl="0"/>
            <a:endParaRPr lang="en-US" sz="1200" dirty="0" smtClean="0"/>
          </a:p>
          <a:p>
            <a:pPr lvl="0"/>
            <a:r>
              <a:rPr lang="en-US" sz="1200" dirty="0" err="1" smtClean="0"/>
              <a:t>Rt</a:t>
            </a:r>
            <a:r>
              <a:rPr lang="en-US" sz="1200" dirty="0" smtClean="0"/>
              <a:t> = (</a:t>
            </a:r>
            <a:r>
              <a:rPr lang="fr-FR" sz="1200" dirty="0" smtClean="0"/>
              <a:t>€</a:t>
            </a:r>
            <a:r>
              <a:rPr lang="en-US" sz="1200" dirty="0" smtClean="0"/>
              <a:t>7,000 + (</a:t>
            </a:r>
            <a:r>
              <a:rPr lang="fr-FR" sz="1200" dirty="0" smtClean="0"/>
              <a:t>€205,000 – €200,000))/ €200,000</a:t>
            </a:r>
          </a:p>
          <a:p>
            <a:pPr lvl="0"/>
            <a:endParaRPr lang="fr-FR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So:</a:t>
            </a:r>
          </a:p>
          <a:p>
            <a:pPr lvl="0"/>
            <a:endParaRPr lang="fr-FR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</a:t>
            </a:r>
          </a:p>
          <a:p>
            <a:pPr lvl="0"/>
            <a:endParaRPr lang="fr-FR" sz="1200" dirty="0" smtClean="0"/>
          </a:p>
          <a:p>
            <a:pPr lvl="0"/>
            <a:r>
              <a:rPr lang="fr-FR" sz="1200" dirty="0" err="1" smtClean="0"/>
              <a:t>Rt</a:t>
            </a:r>
            <a:r>
              <a:rPr lang="fr-FR" sz="1200" dirty="0" smtClean="0"/>
              <a:t> = 6.00%</a:t>
            </a:r>
          </a:p>
          <a:p>
            <a:pPr lvl="0"/>
            <a:endParaRPr lang="fr-FR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CLIC EN PANTALLA</a:t>
            </a:r>
            <a:endParaRPr lang="fr-FR" sz="1200" dirty="0" smtClean="0"/>
          </a:p>
          <a:p>
            <a:pPr lvl="0"/>
            <a:endParaRPr lang="fr-FR" sz="1200" dirty="0" smtClean="0"/>
          </a:p>
          <a:p>
            <a:pPr lvl="0"/>
            <a:endParaRPr lang="en-GB" sz="1200" dirty="0" smtClean="0"/>
          </a:p>
          <a:p>
            <a:endParaRPr lang="es-PE" b="0" dirty="0" smtClean="0"/>
          </a:p>
          <a:p>
            <a:endParaRPr lang="es-PE" dirty="0" smtClean="0"/>
          </a:p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890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 smtClean="0"/>
              <a:t>To understand better the previous equation I will break it down:</a:t>
            </a:r>
          </a:p>
          <a:p>
            <a:endParaRPr lang="en-US" sz="1200" b="0" dirty="0" smtClean="0"/>
          </a:p>
          <a:p>
            <a:r>
              <a:rPr lang="en-GB" sz="1600" dirty="0" smtClean="0"/>
              <a:t>There are </a:t>
            </a:r>
            <a:r>
              <a:rPr lang="en-GB" sz="1600" b="1" dirty="0" smtClean="0"/>
              <a:t>two</a:t>
            </a:r>
            <a:r>
              <a:rPr lang="en-GB" sz="1600" dirty="0" smtClean="0"/>
              <a:t> components which combine to equal the </a:t>
            </a:r>
            <a:r>
              <a:rPr lang="en-GB" sz="1600" b="1" dirty="0" smtClean="0"/>
              <a:t>total return</a:t>
            </a:r>
            <a:r>
              <a:rPr lang="en-GB" sz="1600" dirty="0" smtClean="0"/>
              <a:t> of an investment:</a:t>
            </a:r>
          </a:p>
          <a:p>
            <a:endParaRPr lang="en-GB" sz="1600" dirty="0" smtClean="0"/>
          </a:p>
          <a:p>
            <a:pPr lvl="0"/>
            <a:endParaRPr lang="fr-FR" sz="16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/>
              <a:t>CLIC EN PANTALLA Y APARECE SOLO EL GLOBO DE TEXTO IZQUIERDO</a:t>
            </a:r>
          </a:p>
          <a:p>
            <a:endParaRPr lang="en-GB" sz="1600" dirty="0" smtClean="0"/>
          </a:p>
          <a:p>
            <a:r>
              <a:rPr lang="en-GB" sz="1600" dirty="0" smtClean="0">
                <a:solidFill>
                  <a:srgbClr val="0000FF"/>
                </a:solidFill>
              </a:rPr>
              <a:t>Income Return – which is the </a:t>
            </a:r>
            <a:r>
              <a:rPr lang="en-GB" sz="1600" dirty="0" smtClean="0"/>
              <a:t>return made from the net operating income, and the…</a:t>
            </a:r>
          </a:p>
          <a:p>
            <a:endParaRPr lang="en-GB" sz="1600" dirty="0" smtClean="0">
              <a:solidFill>
                <a:srgbClr val="0000FF"/>
              </a:solidFill>
            </a:endParaRPr>
          </a:p>
          <a:p>
            <a:pPr lvl="0"/>
            <a:endParaRPr lang="fr-FR" sz="16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/>
              <a:t>CLIC EN PANTALLA Y APARECE SOLO EL GLOBO DE TEXTO DERECHO</a:t>
            </a:r>
          </a:p>
          <a:p>
            <a:endParaRPr lang="en-GB" sz="1600" dirty="0" smtClean="0">
              <a:solidFill>
                <a:srgbClr val="0000FF"/>
              </a:solidFill>
            </a:endParaRPr>
          </a:p>
          <a:p>
            <a:r>
              <a:rPr lang="en-GB" sz="1600" dirty="0" smtClean="0">
                <a:solidFill>
                  <a:srgbClr val="0000FF"/>
                </a:solidFill>
              </a:rPr>
              <a:t>Appreciation Return – which is the </a:t>
            </a:r>
            <a:r>
              <a:rPr lang="en-GB" sz="1600" dirty="0" smtClean="0"/>
              <a:t>return made from the increasing market value of the property.</a:t>
            </a:r>
          </a:p>
          <a:p>
            <a:endParaRPr lang="en-GB" sz="16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/>
              <a:t>CLIC EN PANTALLA Y APARECE LA LLAVE DE INCOME RETURN Y SU BLOQUE DE TEXTO</a:t>
            </a:r>
          </a:p>
          <a:p>
            <a:endParaRPr lang="en-GB" sz="1600" dirty="0" smtClean="0">
              <a:solidFill>
                <a:srgbClr val="0000FF"/>
              </a:solidFill>
            </a:endParaRPr>
          </a:p>
          <a:p>
            <a:r>
              <a:rPr lang="en-GB" sz="1600" dirty="0" smtClean="0">
                <a:solidFill>
                  <a:srgbClr val="0000FF"/>
                </a:solidFill>
              </a:rPr>
              <a:t>The Income return i</a:t>
            </a:r>
            <a:r>
              <a:rPr lang="en-GB" sz="1600" dirty="0" smtClean="0"/>
              <a:t>s often referred to as the </a:t>
            </a:r>
            <a:r>
              <a:rPr lang="en-GB" sz="1600" b="1" dirty="0" smtClean="0"/>
              <a:t>yield </a:t>
            </a:r>
            <a:r>
              <a:rPr lang="en-GB" sz="1600" dirty="0" smtClean="0"/>
              <a:t>of an investment and can be expressed as such:</a:t>
            </a:r>
          </a:p>
          <a:p>
            <a:endParaRPr lang="en-GB" sz="16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/>
              <a:t>CLIC EN PANTALLA Y APARECE LA FÓRMULA ABAJO Y LA FÓRMULA APLICADA CON LAS LLAMADAS INDICANDO LO QUE SIGNIFICA CADA COMPONENTE.</a:t>
            </a:r>
          </a:p>
          <a:p>
            <a:endParaRPr lang="en-GB" sz="1600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 err="1" smtClean="0"/>
              <a:t>yt</a:t>
            </a:r>
            <a:r>
              <a:rPr lang="en-GB" sz="1600" dirty="0" smtClean="0"/>
              <a:t> = </a:t>
            </a:r>
            <a:r>
              <a:rPr lang="en-GB" sz="1600" dirty="0" err="1" smtClean="0"/>
              <a:t>CFt</a:t>
            </a:r>
            <a:r>
              <a:rPr lang="en-GB" sz="1600" dirty="0" smtClean="0"/>
              <a:t> / Vt-1  (Where y = yield, CF is the operational cash flow and V is the property’s market value)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 smtClean="0"/>
              <a:t>Is important to investors who concentrate more on income than growth.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GB" sz="1600" dirty="0" smtClean="0"/>
          </a:p>
          <a:p>
            <a:pPr lvl="0">
              <a:buFont typeface="Arial" panose="020B0604020202020204" pitchFamily="34" charset="0"/>
              <a:buNone/>
            </a:pPr>
            <a:r>
              <a:rPr lang="en-GB" sz="1600" b="1" dirty="0" smtClean="0"/>
              <a:t>CLIC EN PANTALLA Y DESAPARECEN LAS LLAMADAS Y APARECE LA FÓRMULA DESARROLLADA ENCERRADA EN CELESTE</a:t>
            </a:r>
          </a:p>
          <a:p>
            <a:pPr lvl="0">
              <a:buFont typeface="Arial" panose="020B0604020202020204" pitchFamily="34" charset="0"/>
              <a:buNone/>
            </a:pPr>
            <a:endParaRPr lang="en-GB" sz="1600" b="1" dirty="0" smtClean="0"/>
          </a:p>
          <a:p>
            <a:pPr lvl="2">
              <a:buFont typeface="Arial" panose="020B0604020202020204" pitchFamily="34" charset="0"/>
              <a:buChar char="•"/>
            </a:pPr>
            <a:r>
              <a:rPr lang="en-GB" sz="1600" dirty="0" smtClean="0"/>
              <a:t>For example: </a:t>
            </a:r>
            <a:r>
              <a:rPr lang="fr-FR" sz="1600" dirty="0" smtClean="0"/>
              <a:t>€7,000 / €200,000 = 3.5%</a:t>
            </a:r>
          </a:p>
          <a:p>
            <a:pPr lvl="2">
              <a:buFont typeface="Arial" panose="020B0604020202020204" pitchFamily="34" charset="0"/>
              <a:buNone/>
            </a:pPr>
            <a:endParaRPr lang="en-GB" sz="1600" dirty="0" smtClean="0">
              <a:solidFill>
                <a:schemeClr val="tx1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 smtClean="0"/>
              <a:t>CLIC EN PANTALLA Y APARECE LA LLAVE DE APPRECIATION RETURN Y SU BLOQUE DE TEXTO </a:t>
            </a:r>
          </a:p>
          <a:p>
            <a:pPr lvl="0">
              <a:buFont typeface="Arial" panose="020B0604020202020204" pitchFamily="34" charset="0"/>
              <a:buNone/>
            </a:pPr>
            <a:endParaRPr lang="en-GB" sz="1600" dirty="0" smtClean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None/>
            </a:pPr>
            <a:r>
              <a:rPr lang="en-GB" sz="1600" dirty="0" smtClean="0">
                <a:solidFill>
                  <a:schemeClr val="tx1"/>
                </a:solidFill>
              </a:rPr>
              <a:t>Ant the </a:t>
            </a:r>
            <a:r>
              <a:rPr lang="en-GB" sz="1600" dirty="0" smtClean="0">
                <a:solidFill>
                  <a:srgbClr val="0000FF"/>
                </a:solidFill>
              </a:rPr>
              <a:t>Appreciation Return i</a:t>
            </a:r>
            <a:r>
              <a:rPr lang="en-GB" sz="1600" dirty="0" smtClean="0"/>
              <a:t>s the cash flow derived from the </a:t>
            </a:r>
            <a:r>
              <a:rPr lang="en-GB" sz="1600" b="1" dirty="0" smtClean="0"/>
              <a:t>rise in value </a:t>
            </a:r>
            <a:r>
              <a:rPr lang="en-GB" sz="1600" dirty="0" smtClean="0"/>
              <a:t>of a property, and can be expressed as such: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600" b="1" dirty="0" smtClean="0"/>
              <a:t>CLIC EN PANTALLA Y APARECE LA FÓRMULA ABAJO Y LA FÓRMULA APLICADA CON LAS LLAMADAS INDICANDO LO QUE SIGNIFICA CADA COMPONENTE.</a:t>
            </a:r>
          </a:p>
          <a:p>
            <a:pPr marL="0" lvl="0" indent="0">
              <a:buFont typeface="Arial" panose="020B0604020202020204" pitchFamily="34" charset="0"/>
              <a:buNone/>
            </a:pPr>
            <a:endParaRPr lang="en-GB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 err="1" smtClean="0"/>
              <a:t>G</a:t>
            </a:r>
            <a:r>
              <a:rPr lang="en-GB" sz="1600" baseline="-25000" dirty="0" err="1" smtClean="0"/>
              <a:t>t</a:t>
            </a:r>
            <a:r>
              <a:rPr lang="en-GB" sz="1600" dirty="0" smtClean="0"/>
              <a:t> = (</a:t>
            </a:r>
            <a:r>
              <a:rPr lang="en-GB" sz="1600" dirty="0" err="1" smtClean="0"/>
              <a:t>V</a:t>
            </a:r>
            <a:r>
              <a:rPr lang="en-GB" sz="1600" baseline="-25000" dirty="0" err="1" smtClean="0"/>
              <a:t>t</a:t>
            </a:r>
            <a:r>
              <a:rPr lang="en-GB" sz="1600" dirty="0" smtClean="0"/>
              <a:t> – V</a:t>
            </a:r>
            <a:r>
              <a:rPr lang="en-GB" sz="1600" baseline="-25000" dirty="0" smtClean="0"/>
              <a:t>t-1</a:t>
            </a:r>
            <a:r>
              <a:rPr lang="en-GB" sz="1600" dirty="0" smtClean="0"/>
              <a:t>) / V</a:t>
            </a:r>
            <a:r>
              <a:rPr lang="en-GB" sz="1600" baseline="-25000" dirty="0" smtClean="0"/>
              <a:t>t-1 </a:t>
            </a:r>
            <a:r>
              <a:rPr lang="en-GB" sz="1600" dirty="0" smtClean="0"/>
              <a:t>   (where G = growth and V is the property’s market value)</a:t>
            </a:r>
            <a:endParaRPr lang="en-GB" sz="1600" baseline="-250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Is important to investors who concentrate more on capital growth than income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GB" sz="1600" b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1600" b="1" dirty="0" smtClean="0"/>
              <a:t>CLIC EN PANTALLA Y DESAPARECEN LAS LLAMADAS Y APARECE LA FÓRMULA DESARROLLADA ENCERRADA EN CELESTE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GB" sz="1600" dirty="0" smtClean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GB" sz="1600" dirty="0" smtClean="0"/>
              <a:t>For example: (</a:t>
            </a:r>
            <a:r>
              <a:rPr lang="fr-FR" sz="1600" dirty="0" smtClean="0"/>
              <a:t>€</a:t>
            </a:r>
            <a:r>
              <a:rPr lang="en-GB" sz="1600" dirty="0" smtClean="0"/>
              <a:t>205,000 - </a:t>
            </a:r>
            <a:r>
              <a:rPr lang="fr-FR" sz="1600" dirty="0" smtClean="0"/>
              <a:t>€</a:t>
            </a:r>
            <a:r>
              <a:rPr lang="en-GB" sz="1600" dirty="0" smtClean="0"/>
              <a:t>200,000) / </a:t>
            </a:r>
            <a:r>
              <a:rPr lang="fr-FR" sz="1600" dirty="0" smtClean="0"/>
              <a:t>€ </a:t>
            </a:r>
            <a:r>
              <a:rPr lang="en-GB" sz="1600" dirty="0" smtClean="0"/>
              <a:t>200,000 = 2.5%</a:t>
            </a:r>
            <a:endParaRPr lang="en-GB" sz="1600" b="1" dirty="0" smtClean="0">
              <a:solidFill>
                <a:srgbClr val="C00000"/>
              </a:solidFill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en-GB" sz="1600" b="1" dirty="0" smtClean="0">
              <a:solidFill>
                <a:srgbClr val="C00000"/>
              </a:solidFill>
            </a:endParaRP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GB" sz="1600" b="1" dirty="0" smtClean="0"/>
              <a:t>CLIC EN PANTALLA </a:t>
            </a:r>
          </a:p>
          <a:p>
            <a:pPr marL="0" lvl="0" indent="0">
              <a:buFont typeface="Arial" panose="020B0604020202020204" pitchFamily="34" charset="0"/>
              <a:buNone/>
            </a:pPr>
            <a:r>
              <a:rPr lang="en-US" sz="1200" b="1" dirty="0" smtClean="0"/>
              <a:t> </a:t>
            </a:r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13751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600" b="0" dirty="0" smtClean="0">
                <a:solidFill>
                  <a:srgbClr val="C00000"/>
                </a:solidFill>
              </a:rPr>
              <a:t>So, as Total Return </a:t>
            </a:r>
            <a:r>
              <a:rPr lang="en-GB" sz="1600" dirty="0" smtClean="0">
                <a:solidFill>
                  <a:srgbClr val="C00000"/>
                </a:solidFill>
              </a:rPr>
              <a:t>=</a:t>
            </a:r>
            <a:r>
              <a:rPr lang="en-GB" sz="1600" dirty="0" smtClean="0"/>
              <a:t> </a:t>
            </a:r>
            <a:r>
              <a:rPr lang="en-GB" sz="1600" dirty="0" smtClean="0">
                <a:solidFill>
                  <a:srgbClr val="0000FF"/>
                </a:solidFill>
              </a:rPr>
              <a:t>Income Return + Appreciation Return</a:t>
            </a:r>
          </a:p>
          <a:p>
            <a:endParaRPr lang="en-GB" sz="1600" dirty="0" smtClean="0">
              <a:solidFill>
                <a:srgbClr val="0000FF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b="1" dirty="0" smtClean="0"/>
              <a:t>CLIC EN PANTALLA </a:t>
            </a:r>
            <a:endParaRPr lang="en-GB" sz="1600" dirty="0" smtClean="0">
              <a:solidFill>
                <a:srgbClr val="0000FF"/>
              </a:solidFill>
            </a:endParaRPr>
          </a:p>
          <a:p>
            <a:pPr lvl="1"/>
            <a:endParaRPr lang="en-GB" sz="1600" dirty="0" smtClean="0"/>
          </a:p>
          <a:p>
            <a:pPr lvl="0"/>
            <a:r>
              <a:rPr lang="en-GB" sz="1600" dirty="0" smtClean="0"/>
              <a:t>Therefore, the total return is 3.5% + 2.5% = 6%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</a:t>
            </a:r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251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 smtClean="0"/>
              <a:t>Now</a:t>
            </a:r>
            <a:r>
              <a:rPr lang="es-PE" dirty="0" smtClean="0"/>
              <a:t> </a:t>
            </a:r>
            <a:r>
              <a:rPr lang="es-PE" dirty="0" err="1" smtClean="0"/>
              <a:t>that</a:t>
            </a:r>
            <a:r>
              <a:rPr lang="es-PE" dirty="0" smtClean="0"/>
              <a:t> </a:t>
            </a:r>
            <a:r>
              <a:rPr lang="es-PE" dirty="0" err="1" smtClean="0"/>
              <a:t>you</a:t>
            </a:r>
            <a:r>
              <a:rPr lang="es-PE" dirty="0" smtClean="0"/>
              <a:t> </a:t>
            </a:r>
            <a:r>
              <a:rPr lang="es-PE" dirty="0" err="1" smtClean="0"/>
              <a:t>know</a:t>
            </a:r>
            <a:r>
              <a:rPr lang="es-PE" dirty="0" smtClean="0"/>
              <a:t> </a:t>
            </a:r>
            <a:r>
              <a:rPr lang="es-PE" dirty="0" err="1" smtClean="0"/>
              <a:t>how</a:t>
            </a:r>
            <a:r>
              <a:rPr lang="es-PE" dirty="0" smtClean="0"/>
              <a:t> </a:t>
            </a:r>
            <a:r>
              <a:rPr lang="es-PE" dirty="0" err="1" smtClean="0"/>
              <a:t>to</a:t>
            </a:r>
            <a:r>
              <a:rPr lang="es-PE" dirty="0" smtClean="0"/>
              <a:t> </a:t>
            </a:r>
            <a:r>
              <a:rPr lang="en-US" dirty="0" smtClean="0"/>
              <a:t>calculate the return of an investment over one period, I will show you how to measure the return of a multi-period investment.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</a:t>
            </a:r>
          </a:p>
          <a:p>
            <a:endParaRPr lang="en-US" dirty="0" smtClean="0"/>
          </a:p>
          <a:p>
            <a:r>
              <a:rPr lang="en-US" sz="1200" dirty="0" smtClean="0"/>
              <a:t>In the real estate sector, total return is typically measured over multiple time periods because real estate investment is normally long-term. </a:t>
            </a:r>
          </a:p>
          <a:p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Y APARECE EL ÍCONO &gt; Y EL TEXTO DE LA DERECHA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Investors therefore need to calculate the expected long-term horizon of the investment, and the following definition is widely employed:</a:t>
            </a:r>
          </a:p>
          <a:p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 Y APARECE EL BLOQUE DE TEXTO Y LA FÓRMULA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 smtClean="0"/>
              <a:t>Internal Rate of Return or </a:t>
            </a:r>
            <a:r>
              <a:rPr lang="en-US" sz="1200" dirty="0" smtClean="0"/>
              <a:t>IRR is the single rate that discounts all net cash flows obtained from the investment to a present value that equals the purchase price of the investment.</a:t>
            </a:r>
          </a:p>
          <a:p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</a:t>
            </a:r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002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There are two approaches to real estate valuation:</a:t>
            </a:r>
          </a:p>
          <a:p>
            <a:endParaRPr lang="en-US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</a:t>
            </a:r>
          </a:p>
          <a:p>
            <a:endParaRPr lang="en-US" dirty="0" smtClean="0"/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The Income Capitalization Approach (Cap Rate/Yield) and the Discounted Cash Flow (“DCF”) Approach. 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 Y DESAPARECE EL BLOQUE DE TEXTO DE LA DERECHA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The Income Capitalization Approach is used to…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Y APARECE EL BULLET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calculate how much income an investment will generate over an infinite/perpetual stream of cash flows (cannot be used in finite horizon investment valuation), where…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Y APRECE LA FÓRMULA Y LLAMADA DE LA IZQUIERDA</a:t>
            </a:r>
          </a:p>
          <a:p>
            <a:endParaRPr lang="es-PE" dirty="0" smtClean="0"/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0000FF"/>
                </a:solidFill>
              </a:rPr>
              <a:t>Property value = NOI</a:t>
            </a:r>
            <a:r>
              <a:rPr lang="en-US" sz="800" dirty="0" smtClean="0">
                <a:solidFill>
                  <a:srgbClr val="0000FF"/>
                </a:solidFill>
              </a:rPr>
              <a:t>1</a:t>
            </a:r>
            <a:r>
              <a:rPr lang="en-US" sz="1200" dirty="0" smtClean="0">
                <a:solidFill>
                  <a:srgbClr val="0000FF"/>
                </a:solidFill>
              </a:rPr>
              <a:t> / Capitalization Rate</a:t>
            </a:r>
            <a:r>
              <a:rPr lang="en-US" sz="1200" dirty="0" smtClean="0"/>
              <a:t> 	(where NOI</a:t>
            </a:r>
            <a:r>
              <a:rPr lang="en-US" sz="900" dirty="0" smtClean="0"/>
              <a:t>1</a:t>
            </a:r>
            <a:r>
              <a:rPr lang="en-US" sz="1200" dirty="0" smtClean="0"/>
              <a:t> stands for the NOI a year after the initial investment) </a:t>
            </a:r>
          </a:p>
          <a:p>
            <a:pPr>
              <a:lnSpc>
                <a:spcPct val="90000"/>
              </a:lnSpc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Y LLAMADA DE LA DERECHA</a:t>
            </a:r>
          </a:p>
          <a:p>
            <a:pPr>
              <a:lnSpc>
                <a:spcPct val="90000"/>
              </a:lnSpc>
            </a:pPr>
            <a:endParaRPr lang="en-US" sz="1200" dirty="0" smtClean="0"/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FF0000"/>
                </a:solidFill>
              </a:rPr>
              <a:t>The Cap Rate captures the opportunity cost of capital of an alternative but similar investment for the investor – it is determined by comparing the cap rates of other similar properties in capital markets.</a:t>
            </a:r>
          </a:p>
          <a:p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</a:t>
            </a:r>
            <a:endParaRPr lang="es-PE" dirty="0" smtClean="0"/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Y APARECE EL BLOQUE DE LA DERECHA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PE" dirty="0" smtClean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Meanwhile the Discounted Cash Flow (“DCF”) Approach is used to…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</a:t>
            </a: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Calculate the total return, including income return and appreciation return, of the investment.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200" b="1" dirty="0" smtClean="0"/>
              <a:t>CLIC EN PANTALLA 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Property value = PV (present value) of all future cash flows, discounted at the required total rate of return (“discount rate”)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200" b="1" dirty="0" smtClean="0"/>
              <a:t>CLIC EN PANTALLA </a:t>
            </a:r>
          </a:p>
          <a:p>
            <a:pPr>
              <a:lnSpc>
                <a:spcPct val="90000"/>
              </a:lnSpc>
            </a:pPr>
            <a:endParaRPr lang="en-GB" sz="1200" b="1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US" sz="1200" dirty="0" smtClean="0">
                <a:solidFill>
                  <a:srgbClr val="C00000"/>
                </a:solidFill>
              </a:rPr>
              <a:t>It is only appropriate for finite horizon investment valuation (e.g. 7 years).</a:t>
            </a: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r>
              <a:rPr lang="en-GB" sz="1200" b="1" dirty="0" smtClean="0"/>
              <a:t>CLIC EN PANTALLA</a:t>
            </a: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endParaRPr lang="es-PE" dirty="0" smtClean="0"/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pPr>
              <a:lnSpc>
                <a:spcPct val="90000"/>
              </a:lnSpc>
            </a:pPr>
            <a:endParaRPr lang="en-US" sz="1200" dirty="0" smtClean="0">
              <a:solidFill>
                <a:srgbClr val="C00000"/>
              </a:solidFill>
            </a:endParaRPr>
          </a:p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8910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dirty="0" smtClean="0"/>
              <a:t>And finally, how do we split the “cap rate” between the investor’s time discount rate and the property’s growth rate?</a:t>
            </a:r>
          </a:p>
          <a:p>
            <a:endParaRPr lang="en-US" sz="1200" b="0" dirty="0" smtClean="0"/>
          </a:p>
          <a:p>
            <a:r>
              <a:rPr lang="en-GB" sz="1200" b="1" dirty="0" smtClean="0"/>
              <a:t>CLIC EN PANTALLA </a:t>
            </a:r>
            <a:endParaRPr lang="en-US" sz="1200" b="0" dirty="0" smtClean="0"/>
          </a:p>
          <a:p>
            <a:endParaRPr lang="en-US" sz="1200" b="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To the extent that a real estate investment approximates a constant growth annuity…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Where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dirty="0" smtClean="0"/>
              <a:t>CLIC EN PANTALLA  Y APARECEN LAS LLAMADAS DE LA FÓRMULA</a:t>
            </a: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Y</a:t>
            </a:r>
            <a:r>
              <a:rPr lang="en-US" sz="1200" baseline="-25000" dirty="0" smtClean="0"/>
              <a:t>0 </a:t>
            </a:r>
            <a:r>
              <a:rPr lang="en-US" sz="1200" dirty="0" smtClean="0"/>
              <a:t>= discount Rate, </a:t>
            </a:r>
            <a:r>
              <a:rPr lang="en-US" sz="1200" dirty="0" err="1" smtClean="0"/>
              <a:t>g</a:t>
            </a:r>
            <a:r>
              <a:rPr lang="en-US" sz="1200" baseline="-25000" dirty="0" err="1" smtClean="0"/>
              <a:t>I</a:t>
            </a:r>
            <a:r>
              <a:rPr lang="en-US" sz="1200" baseline="-25000" dirty="0" smtClean="0"/>
              <a:t> = </a:t>
            </a:r>
            <a:r>
              <a:rPr lang="en-US" sz="1200" dirty="0" smtClean="0"/>
              <a:t>growth Rate, and R</a:t>
            </a:r>
            <a:r>
              <a:rPr lang="en-US" sz="1200" baseline="-25000" dirty="0" smtClean="0"/>
              <a:t>0 </a:t>
            </a:r>
            <a:r>
              <a:rPr lang="en-US" sz="1200" dirty="0" smtClean="0"/>
              <a:t>= Cap Rate</a:t>
            </a:r>
          </a:p>
          <a:p>
            <a:endParaRPr lang="en-US" sz="1200" b="0" dirty="0" smtClean="0"/>
          </a:p>
          <a:p>
            <a:r>
              <a:rPr lang="en-US" sz="1200" dirty="0" smtClean="0"/>
              <a:t>Now, I will show you a valuation model where the two valuation methods are used to calculate the value of a property.</a:t>
            </a:r>
          </a:p>
          <a:p>
            <a:endParaRPr lang="en-US" sz="1200" b="0" dirty="0" smtClean="0"/>
          </a:p>
          <a:p>
            <a:r>
              <a:rPr lang="en-US" sz="1200" b="1" dirty="0" smtClean="0"/>
              <a:t>CLIC EN PANTALLA Y PASA AL SIMULADOR</a:t>
            </a:r>
            <a:endParaRPr lang="es-PE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41FE7A-8EF3-4502-8788-3F64DADF0B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87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56">
            <a:extLst>
              <a:ext uri="{FF2B5EF4-FFF2-40B4-BE49-F238E27FC236}">
                <a16:creationId xmlns="" xmlns:a16="http://schemas.microsoft.com/office/drawing/2014/main" id="{D45A2EF9-CFDE-784B-94E3-6228850B1B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141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219909-41BA-458B-8FE5-54D6599C0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628" y="2001837"/>
            <a:ext cx="10112372" cy="1508125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827D9DA-1D31-4A59-8B1E-D93756E0CF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628" y="3749674"/>
            <a:ext cx="10112372" cy="1508125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0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grpSp>
        <p:nvGrpSpPr>
          <p:cNvPr id="14" name="Group 131">
            <a:extLst>
              <a:ext uri="{FF2B5EF4-FFF2-40B4-BE49-F238E27FC236}">
                <a16:creationId xmlns="" xmlns:a16="http://schemas.microsoft.com/office/drawing/2014/main" id="{3033FD46-B57D-9F4D-8467-2DB560B48579}"/>
              </a:ext>
            </a:extLst>
          </p:cNvPr>
          <p:cNvGrpSpPr/>
          <p:nvPr userDrawn="1"/>
        </p:nvGrpSpPr>
        <p:grpSpPr>
          <a:xfrm>
            <a:off x="11101794" y="532062"/>
            <a:ext cx="538821" cy="775241"/>
            <a:chOff x="-4341813" y="1827213"/>
            <a:chExt cx="466726" cy="671512"/>
          </a:xfrm>
        </p:grpSpPr>
        <p:sp>
          <p:nvSpPr>
            <p:cNvPr id="15" name="Freeform 13">
              <a:extLst>
                <a:ext uri="{FF2B5EF4-FFF2-40B4-BE49-F238E27FC236}">
                  <a16:creationId xmlns="" xmlns:a16="http://schemas.microsoft.com/office/drawing/2014/main" id="{0C7C7776-DB69-7949-A5C3-7D72AA187C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235450" y="1827213"/>
              <a:ext cx="58738" cy="73025"/>
            </a:xfrm>
            <a:custGeom>
              <a:avLst/>
              <a:gdLst>
                <a:gd name="T0" fmla="*/ 7 w 25"/>
                <a:gd name="T1" fmla="*/ 18 h 32"/>
                <a:gd name="T2" fmla="*/ 7 w 25"/>
                <a:gd name="T3" fmla="*/ 26 h 32"/>
                <a:gd name="T4" fmla="*/ 14 w 25"/>
                <a:gd name="T5" fmla="*/ 26 h 32"/>
                <a:gd name="T6" fmla="*/ 17 w 25"/>
                <a:gd name="T7" fmla="*/ 22 h 32"/>
                <a:gd name="T8" fmla="*/ 14 w 25"/>
                <a:gd name="T9" fmla="*/ 18 h 32"/>
                <a:gd name="T10" fmla="*/ 7 w 25"/>
                <a:gd name="T11" fmla="*/ 18 h 32"/>
                <a:gd name="T12" fmla="*/ 13 w 25"/>
                <a:gd name="T13" fmla="*/ 12 h 32"/>
                <a:gd name="T14" fmla="*/ 16 w 25"/>
                <a:gd name="T15" fmla="*/ 9 h 32"/>
                <a:gd name="T16" fmla="*/ 13 w 25"/>
                <a:gd name="T17" fmla="*/ 6 h 32"/>
                <a:gd name="T18" fmla="*/ 7 w 25"/>
                <a:gd name="T19" fmla="*/ 6 h 32"/>
                <a:gd name="T20" fmla="*/ 7 w 25"/>
                <a:gd name="T21" fmla="*/ 12 h 32"/>
                <a:gd name="T22" fmla="*/ 13 w 25"/>
                <a:gd name="T23" fmla="*/ 12 h 32"/>
                <a:gd name="T24" fmla="*/ 19 w 25"/>
                <a:gd name="T25" fmla="*/ 15 h 32"/>
                <a:gd name="T26" fmla="*/ 25 w 25"/>
                <a:gd name="T27" fmla="*/ 22 h 32"/>
                <a:gd name="T28" fmla="*/ 14 w 25"/>
                <a:gd name="T29" fmla="*/ 32 h 32"/>
                <a:gd name="T30" fmla="*/ 0 w 25"/>
                <a:gd name="T31" fmla="*/ 32 h 32"/>
                <a:gd name="T32" fmla="*/ 0 w 25"/>
                <a:gd name="T33" fmla="*/ 0 h 32"/>
                <a:gd name="T34" fmla="*/ 13 w 25"/>
                <a:gd name="T35" fmla="*/ 0 h 32"/>
                <a:gd name="T36" fmla="*/ 23 w 25"/>
                <a:gd name="T37" fmla="*/ 9 h 32"/>
                <a:gd name="T38" fmla="*/ 19 w 25"/>
                <a:gd name="T39" fmla="*/ 15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32">
                  <a:moveTo>
                    <a:pt x="7" y="18"/>
                  </a:moveTo>
                  <a:cubicBezTo>
                    <a:pt x="7" y="26"/>
                    <a:pt x="7" y="26"/>
                    <a:pt x="7" y="2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6" y="26"/>
                    <a:pt x="17" y="24"/>
                    <a:pt x="17" y="22"/>
                  </a:cubicBezTo>
                  <a:cubicBezTo>
                    <a:pt x="17" y="20"/>
                    <a:pt x="16" y="18"/>
                    <a:pt x="14" y="18"/>
                  </a:cubicBezTo>
                  <a:lnTo>
                    <a:pt x="7" y="18"/>
                  </a:lnTo>
                  <a:close/>
                  <a:moveTo>
                    <a:pt x="13" y="12"/>
                  </a:moveTo>
                  <a:cubicBezTo>
                    <a:pt x="15" y="12"/>
                    <a:pt x="16" y="11"/>
                    <a:pt x="16" y="9"/>
                  </a:cubicBezTo>
                  <a:cubicBezTo>
                    <a:pt x="16" y="7"/>
                    <a:pt x="15" y="6"/>
                    <a:pt x="13" y="6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12"/>
                    <a:pt x="7" y="12"/>
                    <a:pt x="7" y="12"/>
                  </a:cubicBezTo>
                  <a:lnTo>
                    <a:pt x="13" y="12"/>
                  </a:lnTo>
                  <a:close/>
                  <a:moveTo>
                    <a:pt x="19" y="15"/>
                  </a:moveTo>
                  <a:cubicBezTo>
                    <a:pt x="23" y="16"/>
                    <a:pt x="25" y="19"/>
                    <a:pt x="25" y="22"/>
                  </a:cubicBezTo>
                  <a:cubicBezTo>
                    <a:pt x="25" y="28"/>
                    <a:pt x="21" y="32"/>
                    <a:pt x="14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9" y="0"/>
                    <a:pt x="23" y="3"/>
                    <a:pt x="23" y="9"/>
                  </a:cubicBezTo>
                  <a:cubicBezTo>
                    <a:pt x="23" y="11"/>
                    <a:pt x="22" y="13"/>
                    <a:pt x="19" y="1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16" name="Freeform 14">
              <a:extLst>
                <a:ext uri="{FF2B5EF4-FFF2-40B4-BE49-F238E27FC236}">
                  <a16:creationId xmlns="" xmlns:a16="http://schemas.microsoft.com/office/drawing/2014/main" id="{742A6F9F-5161-8445-9DD8-E19FFC7FD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65600" y="1827213"/>
              <a:ext cx="49213" cy="73025"/>
            </a:xfrm>
            <a:custGeom>
              <a:avLst/>
              <a:gdLst>
                <a:gd name="T0" fmla="*/ 0 w 31"/>
                <a:gd name="T1" fmla="*/ 0 h 46"/>
                <a:gd name="T2" fmla="*/ 0 w 31"/>
                <a:gd name="T3" fmla="*/ 46 h 46"/>
                <a:gd name="T4" fmla="*/ 31 w 31"/>
                <a:gd name="T5" fmla="*/ 46 h 46"/>
                <a:gd name="T6" fmla="*/ 31 w 31"/>
                <a:gd name="T7" fmla="*/ 38 h 46"/>
                <a:gd name="T8" fmla="*/ 10 w 31"/>
                <a:gd name="T9" fmla="*/ 38 h 46"/>
                <a:gd name="T10" fmla="*/ 10 w 31"/>
                <a:gd name="T11" fmla="*/ 27 h 46"/>
                <a:gd name="T12" fmla="*/ 28 w 31"/>
                <a:gd name="T13" fmla="*/ 27 h 46"/>
                <a:gd name="T14" fmla="*/ 28 w 31"/>
                <a:gd name="T15" fmla="*/ 19 h 46"/>
                <a:gd name="T16" fmla="*/ 10 w 31"/>
                <a:gd name="T17" fmla="*/ 19 h 46"/>
                <a:gd name="T18" fmla="*/ 10 w 31"/>
                <a:gd name="T19" fmla="*/ 8 h 46"/>
                <a:gd name="T20" fmla="*/ 31 w 31"/>
                <a:gd name="T21" fmla="*/ 8 h 46"/>
                <a:gd name="T22" fmla="*/ 31 w 31"/>
                <a:gd name="T23" fmla="*/ 0 h 46"/>
                <a:gd name="T24" fmla="*/ 0 w 31"/>
                <a:gd name="T25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1" h="46">
                  <a:moveTo>
                    <a:pt x="0" y="0"/>
                  </a:moveTo>
                  <a:lnTo>
                    <a:pt x="0" y="46"/>
                  </a:lnTo>
                  <a:lnTo>
                    <a:pt x="31" y="46"/>
                  </a:lnTo>
                  <a:lnTo>
                    <a:pt x="31" y="38"/>
                  </a:lnTo>
                  <a:lnTo>
                    <a:pt x="10" y="38"/>
                  </a:lnTo>
                  <a:lnTo>
                    <a:pt x="10" y="27"/>
                  </a:lnTo>
                  <a:lnTo>
                    <a:pt x="28" y="27"/>
                  </a:lnTo>
                  <a:lnTo>
                    <a:pt x="28" y="19"/>
                  </a:lnTo>
                  <a:lnTo>
                    <a:pt x="10" y="19"/>
                  </a:lnTo>
                  <a:lnTo>
                    <a:pt x="10" y="8"/>
                  </a:lnTo>
                  <a:lnTo>
                    <a:pt x="31" y="8"/>
                  </a:lnTo>
                  <a:lnTo>
                    <a:pt x="3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17" name="Freeform 15">
              <a:extLst>
                <a:ext uri="{FF2B5EF4-FFF2-40B4-BE49-F238E27FC236}">
                  <a16:creationId xmlns="" xmlns:a16="http://schemas.microsoft.com/office/drawing/2014/main" id="{BF17DDF8-FD0B-2B46-9114-1EEEBB4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00513" y="1827213"/>
              <a:ext cx="55563" cy="73025"/>
            </a:xfrm>
            <a:custGeom>
              <a:avLst/>
              <a:gdLst>
                <a:gd name="T0" fmla="*/ 7 w 24"/>
                <a:gd name="T1" fmla="*/ 6 h 32"/>
                <a:gd name="T2" fmla="*/ 7 w 24"/>
                <a:gd name="T3" fmla="*/ 15 h 32"/>
                <a:gd name="T4" fmla="*/ 13 w 24"/>
                <a:gd name="T5" fmla="*/ 15 h 32"/>
                <a:gd name="T6" fmla="*/ 17 w 24"/>
                <a:gd name="T7" fmla="*/ 10 h 32"/>
                <a:gd name="T8" fmla="*/ 13 w 24"/>
                <a:gd name="T9" fmla="*/ 6 h 32"/>
                <a:gd name="T10" fmla="*/ 7 w 24"/>
                <a:gd name="T11" fmla="*/ 6 h 32"/>
                <a:gd name="T12" fmla="*/ 24 w 24"/>
                <a:gd name="T13" fmla="*/ 32 h 32"/>
                <a:gd name="T14" fmla="*/ 15 w 24"/>
                <a:gd name="T15" fmla="*/ 32 h 32"/>
                <a:gd name="T16" fmla="*/ 8 w 24"/>
                <a:gd name="T17" fmla="*/ 21 h 32"/>
                <a:gd name="T18" fmla="*/ 7 w 24"/>
                <a:gd name="T19" fmla="*/ 21 h 32"/>
                <a:gd name="T20" fmla="*/ 7 w 24"/>
                <a:gd name="T21" fmla="*/ 32 h 32"/>
                <a:gd name="T22" fmla="*/ 0 w 24"/>
                <a:gd name="T23" fmla="*/ 32 h 32"/>
                <a:gd name="T24" fmla="*/ 0 w 24"/>
                <a:gd name="T25" fmla="*/ 0 h 32"/>
                <a:gd name="T26" fmla="*/ 13 w 24"/>
                <a:gd name="T27" fmla="*/ 0 h 32"/>
                <a:gd name="T28" fmla="*/ 24 w 24"/>
                <a:gd name="T29" fmla="*/ 10 h 32"/>
                <a:gd name="T30" fmla="*/ 16 w 24"/>
                <a:gd name="T31" fmla="*/ 21 h 32"/>
                <a:gd name="T32" fmla="*/ 24 w 24"/>
                <a:gd name="T3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2">
                  <a:moveTo>
                    <a:pt x="7" y="6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5" y="15"/>
                    <a:pt x="17" y="12"/>
                    <a:pt x="17" y="10"/>
                  </a:cubicBezTo>
                  <a:cubicBezTo>
                    <a:pt x="17" y="8"/>
                    <a:pt x="15" y="6"/>
                    <a:pt x="13" y="6"/>
                  </a:cubicBezTo>
                  <a:lnTo>
                    <a:pt x="7" y="6"/>
                  </a:lnTo>
                  <a:close/>
                  <a:moveTo>
                    <a:pt x="24" y="32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4" y="5"/>
                    <a:pt x="24" y="10"/>
                  </a:cubicBezTo>
                  <a:cubicBezTo>
                    <a:pt x="24" y="15"/>
                    <a:pt x="21" y="19"/>
                    <a:pt x="16" y="21"/>
                  </a:cubicBezTo>
                  <a:lnTo>
                    <a:pt x="24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18" name="Freeform 16">
              <a:extLst>
                <a:ext uri="{FF2B5EF4-FFF2-40B4-BE49-F238E27FC236}">
                  <a16:creationId xmlns="" xmlns:a16="http://schemas.microsoft.com/office/drawing/2014/main" id="{790AA11E-4E6F-EE4D-97A6-02F60FEC4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-4030663" y="1827213"/>
              <a:ext cx="44450" cy="73025"/>
            </a:xfrm>
            <a:custGeom>
              <a:avLst/>
              <a:gdLst>
                <a:gd name="T0" fmla="*/ 0 w 28"/>
                <a:gd name="T1" fmla="*/ 0 h 46"/>
                <a:gd name="T2" fmla="*/ 0 w 28"/>
                <a:gd name="T3" fmla="*/ 46 h 46"/>
                <a:gd name="T4" fmla="*/ 28 w 28"/>
                <a:gd name="T5" fmla="*/ 46 h 46"/>
                <a:gd name="T6" fmla="*/ 28 w 28"/>
                <a:gd name="T7" fmla="*/ 38 h 46"/>
                <a:gd name="T8" fmla="*/ 10 w 28"/>
                <a:gd name="T9" fmla="*/ 38 h 46"/>
                <a:gd name="T10" fmla="*/ 10 w 28"/>
                <a:gd name="T11" fmla="*/ 0 h 46"/>
                <a:gd name="T12" fmla="*/ 0 w 28"/>
                <a:gd name="T13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6">
                  <a:moveTo>
                    <a:pt x="0" y="0"/>
                  </a:moveTo>
                  <a:lnTo>
                    <a:pt x="0" y="46"/>
                  </a:lnTo>
                  <a:lnTo>
                    <a:pt x="28" y="46"/>
                  </a:lnTo>
                  <a:lnTo>
                    <a:pt x="28" y="38"/>
                  </a:lnTo>
                  <a:lnTo>
                    <a:pt x="10" y="38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19" name="Rectangle 17">
              <a:extLst>
                <a:ext uri="{FF2B5EF4-FFF2-40B4-BE49-F238E27FC236}">
                  <a16:creationId xmlns="" xmlns:a16="http://schemas.microsoft.com/office/drawing/2014/main" id="{5BD11951-7501-6342-AADD-CBD058FC6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975100" y="1827213"/>
              <a:ext cx="17463" cy="730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0" name="Freeform 18">
              <a:extLst>
                <a:ext uri="{FF2B5EF4-FFF2-40B4-BE49-F238E27FC236}">
                  <a16:creationId xmlns="" xmlns:a16="http://schemas.microsoft.com/office/drawing/2014/main" id="{A697249C-A038-0C42-95EF-B09719964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40175" y="1827213"/>
              <a:ext cx="57150" cy="73025"/>
            </a:xfrm>
            <a:custGeom>
              <a:avLst/>
              <a:gdLst>
                <a:gd name="T0" fmla="*/ 25 w 36"/>
                <a:gd name="T1" fmla="*/ 0 h 46"/>
                <a:gd name="T2" fmla="*/ 25 w 36"/>
                <a:gd name="T3" fmla="*/ 27 h 46"/>
                <a:gd name="T4" fmla="*/ 9 w 36"/>
                <a:gd name="T5" fmla="*/ 0 h 46"/>
                <a:gd name="T6" fmla="*/ 0 w 36"/>
                <a:gd name="T7" fmla="*/ 0 h 46"/>
                <a:gd name="T8" fmla="*/ 0 w 36"/>
                <a:gd name="T9" fmla="*/ 46 h 46"/>
                <a:gd name="T10" fmla="*/ 9 w 36"/>
                <a:gd name="T11" fmla="*/ 46 h 46"/>
                <a:gd name="T12" fmla="*/ 9 w 36"/>
                <a:gd name="T13" fmla="*/ 17 h 46"/>
                <a:gd name="T14" fmla="*/ 27 w 36"/>
                <a:gd name="T15" fmla="*/ 46 h 46"/>
                <a:gd name="T16" fmla="*/ 36 w 36"/>
                <a:gd name="T17" fmla="*/ 46 h 46"/>
                <a:gd name="T18" fmla="*/ 36 w 36"/>
                <a:gd name="T19" fmla="*/ 0 h 46"/>
                <a:gd name="T20" fmla="*/ 25 w 36"/>
                <a:gd name="T21" fmla="*/ 0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6">
                  <a:moveTo>
                    <a:pt x="25" y="0"/>
                  </a:moveTo>
                  <a:lnTo>
                    <a:pt x="25" y="27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46"/>
                  </a:lnTo>
                  <a:lnTo>
                    <a:pt x="9" y="46"/>
                  </a:lnTo>
                  <a:lnTo>
                    <a:pt x="9" y="17"/>
                  </a:lnTo>
                  <a:lnTo>
                    <a:pt x="27" y="46"/>
                  </a:lnTo>
                  <a:lnTo>
                    <a:pt x="36" y="46"/>
                  </a:lnTo>
                  <a:lnTo>
                    <a:pt x="36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1" name="Freeform 19">
              <a:extLst>
                <a:ext uri="{FF2B5EF4-FFF2-40B4-BE49-F238E27FC236}">
                  <a16:creationId xmlns="" xmlns:a16="http://schemas.microsoft.com/office/drawing/2014/main" id="{2BB812E0-ED4F-9149-B3FC-D17E111CB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19588" y="1944688"/>
              <a:ext cx="44450" cy="74613"/>
            </a:xfrm>
            <a:custGeom>
              <a:avLst/>
              <a:gdLst>
                <a:gd name="T0" fmla="*/ 0 w 28"/>
                <a:gd name="T1" fmla="*/ 0 h 47"/>
                <a:gd name="T2" fmla="*/ 11 w 28"/>
                <a:gd name="T3" fmla="*/ 0 h 47"/>
                <a:gd name="T4" fmla="*/ 11 w 28"/>
                <a:gd name="T5" fmla="*/ 38 h 47"/>
                <a:gd name="T6" fmla="*/ 28 w 28"/>
                <a:gd name="T7" fmla="*/ 38 h 47"/>
                <a:gd name="T8" fmla="*/ 28 w 28"/>
                <a:gd name="T9" fmla="*/ 47 h 47"/>
                <a:gd name="T10" fmla="*/ 0 w 28"/>
                <a:gd name="T11" fmla="*/ 47 h 47"/>
                <a:gd name="T12" fmla="*/ 0 w 28"/>
                <a:gd name="T13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" h="47">
                  <a:moveTo>
                    <a:pt x="0" y="0"/>
                  </a:moveTo>
                  <a:lnTo>
                    <a:pt x="11" y="0"/>
                  </a:lnTo>
                  <a:lnTo>
                    <a:pt x="11" y="38"/>
                  </a:lnTo>
                  <a:lnTo>
                    <a:pt x="28" y="38"/>
                  </a:lnTo>
                  <a:lnTo>
                    <a:pt x="28" y="47"/>
                  </a:lnTo>
                  <a:lnTo>
                    <a:pt x="0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="" xmlns:a16="http://schemas.microsoft.com/office/drawing/2014/main" id="{2BF87A70-C2A5-CF40-A66E-56ACD81378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270375" y="1943100"/>
              <a:ext cx="77788" cy="79375"/>
            </a:xfrm>
            <a:custGeom>
              <a:avLst/>
              <a:gdLst>
                <a:gd name="T0" fmla="*/ 17 w 33"/>
                <a:gd name="T1" fmla="*/ 27 h 34"/>
                <a:gd name="T2" fmla="*/ 26 w 33"/>
                <a:gd name="T3" fmla="*/ 17 h 34"/>
                <a:gd name="T4" fmla="*/ 17 w 33"/>
                <a:gd name="T5" fmla="*/ 7 h 34"/>
                <a:gd name="T6" fmla="*/ 7 w 33"/>
                <a:gd name="T7" fmla="*/ 17 h 34"/>
                <a:gd name="T8" fmla="*/ 17 w 33"/>
                <a:gd name="T9" fmla="*/ 27 h 34"/>
                <a:gd name="T10" fmla="*/ 17 w 33"/>
                <a:gd name="T11" fmla="*/ 0 h 34"/>
                <a:gd name="T12" fmla="*/ 33 w 33"/>
                <a:gd name="T13" fmla="*/ 17 h 34"/>
                <a:gd name="T14" fmla="*/ 17 w 33"/>
                <a:gd name="T15" fmla="*/ 34 h 34"/>
                <a:gd name="T16" fmla="*/ 0 w 33"/>
                <a:gd name="T17" fmla="*/ 17 h 34"/>
                <a:gd name="T18" fmla="*/ 17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17" y="27"/>
                  </a:moveTo>
                  <a:cubicBezTo>
                    <a:pt x="22" y="27"/>
                    <a:pt x="26" y="23"/>
                    <a:pt x="26" y="17"/>
                  </a:cubicBezTo>
                  <a:cubicBezTo>
                    <a:pt x="26" y="12"/>
                    <a:pt x="22" y="7"/>
                    <a:pt x="17" y="7"/>
                  </a:cubicBezTo>
                  <a:cubicBezTo>
                    <a:pt x="11" y="7"/>
                    <a:pt x="7" y="12"/>
                    <a:pt x="7" y="17"/>
                  </a:cubicBezTo>
                  <a:cubicBezTo>
                    <a:pt x="7" y="23"/>
                    <a:pt x="11" y="27"/>
                    <a:pt x="17" y="27"/>
                  </a:cubicBezTo>
                  <a:moveTo>
                    <a:pt x="17" y="0"/>
                  </a:move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4"/>
                    <a:pt x="17" y="34"/>
                  </a:cubicBezTo>
                  <a:cubicBezTo>
                    <a:pt x="8" y="34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="" xmlns:a16="http://schemas.microsoft.com/office/drawing/2014/main" id="{1DCEFEF3-FDB9-EA40-B6A5-D9A8A9063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79888" y="1944688"/>
              <a:ext cx="58738" cy="74613"/>
            </a:xfrm>
            <a:custGeom>
              <a:avLst/>
              <a:gdLst>
                <a:gd name="T0" fmla="*/ 37 w 37"/>
                <a:gd name="T1" fmla="*/ 47 h 47"/>
                <a:gd name="T2" fmla="*/ 27 w 37"/>
                <a:gd name="T3" fmla="*/ 47 h 47"/>
                <a:gd name="T4" fmla="*/ 11 w 37"/>
                <a:gd name="T5" fmla="*/ 19 h 47"/>
                <a:gd name="T6" fmla="*/ 11 w 37"/>
                <a:gd name="T7" fmla="*/ 47 h 47"/>
                <a:gd name="T8" fmla="*/ 0 w 37"/>
                <a:gd name="T9" fmla="*/ 47 h 47"/>
                <a:gd name="T10" fmla="*/ 0 w 37"/>
                <a:gd name="T11" fmla="*/ 0 h 47"/>
                <a:gd name="T12" fmla="*/ 9 w 37"/>
                <a:gd name="T13" fmla="*/ 0 h 47"/>
                <a:gd name="T14" fmla="*/ 27 w 37"/>
                <a:gd name="T15" fmla="*/ 28 h 47"/>
                <a:gd name="T16" fmla="*/ 27 w 37"/>
                <a:gd name="T17" fmla="*/ 0 h 47"/>
                <a:gd name="T18" fmla="*/ 37 w 37"/>
                <a:gd name="T19" fmla="*/ 0 h 47"/>
                <a:gd name="T20" fmla="*/ 37 w 37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7" h="47">
                  <a:moveTo>
                    <a:pt x="37" y="47"/>
                  </a:moveTo>
                  <a:lnTo>
                    <a:pt x="27" y="47"/>
                  </a:lnTo>
                  <a:lnTo>
                    <a:pt x="11" y="19"/>
                  </a:lnTo>
                  <a:lnTo>
                    <a:pt x="11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9" y="0"/>
                  </a:lnTo>
                  <a:lnTo>
                    <a:pt x="27" y="28"/>
                  </a:lnTo>
                  <a:lnTo>
                    <a:pt x="27" y="0"/>
                  </a:lnTo>
                  <a:lnTo>
                    <a:pt x="37" y="0"/>
                  </a:lnTo>
                  <a:lnTo>
                    <a:pt x="37" y="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="" xmlns:a16="http://schemas.microsoft.com/office/drawing/2014/main" id="{4B401DA6-B3CE-0F4E-A7F7-B3CCC4D8A67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05275" y="1944688"/>
              <a:ext cx="65088" cy="74613"/>
            </a:xfrm>
            <a:custGeom>
              <a:avLst/>
              <a:gdLst>
                <a:gd name="T0" fmla="*/ 7 w 28"/>
                <a:gd name="T1" fmla="*/ 26 h 32"/>
                <a:gd name="T2" fmla="*/ 13 w 28"/>
                <a:gd name="T3" fmla="*/ 26 h 32"/>
                <a:gd name="T4" fmla="*/ 21 w 28"/>
                <a:gd name="T5" fmla="*/ 16 h 32"/>
                <a:gd name="T6" fmla="*/ 13 w 28"/>
                <a:gd name="T7" fmla="*/ 6 h 32"/>
                <a:gd name="T8" fmla="*/ 7 w 28"/>
                <a:gd name="T9" fmla="*/ 6 h 32"/>
                <a:gd name="T10" fmla="*/ 7 w 28"/>
                <a:gd name="T11" fmla="*/ 26 h 32"/>
                <a:gd name="T12" fmla="*/ 0 w 28"/>
                <a:gd name="T13" fmla="*/ 32 h 32"/>
                <a:gd name="T14" fmla="*/ 0 w 28"/>
                <a:gd name="T15" fmla="*/ 0 h 32"/>
                <a:gd name="T16" fmla="*/ 13 w 28"/>
                <a:gd name="T17" fmla="*/ 0 h 32"/>
                <a:gd name="T18" fmla="*/ 28 w 28"/>
                <a:gd name="T19" fmla="*/ 16 h 32"/>
                <a:gd name="T20" fmla="*/ 13 w 28"/>
                <a:gd name="T21" fmla="*/ 32 h 32"/>
                <a:gd name="T22" fmla="*/ 0 w 28"/>
                <a:gd name="T2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32">
                  <a:moveTo>
                    <a:pt x="7" y="26"/>
                  </a:moveTo>
                  <a:cubicBezTo>
                    <a:pt x="13" y="26"/>
                    <a:pt x="13" y="26"/>
                    <a:pt x="13" y="26"/>
                  </a:cubicBezTo>
                  <a:cubicBezTo>
                    <a:pt x="18" y="26"/>
                    <a:pt x="21" y="21"/>
                    <a:pt x="21" y="16"/>
                  </a:cubicBezTo>
                  <a:cubicBezTo>
                    <a:pt x="21" y="11"/>
                    <a:pt x="18" y="6"/>
                    <a:pt x="13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6"/>
                  </a:lnTo>
                  <a:close/>
                  <a:moveTo>
                    <a:pt x="0" y="32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2" y="0"/>
                    <a:pt x="28" y="7"/>
                    <a:pt x="28" y="16"/>
                  </a:cubicBezTo>
                  <a:cubicBezTo>
                    <a:pt x="28" y="25"/>
                    <a:pt x="22" y="32"/>
                    <a:pt x="13" y="32"/>
                  </a:cubicBezTo>
                  <a:lnTo>
                    <a:pt x="0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="" xmlns:a16="http://schemas.microsoft.com/office/drawing/2014/main" id="{CA26AA4C-875F-2A4C-AF2A-D0D5FAAD30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30663" y="1943100"/>
              <a:ext cx="77788" cy="79375"/>
            </a:xfrm>
            <a:custGeom>
              <a:avLst/>
              <a:gdLst>
                <a:gd name="T0" fmla="*/ 16 w 33"/>
                <a:gd name="T1" fmla="*/ 27 h 34"/>
                <a:gd name="T2" fmla="*/ 26 w 33"/>
                <a:gd name="T3" fmla="*/ 17 h 34"/>
                <a:gd name="T4" fmla="*/ 16 w 33"/>
                <a:gd name="T5" fmla="*/ 7 h 34"/>
                <a:gd name="T6" fmla="*/ 7 w 33"/>
                <a:gd name="T7" fmla="*/ 17 h 34"/>
                <a:gd name="T8" fmla="*/ 16 w 33"/>
                <a:gd name="T9" fmla="*/ 27 h 34"/>
                <a:gd name="T10" fmla="*/ 16 w 33"/>
                <a:gd name="T11" fmla="*/ 0 h 34"/>
                <a:gd name="T12" fmla="*/ 33 w 33"/>
                <a:gd name="T13" fmla="*/ 17 h 34"/>
                <a:gd name="T14" fmla="*/ 16 w 33"/>
                <a:gd name="T15" fmla="*/ 34 h 34"/>
                <a:gd name="T16" fmla="*/ 0 w 33"/>
                <a:gd name="T17" fmla="*/ 17 h 34"/>
                <a:gd name="T18" fmla="*/ 16 w 33"/>
                <a:gd name="T1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" h="34">
                  <a:moveTo>
                    <a:pt x="16" y="27"/>
                  </a:moveTo>
                  <a:cubicBezTo>
                    <a:pt x="22" y="27"/>
                    <a:pt x="26" y="23"/>
                    <a:pt x="26" y="17"/>
                  </a:cubicBezTo>
                  <a:cubicBezTo>
                    <a:pt x="26" y="12"/>
                    <a:pt x="22" y="7"/>
                    <a:pt x="16" y="7"/>
                  </a:cubicBezTo>
                  <a:cubicBezTo>
                    <a:pt x="11" y="7"/>
                    <a:pt x="7" y="12"/>
                    <a:pt x="7" y="17"/>
                  </a:cubicBezTo>
                  <a:cubicBezTo>
                    <a:pt x="7" y="23"/>
                    <a:pt x="11" y="27"/>
                    <a:pt x="16" y="27"/>
                  </a:cubicBezTo>
                  <a:moveTo>
                    <a:pt x="16" y="0"/>
                  </a:moveTo>
                  <a:cubicBezTo>
                    <a:pt x="25" y="0"/>
                    <a:pt x="33" y="8"/>
                    <a:pt x="33" y="17"/>
                  </a:cubicBezTo>
                  <a:cubicBezTo>
                    <a:pt x="33" y="26"/>
                    <a:pt x="25" y="34"/>
                    <a:pt x="16" y="34"/>
                  </a:cubicBezTo>
                  <a:cubicBezTo>
                    <a:pt x="7" y="34"/>
                    <a:pt x="0" y="26"/>
                    <a:pt x="0" y="17"/>
                  </a:cubicBezTo>
                  <a:cubicBezTo>
                    <a:pt x="0" y="8"/>
                    <a:pt x="7" y="0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="" xmlns:a16="http://schemas.microsoft.com/office/drawing/2014/main" id="{0E7F02B3-0FF4-B246-B2EA-5C61D106E4A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40175" y="1944688"/>
              <a:ext cx="57150" cy="74613"/>
            </a:xfrm>
            <a:custGeom>
              <a:avLst/>
              <a:gdLst>
                <a:gd name="T0" fmla="*/ 36 w 36"/>
                <a:gd name="T1" fmla="*/ 47 h 47"/>
                <a:gd name="T2" fmla="*/ 27 w 36"/>
                <a:gd name="T3" fmla="*/ 47 h 47"/>
                <a:gd name="T4" fmla="*/ 9 w 36"/>
                <a:gd name="T5" fmla="*/ 19 h 47"/>
                <a:gd name="T6" fmla="*/ 9 w 36"/>
                <a:gd name="T7" fmla="*/ 47 h 47"/>
                <a:gd name="T8" fmla="*/ 0 w 36"/>
                <a:gd name="T9" fmla="*/ 47 h 47"/>
                <a:gd name="T10" fmla="*/ 0 w 36"/>
                <a:gd name="T11" fmla="*/ 0 h 47"/>
                <a:gd name="T12" fmla="*/ 9 w 36"/>
                <a:gd name="T13" fmla="*/ 0 h 47"/>
                <a:gd name="T14" fmla="*/ 25 w 36"/>
                <a:gd name="T15" fmla="*/ 28 h 47"/>
                <a:gd name="T16" fmla="*/ 25 w 36"/>
                <a:gd name="T17" fmla="*/ 0 h 47"/>
                <a:gd name="T18" fmla="*/ 36 w 36"/>
                <a:gd name="T19" fmla="*/ 0 h 47"/>
                <a:gd name="T20" fmla="*/ 36 w 36"/>
                <a:gd name="T21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7">
                  <a:moveTo>
                    <a:pt x="36" y="47"/>
                  </a:moveTo>
                  <a:lnTo>
                    <a:pt x="27" y="47"/>
                  </a:lnTo>
                  <a:lnTo>
                    <a:pt x="9" y="19"/>
                  </a:lnTo>
                  <a:lnTo>
                    <a:pt x="9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9" y="0"/>
                  </a:lnTo>
                  <a:lnTo>
                    <a:pt x="25" y="28"/>
                  </a:lnTo>
                  <a:lnTo>
                    <a:pt x="25" y="0"/>
                  </a:lnTo>
                  <a:lnTo>
                    <a:pt x="36" y="0"/>
                  </a:lnTo>
                  <a:lnTo>
                    <a:pt x="36" y="4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="" xmlns:a16="http://schemas.microsoft.com/office/drawing/2014/main" id="{4F3A7442-C303-A94E-9F8F-680CD2123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02125" y="2063750"/>
              <a:ext cx="90488" cy="76200"/>
            </a:xfrm>
            <a:custGeom>
              <a:avLst/>
              <a:gdLst>
                <a:gd name="T0" fmla="*/ 42 w 57"/>
                <a:gd name="T1" fmla="*/ 0 h 48"/>
                <a:gd name="T2" fmla="*/ 51 w 57"/>
                <a:gd name="T3" fmla="*/ 0 h 48"/>
                <a:gd name="T4" fmla="*/ 57 w 57"/>
                <a:gd name="T5" fmla="*/ 48 h 48"/>
                <a:gd name="T6" fmla="*/ 47 w 57"/>
                <a:gd name="T7" fmla="*/ 48 h 48"/>
                <a:gd name="T8" fmla="*/ 44 w 57"/>
                <a:gd name="T9" fmla="*/ 19 h 48"/>
                <a:gd name="T10" fmla="*/ 32 w 57"/>
                <a:gd name="T11" fmla="*/ 43 h 48"/>
                <a:gd name="T12" fmla="*/ 25 w 57"/>
                <a:gd name="T13" fmla="*/ 43 h 48"/>
                <a:gd name="T14" fmla="*/ 13 w 57"/>
                <a:gd name="T15" fmla="*/ 19 h 48"/>
                <a:gd name="T16" fmla="*/ 10 w 57"/>
                <a:gd name="T17" fmla="*/ 48 h 48"/>
                <a:gd name="T18" fmla="*/ 0 w 57"/>
                <a:gd name="T19" fmla="*/ 48 h 48"/>
                <a:gd name="T20" fmla="*/ 5 w 57"/>
                <a:gd name="T21" fmla="*/ 0 h 48"/>
                <a:gd name="T22" fmla="*/ 14 w 57"/>
                <a:gd name="T23" fmla="*/ 0 h 48"/>
                <a:gd name="T24" fmla="*/ 29 w 57"/>
                <a:gd name="T25" fmla="*/ 31 h 48"/>
                <a:gd name="T26" fmla="*/ 42 w 57"/>
                <a:gd name="T2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7" h="48">
                  <a:moveTo>
                    <a:pt x="42" y="0"/>
                  </a:moveTo>
                  <a:lnTo>
                    <a:pt x="51" y="0"/>
                  </a:lnTo>
                  <a:lnTo>
                    <a:pt x="57" y="48"/>
                  </a:lnTo>
                  <a:lnTo>
                    <a:pt x="47" y="48"/>
                  </a:lnTo>
                  <a:lnTo>
                    <a:pt x="44" y="19"/>
                  </a:lnTo>
                  <a:lnTo>
                    <a:pt x="32" y="43"/>
                  </a:lnTo>
                  <a:lnTo>
                    <a:pt x="25" y="43"/>
                  </a:lnTo>
                  <a:lnTo>
                    <a:pt x="13" y="19"/>
                  </a:lnTo>
                  <a:lnTo>
                    <a:pt x="10" y="48"/>
                  </a:lnTo>
                  <a:lnTo>
                    <a:pt x="0" y="48"/>
                  </a:lnTo>
                  <a:lnTo>
                    <a:pt x="5" y="0"/>
                  </a:lnTo>
                  <a:lnTo>
                    <a:pt x="14" y="0"/>
                  </a:lnTo>
                  <a:lnTo>
                    <a:pt x="29" y="3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="" xmlns:a16="http://schemas.microsoft.com/office/drawing/2014/main" id="{8A402E69-96F5-6641-884F-E7889FAE64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206875" y="2063750"/>
              <a:ext cx="71438" cy="76200"/>
            </a:xfrm>
            <a:custGeom>
              <a:avLst/>
              <a:gdLst>
                <a:gd name="T0" fmla="*/ 28 w 45"/>
                <a:gd name="T1" fmla="*/ 28 h 48"/>
                <a:gd name="T2" fmla="*/ 23 w 45"/>
                <a:gd name="T3" fmla="*/ 10 h 48"/>
                <a:gd name="T4" fmla="*/ 17 w 45"/>
                <a:gd name="T5" fmla="*/ 28 h 48"/>
                <a:gd name="T6" fmla="*/ 28 w 45"/>
                <a:gd name="T7" fmla="*/ 28 h 48"/>
                <a:gd name="T8" fmla="*/ 14 w 45"/>
                <a:gd name="T9" fmla="*/ 37 h 48"/>
                <a:gd name="T10" fmla="*/ 10 w 45"/>
                <a:gd name="T11" fmla="*/ 48 h 48"/>
                <a:gd name="T12" fmla="*/ 0 w 45"/>
                <a:gd name="T13" fmla="*/ 48 h 48"/>
                <a:gd name="T14" fmla="*/ 17 w 45"/>
                <a:gd name="T15" fmla="*/ 0 h 48"/>
                <a:gd name="T16" fmla="*/ 28 w 45"/>
                <a:gd name="T17" fmla="*/ 0 h 48"/>
                <a:gd name="T18" fmla="*/ 45 w 45"/>
                <a:gd name="T19" fmla="*/ 48 h 48"/>
                <a:gd name="T20" fmla="*/ 35 w 45"/>
                <a:gd name="T21" fmla="*/ 48 h 48"/>
                <a:gd name="T22" fmla="*/ 31 w 45"/>
                <a:gd name="T23" fmla="*/ 37 h 48"/>
                <a:gd name="T24" fmla="*/ 14 w 45"/>
                <a:gd name="T25" fmla="*/ 3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5" h="48">
                  <a:moveTo>
                    <a:pt x="28" y="28"/>
                  </a:moveTo>
                  <a:lnTo>
                    <a:pt x="23" y="10"/>
                  </a:lnTo>
                  <a:lnTo>
                    <a:pt x="17" y="28"/>
                  </a:lnTo>
                  <a:lnTo>
                    <a:pt x="28" y="28"/>
                  </a:lnTo>
                  <a:close/>
                  <a:moveTo>
                    <a:pt x="14" y="37"/>
                  </a:moveTo>
                  <a:lnTo>
                    <a:pt x="10" y="48"/>
                  </a:lnTo>
                  <a:lnTo>
                    <a:pt x="0" y="48"/>
                  </a:lnTo>
                  <a:lnTo>
                    <a:pt x="17" y="0"/>
                  </a:lnTo>
                  <a:lnTo>
                    <a:pt x="28" y="0"/>
                  </a:lnTo>
                  <a:lnTo>
                    <a:pt x="45" y="48"/>
                  </a:lnTo>
                  <a:lnTo>
                    <a:pt x="35" y="48"/>
                  </a:lnTo>
                  <a:lnTo>
                    <a:pt x="31" y="37"/>
                  </a:lnTo>
                  <a:lnTo>
                    <a:pt x="14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="" xmlns:a16="http://schemas.microsoft.com/office/drawing/2014/main" id="{1D4BD06B-CBAD-A14B-AF0F-DE47181ABD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25913" y="2063750"/>
              <a:ext cx="65088" cy="76200"/>
            </a:xfrm>
            <a:custGeom>
              <a:avLst/>
              <a:gdLst>
                <a:gd name="T0" fmla="*/ 7 w 28"/>
                <a:gd name="T1" fmla="*/ 26 h 33"/>
                <a:gd name="T2" fmla="*/ 13 w 28"/>
                <a:gd name="T3" fmla="*/ 26 h 33"/>
                <a:gd name="T4" fmla="*/ 21 w 28"/>
                <a:gd name="T5" fmla="*/ 16 h 33"/>
                <a:gd name="T6" fmla="*/ 13 w 28"/>
                <a:gd name="T7" fmla="*/ 6 h 33"/>
                <a:gd name="T8" fmla="*/ 7 w 28"/>
                <a:gd name="T9" fmla="*/ 6 h 33"/>
                <a:gd name="T10" fmla="*/ 7 w 28"/>
                <a:gd name="T11" fmla="*/ 26 h 33"/>
                <a:gd name="T12" fmla="*/ 0 w 28"/>
                <a:gd name="T13" fmla="*/ 33 h 33"/>
                <a:gd name="T14" fmla="*/ 0 w 28"/>
                <a:gd name="T15" fmla="*/ 0 h 33"/>
                <a:gd name="T16" fmla="*/ 13 w 28"/>
                <a:gd name="T17" fmla="*/ 0 h 33"/>
                <a:gd name="T18" fmla="*/ 28 w 28"/>
                <a:gd name="T19" fmla="*/ 16 h 33"/>
                <a:gd name="T20" fmla="*/ 13 w 28"/>
                <a:gd name="T21" fmla="*/ 33 h 33"/>
                <a:gd name="T22" fmla="*/ 0 w 28"/>
                <a:gd name="T2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33">
                  <a:moveTo>
                    <a:pt x="7" y="26"/>
                  </a:moveTo>
                  <a:cubicBezTo>
                    <a:pt x="13" y="26"/>
                    <a:pt x="13" y="26"/>
                    <a:pt x="13" y="26"/>
                  </a:cubicBezTo>
                  <a:cubicBezTo>
                    <a:pt x="18" y="26"/>
                    <a:pt x="21" y="22"/>
                    <a:pt x="21" y="16"/>
                  </a:cubicBezTo>
                  <a:cubicBezTo>
                    <a:pt x="21" y="11"/>
                    <a:pt x="18" y="6"/>
                    <a:pt x="13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6"/>
                  </a:ln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2" y="0"/>
                    <a:pt x="28" y="7"/>
                    <a:pt x="28" y="16"/>
                  </a:cubicBezTo>
                  <a:cubicBezTo>
                    <a:pt x="28" y="26"/>
                    <a:pt x="22" y="33"/>
                    <a:pt x="13" y="33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="" xmlns:a16="http://schemas.microsoft.com/office/drawing/2014/main" id="{28C9F34C-7350-8044-B5E4-C713ACAE62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46538" y="2063750"/>
              <a:ext cx="55563" cy="76200"/>
            </a:xfrm>
            <a:custGeom>
              <a:avLst/>
              <a:gdLst>
                <a:gd name="T0" fmla="*/ 6 w 24"/>
                <a:gd name="T1" fmla="*/ 6 h 33"/>
                <a:gd name="T2" fmla="*/ 6 w 24"/>
                <a:gd name="T3" fmla="*/ 15 h 33"/>
                <a:gd name="T4" fmla="*/ 12 w 24"/>
                <a:gd name="T5" fmla="*/ 15 h 33"/>
                <a:gd name="T6" fmla="*/ 16 w 24"/>
                <a:gd name="T7" fmla="*/ 11 h 33"/>
                <a:gd name="T8" fmla="*/ 13 w 24"/>
                <a:gd name="T9" fmla="*/ 6 h 33"/>
                <a:gd name="T10" fmla="*/ 6 w 24"/>
                <a:gd name="T11" fmla="*/ 6 h 33"/>
                <a:gd name="T12" fmla="*/ 24 w 24"/>
                <a:gd name="T13" fmla="*/ 33 h 33"/>
                <a:gd name="T14" fmla="*/ 15 w 24"/>
                <a:gd name="T15" fmla="*/ 33 h 33"/>
                <a:gd name="T16" fmla="*/ 8 w 24"/>
                <a:gd name="T17" fmla="*/ 21 h 33"/>
                <a:gd name="T18" fmla="*/ 6 w 24"/>
                <a:gd name="T19" fmla="*/ 21 h 33"/>
                <a:gd name="T20" fmla="*/ 6 w 24"/>
                <a:gd name="T21" fmla="*/ 33 h 33"/>
                <a:gd name="T22" fmla="*/ 0 w 24"/>
                <a:gd name="T23" fmla="*/ 33 h 33"/>
                <a:gd name="T24" fmla="*/ 0 w 24"/>
                <a:gd name="T25" fmla="*/ 0 h 33"/>
                <a:gd name="T26" fmla="*/ 13 w 24"/>
                <a:gd name="T27" fmla="*/ 0 h 33"/>
                <a:gd name="T28" fmla="*/ 24 w 24"/>
                <a:gd name="T29" fmla="*/ 11 h 33"/>
                <a:gd name="T30" fmla="*/ 16 w 24"/>
                <a:gd name="T31" fmla="*/ 21 h 33"/>
                <a:gd name="T32" fmla="*/ 24 w 24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3">
                  <a:moveTo>
                    <a:pt x="6" y="6"/>
                  </a:moveTo>
                  <a:cubicBezTo>
                    <a:pt x="6" y="15"/>
                    <a:pt x="6" y="15"/>
                    <a:pt x="6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5" y="15"/>
                    <a:pt x="16" y="13"/>
                    <a:pt x="16" y="11"/>
                  </a:cubicBezTo>
                  <a:cubicBezTo>
                    <a:pt x="16" y="9"/>
                    <a:pt x="15" y="6"/>
                    <a:pt x="13" y="6"/>
                  </a:cubicBezTo>
                  <a:lnTo>
                    <a:pt x="6" y="6"/>
                  </a:lnTo>
                  <a:close/>
                  <a:moveTo>
                    <a:pt x="24" y="33"/>
                  </a:moveTo>
                  <a:cubicBezTo>
                    <a:pt x="15" y="33"/>
                    <a:pt x="15" y="33"/>
                    <a:pt x="15" y="33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6" y="21"/>
                    <a:pt x="6" y="21"/>
                    <a:pt x="6" y="21"/>
                  </a:cubicBezTo>
                  <a:cubicBezTo>
                    <a:pt x="6" y="33"/>
                    <a:pt x="6" y="33"/>
                    <a:pt x="6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4" y="5"/>
                    <a:pt x="24" y="11"/>
                  </a:cubicBezTo>
                  <a:cubicBezTo>
                    <a:pt x="24" y="15"/>
                    <a:pt x="21" y="20"/>
                    <a:pt x="16" y="21"/>
                  </a:cubicBezTo>
                  <a:lnTo>
                    <a:pt x="24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="" xmlns:a16="http://schemas.microsoft.com/office/drawing/2014/main" id="{3B2D418C-E76D-784A-AEE6-DA22B066F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976688" y="2063750"/>
              <a:ext cx="15875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2" name="Freeform 30">
              <a:extLst>
                <a:ext uri="{FF2B5EF4-FFF2-40B4-BE49-F238E27FC236}">
                  <a16:creationId xmlns="" xmlns:a16="http://schemas.microsoft.com/office/drawing/2014/main" id="{13818FF4-D02D-DA4D-8F5E-A4AAFC0D711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944938" y="2063750"/>
              <a:ext cx="65088" cy="76200"/>
            </a:xfrm>
            <a:custGeom>
              <a:avLst/>
              <a:gdLst>
                <a:gd name="T0" fmla="*/ 7 w 28"/>
                <a:gd name="T1" fmla="*/ 26 h 33"/>
                <a:gd name="T2" fmla="*/ 13 w 28"/>
                <a:gd name="T3" fmla="*/ 26 h 33"/>
                <a:gd name="T4" fmla="*/ 21 w 28"/>
                <a:gd name="T5" fmla="*/ 16 h 33"/>
                <a:gd name="T6" fmla="*/ 13 w 28"/>
                <a:gd name="T7" fmla="*/ 6 h 33"/>
                <a:gd name="T8" fmla="*/ 7 w 28"/>
                <a:gd name="T9" fmla="*/ 6 h 33"/>
                <a:gd name="T10" fmla="*/ 7 w 28"/>
                <a:gd name="T11" fmla="*/ 26 h 33"/>
                <a:gd name="T12" fmla="*/ 0 w 28"/>
                <a:gd name="T13" fmla="*/ 33 h 33"/>
                <a:gd name="T14" fmla="*/ 0 w 28"/>
                <a:gd name="T15" fmla="*/ 0 h 33"/>
                <a:gd name="T16" fmla="*/ 13 w 28"/>
                <a:gd name="T17" fmla="*/ 0 h 33"/>
                <a:gd name="T18" fmla="*/ 28 w 28"/>
                <a:gd name="T19" fmla="*/ 16 h 33"/>
                <a:gd name="T20" fmla="*/ 13 w 28"/>
                <a:gd name="T21" fmla="*/ 33 h 33"/>
                <a:gd name="T22" fmla="*/ 0 w 28"/>
                <a:gd name="T2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8" h="33">
                  <a:moveTo>
                    <a:pt x="7" y="26"/>
                  </a:moveTo>
                  <a:cubicBezTo>
                    <a:pt x="13" y="26"/>
                    <a:pt x="13" y="26"/>
                    <a:pt x="13" y="26"/>
                  </a:cubicBezTo>
                  <a:cubicBezTo>
                    <a:pt x="18" y="26"/>
                    <a:pt x="21" y="22"/>
                    <a:pt x="21" y="16"/>
                  </a:cubicBezTo>
                  <a:cubicBezTo>
                    <a:pt x="21" y="11"/>
                    <a:pt x="18" y="6"/>
                    <a:pt x="13" y="6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6"/>
                  </a:lnTo>
                  <a:close/>
                  <a:moveTo>
                    <a:pt x="0" y="3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2" y="0"/>
                    <a:pt x="28" y="7"/>
                    <a:pt x="28" y="16"/>
                  </a:cubicBezTo>
                  <a:cubicBezTo>
                    <a:pt x="28" y="26"/>
                    <a:pt x="22" y="33"/>
                    <a:pt x="13" y="33"/>
                  </a:cubicBezTo>
                  <a:lnTo>
                    <a:pt x="0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3" name="Freeform 31">
              <a:extLst>
                <a:ext uri="{FF2B5EF4-FFF2-40B4-BE49-F238E27FC236}">
                  <a16:creationId xmlns="" xmlns:a16="http://schemas.microsoft.com/office/drawing/2014/main" id="{764AC8D0-2260-4F4B-BEAD-959122670C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70363" y="2182813"/>
              <a:ext cx="55563" cy="76200"/>
            </a:xfrm>
            <a:custGeom>
              <a:avLst/>
              <a:gdLst>
                <a:gd name="T0" fmla="*/ 7 w 24"/>
                <a:gd name="T1" fmla="*/ 6 h 33"/>
                <a:gd name="T2" fmla="*/ 7 w 24"/>
                <a:gd name="T3" fmla="*/ 15 h 33"/>
                <a:gd name="T4" fmla="*/ 13 w 24"/>
                <a:gd name="T5" fmla="*/ 15 h 33"/>
                <a:gd name="T6" fmla="*/ 17 w 24"/>
                <a:gd name="T7" fmla="*/ 11 h 33"/>
                <a:gd name="T8" fmla="*/ 13 w 24"/>
                <a:gd name="T9" fmla="*/ 6 h 33"/>
                <a:gd name="T10" fmla="*/ 7 w 24"/>
                <a:gd name="T11" fmla="*/ 6 h 33"/>
                <a:gd name="T12" fmla="*/ 0 w 24"/>
                <a:gd name="T13" fmla="*/ 0 h 33"/>
                <a:gd name="T14" fmla="*/ 13 w 24"/>
                <a:gd name="T15" fmla="*/ 0 h 33"/>
                <a:gd name="T16" fmla="*/ 24 w 24"/>
                <a:gd name="T17" fmla="*/ 11 h 33"/>
                <a:gd name="T18" fmla="*/ 13 w 24"/>
                <a:gd name="T19" fmla="*/ 21 h 33"/>
                <a:gd name="T20" fmla="*/ 7 w 24"/>
                <a:gd name="T21" fmla="*/ 21 h 33"/>
                <a:gd name="T22" fmla="*/ 7 w 24"/>
                <a:gd name="T23" fmla="*/ 33 h 33"/>
                <a:gd name="T24" fmla="*/ 0 w 24"/>
                <a:gd name="T25" fmla="*/ 33 h 33"/>
                <a:gd name="T26" fmla="*/ 0 w 24"/>
                <a:gd name="T2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" h="33">
                  <a:moveTo>
                    <a:pt x="7" y="6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5" y="15"/>
                    <a:pt x="17" y="13"/>
                    <a:pt x="17" y="11"/>
                  </a:cubicBezTo>
                  <a:cubicBezTo>
                    <a:pt x="17" y="9"/>
                    <a:pt x="15" y="6"/>
                    <a:pt x="13" y="6"/>
                  </a:cubicBezTo>
                  <a:lnTo>
                    <a:pt x="7" y="6"/>
                  </a:lnTo>
                  <a:close/>
                  <a:moveTo>
                    <a:pt x="0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4" y="6"/>
                    <a:pt x="24" y="11"/>
                  </a:cubicBezTo>
                  <a:cubicBezTo>
                    <a:pt x="24" y="16"/>
                    <a:pt x="20" y="21"/>
                    <a:pt x="13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4" name="Freeform 32">
              <a:extLst>
                <a:ext uri="{FF2B5EF4-FFF2-40B4-BE49-F238E27FC236}">
                  <a16:creationId xmlns="" xmlns:a16="http://schemas.microsoft.com/office/drawing/2014/main" id="{1FB4CDD6-FCA8-784A-9EDF-ECDC6EEB4AB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16388" y="2182813"/>
              <a:ext cx="74613" cy="76200"/>
            </a:xfrm>
            <a:custGeom>
              <a:avLst/>
              <a:gdLst>
                <a:gd name="T0" fmla="*/ 28 w 47"/>
                <a:gd name="T1" fmla="*/ 28 h 48"/>
                <a:gd name="T2" fmla="*/ 23 w 47"/>
                <a:gd name="T3" fmla="*/ 12 h 48"/>
                <a:gd name="T4" fmla="*/ 19 w 47"/>
                <a:gd name="T5" fmla="*/ 28 h 48"/>
                <a:gd name="T6" fmla="*/ 28 w 47"/>
                <a:gd name="T7" fmla="*/ 28 h 48"/>
                <a:gd name="T8" fmla="*/ 15 w 47"/>
                <a:gd name="T9" fmla="*/ 37 h 48"/>
                <a:gd name="T10" fmla="*/ 12 w 47"/>
                <a:gd name="T11" fmla="*/ 48 h 48"/>
                <a:gd name="T12" fmla="*/ 0 w 47"/>
                <a:gd name="T13" fmla="*/ 48 h 48"/>
                <a:gd name="T14" fmla="*/ 17 w 47"/>
                <a:gd name="T15" fmla="*/ 0 h 48"/>
                <a:gd name="T16" fmla="*/ 29 w 47"/>
                <a:gd name="T17" fmla="*/ 0 h 48"/>
                <a:gd name="T18" fmla="*/ 47 w 47"/>
                <a:gd name="T19" fmla="*/ 48 h 48"/>
                <a:gd name="T20" fmla="*/ 37 w 47"/>
                <a:gd name="T21" fmla="*/ 48 h 48"/>
                <a:gd name="T22" fmla="*/ 32 w 47"/>
                <a:gd name="T23" fmla="*/ 37 h 48"/>
                <a:gd name="T24" fmla="*/ 15 w 47"/>
                <a:gd name="T25" fmla="*/ 37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8">
                  <a:moveTo>
                    <a:pt x="28" y="28"/>
                  </a:moveTo>
                  <a:lnTo>
                    <a:pt x="23" y="12"/>
                  </a:lnTo>
                  <a:lnTo>
                    <a:pt x="19" y="28"/>
                  </a:lnTo>
                  <a:lnTo>
                    <a:pt x="28" y="28"/>
                  </a:lnTo>
                  <a:close/>
                  <a:moveTo>
                    <a:pt x="15" y="37"/>
                  </a:moveTo>
                  <a:lnTo>
                    <a:pt x="12" y="48"/>
                  </a:lnTo>
                  <a:lnTo>
                    <a:pt x="0" y="48"/>
                  </a:lnTo>
                  <a:lnTo>
                    <a:pt x="17" y="0"/>
                  </a:lnTo>
                  <a:lnTo>
                    <a:pt x="29" y="0"/>
                  </a:lnTo>
                  <a:lnTo>
                    <a:pt x="47" y="48"/>
                  </a:lnTo>
                  <a:lnTo>
                    <a:pt x="37" y="48"/>
                  </a:lnTo>
                  <a:lnTo>
                    <a:pt x="32" y="37"/>
                  </a:lnTo>
                  <a:lnTo>
                    <a:pt x="15" y="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5" name="Freeform 33">
              <a:extLst>
                <a:ext uri="{FF2B5EF4-FFF2-40B4-BE49-F238E27FC236}">
                  <a16:creationId xmlns="" xmlns:a16="http://schemas.microsoft.com/office/drawing/2014/main" id="{3309B8C7-7126-C042-8AFC-502019F7F1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35425" y="2182813"/>
              <a:ext cx="58738" cy="76200"/>
            </a:xfrm>
            <a:custGeom>
              <a:avLst/>
              <a:gdLst>
                <a:gd name="T0" fmla="*/ 7 w 25"/>
                <a:gd name="T1" fmla="*/ 6 h 33"/>
                <a:gd name="T2" fmla="*/ 7 w 25"/>
                <a:gd name="T3" fmla="*/ 15 h 33"/>
                <a:gd name="T4" fmla="*/ 13 w 25"/>
                <a:gd name="T5" fmla="*/ 15 h 33"/>
                <a:gd name="T6" fmla="*/ 17 w 25"/>
                <a:gd name="T7" fmla="*/ 11 h 33"/>
                <a:gd name="T8" fmla="*/ 13 w 25"/>
                <a:gd name="T9" fmla="*/ 6 h 33"/>
                <a:gd name="T10" fmla="*/ 7 w 25"/>
                <a:gd name="T11" fmla="*/ 6 h 33"/>
                <a:gd name="T12" fmla="*/ 25 w 25"/>
                <a:gd name="T13" fmla="*/ 33 h 33"/>
                <a:gd name="T14" fmla="*/ 16 w 25"/>
                <a:gd name="T15" fmla="*/ 33 h 33"/>
                <a:gd name="T16" fmla="*/ 9 w 25"/>
                <a:gd name="T17" fmla="*/ 21 h 33"/>
                <a:gd name="T18" fmla="*/ 7 w 25"/>
                <a:gd name="T19" fmla="*/ 21 h 33"/>
                <a:gd name="T20" fmla="*/ 7 w 25"/>
                <a:gd name="T21" fmla="*/ 33 h 33"/>
                <a:gd name="T22" fmla="*/ 0 w 25"/>
                <a:gd name="T23" fmla="*/ 33 h 33"/>
                <a:gd name="T24" fmla="*/ 0 w 25"/>
                <a:gd name="T25" fmla="*/ 0 h 33"/>
                <a:gd name="T26" fmla="*/ 14 w 25"/>
                <a:gd name="T27" fmla="*/ 0 h 33"/>
                <a:gd name="T28" fmla="*/ 25 w 25"/>
                <a:gd name="T29" fmla="*/ 11 h 33"/>
                <a:gd name="T30" fmla="*/ 16 w 25"/>
                <a:gd name="T31" fmla="*/ 21 h 33"/>
                <a:gd name="T32" fmla="*/ 25 w 25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5" h="33">
                  <a:moveTo>
                    <a:pt x="7" y="6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5"/>
                    <a:pt x="17" y="13"/>
                    <a:pt x="17" y="11"/>
                  </a:cubicBezTo>
                  <a:cubicBezTo>
                    <a:pt x="17" y="9"/>
                    <a:pt x="16" y="6"/>
                    <a:pt x="13" y="6"/>
                  </a:cubicBezTo>
                  <a:lnTo>
                    <a:pt x="7" y="6"/>
                  </a:lnTo>
                  <a:close/>
                  <a:moveTo>
                    <a:pt x="25" y="33"/>
                  </a:moveTo>
                  <a:cubicBezTo>
                    <a:pt x="16" y="33"/>
                    <a:pt x="16" y="33"/>
                    <a:pt x="16" y="33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1" y="0"/>
                    <a:pt x="25" y="6"/>
                    <a:pt x="25" y="11"/>
                  </a:cubicBezTo>
                  <a:cubicBezTo>
                    <a:pt x="25" y="15"/>
                    <a:pt x="22" y="20"/>
                    <a:pt x="16" y="21"/>
                  </a:cubicBezTo>
                  <a:lnTo>
                    <a:pt x="25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6" name="Rectangle 34">
              <a:extLst>
                <a:ext uri="{FF2B5EF4-FFF2-40B4-BE49-F238E27FC236}">
                  <a16:creationId xmlns="" xmlns:a16="http://schemas.microsoft.com/office/drawing/2014/main" id="{1A6551AA-776B-7343-B5E7-E998220CE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962400" y="2182813"/>
              <a:ext cx="12700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7" name="Freeform 35">
              <a:extLst>
                <a:ext uri="{FF2B5EF4-FFF2-40B4-BE49-F238E27FC236}">
                  <a16:creationId xmlns="" xmlns:a16="http://schemas.microsoft.com/office/drawing/2014/main" id="{23682016-730E-A345-9F93-3AD4466BA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35413" y="2182813"/>
              <a:ext cx="55563" cy="76200"/>
            </a:xfrm>
            <a:custGeom>
              <a:avLst/>
              <a:gdLst>
                <a:gd name="T0" fmla="*/ 7 w 24"/>
                <a:gd name="T1" fmla="*/ 23 h 33"/>
                <a:gd name="T2" fmla="*/ 12 w 24"/>
                <a:gd name="T3" fmla="*/ 27 h 33"/>
                <a:gd name="T4" fmla="*/ 17 w 24"/>
                <a:gd name="T5" fmla="*/ 24 h 33"/>
                <a:gd name="T6" fmla="*/ 13 w 24"/>
                <a:gd name="T7" fmla="*/ 20 h 33"/>
                <a:gd name="T8" fmla="*/ 9 w 24"/>
                <a:gd name="T9" fmla="*/ 19 h 33"/>
                <a:gd name="T10" fmla="*/ 1 w 24"/>
                <a:gd name="T11" fmla="*/ 10 h 33"/>
                <a:gd name="T12" fmla="*/ 12 w 24"/>
                <a:gd name="T13" fmla="*/ 0 h 33"/>
                <a:gd name="T14" fmla="*/ 23 w 24"/>
                <a:gd name="T15" fmla="*/ 10 h 33"/>
                <a:gd name="T16" fmla="*/ 16 w 24"/>
                <a:gd name="T17" fmla="*/ 10 h 33"/>
                <a:gd name="T18" fmla="*/ 12 w 24"/>
                <a:gd name="T19" fmla="*/ 6 h 33"/>
                <a:gd name="T20" fmla="*/ 8 w 24"/>
                <a:gd name="T21" fmla="*/ 9 h 33"/>
                <a:gd name="T22" fmla="*/ 11 w 24"/>
                <a:gd name="T23" fmla="*/ 13 h 33"/>
                <a:gd name="T24" fmla="*/ 15 w 24"/>
                <a:gd name="T25" fmla="*/ 14 h 33"/>
                <a:gd name="T26" fmla="*/ 24 w 24"/>
                <a:gd name="T27" fmla="*/ 24 h 33"/>
                <a:gd name="T28" fmla="*/ 12 w 24"/>
                <a:gd name="T29" fmla="*/ 33 h 33"/>
                <a:gd name="T30" fmla="*/ 0 w 24"/>
                <a:gd name="T31" fmla="*/ 23 h 33"/>
                <a:gd name="T32" fmla="*/ 7 w 24"/>
                <a:gd name="T33" fmla="*/ 2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3">
                  <a:moveTo>
                    <a:pt x="7" y="23"/>
                  </a:moveTo>
                  <a:cubicBezTo>
                    <a:pt x="7" y="25"/>
                    <a:pt x="9" y="27"/>
                    <a:pt x="12" y="27"/>
                  </a:cubicBezTo>
                  <a:cubicBezTo>
                    <a:pt x="15" y="27"/>
                    <a:pt x="17" y="26"/>
                    <a:pt x="17" y="24"/>
                  </a:cubicBezTo>
                  <a:cubicBezTo>
                    <a:pt x="17" y="22"/>
                    <a:pt x="16" y="21"/>
                    <a:pt x="13" y="20"/>
                  </a:cubicBezTo>
                  <a:cubicBezTo>
                    <a:pt x="9" y="19"/>
                    <a:pt x="9" y="19"/>
                    <a:pt x="9" y="19"/>
                  </a:cubicBezTo>
                  <a:cubicBezTo>
                    <a:pt x="2" y="17"/>
                    <a:pt x="1" y="12"/>
                    <a:pt x="1" y="10"/>
                  </a:cubicBezTo>
                  <a:cubicBezTo>
                    <a:pt x="1" y="4"/>
                    <a:pt x="6" y="0"/>
                    <a:pt x="12" y="0"/>
                  </a:cubicBezTo>
                  <a:cubicBezTo>
                    <a:pt x="18" y="0"/>
                    <a:pt x="23" y="4"/>
                    <a:pt x="23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8"/>
                    <a:pt x="15" y="6"/>
                    <a:pt x="12" y="6"/>
                  </a:cubicBezTo>
                  <a:cubicBezTo>
                    <a:pt x="9" y="6"/>
                    <a:pt x="8" y="7"/>
                    <a:pt x="8" y="9"/>
                  </a:cubicBezTo>
                  <a:cubicBezTo>
                    <a:pt x="8" y="10"/>
                    <a:pt x="8" y="12"/>
                    <a:pt x="11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23" y="16"/>
                    <a:pt x="24" y="21"/>
                    <a:pt x="24" y="24"/>
                  </a:cubicBezTo>
                  <a:cubicBezTo>
                    <a:pt x="24" y="30"/>
                    <a:pt x="18" y="33"/>
                    <a:pt x="12" y="33"/>
                  </a:cubicBezTo>
                  <a:cubicBezTo>
                    <a:pt x="5" y="33"/>
                    <a:pt x="0" y="29"/>
                    <a:pt x="0" y="23"/>
                  </a:cubicBezTo>
                  <a:lnTo>
                    <a:pt x="7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8" name="Freeform 36">
              <a:extLst>
                <a:ext uri="{FF2B5EF4-FFF2-40B4-BE49-F238E27FC236}">
                  <a16:creationId xmlns="" xmlns:a16="http://schemas.microsoft.com/office/drawing/2014/main" id="{0F3D3F8D-9AAA-584F-A341-A5AFF7A25520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89413" y="2301875"/>
              <a:ext cx="57150" cy="76200"/>
            </a:xfrm>
            <a:custGeom>
              <a:avLst/>
              <a:gdLst>
                <a:gd name="T0" fmla="*/ 0 w 36"/>
                <a:gd name="T1" fmla="*/ 0 h 48"/>
                <a:gd name="T2" fmla="*/ 36 w 36"/>
                <a:gd name="T3" fmla="*/ 0 h 48"/>
                <a:gd name="T4" fmla="*/ 36 w 36"/>
                <a:gd name="T5" fmla="*/ 10 h 48"/>
                <a:gd name="T6" fmla="*/ 24 w 36"/>
                <a:gd name="T7" fmla="*/ 10 h 48"/>
                <a:gd name="T8" fmla="*/ 24 w 36"/>
                <a:gd name="T9" fmla="*/ 48 h 48"/>
                <a:gd name="T10" fmla="*/ 14 w 36"/>
                <a:gd name="T11" fmla="*/ 48 h 48"/>
                <a:gd name="T12" fmla="*/ 14 w 36"/>
                <a:gd name="T13" fmla="*/ 10 h 48"/>
                <a:gd name="T14" fmla="*/ 0 w 36"/>
                <a:gd name="T15" fmla="*/ 10 h 48"/>
                <a:gd name="T16" fmla="*/ 0 w 36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" h="48">
                  <a:moveTo>
                    <a:pt x="0" y="0"/>
                  </a:moveTo>
                  <a:lnTo>
                    <a:pt x="36" y="0"/>
                  </a:lnTo>
                  <a:lnTo>
                    <a:pt x="36" y="10"/>
                  </a:lnTo>
                  <a:lnTo>
                    <a:pt x="24" y="10"/>
                  </a:lnTo>
                  <a:lnTo>
                    <a:pt x="24" y="48"/>
                  </a:lnTo>
                  <a:lnTo>
                    <a:pt x="14" y="48"/>
                  </a:lnTo>
                  <a:lnTo>
                    <a:pt x="14" y="10"/>
                  </a:lnTo>
                  <a:lnTo>
                    <a:pt x="0" y="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39" name="Freeform 37">
              <a:extLst>
                <a:ext uri="{FF2B5EF4-FFF2-40B4-BE49-F238E27FC236}">
                  <a16:creationId xmlns="" xmlns:a16="http://schemas.microsoft.com/office/drawing/2014/main" id="{D9C3C41B-87CC-D248-864A-EEBF33B03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21150" y="2301875"/>
              <a:ext cx="60325" cy="76200"/>
            </a:xfrm>
            <a:custGeom>
              <a:avLst/>
              <a:gdLst>
                <a:gd name="T0" fmla="*/ 19 w 26"/>
                <a:gd name="T1" fmla="*/ 21 h 33"/>
                <a:gd name="T2" fmla="*/ 19 w 26"/>
                <a:gd name="T3" fmla="*/ 0 h 33"/>
                <a:gd name="T4" fmla="*/ 26 w 26"/>
                <a:gd name="T5" fmla="*/ 0 h 33"/>
                <a:gd name="T6" fmla="*/ 26 w 26"/>
                <a:gd name="T7" fmla="*/ 21 h 33"/>
                <a:gd name="T8" fmla="*/ 13 w 26"/>
                <a:gd name="T9" fmla="*/ 33 h 33"/>
                <a:gd name="T10" fmla="*/ 0 w 26"/>
                <a:gd name="T11" fmla="*/ 21 h 33"/>
                <a:gd name="T12" fmla="*/ 0 w 26"/>
                <a:gd name="T13" fmla="*/ 0 h 33"/>
                <a:gd name="T14" fmla="*/ 7 w 26"/>
                <a:gd name="T15" fmla="*/ 0 h 33"/>
                <a:gd name="T16" fmla="*/ 7 w 26"/>
                <a:gd name="T17" fmla="*/ 21 h 33"/>
                <a:gd name="T18" fmla="*/ 13 w 26"/>
                <a:gd name="T19" fmla="*/ 27 h 33"/>
                <a:gd name="T20" fmla="*/ 19 w 26"/>
                <a:gd name="T21" fmla="*/ 2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6" h="33">
                  <a:moveTo>
                    <a:pt x="19" y="21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6" y="29"/>
                    <a:pt x="20" y="33"/>
                    <a:pt x="13" y="33"/>
                  </a:cubicBezTo>
                  <a:cubicBezTo>
                    <a:pt x="6" y="33"/>
                    <a:pt x="0" y="29"/>
                    <a:pt x="0" y="2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5"/>
                    <a:pt x="10" y="27"/>
                    <a:pt x="13" y="27"/>
                  </a:cubicBezTo>
                  <a:cubicBezTo>
                    <a:pt x="16" y="27"/>
                    <a:pt x="19" y="25"/>
                    <a:pt x="19" y="2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0" name="Freeform 38">
              <a:extLst>
                <a:ext uri="{FF2B5EF4-FFF2-40B4-BE49-F238E27FC236}">
                  <a16:creationId xmlns="" xmlns:a16="http://schemas.microsoft.com/office/drawing/2014/main" id="{B01FCE09-4FCB-8E47-99BE-0122719168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44950" y="2301875"/>
              <a:ext cx="57150" cy="76200"/>
            </a:xfrm>
            <a:custGeom>
              <a:avLst/>
              <a:gdLst>
                <a:gd name="T0" fmla="*/ 7 w 24"/>
                <a:gd name="T1" fmla="*/ 6 h 33"/>
                <a:gd name="T2" fmla="*/ 7 w 24"/>
                <a:gd name="T3" fmla="*/ 16 h 33"/>
                <a:gd name="T4" fmla="*/ 13 w 24"/>
                <a:gd name="T5" fmla="*/ 16 h 33"/>
                <a:gd name="T6" fmla="*/ 17 w 24"/>
                <a:gd name="T7" fmla="*/ 11 h 33"/>
                <a:gd name="T8" fmla="*/ 13 w 24"/>
                <a:gd name="T9" fmla="*/ 6 h 33"/>
                <a:gd name="T10" fmla="*/ 7 w 24"/>
                <a:gd name="T11" fmla="*/ 6 h 33"/>
                <a:gd name="T12" fmla="*/ 24 w 24"/>
                <a:gd name="T13" fmla="*/ 33 h 33"/>
                <a:gd name="T14" fmla="*/ 16 w 24"/>
                <a:gd name="T15" fmla="*/ 33 h 33"/>
                <a:gd name="T16" fmla="*/ 8 w 24"/>
                <a:gd name="T17" fmla="*/ 22 h 33"/>
                <a:gd name="T18" fmla="*/ 7 w 24"/>
                <a:gd name="T19" fmla="*/ 22 h 33"/>
                <a:gd name="T20" fmla="*/ 7 w 24"/>
                <a:gd name="T21" fmla="*/ 33 h 33"/>
                <a:gd name="T22" fmla="*/ 0 w 24"/>
                <a:gd name="T23" fmla="*/ 33 h 33"/>
                <a:gd name="T24" fmla="*/ 0 w 24"/>
                <a:gd name="T25" fmla="*/ 0 h 33"/>
                <a:gd name="T26" fmla="*/ 13 w 24"/>
                <a:gd name="T27" fmla="*/ 0 h 33"/>
                <a:gd name="T28" fmla="*/ 24 w 24"/>
                <a:gd name="T29" fmla="*/ 11 h 33"/>
                <a:gd name="T30" fmla="*/ 16 w 24"/>
                <a:gd name="T31" fmla="*/ 21 h 33"/>
                <a:gd name="T32" fmla="*/ 24 w 24"/>
                <a:gd name="T33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3">
                  <a:moveTo>
                    <a:pt x="7" y="6"/>
                  </a:moveTo>
                  <a:cubicBezTo>
                    <a:pt x="7" y="16"/>
                    <a:pt x="7" y="16"/>
                    <a:pt x="7" y="16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5" y="16"/>
                    <a:pt x="17" y="13"/>
                    <a:pt x="17" y="11"/>
                  </a:cubicBezTo>
                  <a:cubicBezTo>
                    <a:pt x="17" y="9"/>
                    <a:pt x="15" y="6"/>
                    <a:pt x="13" y="6"/>
                  </a:cubicBezTo>
                  <a:lnTo>
                    <a:pt x="7" y="6"/>
                  </a:lnTo>
                  <a:close/>
                  <a:moveTo>
                    <a:pt x="24" y="33"/>
                  </a:moveTo>
                  <a:cubicBezTo>
                    <a:pt x="16" y="33"/>
                    <a:pt x="16" y="33"/>
                    <a:pt x="16" y="33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1" y="0"/>
                    <a:pt x="24" y="6"/>
                    <a:pt x="24" y="11"/>
                  </a:cubicBezTo>
                  <a:cubicBezTo>
                    <a:pt x="24" y="16"/>
                    <a:pt x="21" y="20"/>
                    <a:pt x="16" y="21"/>
                  </a:cubicBezTo>
                  <a:lnTo>
                    <a:pt x="24" y="3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1" name="Rectangle 39">
              <a:extLst>
                <a:ext uri="{FF2B5EF4-FFF2-40B4-BE49-F238E27FC236}">
                  <a16:creationId xmlns="" xmlns:a16="http://schemas.microsoft.com/office/drawing/2014/main" id="{753506CE-761B-8441-8BE7-0205127CBC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975100" y="2301875"/>
              <a:ext cx="17463" cy="76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2" name="Freeform 40">
              <a:extLst>
                <a:ext uri="{FF2B5EF4-FFF2-40B4-BE49-F238E27FC236}">
                  <a16:creationId xmlns="" xmlns:a16="http://schemas.microsoft.com/office/drawing/2014/main" id="{FFBCAF74-EFD3-9E45-A5FC-14A2AE26C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40175" y="2301875"/>
              <a:ext cx="57150" cy="76200"/>
            </a:xfrm>
            <a:custGeom>
              <a:avLst/>
              <a:gdLst>
                <a:gd name="T0" fmla="*/ 36 w 36"/>
                <a:gd name="T1" fmla="*/ 48 h 48"/>
                <a:gd name="T2" fmla="*/ 27 w 36"/>
                <a:gd name="T3" fmla="*/ 48 h 48"/>
                <a:gd name="T4" fmla="*/ 9 w 36"/>
                <a:gd name="T5" fmla="*/ 19 h 48"/>
                <a:gd name="T6" fmla="*/ 9 w 36"/>
                <a:gd name="T7" fmla="*/ 48 h 48"/>
                <a:gd name="T8" fmla="*/ 0 w 36"/>
                <a:gd name="T9" fmla="*/ 48 h 48"/>
                <a:gd name="T10" fmla="*/ 0 w 36"/>
                <a:gd name="T11" fmla="*/ 0 h 48"/>
                <a:gd name="T12" fmla="*/ 9 w 36"/>
                <a:gd name="T13" fmla="*/ 0 h 48"/>
                <a:gd name="T14" fmla="*/ 25 w 36"/>
                <a:gd name="T15" fmla="*/ 29 h 48"/>
                <a:gd name="T16" fmla="*/ 25 w 36"/>
                <a:gd name="T17" fmla="*/ 0 h 48"/>
                <a:gd name="T18" fmla="*/ 36 w 36"/>
                <a:gd name="T19" fmla="*/ 0 h 48"/>
                <a:gd name="T20" fmla="*/ 36 w 36"/>
                <a:gd name="T21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48">
                  <a:moveTo>
                    <a:pt x="36" y="48"/>
                  </a:moveTo>
                  <a:lnTo>
                    <a:pt x="27" y="48"/>
                  </a:lnTo>
                  <a:lnTo>
                    <a:pt x="9" y="19"/>
                  </a:lnTo>
                  <a:lnTo>
                    <a:pt x="9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9" y="0"/>
                  </a:lnTo>
                  <a:lnTo>
                    <a:pt x="25" y="29"/>
                  </a:lnTo>
                  <a:lnTo>
                    <a:pt x="25" y="0"/>
                  </a:lnTo>
                  <a:lnTo>
                    <a:pt x="36" y="0"/>
                  </a:lnTo>
                  <a:lnTo>
                    <a:pt x="36" y="4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3" name="Freeform 41">
              <a:extLst>
                <a:ext uri="{FF2B5EF4-FFF2-40B4-BE49-F238E27FC236}">
                  <a16:creationId xmlns="" xmlns:a16="http://schemas.microsoft.com/office/drawing/2014/main" id="{AA53BC12-39F1-BD43-A714-AF73D577D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-4341813" y="2422525"/>
              <a:ext cx="96838" cy="74613"/>
            </a:xfrm>
            <a:custGeom>
              <a:avLst/>
              <a:gdLst>
                <a:gd name="T0" fmla="*/ 34 w 42"/>
                <a:gd name="T1" fmla="*/ 0 h 32"/>
                <a:gd name="T2" fmla="*/ 42 w 42"/>
                <a:gd name="T3" fmla="*/ 0 h 32"/>
                <a:gd name="T4" fmla="*/ 31 w 42"/>
                <a:gd name="T5" fmla="*/ 32 h 32"/>
                <a:gd name="T6" fmla="*/ 25 w 42"/>
                <a:gd name="T7" fmla="*/ 32 h 32"/>
                <a:gd name="T8" fmla="*/ 21 w 42"/>
                <a:gd name="T9" fmla="*/ 15 h 32"/>
                <a:gd name="T10" fmla="*/ 16 w 42"/>
                <a:gd name="T11" fmla="*/ 32 h 32"/>
                <a:gd name="T12" fmla="*/ 11 w 42"/>
                <a:gd name="T13" fmla="*/ 32 h 32"/>
                <a:gd name="T14" fmla="*/ 0 w 42"/>
                <a:gd name="T15" fmla="*/ 0 h 32"/>
                <a:gd name="T16" fmla="*/ 7 w 42"/>
                <a:gd name="T17" fmla="*/ 0 h 32"/>
                <a:gd name="T18" fmla="*/ 14 w 42"/>
                <a:gd name="T19" fmla="*/ 20 h 32"/>
                <a:gd name="T20" fmla="*/ 18 w 42"/>
                <a:gd name="T21" fmla="*/ 4 h 32"/>
                <a:gd name="T22" fmla="*/ 24 w 42"/>
                <a:gd name="T23" fmla="*/ 4 h 32"/>
                <a:gd name="T24" fmla="*/ 28 w 42"/>
                <a:gd name="T25" fmla="*/ 20 h 32"/>
                <a:gd name="T26" fmla="*/ 34 w 42"/>
                <a:gd name="T2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32">
                  <a:moveTo>
                    <a:pt x="34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15"/>
                    <a:pt x="16" y="9"/>
                    <a:pt x="18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4" name="Freeform 42">
              <a:extLst>
                <a:ext uri="{FF2B5EF4-FFF2-40B4-BE49-F238E27FC236}">
                  <a16:creationId xmlns="" xmlns:a16="http://schemas.microsoft.com/office/drawing/2014/main" id="{D5FF170D-29F5-2040-AFA4-6F1AE5FFBB1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249738" y="2422525"/>
              <a:ext cx="74613" cy="74613"/>
            </a:xfrm>
            <a:custGeom>
              <a:avLst/>
              <a:gdLst>
                <a:gd name="T0" fmla="*/ 28 w 47"/>
                <a:gd name="T1" fmla="*/ 26 h 47"/>
                <a:gd name="T2" fmla="*/ 24 w 47"/>
                <a:gd name="T3" fmla="*/ 10 h 47"/>
                <a:gd name="T4" fmla="*/ 19 w 47"/>
                <a:gd name="T5" fmla="*/ 26 h 47"/>
                <a:gd name="T6" fmla="*/ 28 w 47"/>
                <a:gd name="T7" fmla="*/ 26 h 47"/>
                <a:gd name="T8" fmla="*/ 15 w 47"/>
                <a:gd name="T9" fmla="*/ 35 h 47"/>
                <a:gd name="T10" fmla="*/ 11 w 47"/>
                <a:gd name="T11" fmla="*/ 47 h 47"/>
                <a:gd name="T12" fmla="*/ 0 w 47"/>
                <a:gd name="T13" fmla="*/ 47 h 47"/>
                <a:gd name="T14" fmla="*/ 18 w 47"/>
                <a:gd name="T15" fmla="*/ 0 h 47"/>
                <a:gd name="T16" fmla="*/ 30 w 47"/>
                <a:gd name="T17" fmla="*/ 0 h 47"/>
                <a:gd name="T18" fmla="*/ 47 w 47"/>
                <a:gd name="T19" fmla="*/ 47 h 47"/>
                <a:gd name="T20" fmla="*/ 36 w 47"/>
                <a:gd name="T21" fmla="*/ 47 h 47"/>
                <a:gd name="T22" fmla="*/ 33 w 47"/>
                <a:gd name="T23" fmla="*/ 35 h 47"/>
                <a:gd name="T24" fmla="*/ 15 w 47"/>
                <a:gd name="T25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7">
                  <a:moveTo>
                    <a:pt x="28" y="26"/>
                  </a:moveTo>
                  <a:lnTo>
                    <a:pt x="24" y="10"/>
                  </a:lnTo>
                  <a:lnTo>
                    <a:pt x="19" y="26"/>
                  </a:lnTo>
                  <a:lnTo>
                    <a:pt x="28" y="26"/>
                  </a:lnTo>
                  <a:close/>
                  <a:moveTo>
                    <a:pt x="15" y="35"/>
                  </a:moveTo>
                  <a:lnTo>
                    <a:pt x="11" y="47"/>
                  </a:lnTo>
                  <a:lnTo>
                    <a:pt x="0" y="47"/>
                  </a:lnTo>
                  <a:lnTo>
                    <a:pt x="18" y="0"/>
                  </a:lnTo>
                  <a:lnTo>
                    <a:pt x="30" y="0"/>
                  </a:lnTo>
                  <a:lnTo>
                    <a:pt x="47" y="47"/>
                  </a:lnTo>
                  <a:lnTo>
                    <a:pt x="36" y="47"/>
                  </a:lnTo>
                  <a:lnTo>
                    <a:pt x="33" y="35"/>
                  </a:lnTo>
                  <a:lnTo>
                    <a:pt x="15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5" name="Freeform 43">
              <a:extLst>
                <a:ext uri="{FF2B5EF4-FFF2-40B4-BE49-F238E27FC236}">
                  <a16:creationId xmlns="" xmlns:a16="http://schemas.microsoft.com/office/drawing/2014/main" id="{9B5D84A5-C6E4-224A-9BD2-D52090DFF0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167188" y="2422525"/>
              <a:ext cx="55563" cy="74613"/>
            </a:xfrm>
            <a:custGeom>
              <a:avLst/>
              <a:gdLst>
                <a:gd name="T0" fmla="*/ 7 w 24"/>
                <a:gd name="T1" fmla="*/ 6 h 32"/>
                <a:gd name="T2" fmla="*/ 7 w 24"/>
                <a:gd name="T3" fmla="*/ 15 h 32"/>
                <a:gd name="T4" fmla="*/ 13 w 24"/>
                <a:gd name="T5" fmla="*/ 15 h 32"/>
                <a:gd name="T6" fmla="*/ 17 w 24"/>
                <a:gd name="T7" fmla="*/ 10 h 32"/>
                <a:gd name="T8" fmla="*/ 13 w 24"/>
                <a:gd name="T9" fmla="*/ 6 h 32"/>
                <a:gd name="T10" fmla="*/ 7 w 24"/>
                <a:gd name="T11" fmla="*/ 6 h 32"/>
                <a:gd name="T12" fmla="*/ 24 w 24"/>
                <a:gd name="T13" fmla="*/ 32 h 32"/>
                <a:gd name="T14" fmla="*/ 16 w 24"/>
                <a:gd name="T15" fmla="*/ 32 h 32"/>
                <a:gd name="T16" fmla="*/ 9 w 24"/>
                <a:gd name="T17" fmla="*/ 21 h 32"/>
                <a:gd name="T18" fmla="*/ 7 w 24"/>
                <a:gd name="T19" fmla="*/ 21 h 32"/>
                <a:gd name="T20" fmla="*/ 7 w 24"/>
                <a:gd name="T21" fmla="*/ 32 h 32"/>
                <a:gd name="T22" fmla="*/ 0 w 24"/>
                <a:gd name="T23" fmla="*/ 32 h 32"/>
                <a:gd name="T24" fmla="*/ 0 w 24"/>
                <a:gd name="T25" fmla="*/ 0 h 32"/>
                <a:gd name="T26" fmla="*/ 14 w 24"/>
                <a:gd name="T27" fmla="*/ 0 h 32"/>
                <a:gd name="T28" fmla="*/ 24 w 24"/>
                <a:gd name="T29" fmla="*/ 10 h 32"/>
                <a:gd name="T30" fmla="*/ 16 w 24"/>
                <a:gd name="T31" fmla="*/ 21 h 32"/>
                <a:gd name="T32" fmla="*/ 24 w 24"/>
                <a:gd name="T33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32">
                  <a:moveTo>
                    <a:pt x="7" y="6"/>
                  </a:moveTo>
                  <a:cubicBezTo>
                    <a:pt x="7" y="15"/>
                    <a:pt x="7" y="15"/>
                    <a:pt x="7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6" y="15"/>
                    <a:pt x="17" y="12"/>
                    <a:pt x="17" y="10"/>
                  </a:cubicBezTo>
                  <a:cubicBezTo>
                    <a:pt x="17" y="8"/>
                    <a:pt x="16" y="6"/>
                    <a:pt x="13" y="6"/>
                  </a:cubicBezTo>
                  <a:lnTo>
                    <a:pt x="7" y="6"/>
                  </a:lnTo>
                  <a:close/>
                  <a:moveTo>
                    <a:pt x="24" y="32"/>
                  </a:moveTo>
                  <a:cubicBezTo>
                    <a:pt x="16" y="32"/>
                    <a:pt x="16" y="32"/>
                    <a:pt x="16" y="32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32"/>
                    <a:pt x="7" y="32"/>
                    <a:pt x="7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21" y="0"/>
                    <a:pt x="24" y="5"/>
                    <a:pt x="24" y="10"/>
                  </a:cubicBezTo>
                  <a:cubicBezTo>
                    <a:pt x="24" y="15"/>
                    <a:pt x="22" y="19"/>
                    <a:pt x="16" y="21"/>
                  </a:cubicBezTo>
                  <a:lnTo>
                    <a:pt x="24" y="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6" name="Freeform 44">
              <a:extLst>
                <a:ext uri="{FF2B5EF4-FFF2-40B4-BE49-F238E27FC236}">
                  <a16:creationId xmlns="" xmlns:a16="http://schemas.microsoft.com/office/drawing/2014/main" id="{28CFCE59-F2F0-3944-BA8A-8725400F9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-4100513" y="2419350"/>
              <a:ext cx="53975" cy="79375"/>
            </a:xfrm>
            <a:custGeom>
              <a:avLst/>
              <a:gdLst>
                <a:gd name="T0" fmla="*/ 7 w 23"/>
                <a:gd name="T1" fmla="*/ 24 h 34"/>
                <a:gd name="T2" fmla="*/ 12 w 23"/>
                <a:gd name="T3" fmla="*/ 28 h 34"/>
                <a:gd name="T4" fmla="*/ 16 w 23"/>
                <a:gd name="T5" fmla="*/ 24 h 34"/>
                <a:gd name="T6" fmla="*/ 12 w 23"/>
                <a:gd name="T7" fmla="*/ 20 h 34"/>
                <a:gd name="T8" fmla="*/ 8 w 23"/>
                <a:gd name="T9" fmla="*/ 19 h 34"/>
                <a:gd name="T10" fmla="*/ 0 w 23"/>
                <a:gd name="T11" fmla="*/ 10 h 34"/>
                <a:gd name="T12" fmla="*/ 11 w 23"/>
                <a:gd name="T13" fmla="*/ 0 h 34"/>
                <a:gd name="T14" fmla="*/ 22 w 23"/>
                <a:gd name="T15" fmla="*/ 10 h 34"/>
                <a:gd name="T16" fmla="*/ 15 w 23"/>
                <a:gd name="T17" fmla="*/ 10 h 34"/>
                <a:gd name="T18" fmla="*/ 11 w 23"/>
                <a:gd name="T19" fmla="*/ 7 h 34"/>
                <a:gd name="T20" fmla="*/ 7 w 23"/>
                <a:gd name="T21" fmla="*/ 10 h 34"/>
                <a:gd name="T22" fmla="*/ 10 w 23"/>
                <a:gd name="T23" fmla="*/ 13 h 34"/>
                <a:gd name="T24" fmla="*/ 14 w 23"/>
                <a:gd name="T25" fmla="*/ 14 h 34"/>
                <a:gd name="T26" fmla="*/ 23 w 23"/>
                <a:gd name="T27" fmla="*/ 24 h 34"/>
                <a:gd name="T28" fmla="*/ 12 w 23"/>
                <a:gd name="T29" fmla="*/ 34 h 34"/>
                <a:gd name="T30" fmla="*/ 0 w 23"/>
                <a:gd name="T31" fmla="*/ 24 h 34"/>
                <a:gd name="T32" fmla="*/ 7 w 23"/>
                <a:gd name="T33" fmla="*/ 2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4">
                  <a:moveTo>
                    <a:pt x="7" y="24"/>
                  </a:moveTo>
                  <a:cubicBezTo>
                    <a:pt x="7" y="26"/>
                    <a:pt x="8" y="28"/>
                    <a:pt x="12" y="28"/>
                  </a:cubicBezTo>
                  <a:cubicBezTo>
                    <a:pt x="14" y="28"/>
                    <a:pt x="16" y="26"/>
                    <a:pt x="16" y="24"/>
                  </a:cubicBezTo>
                  <a:cubicBezTo>
                    <a:pt x="16" y="23"/>
                    <a:pt x="16" y="21"/>
                    <a:pt x="12" y="2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1" y="17"/>
                    <a:pt x="0" y="13"/>
                    <a:pt x="0" y="10"/>
                  </a:cubicBezTo>
                  <a:cubicBezTo>
                    <a:pt x="0" y="4"/>
                    <a:pt x="5" y="0"/>
                    <a:pt x="11" y="0"/>
                  </a:cubicBezTo>
                  <a:cubicBezTo>
                    <a:pt x="18" y="0"/>
                    <a:pt x="22" y="4"/>
                    <a:pt x="22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8"/>
                    <a:pt x="14" y="7"/>
                    <a:pt x="11" y="7"/>
                  </a:cubicBezTo>
                  <a:cubicBezTo>
                    <a:pt x="9" y="7"/>
                    <a:pt x="7" y="8"/>
                    <a:pt x="7" y="10"/>
                  </a:cubicBezTo>
                  <a:cubicBezTo>
                    <a:pt x="7" y="11"/>
                    <a:pt x="7" y="12"/>
                    <a:pt x="10" y="13"/>
                  </a:cubicBezTo>
                  <a:cubicBezTo>
                    <a:pt x="14" y="14"/>
                    <a:pt x="14" y="14"/>
                    <a:pt x="14" y="14"/>
                  </a:cubicBezTo>
                  <a:cubicBezTo>
                    <a:pt x="22" y="17"/>
                    <a:pt x="23" y="21"/>
                    <a:pt x="23" y="24"/>
                  </a:cubicBezTo>
                  <a:cubicBezTo>
                    <a:pt x="23" y="31"/>
                    <a:pt x="17" y="34"/>
                    <a:pt x="12" y="34"/>
                  </a:cubicBezTo>
                  <a:cubicBezTo>
                    <a:pt x="4" y="34"/>
                    <a:pt x="0" y="29"/>
                    <a:pt x="0" y="24"/>
                  </a:cubicBezTo>
                  <a:lnTo>
                    <a:pt x="7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7" name="Freeform 45">
              <a:extLst>
                <a:ext uri="{FF2B5EF4-FFF2-40B4-BE49-F238E27FC236}">
                  <a16:creationId xmlns="" xmlns:a16="http://schemas.microsoft.com/office/drawing/2014/main" id="{DD352351-717E-4945-BF8B-4D6D41C10D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4041775" y="2422525"/>
              <a:ext cx="74613" cy="74613"/>
            </a:xfrm>
            <a:custGeom>
              <a:avLst/>
              <a:gdLst>
                <a:gd name="T0" fmla="*/ 28 w 47"/>
                <a:gd name="T1" fmla="*/ 26 h 47"/>
                <a:gd name="T2" fmla="*/ 23 w 47"/>
                <a:gd name="T3" fmla="*/ 10 h 47"/>
                <a:gd name="T4" fmla="*/ 17 w 47"/>
                <a:gd name="T5" fmla="*/ 26 h 47"/>
                <a:gd name="T6" fmla="*/ 28 w 47"/>
                <a:gd name="T7" fmla="*/ 26 h 47"/>
                <a:gd name="T8" fmla="*/ 14 w 47"/>
                <a:gd name="T9" fmla="*/ 35 h 47"/>
                <a:gd name="T10" fmla="*/ 10 w 47"/>
                <a:gd name="T11" fmla="*/ 47 h 47"/>
                <a:gd name="T12" fmla="*/ 0 w 47"/>
                <a:gd name="T13" fmla="*/ 47 h 47"/>
                <a:gd name="T14" fmla="*/ 17 w 47"/>
                <a:gd name="T15" fmla="*/ 0 h 47"/>
                <a:gd name="T16" fmla="*/ 28 w 47"/>
                <a:gd name="T17" fmla="*/ 0 h 47"/>
                <a:gd name="T18" fmla="*/ 47 w 47"/>
                <a:gd name="T19" fmla="*/ 47 h 47"/>
                <a:gd name="T20" fmla="*/ 35 w 47"/>
                <a:gd name="T21" fmla="*/ 47 h 47"/>
                <a:gd name="T22" fmla="*/ 31 w 47"/>
                <a:gd name="T23" fmla="*/ 35 h 47"/>
                <a:gd name="T24" fmla="*/ 14 w 47"/>
                <a:gd name="T25" fmla="*/ 35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" h="47">
                  <a:moveTo>
                    <a:pt x="28" y="26"/>
                  </a:moveTo>
                  <a:lnTo>
                    <a:pt x="23" y="10"/>
                  </a:lnTo>
                  <a:lnTo>
                    <a:pt x="17" y="26"/>
                  </a:lnTo>
                  <a:lnTo>
                    <a:pt x="28" y="26"/>
                  </a:lnTo>
                  <a:close/>
                  <a:moveTo>
                    <a:pt x="14" y="35"/>
                  </a:moveTo>
                  <a:lnTo>
                    <a:pt x="10" y="47"/>
                  </a:lnTo>
                  <a:lnTo>
                    <a:pt x="0" y="47"/>
                  </a:lnTo>
                  <a:lnTo>
                    <a:pt x="17" y="0"/>
                  </a:lnTo>
                  <a:lnTo>
                    <a:pt x="28" y="0"/>
                  </a:lnTo>
                  <a:lnTo>
                    <a:pt x="47" y="47"/>
                  </a:lnTo>
                  <a:lnTo>
                    <a:pt x="35" y="47"/>
                  </a:lnTo>
                  <a:lnTo>
                    <a:pt x="31" y="35"/>
                  </a:lnTo>
                  <a:lnTo>
                    <a:pt x="14" y="3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  <p:sp>
          <p:nvSpPr>
            <p:cNvPr id="48" name="Freeform 46">
              <a:extLst>
                <a:ext uri="{FF2B5EF4-FFF2-40B4-BE49-F238E27FC236}">
                  <a16:creationId xmlns="" xmlns:a16="http://schemas.microsoft.com/office/drawing/2014/main" id="{F048E604-22EB-A94A-AD78-BB515C0B4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971925" y="2422525"/>
              <a:ext cx="96838" cy="74613"/>
            </a:xfrm>
            <a:custGeom>
              <a:avLst/>
              <a:gdLst>
                <a:gd name="T0" fmla="*/ 34 w 42"/>
                <a:gd name="T1" fmla="*/ 0 h 32"/>
                <a:gd name="T2" fmla="*/ 42 w 42"/>
                <a:gd name="T3" fmla="*/ 0 h 32"/>
                <a:gd name="T4" fmla="*/ 31 w 42"/>
                <a:gd name="T5" fmla="*/ 32 h 32"/>
                <a:gd name="T6" fmla="*/ 25 w 42"/>
                <a:gd name="T7" fmla="*/ 32 h 32"/>
                <a:gd name="T8" fmla="*/ 21 w 42"/>
                <a:gd name="T9" fmla="*/ 15 h 32"/>
                <a:gd name="T10" fmla="*/ 16 w 42"/>
                <a:gd name="T11" fmla="*/ 32 h 32"/>
                <a:gd name="T12" fmla="*/ 11 w 42"/>
                <a:gd name="T13" fmla="*/ 32 h 32"/>
                <a:gd name="T14" fmla="*/ 0 w 42"/>
                <a:gd name="T15" fmla="*/ 0 h 32"/>
                <a:gd name="T16" fmla="*/ 7 w 42"/>
                <a:gd name="T17" fmla="*/ 0 h 32"/>
                <a:gd name="T18" fmla="*/ 14 w 42"/>
                <a:gd name="T19" fmla="*/ 20 h 32"/>
                <a:gd name="T20" fmla="*/ 18 w 42"/>
                <a:gd name="T21" fmla="*/ 4 h 32"/>
                <a:gd name="T22" fmla="*/ 24 w 42"/>
                <a:gd name="T23" fmla="*/ 4 h 32"/>
                <a:gd name="T24" fmla="*/ 28 w 42"/>
                <a:gd name="T25" fmla="*/ 20 h 32"/>
                <a:gd name="T26" fmla="*/ 34 w 42"/>
                <a:gd name="T27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32">
                  <a:moveTo>
                    <a:pt x="34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1" y="32"/>
                    <a:pt x="11" y="32"/>
                    <a:pt x="11" y="3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5" y="15"/>
                    <a:pt x="17" y="9"/>
                    <a:pt x="18" y="4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28" y="20"/>
                    <a:pt x="28" y="20"/>
                    <a:pt x="28" y="20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1"/>
              <a:endParaRPr lang="en-GB" b="0" i="0" dirty="0">
                <a:latin typeface="Gill Sans Normal" charset="0"/>
              </a:endParaRPr>
            </a:p>
          </p:txBody>
        </p:sp>
      </p:grpSp>
      <p:sp>
        <p:nvSpPr>
          <p:cNvPr id="49" name="Freeform 47">
            <a:extLst>
              <a:ext uri="{FF2B5EF4-FFF2-40B4-BE49-F238E27FC236}">
                <a16:creationId xmlns="" xmlns:a16="http://schemas.microsoft.com/office/drawing/2014/main" id="{68A14071-7D28-9543-92CC-D3C78C01D3F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61978" y="5861775"/>
            <a:ext cx="2055337" cy="131114"/>
          </a:xfrm>
          <a:custGeom>
            <a:avLst/>
            <a:gdLst>
              <a:gd name="T0" fmla="*/ 0 w 759"/>
              <a:gd name="T1" fmla="*/ 1 h 48"/>
              <a:gd name="T2" fmla="*/ 17 w 759"/>
              <a:gd name="T3" fmla="*/ 5 h 48"/>
              <a:gd name="T4" fmla="*/ 4 w 759"/>
              <a:gd name="T5" fmla="*/ 5 h 48"/>
              <a:gd name="T6" fmla="*/ 75 w 759"/>
              <a:gd name="T7" fmla="*/ 42 h 48"/>
              <a:gd name="T8" fmla="*/ 72 w 759"/>
              <a:gd name="T9" fmla="*/ 22 h 48"/>
              <a:gd name="T10" fmla="*/ 74 w 759"/>
              <a:gd name="T11" fmla="*/ 1 h 48"/>
              <a:gd name="T12" fmla="*/ 97 w 759"/>
              <a:gd name="T13" fmla="*/ 48 h 48"/>
              <a:gd name="T14" fmla="*/ 87 w 759"/>
              <a:gd name="T15" fmla="*/ 13 h 48"/>
              <a:gd name="T16" fmla="*/ 97 w 759"/>
              <a:gd name="T17" fmla="*/ 0 h 48"/>
              <a:gd name="T18" fmla="*/ 108 w 759"/>
              <a:gd name="T19" fmla="*/ 36 h 48"/>
              <a:gd name="T20" fmla="*/ 123 w 759"/>
              <a:gd name="T21" fmla="*/ 1 h 48"/>
              <a:gd name="T22" fmla="*/ 163 w 759"/>
              <a:gd name="T23" fmla="*/ 24 h 48"/>
              <a:gd name="T24" fmla="*/ 142 w 759"/>
              <a:gd name="T25" fmla="*/ 24 h 48"/>
              <a:gd name="T26" fmla="*/ 160 w 759"/>
              <a:gd name="T27" fmla="*/ 0 h 48"/>
              <a:gd name="T28" fmla="*/ 163 w 759"/>
              <a:gd name="T29" fmla="*/ 24 h 48"/>
              <a:gd name="T30" fmla="*/ 219 w 759"/>
              <a:gd name="T31" fmla="*/ 39 h 48"/>
              <a:gd name="T32" fmla="*/ 195 w 759"/>
              <a:gd name="T33" fmla="*/ 47 h 48"/>
              <a:gd name="T34" fmla="*/ 241 w 759"/>
              <a:gd name="T35" fmla="*/ 1 h 48"/>
              <a:gd name="T36" fmla="*/ 241 w 759"/>
              <a:gd name="T37" fmla="*/ 1 h 48"/>
              <a:gd name="T38" fmla="*/ 282 w 759"/>
              <a:gd name="T39" fmla="*/ 39 h 48"/>
              <a:gd name="T40" fmla="*/ 259 w 759"/>
              <a:gd name="T41" fmla="*/ 47 h 48"/>
              <a:gd name="T42" fmla="*/ 323 w 759"/>
              <a:gd name="T43" fmla="*/ 24 h 48"/>
              <a:gd name="T44" fmla="*/ 302 w 759"/>
              <a:gd name="T45" fmla="*/ 24 h 48"/>
              <a:gd name="T46" fmla="*/ 320 w 759"/>
              <a:gd name="T47" fmla="*/ 0 h 48"/>
              <a:gd name="T48" fmla="*/ 323 w 759"/>
              <a:gd name="T49" fmla="*/ 24 h 48"/>
              <a:gd name="T50" fmla="*/ 377 w 759"/>
              <a:gd name="T51" fmla="*/ 47 h 48"/>
              <a:gd name="T52" fmla="*/ 396 w 759"/>
              <a:gd name="T53" fmla="*/ 1 h 48"/>
              <a:gd name="T54" fmla="*/ 446 w 759"/>
              <a:gd name="T55" fmla="*/ 24 h 48"/>
              <a:gd name="T56" fmla="*/ 423 w 759"/>
              <a:gd name="T57" fmla="*/ 5 h 48"/>
              <a:gd name="T58" fmla="*/ 481 w 759"/>
              <a:gd name="T59" fmla="*/ 37 h 48"/>
              <a:gd name="T60" fmla="*/ 458 w 759"/>
              <a:gd name="T61" fmla="*/ 47 h 48"/>
              <a:gd name="T62" fmla="*/ 499 w 759"/>
              <a:gd name="T63" fmla="*/ 9 h 48"/>
              <a:gd name="T64" fmla="*/ 498 w 759"/>
              <a:gd name="T65" fmla="*/ 1 h 48"/>
              <a:gd name="T66" fmla="*/ 562 w 759"/>
              <a:gd name="T67" fmla="*/ 24 h 48"/>
              <a:gd name="T68" fmla="*/ 539 w 759"/>
              <a:gd name="T69" fmla="*/ 5 h 48"/>
              <a:gd name="T70" fmla="*/ 590 w 759"/>
              <a:gd name="T71" fmla="*/ 29 h 48"/>
              <a:gd name="T72" fmla="*/ 573 w 759"/>
              <a:gd name="T73" fmla="*/ 47 h 48"/>
              <a:gd name="T74" fmla="*/ 598 w 759"/>
              <a:gd name="T75" fmla="*/ 47 h 48"/>
              <a:gd name="T76" fmla="*/ 598 w 759"/>
              <a:gd name="T77" fmla="*/ 15 h 48"/>
              <a:gd name="T78" fmla="*/ 590 w 759"/>
              <a:gd name="T79" fmla="*/ 5 h 48"/>
              <a:gd name="T80" fmla="*/ 613 w 759"/>
              <a:gd name="T81" fmla="*/ 1 h 48"/>
              <a:gd name="T82" fmla="*/ 626 w 759"/>
              <a:gd name="T83" fmla="*/ 29 h 48"/>
              <a:gd name="T84" fmla="*/ 630 w 759"/>
              <a:gd name="T85" fmla="*/ 5 h 48"/>
              <a:gd name="T86" fmla="*/ 618 w 759"/>
              <a:gd name="T87" fmla="*/ 5 h 48"/>
              <a:gd name="T88" fmla="*/ 697 w 759"/>
              <a:gd name="T89" fmla="*/ 24 h 48"/>
              <a:gd name="T90" fmla="*/ 674 w 759"/>
              <a:gd name="T91" fmla="*/ 5 h 48"/>
              <a:gd name="T92" fmla="*/ 754 w 759"/>
              <a:gd name="T93" fmla="*/ 1 h 48"/>
              <a:gd name="T94" fmla="*/ 719 w 759"/>
              <a:gd name="T95" fmla="*/ 40 h 48"/>
              <a:gd name="T96" fmla="*/ 721 w 759"/>
              <a:gd name="T97" fmla="*/ 47 h 48"/>
              <a:gd name="T98" fmla="*/ 759 w 759"/>
              <a:gd name="T99" fmla="*/ 1 h 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759" h="48">
                <a:moveTo>
                  <a:pt x="17" y="47"/>
                </a:moveTo>
                <a:cubicBezTo>
                  <a:pt x="30" y="47"/>
                  <a:pt x="38" y="37"/>
                  <a:pt x="38" y="24"/>
                </a:cubicBezTo>
                <a:cubicBezTo>
                  <a:pt x="38" y="11"/>
                  <a:pt x="30" y="1"/>
                  <a:pt x="17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47"/>
                  <a:pt x="0" y="47"/>
                  <a:pt x="0" y="47"/>
                </a:cubicBezTo>
                <a:lnTo>
                  <a:pt x="17" y="47"/>
                </a:lnTo>
                <a:close/>
                <a:moveTo>
                  <a:pt x="4" y="5"/>
                </a:moveTo>
                <a:cubicBezTo>
                  <a:pt x="17" y="5"/>
                  <a:pt x="17" y="5"/>
                  <a:pt x="17" y="5"/>
                </a:cubicBezTo>
                <a:cubicBezTo>
                  <a:pt x="28" y="5"/>
                  <a:pt x="33" y="13"/>
                  <a:pt x="33" y="24"/>
                </a:cubicBezTo>
                <a:cubicBezTo>
                  <a:pt x="33" y="35"/>
                  <a:pt x="28" y="42"/>
                  <a:pt x="17" y="42"/>
                </a:cubicBezTo>
                <a:cubicBezTo>
                  <a:pt x="4" y="42"/>
                  <a:pt x="4" y="42"/>
                  <a:pt x="4" y="42"/>
                </a:cubicBezTo>
                <a:lnTo>
                  <a:pt x="4" y="5"/>
                </a:lnTo>
                <a:close/>
                <a:moveTo>
                  <a:pt x="48" y="1"/>
                </a:moveTo>
                <a:cubicBezTo>
                  <a:pt x="48" y="47"/>
                  <a:pt x="48" y="47"/>
                  <a:pt x="48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5" y="42"/>
                  <a:pt x="75" y="42"/>
                  <a:pt x="75" y="42"/>
                </a:cubicBezTo>
                <a:cubicBezTo>
                  <a:pt x="53" y="42"/>
                  <a:pt x="53" y="42"/>
                  <a:pt x="53" y="42"/>
                </a:cubicBezTo>
                <a:cubicBezTo>
                  <a:pt x="53" y="27"/>
                  <a:pt x="53" y="27"/>
                  <a:pt x="53" y="27"/>
                </a:cubicBezTo>
                <a:cubicBezTo>
                  <a:pt x="72" y="27"/>
                  <a:pt x="72" y="27"/>
                  <a:pt x="72" y="27"/>
                </a:cubicBezTo>
                <a:cubicBezTo>
                  <a:pt x="72" y="22"/>
                  <a:pt x="72" y="22"/>
                  <a:pt x="72" y="22"/>
                </a:cubicBezTo>
                <a:cubicBezTo>
                  <a:pt x="53" y="22"/>
                  <a:pt x="53" y="22"/>
                  <a:pt x="53" y="22"/>
                </a:cubicBezTo>
                <a:cubicBezTo>
                  <a:pt x="53" y="5"/>
                  <a:pt x="53" y="5"/>
                  <a:pt x="53" y="5"/>
                </a:cubicBezTo>
                <a:cubicBezTo>
                  <a:pt x="74" y="5"/>
                  <a:pt x="74" y="5"/>
                  <a:pt x="74" y="5"/>
                </a:cubicBezTo>
                <a:cubicBezTo>
                  <a:pt x="74" y="1"/>
                  <a:pt x="74" y="1"/>
                  <a:pt x="74" y="1"/>
                </a:cubicBezTo>
                <a:lnTo>
                  <a:pt x="48" y="1"/>
                </a:lnTo>
                <a:close/>
                <a:moveTo>
                  <a:pt x="86" y="34"/>
                </a:moveTo>
                <a:cubicBezTo>
                  <a:pt x="82" y="34"/>
                  <a:pt x="82" y="34"/>
                  <a:pt x="82" y="34"/>
                </a:cubicBezTo>
                <a:cubicBezTo>
                  <a:pt x="82" y="40"/>
                  <a:pt x="88" y="48"/>
                  <a:pt x="97" y="48"/>
                </a:cubicBezTo>
                <a:cubicBezTo>
                  <a:pt x="106" y="48"/>
                  <a:pt x="111" y="42"/>
                  <a:pt x="112" y="36"/>
                </a:cubicBezTo>
                <a:cubicBezTo>
                  <a:pt x="114" y="28"/>
                  <a:pt x="108" y="23"/>
                  <a:pt x="100" y="22"/>
                </a:cubicBezTo>
                <a:cubicBezTo>
                  <a:pt x="94" y="20"/>
                  <a:pt x="94" y="20"/>
                  <a:pt x="94" y="20"/>
                </a:cubicBezTo>
                <a:cubicBezTo>
                  <a:pt x="87" y="19"/>
                  <a:pt x="87" y="15"/>
                  <a:pt x="87" y="13"/>
                </a:cubicBezTo>
                <a:cubicBezTo>
                  <a:pt x="87" y="8"/>
                  <a:pt x="92" y="5"/>
                  <a:pt x="97" y="5"/>
                </a:cubicBezTo>
                <a:cubicBezTo>
                  <a:pt x="102" y="5"/>
                  <a:pt x="107" y="8"/>
                  <a:pt x="107" y="13"/>
                </a:cubicBezTo>
                <a:cubicBezTo>
                  <a:pt x="111" y="13"/>
                  <a:pt x="111" y="13"/>
                  <a:pt x="111" y="13"/>
                </a:cubicBezTo>
                <a:cubicBezTo>
                  <a:pt x="111" y="5"/>
                  <a:pt x="105" y="0"/>
                  <a:pt x="97" y="0"/>
                </a:cubicBezTo>
                <a:cubicBezTo>
                  <a:pt x="89" y="0"/>
                  <a:pt x="82" y="5"/>
                  <a:pt x="82" y="13"/>
                </a:cubicBezTo>
                <a:cubicBezTo>
                  <a:pt x="82" y="17"/>
                  <a:pt x="83" y="22"/>
                  <a:pt x="93" y="24"/>
                </a:cubicBezTo>
                <a:cubicBezTo>
                  <a:pt x="99" y="26"/>
                  <a:pt x="99" y="26"/>
                  <a:pt x="99" y="26"/>
                </a:cubicBezTo>
                <a:cubicBezTo>
                  <a:pt x="104" y="27"/>
                  <a:pt x="109" y="30"/>
                  <a:pt x="108" y="36"/>
                </a:cubicBezTo>
                <a:cubicBezTo>
                  <a:pt x="107" y="39"/>
                  <a:pt x="104" y="43"/>
                  <a:pt x="97" y="43"/>
                </a:cubicBezTo>
                <a:cubicBezTo>
                  <a:pt x="90" y="43"/>
                  <a:pt x="86" y="38"/>
                  <a:pt x="86" y="34"/>
                </a:cubicBezTo>
                <a:moveTo>
                  <a:pt x="127" y="1"/>
                </a:moveTo>
                <a:cubicBezTo>
                  <a:pt x="123" y="1"/>
                  <a:pt x="123" y="1"/>
                  <a:pt x="123" y="1"/>
                </a:cubicBezTo>
                <a:cubicBezTo>
                  <a:pt x="123" y="47"/>
                  <a:pt x="123" y="47"/>
                  <a:pt x="123" y="47"/>
                </a:cubicBezTo>
                <a:cubicBezTo>
                  <a:pt x="127" y="47"/>
                  <a:pt x="127" y="47"/>
                  <a:pt x="127" y="47"/>
                </a:cubicBezTo>
                <a:lnTo>
                  <a:pt x="127" y="1"/>
                </a:lnTo>
                <a:close/>
                <a:moveTo>
                  <a:pt x="163" y="24"/>
                </a:moveTo>
                <a:cubicBezTo>
                  <a:pt x="163" y="28"/>
                  <a:pt x="163" y="28"/>
                  <a:pt x="163" y="28"/>
                </a:cubicBezTo>
                <a:cubicBezTo>
                  <a:pt x="177" y="28"/>
                  <a:pt x="177" y="28"/>
                  <a:pt x="177" y="28"/>
                </a:cubicBezTo>
                <a:cubicBezTo>
                  <a:pt x="176" y="38"/>
                  <a:pt x="170" y="43"/>
                  <a:pt x="160" y="43"/>
                </a:cubicBezTo>
                <a:cubicBezTo>
                  <a:pt x="150" y="43"/>
                  <a:pt x="142" y="35"/>
                  <a:pt x="142" y="24"/>
                </a:cubicBezTo>
                <a:cubicBezTo>
                  <a:pt x="142" y="13"/>
                  <a:pt x="150" y="5"/>
                  <a:pt x="160" y="5"/>
                </a:cubicBezTo>
                <a:cubicBezTo>
                  <a:pt x="165" y="5"/>
                  <a:pt x="169" y="6"/>
                  <a:pt x="172" y="9"/>
                </a:cubicBezTo>
                <a:cubicBezTo>
                  <a:pt x="175" y="6"/>
                  <a:pt x="175" y="6"/>
                  <a:pt x="175" y="6"/>
                </a:cubicBezTo>
                <a:cubicBezTo>
                  <a:pt x="171" y="2"/>
                  <a:pt x="166" y="0"/>
                  <a:pt x="160" y="0"/>
                </a:cubicBezTo>
                <a:cubicBezTo>
                  <a:pt x="147" y="0"/>
                  <a:pt x="137" y="11"/>
                  <a:pt x="137" y="24"/>
                </a:cubicBezTo>
                <a:cubicBezTo>
                  <a:pt x="137" y="37"/>
                  <a:pt x="147" y="48"/>
                  <a:pt x="160" y="48"/>
                </a:cubicBezTo>
                <a:cubicBezTo>
                  <a:pt x="174" y="48"/>
                  <a:pt x="182" y="40"/>
                  <a:pt x="182" y="24"/>
                </a:cubicBezTo>
                <a:lnTo>
                  <a:pt x="163" y="24"/>
                </a:lnTo>
                <a:close/>
                <a:moveTo>
                  <a:pt x="223" y="47"/>
                </a:moveTo>
                <a:cubicBezTo>
                  <a:pt x="223" y="1"/>
                  <a:pt x="223" y="1"/>
                  <a:pt x="223" y="1"/>
                </a:cubicBezTo>
                <a:cubicBezTo>
                  <a:pt x="219" y="1"/>
                  <a:pt x="219" y="1"/>
                  <a:pt x="219" y="1"/>
                </a:cubicBezTo>
                <a:cubicBezTo>
                  <a:pt x="219" y="39"/>
                  <a:pt x="219" y="39"/>
                  <a:pt x="219" y="39"/>
                </a:cubicBezTo>
                <a:cubicBezTo>
                  <a:pt x="196" y="1"/>
                  <a:pt x="196" y="1"/>
                  <a:pt x="196" y="1"/>
                </a:cubicBezTo>
                <a:cubicBezTo>
                  <a:pt x="191" y="1"/>
                  <a:pt x="191" y="1"/>
                  <a:pt x="191" y="1"/>
                </a:cubicBezTo>
                <a:cubicBezTo>
                  <a:pt x="191" y="47"/>
                  <a:pt x="191" y="47"/>
                  <a:pt x="191" y="47"/>
                </a:cubicBezTo>
                <a:cubicBezTo>
                  <a:pt x="195" y="47"/>
                  <a:pt x="195" y="47"/>
                  <a:pt x="195" y="47"/>
                </a:cubicBezTo>
                <a:cubicBezTo>
                  <a:pt x="195" y="8"/>
                  <a:pt x="195" y="8"/>
                  <a:pt x="195" y="8"/>
                </a:cubicBezTo>
                <a:cubicBezTo>
                  <a:pt x="219" y="47"/>
                  <a:pt x="219" y="47"/>
                  <a:pt x="219" y="47"/>
                </a:cubicBezTo>
                <a:lnTo>
                  <a:pt x="223" y="47"/>
                </a:lnTo>
                <a:close/>
                <a:moveTo>
                  <a:pt x="241" y="1"/>
                </a:moveTo>
                <a:cubicBezTo>
                  <a:pt x="237" y="1"/>
                  <a:pt x="237" y="1"/>
                  <a:pt x="237" y="1"/>
                </a:cubicBezTo>
                <a:cubicBezTo>
                  <a:pt x="237" y="47"/>
                  <a:pt x="237" y="47"/>
                  <a:pt x="237" y="47"/>
                </a:cubicBezTo>
                <a:cubicBezTo>
                  <a:pt x="241" y="47"/>
                  <a:pt x="241" y="47"/>
                  <a:pt x="241" y="47"/>
                </a:cubicBezTo>
                <a:lnTo>
                  <a:pt x="241" y="1"/>
                </a:lnTo>
                <a:close/>
                <a:moveTo>
                  <a:pt x="287" y="47"/>
                </a:moveTo>
                <a:cubicBezTo>
                  <a:pt x="287" y="1"/>
                  <a:pt x="287" y="1"/>
                  <a:pt x="287" y="1"/>
                </a:cubicBezTo>
                <a:cubicBezTo>
                  <a:pt x="282" y="1"/>
                  <a:pt x="282" y="1"/>
                  <a:pt x="282" y="1"/>
                </a:cubicBezTo>
                <a:cubicBezTo>
                  <a:pt x="282" y="39"/>
                  <a:pt x="282" y="39"/>
                  <a:pt x="282" y="39"/>
                </a:cubicBezTo>
                <a:cubicBezTo>
                  <a:pt x="259" y="1"/>
                  <a:pt x="259" y="1"/>
                  <a:pt x="259" y="1"/>
                </a:cubicBezTo>
                <a:cubicBezTo>
                  <a:pt x="254" y="1"/>
                  <a:pt x="254" y="1"/>
                  <a:pt x="254" y="1"/>
                </a:cubicBezTo>
                <a:cubicBezTo>
                  <a:pt x="254" y="47"/>
                  <a:pt x="254" y="47"/>
                  <a:pt x="254" y="47"/>
                </a:cubicBezTo>
                <a:cubicBezTo>
                  <a:pt x="259" y="47"/>
                  <a:pt x="259" y="47"/>
                  <a:pt x="259" y="47"/>
                </a:cubicBezTo>
                <a:cubicBezTo>
                  <a:pt x="259" y="8"/>
                  <a:pt x="259" y="8"/>
                  <a:pt x="259" y="8"/>
                </a:cubicBezTo>
                <a:cubicBezTo>
                  <a:pt x="282" y="47"/>
                  <a:pt x="282" y="47"/>
                  <a:pt x="282" y="47"/>
                </a:cubicBezTo>
                <a:lnTo>
                  <a:pt x="287" y="47"/>
                </a:lnTo>
                <a:close/>
                <a:moveTo>
                  <a:pt x="323" y="24"/>
                </a:moveTo>
                <a:cubicBezTo>
                  <a:pt x="323" y="28"/>
                  <a:pt x="323" y="28"/>
                  <a:pt x="323" y="28"/>
                </a:cubicBezTo>
                <a:cubicBezTo>
                  <a:pt x="337" y="28"/>
                  <a:pt x="337" y="28"/>
                  <a:pt x="337" y="28"/>
                </a:cubicBezTo>
                <a:cubicBezTo>
                  <a:pt x="336" y="38"/>
                  <a:pt x="330" y="43"/>
                  <a:pt x="320" y="43"/>
                </a:cubicBezTo>
                <a:cubicBezTo>
                  <a:pt x="310" y="43"/>
                  <a:pt x="302" y="35"/>
                  <a:pt x="302" y="24"/>
                </a:cubicBezTo>
                <a:cubicBezTo>
                  <a:pt x="302" y="13"/>
                  <a:pt x="310" y="5"/>
                  <a:pt x="320" y="5"/>
                </a:cubicBezTo>
                <a:cubicBezTo>
                  <a:pt x="325" y="5"/>
                  <a:pt x="329" y="6"/>
                  <a:pt x="332" y="9"/>
                </a:cubicBezTo>
                <a:cubicBezTo>
                  <a:pt x="335" y="6"/>
                  <a:pt x="335" y="6"/>
                  <a:pt x="335" y="6"/>
                </a:cubicBezTo>
                <a:cubicBezTo>
                  <a:pt x="331" y="2"/>
                  <a:pt x="326" y="0"/>
                  <a:pt x="320" y="0"/>
                </a:cubicBezTo>
                <a:cubicBezTo>
                  <a:pt x="307" y="0"/>
                  <a:pt x="297" y="11"/>
                  <a:pt x="297" y="24"/>
                </a:cubicBezTo>
                <a:cubicBezTo>
                  <a:pt x="297" y="37"/>
                  <a:pt x="307" y="48"/>
                  <a:pt x="320" y="48"/>
                </a:cubicBezTo>
                <a:cubicBezTo>
                  <a:pt x="333" y="48"/>
                  <a:pt x="342" y="40"/>
                  <a:pt x="342" y="24"/>
                </a:cubicBezTo>
                <a:lnTo>
                  <a:pt x="323" y="24"/>
                </a:lnTo>
                <a:close/>
                <a:moveTo>
                  <a:pt x="362" y="1"/>
                </a:moveTo>
                <a:cubicBezTo>
                  <a:pt x="362" y="5"/>
                  <a:pt x="362" y="5"/>
                  <a:pt x="362" y="5"/>
                </a:cubicBezTo>
                <a:cubicBezTo>
                  <a:pt x="377" y="5"/>
                  <a:pt x="377" y="5"/>
                  <a:pt x="377" y="5"/>
                </a:cubicBezTo>
                <a:cubicBezTo>
                  <a:pt x="377" y="47"/>
                  <a:pt x="377" y="47"/>
                  <a:pt x="377" y="47"/>
                </a:cubicBezTo>
                <a:cubicBezTo>
                  <a:pt x="381" y="47"/>
                  <a:pt x="381" y="47"/>
                  <a:pt x="381" y="47"/>
                </a:cubicBezTo>
                <a:cubicBezTo>
                  <a:pt x="381" y="5"/>
                  <a:pt x="381" y="5"/>
                  <a:pt x="381" y="5"/>
                </a:cubicBezTo>
                <a:cubicBezTo>
                  <a:pt x="396" y="5"/>
                  <a:pt x="396" y="5"/>
                  <a:pt x="396" y="5"/>
                </a:cubicBezTo>
                <a:cubicBezTo>
                  <a:pt x="396" y="1"/>
                  <a:pt x="396" y="1"/>
                  <a:pt x="396" y="1"/>
                </a:cubicBezTo>
                <a:lnTo>
                  <a:pt x="362" y="1"/>
                </a:lnTo>
                <a:close/>
                <a:moveTo>
                  <a:pt x="399" y="24"/>
                </a:moveTo>
                <a:cubicBezTo>
                  <a:pt x="399" y="37"/>
                  <a:pt x="409" y="48"/>
                  <a:pt x="423" y="48"/>
                </a:cubicBezTo>
                <a:cubicBezTo>
                  <a:pt x="436" y="48"/>
                  <a:pt x="446" y="37"/>
                  <a:pt x="446" y="24"/>
                </a:cubicBezTo>
                <a:cubicBezTo>
                  <a:pt x="446" y="11"/>
                  <a:pt x="436" y="0"/>
                  <a:pt x="423" y="0"/>
                </a:cubicBezTo>
                <a:cubicBezTo>
                  <a:pt x="409" y="0"/>
                  <a:pt x="399" y="11"/>
                  <a:pt x="399" y="24"/>
                </a:cubicBezTo>
                <a:moveTo>
                  <a:pt x="404" y="24"/>
                </a:moveTo>
                <a:cubicBezTo>
                  <a:pt x="404" y="13"/>
                  <a:pt x="412" y="5"/>
                  <a:pt x="423" y="5"/>
                </a:cubicBezTo>
                <a:cubicBezTo>
                  <a:pt x="433" y="5"/>
                  <a:pt x="441" y="13"/>
                  <a:pt x="441" y="24"/>
                </a:cubicBezTo>
                <a:cubicBezTo>
                  <a:pt x="441" y="35"/>
                  <a:pt x="433" y="43"/>
                  <a:pt x="423" y="43"/>
                </a:cubicBezTo>
                <a:cubicBezTo>
                  <a:pt x="412" y="43"/>
                  <a:pt x="404" y="35"/>
                  <a:pt x="404" y="24"/>
                </a:cubicBezTo>
                <a:moveTo>
                  <a:pt x="481" y="37"/>
                </a:moveTo>
                <a:cubicBezTo>
                  <a:pt x="463" y="1"/>
                  <a:pt x="463" y="1"/>
                  <a:pt x="463" y="1"/>
                </a:cubicBezTo>
                <a:cubicBezTo>
                  <a:pt x="459" y="1"/>
                  <a:pt x="459" y="1"/>
                  <a:pt x="459" y="1"/>
                </a:cubicBezTo>
                <a:cubicBezTo>
                  <a:pt x="453" y="47"/>
                  <a:pt x="453" y="47"/>
                  <a:pt x="453" y="47"/>
                </a:cubicBezTo>
                <a:cubicBezTo>
                  <a:pt x="458" y="47"/>
                  <a:pt x="458" y="47"/>
                  <a:pt x="458" y="47"/>
                </a:cubicBezTo>
                <a:cubicBezTo>
                  <a:pt x="462" y="9"/>
                  <a:pt x="462" y="9"/>
                  <a:pt x="462" y="9"/>
                </a:cubicBezTo>
                <a:cubicBezTo>
                  <a:pt x="479" y="42"/>
                  <a:pt x="479" y="42"/>
                  <a:pt x="479" y="42"/>
                </a:cubicBezTo>
                <a:cubicBezTo>
                  <a:pt x="483" y="42"/>
                  <a:pt x="483" y="42"/>
                  <a:pt x="483" y="42"/>
                </a:cubicBezTo>
                <a:cubicBezTo>
                  <a:pt x="499" y="9"/>
                  <a:pt x="499" y="9"/>
                  <a:pt x="499" y="9"/>
                </a:cubicBezTo>
                <a:cubicBezTo>
                  <a:pt x="504" y="47"/>
                  <a:pt x="504" y="47"/>
                  <a:pt x="504" y="47"/>
                </a:cubicBezTo>
                <a:cubicBezTo>
                  <a:pt x="508" y="47"/>
                  <a:pt x="508" y="47"/>
                  <a:pt x="508" y="47"/>
                </a:cubicBezTo>
                <a:cubicBezTo>
                  <a:pt x="503" y="1"/>
                  <a:pt x="503" y="1"/>
                  <a:pt x="503" y="1"/>
                </a:cubicBezTo>
                <a:cubicBezTo>
                  <a:pt x="498" y="1"/>
                  <a:pt x="498" y="1"/>
                  <a:pt x="498" y="1"/>
                </a:cubicBezTo>
                <a:lnTo>
                  <a:pt x="481" y="37"/>
                </a:lnTo>
                <a:close/>
                <a:moveTo>
                  <a:pt x="516" y="24"/>
                </a:moveTo>
                <a:cubicBezTo>
                  <a:pt x="516" y="37"/>
                  <a:pt x="526" y="48"/>
                  <a:pt x="539" y="48"/>
                </a:cubicBezTo>
                <a:cubicBezTo>
                  <a:pt x="552" y="48"/>
                  <a:pt x="562" y="37"/>
                  <a:pt x="562" y="24"/>
                </a:cubicBezTo>
                <a:cubicBezTo>
                  <a:pt x="562" y="11"/>
                  <a:pt x="552" y="0"/>
                  <a:pt x="539" y="0"/>
                </a:cubicBezTo>
                <a:cubicBezTo>
                  <a:pt x="526" y="0"/>
                  <a:pt x="516" y="11"/>
                  <a:pt x="516" y="24"/>
                </a:cubicBezTo>
                <a:moveTo>
                  <a:pt x="520" y="24"/>
                </a:moveTo>
                <a:cubicBezTo>
                  <a:pt x="520" y="13"/>
                  <a:pt x="529" y="5"/>
                  <a:pt x="539" y="5"/>
                </a:cubicBezTo>
                <a:cubicBezTo>
                  <a:pt x="550" y="5"/>
                  <a:pt x="558" y="13"/>
                  <a:pt x="558" y="24"/>
                </a:cubicBezTo>
                <a:cubicBezTo>
                  <a:pt x="558" y="35"/>
                  <a:pt x="550" y="43"/>
                  <a:pt x="539" y="43"/>
                </a:cubicBezTo>
                <a:cubicBezTo>
                  <a:pt x="529" y="43"/>
                  <a:pt x="520" y="35"/>
                  <a:pt x="520" y="24"/>
                </a:cubicBezTo>
                <a:moveTo>
                  <a:pt x="590" y="29"/>
                </a:moveTo>
                <a:cubicBezTo>
                  <a:pt x="599" y="29"/>
                  <a:pt x="603" y="22"/>
                  <a:pt x="603" y="15"/>
                </a:cubicBezTo>
                <a:cubicBezTo>
                  <a:pt x="603" y="8"/>
                  <a:pt x="599" y="1"/>
                  <a:pt x="590" y="1"/>
                </a:cubicBezTo>
                <a:cubicBezTo>
                  <a:pt x="573" y="1"/>
                  <a:pt x="573" y="1"/>
                  <a:pt x="573" y="1"/>
                </a:cubicBezTo>
                <a:cubicBezTo>
                  <a:pt x="573" y="47"/>
                  <a:pt x="573" y="47"/>
                  <a:pt x="573" y="47"/>
                </a:cubicBezTo>
                <a:cubicBezTo>
                  <a:pt x="577" y="47"/>
                  <a:pt x="577" y="47"/>
                  <a:pt x="577" y="47"/>
                </a:cubicBezTo>
                <a:cubicBezTo>
                  <a:pt x="577" y="29"/>
                  <a:pt x="577" y="29"/>
                  <a:pt x="577" y="29"/>
                </a:cubicBezTo>
                <a:cubicBezTo>
                  <a:pt x="585" y="29"/>
                  <a:pt x="585" y="29"/>
                  <a:pt x="585" y="29"/>
                </a:cubicBezTo>
                <a:cubicBezTo>
                  <a:pt x="598" y="47"/>
                  <a:pt x="598" y="47"/>
                  <a:pt x="598" y="47"/>
                </a:cubicBezTo>
                <a:cubicBezTo>
                  <a:pt x="603" y="47"/>
                  <a:pt x="603" y="47"/>
                  <a:pt x="603" y="47"/>
                </a:cubicBezTo>
                <a:lnTo>
                  <a:pt x="590" y="29"/>
                </a:lnTo>
                <a:close/>
                <a:moveTo>
                  <a:pt x="590" y="5"/>
                </a:moveTo>
                <a:cubicBezTo>
                  <a:pt x="596" y="5"/>
                  <a:pt x="598" y="10"/>
                  <a:pt x="598" y="15"/>
                </a:cubicBezTo>
                <a:cubicBezTo>
                  <a:pt x="598" y="20"/>
                  <a:pt x="596" y="25"/>
                  <a:pt x="589" y="25"/>
                </a:cubicBezTo>
                <a:cubicBezTo>
                  <a:pt x="577" y="25"/>
                  <a:pt x="577" y="25"/>
                  <a:pt x="577" y="25"/>
                </a:cubicBezTo>
                <a:cubicBezTo>
                  <a:pt x="577" y="5"/>
                  <a:pt x="577" y="5"/>
                  <a:pt x="577" y="5"/>
                </a:cubicBezTo>
                <a:lnTo>
                  <a:pt x="590" y="5"/>
                </a:lnTo>
                <a:close/>
                <a:moveTo>
                  <a:pt x="631" y="29"/>
                </a:moveTo>
                <a:cubicBezTo>
                  <a:pt x="640" y="29"/>
                  <a:pt x="643" y="22"/>
                  <a:pt x="643" y="15"/>
                </a:cubicBezTo>
                <a:cubicBezTo>
                  <a:pt x="643" y="8"/>
                  <a:pt x="640" y="1"/>
                  <a:pt x="630" y="1"/>
                </a:cubicBezTo>
                <a:cubicBezTo>
                  <a:pt x="613" y="1"/>
                  <a:pt x="613" y="1"/>
                  <a:pt x="613" y="1"/>
                </a:cubicBezTo>
                <a:cubicBezTo>
                  <a:pt x="613" y="47"/>
                  <a:pt x="613" y="47"/>
                  <a:pt x="613" y="47"/>
                </a:cubicBezTo>
                <a:cubicBezTo>
                  <a:pt x="618" y="47"/>
                  <a:pt x="618" y="47"/>
                  <a:pt x="618" y="47"/>
                </a:cubicBezTo>
                <a:cubicBezTo>
                  <a:pt x="618" y="29"/>
                  <a:pt x="618" y="29"/>
                  <a:pt x="618" y="29"/>
                </a:cubicBezTo>
                <a:cubicBezTo>
                  <a:pt x="626" y="29"/>
                  <a:pt x="626" y="29"/>
                  <a:pt x="626" y="29"/>
                </a:cubicBezTo>
                <a:cubicBezTo>
                  <a:pt x="638" y="47"/>
                  <a:pt x="638" y="47"/>
                  <a:pt x="638" y="47"/>
                </a:cubicBezTo>
                <a:cubicBezTo>
                  <a:pt x="644" y="47"/>
                  <a:pt x="644" y="47"/>
                  <a:pt x="644" y="47"/>
                </a:cubicBezTo>
                <a:lnTo>
                  <a:pt x="631" y="29"/>
                </a:lnTo>
                <a:close/>
                <a:moveTo>
                  <a:pt x="630" y="5"/>
                </a:moveTo>
                <a:cubicBezTo>
                  <a:pt x="637" y="5"/>
                  <a:pt x="639" y="10"/>
                  <a:pt x="639" y="15"/>
                </a:cubicBezTo>
                <a:cubicBezTo>
                  <a:pt x="639" y="20"/>
                  <a:pt x="637" y="25"/>
                  <a:pt x="630" y="25"/>
                </a:cubicBezTo>
                <a:cubicBezTo>
                  <a:pt x="618" y="25"/>
                  <a:pt x="618" y="25"/>
                  <a:pt x="618" y="25"/>
                </a:cubicBezTo>
                <a:cubicBezTo>
                  <a:pt x="618" y="5"/>
                  <a:pt x="618" y="5"/>
                  <a:pt x="618" y="5"/>
                </a:cubicBezTo>
                <a:lnTo>
                  <a:pt x="630" y="5"/>
                </a:lnTo>
                <a:close/>
                <a:moveTo>
                  <a:pt x="651" y="24"/>
                </a:moveTo>
                <a:cubicBezTo>
                  <a:pt x="651" y="37"/>
                  <a:pt x="661" y="48"/>
                  <a:pt x="674" y="48"/>
                </a:cubicBezTo>
                <a:cubicBezTo>
                  <a:pt x="687" y="48"/>
                  <a:pt x="697" y="37"/>
                  <a:pt x="697" y="24"/>
                </a:cubicBezTo>
                <a:cubicBezTo>
                  <a:pt x="697" y="11"/>
                  <a:pt x="687" y="0"/>
                  <a:pt x="674" y="0"/>
                </a:cubicBezTo>
                <a:cubicBezTo>
                  <a:pt x="661" y="0"/>
                  <a:pt x="651" y="11"/>
                  <a:pt x="651" y="24"/>
                </a:cubicBezTo>
                <a:moveTo>
                  <a:pt x="655" y="24"/>
                </a:moveTo>
                <a:cubicBezTo>
                  <a:pt x="655" y="13"/>
                  <a:pt x="663" y="5"/>
                  <a:pt x="674" y="5"/>
                </a:cubicBezTo>
                <a:cubicBezTo>
                  <a:pt x="685" y="5"/>
                  <a:pt x="693" y="13"/>
                  <a:pt x="693" y="24"/>
                </a:cubicBezTo>
                <a:cubicBezTo>
                  <a:pt x="693" y="35"/>
                  <a:pt x="685" y="43"/>
                  <a:pt x="674" y="43"/>
                </a:cubicBezTo>
                <a:cubicBezTo>
                  <a:pt x="663" y="43"/>
                  <a:pt x="655" y="35"/>
                  <a:pt x="655" y="24"/>
                </a:cubicBezTo>
                <a:moveTo>
                  <a:pt x="754" y="1"/>
                </a:moveTo>
                <a:cubicBezTo>
                  <a:pt x="741" y="40"/>
                  <a:pt x="741" y="40"/>
                  <a:pt x="741" y="40"/>
                </a:cubicBezTo>
                <a:cubicBezTo>
                  <a:pt x="732" y="7"/>
                  <a:pt x="732" y="7"/>
                  <a:pt x="732" y="7"/>
                </a:cubicBezTo>
                <a:cubicBezTo>
                  <a:pt x="728" y="7"/>
                  <a:pt x="728" y="7"/>
                  <a:pt x="728" y="7"/>
                </a:cubicBezTo>
                <a:cubicBezTo>
                  <a:pt x="719" y="40"/>
                  <a:pt x="719" y="40"/>
                  <a:pt x="719" y="40"/>
                </a:cubicBezTo>
                <a:cubicBezTo>
                  <a:pt x="706" y="1"/>
                  <a:pt x="706" y="1"/>
                  <a:pt x="706" y="1"/>
                </a:cubicBezTo>
                <a:cubicBezTo>
                  <a:pt x="701" y="1"/>
                  <a:pt x="701" y="1"/>
                  <a:pt x="701" y="1"/>
                </a:cubicBezTo>
                <a:cubicBezTo>
                  <a:pt x="717" y="47"/>
                  <a:pt x="717" y="47"/>
                  <a:pt x="717" y="47"/>
                </a:cubicBezTo>
                <a:cubicBezTo>
                  <a:pt x="721" y="47"/>
                  <a:pt x="721" y="47"/>
                  <a:pt x="721" y="47"/>
                </a:cubicBezTo>
                <a:cubicBezTo>
                  <a:pt x="730" y="16"/>
                  <a:pt x="730" y="16"/>
                  <a:pt x="730" y="16"/>
                </a:cubicBezTo>
                <a:cubicBezTo>
                  <a:pt x="739" y="47"/>
                  <a:pt x="739" y="47"/>
                  <a:pt x="739" y="47"/>
                </a:cubicBezTo>
                <a:cubicBezTo>
                  <a:pt x="743" y="47"/>
                  <a:pt x="743" y="47"/>
                  <a:pt x="743" y="47"/>
                </a:cubicBezTo>
                <a:cubicBezTo>
                  <a:pt x="759" y="1"/>
                  <a:pt x="759" y="1"/>
                  <a:pt x="759" y="1"/>
                </a:cubicBezTo>
                <a:lnTo>
                  <a:pt x="75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/>
            <a:endParaRPr lang="en-GB" b="0" i="0" dirty="0">
              <a:latin typeface="Gill Sans Normal" charset="0"/>
            </a:endParaRPr>
          </a:p>
        </p:txBody>
      </p:sp>
      <p:pic>
        <p:nvPicPr>
          <p:cNvPr id="51" name="Imagen 50" descr="Imagen que contiene dibujo&#10;&#10;Descripción generada automáticamente">
            <a:extLst>
              <a:ext uri="{FF2B5EF4-FFF2-40B4-BE49-F238E27FC236}">
                <a16:creationId xmlns="" xmlns:a16="http://schemas.microsoft.com/office/drawing/2014/main" id="{4F81AAE6-10E4-6F40-BA76-C8B1169DDE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" t="26377" r="5154" b="26135"/>
          <a:stretch/>
        </p:blipFill>
        <p:spPr>
          <a:xfrm>
            <a:off x="9592148" y="5779048"/>
            <a:ext cx="2151704" cy="822537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="" xmlns:a16="http://schemas.microsoft.com/office/drawing/2014/main" id="{FA5541DF-1062-864C-A93F-06FA3AD3CD8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6" y="319970"/>
            <a:ext cx="2131286" cy="98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3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bg>
      <p:bgPr>
        <a:solidFill>
          <a:srgbClr val="240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219909-41BA-458B-8FE5-54D6599C0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628" y="1518458"/>
            <a:ext cx="10112372" cy="1508125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EEC343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827D9DA-1D31-4A59-8B1E-D93756E0CF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628" y="3083560"/>
            <a:ext cx="10112372" cy="1508125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0" i="0">
                <a:solidFill>
                  <a:schemeClr val="bg1"/>
                </a:solidFill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1" name="Imagen 50" descr="Imagen que contiene dibujo&#10;&#10;Descripción generada automáticamente">
            <a:extLst>
              <a:ext uri="{FF2B5EF4-FFF2-40B4-BE49-F238E27FC236}">
                <a16:creationId xmlns="" xmlns:a16="http://schemas.microsoft.com/office/drawing/2014/main" id="{4F81AAE6-10E4-6F40-BA76-C8B1169DDE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" t="26377" r="5154" b="26135"/>
          <a:stretch/>
        </p:blipFill>
        <p:spPr>
          <a:xfrm>
            <a:off x="10393680" y="231689"/>
            <a:ext cx="1502572" cy="574392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="" xmlns:a16="http://schemas.microsoft.com/office/drawing/2014/main" id="{BD3130AF-378E-CF41-983E-D3CE6B6EE9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6" y="4864244"/>
            <a:ext cx="2131286" cy="9855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72105C4E-CA23-F444-8B9F-CAAE2B9D93A7}"/>
              </a:ext>
            </a:extLst>
          </p:cNvPr>
          <p:cNvSpPr/>
          <p:nvPr userDrawn="1"/>
        </p:nvSpPr>
        <p:spPr>
          <a:xfrm>
            <a:off x="548640" y="6329680"/>
            <a:ext cx="11643360" cy="296631"/>
          </a:xfrm>
          <a:custGeom>
            <a:avLst/>
            <a:gdLst>
              <a:gd name="connsiteX0" fmla="*/ 0 w 11643360"/>
              <a:gd name="connsiteY0" fmla="*/ 0 h 357591"/>
              <a:gd name="connsiteX1" fmla="*/ 11643360 w 11643360"/>
              <a:gd name="connsiteY1" fmla="*/ 0 h 357591"/>
              <a:gd name="connsiteX2" fmla="*/ 11643360 w 11643360"/>
              <a:gd name="connsiteY2" fmla="*/ 357591 h 357591"/>
              <a:gd name="connsiteX3" fmla="*/ 0 w 11643360"/>
              <a:gd name="connsiteY3" fmla="*/ 357591 h 357591"/>
              <a:gd name="connsiteX4" fmla="*/ 0 w 11643360"/>
              <a:gd name="connsiteY4" fmla="*/ 0 h 357591"/>
              <a:gd name="connsiteX0" fmla="*/ 11643360 w 11734800"/>
              <a:gd name="connsiteY0" fmla="*/ 357591 h 357591"/>
              <a:gd name="connsiteX1" fmla="*/ 0 w 11734800"/>
              <a:gd name="connsiteY1" fmla="*/ 357591 h 357591"/>
              <a:gd name="connsiteX2" fmla="*/ 0 w 11734800"/>
              <a:gd name="connsiteY2" fmla="*/ 0 h 357591"/>
              <a:gd name="connsiteX3" fmla="*/ 11734800 w 11734800"/>
              <a:gd name="connsiteY3" fmla="*/ 91440 h 357591"/>
              <a:gd name="connsiteX0" fmla="*/ 11643360 w 11673840"/>
              <a:gd name="connsiteY0" fmla="*/ 357591 h 357591"/>
              <a:gd name="connsiteX1" fmla="*/ 0 w 11673840"/>
              <a:gd name="connsiteY1" fmla="*/ 357591 h 357591"/>
              <a:gd name="connsiteX2" fmla="*/ 0 w 11673840"/>
              <a:gd name="connsiteY2" fmla="*/ 0 h 357591"/>
              <a:gd name="connsiteX3" fmla="*/ 11673840 w 11673840"/>
              <a:gd name="connsiteY3" fmla="*/ 10160 h 35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3840" h="357591">
                <a:moveTo>
                  <a:pt x="11643360" y="357591"/>
                </a:moveTo>
                <a:lnTo>
                  <a:pt x="0" y="357591"/>
                </a:lnTo>
                <a:lnTo>
                  <a:pt x="0" y="0"/>
                </a:lnTo>
                <a:lnTo>
                  <a:pt x="11673840" y="10160"/>
                </a:lnTo>
              </a:path>
            </a:pathLst>
          </a:custGeom>
          <a:noFill/>
          <a:ln w="9525">
            <a:solidFill>
              <a:srgbClr val="817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ángulo 5">
            <a:extLst>
              <a:ext uri="{FF2B5EF4-FFF2-40B4-BE49-F238E27FC236}">
                <a16:creationId xmlns="" xmlns:a16="http://schemas.microsoft.com/office/drawing/2014/main" id="{E0D23C4E-DCD9-5442-9A35-D4E914F61910}"/>
              </a:ext>
            </a:extLst>
          </p:cNvPr>
          <p:cNvSpPr/>
          <p:nvPr userDrawn="1"/>
        </p:nvSpPr>
        <p:spPr>
          <a:xfrm>
            <a:off x="548640" y="6329680"/>
            <a:ext cx="140335" cy="296631"/>
          </a:xfrm>
          <a:custGeom>
            <a:avLst/>
            <a:gdLst>
              <a:gd name="connsiteX0" fmla="*/ 0 w 11643360"/>
              <a:gd name="connsiteY0" fmla="*/ 0 h 357591"/>
              <a:gd name="connsiteX1" fmla="*/ 11643360 w 11643360"/>
              <a:gd name="connsiteY1" fmla="*/ 0 h 357591"/>
              <a:gd name="connsiteX2" fmla="*/ 11643360 w 11643360"/>
              <a:gd name="connsiteY2" fmla="*/ 357591 h 357591"/>
              <a:gd name="connsiteX3" fmla="*/ 0 w 11643360"/>
              <a:gd name="connsiteY3" fmla="*/ 357591 h 357591"/>
              <a:gd name="connsiteX4" fmla="*/ 0 w 11643360"/>
              <a:gd name="connsiteY4" fmla="*/ 0 h 357591"/>
              <a:gd name="connsiteX0" fmla="*/ 11643360 w 11734800"/>
              <a:gd name="connsiteY0" fmla="*/ 357591 h 357591"/>
              <a:gd name="connsiteX1" fmla="*/ 0 w 11734800"/>
              <a:gd name="connsiteY1" fmla="*/ 357591 h 357591"/>
              <a:gd name="connsiteX2" fmla="*/ 0 w 11734800"/>
              <a:gd name="connsiteY2" fmla="*/ 0 h 357591"/>
              <a:gd name="connsiteX3" fmla="*/ 11734800 w 11734800"/>
              <a:gd name="connsiteY3" fmla="*/ 91440 h 357591"/>
              <a:gd name="connsiteX0" fmla="*/ 11643360 w 11673840"/>
              <a:gd name="connsiteY0" fmla="*/ 357591 h 357591"/>
              <a:gd name="connsiteX1" fmla="*/ 0 w 11673840"/>
              <a:gd name="connsiteY1" fmla="*/ 357591 h 357591"/>
              <a:gd name="connsiteX2" fmla="*/ 0 w 11673840"/>
              <a:gd name="connsiteY2" fmla="*/ 0 h 357591"/>
              <a:gd name="connsiteX3" fmla="*/ 11673840 w 11673840"/>
              <a:gd name="connsiteY3" fmla="*/ 10160 h 357591"/>
              <a:gd name="connsiteX0" fmla="*/ 11643360 w 11673840"/>
              <a:gd name="connsiteY0" fmla="*/ 362741 h 362741"/>
              <a:gd name="connsiteX1" fmla="*/ 0 w 11673840"/>
              <a:gd name="connsiteY1" fmla="*/ 362741 h 362741"/>
              <a:gd name="connsiteX2" fmla="*/ 0 w 11673840"/>
              <a:gd name="connsiteY2" fmla="*/ 5150 h 362741"/>
              <a:gd name="connsiteX3" fmla="*/ 11673840 w 11673840"/>
              <a:gd name="connsiteY3" fmla="*/ 0 h 362741"/>
              <a:gd name="connsiteX0" fmla="*/ 11643360 w 11839662"/>
              <a:gd name="connsiteY0" fmla="*/ 357591 h 357591"/>
              <a:gd name="connsiteX1" fmla="*/ 0 w 11839662"/>
              <a:gd name="connsiteY1" fmla="*/ 357591 h 357591"/>
              <a:gd name="connsiteX2" fmla="*/ 0 w 11839662"/>
              <a:gd name="connsiteY2" fmla="*/ 0 h 357591"/>
              <a:gd name="connsiteX3" fmla="*/ 11839662 w 11839662"/>
              <a:gd name="connsiteY3" fmla="*/ 2505 h 357591"/>
              <a:gd name="connsiteX0" fmla="*/ 11643360 w 11839662"/>
              <a:gd name="connsiteY0" fmla="*/ 357591 h 357591"/>
              <a:gd name="connsiteX1" fmla="*/ 0 w 11839662"/>
              <a:gd name="connsiteY1" fmla="*/ 357591 h 357591"/>
              <a:gd name="connsiteX2" fmla="*/ 0 w 11839662"/>
              <a:gd name="connsiteY2" fmla="*/ 0 h 357591"/>
              <a:gd name="connsiteX3" fmla="*/ 11839662 w 11839662"/>
              <a:gd name="connsiteY3" fmla="*/ 2505 h 35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39662" h="357591">
                <a:moveTo>
                  <a:pt x="11643360" y="357591"/>
                </a:moveTo>
                <a:lnTo>
                  <a:pt x="0" y="357591"/>
                </a:lnTo>
                <a:lnTo>
                  <a:pt x="0" y="0"/>
                </a:lnTo>
                <a:lnTo>
                  <a:pt x="11839662" y="2505"/>
                </a:lnTo>
              </a:path>
            </a:pathLst>
          </a:custGeom>
          <a:noFill/>
          <a:ln w="19050">
            <a:solidFill>
              <a:srgbClr val="CFC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4F77CEC8-0D30-D948-BA5D-4D4B9301F2F7}"/>
              </a:ext>
            </a:extLst>
          </p:cNvPr>
          <p:cNvSpPr txBox="1"/>
          <p:nvPr userDrawn="1"/>
        </p:nvSpPr>
        <p:spPr>
          <a:xfrm>
            <a:off x="595312" y="6331429"/>
            <a:ext cx="1762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IT ALL STARTS HERE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F9E9758E-1CAB-4F46-9A84-3161BBB59377}"/>
              </a:ext>
            </a:extLst>
          </p:cNvPr>
          <p:cNvSpPr txBox="1"/>
          <p:nvPr userDrawn="1"/>
        </p:nvSpPr>
        <p:spPr>
          <a:xfrm>
            <a:off x="7409590" y="6331429"/>
            <a:ext cx="4660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BERLIN | LONDON | MADRID | PARIS | TURIN | WARSAW</a:t>
            </a:r>
          </a:p>
        </p:txBody>
      </p:sp>
    </p:spTree>
    <p:extLst>
      <p:ext uri="{BB962C8B-B14F-4D97-AF65-F5344CB8AC3E}">
        <p14:creationId xmlns:p14="http://schemas.microsoft.com/office/powerpoint/2010/main" val="380052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bg>
      <p:bgPr>
        <a:solidFill>
          <a:srgbClr val="24008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="" xmlns:a16="http://schemas.microsoft.com/office/drawing/2014/main" id="{9C4C7B43-6D44-144E-9143-02B06CFD5BB2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9690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219909-41BA-458B-8FE5-54D6599C0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5628" y="1905779"/>
            <a:ext cx="10112372" cy="1508125"/>
          </a:xfrm>
        </p:spPr>
        <p:txBody>
          <a:bodyPr anchor="b">
            <a:normAutofit/>
          </a:bodyPr>
          <a:lstStyle>
            <a:lvl1pPr algn="l">
              <a:defRPr sz="4800" b="1" i="0">
                <a:solidFill>
                  <a:srgbClr val="240085"/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1827D9DA-1D31-4A59-8B1E-D93756E0CF9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5628" y="3429000"/>
            <a:ext cx="10112372" cy="1311459"/>
          </a:xfrm>
        </p:spPr>
        <p:txBody>
          <a:bodyPr anchor="ctr">
            <a:normAutofit/>
          </a:bodyPr>
          <a:lstStyle>
            <a:lvl1pPr marL="0" indent="0" algn="l">
              <a:buNone/>
              <a:defRPr sz="4000" b="0" i="0">
                <a:solidFill>
                  <a:srgbClr val="969083"/>
                </a:solidFill>
                <a:latin typeface="Gill Sans MT" panose="020B050202010402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51" name="Imagen 50" descr="Imagen que contiene dibujo&#10;&#10;Descripción generada automáticamente">
            <a:extLst>
              <a:ext uri="{FF2B5EF4-FFF2-40B4-BE49-F238E27FC236}">
                <a16:creationId xmlns="" xmlns:a16="http://schemas.microsoft.com/office/drawing/2014/main" id="{4F81AAE6-10E4-6F40-BA76-C8B1169DDE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0" t="26377" r="5154" b="26135"/>
          <a:stretch/>
        </p:blipFill>
        <p:spPr>
          <a:xfrm>
            <a:off x="10393680" y="5467218"/>
            <a:ext cx="1502572" cy="574392"/>
          </a:xfrm>
          <a:prstGeom prst="rect">
            <a:avLst/>
          </a:prstGeom>
        </p:spPr>
      </p:pic>
      <p:pic>
        <p:nvPicPr>
          <p:cNvPr id="50" name="Imagen 49">
            <a:extLst>
              <a:ext uri="{FF2B5EF4-FFF2-40B4-BE49-F238E27FC236}">
                <a16:creationId xmlns="" xmlns:a16="http://schemas.microsoft.com/office/drawing/2014/main" id="{BD3130AF-378E-CF41-983E-D3CE6B6EE9B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86" y="294437"/>
            <a:ext cx="2131286" cy="985501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="" xmlns:a16="http://schemas.microsoft.com/office/drawing/2014/main" id="{72105C4E-CA23-F444-8B9F-CAAE2B9D93A7}"/>
              </a:ext>
            </a:extLst>
          </p:cNvPr>
          <p:cNvSpPr/>
          <p:nvPr userDrawn="1"/>
        </p:nvSpPr>
        <p:spPr>
          <a:xfrm>
            <a:off x="548640" y="6329680"/>
            <a:ext cx="11643360" cy="296631"/>
          </a:xfrm>
          <a:custGeom>
            <a:avLst/>
            <a:gdLst>
              <a:gd name="connsiteX0" fmla="*/ 0 w 11643360"/>
              <a:gd name="connsiteY0" fmla="*/ 0 h 357591"/>
              <a:gd name="connsiteX1" fmla="*/ 11643360 w 11643360"/>
              <a:gd name="connsiteY1" fmla="*/ 0 h 357591"/>
              <a:gd name="connsiteX2" fmla="*/ 11643360 w 11643360"/>
              <a:gd name="connsiteY2" fmla="*/ 357591 h 357591"/>
              <a:gd name="connsiteX3" fmla="*/ 0 w 11643360"/>
              <a:gd name="connsiteY3" fmla="*/ 357591 h 357591"/>
              <a:gd name="connsiteX4" fmla="*/ 0 w 11643360"/>
              <a:gd name="connsiteY4" fmla="*/ 0 h 357591"/>
              <a:gd name="connsiteX0" fmla="*/ 11643360 w 11734800"/>
              <a:gd name="connsiteY0" fmla="*/ 357591 h 357591"/>
              <a:gd name="connsiteX1" fmla="*/ 0 w 11734800"/>
              <a:gd name="connsiteY1" fmla="*/ 357591 h 357591"/>
              <a:gd name="connsiteX2" fmla="*/ 0 w 11734800"/>
              <a:gd name="connsiteY2" fmla="*/ 0 h 357591"/>
              <a:gd name="connsiteX3" fmla="*/ 11734800 w 11734800"/>
              <a:gd name="connsiteY3" fmla="*/ 91440 h 357591"/>
              <a:gd name="connsiteX0" fmla="*/ 11643360 w 11673840"/>
              <a:gd name="connsiteY0" fmla="*/ 357591 h 357591"/>
              <a:gd name="connsiteX1" fmla="*/ 0 w 11673840"/>
              <a:gd name="connsiteY1" fmla="*/ 357591 h 357591"/>
              <a:gd name="connsiteX2" fmla="*/ 0 w 11673840"/>
              <a:gd name="connsiteY2" fmla="*/ 0 h 357591"/>
              <a:gd name="connsiteX3" fmla="*/ 11673840 w 11673840"/>
              <a:gd name="connsiteY3" fmla="*/ 10160 h 35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3840" h="357591">
                <a:moveTo>
                  <a:pt x="11643360" y="357591"/>
                </a:moveTo>
                <a:lnTo>
                  <a:pt x="0" y="357591"/>
                </a:lnTo>
                <a:lnTo>
                  <a:pt x="0" y="0"/>
                </a:lnTo>
                <a:lnTo>
                  <a:pt x="11673840" y="10160"/>
                </a:lnTo>
              </a:path>
            </a:pathLst>
          </a:custGeom>
          <a:noFill/>
          <a:ln w="9525">
            <a:solidFill>
              <a:srgbClr val="817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ángulo 5">
            <a:extLst>
              <a:ext uri="{FF2B5EF4-FFF2-40B4-BE49-F238E27FC236}">
                <a16:creationId xmlns="" xmlns:a16="http://schemas.microsoft.com/office/drawing/2014/main" id="{E0D23C4E-DCD9-5442-9A35-D4E914F61910}"/>
              </a:ext>
            </a:extLst>
          </p:cNvPr>
          <p:cNvSpPr/>
          <p:nvPr userDrawn="1"/>
        </p:nvSpPr>
        <p:spPr>
          <a:xfrm>
            <a:off x="548640" y="6329680"/>
            <a:ext cx="140335" cy="296631"/>
          </a:xfrm>
          <a:custGeom>
            <a:avLst/>
            <a:gdLst>
              <a:gd name="connsiteX0" fmla="*/ 0 w 11643360"/>
              <a:gd name="connsiteY0" fmla="*/ 0 h 357591"/>
              <a:gd name="connsiteX1" fmla="*/ 11643360 w 11643360"/>
              <a:gd name="connsiteY1" fmla="*/ 0 h 357591"/>
              <a:gd name="connsiteX2" fmla="*/ 11643360 w 11643360"/>
              <a:gd name="connsiteY2" fmla="*/ 357591 h 357591"/>
              <a:gd name="connsiteX3" fmla="*/ 0 w 11643360"/>
              <a:gd name="connsiteY3" fmla="*/ 357591 h 357591"/>
              <a:gd name="connsiteX4" fmla="*/ 0 w 11643360"/>
              <a:gd name="connsiteY4" fmla="*/ 0 h 357591"/>
              <a:gd name="connsiteX0" fmla="*/ 11643360 w 11734800"/>
              <a:gd name="connsiteY0" fmla="*/ 357591 h 357591"/>
              <a:gd name="connsiteX1" fmla="*/ 0 w 11734800"/>
              <a:gd name="connsiteY1" fmla="*/ 357591 h 357591"/>
              <a:gd name="connsiteX2" fmla="*/ 0 w 11734800"/>
              <a:gd name="connsiteY2" fmla="*/ 0 h 357591"/>
              <a:gd name="connsiteX3" fmla="*/ 11734800 w 11734800"/>
              <a:gd name="connsiteY3" fmla="*/ 91440 h 357591"/>
              <a:gd name="connsiteX0" fmla="*/ 11643360 w 11673840"/>
              <a:gd name="connsiteY0" fmla="*/ 357591 h 357591"/>
              <a:gd name="connsiteX1" fmla="*/ 0 w 11673840"/>
              <a:gd name="connsiteY1" fmla="*/ 357591 h 357591"/>
              <a:gd name="connsiteX2" fmla="*/ 0 w 11673840"/>
              <a:gd name="connsiteY2" fmla="*/ 0 h 357591"/>
              <a:gd name="connsiteX3" fmla="*/ 11673840 w 11673840"/>
              <a:gd name="connsiteY3" fmla="*/ 10160 h 357591"/>
              <a:gd name="connsiteX0" fmla="*/ 11643360 w 11673840"/>
              <a:gd name="connsiteY0" fmla="*/ 362741 h 362741"/>
              <a:gd name="connsiteX1" fmla="*/ 0 w 11673840"/>
              <a:gd name="connsiteY1" fmla="*/ 362741 h 362741"/>
              <a:gd name="connsiteX2" fmla="*/ 0 w 11673840"/>
              <a:gd name="connsiteY2" fmla="*/ 5150 h 362741"/>
              <a:gd name="connsiteX3" fmla="*/ 11673840 w 11673840"/>
              <a:gd name="connsiteY3" fmla="*/ 0 h 362741"/>
              <a:gd name="connsiteX0" fmla="*/ 11643360 w 11839662"/>
              <a:gd name="connsiteY0" fmla="*/ 357591 h 357591"/>
              <a:gd name="connsiteX1" fmla="*/ 0 w 11839662"/>
              <a:gd name="connsiteY1" fmla="*/ 357591 h 357591"/>
              <a:gd name="connsiteX2" fmla="*/ 0 w 11839662"/>
              <a:gd name="connsiteY2" fmla="*/ 0 h 357591"/>
              <a:gd name="connsiteX3" fmla="*/ 11839662 w 11839662"/>
              <a:gd name="connsiteY3" fmla="*/ 2505 h 357591"/>
              <a:gd name="connsiteX0" fmla="*/ 11643360 w 11839662"/>
              <a:gd name="connsiteY0" fmla="*/ 357591 h 357591"/>
              <a:gd name="connsiteX1" fmla="*/ 0 w 11839662"/>
              <a:gd name="connsiteY1" fmla="*/ 357591 h 357591"/>
              <a:gd name="connsiteX2" fmla="*/ 0 w 11839662"/>
              <a:gd name="connsiteY2" fmla="*/ 0 h 357591"/>
              <a:gd name="connsiteX3" fmla="*/ 11839662 w 11839662"/>
              <a:gd name="connsiteY3" fmla="*/ 2505 h 357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39662" h="357591">
                <a:moveTo>
                  <a:pt x="11643360" y="357591"/>
                </a:moveTo>
                <a:lnTo>
                  <a:pt x="0" y="357591"/>
                </a:lnTo>
                <a:lnTo>
                  <a:pt x="0" y="0"/>
                </a:lnTo>
                <a:lnTo>
                  <a:pt x="11839662" y="2505"/>
                </a:lnTo>
              </a:path>
            </a:pathLst>
          </a:custGeom>
          <a:noFill/>
          <a:ln w="19050">
            <a:solidFill>
              <a:srgbClr val="CFCD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CuadroTexto 53">
            <a:extLst>
              <a:ext uri="{FF2B5EF4-FFF2-40B4-BE49-F238E27FC236}">
                <a16:creationId xmlns="" xmlns:a16="http://schemas.microsoft.com/office/drawing/2014/main" id="{4F77CEC8-0D30-D948-BA5D-4D4B9301F2F7}"/>
              </a:ext>
            </a:extLst>
          </p:cNvPr>
          <p:cNvSpPr txBox="1"/>
          <p:nvPr userDrawn="1"/>
        </p:nvSpPr>
        <p:spPr>
          <a:xfrm>
            <a:off x="595312" y="6331429"/>
            <a:ext cx="17628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IT ALL STARTS HERE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="" xmlns:a16="http://schemas.microsoft.com/office/drawing/2014/main" id="{F9E9758E-1CAB-4F46-9A84-3161BBB59377}"/>
              </a:ext>
            </a:extLst>
          </p:cNvPr>
          <p:cNvSpPr txBox="1"/>
          <p:nvPr userDrawn="1"/>
        </p:nvSpPr>
        <p:spPr>
          <a:xfrm>
            <a:off x="7409590" y="6331429"/>
            <a:ext cx="4660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BERLIN | LONDON | MADRID | PARIS | TURIN | WARSAW</a:t>
            </a:r>
          </a:p>
        </p:txBody>
      </p:sp>
    </p:spTree>
    <p:extLst>
      <p:ext uri="{BB962C8B-B14F-4D97-AF65-F5344CB8AC3E}">
        <p14:creationId xmlns:p14="http://schemas.microsoft.com/office/powerpoint/2010/main" val="279021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C57CAEE0-C0EA-48D1-AF4B-18A5A44D5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0452" y="903634"/>
            <a:ext cx="7741548" cy="5954366"/>
          </a:xfrm>
          <a:custGeom>
            <a:avLst/>
            <a:gdLst>
              <a:gd name="connsiteX0" fmla="*/ 0 w 8640958"/>
              <a:gd name="connsiteY0" fmla="*/ 0 h 5954366"/>
              <a:gd name="connsiteX1" fmla="*/ 8640958 w 8640958"/>
              <a:gd name="connsiteY1" fmla="*/ 0 h 5954366"/>
              <a:gd name="connsiteX2" fmla="*/ 8640958 w 8640958"/>
              <a:gd name="connsiteY2" fmla="*/ 5954366 h 5954366"/>
              <a:gd name="connsiteX3" fmla="*/ 0 w 8640958"/>
              <a:gd name="connsiteY3" fmla="*/ 5954366 h 595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40958" h="5954366">
                <a:moveTo>
                  <a:pt x="0" y="0"/>
                </a:moveTo>
                <a:lnTo>
                  <a:pt x="8640958" y="0"/>
                </a:lnTo>
                <a:lnTo>
                  <a:pt x="8640958" y="5954366"/>
                </a:lnTo>
                <a:lnTo>
                  <a:pt x="0" y="595436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25CBF0-AA1B-498A-B683-B4E07B0A9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ED92D5D-44B8-4D96-AEC4-1B105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768E7328-87B1-429D-83D1-230DDF056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88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068A3DB7-2835-4FE6-B475-C43B24D3033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235325" y="2267748"/>
            <a:ext cx="2322510" cy="2322508"/>
          </a:xfrm>
          <a:custGeom>
            <a:avLst/>
            <a:gdLst>
              <a:gd name="connsiteX0" fmla="*/ 1161255 w 2322510"/>
              <a:gd name="connsiteY0" fmla="*/ 0 h 2322508"/>
              <a:gd name="connsiteX1" fmla="*/ 2322510 w 2322510"/>
              <a:gd name="connsiteY1" fmla="*/ 1161254 h 2322508"/>
              <a:gd name="connsiteX2" fmla="*/ 1161255 w 2322510"/>
              <a:gd name="connsiteY2" fmla="*/ 2322508 h 2322508"/>
              <a:gd name="connsiteX3" fmla="*/ 0 w 2322510"/>
              <a:gd name="connsiteY3" fmla="*/ 1161254 h 2322508"/>
              <a:gd name="connsiteX4" fmla="*/ 1161255 w 2322510"/>
              <a:gd name="connsiteY4" fmla="*/ 0 h 2322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2510" h="2322508">
                <a:moveTo>
                  <a:pt x="1161255" y="0"/>
                </a:moveTo>
                <a:cubicBezTo>
                  <a:pt x="1802598" y="0"/>
                  <a:pt x="2322510" y="519911"/>
                  <a:pt x="2322510" y="1161254"/>
                </a:cubicBezTo>
                <a:cubicBezTo>
                  <a:pt x="2322510" y="1802597"/>
                  <a:pt x="1802598" y="2322508"/>
                  <a:pt x="1161255" y="2322508"/>
                </a:cubicBezTo>
                <a:cubicBezTo>
                  <a:pt x="519912" y="2322508"/>
                  <a:pt x="0" y="1802597"/>
                  <a:pt x="0" y="1161254"/>
                </a:cubicBezTo>
                <a:cubicBezTo>
                  <a:pt x="0" y="519911"/>
                  <a:pt x="519912" y="0"/>
                  <a:pt x="1161255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="" xmlns:a16="http://schemas.microsoft.com/office/drawing/2014/main" id="{BF934B25-90C1-43E6-8247-5BB38E535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150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6C45AB96-F1B7-4E9F-AD4E-87B7852025B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51774" y="1839262"/>
            <a:ext cx="3488446" cy="3095191"/>
          </a:xfrm>
          <a:custGeom>
            <a:avLst/>
            <a:gdLst>
              <a:gd name="connsiteX0" fmla="*/ 0 w 3488446"/>
              <a:gd name="connsiteY0" fmla="*/ 0 h 3095191"/>
              <a:gd name="connsiteX1" fmla="*/ 3488446 w 3488446"/>
              <a:gd name="connsiteY1" fmla="*/ 0 h 3095191"/>
              <a:gd name="connsiteX2" fmla="*/ 3488446 w 3488446"/>
              <a:gd name="connsiteY2" fmla="*/ 3095191 h 3095191"/>
              <a:gd name="connsiteX3" fmla="*/ 0 w 3488446"/>
              <a:gd name="connsiteY3" fmla="*/ 3095191 h 30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446" h="3095191">
                <a:moveTo>
                  <a:pt x="0" y="0"/>
                </a:moveTo>
                <a:lnTo>
                  <a:pt x="3488446" y="0"/>
                </a:lnTo>
                <a:lnTo>
                  <a:pt x="3488446" y="3095191"/>
                </a:lnTo>
                <a:lnTo>
                  <a:pt x="0" y="309519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0FC6CDFF-E42B-4BB5-BB98-6C2D84F9D19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7921211" y="1839262"/>
            <a:ext cx="3488446" cy="3095191"/>
          </a:xfrm>
          <a:custGeom>
            <a:avLst/>
            <a:gdLst>
              <a:gd name="connsiteX0" fmla="*/ 0 w 3488446"/>
              <a:gd name="connsiteY0" fmla="*/ 0 h 3095191"/>
              <a:gd name="connsiteX1" fmla="*/ 3488446 w 3488446"/>
              <a:gd name="connsiteY1" fmla="*/ 0 h 3095191"/>
              <a:gd name="connsiteX2" fmla="*/ 3488446 w 3488446"/>
              <a:gd name="connsiteY2" fmla="*/ 3095191 h 3095191"/>
              <a:gd name="connsiteX3" fmla="*/ 0 w 3488446"/>
              <a:gd name="connsiteY3" fmla="*/ 3095191 h 30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446" h="3095191">
                <a:moveTo>
                  <a:pt x="0" y="0"/>
                </a:moveTo>
                <a:lnTo>
                  <a:pt x="3488446" y="0"/>
                </a:lnTo>
                <a:lnTo>
                  <a:pt x="3488446" y="3095191"/>
                </a:lnTo>
                <a:lnTo>
                  <a:pt x="0" y="309519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AB73DFCB-AFCE-4B9F-A51F-9D7145A9C92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782337" y="1839262"/>
            <a:ext cx="3488446" cy="3095191"/>
          </a:xfrm>
          <a:custGeom>
            <a:avLst/>
            <a:gdLst>
              <a:gd name="connsiteX0" fmla="*/ 0 w 3488446"/>
              <a:gd name="connsiteY0" fmla="*/ 0 h 3095191"/>
              <a:gd name="connsiteX1" fmla="*/ 3488446 w 3488446"/>
              <a:gd name="connsiteY1" fmla="*/ 0 h 3095191"/>
              <a:gd name="connsiteX2" fmla="*/ 3488446 w 3488446"/>
              <a:gd name="connsiteY2" fmla="*/ 3095191 h 3095191"/>
              <a:gd name="connsiteX3" fmla="*/ 0 w 3488446"/>
              <a:gd name="connsiteY3" fmla="*/ 3095191 h 3095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88446" h="3095191">
                <a:moveTo>
                  <a:pt x="0" y="0"/>
                </a:moveTo>
                <a:lnTo>
                  <a:pt x="3488446" y="0"/>
                </a:lnTo>
                <a:lnTo>
                  <a:pt x="3488446" y="3095191"/>
                </a:lnTo>
                <a:lnTo>
                  <a:pt x="0" y="309519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="" xmlns:a16="http://schemas.microsoft.com/office/drawing/2014/main" id="{07C50FA3-C93B-470E-AE6B-7F15247F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45076" y="301768"/>
            <a:ext cx="412742" cy="331957"/>
          </a:xfrm>
          <a:prstGeom prst="rect">
            <a:avLst/>
          </a:prstGeom>
        </p:spPr>
        <p:txBody>
          <a:bodyPr/>
          <a:lstStyle/>
          <a:p>
            <a:fld id="{8FB5B5F9-49D6-4D5F-8FD4-E1689B7CB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5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FED41CF-00DB-4D13-9E8B-7ED774578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8FB5B5F9-49D6-4D5F-8FD4-E1689B7CB6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20">
            <a:extLst>
              <a:ext uri="{FF2B5EF4-FFF2-40B4-BE49-F238E27FC236}">
                <a16:creationId xmlns="" xmlns:a16="http://schemas.microsoft.com/office/drawing/2014/main" id="{B2B4C99E-8549-4646-8F78-EED99EFF80A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14936" y="750092"/>
            <a:ext cx="2527772" cy="3407529"/>
          </a:xfrm>
          <a:custGeom>
            <a:avLst/>
            <a:gdLst>
              <a:gd name="connsiteX0" fmla="*/ 0 w 2527772"/>
              <a:gd name="connsiteY0" fmla="*/ 0 h 3407529"/>
              <a:gd name="connsiteX1" fmla="*/ 1895829 w 2527772"/>
              <a:gd name="connsiteY1" fmla="*/ 0 h 3407529"/>
              <a:gd name="connsiteX2" fmla="*/ 2527772 w 2527772"/>
              <a:gd name="connsiteY2" fmla="*/ 3407529 h 3407529"/>
              <a:gd name="connsiteX3" fmla="*/ 631943 w 2527772"/>
              <a:gd name="connsiteY3" fmla="*/ 3407529 h 340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7772" h="3407529">
                <a:moveTo>
                  <a:pt x="0" y="0"/>
                </a:moveTo>
                <a:lnTo>
                  <a:pt x="1895829" y="0"/>
                </a:lnTo>
                <a:lnTo>
                  <a:pt x="2527772" y="3407529"/>
                </a:lnTo>
                <a:lnTo>
                  <a:pt x="631943" y="34075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5" name="Picture Placeholder 19">
            <a:extLst>
              <a:ext uri="{FF2B5EF4-FFF2-40B4-BE49-F238E27FC236}">
                <a16:creationId xmlns="" xmlns:a16="http://schemas.microsoft.com/office/drawing/2014/main" id="{6D2CAC51-AEE5-4345-AF0F-22CC1B6485D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568228" y="1725235"/>
            <a:ext cx="2527772" cy="3407529"/>
          </a:xfrm>
          <a:custGeom>
            <a:avLst/>
            <a:gdLst>
              <a:gd name="connsiteX0" fmla="*/ 0 w 2527772"/>
              <a:gd name="connsiteY0" fmla="*/ 0 h 3407529"/>
              <a:gd name="connsiteX1" fmla="*/ 1895829 w 2527772"/>
              <a:gd name="connsiteY1" fmla="*/ 0 h 3407529"/>
              <a:gd name="connsiteX2" fmla="*/ 2527772 w 2527772"/>
              <a:gd name="connsiteY2" fmla="*/ 3407529 h 3407529"/>
              <a:gd name="connsiteX3" fmla="*/ 631943 w 2527772"/>
              <a:gd name="connsiteY3" fmla="*/ 3407529 h 34075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27772" h="3407529">
                <a:moveTo>
                  <a:pt x="0" y="0"/>
                </a:moveTo>
                <a:lnTo>
                  <a:pt x="1895829" y="0"/>
                </a:lnTo>
                <a:lnTo>
                  <a:pt x="2527772" y="3407529"/>
                </a:lnTo>
                <a:lnTo>
                  <a:pt x="631943" y="34075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6" name="Picture Placeholder 22">
            <a:extLst>
              <a:ext uri="{FF2B5EF4-FFF2-40B4-BE49-F238E27FC236}">
                <a16:creationId xmlns="" xmlns:a16="http://schemas.microsoft.com/office/drawing/2014/main" id="{F2781F3E-EE8E-4656-A619-E766A62C523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44682" y="3531155"/>
            <a:ext cx="1916926" cy="2584086"/>
          </a:xfrm>
          <a:custGeom>
            <a:avLst/>
            <a:gdLst>
              <a:gd name="connsiteX0" fmla="*/ 0 w 1916926"/>
              <a:gd name="connsiteY0" fmla="*/ 0 h 2584086"/>
              <a:gd name="connsiteX1" fmla="*/ 1437694 w 1916926"/>
              <a:gd name="connsiteY1" fmla="*/ 0 h 2584086"/>
              <a:gd name="connsiteX2" fmla="*/ 1916926 w 1916926"/>
              <a:gd name="connsiteY2" fmla="*/ 2584086 h 2584086"/>
              <a:gd name="connsiteX3" fmla="*/ 479231 w 1916926"/>
              <a:gd name="connsiteY3" fmla="*/ 2584086 h 2584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6926" h="2584086">
                <a:moveTo>
                  <a:pt x="0" y="0"/>
                </a:moveTo>
                <a:lnTo>
                  <a:pt x="1437694" y="0"/>
                </a:lnTo>
                <a:lnTo>
                  <a:pt x="1916926" y="2584086"/>
                </a:lnTo>
                <a:lnTo>
                  <a:pt x="479231" y="258408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7" name="Picture Placeholder 21">
            <a:extLst>
              <a:ext uri="{FF2B5EF4-FFF2-40B4-BE49-F238E27FC236}">
                <a16:creationId xmlns="" xmlns:a16="http://schemas.microsoft.com/office/drawing/2014/main" id="{CF80FF99-B790-47E0-BD73-5EBD3C9FAC7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61971" y="2876615"/>
            <a:ext cx="2237801" cy="3016638"/>
          </a:xfrm>
          <a:custGeom>
            <a:avLst/>
            <a:gdLst>
              <a:gd name="connsiteX0" fmla="*/ 0 w 2237801"/>
              <a:gd name="connsiteY0" fmla="*/ 0 h 3016638"/>
              <a:gd name="connsiteX1" fmla="*/ 1678351 w 2237801"/>
              <a:gd name="connsiteY1" fmla="*/ 0 h 3016638"/>
              <a:gd name="connsiteX2" fmla="*/ 2237801 w 2237801"/>
              <a:gd name="connsiteY2" fmla="*/ 3016638 h 3016638"/>
              <a:gd name="connsiteX3" fmla="*/ 559450 w 2237801"/>
              <a:gd name="connsiteY3" fmla="*/ 3016638 h 3016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37801" h="3016638">
                <a:moveTo>
                  <a:pt x="0" y="0"/>
                </a:moveTo>
                <a:lnTo>
                  <a:pt x="1678351" y="0"/>
                </a:lnTo>
                <a:lnTo>
                  <a:pt x="2237801" y="3016638"/>
                </a:lnTo>
                <a:lnTo>
                  <a:pt x="559450" y="30166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solidFill>
              <a:schemeClr val="bg1"/>
            </a:solidFill>
          </a:ln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68978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="" xmlns:a16="http://schemas.microsoft.com/office/drawing/2014/main" id="{EF317018-1619-450A-A92E-4F9F1CC6EA4F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036923" y="3449385"/>
            <a:ext cx="4272377" cy="2697731"/>
          </a:xfrm>
          <a:custGeom>
            <a:avLst/>
            <a:gdLst>
              <a:gd name="connsiteX0" fmla="*/ 0 w 4272377"/>
              <a:gd name="connsiteY0" fmla="*/ 0 h 2697731"/>
              <a:gd name="connsiteX1" fmla="*/ 4272377 w 4272377"/>
              <a:gd name="connsiteY1" fmla="*/ 0 h 2697731"/>
              <a:gd name="connsiteX2" fmla="*/ 4272377 w 4272377"/>
              <a:gd name="connsiteY2" fmla="*/ 2697731 h 2697731"/>
              <a:gd name="connsiteX3" fmla="*/ 0 w 4272377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2377" h="2697731">
                <a:moveTo>
                  <a:pt x="0" y="0"/>
                </a:moveTo>
                <a:lnTo>
                  <a:pt x="4272377" y="0"/>
                </a:lnTo>
                <a:lnTo>
                  <a:pt x="4272377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="" xmlns:a16="http://schemas.microsoft.com/office/drawing/2014/main" id="{751F63E6-6B49-4D7D-8008-F0D85733FB9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723901" y="3449385"/>
            <a:ext cx="4272377" cy="2697731"/>
          </a:xfrm>
          <a:custGeom>
            <a:avLst/>
            <a:gdLst>
              <a:gd name="connsiteX0" fmla="*/ 0 w 4272377"/>
              <a:gd name="connsiteY0" fmla="*/ 0 h 2697731"/>
              <a:gd name="connsiteX1" fmla="*/ 4272377 w 4272377"/>
              <a:gd name="connsiteY1" fmla="*/ 0 h 2697731"/>
              <a:gd name="connsiteX2" fmla="*/ 4272377 w 4272377"/>
              <a:gd name="connsiteY2" fmla="*/ 2697731 h 2697731"/>
              <a:gd name="connsiteX3" fmla="*/ 0 w 4272377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2377" h="2697731">
                <a:moveTo>
                  <a:pt x="0" y="0"/>
                </a:moveTo>
                <a:lnTo>
                  <a:pt x="4272377" y="0"/>
                </a:lnTo>
                <a:lnTo>
                  <a:pt x="4272377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="" xmlns:a16="http://schemas.microsoft.com/office/drawing/2014/main" id="{793B4AB0-CA2E-43AE-BA6F-59B8B8DE445D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351472" y="3449385"/>
            <a:ext cx="2116628" cy="2697731"/>
          </a:xfrm>
          <a:custGeom>
            <a:avLst/>
            <a:gdLst>
              <a:gd name="connsiteX0" fmla="*/ 0 w 2116628"/>
              <a:gd name="connsiteY0" fmla="*/ 0 h 2697731"/>
              <a:gd name="connsiteX1" fmla="*/ 2116628 w 2116628"/>
              <a:gd name="connsiteY1" fmla="*/ 0 h 2697731"/>
              <a:gd name="connsiteX2" fmla="*/ 2116628 w 2116628"/>
              <a:gd name="connsiteY2" fmla="*/ 2697731 h 2697731"/>
              <a:gd name="connsiteX3" fmla="*/ 0 w 2116628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6628" h="2697731">
                <a:moveTo>
                  <a:pt x="0" y="0"/>
                </a:moveTo>
                <a:lnTo>
                  <a:pt x="2116628" y="0"/>
                </a:lnTo>
                <a:lnTo>
                  <a:pt x="2116628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="" xmlns:a16="http://schemas.microsoft.com/office/drawing/2014/main" id="{40E903F5-40DC-4D6C-90C3-F7B45F8E176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3901" y="710886"/>
            <a:ext cx="4272377" cy="2697731"/>
          </a:xfrm>
          <a:custGeom>
            <a:avLst/>
            <a:gdLst>
              <a:gd name="connsiteX0" fmla="*/ 0 w 4272377"/>
              <a:gd name="connsiteY0" fmla="*/ 0 h 2697731"/>
              <a:gd name="connsiteX1" fmla="*/ 4272377 w 4272377"/>
              <a:gd name="connsiteY1" fmla="*/ 0 h 2697731"/>
              <a:gd name="connsiteX2" fmla="*/ 4272377 w 4272377"/>
              <a:gd name="connsiteY2" fmla="*/ 2697731 h 2697731"/>
              <a:gd name="connsiteX3" fmla="*/ 0 w 4272377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72377" h="2697731">
                <a:moveTo>
                  <a:pt x="0" y="0"/>
                </a:moveTo>
                <a:lnTo>
                  <a:pt x="4272377" y="0"/>
                </a:lnTo>
                <a:lnTo>
                  <a:pt x="4272377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="" xmlns:a16="http://schemas.microsoft.com/office/drawing/2014/main" id="{457A1F35-D4E4-427C-8719-1264A0AB7AC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036923" y="710885"/>
            <a:ext cx="2116628" cy="2697731"/>
          </a:xfrm>
          <a:custGeom>
            <a:avLst/>
            <a:gdLst>
              <a:gd name="connsiteX0" fmla="*/ 0 w 2116628"/>
              <a:gd name="connsiteY0" fmla="*/ 0 h 2697731"/>
              <a:gd name="connsiteX1" fmla="*/ 2116628 w 2116628"/>
              <a:gd name="connsiteY1" fmla="*/ 0 h 2697731"/>
              <a:gd name="connsiteX2" fmla="*/ 2116628 w 2116628"/>
              <a:gd name="connsiteY2" fmla="*/ 2697731 h 2697731"/>
              <a:gd name="connsiteX3" fmla="*/ 0 w 2116628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6628" h="2697731">
                <a:moveTo>
                  <a:pt x="0" y="0"/>
                </a:moveTo>
                <a:lnTo>
                  <a:pt x="2116628" y="0"/>
                </a:lnTo>
                <a:lnTo>
                  <a:pt x="2116628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="" xmlns:a16="http://schemas.microsoft.com/office/drawing/2014/main" id="{4197B21A-BB76-4D93-8FA4-FC86A730ABF3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194197" y="710886"/>
            <a:ext cx="2116628" cy="2697731"/>
          </a:xfrm>
          <a:custGeom>
            <a:avLst/>
            <a:gdLst>
              <a:gd name="connsiteX0" fmla="*/ 0 w 2116628"/>
              <a:gd name="connsiteY0" fmla="*/ 0 h 2697731"/>
              <a:gd name="connsiteX1" fmla="*/ 2116628 w 2116628"/>
              <a:gd name="connsiteY1" fmla="*/ 0 h 2697731"/>
              <a:gd name="connsiteX2" fmla="*/ 2116628 w 2116628"/>
              <a:gd name="connsiteY2" fmla="*/ 2697731 h 2697731"/>
              <a:gd name="connsiteX3" fmla="*/ 0 w 2116628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6628" h="2697731">
                <a:moveTo>
                  <a:pt x="0" y="0"/>
                </a:moveTo>
                <a:lnTo>
                  <a:pt x="2116628" y="0"/>
                </a:lnTo>
                <a:lnTo>
                  <a:pt x="2116628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="" xmlns:a16="http://schemas.microsoft.com/office/drawing/2014/main" id="{3235C126-C680-4A4C-99E5-6A35E59BA9D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351472" y="710884"/>
            <a:ext cx="2116628" cy="2697731"/>
          </a:xfrm>
          <a:custGeom>
            <a:avLst/>
            <a:gdLst>
              <a:gd name="connsiteX0" fmla="*/ 0 w 2116628"/>
              <a:gd name="connsiteY0" fmla="*/ 0 h 2697731"/>
              <a:gd name="connsiteX1" fmla="*/ 2116628 w 2116628"/>
              <a:gd name="connsiteY1" fmla="*/ 0 h 2697731"/>
              <a:gd name="connsiteX2" fmla="*/ 2116628 w 2116628"/>
              <a:gd name="connsiteY2" fmla="*/ 2697731 h 2697731"/>
              <a:gd name="connsiteX3" fmla="*/ 0 w 2116628"/>
              <a:gd name="connsiteY3" fmla="*/ 2697731 h 26977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16628" h="2697731">
                <a:moveTo>
                  <a:pt x="0" y="0"/>
                </a:moveTo>
                <a:lnTo>
                  <a:pt x="2116628" y="0"/>
                </a:lnTo>
                <a:lnTo>
                  <a:pt x="2116628" y="2697731"/>
                </a:lnTo>
                <a:lnTo>
                  <a:pt x="0" y="26977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FED41CF-00DB-4D13-9E8B-7ED774578F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8FB5B5F9-49D6-4D5F-8FD4-E1689B7CB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8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="" xmlns:a16="http://schemas.microsoft.com/office/drawing/2014/main" id="{155B674B-B869-4F35-9700-C79849282A6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039072" y="1945340"/>
            <a:ext cx="2380948" cy="2321071"/>
          </a:xfrm>
          <a:custGeom>
            <a:avLst/>
            <a:gdLst>
              <a:gd name="connsiteX0" fmla="*/ 1168842 w 2380948"/>
              <a:gd name="connsiteY0" fmla="*/ 445 h 2321071"/>
              <a:gd name="connsiteX1" fmla="*/ 1231292 w 2380948"/>
              <a:gd name="connsiteY1" fmla="*/ 1644 h 2321071"/>
              <a:gd name="connsiteX2" fmla="*/ 1315524 w 2380948"/>
              <a:gd name="connsiteY2" fmla="*/ 15283 h 2321071"/>
              <a:gd name="connsiteX3" fmla="*/ 1442049 w 2380948"/>
              <a:gd name="connsiteY3" fmla="*/ 61444 h 2321071"/>
              <a:gd name="connsiteX4" fmla="*/ 1468688 w 2380948"/>
              <a:gd name="connsiteY4" fmla="*/ 72492 h 2321071"/>
              <a:gd name="connsiteX5" fmla="*/ 1508534 w 2380948"/>
              <a:gd name="connsiteY5" fmla="*/ 95496 h 2321071"/>
              <a:gd name="connsiteX6" fmla="*/ 1523243 w 2380948"/>
              <a:gd name="connsiteY6" fmla="*/ 107430 h 2321071"/>
              <a:gd name="connsiteX7" fmla="*/ 1692333 w 2380948"/>
              <a:gd name="connsiteY7" fmla="*/ 244556 h 2321071"/>
              <a:gd name="connsiteX8" fmla="*/ 1885760 w 2380948"/>
              <a:gd name="connsiteY8" fmla="*/ 469388 h 2321071"/>
              <a:gd name="connsiteX9" fmla="*/ 2117352 w 2380948"/>
              <a:gd name="connsiteY9" fmla="*/ 833871 h 2321071"/>
              <a:gd name="connsiteX10" fmla="*/ 2294334 w 2380948"/>
              <a:gd name="connsiteY10" fmla="*/ 1212316 h 2321071"/>
              <a:gd name="connsiteX11" fmla="*/ 2368402 w 2380948"/>
              <a:gd name="connsiteY11" fmla="*/ 1485215 h 2321071"/>
              <a:gd name="connsiteX12" fmla="*/ 2376827 w 2380948"/>
              <a:gd name="connsiteY12" fmla="*/ 1711422 h 2321071"/>
              <a:gd name="connsiteX13" fmla="*/ 2328997 w 2380948"/>
              <a:gd name="connsiteY13" fmla="*/ 1890370 h 2321071"/>
              <a:gd name="connsiteX14" fmla="*/ 2316637 w 2380948"/>
              <a:gd name="connsiteY14" fmla="*/ 1918658 h 2321071"/>
              <a:gd name="connsiteX15" fmla="*/ 2298649 w 2380948"/>
              <a:gd name="connsiteY15" fmla="*/ 1949814 h 2321071"/>
              <a:gd name="connsiteX16" fmla="*/ 2292839 w 2380948"/>
              <a:gd name="connsiteY16" fmla="*/ 1956654 h 2321071"/>
              <a:gd name="connsiteX17" fmla="*/ 2261585 w 2380948"/>
              <a:gd name="connsiteY17" fmla="*/ 1999392 h 2321071"/>
              <a:gd name="connsiteX18" fmla="*/ 2104792 w 2380948"/>
              <a:gd name="connsiteY18" fmla="*/ 2135946 h 2321071"/>
              <a:gd name="connsiteX19" fmla="*/ 1858572 w 2380948"/>
              <a:gd name="connsiteY19" fmla="*/ 2242276 h 2321071"/>
              <a:gd name="connsiteX20" fmla="*/ 1572423 w 2380948"/>
              <a:gd name="connsiteY20" fmla="*/ 2299303 h 2321071"/>
              <a:gd name="connsiteX21" fmla="*/ 899611 w 2380948"/>
              <a:gd name="connsiteY21" fmla="*/ 2308813 h 2321071"/>
              <a:gd name="connsiteX22" fmla="*/ 544323 w 2380948"/>
              <a:gd name="connsiteY22" fmla="*/ 2248446 h 2321071"/>
              <a:gd name="connsiteX23" fmla="*/ 327663 w 2380948"/>
              <a:gd name="connsiteY23" fmla="*/ 2164262 h 2321071"/>
              <a:gd name="connsiteX24" fmla="*/ 316687 w 2380948"/>
              <a:gd name="connsiteY24" fmla="*/ 2159836 h 2321071"/>
              <a:gd name="connsiteX25" fmla="*/ 278610 w 2380948"/>
              <a:gd name="connsiteY25" fmla="*/ 2137853 h 2321071"/>
              <a:gd name="connsiteX26" fmla="*/ 266739 w 2380948"/>
              <a:gd name="connsiteY26" fmla="*/ 2128960 h 2321071"/>
              <a:gd name="connsiteX27" fmla="*/ 182018 w 2380948"/>
              <a:gd name="connsiteY27" fmla="*/ 2065647 h 2321071"/>
              <a:gd name="connsiteX28" fmla="*/ 22350 w 2380948"/>
              <a:gd name="connsiteY28" fmla="*/ 1808571 h 2321071"/>
              <a:gd name="connsiteX29" fmla="*/ 1395 w 2380948"/>
              <a:gd name="connsiteY29" fmla="*/ 1585578 h 2321071"/>
              <a:gd name="connsiteX30" fmla="*/ 51040 w 2380948"/>
              <a:gd name="connsiteY30" fmla="*/ 1318990 h 2321071"/>
              <a:gd name="connsiteX31" fmla="*/ 127499 w 2380948"/>
              <a:gd name="connsiteY31" fmla="*/ 1109805 h 2321071"/>
              <a:gd name="connsiteX32" fmla="*/ 202895 w 2380948"/>
              <a:gd name="connsiteY32" fmla="*/ 948686 h 2321071"/>
              <a:gd name="connsiteX33" fmla="*/ 286195 w 2380948"/>
              <a:gd name="connsiteY33" fmla="*/ 793657 h 2321071"/>
              <a:gd name="connsiteX34" fmla="*/ 289733 w 2380948"/>
              <a:gd name="connsiteY34" fmla="*/ 785378 h 2321071"/>
              <a:gd name="connsiteX35" fmla="*/ 304741 w 2380948"/>
              <a:gd name="connsiteY35" fmla="*/ 759383 h 2321071"/>
              <a:gd name="connsiteX36" fmla="*/ 312128 w 2380948"/>
              <a:gd name="connsiteY36" fmla="*/ 748739 h 2321071"/>
              <a:gd name="connsiteX37" fmla="*/ 431476 w 2380948"/>
              <a:gd name="connsiteY37" fmla="*/ 559220 h 2321071"/>
              <a:gd name="connsiteX38" fmla="*/ 596068 w 2380948"/>
              <a:gd name="connsiteY38" fmla="*/ 342939 h 2321071"/>
              <a:gd name="connsiteX39" fmla="*/ 780567 w 2380948"/>
              <a:gd name="connsiteY39" fmla="*/ 163128 h 2321071"/>
              <a:gd name="connsiteX40" fmla="*/ 985030 w 2380948"/>
              <a:gd name="connsiteY40" fmla="*/ 40972 h 2321071"/>
              <a:gd name="connsiteX41" fmla="*/ 1168842 w 2380948"/>
              <a:gd name="connsiteY41" fmla="*/ 445 h 232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80948" h="2321071">
                <a:moveTo>
                  <a:pt x="1168842" y="445"/>
                </a:moveTo>
                <a:cubicBezTo>
                  <a:pt x="1189558" y="-417"/>
                  <a:pt x="1210373" y="-30"/>
                  <a:pt x="1231292" y="1644"/>
                </a:cubicBezTo>
                <a:cubicBezTo>
                  <a:pt x="1259183" y="3876"/>
                  <a:pt x="1287259" y="8393"/>
                  <a:pt x="1315524" y="15283"/>
                </a:cubicBezTo>
                <a:cubicBezTo>
                  <a:pt x="1359388" y="25953"/>
                  <a:pt x="1401495" y="41599"/>
                  <a:pt x="1442049" y="61444"/>
                </a:cubicBezTo>
                <a:cubicBezTo>
                  <a:pt x="1450665" y="65655"/>
                  <a:pt x="1459740" y="68855"/>
                  <a:pt x="1468688" y="72492"/>
                </a:cubicBezTo>
                <a:cubicBezTo>
                  <a:pt x="1482001" y="80178"/>
                  <a:pt x="1495314" y="87865"/>
                  <a:pt x="1508534" y="95496"/>
                </a:cubicBezTo>
                <a:cubicBezTo>
                  <a:pt x="1513437" y="99474"/>
                  <a:pt x="1517916" y="103972"/>
                  <a:pt x="1523243" y="107430"/>
                </a:cubicBezTo>
                <a:cubicBezTo>
                  <a:pt x="1584339" y="147163"/>
                  <a:pt x="1640161" y="193665"/>
                  <a:pt x="1692333" y="244556"/>
                </a:cubicBezTo>
                <a:cubicBezTo>
                  <a:pt x="1763313" y="313826"/>
                  <a:pt x="1826902" y="389660"/>
                  <a:pt x="1885760" y="469388"/>
                </a:cubicBezTo>
                <a:cubicBezTo>
                  <a:pt x="1971615" y="585347"/>
                  <a:pt x="2047425" y="707739"/>
                  <a:pt x="2117352" y="833871"/>
                </a:cubicBezTo>
                <a:cubicBezTo>
                  <a:pt x="2184993" y="956007"/>
                  <a:pt x="2246024" y="1081207"/>
                  <a:pt x="2294334" y="1212316"/>
                </a:cubicBezTo>
                <a:cubicBezTo>
                  <a:pt x="2326975" y="1301120"/>
                  <a:pt x="2353389" y="1391680"/>
                  <a:pt x="2368402" y="1485215"/>
                </a:cubicBezTo>
                <a:cubicBezTo>
                  <a:pt x="2380552" y="1560276"/>
                  <a:pt x="2384925" y="1635691"/>
                  <a:pt x="2376827" y="1711422"/>
                </a:cubicBezTo>
                <a:cubicBezTo>
                  <a:pt x="2370122" y="1773559"/>
                  <a:pt x="2355053" y="1833415"/>
                  <a:pt x="2328997" y="1890370"/>
                </a:cubicBezTo>
                <a:cubicBezTo>
                  <a:pt x="2324704" y="1899741"/>
                  <a:pt x="2320745" y="1909179"/>
                  <a:pt x="2316637" y="1918658"/>
                </a:cubicBezTo>
                <a:cubicBezTo>
                  <a:pt x="2310623" y="1929075"/>
                  <a:pt x="2304664" y="1939397"/>
                  <a:pt x="2298649" y="1949814"/>
                </a:cubicBezTo>
                <a:cubicBezTo>
                  <a:pt x="2296693" y="1952126"/>
                  <a:pt x="2294514" y="1954181"/>
                  <a:pt x="2292839" y="1956654"/>
                </a:cubicBezTo>
                <a:cubicBezTo>
                  <a:pt x="2282389" y="1970882"/>
                  <a:pt x="2272630" y="1985636"/>
                  <a:pt x="2261585" y="1999392"/>
                </a:cubicBezTo>
                <a:cubicBezTo>
                  <a:pt x="2217736" y="2054484"/>
                  <a:pt x="2164514" y="2098938"/>
                  <a:pt x="2104792" y="2135946"/>
                </a:cubicBezTo>
                <a:cubicBezTo>
                  <a:pt x="2028049" y="2183513"/>
                  <a:pt x="1944993" y="2216861"/>
                  <a:pt x="1858572" y="2242276"/>
                </a:cubicBezTo>
                <a:cubicBezTo>
                  <a:pt x="1764925" y="2269890"/>
                  <a:pt x="1669239" y="2287918"/>
                  <a:pt x="1572423" y="2299303"/>
                </a:cubicBezTo>
                <a:cubicBezTo>
                  <a:pt x="1348499" y="2325738"/>
                  <a:pt x="1124163" y="2327086"/>
                  <a:pt x="899611" y="2308813"/>
                </a:cubicBezTo>
                <a:cubicBezTo>
                  <a:pt x="779387" y="2299038"/>
                  <a:pt x="660584" y="2280782"/>
                  <a:pt x="544323" y="2248446"/>
                </a:cubicBezTo>
                <a:cubicBezTo>
                  <a:pt x="469296" y="2227684"/>
                  <a:pt x="396006" y="2202190"/>
                  <a:pt x="327663" y="2164262"/>
                </a:cubicBezTo>
                <a:cubicBezTo>
                  <a:pt x="324163" y="2162368"/>
                  <a:pt x="320314" y="2161293"/>
                  <a:pt x="316687" y="2159836"/>
                </a:cubicBezTo>
                <a:cubicBezTo>
                  <a:pt x="304026" y="2152526"/>
                  <a:pt x="291271" y="2145163"/>
                  <a:pt x="278610" y="2137853"/>
                </a:cubicBezTo>
                <a:cubicBezTo>
                  <a:pt x="274658" y="2134807"/>
                  <a:pt x="271021" y="2131433"/>
                  <a:pt x="266739" y="2128960"/>
                </a:cubicBezTo>
                <a:cubicBezTo>
                  <a:pt x="236072" y="2111127"/>
                  <a:pt x="208298" y="2089358"/>
                  <a:pt x="182018" y="2065647"/>
                </a:cubicBezTo>
                <a:cubicBezTo>
                  <a:pt x="103887" y="1995434"/>
                  <a:pt x="50177" y="1910014"/>
                  <a:pt x="22350" y="1808571"/>
                </a:cubicBezTo>
                <a:cubicBezTo>
                  <a:pt x="2360" y="1735481"/>
                  <a:pt x="-2901" y="1660957"/>
                  <a:pt x="1395" y="1585578"/>
                </a:cubicBezTo>
                <a:cubicBezTo>
                  <a:pt x="6646" y="1494568"/>
                  <a:pt x="25183" y="1406130"/>
                  <a:pt x="51040" y="1318990"/>
                </a:cubicBezTo>
                <a:cubicBezTo>
                  <a:pt x="72342" y="1247695"/>
                  <a:pt x="98311" y="1178203"/>
                  <a:pt x="127499" y="1109805"/>
                </a:cubicBezTo>
                <a:cubicBezTo>
                  <a:pt x="150726" y="1055169"/>
                  <a:pt x="175554" y="1001201"/>
                  <a:pt x="202895" y="948686"/>
                </a:cubicBezTo>
                <a:cubicBezTo>
                  <a:pt x="229923" y="896497"/>
                  <a:pt x="258384" y="845265"/>
                  <a:pt x="286195" y="793657"/>
                </a:cubicBezTo>
                <a:cubicBezTo>
                  <a:pt x="287591" y="791023"/>
                  <a:pt x="288523" y="788120"/>
                  <a:pt x="289733" y="785378"/>
                </a:cubicBezTo>
                <a:cubicBezTo>
                  <a:pt x="294753" y="776681"/>
                  <a:pt x="299720" y="768080"/>
                  <a:pt x="304741" y="759383"/>
                </a:cubicBezTo>
                <a:cubicBezTo>
                  <a:pt x="307172" y="755817"/>
                  <a:pt x="309883" y="752412"/>
                  <a:pt x="312128" y="748739"/>
                </a:cubicBezTo>
                <a:cubicBezTo>
                  <a:pt x="350080" y="684508"/>
                  <a:pt x="389577" y="621043"/>
                  <a:pt x="431476" y="559220"/>
                </a:cubicBezTo>
                <a:cubicBezTo>
                  <a:pt x="482495" y="484184"/>
                  <a:pt x="536737" y="411519"/>
                  <a:pt x="596068" y="342939"/>
                </a:cubicBezTo>
                <a:cubicBezTo>
                  <a:pt x="652541" y="277806"/>
                  <a:pt x="713027" y="216901"/>
                  <a:pt x="780567" y="163128"/>
                </a:cubicBezTo>
                <a:cubicBezTo>
                  <a:pt x="843227" y="113291"/>
                  <a:pt x="910309" y="70849"/>
                  <a:pt x="985030" y="40972"/>
                </a:cubicBezTo>
                <a:cubicBezTo>
                  <a:pt x="1045450" y="16865"/>
                  <a:pt x="1106695" y="3031"/>
                  <a:pt x="1168842" y="44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24AC0614-8C5B-41CC-904F-1B81DD38964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905526" y="1945340"/>
            <a:ext cx="2380948" cy="2321071"/>
          </a:xfrm>
          <a:custGeom>
            <a:avLst/>
            <a:gdLst>
              <a:gd name="connsiteX0" fmla="*/ 1168842 w 2380948"/>
              <a:gd name="connsiteY0" fmla="*/ 445 h 2321071"/>
              <a:gd name="connsiteX1" fmla="*/ 1231292 w 2380948"/>
              <a:gd name="connsiteY1" fmla="*/ 1644 h 2321071"/>
              <a:gd name="connsiteX2" fmla="*/ 1315524 w 2380948"/>
              <a:gd name="connsiteY2" fmla="*/ 15283 h 2321071"/>
              <a:gd name="connsiteX3" fmla="*/ 1442049 w 2380948"/>
              <a:gd name="connsiteY3" fmla="*/ 61444 h 2321071"/>
              <a:gd name="connsiteX4" fmla="*/ 1468688 w 2380948"/>
              <a:gd name="connsiteY4" fmla="*/ 72492 h 2321071"/>
              <a:gd name="connsiteX5" fmla="*/ 1508534 w 2380948"/>
              <a:gd name="connsiteY5" fmla="*/ 95496 h 2321071"/>
              <a:gd name="connsiteX6" fmla="*/ 1523243 w 2380948"/>
              <a:gd name="connsiteY6" fmla="*/ 107430 h 2321071"/>
              <a:gd name="connsiteX7" fmla="*/ 1692333 w 2380948"/>
              <a:gd name="connsiteY7" fmla="*/ 244556 h 2321071"/>
              <a:gd name="connsiteX8" fmla="*/ 1885760 w 2380948"/>
              <a:gd name="connsiteY8" fmla="*/ 469388 h 2321071"/>
              <a:gd name="connsiteX9" fmla="*/ 2117352 w 2380948"/>
              <a:gd name="connsiteY9" fmla="*/ 833871 h 2321071"/>
              <a:gd name="connsiteX10" fmla="*/ 2294334 w 2380948"/>
              <a:gd name="connsiteY10" fmla="*/ 1212316 h 2321071"/>
              <a:gd name="connsiteX11" fmla="*/ 2368402 w 2380948"/>
              <a:gd name="connsiteY11" fmla="*/ 1485215 h 2321071"/>
              <a:gd name="connsiteX12" fmla="*/ 2376827 w 2380948"/>
              <a:gd name="connsiteY12" fmla="*/ 1711422 h 2321071"/>
              <a:gd name="connsiteX13" fmla="*/ 2328997 w 2380948"/>
              <a:gd name="connsiteY13" fmla="*/ 1890370 h 2321071"/>
              <a:gd name="connsiteX14" fmla="*/ 2316637 w 2380948"/>
              <a:gd name="connsiteY14" fmla="*/ 1918658 h 2321071"/>
              <a:gd name="connsiteX15" fmla="*/ 2298649 w 2380948"/>
              <a:gd name="connsiteY15" fmla="*/ 1949814 h 2321071"/>
              <a:gd name="connsiteX16" fmla="*/ 2292839 w 2380948"/>
              <a:gd name="connsiteY16" fmla="*/ 1956654 h 2321071"/>
              <a:gd name="connsiteX17" fmla="*/ 2261585 w 2380948"/>
              <a:gd name="connsiteY17" fmla="*/ 1999392 h 2321071"/>
              <a:gd name="connsiteX18" fmla="*/ 2104792 w 2380948"/>
              <a:gd name="connsiteY18" fmla="*/ 2135946 h 2321071"/>
              <a:gd name="connsiteX19" fmla="*/ 1858572 w 2380948"/>
              <a:gd name="connsiteY19" fmla="*/ 2242276 h 2321071"/>
              <a:gd name="connsiteX20" fmla="*/ 1572423 w 2380948"/>
              <a:gd name="connsiteY20" fmla="*/ 2299303 h 2321071"/>
              <a:gd name="connsiteX21" fmla="*/ 899611 w 2380948"/>
              <a:gd name="connsiteY21" fmla="*/ 2308813 h 2321071"/>
              <a:gd name="connsiteX22" fmla="*/ 544323 w 2380948"/>
              <a:gd name="connsiteY22" fmla="*/ 2248446 h 2321071"/>
              <a:gd name="connsiteX23" fmla="*/ 327663 w 2380948"/>
              <a:gd name="connsiteY23" fmla="*/ 2164262 h 2321071"/>
              <a:gd name="connsiteX24" fmla="*/ 316687 w 2380948"/>
              <a:gd name="connsiteY24" fmla="*/ 2159836 h 2321071"/>
              <a:gd name="connsiteX25" fmla="*/ 278610 w 2380948"/>
              <a:gd name="connsiteY25" fmla="*/ 2137853 h 2321071"/>
              <a:gd name="connsiteX26" fmla="*/ 266739 w 2380948"/>
              <a:gd name="connsiteY26" fmla="*/ 2128960 h 2321071"/>
              <a:gd name="connsiteX27" fmla="*/ 182018 w 2380948"/>
              <a:gd name="connsiteY27" fmla="*/ 2065647 h 2321071"/>
              <a:gd name="connsiteX28" fmla="*/ 22350 w 2380948"/>
              <a:gd name="connsiteY28" fmla="*/ 1808571 h 2321071"/>
              <a:gd name="connsiteX29" fmla="*/ 1395 w 2380948"/>
              <a:gd name="connsiteY29" fmla="*/ 1585578 h 2321071"/>
              <a:gd name="connsiteX30" fmla="*/ 51040 w 2380948"/>
              <a:gd name="connsiteY30" fmla="*/ 1318990 h 2321071"/>
              <a:gd name="connsiteX31" fmla="*/ 127499 w 2380948"/>
              <a:gd name="connsiteY31" fmla="*/ 1109805 h 2321071"/>
              <a:gd name="connsiteX32" fmla="*/ 202895 w 2380948"/>
              <a:gd name="connsiteY32" fmla="*/ 948686 h 2321071"/>
              <a:gd name="connsiteX33" fmla="*/ 286195 w 2380948"/>
              <a:gd name="connsiteY33" fmla="*/ 793657 h 2321071"/>
              <a:gd name="connsiteX34" fmla="*/ 289733 w 2380948"/>
              <a:gd name="connsiteY34" fmla="*/ 785378 h 2321071"/>
              <a:gd name="connsiteX35" fmla="*/ 304741 w 2380948"/>
              <a:gd name="connsiteY35" fmla="*/ 759383 h 2321071"/>
              <a:gd name="connsiteX36" fmla="*/ 312128 w 2380948"/>
              <a:gd name="connsiteY36" fmla="*/ 748739 h 2321071"/>
              <a:gd name="connsiteX37" fmla="*/ 431476 w 2380948"/>
              <a:gd name="connsiteY37" fmla="*/ 559220 h 2321071"/>
              <a:gd name="connsiteX38" fmla="*/ 596068 w 2380948"/>
              <a:gd name="connsiteY38" fmla="*/ 342939 h 2321071"/>
              <a:gd name="connsiteX39" fmla="*/ 780567 w 2380948"/>
              <a:gd name="connsiteY39" fmla="*/ 163128 h 2321071"/>
              <a:gd name="connsiteX40" fmla="*/ 985030 w 2380948"/>
              <a:gd name="connsiteY40" fmla="*/ 40972 h 2321071"/>
              <a:gd name="connsiteX41" fmla="*/ 1168842 w 2380948"/>
              <a:gd name="connsiteY41" fmla="*/ 445 h 232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80948" h="2321071">
                <a:moveTo>
                  <a:pt x="1168842" y="445"/>
                </a:moveTo>
                <a:cubicBezTo>
                  <a:pt x="1189558" y="-417"/>
                  <a:pt x="1210373" y="-30"/>
                  <a:pt x="1231292" y="1644"/>
                </a:cubicBezTo>
                <a:cubicBezTo>
                  <a:pt x="1259183" y="3876"/>
                  <a:pt x="1287259" y="8393"/>
                  <a:pt x="1315524" y="15283"/>
                </a:cubicBezTo>
                <a:cubicBezTo>
                  <a:pt x="1359388" y="25953"/>
                  <a:pt x="1401495" y="41599"/>
                  <a:pt x="1442049" y="61444"/>
                </a:cubicBezTo>
                <a:cubicBezTo>
                  <a:pt x="1450665" y="65655"/>
                  <a:pt x="1459740" y="68855"/>
                  <a:pt x="1468688" y="72492"/>
                </a:cubicBezTo>
                <a:cubicBezTo>
                  <a:pt x="1482001" y="80178"/>
                  <a:pt x="1495314" y="87865"/>
                  <a:pt x="1508534" y="95496"/>
                </a:cubicBezTo>
                <a:cubicBezTo>
                  <a:pt x="1513437" y="99474"/>
                  <a:pt x="1517916" y="103972"/>
                  <a:pt x="1523243" y="107430"/>
                </a:cubicBezTo>
                <a:cubicBezTo>
                  <a:pt x="1584339" y="147163"/>
                  <a:pt x="1640161" y="193665"/>
                  <a:pt x="1692333" y="244556"/>
                </a:cubicBezTo>
                <a:cubicBezTo>
                  <a:pt x="1763313" y="313826"/>
                  <a:pt x="1826902" y="389660"/>
                  <a:pt x="1885760" y="469388"/>
                </a:cubicBezTo>
                <a:cubicBezTo>
                  <a:pt x="1971615" y="585347"/>
                  <a:pt x="2047425" y="707739"/>
                  <a:pt x="2117352" y="833871"/>
                </a:cubicBezTo>
                <a:cubicBezTo>
                  <a:pt x="2184993" y="956007"/>
                  <a:pt x="2246024" y="1081207"/>
                  <a:pt x="2294334" y="1212316"/>
                </a:cubicBezTo>
                <a:cubicBezTo>
                  <a:pt x="2326975" y="1301120"/>
                  <a:pt x="2353389" y="1391680"/>
                  <a:pt x="2368402" y="1485215"/>
                </a:cubicBezTo>
                <a:cubicBezTo>
                  <a:pt x="2380552" y="1560276"/>
                  <a:pt x="2384925" y="1635691"/>
                  <a:pt x="2376827" y="1711422"/>
                </a:cubicBezTo>
                <a:cubicBezTo>
                  <a:pt x="2370122" y="1773559"/>
                  <a:pt x="2355053" y="1833415"/>
                  <a:pt x="2328997" y="1890370"/>
                </a:cubicBezTo>
                <a:cubicBezTo>
                  <a:pt x="2324704" y="1899741"/>
                  <a:pt x="2320745" y="1909179"/>
                  <a:pt x="2316637" y="1918658"/>
                </a:cubicBezTo>
                <a:cubicBezTo>
                  <a:pt x="2310623" y="1929075"/>
                  <a:pt x="2304664" y="1939397"/>
                  <a:pt x="2298649" y="1949814"/>
                </a:cubicBezTo>
                <a:cubicBezTo>
                  <a:pt x="2296693" y="1952126"/>
                  <a:pt x="2294514" y="1954181"/>
                  <a:pt x="2292839" y="1956654"/>
                </a:cubicBezTo>
                <a:cubicBezTo>
                  <a:pt x="2282389" y="1970882"/>
                  <a:pt x="2272630" y="1985636"/>
                  <a:pt x="2261585" y="1999392"/>
                </a:cubicBezTo>
                <a:cubicBezTo>
                  <a:pt x="2217736" y="2054484"/>
                  <a:pt x="2164514" y="2098938"/>
                  <a:pt x="2104792" y="2135946"/>
                </a:cubicBezTo>
                <a:cubicBezTo>
                  <a:pt x="2028049" y="2183513"/>
                  <a:pt x="1944993" y="2216861"/>
                  <a:pt x="1858572" y="2242276"/>
                </a:cubicBezTo>
                <a:cubicBezTo>
                  <a:pt x="1764925" y="2269890"/>
                  <a:pt x="1669239" y="2287918"/>
                  <a:pt x="1572423" y="2299303"/>
                </a:cubicBezTo>
                <a:cubicBezTo>
                  <a:pt x="1348499" y="2325738"/>
                  <a:pt x="1124163" y="2327086"/>
                  <a:pt x="899611" y="2308813"/>
                </a:cubicBezTo>
                <a:cubicBezTo>
                  <a:pt x="779387" y="2299038"/>
                  <a:pt x="660584" y="2280782"/>
                  <a:pt x="544323" y="2248446"/>
                </a:cubicBezTo>
                <a:cubicBezTo>
                  <a:pt x="469296" y="2227684"/>
                  <a:pt x="396006" y="2202190"/>
                  <a:pt x="327663" y="2164262"/>
                </a:cubicBezTo>
                <a:cubicBezTo>
                  <a:pt x="324163" y="2162368"/>
                  <a:pt x="320314" y="2161293"/>
                  <a:pt x="316687" y="2159836"/>
                </a:cubicBezTo>
                <a:cubicBezTo>
                  <a:pt x="304026" y="2152526"/>
                  <a:pt x="291271" y="2145163"/>
                  <a:pt x="278610" y="2137853"/>
                </a:cubicBezTo>
                <a:cubicBezTo>
                  <a:pt x="274658" y="2134807"/>
                  <a:pt x="271021" y="2131433"/>
                  <a:pt x="266739" y="2128960"/>
                </a:cubicBezTo>
                <a:cubicBezTo>
                  <a:pt x="236072" y="2111127"/>
                  <a:pt x="208298" y="2089358"/>
                  <a:pt x="182018" y="2065647"/>
                </a:cubicBezTo>
                <a:cubicBezTo>
                  <a:pt x="103887" y="1995434"/>
                  <a:pt x="50177" y="1910014"/>
                  <a:pt x="22350" y="1808571"/>
                </a:cubicBezTo>
                <a:cubicBezTo>
                  <a:pt x="2360" y="1735481"/>
                  <a:pt x="-2901" y="1660957"/>
                  <a:pt x="1395" y="1585578"/>
                </a:cubicBezTo>
                <a:cubicBezTo>
                  <a:pt x="6646" y="1494568"/>
                  <a:pt x="25183" y="1406130"/>
                  <a:pt x="51040" y="1318990"/>
                </a:cubicBezTo>
                <a:cubicBezTo>
                  <a:pt x="72342" y="1247695"/>
                  <a:pt x="98311" y="1178203"/>
                  <a:pt x="127499" y="1109805"/>
                </a:cubicBezTo>
                <a:cubicBezTo>
                  <a:pt x="150726" y="1055169"/>
                  <a:pt x="175554" y="1001201"/>
                  <a:pt x="202895" y="948686"/>
                </a:cubicBezTo>
                <a:cubicBezTo>
                  <a:pt x="229923" y="896497"/>
                  <a:pt x="258384" y="845265"/>
                  <a:pt x="286195" y="793657"/>
                </a:cubicBezTo>
                <a:cubicBezTo>
                  <a:pt x="287591" y="791023"/>
                  <a:pt x="288523" y="788120"/>
                  <a:pt x="289733" y="785378"/>
                </a:cubicBezTo>
                <a:cubicBezTo>
                  <a:pt x="294753" y="776681"/>
                  <a:pt x="299720" y="768080"/>
                  <a:pt x="304741" y="759383"/>
                </a:cubicBezTo>
                <a:cubicBezTo>
                  <a:pt x="307172" y="755817"/>
                  <a:pt x="309883" y="752412"/>
                  <a:pt x="312128" y="748739"/>
                </a:cubicBezTo>
                <a:cubicBezTo>
                  <a:pt x="350080" y="684508"/>
                  <a:pt x="389577" y="621043"/>
                  <a:pt x="431476" y="559220"/>
                </a:cubicBezTo>
                <a:cubicBezTo>
                  <a:pt x="482495" y="484184"/>
                  <a:pt x="536737" y="411519"/>
                  <a:pt x="596068" y="342939"/>
                </a:cubicBezTo>
                <a:cubicBezTo>
                  <a:pt x="652541" y="277806"/>
                  <a:pt x="713027" y="216901"/>
                  <a:pt x="780567" y="163128"/>
                </a:cubicBezTo>
                <a:cubicBezTo>
                  <a:pt x="843227" y="113291"/>
                  <a:pt x="910309" y="70849"/>
                  <a:pt x="985030" y="40972"/>
                </a:cubicBezTo>
                <a:cubicBezTo>
                  <a:pt x="1045450" y="16865"/>
                  <a:pt x="1106695" y="3031"/>
                  <a:pt x="1168842" y="44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35D30A2F-1A65-464B-999E-EE0AD3B62994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771980" y="1945340"/>
            <a:ext cx="2380948" cy="2321071"/>
          </a:xfrm>
          <a:custGeom>
            <a:avLst/>
            <a:gdLst>
              <a:gd name="connsiteX0" fmla="*/ 1168842 w 2380948"/>
              <a:gd name="connsiteY0" fmla="*/ 445 h 2321071"/>
              <a:gd name="connsiteX1" fmla="*/ 1231292 w 2380948"/>
              <a:gd name="connsiteY1" fmla="*/ 1644 h 2321071"/>
              <a:gd name="connsiteX2" fmla="*/ 1315524 w 2380948"/>
              <a:gd name="connsiteY2" fmla="*/ 15283 h 2321071"/>
              <a:gd name="connsiteX3" fmla="*/ 1442049 w 2380948"/>
              <a:gd name="connsiteY3" fmla="*/ 61444 h 2321071"/>
              <a:gd name="connsiteX4" fmla="*/ 1468688 w 2380948"/>
              <a:gd name="connsiteY4" fmla="*/ 72492 h 2321071"/>
              <a:gd name="connsiteX5" fmla="*/ 1508534 w 2380948"/>
              <a:gd name="connsiteY5" fmla="*/ 95496 h 2321071"/>
              <a:gd name="connsiteX6" fmla="*/ 1523243 w 2380948"/>
              <a:gd name="connsiteY6" fmla="*/ 107430 h 2321071"/>
              <a:gd name="connsiteX7" fmla="*/ 1692333 w 2380948"/>
              <a:gd name="connsiteY7" fmla="*/ 244556 h 2321071"/>
              <a:gd name="connsiteX8" fmla="*/ 1885760 w 2380948"/>
              <a:gd name="connsiteY8" fmla="*/ 469388 h 2321071"/>
              <a:gd name="connsiteX9" fmla="*/ 2117352 w 2380948"/>
              <a:gd name="connsiteY9" fmla="*/ 833871 h 2321071"/>
              <a:gd name="connsiteX10" fmla="*/ 2294334 w 2380948"/>
              <a:gd name="connsiteY10" fmla="*/ 1212316 h 2321071"/>
              <a:gd name="connsiteX11" fmla="*/ 2368402 w 2380948"/>
              <a:gd name="connsiteY11" fmla="*/ 1485215 h 2321071"/>
              <a:gd name="connsiteX12" fmla="*/ 2376827 w 2380948"/>
              <a:gd name="connsiteY12" fmla="*/ 1711422 h 2321071"/>
              <a:gd name="connsiteX13" fmla="*/ 2328997 w 2380948"/>
              <a:gd name="connsiteY13" fmla="*/ 1890370 h 2321071"/>
              <a:gd name="connsiteX14" fmla="*/ 2316637 w 2380948"/>
              <a:gd name="connsiteY14" fmla="*/ 1918658 h 2321071"/>
              <a:gd name="connsiteX15" fmla="*/ 2298649 w 2380948"/>
              <a:gd name="connsiteY15" fmla="*/ 1949814 h 2321071"/>
              <a:gd name="connsiteX16" fmla="*/ 2292839 w 2380948"/>
              <a:gd name="connsiteY16" fmla="*/ 1956654 h 2321071"/>
              <a:gd name="connsiteX17" fmla="*/ 2261585 w 2380948"/>
              <a:gd name="connsiteY17" fmla="*/ 1999392 h 2321071"/>
              <a:gd name="connsiteX18" fmla="*/ 2104792 w 2380948"/>
              <a:gd name="connsiteY18" fmla="*/ 2135946 h 2321071"/>
              <a:gd name="connsiteX19" fmla="*/ 1858572 w 2380948"/>
              <a:gd name="connsiteY19" fmla="*/ 2242276 h 2321071"/>
              <a:gd name="connsiteX20" fmla="*/ 1572423 w 2380948"/>
              <a:gd name="connsiteY20" fmla="*/ 2299303 h 2321071"/>
              <a:gd name="connsiteX21" fmla="*/ 899611 w 2380948"/>
              <a:gd name="connsiteY21" fmla="*/ 2308813 h 2321071"/>
              <a:gd name="connsiteX22" fmla="*/ 544323 w 2380948"/>
              <a:gd name="connsiteY22" fmla="*/ 2248446 h 2321071"/>
              <a:gd name="connsiteX23" fmla="*/ 327663 w 2380948"/>
              <a:gd name="connsiteY23" fmla="*/ 2164262 h 2321071"/>
              <a:gd name="connsiteX24" fmla="*/ 316687 w 2380948"/>
              <a:gd name="connsiteY24" fmla="*/ 2159836 h 2321071"/>
              <a:gd name="connsiteX25" fmla="*/ 278610 w 2380948"/>
              <a:gd name="connsiteY25" fmla="*/ 2137853 h 2321071"/>
              <a:gd name="connsiteX26" fmla="*/ 266739 w 2380948"/>
              <a:gd name="connsiteY26" fmla="*/ 2128960 h 2321071"/>
              <a:gd name="connsiteX27" fmla="*/ 182018 w 2380948"/>
              <a:gd name="connsiteY27" fmla="*/ 2065647 h 2321071"/>
              <a:gd name="connsiteX28" fmla="*/ 22350 w 2380948"/>
              <a:gd name="connsiteY28" fmla="*/ 1808571 h 2321071"/>
              <a:gd name="connsiteX29" fmla="*/ 1395 w 2380948"/>
              <a:gd name="connsiteY29" fmla="*/ 1585578 h 2321071"/>
              <a:gd name="connsiteX30" fmla="*/ 51040 w 2380948"/>
              <a:gd name="connsiteY30" fmla="*/ 1318990 h 2321071"/>
              <a:gd name="connsiteX31" fmla="*/ 127499 w 2380948"/>
              <a:gd name="connsiteY31" fmla="*/ 1109805 h 2321071"/>
              <a:gd name="connsiteX32" fmla="*/ 202895 w 2380948"/>
              <a:gd name="connsiteY32" fmla="*/ 948686 h 2321071"/>
              <a:gd name="connsiteX33" fmla="*/ 286195 w 2380948"/>
              <a:gd name="connsiteY33" fmla="*/ 793657 h 2321071"/>
              <a:gd name="connsiteX34" fmla="*/ 289733 w 2380948"/>
              <a:gd name="connsiteY34" fmla="*/ 785378 h 2321071"/>
              <a:gd name="connsiteX35" fmla="*/ 304741 w 2380948"/>
              <a:gd name="connsiteY35" fmla="*/ 759383 h 2321071"/>
              <a:gd name="connsiteX36" fmla="*/ 312128 w 2380948"/>
              <a:gd name="connsiteY36" fmla="*/ 748739 h 2321071"/>
              <a:gd name="connsiteX37" fmla="*/ 431476 w 2380948"/>
              <a:gd name="connsiteY37" fmla="*/ 559220 h 2321071"/>
              <a:gd name="connsiteX38" fmla="*/ 596068 w 2380948"/>
              <a:gd name="connsiteY38" fmla="*/ 342939 h 2321071"/>
              <a:gd name="connsiteX39" fmla="*/ 780567 w 2380948"/>
              <a:gd name="connsiteY39" fmla="*/ 163128 h 2321071"/>
              <a:gd name="connsiteX40" fmla="*/ 985030 w 2380948"/>
              <a:gd name="connsiteY40" fmla="*/ 40972 h 2321071"/>
              <a:gd name="connsiteX41" fmla="*/ 1168842 w 2380948"/>
              <a:gd name="connsiteY41" fmla="*/ 445 h 2321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380948" h="2321071">
                <a:moveTo>
                  <a:pt x="1168842" y="445"/>
                </a:moveTo>
                <a:cubicBezTo>
                  <a:pt x="1189558" y="-417"/>
                  <a:pt x="1210373" y="-30"/>
                  <a:pt x="1231292" y="1644"/>
                </a:cubicBezTo>
                <a:cubicBezTo>
                  <a:pt x="1259183" y="3876"/>
                  <a:pt x="1287259" y="8393"/>
                  <a:pt x="1315524" y="15283"/>
                </a:cubicBezTo>
                <a:cubicBezTo>
                  <a:pt x="1359388" y="25953"/>
                  <a:pt x="1401495" y="41599"/>
                  <a:pt x="1442049" y="61444"/>
                </a:cubicBezTo>
                <a:cubicBezTo>
                  <a:pt x="1450665" y="65655"/>
                  <a:pt x="1459740" y="68855"/>
                  <a:pt x="1468688" y="72492"/>
                </a:cubicBezTo>
                <a:cubicBezTo>
                  <a:pt x="1482001" y="80178"/>
                  <a:pt x="1495314" y="87865"/>
                  <a:pt x="1508534" y="95496"/>
                </a:cubicBezTo>
                <a:cubicBezTo>
                  <a:pt x="1513437" y="99474"/>
                  <a:pt x="1517916" y="103972"/>
                  <a:pt x="1523243" y="107430"/>
                </a:cubicBezTo>
                <a:cubicBezTo>
                  <a:pt x="1584339" y="147163"/>
                  <a:pt x="1640161" y="193665"/>
                  <a:pt x="1692333" y="244556"/>
                </a:cubicBezTo>
                <a:cubicBezTo>
                  <a:pt x="1763313" y="313826"/>
                  <a:pt x="1826902" y="389660"/>
                  <a:pt x="1885760" y="469388"/>
                </a:cubicBezTo>
                <a:cubicBezTo>
                  <a:pt x="1971615" y="585347"/>
                  <a:pt x="2047425" y="707739"/>
                  <a:pt x="2117352" y="833871"/>
                </a:cubicBezTo>
                <a:cubicBezTo>
                  <a:pt x="2184993" y="956007"/>
                  <a:pt x="2246024" y="1081207"/>
                  <a:pt x="2294334" y="1212316"/>
                </a:cubicBezTo>
                <a:cubicBezTo>
                  <a:pt x="2326975" y="1301120"/>
                  <a:pt x="2353389" y="1391680"/>
                  <a:pt x="2368402" y="1485215"/>
                </a:cubicBezTo>
                <a:cubicBezTo>
                  <a:pt x="2380552" y="1560276"/>
                  <a:pt x="2384925" y="1635691"/>
                  <a:pt x="2376827" y="1711422"/>
                </a:cubicBezTo>
                <a:cubicBezTo>
                  <a:pt x="2370122" y="1773559"/>
                  <a:pt x="2355053" y="1833415"/>
                  <a:pt x="2328997" y="1890370"/>
                </a:cubicBezTo>
                <a:cubicBezTo>
                  <a:pt x="2324704" y="1899741"/>
                  <a:pt x="2320745" y="1909179"/>
                  <a:pt x="2316637" y="1918658"/>
                </a:cubicBezTo>
                <a:cubicBezTo>
                  <a:pt x="2310623" y="1929075"/>
                  <a:pt x="2304664" y="1939397"/>
                  <a:pt x="2298649" y="1949814"/>
                </a:cubicBezTo>
                <a:cubicBezTo>
                  <a:pt x="2296693" y="1952126"/>
                  <a:pt x="2294514" y="1954181"/>
                  <a:pt x="2292839" y="1956654"/>
                </a:cubicBezTo>
                <a:cubicBezTo>
                  <a:pt x="2282389" y="1970882"/>
                  <a:pt x="2272630" y="1985636"/>
                  <a:pt x="2261585" y="1999392"/>
                </a:cubicBezTo>
                <a:cubicBezTo>
                  <a:pt x="2217736" y="2054484"/>
                  <a:pt x="2164514" y="2098938"/>
                  <a:pt x="2104792" y="2135946"/>
                </a:cubicBezTo>
                <a:cubicBezTo>
                  <a:pt x="2028049" y="2183513"/>
                  <a:pt x="1944993" y="2216861"/>
                  <a:pt x="1858572" y="2242276"/>
                </a:cubicBezTo>
                <a:cubicBezTo>
                  <a:pt x="1764925" y="2269890"/>
                  <a:pt x="1669239" y="2287918"/>
                  <a:pt x="1572423" y="2299303"/>
                </a:cubicBezTo>
                <a:cubicBezTo>
                  <a:pt x="1348499" y="2325738"/>
                  <a:pt x="1124163" y="2327086"/>
                  <a:pt x="899611" y="2308813"/>
                </a:cubicBezTo>
                <a:cubicBezTo>
                  <a:pt x="779387" y="2299038"/>
                  <a:pt x="660584" y="2280782"/>
                  <a:pt x="544323" y="2248446"/>
                </a:cubicBezTo>
                <a:cubicBezTo>
                  <a:pt x="469296" y="2227684"/>
                  <a:pt x="396006" y="2202190"/>
                  <a:pt x="327663" y="2164262"/>
                </a:cubicBezTo>
                <a:cubicBezTo>
                  <a:pt x="324163" y="2162368"/>
                  <a:pt x="320314" y="2161293"/>
                  <a:pt x="316687" y="2159836"/>
                </a:cubicBezTo>
                <a:cubicBezTo>
                  <a:pt x="304026" y="2152526"/>
                  <a:pt x="291271" y="2145163"/>
                  <a:pt x="278610" y="2137853"/>
                </a:cubicBezTo>
                <a:cubicBezTo>
                  <a:pt x="274658" y="2134807"/>
                  <a:pt x="271021" y="2131433"/>
                  <a:pt x="266739" y="2128960"/>
                </a:cubicBezTo>
                <a:cubicBezTo>
                  <a:pt x="236072" y="2111127"/>
                  <a:pt x="208298" y="2089358"/>
                  <a:pt x="182018" y="2065647"/>
                </a:cubicBezTo>
                <a:cubicBezTo>
                  <a:pt x="103887" y="1995434"/>
                  <a:pt x="50177" y="1910014"/>
                  <a:pt x="22350" y="1808571"/>
                </a:cubicBezTo>
                <a:cubicBezTo>
                  <a:pt x="2360" y="1735481"/>
                  <a:pt x="-2901" y="1660957"/>
                  <a:pt x="1395" y="1585578"/>
                </a:cubicBezTo>
                <a:cubicBezTo>
                  <a:pt x="6646" y="1494568"/>
                  <a:pt x="25183" y="1406130"/>
                  <a:pt x="51040" y="1318990"/>
                </a:cubicBezTo>
                <a:cubicBezTo>
                  <a:pt x="72342" y="1247695"/>
                  <a:pt x="98311" y="1178203"/>
                  <a:pt x="127499" y="1109805"/>
                </a:cubicBezTo>
                <a:cubicBezTo>
                  <a:pt x="150726" y="1055169"/>
                  <a:pt x="175554" y="1001201"/>
                  <a:pt x="202895" y="948686"/>
                </a:cubicBezTo>
                <a:cubicBezTo>
                  <a:pt x="229923" y="896497"/>
                  <a:pt x="258384" y="845265"/>
                  <a:pt x="286195" y="793657"/>
                </a:cubicBezTo>
                <a:cubicBezTo>
                  <a:pt x="287591" y="791023"/>
                  <a:pt x="288523" y="788120"/>
                  <a:pt x="289733" y="785378"/>
                </a:cubicBezTo>
                <a:cubicBezTo>
                  <a:pt x="294753" y="776681"/>
                  <a:pt x="299720" y="768080"/>
                  <a:pt x="304741" y="759383"/>
                </a:cubicBezTo>
                <a:cubicBezTo>
                  <a:pt x="307172" y="755817"/>
                  <a:pt x="309883" y="752412"/>
                  <a:pt x="312128" y="748739"/>
                </a:cubicBezTo>
                <a:cubicBezTo>
                  <a:pt x="350080" y="684508"/>
                  <a:pt x="389577" y="621043"/>
                  <a:pt x="431476" y="559220"/>
                </a:cubicBezTo>
                <a:cubicBezTo>
                  <a:pt x="482495" y="484184"/>
                  <a:pt x="536737" y="411519"/>
                  <a:pt x="596068" y="342939"/>
                </a:cubicBezTo>
                <a:cubicBezTo>
                  <a:pt x="652541" y="277806"/>
                  <a:pt x="713027" y="216901"/>
                  <a:pt x="780567" y="163128"/>
                </a:cubicBezTo>
                <a:cubicBezTo>
                  <a:pt x="843227" y="113291"/>
                  <a:pt x="910309" y="70849"/>
                  <a:pt x="985030" y="40972"/>
                </a:cubicBezTo>
                <a:cubicBezTo>
                  <a:pt x="1045450" y="16865"/>
                  <a:pt x="1106695" y="3031"/>
                  <a:pt x="1168842" y="44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="" xmlns:a16="http://schemas.microsoft.com/office/drawing/2014/main" id="{ABA27B8B-56C2-4785-B44A-9AF34BFFA6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8FB5B5F9-49D6-4D5F-8FD4-E1689B7CB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19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="" xmlns:a16="http://schemas.microsoft.com/office/drawing/2014/main" id="{0551CBCD-FD93-4B8F-8E11-430F4BE72E6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358354" y="1949825"/>
            <a:ext cx="2769069" cy="2992541"/>
          </a:xfrm>
          <a:custGeom>
            <a:avLst/>
            <a:gdLst>
              <a:gd name="connsiteX0" fmla="*/ 0 w 2769069"/>
              <a:gd name="connsiteY0" fmla="*/ 0 h 2992541"/>
              <a:gd name="connsiteX1" fmla="*/ 2769069 w 2769069"/>
              <a:gd name="connsiteY1" fmla="*/ 0 h 2992541"/>
              <a:gd name="connsiteX2" fmla="*/ 2769069 w 2769069"/>
              <a:gd name="connsiteY2" fmla="*/ 2992541 h 2992541"/>
              <a:gd name="connsiteX3" fmla="*/ 0 w 2769069"/>
              <a:gd name="connsiteY3" fmla="*/ 2992541 h 2992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69069" h="2992541">
                <a:moveTo>
                  <a:pt x="0" y="0"/>
                </a:moveTo>
                <a:lnTo>
                  <a:pt x="2769069" y="0"/>
                </a:lnTo>
                <a:lnTo>
                  <a:pt x="2769069" y="2992541"/>
                </a:lnTo>
                <a:lnTo>
                  <a:pt x="0" y="29925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BA5954B-B585-4E4F-9B1E-8EB8B106E0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8FB5B5F9-49D6-4D5F-8FD4-E1689B7CB6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150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C34C2886-E7DA-40BF-85E0-51E3281863D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674988" y="1138048"/>
            <a:ext cx="2131646" cy="4629781"/>
          </a:xfrm>
          <a:custGeom>
            <a:avLst/>
            <a:gdLst>
              <a:gd name="connsiteX0" fmla="*/ 1697660 w 2131646"/>
              <a:gd name="connsiteY0" fmla="*/ 0 h 4629781"/>
              <a:gd name="connsiteX1" fmla="*/ 1915617 w 2131646"/>
              <a:gd name="connsiteY1" fmla="*/ 0 h 4629781"/>
              <a:gd name="connsiteX2" fmla="*/ 2131646 w 2131646"/>
              <a:gd name="connsiteY2" fmla="*/ 218302 h 4629781"/>
              <a:gd name="connsiteX3" fmla="*/ 2131646 w 2131646"/>
              <a:gd name="connsiteY3" fmla="*/ 4411478 h 4629781"/>
              <a:gd name="connsiteX4" fmla="*/ 1915617 w 2131646"/>
              <a:gd name="connsiteY4" fmla="*/ 4629781 h 4629781"/>
              <a:gd name="connsiteX5" fmla="*/ 1101490 w 2131646"/>
              <a:gd name="connsiteY5" fmla="*/ 4629781 h 4629781"/>
              <a:gd name="connsiteX6" fmla="*/ 216030 w 2131646"/>
              <a:gd name="connsiteY6" fmla="*/ 4629781 h 4629781"/>
              <a:gd name="connsiteX7" fmla="*/ 0 w 2131646"/>
              <a:gd name="connsiteY7" fmla="*/ 4411479 h 4629781"/>
              <a:gd name="connsiteX8" fmla="*/ 0 w 2131646"/>
              <a:gd name="connsiteY8" fmla="*/ 218302 h 4629781"/>
              <a:gd name="connsiteX9" fmla="*/ 216030 w 2131646"/>
              <a:gd name="connsiteY9" fmla="*/ 1 h 4629781"/>
              <a:gd name="connsiteX10" fmla="*/ 433987 w 2131646"/>
              <a:gd name="connsiteY10" fmla="*/ 1 h 4629781"/>
              <a:gd name="connsiteX11" fmla="*/ 471860 w 2131646"/>
              <a:gd name="connsiteY11" fmla="*/ 40522 h 4629781"/>
              <a:gd name="connsiteX12" fmla="*/ 608832 w 2131646"/>
              <a:gd name="connsiteY12" fmla="*/ 174495 h 4629781"/>
              <a:gd name="connsiteX13" fmla="*/ 1030156 w 2131646"/>
              <a:gd name="connsiteY13" fmla="*/ 174495 h 4629781"/>
              <a:gd name="connsiteX14" fmla="*/ 1522814 w 2131646"/>
              <a:gd name="connsiteY14" fmla="*/ 174495 h 4629781"/>
              <a:gd name="connsiteX15" fmla="*/ 1659787 w 2131646"/>
              <a:gd name="connsiteY15" fmla="*/ 40521 h 4629781"/>
              <a:gd name="connsiteX16" fmla="*/ 1697660 w 2131646"/>
              <a:gd name="connsiteY16" fmla="*/ 0 h 4629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31646" h="4629781">
                <a:moveTo>
                  <a:pt x="1697660" y="0"/>
                </a:moveTo>
                <a:lnTo>
                  <a:pt x="1915617" y="0"/>
                </a:lnTo>
                <a:cubicBezTo>
                  <a:pt x="2034926" y="0"/>
                  <a:pt x="2131646" y="97737"/>
                  <a:pt x="2131646" y="218302"/>
                </a:cubicBezTo>
                <a:lnTo>
                  <a:pt x="2131646" y="4411478"/>
                </a:lnTo>
                <a:cubicBezTo>
                  <a:pt x="2131646" y="4532046"/>
                  <a:pt x="2034926" y="4629781"/>
                  <a:pt x="1915617" y="4629781"/>
                </a:cubicBezTo>
                <a:lnTo>
                  <a:pt x="1101490" y="4629781"/>
                </a:lnTo>
                <a:lnTo>
                  <a:pt x="216030" y="4629781"/>
                </a:lnTo>
                <a:cubicBezTo>
                  <a:pt x="96722" y="4629781"/>
                  <a:pt x="0" y="4532046"/>
                  <a:pt x="0" y="4411479"/>
                </a:cubicBezTo>
                <a:lnTo>
                  <a:pt x="0" y="218302"/>
                </a:lnTo>
                <a:cubicBezTo>
                  <a:pt x="0" y="97737"/>
                  <a:pt x="96722" y="1"/>
                  <a:pt x="216030" y="1"/>
                </a:cubicBezTo>
                <a:lnTo>
                  <a:pt x="433987" y="1"/>
                </a:lnTo>
                <a:cubicBezTo>
                  <a:pt x="455530" y="133"/>
                  <a:pt x="471125" y="16612"/>
                  <a:pt x="471860" y="40522"/>
                </a:cubicBezTo>
                <a:cubicBezTo>
                  <a:pt x="471860" y="117798"/>
                  <a:pt x="532363" y="174495"/>
                  <a:pt x="608832" y="174495"/>
                </a:cubicBezTo>
                <a:lnTo>
                  <a:pt x="1030156" y="174495"/>
                </a:lnTo>
                <a:lnTo>
                  <a:pt x="1522814" y="174495"/>
                </a:lnTo>
                <a:cubicBezTo>
                  <a:pt x="1599283" y="174495"/>
                  <a:pt x="1659787" y="117795"/>
                  <a:pt x="1659787" y="40521"/>
                </a:cubicBezTo>
                <a:cubicBezTo>
                  <a:pt x="1660523" y="16612"/>
                  <a:pt x="1676119" y="132"/>
                  <a:pt x="16976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="" xmlns:a16="http://schemas.microsoft.com/office/drawing/2014/main" id="{EE4AB4A4-C41E-45F1-9F48-A8D07EB2597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93016" y="3915818"/>
            <a:ext cx="2131646" cy="4629781"/>
          </a:xfrm>
          <a:custGeom>
            <a:avLst/>
            <a:gdLst>
              <a:gd name="connsiteX0" fmla="*/ 1697660 w 2131646"/>
              <a:gd name="connsiteY0" fmla="*/ 0 h 4629781"/>
              <a:gd name="connsiteX1" fmla="*/ 1915617 w 2131646"/>
              <a:gd name="connsiteY1" fmla="*/ 0 h 4629781"/>
              <a:gd name="connsiteX2" fmla="*/ 2131646 w 2131646"/>
              <a:gd name="connsiteY2" fmla="*/ 218302 h 4629781"/>
              <a:gd name="connsiteX3" fmla="*/ 2131646 w 2131646"/>
              <a:gd name="connsiteY3" fmla="*/ 4411478 h 4629781"/>
              <a:gd name="connsiteX4" fmla="*/ 1915617 w 2131646"/>
              <a:gd name="connsiteY4" fmla="*/ 4629781 h 4629781"/>
              <a:gd name="connsiteX5" fmla="*/ 1101490 w 2131646"/>
              <a:gd name="connsiteY5" fmla="*/ 4629781 h 4629781"/>
              <a:gd name="connsiteX6" fmla="*/ 216030 w 2131646"/>
              <a:gd name="connsiteY6" fmla="*/ 4629781 h 4629781"/>
              <a:gd name="connsiteX7" fmla="*/ 0 w 2131646"/>
              <a:gd name="connsiteY7" fmla="*/ 4411479 h 4629781"/>
              <a:gd name="connsiteX8" fmla="*/ 0 w 2131646"/>
              <a:gd name="connsiteY8" fmla="*/ 218302 h 4629781"/>
              <a:gd name="connsiteX9" fmla="*/ 216030 w 2131646"/>
              <a:gd name="connsiteY9" fmla="*/ 1 h 4629781"/>
              <a:gd name="connsiteX10" fmla="*/ 433987 w 2131646"/>
              <a:gd name="connsiteY10" fmla="*/ 1 h 4629781"/>
              <a:gd name="connsiteX11" fmla="*/ 471860 w 2131646"/>
              <a:gd name="connsiteY11" fmla="*/ 40522 h 4629781"/>
              <a:gd name="connsiteX12" fmla="*/ 608832 w 2131646"/>
              <a:gd name="connsiteY12" fmla="*/ 174495 h 4629781"/>
              <a:gd name="connsiteX13" fmla="*/ 1030156 w 2131646"/>
              <a:gd name="connsiteY13" fmla="*/ 174495 h 4629781"/>
              <a:gd name="connsiteX14" fmla="*/ 1522814 w 2131646"/>
              <a:gd name="connsiteY14" fmla="*/ 174495 h 4629781"/>
              <a:gd name="connsiteX15" fmla="*/ 1659787 w 2131646"/>
              <a:gd name="connsiteY15" fmla="*/ 40521 h 4629781"/>
              <a:gd name="connsiteX16" fmla="*/ 1697660 w 2131646"/>
              <a:gd name="connsiteY16" fmla="*/ 0 h 4629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31646" h="4629781">
                <a:moveTo>
                  <a:pt x="1697660" y="0"/>
                </a:moveTo>
                <a:lnTo>
                  <a:pt x="1915617" y="0"/>
                </a:lnTo>
                <a:cubicBezTo>
                  <a:pt x="2034926" y="0"/>
                  <a:pt x="2131646" y="97737"/>
                  <a:pt x="2131646" y="218302"/>
                </a:cubicBezTo>
                <a:lnTo>
                  <a:pt x="2131646" y="4411478"/>
                </a:lnTo>
                <a:cubicBezTo>
                  <a:pt x="2131646" y="4532045"/>
                  <a:pt x="2034926" y="4629781"/>
                  <a:pt x="1915617" y="4629781"/>
                </a:cubicBezTo>
                <a:lnTo>
                  <a:pt x="1101490" y="4629781"/>
                </a:lnTo>
                <a:lnTo>
                  <a:pt x="216030" y="4629781"/>
                </a:lnTo>
                <a:cubicBezTo>
                  <a:pt x="96722" y="4629781"/>
                  <a:pt x="0" y="4532045"/>
                  <a:pt x="0" y="4411479"/>
                </a:cubicBezTo>
                <a:lnTo>
                  <a:pt x="0" y="218302"/>
                </a:lnTo>
                <a:cubicBezTo>
                  <a:pt x="0" y="97737"/>
                  <a:pt x="96722" y="1"/>
                  <a:pt x="216030" y="1"/>
                </a:cubicBezTo>
                <a:lnTo>
                  <a:pt x="433987" y="1"/>
                </a:lnTo>
                <a:cubicBezTo>
                  <a:pt x="455529" y="133"/>
                  <a:pt x="471125" y="16612"/>
                  <a:pt x="471860" y="40522"/>
                </a:cubicBezTo>
                <a:cubicBezTo>
                  <a:pt x="471860" y="117797"/>
                  <a:pt x="532363" y="174495"/>
                  <a:pt x="608832" y="174495"/>
                </a:cubicBezTo>
                <a:lnTo>
                  <a:pt x="1030156" y="174495"/>
                </a:lnTo>
                <a:lnTo>
                  <a:pt x="1522814" y="174495"/>
                </a:lnTo>
                <a:cubicBezTo>
                  <a:pt x="1599283" y="174495"/>
                  <a:pt x="1659787" y="117795"/>
                  <a:pt x="1659787" y="40521"/>
                </a:cubicBezTo>
                <a:cubicBezTo>
                  <a:pt x="1660523" y="16612"/>
                  <a:pt x="1676119" y="132"/>
                  <a:pt x="16976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="" xmlns:a16="http://schemas.microsoft.com/office/drawing/2014/main" id="{7E05913F-9C80-49B8-93D0-80658C8914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15842" y="-1701592"/>
            <a:ext cx="2131646" cy="4629781"/>
          </a:xfrm>
          <a:custGeom>
            <a:avLst/>
            <a:gdLst>
              <a:gd name="connsiteX0" fmla="*/ 1697660 w 2131646"/>
              <a:gd name="connsiteY0" fmla="*/ 0 h 4629781"/>
              <a:gd name="connsiteX1" fmla="*/ 1915617 w 2131646"/>
              <a:gd name="connsiteY1" fmla="*/ 0 h 4629781"/>
              <a:gd name="connsiteX2" fmla="*/ 2131646 w 2131646"/>
              <a:gd name="connsiteY2" fmla="*/ 218302 h 4629781"/>
              <a:gd name="connsiteX3" fmla="*/ 2131646 w 2131646"/>
              <a:gd name="connsiteY3" fmla="*/ 4411478 h 4629781"/>
              <a:gd name="connsiteX4" fmla="*/ 1915617 w 2131646"/>
              <a:gd name="connsiteY4" fmla="*/ 4629781 h 4629781"/>
              <a:gd name="connsiteX5" fmla="*/ 1101490 w 2131646"/>
              <a:gd name="connsiteY5" fmla="*/ 4629781 h 4629781"/>
              <a:gd name="connsiteX6" fmla="*/ 216030 w 2131646"/>
              <a:gd name="connsiteY6" fmla="*/ 4629781 h 4629781"/>
              <a:gd name="connsiteX7" fmla="*/ 0 w 2131646"/>
              <a:gd name="connsiteY7" fmla="*/ 4411479 h 4629781"/>
              <a:gd name="connsiteX8" fmla="*/ 0 w 2131646"/>
              <a:gd name="connsiteY8" fmla="*/ 218302 h 4629781"/>
              <a:gd name="connsiteX9" fmla="*/ 216030 w 2131646"/>
              <a:gd name="connsiteY9" fmla="*/ 1 h 4629781"/>
              <a:gd name="connsiteX10" fmla="*/ 433987 w 2131646"/>
              <a:gd name="connsiteY10" fmla="*/ 1 h 4629781"/>
              <a:gd name="connsiteX11" fmla="*/ 471860 w 2131646"/>
              <a:gd name="connsiteY11" fmla="*/ 40522 h 4629781"/>
              <a:gd name="connsiteX12" fmla="*/ 608832 w 2131646"/>
              <a:gd name="connsiteY12" fmla="*/ 174495 h 4629781"/>
              <a:gd name="connsiteX13" fmla="*/ 1030156 w 2131646"/>
              <a:gd name="connsiteY13" fmla="*/ 174495 h 4629781"/>
              <a:gd name="connsiteX14" fmla="*/ 1522814 w 2131646"/>
              <a:gd name="connsiteY14" fmla="*/ 174495 h 4629781"/>
              <a:gd name="connsiteX15" fmla="*/ 1659787 w 2131646"/>
              <a:gd name="connsiteY15" fmla="*/ 40521 h 4629781"/>
              <a:gd name="connsiteX16" fmla="*/ 1697660 w 2131646"/>
              <a:gd name="connsiteY16" fmla="*/ 0 h 4629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31646" h="4629781">
                <a:moveTo>
                  <a:pt x="1697660" y="0"/>
                </a:moveTo>
                <a:lnTo>
                  <a:pt x="1915617" y="0"/>
                </a:lnTo>
                <a:cubicBezTo>
                  <a:pt x="2034926" y="0"/>
                  <a:pt x="2131646" y="97737"/>
                  <a:pt x="2131646" y="218302"/>
                </a:cubicBezTo>
                <a:lnTo>
                  <a:pt x="2131646" y="4411478"/>
                </a:lnTo>
                <a:cubicBezTo>
                  <a:pt x="2131646" y="4532046"/>
                  <a:pt x="2034926" y="4629781"/>
                  <a:pt x="1915617" y="4629781"/>
                </a:cubicBezTo>
                <a:lnTo>
                  <a:pt x="1101490" y="4629781"/>
                </a:lnTo>
                <a:lnTo>
                  <a:pt x="216030" y="4629781"/>
                </a:lnTo>
                <a:cubicBezTo>
                  <a:pt x="96722" y="4629781"/>
                  <a:pt x="0" y="4532046"/>
                  <a:pt x="0" y="4411479"/>
                </a:cubicBezTo>
                <a:lnTo>
                  <a:pt x="0" y="218302"/>
                </a:lnTo>
                <a:cubicBezTo>
                  <a:pt x="0" y="97737"/>
                  <a:pt x="96722" y="1"/>
                  <a:pt x="216030" y="1"/>
                </a:cubicBezTo>
                <a:lnTo>
                  <a:pt x="433987" y="1"/>
                </a:lnTo>
                <a:cubicBezTo>
                  <a:pt x="455530" y="133"/>
                  <a:pt x="471125" y="16612"/>
                  <a:pt x="471860" y="40522"/>
                </a:cubicBezTo>
                <a:cubicBezTo>
                  <a:pt x="471860" y="117797"/>
                  <a:pt x="532363" y="174495"/>
                  <a:pt x="608832" y="174495"/>
                </a:cubicBezTo>
                <a:lnTo>
                  <a:pt x="1030156" y="174495"/>
                </a:lnTo>
                <a:lnTo>
                  <a:pt x="1522814" y="174495"/>
                </a:lnTo>
                <a:cubicBezTo>
                  <a:pt x="1599283" y="174495"/>
                  <a:pt x="1659787" y="117795"/>
                  <a:pt x="1659787" y="40521"/>
                </a:cubicBezTo>
                <a:cubicBezTo>
                  <a:pt x="1660523" y="16612"/>
                  <a:pt x="1676119" y="132"/>
                  <a:pt x="169766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="" xmlns:a16="http://schemas.microsoft.com/office/drawing/2014/main" id="{FADA480A-217B-4D3C-9338-5EB7E455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040532F-58D8-497A-B356-BA7C8D973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462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ECAC4EE5-8542-49A2-960C-27B1D7F87BB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7386102" y="2182616"/>
            <a:ext cx="1693017" cy="3668238"/>
          </a:xfrm>
          <a:custGeom>
            <a:avLst/>
            <a:gdLst>
              <a:gd name="connsiteX0" fmla="*/ 0 w 1693017"/>
              <a:gd name="connsiteY0" fmla="*/ 0 h 3668238"/>
              <a:gd name="connsiteX1" fmla="*/ 1693017 w 1693017"/>
              <a:gd name="connsiteY1" fmla="*/ 0 h 3668238"/>
              <a:gd name="connsiteX2" fmla="*/ 1693017 w 1693017"/>
              <a:gd name="connsiteY2" fmla="*/ 3668238 h 3668238"/>
              <a:gd name="connsiteX3" fmla="*/ 0 w 1693017"/>
              <a:gd name="connsiteY3" fmla="*/ 3668238 h 366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3017" h="3668238">
                <a:moveTo>
                  <a:pt x="0" y="0"/>
                </a:moveTo>
                <a:lnTo>
                  <a:pt x="1693017" y="0"/>
                </a:lnTo>
                <a:lnTo>
                  <a:pt x="1693017" y="3668238"/>
                </a:lnTo>
                <a:lnTo>
                  <a:pt x="0" y="36682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scene3d>
            <a:camera prst="perspectiveLeft">
              <a:rot lat="0" lon="20400000" rev="0"/>
            </a:camera>
            <a:lightRig rig="threePt" dir="t"/>
          </a:scene3d>
          <a:sp3d/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7CCAB016-C776-42EC-87F1-FF60E68E050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111297" y="2188763"/>
            <a:ext cx="1693017" cy="3668238"/>
          </a:xfrm>
          <a:custGeom>
            <a:avLst/>
            <a:gdLst>
              <a:gd name="connsiteX0" fmla="*/ 0 w 1693017"/>
              <a:gd name="connsiteY0" fmla="*/ 0 h 3668238"/>
              <a:gd name="connsiteX1" fmla="*/ 1693017 w 1693017"/>
              <a:gd name="connsiteY1" fmla="*/ 0 h 3668238"/>
              <a:gd name="connsiteX2" fmla="*/ 1693017 w 1693017"/>
              <a:gd name="connsiteY2" fmla="*/ 3668238 h 3668238"/>
              <a:gd name="connsiteX3" fmla="*/ 0 w 1693017"/>
              <a:gd name="connsiteY3" fmla="*/ 3668238 h 366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3017" h="3668238">
                <a:moveTo>
                  <a:pt x="0" y="0"/>
                </a:moveTo>
                <a:lnTo>
                  <a:pt x="1693017" y="0"/>
                </a:lnTo>
                <a:lnTo>
                  <a:pt x="1693017" y="3668238"/>
                </a:lnTo>
                <a:lnTo>
                  <a:pt x="0" y="366823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scene3d>
            <a:camera prst="perspectiveRight">
              <a:rot lat="0" lon="1200000" rev="0"/>
            </a:camera>
            <a:lightRig rig="threePt" dir="t"/>
          </a:scene3d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CF86150C-43C8-4C8E-A03C-19BA083507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856" y="1995865"/>
            <a:ext cx="1870537" cy="4052867"/>
          </a:xfrm>
          <a:custGeom>
            <a:avLst/>
            <a:gdLst>
              <a:gd name="connsiteX0" fmla="*/ 0 w 1870537"/>
              <a:gd name="connsiteY0" fmla="*/ 0 h 4052867"/>
              <a:gd name="connsiteX1" fmla="*/ 1870537 w 1870537"/>
              <a:gd name="connsiteY1" fmla="*/ 0 h 4052867"/>
              <a:gd name="connsiteX2" fmla="*/ 1870537 w 1870537"/>
              <a:gd name="connsiteY2" fmla="*/ 4052867 h 4052867"/>
              <a:gd name="connsiteX3" fmla="*/ 0 w 1870537"/>
              <a:gd name="connsiteY3" fmla="*/ 4052867 h 4052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0537" h="4052867">
                <a:moveTo>
                  <a:pt x="0" y="0"/>
                </a:moveTo>
                <a:lnTo>
                  <a:pt x="1870537" y="0"/>
                </a:lnTo>
                <a:lnTo>
                  <a:pt x="1870537" y="4052867"/>
                </a:lnTo>
                <a:lnTo>
                  <a:pt x="0" y="40528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37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9">
            <a:extLst>
              <a:ext uri="{FF2B5EF4-FFF2-40B4-BE49-F238E27FC236}">
                <a16:creationId xmlns="" xmlns:a16="http://schemas.microsoft.com/office/drawing/2014/main" id="{21BB4F23-8E56-4C1F-8517-1E8E469EB9D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 rot="1800000">
            <a:off x="288279" y="411945"/>
            <a:ext cx="1669979" cy="3627077"/>
          </a:xfrm>
          <a:custGeom>
            <a:avLst/>
            <a:gdLst>
              <a:gd name="connsiteX0" fmla="*/ 103366 w 1669979"/>
              <a:gd name="connsiteY0" fmla="*/ 13440 h 3627077"/>
              <a:gd name="connsiteX1" fmla="*/ 169243 w 1669979"/>
              <a:gd name="connsiteY1" fmla="*/ 0 h 3627077"/>
              <a:gd name="connsiteX2" fmla="*/ 339995 w 1669979"/>
              <a:gd name="connsiteY2" fmla="*/ 0 h 3627077"/>
              <a:gd name="connsiteX3" fmla="*/ 369665 w 1669979"/>
              <a:gd name="connsiteY3" fmla="*/ 31745 h 3627077"/>
              <a:gd name="connsiteX4" fmla="*/ 476972 w 1669979"/>
              <a:gd name="connsiteY4" fmla="*/ 136703 h 3627077"/>
              <a:gd name="connsiteX5" fmla="*/ 807047 w 1669979"/>
              <a:gd name="connsiteY5" fmla="*/ 136703 h 3627077"/>
              <a:gd name="connsiteX6" fmla="*/ 1193006 w 1669979"/>
              <a:gd name="connsiteY6" fmla="*/ 136703 h 3627077"/>
              <a:gd name="connsiteX7" fmla="*/ 1300314 w 1669979"/>
              <a:gd name="connsiteY7" fmla="*/ 31744 h 3627077"/>
              <a:gd name="connsiteX8" fmla="*/ 1329984 w 1669979"/>
              <a:gd name="connsiteY8" fmla="*/ 0 h 3627077"/>
              <a:gd name="connsiteX9" fmla="*/ 1500737 w 1669979"/>
              <a:gd name="connsiteY9" fmla="*/ 0 h 3627077"/>
              <a:gd name="connsiteX10" fmla="*/ 1669979 w 1669979"/>
              <a:gd name="connsiteY10" fmla="*/ 171022 h 3627077"/>
              <a:gd name="connsiteX11" fmla="*/ 1669979 w 1669979"/>
              <a:gd name="connsiteY11" fmla="*/ 3456053 h 3627077"/>
              <a:gd name="connsiteX12" fmla="*/ 1500737 w 1669979"/>
              <a:gd name="connsiteY12" fmla="*/ 3627076 h 3627077"/>
              <a:gd name="connsiteX13" fmla="*/ 862931 w 1669979"/>
              <a:gd name="connsiteY13" fmla="*/ 3627077 h 3627077"/>
              <a:gd name="connsiteX14" fmla="*/ 169242 w 1669979"/>
              <a:gd name="connsiteY14" fmla="*/ 3627077 h 3627077"/>
              <a:gd name="connsiteX15" fmla="*/ 0 w 1669979"/>
              <a:gd name="connsiteY15" fmla="*/ 3456054 h 3627077"/>
              <a:gd name="connsiteX16" fmla="*/ 0 w 1669979"/>
              <a:gd name="connsiteY16" fmla="*/ 171022 h 3627077"/>
              <a:gd name="connsiteX17" fmla="*/ 103366 w 1669979"/>
              <a:gd name="connsiteY17" fmla="*/ 13440 h 36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9979" h="3627077">
                <a:moveTo>
                  <a:pt x="103366" y="13440"/>
                </a:moveTo>
                <a:cubicBezTo>
                  <a:pt x="123614" y="4786"/>
                  <a:pt x="145876" y="0"/>
                  <a:pt x="169243" y="0"/>
                </a:cubicBezTo>
                <a:lnTo>
                  <a:pt x="339995" y="0"/>
                </a:lnTo>
                <a:cubicBezTo>
                  <a:pt x="356871" y="103"/>
                  <a:pt x="369089" y="13014"/>
                  <a:pt x="369665" y="31745"/>
                </a:cubicBezTo>
                <a:cubicBezTo>
                  <a:pt x="369665" y="92284"/>
                  <a:pt x="417065" y="136703"/>
                  <a:pt x="476972" y="136703"/>
                </a:cubicBezTo>
                <a:lnTo>
                  <a:pt x="807047" y="136703"/>
                </a:lnTo>
                <a:lnTo>
                  <a:pt x="1193006" y="136703"/>
                </a:lnTo>
                <a:cubicBezTo>
                  <a:pt x="1252914" y="136703"/>
                  <a:pt x="1300314" y="92283"/>
                  <a:pt x="1300314" y="31744"/>
                </a:cubicBezTo>
                <a:cubicBezTo>
                  <a:pt x="1300890" y="13014"/>
                  <a:pt x="1313108" y="103"/>
                  <a:pt x="1329984" y="0"/>
                </a:cubicBezTo>
                <a:lnTo>
                  <a:pt x="1500737" y="0"/>
                </a:lnTo>
                <a:cubicBezTo>
                  <a:pt x="1594205" y="0"/>
                  <a:pt x="1669979" y="76569"/>
                  <a:pt x="1669979" y="171022"/>
                </a:cubicBezTo>
                <a:lnTo>
                  <a:pt x="1669979" y="3456053"/>
                </a:lnTo>
                <a:cubicBezTo>
                  <a:pt x="1669979" y="3550508"/>
                  <a:pt x="1594206" y="3627077"/>
                  <a:pt x="1500737" y="3627076"/>
                </a:cubicBezTo>
                <a:lnTo>
                  <a:pt x="862931" y="3627077"/>
                </a:lnTo>
                <a:lnTo>
                  <a:pt x="169242" y="3627077"/>
                </a:lnTo>
                <a:cubicBezTo>
                  <a:pt x="75774" y="3627076"/>
                  <a:pt x="0" y="3550509"/>
                  <a:pt x="0" y="3456054"/>
                </a:cubicBezTo>
                <a:lnTo>
                  <a:pt x="0" y="171022"/>
                </a:lnTo>
                <a:cubicBezTo>
                  <a:pt x="0" y="100182"/>
                  <a:pt x="42623" y="39402"/>
                  <a:pt x="103366" y="134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5" name="Picture Placeholder 17">
            <a:extLst>
              <a:ext uri="{FF2B5EF4-FFF2-40B4-BE49-F238E27FC236}">
                <a16:creationId xmlns="" xmlns:a16="http://schemas.microsoft.com/office/drawing/2014/main" id="{F628A4CE-215D-483C-ABC2-AC09BEECDA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 rot="1800000">
            <a:off x="3037240" y="-309480"/>
            <a:ext cx="1669979" cy="3627077"/>
          </a:xfrm>
          <a:custGeom>
            <a:avLst/>
            <a:gdLst>
              <a:gd name="connsiteX0" fmla="*/ 103366 w 1669979"/>
              <a:gd name="connsiteY0" fmla="*/ 13440 h 3627077"/>
              <a:gd name="connsiteX1" fmla="*/ 169243 w 1669979"/>
              <a:gd name="connsiteY1" fmla="*/ 0 h 3627077"/>
              <a:gd name="connsiteX2" fmla="*/ 339995 w 1669979"/>
              <a:gd name="connsiteY2" fmla="*/ 0 h 3627077"/>
              <a:gd name="connsiteX3" fmla="*/ 369665 w 1669979"/>
              <a:gd name="connsiteY3" fmla="*/ 31745 h 3627077"/>
              <a:gd name="connsiteX4" fmla="*/ 476972 w 1669979"/>
              <a:gd name="connsiteY4" fmla="*/ 136703 h 3627077"/>
              <a:gd name="connsiteX5" fmla="*/ 807048 w 1669979"/>
              <a:gd name="connsiteY5" fmla="*/ 136703 h 3627077"/>
              <a:gd name="connsiteX6" fmla="*/ 1193007 w 1669979"/>
              <a:gd name="connsiteY6" fmla="*/ 136703 h 3627077"/>
              <a:gd name="connsiteX7" fmla="*/ 1300313 w 1669979"/>
              <a:gd name="connsiteY7" fmla="*/ 31744 h 3627077"/>
              <a:gd name="connsiteX8" fmla="*/ 1329984 w 1669979"/>
              <a:gd name="connsiteY8" fmla="*/ 0 h 3627077"/>
              <a:gd name="connsiteX9" fmla="*/ 1500737 w 1669979"/>
              <a:gd name="connsiteY9" fmla="*/ 0 h 3627077"/>
              <a:gd name="connsiteX10" fmla="*/ 1669979 w 1669979"/>
              <a:gd name="connsiteY10" fmla="*/ 171022 h 3627077"/>
              <a:gd name="connsiteX11" fmla="*/ 1669979 w 1669979"/>
              <a:gd name="connsiteY11" fmla="*/ 3456053 h 3627077"/>
              <a:gd name="connsiteX12" fmla="*/ 1500736 w 1669979"/>
              <a:gd name="connsiteY12" fmla="*/ 3627077 h 3627077"/>
              <a:gd name="connsiteX13" fmla="*/ 862932 w 1669979"/>
              <a:gd name="connsiteY13" fmla="*/ 3627076 h 3627077"/>
              <a:gd name="connsiteX14" fmla="*/ 169243 w 1669979"/>
              <a:gd name="connsiteY14" fmla="*/ 3627076 h 3627077"/>
              <a:gd name="connsiteX15" fmla="*/ 0 w 1669979"/>
              <a:gd name="connsiteY15" fmla="*/ 3456054 h 3627077"/>
              <a:gd name="connsiteX16" fmla="*/ 0 w 1669979"/>
              <a:gd name="connsiteY16" fmla="*/ 171022 h 3627077"/>
              <a:gd name="connsiteX17" fmla="*/ 103366 w 1669979"/>
              <a:gd name="connsiteY17" fmla="*/ 13440 h 36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9979" h="3627077">
                <a:moveTo>
                  <a:pt x="103366" y="13440"/>
                </a:moveTo>
                <a:cubicBezTo>
                  <a:pt x="123615" y="4786"/>
                  <a:pt x="145875" y="0"/>
                  <a:pt x="169243" y="0"/>
                </a:cubicBezTo>
                <a:lnTo>
                  <a:pt x="339995" y="0"/>
                </a:lnTo>
                <a:cubicBezTo>
                  <a:pt x="356871" y="104"/>
                  <a:pt x="369089" y="13014"/>
                  <a:pt x="369665" y="31745"/>
                </a:cubicBezTo>
                <a:cubicBezTo>
                  <a:pt x="369664" y="92285"/>
                  <a:pt x="417065" y="136703"/>
                  <a:pt x="476972" y="136703"/>
                </a:cubicBezTo>
                <a:lnTo>
                  <a:pt x="807048" y="136703"/>
                </a:lnTo>
                <a:lnTo>
                  <a:pt x="1193007" y="136703"/>
                </a:lnTo>
                <a:cubicBezTo>
                  <a:pt x="1252914" y="136703"/>
                  <a:pt x="1300314" y="92283"/>
                  <a:pt x="1300313" y="31744"/>
                </a:cubicBezTo>
                <a:cubicBezTo>
                  <a:pt x="1300890" y="13014"/>
                  <a:pt x="1313108" y="103"/>
                  <a:pt x="1329984" y="0"/>
                </a:cubicBezTo>
                <a:lnTo>
                  <a:pt x="1500737" y="0"/>
                </a:lnTo>
                <a:cubicBezTo>
                  <a:pt x="1594205" y="0"/>
                  <a:pt x="1669979" y="76569"/>
                  <a:pt x="1669979" y="171022"/>
                </a:cubicBezTo>
                <a:lnTo>
                  <a:pt x="1669979" y="3456053"/>
                </a:lnTo>
                <a:cubicBezTo>
                  <a:pt x="1669979" y="3550508"/>
                  <a:pt x="1594206" y="3627076"/>
                  <a:pt x="1500736" y="3627077"/>
                </a:cubicBezTo>
                <a:lnTo>
                  <a:pt x="862932" y="3627076"/>
                </a:lnTo>
                <a:lnTo>
                  <a:pt x="169243" y="3627076"/>
                </a:lnTo>
                <a:cubicBezTo>
                  <a:pt x="75774" y="3627076"/>
                  <a:pt x="0" y="3550509"/>
                  <a:pt x="0" y="3456054"/>
                </a:cubicBezTo>
                <a:lnTo>
                  <a:pt x="0" y="171022"/>
                </a:lnTo>
                <a:cubicBezTo>
                  <a:pt x="0" y="100183"/>
                  <a:pt x="42622" y="39403"/>
                  <a:pt x="103366" y="1344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6" name="Picture Placeholder 18">
            <a:extLst>
              <a:ext uri="{FF2B5EF4-FFF2-40B4-BE49-F238E27FC236}">
                <a16:creationId xmlns="" xmlns:a16="http://schemas.microsoft.com/office/drawing/2014/main" id="{C0004333-2BB0-4609-BFDF-50B12B6EE9F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 rot="1800000">
            <a:off x="3833075" y="2458532"/>
            <a:ext cx="1669979" cy="3627078"/>
          </a:xfrm>
          <a:custGeom>
            <a:avLst/>
            <a:gdLst>
              <a:gd name="connsiteX0" fmla="*/ 103366 w 1669979"/>
              <a:gd name="connsiteY0" fmla="*/ 13441 h 3627078"/>
              <a:gd name="connsiteX1" fmla="*/ 169243 w 1669979"/>
              <a:gd name="connsiteY1" fmla="*/ 1 h 3627078"/>
              <a:gd name="connsiteX2" fmla="*/ 339995 w 1669979"/>
              <a:gd name="connsiteY2" fmla="*/ 1 h 3627078"/>
              <a:gd name="connsiteX3" fmla="*/ 369664 w 1669979"/>
              <a:gd name="connsiteY3" fmla="*/ 31746 h 3627078"/>
              <a:gd name="connsiteX4" fmla="*/ 476972 w 1669979"/>
              <a:gd name="connsiteY4" fmla="*/ 136704 h 3627078"/>
              <a:gd name="connsiteX5" fmla="*/ 807048 w 1669979"/>
              <a:gd name="connsiteY5" fmla="*/ 136704 h 3627078"/>
              <a:gd name="connsiteX6" fmla="*/ 1193007 w 1669979"/>
              <a:gd name="connsiteY6" fmla="*/ 136704 h 3627078"/>
              <a:gd name="connsiteX7" fmla="*/ 1300313 w 1669979"/>
              <a:gd name="connsiteY7" fmla="*/ 31745 h 3627078"/>
              <a:gd name="connsiteX8" fmla="*/ 1329984 w 1669979"/>
              <a:gd name="connsiteY8" fmla="*/ 0 h 3627078"/>
              <a:gd name="connsiteX9" fmla="*/ 1500737 w 1669979"/>
              <a:gd name="connsiteY9" fmla="*/ 0 h 3627078"/>
              <a:gd name="connsiteX10" fmla="*/ 1669979 w 1669979"/>
              <a:gd name="connsiteY10" fmla="*/ 171023 h 3627078"/>
              <a:gd name="connsiteX11" fmla="*/ 1669978 w 1669979"/>
              <a:gd name="connsiteY11" fmla="*/ 3456054 h 3627078"/>
              <a:gd name="connsiteX12" fmla="*/ 1500736 w 1669979"/>
              <a:gd name="connsiteY12" fmla="*/ 3627078 h 3627078"/>
              <a:gd name="connsiteX13" fmla="*/ 862932 w 1669979"/>
              <a:gd name="connsiteY13" fmla="*/ 3627077 h 3627078"/>
              <a:gd name="connsiteX14" fmla="*/ 169243 w 1669979"/>
              <a:gd name="connsiteY14" fmla="*/ 3627077 h 3627078"/>
              <a:gd name="connsiteX15" fmla="*/ 0 w 1669979"/>
              <a:gd name="connsiteY15" fmla="*/ 3456054 h 3627078"/>
              <a:gd name="connsiteX16" fmla="*/ 0 w 1669979"/>
              <a:gd name="connsiteY16" fmla="*/ 171023 h 3627078"/>
              <a:gd name="connsiteX17" fmla="*/ 103366 w 1669979"/>
              <a:gd name="connsiteY17" fmla="*/ 13441 h 362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9979" h="3627078">
                <a:moveTo>
                  <a:pt x="103366" y="13441"/>
                </a:moveTo>
                <a:cubicBezTo>
                  <a:pt x="123614" y="4787"/>
                  <a:pt x="145875" y="1"/>
                  <a:pt x="169243" y="1"/>
                </a:cubicBezTo>
                <a:lnTo>
                  <a:pt x="339995" y="1"/>
                </a:lnTo>
                <a:cubicBezTo>
                  <a:pt x="356871" y="105"/>
                  <a:pt x="369089" y="13015"/>
                  <a:pt x="369664" y="31746"/>
                </a:cubicBezTo>
                <a:cubicBezTo>
                  <a:pt x="369664" y="92285"/>
                  <a:pt x="417065" y="136704"/>
                  <a:pt x="476972" y="136704"/>
                </a:cubicBezTo>
                <a:lnTo>
                  <a:pt x="807048" y="136704"/>
                </a:lnTo>
                <a:lnTo>
                  <a:pt x="1193007" y="136704"/>
                </a:lnTo>
                <a:cubicBezTo>
                  <a:pt x="1252914" y="136704"/>
                  <a:pt x="1300314" y="92284"/>
                  <a:pt x="1300313" y="31745"/>
                </a:cubicBezTo>
                <a:cubicBezTo>
                  <a:pt x="1300889" y="13015"/>
                  <a:pt x="1313108" y="104"/>
                  <a:pt x="1329984" y="0"/>
                </a:cubicBezTo>
                <a:lnTo>
                  <a:pt x="1500737" y="0"/>
                </a:lnTo>
                <a:cubicBezTo>
                  <a:pt x="1594205" y="1"/>
                  <a:pt x="1669979" y="76570"/>
                  <a:pt x="1669979" y="171023"/>
                </a:cubicBezTo>
                <a:lnTo>
                  <a:pt x="1669978" y="3456054"/>
                </a:lnTo>
                <a:cubicBezTo>
                  <a:pt x="1669979" y="3550508"/>
                  <a:pt x="1594206" y="3627077"/>
                  <a:pt x="1500736" y="3627078"/>
                </a:cubicBezTo>
                <a:lnTo>
                  <a:pt x="862932" y="3627077"/>
                </a:lnTo>
                <a:lnTo>
                  <a:pt x="169243" y="3627077"/>
                </a:lnTo>
                <a:cubicBezTo>
                  <a:pt x="75773" y="3627078"/>
                  <a:pt x="0" y="3550510"/>
                  <a:pt x="0" y="3456054"/>
                </a:cubicBezTo>
                <a:lnTo>
                  <a:pt x="0" y="171023"/>
                </a:lnTo>
                <a:cubicBezTo>
                  <a:pt x="0" y="100183"/>
                  <a:pt x="42623" y="39403"/>
                  <a:pt x="103366" y="1344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7" name="Picture Placeholder 20">
            <a:extLst>
              <a:ext uri="{FF2B5EF4-FFF2-40B4-BE49-F238E27FC236}">
                <a16:creationId xmlns="" xmlns:a16="http://schemas.microsoft.com/office/drawing/2014/main" id="{84A3963D-47F6-48B7-B481-52DA9ECDE8DA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 rot="1800000">
            <a:off x="1037988" y="3153326"/>
            <a:ext cx="1669979" cy="3627077"/>
          </a:xfrm>
          <a:custGeom>
            <a:avLst/>
            <a:gdLst>
              <a:gd name="connsiteX0" fmla="*/ 103367 w 1669979"/>
              <a:gd name="connsiteY0" fmla="*/ 13441 h 3627077"/>
              <a:gd name="connsiteX1" fmla="*/ 169243 w 1669979"/>
              <a:gd name="connsiteY1" fmla="*/ 1 h 3627077"/>
              <a:gd name="connsiteX2" fmla="*/ 339996 w 1669979"/>
              <a:gd name="connsiteY2" fmla="*/ 1 h 3627077"/>
              <a:gd name="connsiteX3" fmla="*/ 369665 w 1669979"/>
              <a:gd name="connsiteY3" fmla="*/ 31745 h 3627077"/>
              <a:gd name="connsiteX4" fmla="*/ 476973 w 1669979"/>
              <a:gd name="connsiteY4" fmla="*/ 136704 h 3627077"/>
              <a:gd name="connsiteX5" fmla="*/ 807048 w 1669979"/>
              <a:gd name="connsiteY5" fmla="*/ 136704 h 3627077"/>
              <a:gd name="connsiteX6" fmla="*/ 1193007 w 1669979"/>
              <a:gd name="connsiteY6" fmla="*/ 136703 h 3627077"/>
              <a:gd name="connsiteX7" fmla="*/ 1300314 w 1669979"/>
              <a:gd name="connsiteY7" fmla="*/ 31745 h 3627077"/>
              <a:gd name="connsiteX8" fmla="*/ 1329985 w 1669979"/>
              <a:gd name="connsiteY8" fmla="*/ 0 h 3627077"/>
              <a:gd name="connsiteX9" fmla="*/ 1500737 w 1669979"/>
              <a:gd name="connsiteY9" fmla="*/ 0 h 3627077"/>
              <a:gd name="connsiteX10" fmla="*/ 1669979 w 1669979"/>
              <a:gd name="connsiteY10" fmla="*/ 171022 h 3627077"/>
              <a:gd name="connsiteX11" fmla="*/ 1669979 w 1669979"/>
              <a:gd name="connsiteY11" fmla="*/ 3456053 h 3627077"/>
              <a:gd name="connsiteX12" fmla="*/ 1500737 w 1669979"/>
              <a:gd name="connsiteY12" fmla="*/ 3627077 h 3627077"/>
              <a:gd name="connsiteX13" fmla="*/ 862931 w 1669979"/>
              <a:gd name="connsiteY13" fmla="*/ 3627077 h 3627077"/>
              <a:gd name="connsiteX14" fmla="*/ 169243 w 1669979"/>
              <a:gd name="connsiteY14" fmla="*/ 3627077 h 3627077"/>
              <a:gd name="connsiteX15" fmla="*/ 0 w 1669979"/>
              <a:gd name="connsiteY15" fmla="*/ 3456054 h 3627077"/>
              <a:gd name="connsiteX16" fmla="*/ 0 w 1669979"/>
              <a:gd name="connsiteY16" fmla="*/ 171023 h 3627077"/>
              <a:gd name="connsiteX17" fmla="*/ 103367 w 1669979"/>
              <a:gd name="connsiteY17" fmla="*/ 13441 h 36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669979" h="3627077">
                <a:moveTo>
                  <a:pt x="103367" y="13441"/>
                </a:moveTo>
                <a:cubicBezTo>
                  <a:pt x="123615" y="4786"/>
                  <a:pt x="145876" y="1"/>
                  <a:pt x="169243" y="1"/>
                </a:cubicBezTo>
                <a:lnTo>
                  <a:pt x="339996" y="1"/>
                </a:lnTo>
                <a:cubicBezTo>
                  <a:pt x="356872" y="104"/>
                  <a:pt x="369089" y="13014"/>
                  <a:pt x="369665" y="31745"/>
                </a:cubicBezTo>
                <a:cubicBezTo>
                  <a:pt x="369665" y="92285"/>
                  <a:pt x="417065" y="136704"/>
                  <a:pt x="476973" y="136704"/>
                </a:cubicBezTo>
                <a:lnTo>
                  <a:pt x="807048" y="136704"/>
                </a:lnTo>
                <a:lnTo>
                  <a:pt x="1193007" y="136703"/>
                </a:lnTo>
                <a:cubicBezTo>
                  <a:pt x="1252914" y="136704"/>
                  <a:pt x="1300314" y="92284"/>
                  <a:pt x="1300314" y="31745"/>
                </a:cubicBezTo>
                <a:cubicBezTo>
                  <a:pt x="1300890" y="13014"/>
                  <a:pt x="1313108" y="104"/>
                  <a:pt x="1329985" y="0"/>
                </a:cubicBezTo>
                <a:lnTo>
                  <a:pt x="1500737" y="0"/>
                </a:lnTo>
                <a:cubicBezTo>
                  <a:pt x="1594206" y="0"/>
                  <a:pt x="1669979" y="76570"/>
                  <a:pt x="1669979" y="171022"/>
                </a:cubicBezTo>
                <a:lnTo>
                  <a:pt x="1669979" y="3456053"/>
                </a:lnTo>
                <a:cubicBezTo>
                  <a:pt x="1669979" y="3550508"/>
                  <a:pt x="1594206" y="3627077"/>
                  <a:pt x="1500737" y="3627077"/>
                </a:cubicBezTo>
                <a:lnTo>
                  <a:pt x="862931" y="3627077"/>
                </a:lnTo>
                <a:lnTo>
                  <a:pt x="169243" y="3627077"/>
                </a:lnTo>
                <a:cubicBezTo>
                  <a:pt x="75774" y="3627077"/>
                  <a:pt x="0" y="3550509"/>
                  <a:pt x="0" y="3456054"/>
                </a:cubicBezTo>
                <a:lnTo>
                  <a:pt x="0" y="171023"/>
                </a:lnTo>
                <a:cubicBezTo>
                  <a:pt x="0" y="100183"/>
                  <a:pt x="42623" y="39403"/>
                  <a:pt x="103367" y="1344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13332176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="" xmlns:a16="http://schemas.microsoft.com/office/drawing/2014/main" id="{0C668B97-E683-4186-B98E-E451C55A893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5816" y="1911237"/>
            <a:ext cx="1810823" cy="3932979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00218" y="14112"/>
                  <a:pt x="400842" y="34422"/>
                </a:cubicBezTo>
                <a:cubicBezTo>
                  <a:pt x="400842" y="100068"/>
                  <a:pt x="452240" y="148233"/>
                  <a:pt x="517200" y="148233"/>
                </a:cubicBezTo>
                <a:lnTo>
                  <a:pt x="875113" y="148233"/>
                </a:lnTo>
                <a:lnTo>
                  <a:pt x="1293623" y="148233"/>
                </a:lnTo>
                <a:cubicBezTo>
                  <a:pt x="1358583" y="148233"/>
                  <a:pt x="1409981" y="100067"/>
                  <a:pt x="1409981" y="34422"/>
                </a:cubicBezTo>
                <a:cubicBezTo>
                  <a:pt x="1410605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="" xmlns:a16="http://schemas.microsoft.com/office/drawing/2014/main" id="{9DFDD9BE-9074-48E6-8EBC-D51C0D87C13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991775" y="1911237"/>
            <a:ext cx="1810823" cy="3932979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00218" y="14112"/>
                  <a:pt x="400842" y="34422"/>
                </a:cubicBezTo>
                <a:cubicBezTo>
                  <a:pt x="400842" y="100068"/>
                  <a:pt x="452240" y="148233"/>
                  <a:pt x="517200" y="148233"/>
                </a:cubicBezTo>
                <a:lnTo>
                  <a:pt x="875113" y="148233"/>
                </a:lnTo>
                <a:lnTo>
                  <a:pt x="1293623" y="148233"/>
                </a:lnTo>
                <a:cubicBezTo>
                  <a:pt x="1358583" y="148233"/>
                  <a:pt x="1409981" y="100067"/>
                  <a:pt x="1409981" y="34422"/>
                </a:cubicBezTo>
                <a:cubicBezTo>
                  <a:pt x="1410605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4" name="Picture Placeholder 43">
            <a:extLst>
              <a:ext uri="{FF2B5EF4-FFF2-40B4-BE49-F238E27FC236}">
                <a16:creationId xmlns="" xmlns:a16="http://schemas.microsoft.com/office/drawing/2014/main" id="{195BD46D-CA7E-4C78-B381-26AA5B9EDB7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189714" y="1911237"/>
            <a:ext cx="1810823" cy="3932979"/>
          </a:xfrm>
          <a:custGeom>
            <a:avLst/>
            <a:gdLst>
              <a:gd name="connsiteX0" fmla="*/ 1442154 w 1810823"/>
              <a:gd name="connsiteY0" fmla="*/ 0 h 3932979"/>
              <a:gd name="connsiteX1" fmla="*/ 1627308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8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8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8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00218" y="14112"/>
                  <a:pt x="400842" y="34422"/>
                </a:cubicBezTo>
                <a:cubicBezTo>
                  <a:pt x="400842" y="100068"/>
                  <a:pt x="452240" y="148233"/>
                  <a:pt x="517200" y="148233"/>
                </a:cubicBezTo>
                <a:lnTo>
                  <a:pt x="875113" y="148233"/>
                </a:lnTo>
                <a:lnTo>
                  <a:pt x="1293623" y="148233"/>
                </a:lnTo>
                <a:cubicBezTo>
                  <a:pt x="1358583" y="148233"/>
                  <a:pt x="1409981" y="100067"/>
                  <a:pt x="1409981" y="34422"/>
                </a:cubicBezTo>
                <a:cubicBezTo>
                  <a:pt x="1410605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="" xmlns:a16="http://schemas.microsoft.com/office/drawing/2014/main" id="{81535A42-43CA-4E9E-98A7-A41836003F7F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389405" y="1911237"/>
            <a:ext cx="1810823" cy="3932979"/>
          </a:xfrm>
          <a:custGeom>
            <a:avLst/>
            <a:gdLst>
              <a:gd name="connsiteX0" fmla="*/ 1442154 w 1810823"/>
              <a:gd name="connsiteY0" fmla="*/ 0 h 3932979"/>
              <a:gd name="connsiteX1" fmla="*/ 1627307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7 w 1810823"/>
              <a:gd name="connsiteY4" fmla="*/ 3932979 h 3932979"/>
              <a:gd name="connsiteX5" fmla="*/ 935710 w 1810823"/>
              <a:gd name="connsiteY5" fmla="*/ 3932979 h 3932979"/>
              <a:gd name="connsiteX6" fmla="*/ 183517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7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7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7" y="3932979"/>
                </a:cubicBezTo>
                <a:lnTo>
                  <a:pt x="935710" y="3932979"/>
                </a:lnTo>
                <a:lnTo>
                  <a:pt x="183517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7" y="1"/>
                </a:cubicBezTo>
                <a:lnTo>
                  <a:pt x="368670" y="1"/>
                </a:lnTo>
                <a:cubicBezTo>
                  <a:pt x="386970" y="113"/>
                  <a:pt x="400218" y="14112"/>
                  <a:pt x="400842" y="34422"/>
                </a:cubicBezTo>
                <a:cubicBezTo>
                  <a:pt x="400842" y="100068"/>
                  <a:pt x="452240" y="148233"/>
                  <a:pt x="517200" y="148233"/>
                </a:cubicBezTo>
                <a:lnTo>
                  <a:pt x="875113" y="148233"/>
                </a:lnTo>
                <a:lnTo>
                  <a:pt x="1293623" y="148233"/>
                </a:lnTo>
                <a:cubicBezTo>
                  <a:pt x="1358583" y="148233"/>
                  <a:pt x="1409981" y="100067"/>
                  <a:pt x="1409981" y="34422"/>
                </a:cubicBezTo>
                <a:cubicBezTo>
                  <a:pt x="1410605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="" xmlns:a16="http://schemas.microsoft.com/office/drawing/2014/main" id="{8E4CD5AE-E441-4A00-921A-6A1ADB2699C9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445365" y="1911237"/>
            <a:ext cx="1810823" cy="3932979"/>
          </a:xfrm>
          <a:custGeom>
            <a:avLst/>
            <a:gdLst>
              <a:gd name="connsiteX0" fmla="*/ 1442154 w 1810823"/>
              <a:gd name="connsiteY0" fmla="*/ 0 h 3932979"/>
              <a:gd name="connsiteX1" fmla="*/ 1627307 w 1810823"/>
              <a:gd name="connsiteY1" fmla="*/ 0 h 3932979"/>
              <a:gd name="connsiteX2" fmla="*/ 1810823 w 1810823"/>
              <a:gd name="connsiteY2" fmla="*/ 185447 h 3932979"/>
              <a:gd name="connsiteX3" fmla="*/ 1810823 w 1810823"/>
              <a:gd name="connsiteY3" fmla="*/ 3747531 h 3932979"/>
              <a:gd name="connsiteX4" fmla="*/ 1627307 w 1810823"/>
              <a:gd name="connsiteY4" fmla="*/ 3932979 h 3932979"/>
              <a:gd name="connsiteX5" fmla="*/ 935710 w 1810823"/>
              <a:gd name="connsiteY5" fmla="*/ 3932979 h 3932979"/>
              <a:gd name="connsiteX6" fmla="*/ 183516 w 1810823"/>
              <a:gd name="connsiteY6" fmla="*/ 3932979 h 3932979"/>
              <a:gd name="connsiteX7" fmla="*/ 0 w 1810823"/>
              <a:gd name="connsiteY7" fmla="*/ 3747533 h 3932979"/>
              <a:gd name="connsiteX8" fmla="*/ 0 w 1810823"/>
              <a:gd name="connsiteY8" fmla="*/ 185447 h 3932979"/>
              <a:gd name="connsiteX9" fmla="*/ 183516 w 1810823"/>
              <a:gd name="connsiteY9" fmla="*/ 1 h 3932979"/>
              <a:gd name="connsiteX10" fmla="*/ 368670 w 1810823"/>
              <a:gd name="connsiteY10" fmla="*/ 1 h 3932979"/>
              <a:gd name="connsiteX11" fmla="*/ 400842 w 1810823"/>
              <a:gd name="connsiteY11" fmla="*/ 34422 h 3932979"/>
              <a:gd name="connsiteX12" fmla="*/ 517200 w 1810823"/>
              <a:gd name="connsiteY12" fmla="*/ 148233 h 3932979"/>
              <a:gd name="connsiteX13" fmla="*/ 875113 w 1810823"/>
              <a:gd name="connsiteY13" fmla="*/ 148233 h 3932979"/>
              <a:gd name="connsiteX14" fmla="*/ 1293623 w 1810823"/>
              <a:gd name="connsiteY14" fmla="*/ 148233 h 3932979"/>
              <a:gd name="connsiteX15" fmla="*/ 1409981 w 1810823"/>
              <a:gd name="connsiteY15" fmla="*/ 34422 h 3932979"/>
              <a:gd name="connsiteX16" fmla="*/ 1442154 w 1810823"/>
              <a:gd name="connsiteY16" fmla="*/ 0 h 3932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810823" h="3932979">
                <a:moveTo>
                  <a:pt x="1442154" y="0"/>
                </a:moveTo>
                <a:lnTo>
                  <a:pt x="1627307" y="0"/>
                </a:lnTo>
                <a:cubicBezTo>
                  <a:pt x="1728659" y="0"/>
                  <a:pt x="1810823" y="83027"/>
                  <a:pt x="1810823" y="185447"/>
                </a:cubicBezTo>
                <a:lnTo>
                  <a:pt x="1810823" y="3747531"/>
                </a:lnTo>
                <a:cubicBezTo>
                  <a:pt x="1810823" y="3849953"/>
                  <a:pt x="1728659" y="3932979"/>
                  <a:pt x="1627307" y="3932979"/>
                </a:cubicBezTo>
                <a:lnTo>
                  <a:pt x="935710" y="3932979"/>
                </a:lnTo>
                <a:lnTo>
                  <a:pt x="183516" y="3932979"/>
                </a:lnTo>
                <a:cubicBezTo>
                  <a:pt x="82165" y="3932979"/>
                  <a:pt x="0" y="3849953"/>
                  <a:pt x="0" y="3747533"/>
                </a:cubicBezTo>
                <a:lnTo>
                  <a:pt x="0" y="185447"/>
                </a:lnTo>
                <a:cubicBezTo>
                  <a:pt x="0" y="83027"/>
                  <a:pt x="82165" y="1"/>
                  <a:pt x="183516" y="1"/>
                </a:cubicBezTo>
                <a:lnTo>
                  <a:pt x="368670" y="1"/>
                </a:lnTo>
                <a:cubicBezTo>
                  <a:pt x="386970" y="113"/>
                  <a:pt x="400218" y="14112"/>
                  <a:pt x="400842" y="34422"/>
                </a:cubicBezTo>
                <a:cubicBezTo>
                  <a:pt x="400842" y="100068"/>
                  <a:pt x="452240" y="148233"/>
                  <a:pt x="517200" y="148233"/>
                </a:cubicBezTo>
                <a:lnTo>
                  <a:pt x="875113" y="148233"/>
                </a:lnTo>
                <a:lnTo>
                  <a:pt x="1293623" y="148233"/>
                </a:lnTo>
                <a:cubicBezTo>
                  <a:pt x="1358583" y="148233"/>
                  <a:pt x="1409981" y="100067"/>
                  <a:pt x="1409981" y="34422"/>
                </a:cubicBezTo>
                <a:cubicBezTo>
                  <a:pt x="1410605" y="14112"/>
                  <a:pt x="1423854" y="112"/>
                  <a:pt x="144215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="" xmlns:a16="http://schemas.microsoft.com/office/drawing/2014/main" id="{452FD703-ADAC-4619-9DBC-D317C636F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040532F-58D8-497A-B356-BA7C8D973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30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33EDCCEC-A0BB-433E-A80A-CD46515A05A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05754" y="2351027"/>
            <a:ext cx="1781262" cy="3170239"/>
          </a:xfrm>
          <a:custGeom>
            <a:avLst/>
            <a:gdLst>
              <a:gd name="connsiteX0" fmla="*/ 0 w 1781262"/>
              <a:gd name="connsiteY0" fmla="*/ 0 h 3170239"/>
              <a:gd name="connsiteX1" fmla="*/ 1781262 w 1781262"/>
              <a:gd name="connsiteY1" fmla="*/ 0 h 3170239"/>
              <a:gd name="connsiteX2" fmla="*/ 1781262 w 1781262"/>
              <a:gd name="connsiteY2" fmla="*/ 3170239 h 3170239"/>
              <a:gd name="connsiteX3" fmla="*/ 0 w 1781262"/>
              <a:gd name="connsiteY3" fmla="*/ 3170239 h 317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262" h="3170239">
                <a:moveTo>
                  <a:pt x="0" y="0"/>
                </a:moveTo>
                <a:lnTo>
                  <a:pt x="1781262" y="0"/>
                </a:lnTo>
                <a:lnTo>
                  <a:pt x="1781262" y="3170239"/>
                </a:lnTo>
                <a:lnTo>
                  <a:pt x="0" y="3170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71C4FA14-9713-4A88-BFE8-F6608E6C4335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57938" y="2351027"/>
            <a:ext cx="1781262" cy="3170239"/>
          </a:xfrm>
          <a:custGeom>
            <a:avLst/>
            <a:gdLst>
              <a:gd name="connsiteX0" fmla="*/ 0 w 1781262"/>
              <a:gd name="connsiteY0" fmla="*/ 0 h 3170239"/>
              <a:gd name="connsiteX1" fmla="*/ 1781262 w 1781262"/>
              <a:gd name="connsiteY1" fmla="*/ 0 h 3170239"/>
              <a:gd name="connsiteX2" fmla="*/ 1781262 w 1781262"/>
              <a:gd name="connsiteY2" fmla="*/ 3170239 h 3170239"/>
              <a:gd name="connsiteX3" fmla="*/ 0 w 1781262"/>
              <a:gd name="connsiteY3" fmla="*/ 3170239 h 317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262" h="3170239">
                <a:moveTo>
                  <a:pt x="0" y="0"/>
                </a:moveTo>
                <a:lnTo>
                  <a:pt x="1781262" y="0"/>
                </a:lnTo>
                <a:lnTo>
                  <a:pt x="1781262" y="3170239"/>
                </a:lnTo>
                <a:lnTo>
                  <a:pt x="0" y="3170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="" xmlns:a16="http://schemas.microsoft.com/office/drawing/2014/main" id="{9A1F0614-13B0-48FB-A0C3-AE68895B9244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553569" y="2351027"/>
            <a:ext cx="1781262" cy="3170239"/>
          </a:xfrm>
          <a:custGeom>
            <a:avLst/>
            <a:gdLst>
              <a:gd name="connsiteX0" fmla="*/ 0 w 1781262"/>
              <a:gd name="connsiteY0" fmla="*/ 0 h 3170239"/>
              <a:gd name="connsiteX1" fmla="*/ 1781262 w 1781262"/>
              <a:gd name="connsiteY1" fmla="*/ 0 h 3170239"/>
              <a:gd name="connsiteX2" fmla="*/ 1781262 w 1781262"/>
              <a:gd name="connsiteY2" fmla="*/ 3170239 h 3170239"/>
              <a:gd name="connsiteX3" fmla="*/ 0 w 1781262"/>
              <a:gd name="connsiteY3" fmla="*/ 3170239 h 3170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81262" h="3170239">
                <a:moveTo>
                  <a:pt x="0" y="0"/>
                </a:moveTo>
                <a:lnTo>
                  <a:pt x="1781262" y="0"/>
                </a:lnTo>
                <a:lnTo>
                  <a:pt x="1781262" y="3170239"/>
                </a:lnTo>
                <a:lnTo>
                  <a:pt x="0" y="31702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="" xmlns:a16="http://schemas.microsoft.com/office/drawing/2014/main" id="{B5BC17C5-DF76-4CCF-B149-574ACF12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040532F-58D8-497A-B356-BA7C8D973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4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F94FE835-1D13-4FE3-A197-1E1EB2911B0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657141" y="2026981"/>
            <a:ext cx="4191437" cy="2636479"/>
          </a:xfrm>
          <a:custGeom>
            <a:avLst/>
            <a:gdLst>
              <a:gd name="connsiteX0" fmla="*/ 0 w 4191437"/>
              <a:gd name="connsiteY0" fmla="*/ 0 h 2636479"/>
              <a:gd name="connsiteX1" fmla="*/ 4191437 w 4191437"/>
              <a:gd name="connsiteY1" fmla="*/ 0 h 2636479"/>
              <a:gd name="connsiteX2" fmla="*/ 4191437 w 4191437"/>
              <a:gd name="connsiteY2" fmla="*/ 2636479 h 2636479"/>
              <a:gd name="connsiteX3" fmla="*/ 0 w 4191437"/>
              <a:gd name="connsiteY3" fmla="*/ 2636479 h 2636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91437" h="2636479">
                <a:moveTo>
                  <a:pt x="0" y="0"/>
                </a:moveTo>
                <a:lnTo>
                  <a:pt x="4191437" y="0"/>
                </a:lnTo>
                <a:lnTo>
                  <a:pt x="4191437" y="2636479"/>
                </a:lnTo>
                <a:lnTo>
                  <a:pt x="0" y="263647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="" xmlns:a16="http://schemas.microsoft.com/office/drawing/2014/main" id="{08A0BD0E-7D09-4CFF-8E05-C8BB4E27A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040532F-58D8-497A-B356-BA7C8D973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328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12F14457-5651-40A9-B54E-A00D66D8029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873000" y="0"/>
            <a:ext cx="7319000" cy="6858000"/>
          </a:xfrm>
          <a:custGeom>
            <a:avLst/>
            <a:gdLst>
              <a:gd name="connsiteX0" fmla="*/ 2071415 w 7319000"/>
              <a:gd name="connsiteY0" fmla="*/ 0 h 6858000"/>
              <a:gd name="connsiteX1" fmla="*/ 7319000 w 7319000"/>
              <a:gd name="connsiteY1" fmla="*/ 0 h 6858000"/>
              <a:gd name="connsiteX2" fmla="*/ 7319000 w 7319000"/>
              <a:gd name="connsiteY2" fmla="*/ 6858000 h 6858000"/>
              <a:gd name="connsiteX3" fmla="*/ 0 w 7319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9000" h="6858000">
                <a:moveTo>
                  <a:pt x="2071415" y="0"/>
                </a:moveTo>
                <a:lnTo>
                  <a:pt x="7319000" y="0"/>
                </a:lnTo>
                <a:lnTo>
                  <a:pt x="7319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825497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0B5F5EAA-233E-4A7B-B5CB-773530AE1C6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63752" y="1599574"/>
            <a:ext cx="3658852" cy="3658852"/>
          </a:xfrm>
          <a:custGeom>
            <a:avLst/>
            <a:gdLst>
              <a:gd name="connsiteX0" fmla="*/ 1829426 w 3658852"/>
              <a:gd name="connsiteY0" fmla="*/ 0 h 3658852"/>
              <a:gd name="connsiteX1" fmla="*/ 3658852 w 3658852"/>
              <a:gd name="connsiteY1" fmla="*/ 1829426 h 3658852"/>
              <a:gd name="connsiteX2" fmla="*/ 1829426 w 3658852"/>
              <a:gd name="connsiteY2" fmla="*/ 3658852 h 3658852"/>
              <a:gd name="connsiteX3" fmla="*/ 0 w 3658852"/>
              <a:gd name="connsiteY3" fmla="*/ 1829426 h 3658852"/>
              <a:gd name="connsiteX4" fmla="*/ 1829426 w 3658852"/>
              <a:gd name="connsiteY4" fmla="*/ 0 h 3658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8852" h="3658852">
                <a:moveTo>
                  <a:pt x="1829426" y="0"/>
                </a:moveTo>
                <a:cubicBezTo>
                  <a:pt x="2839790" y="0"/>
                  <a:pt x="3658852" y="819062"/>
                  <a:pt x="3658852" y="1829426"/>
                </a:cubicBezTo>
                <a:cubicBezTo>
                  <a:pt x="3658852" y="2839790"/>
                  <a:pt x="2839790" y="3658852"/>
                  <a:pt x="1829426" y="3658852"/>
                </a:cubicBezTo>
                <a:cubicBezTo>
                  <a:pt x="819062" y="3658852"/>
                  <a:pt x="0" y="2839790"/>
                  <a:pt x="0" y="1829426"/>
                </a:cubicBezTo>
                <a:cubicBezTo>
                  <a:pt x="0" y="819062"/>
                  <a:pt x="819062" y="0"/>
                  <a:pt x="1829426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0427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CAAA6EAB-A164-4571-B239-A2A05F443E3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193458" y="1"/>
            <a:ext cx="6998543" cy="6857999"/>
          </a:xfrm>
          <a:custGeom>
            <a:avLst/>
            <a:gdLst>
              <a:gd name="connsiteX0" fmla="*/ 1970396 w 6998543"/>
              <a:gd name="connsiteY0" fmla="*/ 0 h 6857999"/>
              <a:gd name="connsiteX1" fmla="*/ 6998543 w 6998543"/>
              <a:gd name="connsiteY1" fmla="*/ 0 h 6857999"/>
              <a:gd name="connsiteX2" fmla="*/ 6998543 w 6998543"/>
              <a:gd name="connsiteY2" fmla="*/ 6857999 h 6857999"/>
              <a:gd name="connsiteX3" fmla="*/ 0 w 6998543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98543" h="6857999">
                <a:moveTo>
                  <a:pt x="1970396" y="0"/>
                </a:moveTo>
                <a:lnTo>
                  <a:pt x="6998543" y="0"/>
                </a:lnTo>
                <a:lnTo>
                  <a:pt x="6998543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2403399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C57CAEE0-C0EA-48D1-AF4B-18A5A44D57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0452" y="903634"/>
            <a:ext cx="7741548" cy="5954366"/>
          </a:xfrm>
          <a:custGeom>
            <a:avLst/>
            <a:gdLst>
              <a:gd name="connsiteX0" fmla="*/ 0 w 8640958"/>
              <a:gd name="connsiteY0" fmla="*/ 0 h 5954366"/>
              <a:gd name="connsiteX1" fmla="*/ 8640958 w 8640958"/>
              <a:gd name="connsiteY1" fmla="*/ 0 h 5954366"/>
              <a:gd name="connsiteX2" fmla="*/ 8640958 w 8640958"/>
              <a:gd name="connsiteY2" fmla="*/ 5954366 h 5954366"/>
              <a:gd name="connsiteX3" fmla="*/ 0 w 8640958"/>
              <a:gd name="connsiteY3" fmla="*/ 5954366 h 5954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40958" h="5954366">
                <a:moveTo>
                  <a:pt x="0" y="0"/>
                </a:moveTo>
                <a:lnTo>
                  <a:pt x="8640958" y="0"/>
                </a:lnTo>
                <a:lnTo>
                  <a:pt x="8640958" y="5954366"/>
                </a:lnTo>
                <a:lnTo>
                  <a:pt x="0" y="595436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>
              <a:defRPr sz="12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ED92D5D-44B8-4D96-AEC4-1B105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768E7328-87B1-429D-83D1-230DDF0566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841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4641B723-1B4B-455B-BACA-6AA0D63697F1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0" y="286545"/>
            <a:ext cx="5448300" cy="6284911"/>
          </a:xfrm>
          <a:custGeom>
            <a:avLst/>
            <a:gdLst>
              <a:gd name="connsiteX0" fmla="*/ 1387559 w 5448300"/>
              <a:gd name="connsiteY0" fmla="*/ 4752351 h 6284911"/>
              <a:gd name="connsiteX1" fmla="*/ 2277673 w 5448300"/>
              <a:gd name="connsiteY1" fmla="*/ 4752351 h 6284911"/>
              <a:gd name="connsiteX2" fmla="*/ 2708522 w 5448300"/>
              <a:gd name="connsiteY2" fmla="*/ 5518632 h 6284911"/>
              <a:gd name="connsiteX3" fmla="*/ 2277673 w 5448300"/>
              <a:gd name="connsiteY3" fmla="*/ 6284911 h 6284911"/>
              <a:gd name="connsiteX4" fmla="*/ 1387559 w 5448300"/>
              <a:gd name="connsiteY4" fmla="*/ 6284911 h 6284911"/>
              <a:gd name="connsiteX5" fmla="*/ 956710 w 5448300"/>
              <a:gd name="connsiteY5" fmla="*/ 5518632 h 6284911"/>
              <a:gd name="connsiteX6" fmla="*/ 17673 w 5448300"/>
              <a:gd name="connsiteY6" fmla="*/ 3968509 h 6284911"/>
              <a:gd name="connsiteX7" fmla="*/ 907789 w 5448300"/>
              <a:gd name="connsiteY7" fmla="*/ 3968509 h 6284911"/>
              <a:gd name="connsiteX8" fmla="*/ 1338636 w 5448300"/>
              <a:gd name="connsiteY8" fmla="*/ 4734790 h 6284911"/>
              <a:gd name="connsiteX9" fmla="*/ 907789 w 5448300"/>
              <a:gd name="connsiteY9" fmla="*/ 5501070 h 6284911"/>
              <a:gd name="connsiteX10" fmla="*/ 17673 w 5448300"/>
              <a:gd name="connsiteY10" fmla="*/ 5501070 h 6284911"/>
              <a:gd name="connsiteX11" fmla="*/ 0 w 5448300"/>
              <a:gd name="connsiteY11" fmla="*/ 5469639 h 6284911"/>
              <a:gd name="connsiteX12" fmla="*/ 0 w 5448300"/>
              <a:gd name="connsiteY12" fmla="*/ 3999940 h 6284911"/>
              <a:gd name="connsiteX13" fmla="*/ 2757447 w 5448300"/>
              <a:gd name="connsiteY13" fmla="*/ 3961356 h 6284911"/>
              <a:gd name="connsiteX14" fmla="*/ 3647563 w 5448300"/>
              <a:gd name="connsiteY14" fmla="*/ 3961356 h 6284911"/>
              <a:gd name="connsiteX15" fmla="*/ 4078410 w 5448300"/>
              <a:gd name="connsiteY15" fmla="*/ 4727636 h 6284911"/>
              <a:gd name="connsiteX16" fmla="*/ 3647563 w 5448300"/>
              <a:gd name="connsiteY16" fmla="*/ 5493916 h 6284911"/>
              <a:gd name="connsiteX17" fmla="*/ 2757447 w 5448300"/>
              <a:gd name="connsiteY17" fmla="*/ 5493916 h 6284911"/>
              <a:gd name="connsiteX18" fmla="*/ 2326599 w 5448300"/>
              <a:gd name="connsiteY18" fmla="*/ 4727636 h 6284911"/>
              <a:gd name="connsiteX19" fmla="*/ 4127337 w 5448300"/>
              <a:gd name="connsiteY19" fmla="*/ 3170360 h 6284911"/>
              <a:gd name="connsiteX20" fmla="*/ 5017453 w 5448300"/>
              <a:gd name="connsiteY20" fmla="*/ 3170360 h 6284911"/>
              <a:gd name="connsiteX21" fmla="*/ 5448300 w 5448300"/>
              <a:gd name="connsiteY21" fmla="*/ 3936641 h 6284911"/>
              <a:gd name="connsiteX22" fmla="*/ 5017453 w 5448300"/>
              <a:gd name="connsiteY22" fmla="*/ 4702921 h 6284911"/>
              <a:gd name="connsiteX23" fmla="*/ 4127337 w 5448300"/>
              <a:gd name="connsiteY23" fmla="*/ 4702921 h 6284911"/>
              <a:gd name="connsiteX24" fmla="*/ 3696489 w 5448300"/>
              <a:gd name="connsiteY24" fmla="*/ 3936641 h 6284911"/>
              <a:gd name="connsiteX25" fmla="*/ 1387559 w 5448300"/>
              <a:gd name="connsiteY25" fmla="*/ 3163979 h 6284911"/>
              <a:gd name="connsiteX26" fmla="*/ 2277674 w 5448300"/>
              <a:gd name="connsiteY26" fmla="*/ 3163979 h 6284911"/>
              <a:gd name="connsiteX27" fmla="*/ 2708523 w 5448300"/>
              <a:gd name="connsiteY27" fmla="*/ 3930260 h 6284911"/>
              <a:gd name="connsiteX28" fmla="*/ 2277674 w 5448300"/>
              <a:gd name="connsiteY28" fmla="*/ 4696539 h 6284911"/>
              <a:gd name="connsiteX29" fmla="*/ 1387559 w 5448300"/>
              <a:gd name="connsiteY29" fmla="*/ 4696539 h 6284911"/>
              <a:gd name="connsiteX30" fmla="*/ 956710 w 5448300"/>
              <a:gd name="connsiteY30" fmla="*/ 3930260 h 6284911"/>
              <a:gd name="connsiteX31" fmla="*/ 2757447 w 5448300"/>
              <a:gd name="connsiteY31" fmla="*/ 2379365 h 6284911"/>
              <a:gd name="connsiteX32" fmla="*/ 3647563 w 5448300"/>
              <a:gd name="connsiteY32" fmla="*/ 2379365 h 6284911"/>
              <a:gd name="connsiteX33" fmla="*/ 4078410 w 5448300"/>
              <a:gd name="connsiteY33" fmla="*/ 3145646 h 6284911"/>
              <a:gd name="connsiteX34" fmla="*/ 3647563 w 5448300"/>
              <a:gd name="connsiteY34" fmla="*/ 3911925 h 6284911"/>
              <a:gd name="connsiteX35" fmla="*/ 2757447 w 5448300"/>
              <a:gd name="connsiteY35" fmla="*/ 3911925 h 6284911"/>
              <a:gd name="connsiteX36" fmla="*/ 2326599 w 5448300"/>
              <a:gd name="connsiteY36" fmla="*/ 3145646 h 6284911"/>
              <a:gd name="connsiteX37" fmla="*/ 17673 w 5448300"/>
              <a:gd name="connsiteY37" fmla="*/ 2366602 h 6284911"/>
              <a:gd name="connsiteX38" fmla="*/ 907789 w 5448300"/>
              <a:gd name="connsiteY38" fmla="*/ 2366602 h 6284911"/>
              <a:gd name="connsiteX39" fmla="*/ 1338637 w 5448300"/>
              <a:gd name="connsiteY39" fmla="*/ 3132884 h 6284911"/>
              <a:gd name="connsiteX40" fmla="*/ 907789 w 5448300"/>
              <a:gd name="connsiteY40" fmla="*/ 3899164 h 6284911"/>
              <a:gd name="connsiteX41" fmla="*/ 17673 w 5448300"/>
              <a:gd name="connsiteY41" fmla="*/ 3899164 h 6284911"/>
              <a:gd name="connsiteX42" fmla="*/ 0 w 5448300"/>
              <a:gd name="connsiteY42" fmla="*/ 3867732 h 6284911"/>
              <a:gd name="connsiteX43" fmla="*/ 0 w 5448300"/>
              <a:gd name="connsiteY43" fmla="*/ 2398034 h 6284911"/>
              <a:gd name="connsiteX44" fmla="*/ 4127334 w 5448300"/>
              <a:gd name="connsiteY44" fmla="*/ 1588372 h 6284911"/>
              <a:gd name="connsiteX45" fmla="*/ 5017450 w 5448300"/>
              <a:gd name="connsiteY45" fmla="*/ 1588372 h 6284911"/>
              <a:gd name="connsiteX46" fmla="*/ 5448298 w 5448300"/>
              <a:gd name="connsiteY46" fmla="*/ 2354651 h 6284911"/>
              <a:gd name="connsiteX47" fmla="*/ 5017450 w 5448300"/>
              <a:gd name="connsiteY47" fmla="*/ 3120930 h 6284911"/>
              <a:gd name="connsiteX48" fmla="*/ 4127334 w 5448300"/>
              <a:gd name="connsiteY48" fmla="*/ 3120930 h 6284911"/>
              <a:gd name="connsiteX49" fmla="*/ 3696486 w 5448300"/>
              <a:gd name="connsiteY49" fmla="*/ 2354651 h 6284911"/>
              <a:gd name="connsiteX50" fmla="*/ 1387558 w 5448300"/>
              <a:gd name="connsiteY50" fmla="*/ 1588372 h 6284911"/>
              <a:gd name="connsiteX51" fmla="*/ 2277672 w 5448300"/>
              <a:gd name="connsiteY51" fmla="*/ 1588372 h 6284911"/>
              <a:gd name="connsiteX52" fmla="*/ 2708521 w 5448300"/>
              <a:gd name="connsiteY52" fmla="*/ 2354651 h 6284911"/>
              <a:gd name="connsiteX53" fmla="*/ 2277672 w 5448300"/>
              <a:gd name="connsiteY53" fmla="*/ 3120930 h 6284911"/>
              <a:gd name="connsiteX54" fmla="*/ 1387558 w 5448300"/>
              <a:gd name="connsiteY54" fmla="*/ 3120930 h 6284911"/>
              <a:gd name="connsiteX55" fmla="*/ 956709 w 5448300"/>
              <a:gd name="connsiteY55" fmla="*/ 2354651 h 6284911"/>
              <a:gd name="connsiteX56" fmla="*/ 2757446 w 5448300"/>
              <a:gd name="connsiteY56" fmla="*/ 794186 h 6284911"/>
              <a:gd name="connsiteX57" fmla="*/ 3647562 w 5448300"/>
              <a:gd name="connsiteY57" fmla="*/ 794186 h 6284911"/>
              <a:gd name="connsiteX58" fmla="*/ 4078409 w 5448300"/>
              <a:gd name="connsiteY58" fmla="*/ 1560466 h 6284911"/>
              <a:gd name="connsiteX59" fmla="*/ 3647562 w 5448300"/>
              <a:gd name="connsiteY59" fmla="*/ 2326744 h 6284911"/>
              <a:gd name="connsiteX60" fmla="*/ 2757446 w 5448300"/>
              <a:gd name="connsiteY60" fmla="*/ 2326744 h 6284911"/>
              <a:gd name="connsiteX61" fmla="*/ 2326598 w 5448300"/>
              <a:gd name="connsiteY61" fmla="*/ 1560466 h 6284911"/>
              <a:gd name="connsiteX62" fmla="*/ 17667 w 5448300"/>
              <a:gd name="connsiteY62" fmla="*/ 794186 h 6284911"/>
              <a:gd name="connsiteX63" fmla="*/ 907782 w 5448300"/>
              <a:gd name="connsiteY63" fmla="*/ 794186 h 6284911"/>
              <a:gd name="connsiteX64" fmla="*/ 1338631 w 5448300"/>
              <a:gd name="connsiteY64" fmla="*/ 1560466 h 6284911"/>
              <a:gd name="connsiteX65" fmla="*/ 907782 w 5448300"/>
              <a:gd name="connsiteY65" fmla="*/ 2326744 h 6284911"/>
              <a:gd name="connsiteX66" fmla="*/ 17667 w 5448300"/>
              <a:gd name="connsiteY66" fmla="*/ 2326744 h 6284911"/>
              <a:gd name="connsiteX67" fmla="*/ 0 w 5448300"/>
              <a:gd name="connsiteY67" fmla="*/ 2295323 h 6284911"/>
              <a:gd name="connsiteX68" fmla="*/ 0 w 5448300"/>
              <a:gd name="connsiteY68" fmla="*/ 825607 h 6284911"/>
              <a:gd name="connsiteX69" fmla="*/ 1387556 w 5448300"/>
              <a:gd name="connsiteY69" fmla="*/ 0 h 6284911"/>
              <a:gd name="connsiteX70" fmla="*/ 2277671 w 5448300"/>
              <a:gd name="connsiteY70" fmla="*/ 0 h 6284911"/>
              <a:gd name="connsiteX71" fmla="*/ 2708520 w 5448300"/>
              <a:gd name="connsiteY71" fmla="*/ 766281 h 6284911"/>
              <a:gd name="connsiteX72" fmla="*/ 2277671 w 5448300"/>
              <a:gd name="connsiteY72" fmla="*/ 1532560 h 6284911"/>
              <a:gd name="connsiteX73" fmla="*/ 1387556 w 5448300"/>
              <a:gd name="connsiteY73" fmla="*/ 1532560 h 6284911"/>
              <a:gd name="connsiteX74" fmla="*/ 956708 w 5448300"/>
              <a:gd name="connsiteY74" fmla="*/ 766281 h 6284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448300" h="6284911">
                <a:moveTo>
                  <a:pt x="1387559" y="4752351"/>
                </a:moveTo>
                <a:lnTo>
                  <a:pt x="2277673" y="4752351"/>
                </a:lnTo>
                <a:lnTo>
                  <a:pt x="2708522" y="5518632"/>
                </a:lnTo>
                <a:lnTo>
                  <a:pt x="2277673" y="6284911"/>
                </a:lnTo>
                <a:lnTo>
                  <a:pt x="1387559" y="6284911"/>
                </a:lnTo>
                <a:lnTo>
                  <a:pt x="956710" y="5518632"/>
                </a:lnTo>
                <a:close/>
                <a:moveTo>
                  <a:pt x="17673" y="3968509"/>
                </a:moveTo>
                <a:lnTo>
                  <a:pt x="907789" y="3968509"/>
                </a:lnTo>
                <a:lnTo>
                  <a:pt x="1338636" y="4734790"/>
                </a:lnTo>
                <a:lnTo>
                  <a:pt x="907789" y="5501070"/>
                </a:lnTo>
                <a:lnTo>
                  <a:pt x="17673" y="5501070"/>
                </a:lnTo>
                <a:lnTo>
                  <a:pt x="0" y="5469639"/>
                </a:lnTo>
                <a:lnTo>
                  <a:pt x="0" y="3999940"/>
                </a:lnTo>
                <a:close/>
                <a:moveTo>
                  <a:pt x="2757447" y="3961356"/>
                </a:moveTo>
                <a:lnTo>
                  <a:pt x="3647563" y="3961356"/>
                </a:lnTo>
                <a:lnTo>
                  <a:pt x="4078410" y="4727636"/>
                </a:lnTo>
                <a:lnTo>
                  <a:pt x="3647563" y="5493916"/>
                </a:lnTo>
                <a:lnTo>
                  <a:pt x="2757447" y="5493916"/>
                </a:lnTo>
                <a:lnTo>
                  <a:pt x="2326599" y="4727636"/>
                </a:lnTo>
                <a:close/>
                <a:moveTo>
                  <a:pt x="4127337" y="3170360"/>
                </a:moveTo>
                <a:lnTo>
                  <a:pt x="5017453" y="3170360"/>
                </a:lnTo>
                <a:lnTo>
                  <a:pt x="5448300" y="3936641"/>
                </a:lnTo>
                <a:lnTo>
                  <a:pt x="5017453" y="4702921"/>
                </a:lnTo>
                <a:lnTo>
                  <a:pt x="4127337" y="4702921"/>
                </a:lnTo>
                <a:lnTo>
                  <a:pt x="3696489" y="3936641"/>
                </a:lnTo>
                <a:close/>
                <a:moveTo>
                  <a:pt x="1387559" y="3163979"/>
                </a:moveTo>
                <a:lnTo>
                  <a:pt x="2277674" y="3163979"/>
                </a:lnTo>
                <a:lnTo>
                  <a:pt x="2708523" y="3930260"/>
                </a:lnTo>
                <a:lnTo>
                  <a:pt x="2277674" y="4696539"/>
                </a:lnTo>
                <a:lnTo>
                  <a:pt x="1387559" y="4696539"/>
                </a:lnTo>
                <a:lnTo>
                  <a:pt x="956710" y="3930260"/>
                </a:lnTo>
                <a:close/>
                <a:moveTo>
                  <a:pt x="2757447" y="2379365"/>
                </a:moveTo>
                <a:lnTo>
                  <a:pt x="3647563" y="2379365"/>
                </a:lnTo>
                <a:lnTo>
                  <a:pt x="4078410" y="3145646"/>
                </a:lnTo>
                <a:lnTo>
                  <a:pt x="3647563" y="3911925"/>
                </a:lnTo>
                <a:lnTo>
                  <a:pt x="2757447" y="3911925"/>
                </a:lnTo>
                <a:lnTo>
                  <a:pt x="2326599" y="3145646"/>
                </a:lnTo>
                <a:close/>
                <a:moveTo>
                  <a:pt x="17673" y="2366602"/>
                </a:moveTo>
                <a:lnTo>
                  <a:pt x="907789" y="2366602"/>
                </a:lnTo>
                <a:lnTo>
                  <a:pt x="1338637" y="3132884"/>
                </a:lnTo>
                <a:lnTo>
                  <a:pt x="907789" y="3899164"/>
                </a:lnTo>
                <a:lnTo>
                  <a:pt x="17673" y="3899164"/>
                </a:lnTo>
                <a:lnTo>
                  <a:pt x="0" y="3867732"/>
                </a:lnTo>
                <a:lnTo>
                  <a:pt x="0" y="2398034"/>
                </a:lnTo>
                <a:close/>
                <a:moveTo>
                  <a:pt x="4127334" y="1588372"/>
                </a:moveTo>
                <a:lnTo>
                  <a:pt x="5017450" y="1588372"/>
                </a:lnTo>
                <a:lnTo>
                  <a:pt x="5448298" y="2354651"/>
                </a:lnTo>
                <a:lnTo>
                  <a:pt x="5017450" y="3120930"/>
                </a:lnTo>
                <a:lnTo>
                  <a:pt x="4127334" y="3120930"/>
                </a:lnTo>
                <a:lnTo>
                  <a:pt x="3696486" y="2354651"/>
                </a:lnTo>
                <a:close/>
                <a:moveTo>
                  <a:pt x="1387558" y="1588372"/>
                </a:moveTo>
                <a:lnTo>
                  <a:pt x="2277672" y="1588372"/>
                </a:lnTo>
                <a:lnTo>
                  <a:pt x="2708521" y="2354651"/>
                </a:lnTo>
                <a:lnTo>
                  <a:pt x="2277672" y="3120930"/>
                </a:lnTo>
                <a:lnTo>
                  <a:pt x="1387558" y="3120930"/>
                </a:lnTo>
                <a:lnTo>
                  <a:pt x="956709" y="2354651"/>
                </a:lnTo>
                <a:close/>
                <a:moveTo>
                  <a:pt x="2757446" y="794186"/>
                </a:moveTo>
                <a:lnTo>
                  <a:pt x="3647562" y="794186"/>
                </a:lnTo>
                <a:lnTo>
                  <a:pt x="4078409" y="1560466"/>
                </a:lnTo>
                <a:lnTo>
                  <a:pt x="3647562" y="2326744"/>
                </a:lnTo>
                <a:lnTo>
                  <a:pt x="2757446" y="2326744"/>
                </a:lnTo>
                <a:lnTo>
                  <a:pt x="2326598" y="1560466"/>
                </a:lnTo>
                <a:close/>
                <a:moveTo>
                  <a:pt x="17667" y="794186"/>
                </a:moveTo>
                <a:lnTo>
                  <a:pt x="907782" y="794186"/>
                </a:lnTo>
                <a:lnTo>
                  <a:pt x="1338631" y="1560466"/>
                </a:lnTo>
                <a:lnTo>
                  <a:pt x="907782" y="2326744"/>
                </a:lnTo>
                <a:lnTo>
                  <a:pt x="17667" y="2326744"/>
                </a:lnTo>
                <a:lnTo>
                  <a:pt x="0" y="2295323"/>
                </a:lnTo>
                <a:lnTo>
                  <a:pt x="0" y="825607"/>
                </a:lnTo>
                <a:close/>
                <a:moveTo>
                  <a:pt x="1387556" y="0"/>
                </a:moveTo>
                <a:lnTo>
                  <a:pt x="2277671" y="0"/>
                </a:lnTo>
                <a:lnTo>
                  <a:pt x="2708520" y="766281"/>
                </a:lnTo>
                <a:lnTo>
                  <a:pt x="2277671" y="1532560"/>
                </a:lnTo>
                <a:lnTo>
                  <a:pt x="1387556" y="1532560"/>
                </a:lnTo>
                <a:lnTo>
                  <a:pt x="956708" y="7662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48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4F6806A0-A64F-4095-BDE3-4C0234A4F1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17419" y="1012590"/>
            <a:ext cx="6435594" cy="4832820"/>
          </a:xfrm>
          <a:custGeom>
            <a:avLst/>
            <a:gdLst>
              <a:gd name="connsiteX0" fmla="*/ 2812994 w 6435594"/>
              <a:gd name="connsiteY0" fmla="*/ 2233 h 4832820"/>
              <a:gd name="connsiteX1" fmla="*/ 4516590 w 6435594"/>
              <a:gd name="connsiteY1" fmla="*/ 490036 h 4832820"/>
              <a:gd name="connsiteX2" fmla="*/ 4595331 w 6435594"/>
              <a:gd name="connsiteY2" fmla="*/ 535497 h 4832820"/>
              <a:gd name="connsiteX3" fmla="*/ 5576319 w 6435594"/>
              <a:gd name="connsiteY3" fmla="*/ 1283017 h 4832820"/>
              <a:gd name="connsiteX4" fmla="*/ 6416449 w 6435594"/>
              <a:gd name="connsiteY4" fmla="*/ 2654727 h 4832820"/>
              <a:gd name="connsiteX5" fmla="*/ 5771365 w 6435594"/>
              <a:gd name="connsiteY5" fmla="*/ 4036545 h 4832820"/>
              <a:gd name="connsiteX6" fmla="*/ 4000087 w 6435594"/>
              <a:gd name="connsiteY6" fmla="*/ 3814752 h 4832820"/>
              <a:gd name="connsiteX7" fmla="*/ 2550246 w 6435594"/>
              <a:gd name="connsiteY7" fmla="*/ 4722409 h 4832820"/>
              <a:gd name="connsiteX8" fmla="*/ 955993 w 6435594"/>
              <a:gd name="connsiteY8" fmla="*/ 4574221 h 4832820"/>
              <a:gd name="connsiteX9" fmla="*/ 611562 w 6435594"/>
              <a:gd name="connsiteY9" fmla="*/ 4327694 h 4832820"/>
              <a:gd name="connsiteX10" fmla="*/ 73597 w 6435594"/>
              <a:gd name="connsiteY10" fmla="*/ 2234241 h 4832820"/>
              <a:gd name="connsiteX11" fmla="*/ 1415119 w 6435594"/>
              <a:gd name="connsiteY11" fmla="*/ 472724 h 4832820"/>
              <a:gd name="connsiteX12" fmla="*/ 2812994 w 6435594"/>
              <a:gd name="connsiteY12" fmla="*/ 2233 h 4832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435594" h="4832820">
                <a:moveTo>
                  <a:pt x="2812994" y="2233"/>
                </a:moveTo>
                <a:cubicBezTo>
                  <a:pt x="3410654" y="-24534"/>
                  <a:pt x="4001194" y="192472"/>
                  <a:pt x="4516590" y="490036"/>
                </a:cubicBezTo>
                <a:cubicBezTo>
                  <a:pt x="4545223" y="506568"/>
                  <a:pt x="4573857" y="523099"/>
                  <a:pt x="4595331" y="535497"/>
                </a:cubicBezTo>
                <a:cubicBezTo>
                  <a:pt x="4949117" y="749290"/>
                  <a:pt x="5275103" y="994701"/>
                  <a:pt x="5576319" y="1283017"/>
                </a:cubicBezTo>
                <a:cubicBezTo>
                  <a:pt x="5972523" y="1654775"/>
                  <a:pt x="6326346" y="2116473"/>
                  <a:pt x="6416449" y="2654727"/>
                </a:cubicBezTo>
                <a:cubicBezTo>
                  <a:pt x="6506551" y="3192982"/>
                  <a:pt x="6276500" y="3822881"/>
                  <a:pt x="5771365" y="4036545"/>
                </a:cubicBezTo>
                <a:cubicBezTo>
                  <a:pt x="5326795" y="4227969"/>
                  <a:pt x="4641795" y="3794349"/>
                  <a:pt x="4000087" y="3814752"/>
                </a:cubicBezTo>
                <a:cubicBezTo>
                  <a:pt x="3361408" y="3846439"/>
                  <a:pt x="2985464" y="4563719"/>
                  <a:pt x="2550246" y="4722409"/>
                </a:cubicBezTo>
                <a:cubicBezTo>
                  <a:pt x="2027767" y="4916523"/>
                  <a:pt x="1428440" y="4846988"/>
                  <a:pt x="955993" y="4574221"/>
                </a:cubicBezTo>
                <a:cubicBezTo>
                  <a:pt x="834302" y="4503962"/>
                  <a:pt x="716740" y="4426554"/>
                  <a:pt x="611562" y="4327694"/>
                </a:cubicBezTo>
                <a:cubicBezTo>
                  <a:pt x="65298" y="3802561"/>
                  <a:pt x="-117898" y="2962673"/>
                  <a:pt x="73597" y="2234241"/>
                </a:cubicBezTo>
                <a:cubicBezTo>
                  <a:pt x="257934" y="1501676"/>
                  <a:pt x="780075" y="878337"/>
                  <a:pt x="1415119" y="472724"/>
                </a:cubicBezTo>
                <a:cubicBezTo>
                  <a:pt x="1834352" y="209467"/>
                  <a:pt x="2315814" y="20274"/>
                  <a:pt x="2812994" y="2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356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="" xmlns:a16="http://schemas.microsoft.com/office/drawing/2014/main" id="{50E12740-4A50-4A1A-91B5-BF6C266770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758334" y="1057089"/>
            <a:ext cx="4290644" cy="4290642"/>
          </a:xfrm>
          <a:custGeom>
            <a:avLst/>
            <a:gdLst>
              <a:gd name="connsiteX0" fmla="*/ 2145322 w 4290644"/>
              <a:gd name="connsiteY0" fmla="*/ 0 h 4290642"/>
              <a:gd name="connsiteX1" fmla="*/ 4290644 w 4290644"/>
              <a:gd name="connsiteY1" fmla="*/ 2145321 h 4290642"/>
              <a:gd name="connsiteX2" fmla="*/ 2145322 w 4290644"/>
              <a:gd name="connsiteY2" fmla="*/ 4290642 h 4290642"/>
              <a:gd name="connsiteX3" fmla="*/ 0 w 4290644"/>
              <a:gd name="connsiteY3" fmla="*/ 2145321 h 4290642"/>
              <a:gd name="connsiteX4" fmla="*/ 2145322 w 4290644"/>
              <a:gd name="connsiteY4" fmla="*/ 0 h 429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90644" h="4290642">
                <a:moveTo>
                  <a:pt x="2145322" y="0"/>
                </a:moveTo>
                <a:cubicBezTo>
                  <a:pt x="3330151" y="0"/>
                  <a:pt x="4290644" y="960493"/>
                  <a:pt x="4290644" y="2145321"/>
                </a:cubicBezTo>
                <a:cubicBezTo>
                  <a:pt x="4290644" y="3330149"/>
                  <a:pt x="3330151" y="4290642"/>
                  <a:pt x="2145322" y="4290642"/>
                </a:cubicBezTo>
                <a:cubicBezTo>
                  <a:pt x="960493" y="4290642"/>
                  <a:pt x="0" y="3330149"/>
                  <a:pt x="0" y="2145321"/>
                </a:cubicBezTo>
                <a:cubicBezTo>
                  <a:pt x="0" y="960493"/>
                  <a:pt x="960493" y="0"/>
                  <a:pt x="2145322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942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="" xmlns:a16="http://schemas.microsoft.com/office/drawing/2014/main" id="{250BF94D-4D14-4E45-8979-B8599E66F4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204362" y="0"/>
            <a:ext cx="4987638" cy="6858002"/>
          </a:xfrm>
          <a:custGeom>
            <a:avLst/>
            <a:gdLst>
              <a:gd name="connsiteX0" fmla="*/ 2016750 w 4987638"/>
              <a:gd name="connsiteY0" fmla="*/ 0 h 6858002"/>
              <a:gd name="connsiteX1" fmla="*/ 4987638 w 4987638"/>
              <a:gd name="connsiteY1" fmla="*/ 0 h 6858002"/>
              <a:gd name="connsiteX2" fmla="*/ 4987638 w 4987638"/>
              <a:gd name="connsiteY2" fmla="*/ 6858002 h 6858002"/>
              <a:gd name="connsiteX3" fmla="*/ 3442855 w 4987638"/>
              <a:gd name="connsiteY3" fmla="*/ 6858002 h 6858002"/>
              <a:gd name="connsiteX4" fmla="*/ 2016754 w 4987638"/>
              <a:gd name="connsiteY4" fmla="*/ 6858002 h 6858002"/>
              <a:gd name="connsiteX5" fmla="*/ 0 w 4987638"/>
              <a:gd name="connsiteY5" fmla="*/ 4849361 h 6858002"/>
              <a:gd name="connsiteX6" fmla="*/ 0 w 4987638"/>
              <a:gd name="connsiteY6" fmla="*/ 2008638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87638" h="6858002">
                <a:moveTo>
                  <a:pt x="2016750" y="0"/>
                </a:moveTo>
                <a:lnTo>
                  <a:pt x="4987638" y="0"/>
                </a:lnTo>
                <a:lnTo>
                  <a:pt x="4987638" y="6858002"/>
                </a:lnTo>
                <a:lnTo>
                  <a:pt x="3442855" y="6858002"/>
                </a:lnTo>
                <a:lnTo>
                  <a:pt x="2016754" y="6858002"/>
                </a:lnTo>
                <a:lnTo>
                  <a:pt x="0" y="4849361"/>
                </a:lnTo>
                <a:lnTo>
                  <a:pt x="0" y="200863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510894" y="301768"/>
            <a:ext cx="681106" cy="331957"/>
          </a:xfrm>
          <a:prstGeom prst="rect">
            <a:avLst/>
          </a:prstGeom>
        </p:spPr>
        <p:txBody>
          <a:bodyPr/>
          <a:lstStyle/>
          <a:p>
            <a:fld id="{F3427122-DD58-4B2A-BC02-A0C1482E4B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605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="" xmlns:a16="http://schemas.microsoft.com/office/drawing/2014/main" id="{2B9B32E9-4D0C-4E6F-8EFA-0A52FC43FAE6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" y="0"/>
            <a:ext cx="4987637" cy="6858001"/>
          </a:xfrm>
          <a:custGeom>
            <a:avLst/>
            <a:gdLst>
              <a:gd name="connsiteX0" fmla="*/ 1544782 w 4987637"/>
              <a:gd name="connsiteY0" fmla="*/ 0 h 6858001"/>
              <a:gd name="connsiteX1" fmla="*/ 2970883 w 4987637"/>
              <a:gd name="connsiteY1" fmla="*/ 0 h 6858001"/>
              <a:gd name="connsiteX2" fmla="*/ 4987637 w 4987637"/>
              <a:gd name="connsiteY2" fmla="*/ 2008641 h 6858001"/>
              <a:gd name="connsiteX3" fmla="*/ 4987637 w 4987637"/>
              <a:gd name="connsiteY3" fmla="*/ 4849361 h 6858001"/>
              <a:gd name="connsiteX4" fmla="*/ 2970883 w 4987637"/>
              <a:gd name="connsiteY4" fmla="*/ 6858001 h 6858001"/>
              <a:gd name="connsiteX5" fmla="*/ 1939636 w 4987637"/>
              <a:gd name="connsiteY5" fmla="*/ 6858001 h 6858001"/>
              <a:gd name="connsiteX6" fmla="*/ 1544782 w 4987637"/>
              <a:gd name="connsiteY6" fmla="*/ 6858001 h 6858001"/>
              <a:gd name="connsiteX7" fmla="*/ 0 w 4987637"/>
              <a:gd name="connsiteY7" fmla="*/ 6858001 h 6858001"/>
              <a:gd name="connsiteX8" fmla="*/ 0 w 4987637"/>
              <a:gd name="connsiteY8" fmla="*/ 1 h 6858001"/>
              <a:gd name="connsiteX9" fmla="*/ 1544782 w 4987637"/>
              <a:gd name="connsiteY9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987637" h="6858001">
                <a:moveTo>
                  <a:pt x="1544782" y="0"/>
                </a:moveTo>
                <a:lnTo>
                  <a:pt x="2970883" y="0"/>
                </a:lnTo>
                <a:lnTo>
                  <a:pt x="4987637" y="2008641"/>
                </a:lnTo>
                <a:lnTo>
                  <a:pt x="4987637" y="4849361"/>
                </a:lnTo>
                <a:lnTo>
                  <a:pt x="2970883" y="6858001"/>
                </a:lnTo>
                <a:lnTo>
                  <a:pt x="1939636" y="6858001"/>
                </a:lnTo>
                <a:lnTo>
                  <a:pt x="1544782" y="6858001"/>
                </a:lnTo>
                <a:lnTo>
                  <a:pt x="0" y="6858001"/>
                </a:lnTo>
                <a:lnTo>
                  <a:pt x="0" y="1"/>
                </a:lnTo>
                <a:lnTo>
                  <a:pt x="1544782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214881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="" xmlns:a16="http://schemas.microsoft.com/office/drawing/2014/main" id="{702F0AF0-810F-4826-81B1-898183639F0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50777" y="2446028"/>
            <a:ext cx="7068479" cy="4411973"/>
          </a:xfrm>
          <a:custGeom>
            <a:avLst/>
            <a:gdLst>
              <a:gd name="connsiteX0" fmla="*/ 4921287 w 7068479"/>
              <a:gd name="connsiteY0" fmla="*/ 0 h 4411973"/>
              <a:gd name="connsiteX1" fmla="*/ 7068479 w 7068479"/>
              <a:gd name="connsiteY1" fmla="*/ 4411973 h 4411973"/>
              <a:gd name="connsiteX2" fmla="*/ 0 w 7068479"/>
              <a:gd name="connsiteY2" fmla="*/ 4411973 h 4411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68479" h="4411973">
                <a:moveTo>
                  <a:pt x="4921287" y="0"/>
                </a:moveTo>
                <a:lnTo>
                  <a:pt x="7068479" y="4411973"/>
                </a:lnTo>
                <a:lnTo>
                  <a:pt x="0" y="441197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82EF23AC-17F6-4926-B465-89F43AF9E1D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" y="1708700"/>
            <a:ext cx="2745420" cy="5126817"/>
          </a:xfrm>
          <a:custGeom>
            <a:avLst/>
            <a:gdLst>
              <a:gd name="connsiteX0" fmla="*/ 0 w 2745420"/>
              <a:gd name="connsiteY0" fmla="*/ 0 h 5126817"/>
              <a:gd name="connsiteX1" fmla="*/ 2745420 w 2745420"/>
              <a:gd name="connsiteY1" fmla="*/ 2647785 h 5126817"/>
              <a:gd name="connsiteX2" fmla="*/ 0 w 2745420"/>
              <a:gd name="connsiteY2" fmla="*/ 5126817 h 5126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45420" h="5126817">
                <a:moveTo>
                  <a:pt x="0" y="0"/>
                </a:moveTo>
                <a:lnTo>
                  <a:pt x="2745420" y="2647785"/>
                </a:lnTo>
                <a:lnTo>
                  <a:pt x="0" y="51268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238FD3D3-7D65-4C8F-A55B-4CFC209BE64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" y="0"/>
            <a:ext cx="7570034" cy="4172414"/>
          </a:xfrm>
          <a:custGeom>
            <a:avLst/>
            <a:gdLst>
              <a:gd name="connsiteX0" fmla="*/ 7570034 w 7570034"/>
              <a:gd name="connsiteY0" fmla="*/ 0 h 4172414"/>
              <a:gd name="connsiteX1" fmla="*/ 2949270 w 7570034"/>
              <a:gd name="connsiteY1" fmla="*/ 4172414 h 4172414"/>
              <a:gd name="connsiteX2" fmla="*/ 0 w 7570034"/>
              <a:gd name="connsiteY2" fmla="*/ 1328029 h 4172414"/>
              <a:gd name="connsiteX3" fmla="*/ 0 w 7570034"/>
              <a:gd name="connsiteY3" fmla="*/ 1 h 4172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70034" h="4172414">
                <a:moveTo>
                  <a:pt x="7570034" y="0"/>
                </a:moveTo>
                <a:lnTo>
                  <a:pt x="2949270" y="4172414"/>
                </a:lnTo>
                <a:lnTo>
                  <a:pt x="0" y="1328029"/>
                </a:lnTo>
                <a:lnTo>
                  <a:pt x="0" y="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03214951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5ABD1865-7B07-46A6-9877-877BB9EC2864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174962" y="1"/>
            <a:ext cx="7017038" cy="6901315"/>
          </a:xfrm>
          <a:custGeom>
            <a:avLst/>
            <a:gdLst>
              <a:gd name="connsiteX0" fmla="*/ 3618268 w 7017038"/>
              <a:gd name="connsiteY0" fmla="*/ 3881895 h 6901315"/>
              <a:gd name="connsiteX1" fmla="*/ 3819612 w 7017038"/>
              <a:gd name="connsiteY1" fmla="*/ 3965294 h 6901315"/>
              <a:gd name="connsiteX2" fmla="*/ 5224488 w 7017038"/>
              <a:gd name="connsiteY2" fmla="*/ 5370170 h 6901315"/>
              <a:gd name="connsiteX3" fmla="*/ 5224488 w 7017038"/>
              <a:gd name="connsiteY3" fmla="*/ 5772858 h 6901315"/>
              <a:gd name="connsiteX4" fmla="*/ 4096031 w 7017038"/>
              <a:gd name="connsiteY4" fmla="*/ 6901315 h 6901315"/>
              <a:gd name="connsiteX5" fmla="*/ 3140504 w 7017038"/>
              <a:gd name="connsiteY5" fmla="*/ 6901315 h 6901315"/>
              <a:gd name="connsiteX6" fmla="*/ 2012048 w 7017038"/>
              <a:gd name="connsiteY6" fmla="*/ 5772858 h 6901315"/>
              <a:gd name="connsiteX7" fmla="*/ 2012048 w 7017038"/>
              <a:gd name="connsiteY7" fmla="*/ 5370170 h 6901315"/>
              <a:gd name="connsiteX8" fmla="*/ 3416924 w 7017038"/>
              <a:gd name="connsiteY8" fmla="*/ 3965294 h 6901315"/>
              <a:gd name="connsiteX9" fmla="*/ 3618268 w 7017038"/>
              <a:gd name="connsiteY9" fmla="*/ 3881895 h 6901315"/>
              <a:gd name="connsiteX10" fmla="*/ 5546918 w 7017038"/>
              <a:gd name="connsiteY10" fmla="*/ 1932228 h 6901315"/>
              <a:gd name="connsiteX11" fmla="*/ 5748261 w 7017038"/>
              <a:gd name="connsiteY11" fmla="*/ 2015628 h 6901315"/>
              <a:gd name="connsiteX12" fmla="*/ 7017038 w 7017038"/>
              <a:gd name="connsiteY12" fmla="*/ 3284402 h 6901315"/>
              <a:gd name="connsiteX13" fmla="*/ 7017038 w 7017038"/>
              <a:gd name="connsiteY13" fmla="*/ 3959291 h 6901315"/>
              <a:gd name="connsiteX14" fmla="*/ 5748261 w 7017038"/>
              <a:gd name="connsiteY14" fmla="*/ 5228068 h 6901315"/>
              <a:gd name="connsiteX15" fmla="*/ 5345573 w 7017038"/>
              <a:gd name="connsiteY15" fmla="*/ 5228067 h 6901315"/>
              <a:gd name="connsiteX16" fmla="*/ 3940697 w 7017038"/>
              <a:gd name="connsiteY16" fmla="*/ 3823192 h 6901315"/>
              <a:gd name="connsiteX17" fmla="*/ 3940697 w 7017038"/>
              <a:gd name="connsiteY17" fmla="*/ 3420503 h 6901315"/>
              <a:gd name="connsiteX18" fmla="*/ 5345573 w 7017038"/>
              <a:gd name="connsiteY18" fmla="*/ 2015628 h 6901315"/>
              <a:gd name="connsiteX19" fmla="*/ 5546918 w 7017038"/>
              <a:gd name="connsiteY19" fmla="*/ 1932228 h 6901315"/>
              <a:gd name="connsiteX20" fmla="*/ 1689620 w 7017038"/>
              <a:gd name="connsiteY20" fmla="*/ 1932227 h 6901315"/>
              <a:gd name="connsiteX21" fmla="*/ 1890965 w 7017038"/>
              <a:gd name="connsiteY21" fmla="*/ 2015626 h 6901315"/>
              <a:gd name="connsiteX22" fmla="*/ 3295840 w 7017038"/>
              <a:gd name="connsiteY22" fmla="*/ 3420502 h 6901315"/>
              <a:gd name="connsiteX23" fmla="*/ 3295840 w 7017038"/>
              <a:gd name="connsiteY23" fmla="*/ 3823191 h 6901315"/>
              <a:gd name="connsiteX24" fmla="*/ 1890965 w 7017038"/>
              <a:gd name="connsiteY24" fmla="*/ 5228066 h 6901315"/>
              <a:gd name="connsiteX25" fmla="*/ 1488276 w 7017038"/>
              <a:gd name="connsiteY25" fmla="*/ 5228066 h 6901315"/>
              <a:gd name="connsiteX26" fmla="*/ 83400 w 7017038"/>
              <a:gd name="connsiteY26" fmla="*/ 3823191 h 6901315"/>
              <a:gd name="connsiteX27" fmla="*/ 83400 w 7017038"/>
              <a:gd name="connsiteY27" fmla="*/ 3420502 h 6901315"/>
              <a:gd name="connsiteX28" fmla="*/ 1488276 w 7017038"/>
              <a:gd name="connsiteY28" fmla="*/ 2015626 h 6901315"/>
              <a:gd name="connsiteX29" fmla="*/ 1689620 w 7017038"/>
              <a:gd name="connsiteY29" fmla="*/ 1932227 h 6901315"/>
              <a:gd name="connsiteX30" fmla="*/ 7017037 w 7017038"/>
              <a:gd name="connsiteY30" fmla="*/ 323146 h 6901315"/>
              <a:gd name="connsiteX31" fmla="*/ 7017037 w 7017038"/>
              <a:gd name="connsiteY31" fmla="*/ 3021212 h 6901315"/>
              <a:gd name="connsiteX32" fmla="*/ 5869347 w 7017038"/>
              <a:gd name="connsiteY32" fmla="*/ 1873524 h 6901315"/>
              <a:gd name="connsiteX33" fmla="*/ 5869347 w 7017038"/>
              <a:gd name="connsiteY33" fmla="*/ 1470835 h 6901315"/>
              <a:gd name="connsiteX34" fmla="*/ 3522621 w 7017038"/>
              <a:gd name="connsiteY34" fmla="*/ 1 h 6901315"/>
              <a:gd name="connsiteX35" fmla="*/ 3713915 w 7017038"/>
              <a:gd name="connsiteY35" fmla="*/ 1 h 6901315"/>
              <a:gd name="connsiteX36" fmla="*/ 3725417 w 7017038"/>
              <a:gd name="connsiteY36" fmla="*/ 3409 h 6901315"/>
              <a:gd name="connsiteX37" fmla="*/ 3819612 w 7017038"/>
              <a:gd name="connsiteY37" fmla="*/ 65958 h 6901315"/>
              <a:gd name="connsiteX38" fmla="*/ 5224489 w 7017038"/>
              <a:gd name="connsiteY38" fmla="*/ 1470834 h 6901315"/>
              <a:gd name="connsiteX39" fmla="*/ 5224489 w 7017038"/>
              <a:gd name="connsiteY39" fmla="*/ 1873524 h 6901315"/>
              <a:gd name="connsiteX40" fmla="*/ 3819612 w 7017038"/>
              <a:gd name="connsiteY40" fmla="*/ 3278399 h 6901315"/>
              <a:gd name="connsiteX41" fmla="*/ 3416924 w 7017038"/>
              <a:gd name="connsiteY41" fmla="*/ 3278399 h 6901315"/>
              <a:gd name="connsiteX42" fmla="*/ 2012049 w 7017038"/>
              <a:gd name="connsiteY42" fmla="*/ 1873524 h 6901315"/>
              <a:gd name="connsiteX43" fmla="*/ 2012048 w 7017038"/>
              <a:gd name="connsiteY43" fmla="*/ 1470835 h 6901315"/>
              <a:gd name="connsiteX44" fmla="*/ 3416924 w 7017038"/>
              <a:gd name="connsiteY44" fmla="*/ 65958 h 6901315"/>
              <a:gd name="connsiteX45" fmla="*/ 3511119 w 7017038"/>
              <a:gd name="connsiteY45" fmla="*/ 3409 h 6901315"/>
              <a:gd name="connsiteX46" fmla="*/ 4016841 w 7017038"/>
              <a:gd name="connsiteY46" fmla="*/ 0 h 6901315"/>
              <a:gd name="connsiteX47" fmla="*/ 7017037 w 7017038"/>
              <a:gd name="connsiteY47" fmla="*/ 0 h 6901315"/>
              <a:gd name="connsiteX48" fmla="*/ 7017037 w 7017038"/>
              <a:gd name="connsiteY48" fmla="*/ 59954 h 6901315"/>
              <a:gd name="connsiteX49" fmla="*/ 5748260 w 7017038"/>
              <a:gd name="connsiteY49" fmla="*/ 1328730 h 6901315"/>
              <a:gd name="connsiteX50" fmla="*/ 5345572 w 7017038"/>
              <a:gd name="connsiteY50" fmla="*/ 1328730 h 6901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017038" h="6901315">
                <a:moveTo>
                  <a:pt x="3618268" y="3881895"/>
                </a:moveTo>
                <a:cubicBezTo>
                  <a:pt x="3691140" y="3881894"/>
                  <a:pt x="3764013" y="3909695"/>
                  <a:pt x="3819612" y="3965294"/>
                </a:cubicBezTo>
                <a:lnTo>
                  <a:pt x="5224488" y="5370170"/>
                </a:lnTo>
                <a:cubicBezTo>
                  <a:pt x="5335688" y="5481369"/>
                  <a:pt x="5335688" y="5661659"/>
                  <a:pt x="5224488" y="5772858"/>
                </a:cubicBezTo>
                <a:lnTo>
                  <a:pt x="4096031" y="6901315"/>
                </a:lnTo>
                <a:lnTo>
                  <a:pt x="3140504" y="6901315"/>
                </a:lnTo>
                <a:lnTo>
                  <a:pt x="2012048" y="5772858"/>
                </a:lnTo>
                <a:cubicBezTo>
                  <a:pt x="1900849" y="5661659"/>
                  <a:pt x="1900849" y="5481369"/>
                  <a:pt x="2012048" y="5370170"/>
                </a:cubicBezTo>
                <a:lnTo>
                  <a:pt x="3416924" y="3965294"/>
                </a:lnTo>
                <a:cubicBezTo>
                  <a:pt x="3472523" y="3909694"/>
                  <a:pt x="3545396" y="3881895"/>
                  <a:pt x="3618268" y="3881895"/>
                </a:cubicBezTo>
                <a:close/>
                <a:moveTo>
                  <a:pt x="5546918" y="1932228"/>
                </a:moveTo>
                <a:cubicBezTo>
                  <a:pt x="5619789" y="1932228"/>
                  <a:pt x="5692662" y="1960028"/>
                  <a:pt x="5748261" y="2015628"/>
                </a:cubicBezTo>
                <a:lnTo>
                  <a:pt x="7017038" y="3284402"/>
                </a:lnTo>
                <a:lnTo>
                  <a:pt x="7017038" y="3959291"/>
                </a:lnTo>
                <a:lnTo>
                  <a:pt x="5748261" y="5228068"/>
                </a:lnTo>
                <a:cubicBezTo>
                  <a:pt x="5637062" y="5339266"/>
                  <a:pt x="5456772" y="5339267"/>
                  <a:pt x="5345573" y="5228067"/>
                </a:cubicBezTo>
                <a:lnTo>
                  <a:pt x="3940697" y="3823192"/>
                </a:lnTo>
                <a:cubicBezTo>
                  <a:pt x="3829497" y="3711992"/>
                  <a:pt x="3829497" y="3531703"/>
                  <a:pt x="3940697" y="3420503"/>
                </a:cubicBezTo>
                <a:lnTo>
                  <a:pt x="5345573" y="2015628"/>
                </a:lnTo>
                <a:cubicBezTo>
                  <a:pt x="5401172" y="1960028"/>
                  <a:pt x="5474045" y="1932228"/>
                  <a:pt x="5546918" y="1932228"/>
                </a:cubicBezTo>
                <a:close/>
                <a:moveTo>
                  <a:pt x="1689620" y="1932227"/>
                </a:moveTo>
                <a:cubicBezTo>
                  <a:pt x="1762493" y="1932226"/>
                  <a:pt x="1835366" y="1960027"/>
                  <a:pt x="1890965" y="2015626"/>
                </a:cubicBezTo>
                <a:lnTo>
                  <a:pt x="3295840" y="3420502"/>
                </a:lnTo>
                <a:cubicBezTo>
                  <a:pt x="3407040" y="3531701"/>
                  <a:pt x="3407040" y="3711991"/>
                  <a:pt x="3295840" y="3823191"/>
                </a:cubicBezTo>
                <a:lnTo>
                  <a:pt x="1890965" y="5228066"/>
                </a:lnTo>
                <a:cubicBezTo>
                  <a:pt x="1779765" y="5339266"/>
                  <a:pt x="1599476" y="5339266"/>
                  <a:pt x="1488276" y="5228066"/>
                </a:cubicBezTo>
                <a:lnTo>
                  <a:pt x="83400" y="3823191"/>
                </a:lnTo>
                <a:cubicBezTo>
                  <a:pt x="-27799" y="3711991"/>
                  <a:pt x="-27799" y="3531701"/>
                  <a:pt x="83400" y="3420502"/>
                </a:cubicBezTo>
                <a:lnTo>
                  <a:pt x="1488276" y="2015626"/>
                </a:lnTo>
                <a:cubicBezTo>
                  <a:pt x="1543876" y="1960028"/>
                  <a:pt x="1616748" y="1932226"/>
                  <a:pt x="1689620" y="1932227"/>
                </a:cubicBezTo>
                <a:close/>
                <a:moveTo>
                  <a:pt x="7017037" y="323146"/>
                </a:moveTo>
                <a:lnTo>
                  <a:pt x="7017037" y="3021212"/>
                </a:lnTo>
                <a:lnTo>
                  <a:pt x="5869347" y="1873524"/>
                </a:lnTo>
                <a:cubicBezTo>
                  <a:pt x="5758147" y="1762324"/>
                  <a:pt x="5758147" y="1582034"/>
                  <a:pt x="5869347" y="1470835"/>
                </a:cubicBezTo>
                <a:close/>
                <a:moveTo>
                  <a:pt x="3522621" y="1"/>
                </a:moveTo>
                <a:lnTo>
                  <a:pt x="3713915" y="1"/>
                </a:lnTo>
                <a:lnTo>
                  <a:pt x="3725417" y="3409"/>
                </a:lnTo>
                <a:cubicBezTo>
                  <a:pt x="3759694" y="17310"/>
                  <a:pt x="3791812" y="38159"/>
                  <a:pt x="3819612" y="65958"/>
                </a:cubicBezTo>
                <a:lnTo>
                  <a:pt x="5224489" y="1470834"/>
                </a:lnTo>
                <a:cubicBezTo>
                  <a:pt x="5335688" y="1582034"/>
                  <a:pt x="5335688" y="1762324"/>
                  <a:pt x="5224489" y="1873524"/>
                </a:cubicBezTo>
                <a:lnTo>
                  <a:pt x="3819612" y="3278399"/>
                </a:lnTo>
                <a:cubicBezTo>
                  <a:pt x="3708413" y="3389597"/>
                  <a:pt x="3528123" y="3389597"/>
                  <a:pt x="3416924" y="3278399"/>
                </a:cubicBezTo>
                <a:lnTo>
                  <a:pt x="2012049" y="1873524"/>
                </a:lnTo>
                <a:cubicBezTo>
                  <a:pt x="1900849" y="1762324"/>
                  <a:pt x="1900849" y="1582034"/>
                  <a:pt x="2012048" y="1470835"/>
                </a:cubicBezTo>
                <a:lnTo>
                  <a:pt x="3416924" y="65958"/>
                </a:lnTo>
                <a:cubicBezTo>
                  <a:pt x="3444724" y="38159"/>
                  <a:pt x="3476842" y="17310"/>
                  <a:pt x="3511119" y="3409"/>
                </a:cubicBezTo>
                <a:close/>
                <a:moveTo>
                  <a:pt x="4016841" y="0"/>
                </a:moveTo>
                <a:lnTo>
                  <a:pt x="7017037" y="0"/>
                </a:lnTo>
                <a:lnTo>
                  <a:pt x="7017037" y="59954"/>
                </a:lnTo>
                <a:lnTo>
                  <a:pt x="5748260" y="1328730"/>
                </a:lnTo>
                <a:cubicBezTo>
                  <a:pt x="5637061" y="1439930"/>
                  <a:pt x="5456771" y="1439930"/>
                  <a:pt x="5345572" y="132873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0598106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="" xmlns:a16="http://schemas.microsoft.com/office/drawing/2014/main" id="{4E0C65B0-F37C-47A1-9967-F1EA4F3BC943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932597" y="-643627"/>
            <a:ext cx="8803241" cy="7129004"/>
          </a:xfrm>
          <a:custGeom>
            <a:avLst/>
            <a:gdLst>
              <a:gd name="connsiteX0" fmla="*/ 3751075 w 8803241"/>
              <a:gd name="connsiteY0" fmla="*/ 5599606 h 7129004"/>
              <a:gd name="connsiteX1" fmla="*/ 4517001 w 8803241"/>
              <a:gd name="connsiteY1" fmla="*/ 6365533 h 7129004"/>
              <a:gd name="connsiteX2" fmla="*/ 3751075 w 8803241"/>
              <a:gd name="connsiteY2" fmla="*/ 7129004 h 7129004"/>
              <a:gd name="connsiteX3" fmla="*/ 2980239 w 8803241"/>
              <a:gd name="connsiteY3" fmla="*/ 6365533 h 7129004"/>
              <a:gd name="connsiteX4" fmla="*/ 2474532 w 8803241"/>
              <a:gd name="connsiteY4" fmla="*/ 4325517 h 7129004"/>
              <a:gd name="connsiteX5" fmla="*/ 3689703 w 8803241"/>
              <a:gd name="connsiteY5" fmla="*/ 5538233 h 7129004"/>
              <a:gd name="connsiteX6" fmla="*/ 2474532 w 8803241"/>
              <a:gd name="connsiteY6" fmla="*/ 6750949 h 7129004"/>
              <a:gd name="connsiteX7" fmla="*/ 1264271 w 8803241"/>
              <a:gd name="connsiteY7" fmla="*/ 5538233 h 7129004"/>
              <a:gd name="connsiteX8" fmla="*/ 1210262 w 8803241"/>
              <a:gd name="connsiteY8" fmla="*/ 3063703 h 7129004"/>
              <a:gd name="connsiteX9" fmla="*/ 2422978 w 8803241"/>
              <a:gd name="connsiteY9" fmla="*/ 4276420 h 7129004"/>
              <a:gd name="connsiteX10" fmla="*/ 1210262 w 8803241"/>
              <a:gd name="connsiteY10" fmla="*/ 5484226 h 7129004"/>
              <a:gd name="connsiteX11" fmla="*/ 0 w 8803241"/>
              <a:gd name="connsiteY11" fmla="*/ 4276420 h 7129004"/>
              <a:gd name="connsiteX12" fmla="*/ 8390819 w 8803241"/>
              <a:gd name="connsiteY12" fmla="*/ 2562906 h 7129004"/>
              <a:gd name="connsiteX13" fmla="*/ 8803241 w 8803241"/>
              <a:gd name="connsiteY13" fmla="*/ 2975327 h 7129004"/>
              <a:gd name="connsiteX14" fmla="*/ 6291887 w 8803241"/>
              <a:gd name="connsiteY14" fmla="*/ 5476861 h 7129004"/>
              <a:gd name="connsiteX15" fmla="*/ 5884375 w 8803241"/>
              <a:gd name="connsiteY15" fmla="*/ 5069349 h 7129004"/>
              <a:gd name="connsiteX16" fmla="*/ 2020378 w 8803241"/>
              <a:gd name="connsiteY16" fmla="*/ 1320731 h 7129004"/>
              <a:gd name="connsiteX17" fmla="*/ 6240335 w 8803241"/>
              <a:gd name="connsiteY17" fmla="*/ 5533323 h 7129004"/>
              <a:gd name="connsiteX18" fmla="*/ 5027619 w 8803241"/>
              <a:gd name="connsiteY18" fmla="*/ 6746039 h 7129004"/>
              <a:gd name="connsiteX19" fmla="*/ 805207 w 8803241"/>
              <a:gd name="connsiteY19" fmla="*/ 2533447 h 7129004"/>
              <a:gd name="connsiteX20" fmla="*/ 3265006 w 8803241"/>
              <a:gd name="connsiteY20" fmla="*/ 24548 h 7129004"/>
              <a:gd name="connsiteX21" fmla="*/ 4480177 w 8803241"/>
              <a:gd name="connsiteY21" fmla="*/ 1237264 h 7129004"/>
              <a:gd name="connsiteX22" fmla="*/ 3265006 w 8803241"/>
              <a:gd name="connsiteY22" fmla="*/ 2449980 h 7129004"/>
              <a:gd name="connsiteX23" fmla="*/ 2052289 w 8803241"/>
              <a:gd name="connsiteY23" fmla="*/ 1237264 h 7129004"/>
              <a:gd name="connsiteX24" fmla="*/ 5823002 w 8803241"/>
              <a:gd name="connsiteY24" fmla="*/ 0 h 7129004"/>
              <a:gd name="connsiteX25" fmla="*/ 8329446 w 8803241"/>
              <a:gd name="connsiteY25" fmla="*/ 2501534 h 7129004"/>
              <a:gd name="connsiteX26" fmla="*/ 5823002 w 8803241"/>
              <a:gd name="connsiteY26" fmla="*/ 5010432 h 7129004"/>
              <a:gd name="connsiteX27" fmla="*/ 3311650 w 8803241"/>
              <a:gd name="connsiteY27" fmla="*/ 2501534 h 712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803241" h="7129004">
                <a:moveTo>
                  <a:pt x="3751075" y="5599606"/>
                </a:moveTo>
                <a:lnTo>
                  <a:pt x="4517001" y="6365533"/>
                </a:lnTo>
                <a:lnTo>
                  <a:pt x="3751075" y="7129004"/>
                </a:lnTo>
                <a:lnTo>
                  <a:pt x="2980239" y="6365533"/>
                </a:lnTo>
                <a:close/>
                <a:moveTo>
                  <a:pt x="2474532" y="4325517"/>
                </a:moveTo>
                <a:lnTo>
                  <a:pt x="3689703" y="5538233"/>
                </a:lnTo>
                <a:lnTo>
                  <a:pt x="2474532" y="6750949"/>
                </a:lnTo>
                <a:lnTo>
                  <a:pt x="1264271" y="5538233"/>
                </a:lnTo>
                <a:close/>
                <a:moveTo>
                  <a:pt x="1210262" y="3063703"/>
                </a:moveTo>
                <a:lnTo>
                  <a:pt x="2422978" y="4276420"/>
                </a:lnTo>
                <a:lnTo>
                  <a:pt x="1210262" y="5484226"/>
                </a:lnTo>
                <a:lnTo>
                  <a:pt x="0" y="4276420"/>
                </a:lnTo>
                <a:close/>
                <a:moveTo>
                  <a:pt x="8390819" y="2562906"/>
                </a:moveTo>
                <a:lnTo>
                  <a:pt x="8803241" y="2975327"/>
                </a:lnTo>
                <a:lnTo>
                  <a:pt x="6291887" y="5476861"/>
                </a:lnTo>
                <a:lnTo>
                  <a:pt x="5884375" y="5069349"/>
                </a:lnTo>
                <a:close/>
                <a:moveTo>
                  <a:pt x="2020378" y="1320731"/>
                </a:moveTo>
                <a:lnTo>
                  <a:pt x="6240335" y="5533323"/>
                </a:lnTo>
                <a:lnTo>
                  <a:pt x="5027619" y="6746039"/>
                </a:lnTo>
                <a:lnTo>
                  <a:pt x="805207" y="2533447"/>
                </a:lnTo>
                <a:close/>
                <a:moveTo>
                  <a:pt x="3265006" y="24548"/>
                </a:moveTo>
                <a:lnTo>
                  <a:pt x="4480177" y="1237264"/>
                </a:lnTo>
                <a:lnTo>
                  <a:pt x="3265006" y="2449980"/>
                </a:lnTo>
                <a:lnTo>
                  <a:pt x="2052289" y="1237264"/>
                </a:lnTo>
                <a:close/>
                <a:moveTo>
                  <a:pt x="5823002" y="0"/>
                </a:moveTo>
                <a:lnTo>
                  <a:pt x="8329446" y="2501534"/>
                </a:lnTo>
                <a:lnTo>
                  <a:pt x="5823002" y="5010432"/>
                </a:lnTo>
                <a:lnTo>
                  <a:pt x="3311650" y="250153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291433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2F8E368A-4027-4D03-AD11-CDC09208CC1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-1375" y="0"/>
            <a:ext cx="5202026" cy="4880610"/>
          </a:xfrm>
          <a:custGeom>
            <a:avLst/>
            <a:gdLst>
              <a:gd name="connsiteX0" fmla="*/ 0 w 5202026"/>
              <a:gd name="connsiteY0" fmla="*/ 0 h 4880610"/>
              <a:gd name="connsiteX1" fmla="*/ 4807210 w 5202026"/>
              <a:gd name="connsiteY1" fmla="*/ 0 h 4880610"/>
              <a:gd name="connsiteX2" fmla="*/ 4941744 w 5202026"/>
              <a:gd name="connsiteY2" fmla="*/ 279276 h 4880610"/>
              <a:gd name="connsiteX3" fmla="*/ 5202026 w 5202026"/>
              <a:gd name="connsiteY3" fmla="*/ 1568499 h 4880610"/>
              <a:gd name="connsiteX4" fmla="*/ 1889915 w 5202026"/>
              <a:gd name="connsiteY4" fmla="*/ 4880610 h 4880610"/>
              <a:gd name="connsiteX5" fmla="*/ 38082 w 5202026"/>
              <a:gd name="connsiteY5" fmla="*/ 4314953 h 4880610"/>
              <a:gd name="connsiteX6" fmla="*/ 0 w 5202026"/>
              <a:gd name="connsiteY6" fmla="*/ 4286476 h 488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02026" h="4880610">
                <a:moveTo>
                  <a:pt x="0" y="0"/>
                </a:moveTo>
                <a:lnTo>
                  <a:pt x="4807210" y="0"/>
                </a:lnTo>
                <a:lnTo>
                  <a:pt x="4941744" y="279276"/>
                </a:lnTo>
                <a:cubicBezTo>
                  <a:pt x="5109346" y="675532"/>
                  <a:pt x="5202026" y="1111192"/>
                  <a:pt x="5202026" y="1568499"/>
                </a:cubicBezTo>
                <a:cubicBezTo>
                  <a:pt x="5202026" y="3397727"/>
                  <a:pt x="3719143" y="4880610"/>
                  <a:pt x="1889915" y="4880610"/>
                </a:cubicBezTo>
                <a:cubicBezTo>
                  <a:pt x="1203955" y="4880610"/>
                  <a:pt x="566699" y="4672080"/>
                  <a:pt x="38082" y="4314953"/>
                </a:cubicBezTo>
                <a:lnTo>
                  <a:pt x="0" y="428647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37615538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="" xmlns:a16="http://schemas.microsoft.com/office/drawing/2014/main" id="{54A38833-4640-469B-8B9B-E749AA71B6B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580199" y="-3450"/>
            <a:ext cx="6611801" cy="6861450"/>
          </a:xfrm>
          <a:custGeom>
            <a:avLst/>
            <a:gdLst>
              <a:gd name="connsiteX0" fmla="*/ 5812105 w 6611801"/>
              <a:gd name="connsiteY0" fmla="*/ 4008437 h 6861450"/>
              <a:gd name="connsiteX1" fmla="*/ 6611801 w 6611801"/>
              <a:gd name="connsiteY1" fmla="*/ 5281517 h 6861450"/>
              <a:gd name="connsiteX2" fmla="*/ 6611801 w 6611801"/>
              <a:gd name="connsiteY2" fmla="*/ 6861450 h 6861450"/>
              <a:gd name="connsiteX3" fmla="*/ 4310087 w 6611801"/>
              <a:gd name="connsiteY3" fmla="*/ 6861450 h 6861450"/>
              <a:gd name="connsiteX4" fmla="*/ 4176981 w 6611801"/>
              <a:gd name="connsiteY4" fmla="*/ 6649551 h 6861450"/>
              <a:gd name="connsiteX5" fmla="*/ 6609143 w 6611801"/>
              <a:gd name="connsiteY5" fmla="*/ 2721029 h 6861450"/>
              <a:gd name="connsiteX6" fmla="*/ 6609143 w 6611801"/>
              <a:gd name="connsiteY6" fmla="*/ 4901157 h 6861450"/>
              <a:gd name="connsiteX7" fmla="*/ 5930585 w 6611801"/>
              <a:gd name="connsiteY7" fmla="*/ 3817058 h 6861450"/>
              <a:gd name="connsiteX8" fmla="*/ 3530033 w 6611801"/>
              <a:gd name="connsiteY8" fmla="*/ 0 h 6861450"/>
              <a:gd name="connsiteX9" fmla="*/ 6609143 w 6611801"/>
              <a:gd name="connsiteY9" fmla="*/ 0 h 6861450"/>
              <a:gd name="connsiteX10" fmla="*/ 6609143 w 6611801"/>
              <a:gd name="connsiteY10" fmla="*/ 2350413 h 6861450"/>
              <a:gd name="connsiteX11" fmla="*/ 5815234 w 6611801"/>
              <a:gd name="connsiteY11" fmla="*/ 3632763 h 6861450"/>
              <a:gd name="connsiteX12" fmla="*/ 5815234 w 6611801"/>
              <a:gd name="connsiteY12" fmla="*/ 3632764 h 6861450"/>
              <a:gd name="connsiteX13" fmla="*/ 5813624 w 6611801"/>
              <a:gd name="connsiteY13" fmla="*/ 3635365 h 6861450"/>
              <a:gd name="connsiteX14" fmla="*/ 3763292 w 6611801"/>
              <a:gd name="connsiteY14" fmla="*/ 371337 h 6861450"/>
              <a:gd name="connsiteX15" fmla="*/ 3770881 w 6611801"/>
              <a:gd name="connsiteY15" fmla="*/ 366587 h 6861450"/>
              <a:gd name="connsiteX16" fmla="*/ 3770881 w 6611801"/>
              <a:gd name="connsiteY16" fmla="*/ 366586 h 6861450"/>
              <a:gd name="connsiteX17" fmla="*/ 3763291 w 6611801"/>
              <a:gd name="connsiteY17" fmla="*/ 371336 h 6861450"/>
              <a:gd name="connsiteX18" fmla="*/ 0 w 6611801"/>
              <a:gd name="connsiteY18" fmla="*/ 0 h 6861450"/>
              <a:gd name="connsiteX19" fmla="*/ 3294166 w 6611801"/>
              <a:gd name="connsiteY19" fmla="*/ 0 h 6861450"/>
              <a:gd name="connsiteX20" fmla="*/ 5696548 w 6611801"/>
              <a:gd name="connsiteY20" fmla="*/ 3824475 h 6861450"/>
              <a:gd name="connsiteX21" fmla="*/ 4061423 w 6611801"/>
              <a:gd name="connsiteY21" fmla="*/ 6465588 h 686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611801" h="6861450">
                <a:moveTo>
                  <a:pt x="5812105" y="4008437"/>
                </a:moveTo>
                <a:lnTo>
                  <a:pt x="6611801" y="5281517"/>
                </a:lnTo>
                <a:lnTo>
                  <a:pt x="6611801" y="6861450"/>
                </a:lnTo>
                <a:lnTo>
                  <a:pt x="4310087" y="6861450"/>
                </a:lnTo>
                <a:lnTo>
                  <a:pt x="4176981" y="6649551"/>
                </a:lnTo>
                <a:close/>
                <a:moveTo>
                  <a:pt x="6609143" y="2721029"/>
                </a:moveTo>
                <a:lnTo>
                  <a:pt x="6609143" y="4901157"/>
                </a:lnTo>
                <a:lnTo>
                  <a:pt x="5930585" y="3817058"/>
                </a:lnTo>
                <a:close/>
                <a:moveTo>
                  <a:pt x="3530033" y="0"/>
                </a:moveTo>
                <a:lnTo>
                  <a:pt x="6609143" y="0"/>
                </a:lnTo>
                <a:lnTo>
                  <a:pt x="6609143" y="2350413"/>
                </a:lnTo>
                <a:lnTo>
                  <a:pt x="5815234" y="3632763"/>
                </a:lnTo>
                <a:lnTo>
                  <a:pt x="5815234" y="3632764"/>
                </a:lnTo>
                <a:lnTo>
                  <a:pt x="5813624" y="3635365"/>
                </a:lnTo>
                <a:lnTo>
                  <a:pt x="3763292" y="371337"/>
                </a:lnTo>
                <a:lnTo>
                  <a:pt x="3770881" y="366587"/>
                </a:lnTo>
                <a:lnTo>
                  <a:pt x="3770881" y="366586"/>
                </a:lnTo>
                <a:lnTo>
                  <a:pt x="3763291" y="371336"/>
                </a:lnTo>
                <a:close/>
                <a:moveTo>
                  <a:pt x="0" y="0"/>
                </a:moveTo>
                <a:lnTo>
                  <a:pt x="3294166" y="0"/>
                </a:lnTo>
                <a:lnTo>
                  <a:pt x="5696548" y="3824475"/>
                </a:lnTo>
                <a:lnTo>
                  <a:pt x="4061423" y="64655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2302371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804BB79E-15C1-44D3-BA12-740C28043D3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519448" y="3429000"/>
            <a:ext cx="7672552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="" xmlns:a16="http://schemas.microsoft.com/office/drawing/2014/main" id="{AE1820C1-9996-4459-8810-F0367B4D818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4519448" cy="3429000"/>
          </a:xfrm>
          <a:custGeom>
            <a:avLst/>
            <a:gdLst>
              <a:gd name="connsiteX0" fmla="*/ 0 w 6096000"/>
              <a:gd name="connsiteY0" fmla="*/ 0 h 3429000"/>
              <a:gd name="connsiteX1" fmla="*/ 6096000 w 6096000"/>
              <a:gd name="connsiteY1" fmla="*/ 0 h 3429000"/>
              <a:gd name="connsiteX2" fmla="*/ 6096000 w 6096000"/>
              <a:gd name="connsiteY2" fmla="*/ 3429000 h 3429000"/>
              <a:gd name="connsiteX3" fmla="*/ 0 w 6096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3429000">
                <a:moveTo>
                  <a:pt x="0" y="0"/>
                </a:moveTo>
                <a:lnTo>
                  <a:pt x="6096000" y="0"/>
                </a:lnTo>
                <a:lnTo>
                  <a:pt x="6096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4284739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615B0B24-D0D7-F64C-BB11-EAA6529F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66FC6353-DF3D-254C-95CB-DFBDD478D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55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4993" r:id="rId2"/>
    <p:sldLayoutId id="2147484994" r:id="rId3"/>
    <p:sldLayoutId id="2147483982" r:id="rId4"/>
    <p:sldLayoutId id="2147483998" r:id="rId5"/>
    <p:sldLayoutId id="2147484014" r:id="rId6"/>
    <p:sldLayoutId id="2147484032" r:id="rId7"/>
    <p:sldLayoutId id="2147484044" r:id="rId8"/>
    <p:sldLayoutId id="2147484045" r:id="rId9"/>
    <p:sldLayoutId id="2147484047" r:id="rId10"/>
    <p:sldLayoutId id="2147484053" r:id="rId11"/>
    <p:sldLayoutId id="2147484064" r:id="rId12"/>
    <p:sldLayoutId id="2147484065" r:id="rId13"/>
    <p:sldLayoutId id="2147484066" r:id="rId14"/>
    <p:sldLayoutId id="2147484068" r:id="rId15"/>
    <p:sldLayoutId id="2147484069" r:id="rId16"/>
    <p:sldLayoutId id="2147484075" r:id="rId17"/>
    <p:sldLayoutId id="2147484077" r:id="rId18"/>
    <p:sldLayoutId id="2147484850" r:id="rId19"/>
    <p:sldLayoutId id="2147484851" r:id="rId20"/>
    <p:sldLayoutId id="2147484853" r:id="rId21"/>
    <p:sldLayoutId id="2147484855" r:id="rId22"/>
    <p:sldLayoutId id="2147484856" r:id="rId23"/>
    <p:sldLayoutId id="2147484857" r:id="rId24"/>
    <p:sldLayoutId id="2147484858" r:id="rId25"/>
    <p:sldLayoutId id="2147484859" r:id="rId26"/>
    <p:sldLayoutId id="2147484860" r:id="rId27"/>
    <p:sldLayoutId id="2147484861" r:id="rId28"/>
    <p:sldLayoutId id="2147484862" r:id="rId29"/>
    <p:sldLayoutId id="2147484863" r:id="rId30"/>
    <p:sldLayoutId id="2147484865" r:id="rId31"/>
    <p:sldLayoutId id="2147484896" r:id="rId3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259492"/>
            <a:ext cx="12191999" cy="651194"/>
            <a:chOff x="0" y="259492"/>
            <a:chExt cx="12191999" cy="651194"/>
          </a:xfrm>
        </p:grpSpPr>
        <p:sp>
          <p:nvSpPr>
            <p:cNvPr id="23" name="TextBox 22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0" y="259492"/>
              <a:ext cx="12191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calculate the value of a property given the projected cash flows?</a:t>
              </a: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910686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/>
          <p:cNvGrpSpPr/>
          <p:nvPr/>
        </p:nvGrpSpPr>
        <p:grpSpPr>
          <a:xfrm>
            <a:off x="3821650" y="2647494"/>
            <a:ext cx="4548700" cy="1563013"/>
            <a:chOff x="2754359" y="2443171"/>
            <a:chExt cx="4548700" cy="1563013"/>
          </a:xfrm>
        </p:grpSpPr>
        <p:sp>
          <p:nvSpPr>
            <p:cNvPr id="30" name="Rectangle 29"/>
            <p:cNvSpPr/>
            <p:nvPr/>
          </p:nvSpPr>
          <p:spPr>
            <a:xfrm>
              <a:off x="2754359" y="2443171"/>
              <a:ext cx="4548700" cy="1563013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uadroTexto 17">
              <a:extLst>
                <a:ext uri="{FF2B5EF4-FFF2-40B4-BE49-F238E27FC236}">
                  <a16:creationId xmlns="" xmlns:a16="http://schemas.microsoft.com/office/drawing/2014/main" id="{96467878-ECDE-4175-949E-A9A63940802F}"/>
                </a:ext>
              </a:extLst>
            </p:cNvPr>
            <p:cNvSpPr txBox="1"/>
            <p:nvPr/>
          </p:nvSpPr>
          <p:spPr>
            <a:xfrm>
              <a:off x="3984374" y="2715316"/>
              <a:ext cx="315136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tx2"/>
                  </a:solidFill>
                </a:rPr>
                <a:t>Necessary to </a:t>
              </a:r>
              <a:r>
                <a:rPr lang="en-US" sz="2000" b="1" dirty="0">
                  <a:solidFill>
                    <a:schemeClr val="tx2"/>
                  </a:solidFill>
                </a:rPr>
                <a:t>calculate the expected return on a real estate </a:t>
              </a:r>
              <a:r>
                <a:rPr lang="en-US" sz="2000" b="1" dirty="0" smtClean="0">
                  <a:solidFill>
                    <a:schemeClr val="tx2"/>
                  </a:solidFill>
                </a:rPr>
                <a:t>investment</a:t>
              </a:r>
              <a:endParaRPr lang="en-US" sz="2000" b="1" dirty="0">
                <a:solidFill>
                  <a:schemeClr val="tx2"/>
                </a:solidFill>
              </a:endParaRPr>
            </a:p>
          </p:txBody>
        </p:sp>
        <p:sp>
          <p:nvSpPr>
            <p:cNvPr id="34" name="Shape 2383"/>
            <p:cNvSpPr>
              <a:spLocks noChangeAspect="1"/>
            </p:cNvSpPr>
            <p:nvPr/>
          </p:nvSpPr>
          <p:spPr>
            <a:xfrm>
              <a:off x="2973659" y="2827470"/>
              <a:ext cx="791415" cy="79135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0732" y="6661"/>
                  </a:moveTo>
                  <a:cubicBezTo>
                    <a:pt x="20540" y="6471"/>
                    <a:pt x="20228" y="6473"/>
                    <a:pt x="20038" y="6667"/>
                  </a:cubicBezTo>
                  <a:cubicBezTo>
                    <a:pt x="19903" y="6804"/>
                    <a:pt x="19870" y="7000"/>
                    <a:pt x="19929" y="7171"/>
                  </a:cubicBezTo>
                  <a:lnTo>
                    <a:pt x="19918" y="7175"/>
                  </a:lnTo>
                  <a:cubicBezTo>
                    <a:pt x="20365" y="8298"/>
                    <a:pt x="20618" y="9518"/>
                    <a:pt x="20618" y="10800"/>
                  </a:cubicBezTo>
                  <a:cubicBezTo>
                    <a:pt x="20618" y="16223"/>
                    <a:pt x="16223" y="20618"/>
                    <a:pt x="10800" y="20618"/>
                  </a:cubicBezTo>
                  <a:cubicBezTo>
                    <a:pt x="5378" y="20618"/>
                    <a:pt x="982" y="16223"/>
                    <a:pt x="982" y="10800"/>
                  </a:cubicBezTo>
                  <a:cubicBezTo>
                    <a:pt x="982" y="5377"/>
                    <a:pt x="5378" y="982"/>
                    <a:pt x="10800" y="982"/>
                  </a:cubicBezTo>
                  <a:cubicBezTo>
                    <a:pt x="13575" y="982"/>
                    <a:pt x="16077" y="2136"/>
                    <a:pt x="17862" y="3989"/>
                  </a:cubicBezTo>
                  <a:lnTo>
                    <a:pt x="17868" y="3982"/>
                  </a:lnTo>
                  <a:cubicBezTo>
                    <a:pt x="18062" y="4157"/>
                    <a:pt x="18359" y="4153"/>
                    <a:pt x="18544" y="3965"/>
                  </a:cubicBezTo>
                  <a:cubicBezTo>
                    <a:pt x="18734" y="3771"/>
                    <a:pt x="18732" y="3461"/>
                    <a:pt x="18539" y="3270"/>
                  </a:cubicBezTo>
                  <a:cubicBezTo>
                    <a:pt x="18520" y="3252"/>
                    <a:pt x="18496" y="3244"/>
                    <a:pt x="18476" y="3230"/>
                  </a:cubicBezTo>
                  <a:cubicBezTo>
                    <a:pt x="16521" y="1241"/>
                    <a:pt x="13810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6764"/>
                    <a:pt x="4835" y="21600"/>
                    <a:pt x="10800" y="21600"/>
                  </a:cubicBezTo>
                  <a:cubicBezTo>
                    <a:pt x="16765" y="21600"/>
                    <a:pt x="21600" y="16764"/>
                    <a:pt x="21600" y="10800"/>
                  </a:cubicBezTo>
                  <a:cubicBezTo>
                    <a:pt x="21600" y="9412"/>
                    <a:pt x="21329" y="8089"/>
                    <a:pt x="20851" y="6869"/>
                  </a:cubicBezTo>
                  <a:cubicBezTo>
                    <a:pt x="20828" y="6794"/>
                    <a:pt x="20793" y="6721"/>
                    <a:pt x="20732" y="6661"/>
                  </a:cubicBezTo>
                  <a:moveTo>
                    <a:pt x="10792" y="13534"/>
                  </a:moveTo>
                  <a:lnTo>
                    <a:pt x="6238" y="8980"/>
                  </a:lnTo>
                  <a:cubicBezTo>
                    <a:pt x="6149" y="8891"/>
                    <a:pt x="6027" y="8836"/>
                    <a:pt x="5891" y="8836"/>
                  </a:cubicBezTo>
                  <a:cubicBezTo>
                    <a:pt x="5620" y="8836"/>
                    <a:pt x="5400" y="9056"/>
                    <a:pt x="5400" y="9327"/>
                  </a:cubicBezTo>
                  <a:cubicBezTo>
                    <a:pt x="5400" y="9463"/>
                    <a:pt x="5455" y="9585"/>
                    <a:pt x="5544" y="9675"/>
                  </a:cubicBezTo>
                  <a:lnTo>
                    <a:pt x="10453" y="14583"/>
                  </a:lnTo>
                  <a:cubicBezTo>
                    <a:pt x="10542" y="14672"/>
                    <a:pt x="10664" y="14727"/>
                    <a:pt x="10800" y="14727"/>
                  </a:cubicBezTo>
                  <a:cubicBezTo>
                    <a:pt x="10940" y="14727"/>
                    <a:pt x="11064" y="14668"/>
                    <a:pt x="11154" y="14574"/>
                  </a:cubicBezTo>
                  <a:lnTo>
                    <a:pt x="11155" y="14576"/>
                  </a:lnTo>
                  <a:lnTo>
                    <a:pt x="19353" y="5988"/>
                  </a:lnTo>
                  <a:cubicBezTo>
                    <a:pt x="19353" y="5989"/>
                    <a:pt x="19354" y="5990"/>
                    <a:pt x="19354" y="5991"/>
                  </a:cubicBezTo>
                  <a:lnTo>
                    <a:pt x="20055" y="5255"/>
                  </a:lnTo>
                  <a:cubicBezTo>
                    <a:pt x="20055" y="5255"/>
                    <a:pt x="20054" y="5254"/>
                    <a:pt x="20054" y="5253"/>
                  </a:cubicBezTo>
                  <a:lnTo>
                    <a:pt x="21464" y="3775"/>
                  </a:lnTo>
                  <a:lnTo>
                    <a:pt x="21463" y="3774"/>
                  </a:lnTo>
                  <a:cubicBezTo>
                    <a:pt x="21547" y="3686"/>
                    <a:pt x="21600" y="3567"/>
                    <a:pt x="21600" y="3436"/>
                  </a:cubicBezTo>
                  <a:cubicBezTo>
                    <a:pt x="21600" y="3166"/>
                    <a:pt x="21380" y="2945"/>
                    <a:pt x="21109" y="2945"/>
                  </a:cubicBezTo>
                  <a:cubicBezTo>
                    <a:pt x="20969" y="2945"/>
                    <a:pt x="20844" y="3005"/>
                    <a:pt x="20755" y="3099"/>
                  </a:cubicBezTo>
                  <a:lnTo>
                    <a:pt x="20754" y="3097"/>
                  </a:lnTo>
                  <a:lnTo>
                    <a:pt x="19493" y="4419"/>
                  </a:lnTo>
                  <a:cubicBezTo>
                    <a:pt x="19492" y="4418"/>
                    <a:pt x="19491" y="4416"/>
                    <a:pt x="19490" y="4415"/>
                  </a:cubicBezTo>
                  <a:lnTo>
                    <a:pt x="18805" y="5133"/>
                  </a:lnTo>
                  <a:cubicBezTo>
                    <a:pt x="18806" y="5134"/>
                    <a:pt x="18807" y="5136"/>
                    <a:pt x="18807" y="5137"/>
                  </a:cubicBezTo>
                  <a:cubicBezTo>
                    <a:pt x="18807" y="5137"/>
                    <a:pt x="10792" y="13534"/>
                    <a:pt x="10792" y="13534"/>
                  </a:cubicBezTo>
                  <a:close/>
                </a:path>
              </a:pathLst>
            </a:custGeom>
            <a:solidFill>
              <a:schemeClr val="tx1"/>
            </a:solidFill>
            <a:ln w="12700">
              <a:miter lim="400000"/>
            </a:ln>
          </p:spPr>
          <p:txBody>
            <a:bodyPr lIns="19049" tIns="19049" rIns="19049" bIns="19049" anchor="ctr"/>
            <a:lstStyle/>
            <a:p>
              <a:pPr marL="0" marR="0" lvl="0" indent="0" algn="ctr" defTabSz="22858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Gill Sans"/>
                  <a:ea typeface="Gill Sans"/>
                  <a:cs typeface="Gill Sans"/>
                  <a:sym typeface="Gill Sans"/>
                </a:defRPr>
              </a:pPr>
              <a:endParaRPr kumimoji="0" sz="1562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LnTx/>
                <a:uFillTx/>
                <a:latin typeface="Arial"/>
                <a:ea typeface="Arial"/>
                <a:cs typeface="Arial"/>
                <a:sym typeface="Gill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122032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/>
          <p:cNvSpPr/>
          <p:nvPr/>
        </p:nvSpPr>
        <p:spPr>
          <a:xfrm>
            <a:off x="1737967" y="1419406"/>
            <a:ext cx="5268035" cy="696039"/>
          </a:xfrm>
          <a:prstGeom prst="rect">
            <a:avLst/>
          </a:prstGeom>
          <a:solidFill>
            <a:schemeClr val="tx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Return</a:t>
            </a:r>
            <a:r>
              <a:rPr lang="en-US" sz="2000" dirty="0">
                <a:solidFill>
                  <a:schemeClr val="tx2"/>
                </a:solidFill>
              </a:rPr>
              <a:t>:  Purchase at time 0 and Sale at time 1</a:t>
            </a:r>
          </a:p>
        </p:txBody>
      </p:sp>
      <p:sp>
        <p:nvSpPr>
          <p:cNvPr id="31" name="Rectángulo 4">
            <a:extLst>
              <a:ext uri="{FF2B5EF4-FFF2-40B4-BE49-F238E27FC236}">
                <a16:creationId xmlns="" xmlns:a16="http://schemas.microsoft.com/office/drawing/2014/main" id="{715B31F4-850C-45C6-A9FF-8618E1549E93}"/>
              </a:ext>
            </a:extLst>
          </p:cNvPr>
          <p:cNvSpPr/>
          <p:nvPr/>
        </p:nvSpPr>
        <p:spPr>
          <a:xfrm>
            <a:off x="1378270" y="2726117"/>
            <a:ext cx="205431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Change in price of an investment over time</a:t>
            </a:r>
            <a:endParaRPr lang="es-PE" sz="2000" dirty="0"/>
          </a:p>
        </p:txBody>
      </p:sp>
      <p:sp>
        <p:nvSpPr>
          <p:cNvPr id="32" name="Flecha: a la derecha 5">
            <a:extLst>
              <a:ext uri="{FF2B5EF4-FFF2-40B4-BE49-F238E27FC236}">
                <a16:creationId xmlns="" xmlns:a16="http://schemas.microsoft.com/office/drawing/2014/main" id="{F74CB1B6-84AD-4A59-8646-95C62BD577F9}"/>
              </a:ext>
            </a:extLst>
          </p:cNvPr>
          <p:cNvSpPr/>
          <p:nvPr/>
        </p:nvSpPr>
        <p:spPr>
          <a:xfrm rot="5400000">
            <a:off x="2100092" y="2189949"/>
            <a:ext cx="610670" cy="461665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7" name="CuadroTexto 11">
            <a:extLst>
              <a:ext uri="{FF2B5EF4-FFF2-40B4-BE49-F238E27FC236}">
                <a16:creationId xmlns="" xmlns:a16="http://schemas.microsoft.com/office/drawing/2014/main" id="{6C0FC034-7E86-478D-A533-D519BF08A13F}"/>
              </a:ext>
            </a:extLst>
          </p:cNvPr>
          <p:cNvSpPr txBox="1"/>
          <p:nvPr/>
        </p:nvSpPr>
        <p:spPr>
          <a:xfrm>
            <a:off x="3998085" y="2438854"/>
            <a:ext cx="3142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Positive</a:t>
            </a:r>
            <a:r>
              <a:rPr lang="en-US" sz="2000" dirty="0"/>
              <a:t>: Investment has been profitable</a:t>
            </a:r>
            <a:endParaRPr lang="es-PE" sz="2000" dirty="0"/>
          </a:p>
        </p:txBody>
      </p:sp>
      <p:sp>
        <p:nvSpPr>
          <p:cNvPr id="38" name="CuadroTexto 12">
            <a:extLst>
              <a:ext uri="{FF2B5EF4-FFF2-40B4-BE49-F238E27FC236}">
                <a16:creationId xmlns="" xmlns:a16="http://schemas.microsoft.com/office/drawing/2014/main" id="{8CFB30A6-0EDE-4DD6-BEDC-FA898BEFB96E}"/>
              </a:ext>
            </a:extLst>
          </p:cNvPr>
          <p:cNvSpPr txBox="1"/>
          <p:nvPr/>
        </p:nvSpPr>
        <p:spPr>
          <a:xfrm>
            <a:off x="3998086" y="3321155"/>
            <a:ext cx="3142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Negative</a:t>
            </a:r>
            <a:r>
              <a:rPr lang="en-US" sz="2000" dirty="0"/>
              <a:t>: investment has resulted in a loss of money</a:t>
            </a:r>
            <a:endParaRPr lang="es-PE" sz="2000" dirty="0"/>
          </a:p>
        </p:txBody>
      </p:sp>
      <p:sp>
        <p:nvSpPr>
          <p:cNvPr id="40" name="Abrir llave 1">
            <a:extLst>
              <a:ext uri="{FF2B5EF4-FFF2-40B4-BE49-F238E27FC236}">
                <a16:creationId xmlns:a16="http://schemas.microsoft.com/office/drawing/2014/main" xmlns="" id="{658A1BD8-D363-4331-AFE6-5954C635B694}"/>
              </a:ext>
            </a:extLst>
          </p:cNvPr>
          <p:cNvSpPr/>
          <p:nvPr/>
        </p:nvSpPr>
        <p:spPr>
          <a:xfrm>
            <a:off x="3697667" y="2438854"/>
            <a:ext cx="198210" cy="1590187"/>
          </a:xfrm>
          <a:prstGeom prst="leftBrace">
            <a:avLst>
              <a:gd name="adj1" fmla="val 42717"/>
              <a:gd name="adj2" fmla="val 50134"/>
            </a:avLst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2918497" y="4352450"/>
            <a:ext cx="2906973" cy="1153730"/>
            <a:chOff x="3000385" y="4722852"/>
            <a:chExt cx="2906973" cy="1153730"/>
          </a:xfrm>
        </p:grpSpPr>
        <p:sp>
          <p:nvSpPr>
            <p:cNvPr id="56" name="Rectangle 55"/>
            <p:cNvSpPr/>
            <p:nvPr/>
          </p:nvSpPr>
          <p:spPr>
            <a:xfrm>
              <a:off x="3000385" y="4722852"/>
              <a:ext cx="2906973" cy="1153730"/>
            </a:xfrm>
            <a:prstGeom prst="rect">
              <a:avLst/>
            </a:prstGeom>
            <a:solidFill>
              <a:schemeClr val="tx1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202247" y="4931155"/>
                  <a:ext cx="2503249" cy="73712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($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𝑂𝑢𝑡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−$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𝐼𝑛</m:t>
                            </m:r>
                            <m:r>
                              <a:rPr lang="en-US" sz="2400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$</m:t>
                            </m:r>
                            <m:r>
                              <a:rPr lang="en-US" sz="24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𝐼𝑛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247" y="4931155"/>
                  <a:ext cx="2503249" cy="73712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/>
          <p:cNvGrpSpPr/>
          <p:nvPr/>
        </p:nvGrpSpPr>
        <p:grpSpPr>
          <a:xfrm>
            <a:off x="0" y="259492"/>
            <a:ext cx="12191999" cy="651194"/>
            <a:chOff x="0" y="259492"/>
            <a:chExt cx="12191999" cy="651194"/>
          </a:xfrm>
        </p:grpSpPr>
        <p:sp>
          <p:nvSpPr>
            <p:cNvPr id="66" name="TextBox 65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0" y="259492"/>
              <a:ext cx="12191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calculate the value of a property given the projected cash flows?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910686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926071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31" grpId="0"/>
      <p:bldP spid="32" grpId="0" animBg="1"/>
      <p:bldP spid="37" grpId="0"/>
      <p:bldP spid="38" grpId="0"/>
      <p:bldP spid="4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787995" y="1221293"/>
            <a:ext cx="6692421" cy="1405719"/>
            <a:chOff x="1750395" y="2176818"/>
            <a:chExt cx="6692421" cy="1405719"/>
          </a:xfrm>
        </p:grpSpPr>
        <p:sp>
          <p:nvSpPr>
            <p:cNvPr id="10" name="Rectangle 9"/>
            <p:cNvSpPr/>
            <p:nvPr/>
          </p:nvSpPr>
          <p:spPr>
            <a:xfrm>
              <a:off x="2098850" y="2176818"/>
              <a:ext cx="6343966" cy="1405719"/>
            </a:xfrm>
            <a:prstGeom prst="rect">
              <a:avLst/>
            </a:prstGeom>
            <a:noFill/>
            <a:ln w="28575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 bwMode="auto">
            <a:xfrm>
              <a:off x="1750395" y="2531221"/>
              <a:ext cx="696913" cy="696912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/>
              <a:r>
                <a:rPr lang="en-US" sz="2800" b="1" dirty="0" smtClean="0">
                  <a:solidFill>
                    <a:srgbClr val="FFFFFF"/>
                  </a:solidFill>
                </a:rPr>
                <a:t>1</a:t>
              </a:r>
              <a:endParaRPr lang="en-US" sz="28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9" name="Group 8"/>
            <p:cNvGrpSpPr/>
            <p:nvPr/>
          </p:nvGrpSpPr>
          <p:grpSpPr>
            <a:xfrm>
              <a:off x="2772274" y="2406822"/>
              <a:ext cx="5206989" cy="945711"/>
              <a:chOff x="2966519" y="2328482"/>
              <a:chExt cx="5206989" cy="945711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6297218" y="2328482"/>
                <a:ext cx="1876290" cy="945711"/>
                <a:chOff x="7614228" y="2624089"/>
                <a:chExt cx="1876290" cy="945711"/>
              </a:xfrm>
            </p:grpSpPr>
            <p:sp>
              <p:nvSpPr>
                <p:cNvPr id="62" name="Rectangle 61"/>
                <p:cNvSpPr/>
                <p:nvPr/>
              </p:nvSpPr>
              <p:spPr>
                <a:xfrm>
                  <a:off x="7614228" y="2624089"/>
                  <a:ext cx="1876290" cy="945711"/>
                </a:xfrm>
                <a:prstGeom prst="rect">
                  <a:avLst/>
                </a:prstGeom>
                <a:solidFill>
                  <a:schemeClr val="tx1">
                    <a:lumMod val="20000"/>
                    <a:lumOff val="8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4" name="Group 3"/>
                <p:cNvGrpSpPr/>
                <p:nvPr/>
              </p:nvGrpSpPr>
              <p:grpSpPr>
                <a:xfrm>
                  <a:off x="7802613" y="2801989"/>
                  <a:ext cx="1499521" cy="589910"/>
                  <a:chOff x="8027182" y="2944225"/>
                  <a:chExt cx="1499521" cy="589910"/>
                </a:xfrm>
              </p:grpSpPr>
              <p:sp>
                <p:nvSpPr>
                  <p:cNvPr id="48" name="Rectángulo 10">
                    <a:extLst>
                      <a:ext uri="{FF2B5EF4-FFF2-40B4-BE49-F238E27FC236}">
                        <a16:creationId xmlns="" xmlns:a16="http://schemas.microsoft.com/office/drawing/2014/main" id="{55511CFB-18CD-4782-8916-3E507E223E67}"/>
                      </a:ext>
                    </a:extLst>
                  </p:cNvPr>
                  <p:cNvSpPr/>
                  <p:nvPr/>
                </p:nvSpPr>
                <p:spPr>
                  <a:xfrm>
                    <a:off x="8027182" y="3039125"/>
                    <a:ext cx="1097280" cy="40011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000" b="1" dirty="0"/>
                      <a:t>Return</a:t>
                    </a:r>
                    <a:endParaRPr lang="es-PE" sz="2400" b="1" dirty="0"/>
                  </a:p>
                </p:txBody>
              </p:sp>
              <p:sp>
                <p:nvSpPr>
                  <p:cNvPr id="58" name="Shape 2760"/>
                  <p:cNvSpPr>
                    <a:spLocks noChangeAspect="1"/>
                  </p:cNvSpPr>
                  <p:nvPr/>
                </p:nvSpPr>
                <p:spPr>
                  <a:xfrm>
                    <a:off x="9124462" y="2944225"/>
                    <a:ext cx="402241" cy="5899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0800" y="20415"/>
                        </a:moveTo>
                        <a:lnTo>
                          <a:pt x="2459" y="14727"/>
                        </a:lnTo>
                        <a:lnTo>
                          <a:pt x="8640" y="14727"/>
                        </a:lnTo>
                        <a:lnTo>
                          <a:pt x="8640" y="1964"/>
                        </a:lnTo>
                        <a:cubicBezTo>
                          <a:pt x="8640" y="1422"/>
                          <a:pt x="9285" y="982"/>
                          <a:pt x="10080" y="982"/>
                        </a:cubicBezTo>
                        <a:lnTo>
                          <a:pt x="11520" y="982"/>
                        </a:lnTo>
                        <a:cubicBezTo>
                          <a:pt x="12315" y="982"/>
                          <a:pt x="12960" y="1422"/>
                          <a:pt x="12960" y="1964"/>
                        </a:cubicBezTo>
                        <a:lnTo>
                          <a:pt x="12960" y="14727"/>
                        </a:lnTo>
                        <a:lnTo>
                          <a:pt x="19142" y="14727"/>
                        </a:lnTo>
                        <a:cubicBezTo>
                          <a:pt x="19142" y="14727"/>
                          <a:pt x="10800" y="20415"/>
                          <a:pt x="10800" y="20415"/>
                        </a:cubicBezTo>
                        <a:close/>
                        <a:moveTo>
                          <a:pt x="20880" y="13745"/>
                        </a:moveTo>
                        <a:lnTo>
                          <a:pt x="14400" y="13745"/>
                        </a:lnTo>
                        <a:lnTo>
                          <a:pt x="14400" y="1964"/>
                        </a:lnTo>
                        <a:cubicBezTo>
                          <a:pt x="14400" y="879"/>
                          <a:pt x="13110" y="0"/>
                          <a:pt x="11520" y="0"/>
                        </a:cubicBezTo>
                        <a:lnTo>
                          <a:pt x="10080" y="0"/>
                        </a:lnTo>
                        <a:cubicBezTo>
                          <a:pt x="8490" y="0"/>
                          <a:pt x="7200" y="879"/>
                          <a:pt x="7200" y="1964"/>
                        </a:cubicBezTo>
                        <a:lnTo>
                          <a:pt x="7200" y="13745"/>
                        </a:lnTo>
                        <a:lnTo>
                          <a:pt x="720" y="13745"/>
                        </a:lnTo>
                        <a:cubicBezTo>
                          <a:pt x="323" y="13745"/>
                          <a:pt x="0" y="13966"/>
                          <a:pt x="0" y="14236"/>
                        </a:cubicBezTo>
                        <a:cubicBezTo>
                          <a:pt x="0" y="14373"/>
                          <a:pt x="81" y="14495"/>
                          <a:pt x="212" y="14584"/>
                        </a:cubicBezTo>
                        <a:lnTo>
                          <a:pt x="10290" y="21456"/>
                        </a:lnTo>
                        <a:cubicBezTo>
                          <a:pt x="10421" y="21545"/>
                          <a:pt x="10601" y="21600"/>
                          <a:pt x="10800" y="21600"/>
                        </a:cubicBezTo>
                        <a:cubicBezTo>
                          <a:pt x="10999" y="21600"/>
                          <a:pt x="11179" y="21545"/>
                          <a:pt x="11310" y="21456"/>
                        </a:cubicBezTo>
                        <a:lnTo>
                          <a:pt x="21388" y="14584"/>
                        </a:lnTo>
                        <a:cubicBezTo>
                          <a:pt x="21519" y="14495"/>
                          <a:pt x="21600" y="14373"/>
                          <a:pt x="21600" y="14236"/>
                        </a:cubicBezTo>
                        <a:cubicBezTo>
                          <a:pt x="21600" y="13966"/>
                          <a:pt x="21277" y="13745"/>
                          <a:pt x="20880" y="13745"/>
                        </a:cubicBezTo>
                      </a:path>
                    </a:pathLst>
                  </a:custGeom>
                  <a:solidFill>
                    <a:schemeClr val="accent2"/>
                  </a:solidFill>
                  <a:ln w="12700">
                    <a:miter lim="400000"/>
                  </a:ln>
                </p:spPr>
                <p:txBody>
                  <a:bodyPr lIns="19049" tIns="19049" rIns="19049" bIns="19049" anchor="ctr"/>
                  <a:lstStyle/>
                  <a:p>
                    <a:pPr marL="0" marR="0" lvl="0" indent="0" algn="ctr" defTabSz="228580" rtl="0" eaLnBrk="1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3000">
                        <a:solidFill>
                          <a:srgbClr val="FFFFFF"/>
                        </a:solidFill>
                        <a:effectLst>
                          <a:outerShdw blurRad="38100" dist="12700" dir="5400000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kumimoji="0" sz="1562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LnTx/>
                      <a:uFillTx/>
                      <a:latin typeface="Arial"/>
                      <a:ea typeface="Arial"/>
                      <a:cs typeface="Arial"/>
                      <a:sym typeface="Gill Sans"/>
                    </a:endParaRPr>
                  </a:p>
                </p:txBody>
              </p:sp>
            </p:grpSp>
          </p:grpSp>
          <p:grpSp>
            <p:nvGrpSpPr>
              <p:cNvPr id="6" name="Group 5"/>
              <p:cNvGrpSpPr/>
              <p:nvPr/>
            </p:nvGrpSpPr>
            <p:grpSpPr>
              <a:xfrm>
                <a:off x="2966519" y="2328482"/>
                <a:ext cx="1876290" cy="945711"/>
                <a:chOff x="3880918" y="2624089"/>
                <a:chExt cx="1876290" cy="945711"/>
              </a:xfrm>
            </p:grpSpPr>
            <p:sp>
              <p:nvSpPr>
                <p:cNvPr id="61" name="Rectangle 60"/>
                <p:cNvSpPr/>
                <p:nvPr/>
              </p:nvSpPr>
              <p:spPr>
                <a:xfrm>
                  <a:off x="3880918" y="2624089"/>
                  <a:ext cx="1876290" cy="945711"/>
                </a:xfrm>
                <a:prstGeom prst="rect">
                  <a:avLst/>
                </a:prstGeom>
                <a:solidFill>
                  <a:schemeClr val="tx1">
                    <a:lumMod val="20000"/>
                    <a:lumOff val="80000"/>
                    <a:alpha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5" name="Group 4"/>
                <p:cNvGrpSpPr/>
                <p:nvPr/>
              </p:nvGrpSpPr>
              <p:grpSpPr>
                <a:xfrm>
                  <a:off x="4061332" y="2801989"/>
                  <a:ext cx="1515462" cy="589910"/>
                  <a:chOff x="4082525" y="2809938"/>
                  <a:chExt cx="1515462" cy="589910"/>
                </a:xfrm>
              </p:grpSpPr>
              <p:sp>
                <p:nvSpPr>
                  <p:cNvPr id="49" name="Rectángulo 11">
                    <a:extLst>
                      <a:ext uri="{FF2B5EF4-FFF2-40B4-BE49-F238E27FC236}">
                        <a16:creationId xmlns="" xmlns:a16="http://schemas.microsoft.com/office/drawing/2014/main" id="{C4625175-F280-4800-8A26-544450EDB6D2}"/>
                      </a:ext>
                    </a:extLst>
                  </p:cNvPr>
                  <p:cNvSpPr/>
                  <p:nvPr/>
                </p:nvSpPr>
                <p:spPr>
                  <a:xfrm>
                    <a:off x="4500707" y="2904838"/>
                    <a:ext cx="1097280" cy="400110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2000" b="1" dirty="0"/>
                      <a:t>Price</a:t>
                    </a:r>
                    <a:endParaRPr lang="es-PE" sz="2400" b="1" dirty="0"/>
                  </a:p>
                </p:txBody>
              </p:sp>
              <p:sp>
                <p:nvSpPr>
                  <p:cNvPr id="59" name="Shape 2761"/>
                  <p:cNvSpPr>
                    <a:spLocks noChangeAspect="1"/>
                  </p:cNvSpPr>
                  <p:nvPr/>
                </p:nvSpPr>
                <p:spPr>
                  <a:xfrm>
                    <a:off x="4082525" y="2809938"/>
                    <a:ext cx="402241" cy="589910"/>
                  </a:xfrm>
                  <a:custGeom>
                    <a:avLst/>
                    <a:gdLst/>
                    <a:ahLst/>
                    <a:cxnLst>
                      <a:cxn ang="0">
                        <a:pos x="wd2" y="hd2"/>
                      </a:cxn>
                      <a:cxn ang="5400000">
                        <a:pos x="wd2" y="hd2"/>
                      </a:cxn>
                      <a:cxn ang="10800000">
                        <a:pos x="wd2" y="hd2"/>
                      </a:cxn>
                      <a:cxn ang="16200000">
                        <a:pos x="wd2" y="hd2"/>
                      </a:cxn>
                    </a:cxnLst>
                    <a:rect l="0" t="0" r="r" b="b"/>
                    <a:pathLst>
                      <a:path w="21600" h="21600" extrusionOk="0">
                        <a:moveTo>
                          <a:pt x="12960" y="6873"/>
                        </a:moveTo>
                        <a:lnTo>
                          <a:pt x="12960" y="19636"/>
                        </a:lnTo>
                        <a:cubicBezTo>
                          <a:pt x="12960" y="20178"/>
                          <a:pt x="12315" y="20618"/>
                          <a:pt x="11520" y="20618"/>
                        </a:cubicBezTo>
                        <a:lnTo>
                          <a:pt x="10080" y="20618"/>
                        </a:lnTo>
                        <a:cubicBezTo>
                          <a:pt x="9285" y="20618"/>
                          <a:pt x="8640" y="20178"/>
                          <a:pt x="8640" y="19636"/>
                        </a:cubicBezTo>
                        <a:lnTo>
                          <a:pt x="8640" y="6873"/>
                        </a:lnTo>
                        <a:lnTo>
                          <a:pt x="2458" y="6873"/>
                        </a:lnTo>
                        <a:lnTo>
                          <a:pt x="10800" y="1185"/>
                        </a:lnTo>
                        <a:lnTo>
                          <a:pt x="19142" y="6873"/>
                        </a:lnTo>
                        <a:cubicBezTo>
                          <a:pt x="19142" y="6873"/>
                          <a:pt x="12960" y="6873"/>
                          <a:pt x="12960" y="6873"/>
                        </a:cubicBezTo>
                        <a:close/>
                        <a:moveTo>
                          <a:pt x="21389" y="7017"/>
                        </a:moveTo>
                        <a:lnTo>
                          <a:pt x="11309" y="144"/>
                        </a:lnTo>
                        <a:cubicBezTo>
                          <a:pt x="11179" y="55"/>
                          <a:pt x="10999" y="0"/>
                          <a:pt x="10800" y="0"/>
                        </a:cubicBezTo>
                        <a:cubicBezTo>
                          <a:pt x="10601" y="0"/>
                          <a:pt x="10422" y="55"/>
                          <a:pt x="10291" y="144"/>
                        </a:cubicBezTo>
                        <a:lnTo>
                          <a:pt x="211" y="7017"/>
                        </a:lnTo>
                        <a:cubicBezTo>
                          <a:pt x="81" y="7106"/>
                          <a:pt x="0" y="7228"/>
                          <a:pt x="0" y="7364"/>
                        </a:cubicBezTo>
                        <a:cubicBezTo>
                          <a:pt x="0" y="7635"/>
                          <a:pt x="322" y="7855"/>
                          <a:pt x="720" y="7855"/>
                        </a:cubicBezTo>
                        <a:lnTo>
                          <a:pt x="7200" y="7855"/>
                        </a:lnTo>
                        <a:lnTo>
                          <a:pt x="7200" y="19636"/>
                        </a:lnTo>
                        <a:cubicBezTo>
                          <a:pt x="7200" y="20721"/>
                          <a:pt x="8490" y="21600"/>
                          <a:pt x="10080" y="21600"/>
                        </a:cubicBezTo>
                        <a:lnTo>
                          <a:pt x="11520" y="21600"/>
                        </a:lnTo>
                        <a:cubicBezTo>
                          <a:pt x="13110" y="21600"/>
                          <a:pt x="14400" y="20721"/>
                          <a:pt x="14400" y="19636"/>
                        </a:cubicBezTo>
                        <a:lnTo>
                          <a:pt x="14400" y="7855"/>
                        </a:lnTo>
                        <a:lnTo>
                          <a:pt x="20880" y="7855"/>
                        </a:lnTo>
                        <a:cubicBezTo>
                          <a:pt x="21278" y="7855"/>
                          <a:pt x="21600" y="7635"/>
                          <a:pt x="21600" y="7364"/>
                        </a:cubicBezTo>
                        <a:cubicBezTo>
                          <a:pt x="21600" y="7228"/>
                          <a:pt x="21519" y="7106"/>
                          <a:pt x="21389" y="7017"/>
                        </a:cubicBezTo>
                      </a:path>
                    </a:pathLst>
                  </a:custGeom>
                  <a:solidFill>
                    <a:schemeClr val="accent6"/>
                  </a:solidFill>
                  <a:ln w="12700">
                    <a:miter lim="400000"/>
                  </a:ln>
                </p:spPr>
                <p:txBody>
                  <a:bodyPr lIns="19049" tIns="19049" rIns="19049" bIns="19049" anchor="ctr"/>
                  <a:lstStyle/>
                  <a:p>
                    <a:pPr marL="0" marR="0" lvl="0" indent="0" algn="ctr" defTabSz="228580" rtl="0" eaLnBrk="1" fontAlgn="auto" latinLnBrk="0" hangingPunct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 sz="3000">
                        <a:solidFill>
                          <a:srgbClr val="FFFFFF"/>
                        </a:solidFill>
                        <a:effectLst>
                          <a:outerShdw blurRad="38100" dist="12700" dir="5400000" rotWithShape="0">
                            <a:srgbClr val="000000">
                              <a:alpha val="50000"/>
                            </a:srgbClr>
                          </a:outerShdw>
                        </a:effectLst>
                        <a:latin typeface="Gill Sans"/>
                        <a:ea typeface="Gill Sans"/>
                        <a:cs typeface="Gill Sans"/>
                        <a:sym typeface="Gill Sans"/>
                      </a:defRPr>
                    </a:pPr>
                    <a:endParaRPr kumimoji="0" sz="1562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>
                        <a:outerShdw blurRad="38100" dist="12700" dir="5400000" rotWithShape="0">
                          <a:srgbClr val="000000">
                            <a:alpha val="50000"/>
                          </a:srgbClr>
                        </a:outerShdw>
                      </a:effectLst>
                      <a:uLnTx/>
                      <a:uFillTx/>
                      <a:latin typeface="Arial"/>
                      <a:ea typeface="Arial"/>
                      <a:cs typeface="Arial"/>
                      <a:sym typeface="Gill Sans"/>
                    </a:endParaRPr>
                  </a:p>
                </p:txBody>
              </p:sp>
            </p:grpSp>
          </p:grpSp>
          <p:sp>
            <p:nvSpPr>
              <p:cNvPr id="60" name="Shape 2687"/>
              <p:cNvSpPr>
                <a:spLocks noChangeAspect="1"/>
              </p:cNvSpPr>
              <p:nvPr/>
            </p:nvSpPr>
            <p:spPr>
              <a:xfrm>
                <a:off x="5225804" y="2457154"/>
                <a:ext cx="688419" cy="6883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0" y="982"/>
                    </a:moveTo>
                    <a:cubicBezTo>
                      <a:pt x="14012" y="982"/>
                      <a:pt x="16860" y="2526"/>
                      <a:pt x="18652" y="4909"/>
                    </a:cubicBezTo>
                    <a:lnTo>
                      <a:pt x="14727" y="4909"/>
                    </a:lnTo>
                    <a:cubicBezTo>
                      <a:pt x="14456" y="4909"/>
                      <a:pt x="14236" y="5129"/>
                      <a:pt x="14236" y="5400"/>
                    </a:cubicBezTo>
                    <a:cubicBezTo>
                      <a:pt x="14236" y="5672"/>
                      <a:pt x="14456" y="5891"/>
                      <a:pt x="14727" y="5891"/>
                    </a:cubicBezTo>
                    <a:lnTo>
                      <a:pt x="19636" y="5891"/>
                    </a:lnTo>
                    <a:cubicBezTo>
                      <a:pt x="19907" y="5891"/>
                      <a:pt x="20127" y="5672"/>
                      <a:pt x="20127" y="5400"/>
                    </a:cubicBezTo>
                    <a:lnTo>
                      <a:pt x="20127" y="491"/>
                    </a:lnTo>
                    <a:cubicBezTo>
                      <a:pt x="20127" y="220"/>
                      <a:pt x="19907" y="0"/>
                      <a:pt x="19636" y="0"/>
                    </a:cubicBezTo>
                    <a:cubicBezTo>
                      <a:pt x="19366" y="0"/>
                      <a:pt x="19145" y="220"/>
                      <a:pt x="19145" y="491"/>
                    </a:cubicBezTo>
                    <a:lnTo>
                      <a:pt x="19145" y="3962"/>
                    </a:lnTo>
                    <a:cubicBezTo>
                      <a:pt x="17166" y="1546"/>
                      <a:pt x="14167" y="0"/>
                      <a:pt x="10800" y="0"/>
                    </a:cubicBezTo>
                    <a:cubicBezTo>
                      <a:pt x="4836" y="0"/>
                      <a:pt x="0" y="4836"/>
                      <a:pt x="0" y="10800"/>
                    </a:cubicBezTo>
                    <a:cubicBezTo>
                      <a:pt x="0" y="11071"/>
                      <a:pt x="220" y="11291"/>
                      <a:pt x="491" y="11291"/>
                    </a:cubicBezTo>
                    <a:cubicBezTo>
                      <a:pt x="762" y="11291"/>
                      <a:pt x="982" y="11071"/>
                      <a:pt x="982" y="10800"/>
                    </a:cubicBezTo>
                    <a:cubicBezTo>
                      <a:pt x="982" y="5378"/>
                      <a:pt x="5377" y="982"/>
                      <a:pt x="10800" y="982"/>
                    </a:cubicBezTo>
                    <a:moveTo>
                      <a:pt x="21109" y="10309"/>
                    </a:moveTo>
                    <a:cubicBezTo>
                      <a:pt x="20838" y="10309"/>
                      <a:pt x="20618" y="10529"/>
                      <a:pt x="20618" y="10800"/>
                    </a:cubicBezTo>
                    <a:cubicBezTo>
                      <a:pt x="20618" y="16223"/>
                      <a:pt x="16223" y="20618"/>
                      <a:pt x="10800" y="20618"/>
                    </a:cubicBezTo>
                    <a:cubicBezTo>
                      <a:pt x="7588" y="20618"/>
                      <a:pt x="4740" y="19075"/>
                      <a:pt x="2948" y="16691"/>
                    </a:cubicBezTo>
                    <a:lnTo>
                      <a:pt x="6873" y="16691"/>
                    </a:lnTo>
                    <a:cubicBezTo>
                      <a:pt x="7144" y="16691"/>
                      <a:pt x="7364" y="16471"/>
                      <a:pt x="7364" y="16200"/>
                    </a:cubicBezTo>
                    <a:cubicBezTo>
                      <a:pt x="7364" y="15929"/>
                      <a:pt x="7144" y="15709"/>
                      <a:pt x="6873" y="15709"/>
                    </a:cubicBezTo>
                    <a:lnTo>
                      <a:pt x="1964" y="15709"/>
                    </a:lnTo>
                    <a:cubicBezTo>
                      <a:pt x="1693" y="15709"/>
                      <a:pt x="1473" y="15929"/>
                      <a:pt x="1473" y="16200"/>
                    </a:cubicBezTo>
                    <a:lnTo>
                      <a:pt x="1473" y="21109"/>
                    </a:lnTo>
                    <a:cubicBezTo>
                      <a:pt x="1473" y="21380"/>
                      <a:pt x="1693" y="21600"/>
                      <a:pt x="1964" y="21600"/>
                    </a:cubicBezTo>
                    <a:cubicBezTo>
                      <a:pt x="2234" y="21600"/>
                      <a:pt x="2455" y="21380"/>
                      <a:pt x="2455" y="21109"/>
                    </a:cubicBezTo>
                    <a:lnTo>
                      <a:pt x="2455" y="17639"/>
                    </a:lnTo>
                    <a:cubicBezTo>
                      <a:pt x="4434" y="20054"/>
                      <a:pt x="7433" y="21600"/>
                      <a:pt x="10800" y="21600"/>
                    </a:cubicBezTo>
                    <a:cubicBezTo>
                      <a:pt x="16764" y="21600"/>
                      <a:pt x="21600" y="16765"/>
                      <a:pt x="21600" y="10800"/>
                    </a:cubicBezTo>
                    <a:cubicBezTo>
                      <a:pt x="21600" y="10529"/>
                      <a:pt x="21380" y="10309"/>
                      <a:pt x="21109" y="10309"/>
                    </a:cubicBezTo>
                  </a:path>
                </a:pathLst>
              </a:custGeom>
              <a:solidFill>
                <a:schemeClr val="tx1"/>
              </a:solidFill>
              <a:ln w="12700">
                <a:miter lim="400000"/>
              </a:ln>
            </p:spPr>
            <p:txBody>
              <a:bodyPr lIns="19049" tIns="19049" rIns="19049" bIns="19049" anchor="ctr"/>
              <a:lstStyle/>
              <a:p>
                <a:pPr marL="0" marR="0" lvl="0" indent="0" algn="ctr" defTabSz="22858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  <a:latin typeface="Gill Sans"/>
                    <a:ea typeface="Gill Sans"/>
                    <a:cs typeface="Gill Sans"/>
                    <a:sym typeface="Gill Sans"/>
                  </a:defRPr>
                </a:pPr>
                <a:endParaRPr kumimoji="0" sz="1562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LnTx/>
                  <a:uFillTx/>
                  <a:latin typeface="Arial"/>
                  <a:ea typeface="Arial"/>
                  <a:cs typeface="Arial"/>
                  <a:sym typeface="Gill Sans"/>
                </a:endParaRPr>
              </a:p>
            </p:txBody>
          </p:sp>
        </p:grpSp>
      </p:grpSp>
      <p:grpSp>
        <p:nvGrpSpPr>
          <p:cNvPr id="12" name="Group 11"/>
          <p:cNvGrpSpPr/>
          <p:nvPr/>
        </p:nvGrpSpPr>
        <p:grpSpPr>
          <a:xfrm>
            <a:off x="787995" y="2857016"/>
            <a:ext cx="6692422" cy="1405719"/>
            <a:chOff x="1750394" y="4030331"/>
            <a:chExt cx="6692422" cy="1405719"/>
          </a:xfrm>
        </p:grpSpPr>
        <p:sp>
          <p:nvSpPr>
            <p:cNvPr id="79" name="Rectangle 78"/>
            <p:cNvSpPr/>
            <p:nvPr/>
          </p:nvSpPr>
          <p:spPr>
            <a:xfrm>
              <a:off x="2098850" y="4030331"/>
              <a:ext cx="6343966" cy="1405719"/>
            </a:xfrm>
            <a:prstGeom prst="rect">
              <a:avLst/>
            </a:prstGeom>
            <a:noFill/>
            <a:ln w="28575">
              <a:solidFill>
                <a:schemeClr val="tx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 bwMode="auto">
            <a:xfrm>
              <a:off x="1750394" y="4384734"/>
              <a:ext cx="696913" cy="696912"/>
            </a:xfrm>
            <a:prstGeom prst="ellipse">
              <a:avLst/>
            </a:prstGeom>
            <a:solidFill>
              <a:schemeClr val="tx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Gill Sans MT" panose="020B0502020104020203" pitchFamily="34" charset="0"/>
                </a:defRPr>
              </a:lvl9pPr>
            </a:lstStyle>
            <a:p>
              <a:pPr algn="ctr" eaLnBrk="1" hangingPunct="1"/>
              <a:r>
                <a:rPr lang="en-US" sz="2800" b="1" dirty="0" smtClean="0">
                  <a:solidFill>
                    <a:srgbClr val="FFFFFF"/>
                  </a:solidFill>
                </a:rPr>
                <a:t>2</a:t>
              </a:r>
              <a:endParaRPr lang="en-US" sz="2800" b="1" dirty="0">
                <a:solidFill>
                  <a:srgbClr val="FFFFFF"/>
                </a:solidFill>
              </a:endParaRPr>
            </a:p>
          </p:txBody>
        </p:sp>
        <p:grpSp>
          <p:nvGrpSpPr>
            <p:cNvPr id="65" name="Group 64"/>
            <p:cNvGrpSpPr/>
            <p:nvPr/>
          </p:nvGrpSpPr>
          <p:grpSpPr>
            <a:xfrm>
              <a:off x="2572258" y="4271525"/>
              <a:ext cx="5745606" cy="923330"/>
              <a:chOff x="1642241" y="3235184"/>
              <a:chExt cx="5745606" cy="923330"/>
            </a:xfrm>
          </p:grpSpPr>
          <p:sp>
            <p:nvSpPr>
              <p:cNvPr id="66" name="Flecha: cheurón 13">
                <a:extLst>
                  <a:ext uri="{FF2B5EF4-FFF2-40B4-BE49-F238E27FC236}">
                    <a16:creationId xmlns:a16="http://schemas.microsoft.com/office/drawing/2014/main" xmlns="" id="{8C4BB320-0B75-46F7-818B-ED8803EF069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4253" y="3384832"/>
                <a:ext cx="421582" cy="624035"/>
              </a:xfrm>
              <a:prstGeom prst="chevron">
                <a:avLst>
                  <a:gd name="adj" fmla="val 42603"/>
                </a:avLst>
              </a:prstGeom>
              <a:solidFill>
                <a:schemeClr val="tx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chemeClr val="tx1"/>
                  </a:solidFill>
                </a:endParaRPr>
              </a:p>
            </p:txBody>
          </p:sp>
          <p:sp>
            <p:nvSpPr>
              <p:cNvPr id="68" name="CuadroTexto 3">
                <a:extLst>
                  <a:ext uri="{FF2B5EF4-FFF2-40B4-BE49-F238E27FC236}">
                    <a16:creationId xmlns:a16="http://schemas.microsoft.com/office/drawing/2014/main" xmlns="" id="{DA3B7D67-6E9F-4490-B3ED-82B879B34C79}"/>
                  </a:ext>
                </a:extLst>
              </p:cNvPr>
              <p:cNvSpPr txBox="1"/>
              <p:nvPr/>
            </p:nvSpPr>
            <p:spPr>
              <a:xfrm>
                <a:off x="1642241" y="3235184"/>
                <a:ext cx="25836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Money is made not when you sell but when you buy an asset</a:t>
                </a:r>
              </a:p>
            </p:txBody>
          </p:sp>
          <p:sp>
            <p:nvSpPr>
              <p:cNvPr id="70" name="CuadroTexto 11">
                <a:extLst>
                  <a:ext uri="{FF2B5EF4-FFF2-40B4-BE49-F238E27FC236}">
                    <a16:creationId xmlns:a16="http://schemas.microsoft.com/office/drawing/2014/main" xmlns="" id="{514EC870-43EE-4BD9-9E4F-3521714C7885}"/>
                  </a:ext>
                </a:extLst>
              </p:cNvPr>
              <p:cNvSpPr txBox="1"/>
              <p:nvPr/>
            </p:nvSpPr>
            <p:spPr>
              <a:xfrm>
                <a:off x="4804156" y="3235184"/>
                <a:ext cx="2583691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Once your purchase price is set, so is your expected </a:t>
                </a:r>
                <a:r>
                  <a:rPr lang="en-US" dirty="0" smtClean="0"/>
                  <a:t>return</a:t>
                </a:r>
                <a:endParaRPr lang="en-US" dirty="0"/>
              </a:p>
            </p:txBody>
          </p:sp>
        </p:grpSp>
      </p:grpSp>
      <p:grpSp>
        <p:nvGrpSpPr>
          <p:cNvPr id="14" name="Group 13"/>
          <p:cNvGrpSpPr/>
          <p:nvPr/>
        </p:nvGrpSpPr>
        <p:grpSpPr>
          <a:xfrm>
            <a:off x="787995" y="4503939"/>
            <a:ext cx="8734567" cy="1187346"/>
            <a:chOff x="675564" y="5192983"/>
            <a:chExt cx="8734567" cy="1187346"/>
          </a:xfrm>
        </p:grpSpPr>
        <p:sp>
          <p:nvSpPr>
            <p:cNvPr id="86" name="Rectángulo 24">
              <a:extLst>
                <a:ext uri="{FF2B5EF4-FFF2-40B4-BE49-F238E27FC236}">
                  <a16:creationId xmlns="" xmlns:a16="http://schemas.microsoft.com/office/drawing/2014/main" id="{4FA5E0A2-26C2-4991-8F50-BAB7362F746B}"/>
                </a:ext>
              </a:extLst>
            </p:cNvPr>
            <p:cNvSpPr/>
            <p:nvPr/>
          </p:nvSpPr>
          <p:spPr>
            <a:xfrm>
              <a:off x="675564" y="5192983"/>
              <a:ext cx="8734567" cy="1187346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787995" y="5324991"/>
              <a:ext cx="8509705" cy="923330"/>
              <a:chOff x="804893" y="5299499"/>
              <a:chExt cx="8509705" cy="923330"/>
            </a:xfrm>
          </p:grpSpPr>
          <p:sp>
            <p:nvSpPr>
              <p:cNvPr id="83" name="Rectángulo 23">
                <a:extLst>
                  <a:ext uri="{FF2B5EF4-FFF2-40B4-BE49-F238E27FC236}">
                    <a16:creationId xmlns="" xmlns:a16="http://schemas.microsoft.com/office/drawing/2014/main" id="{284BB91B-85C6-4FF9-BBF1-7B6A8D88F5F4}"/>
                  </a:ext>
                </a:extLst>
              </p:cNvPr>
              <p:cNvSpPr/>
              <p:nvPr/>
            </p:nvSpPr>
            <p:spPr>
              <a:xfrm>
                <a:off x="804893" y="5299499"/>
                <a:ext cx="1775489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Expected return is not completely in your control</a:t>
                </a:r>
              </a:p>
            </p:txBody>
          </p:sp>
          <p:sp>
            <p:nvSpPr>
              <p:cNvPr id="84" name="CuadroTexto 22">
                <a:extLst>
                  <a:ext uri="{FF2B5EF4-FFF2-40B4-BE49-F238E27FC236}">
                    <a16:creationId xmlns="" xmlns:a16="http://schemas.microsoft.com/office/drawing/2014/main" id="{2002D4D6-F615-4536-A379-8F0C83F68986}"/>
                  </a:ext>
                </a:extLst>
              </p:cNvPr>
              <p:cNvSpPr txBox="1"/>
              <p:nvPr/>
            </p:nvSpPr>
            <p:spPr>
              <a:xfrm>
                <a:off x="3369221" y="5299499"/>
                <a:ext cx="262269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PE"/>
                </a:defPPr>
                <a:lvl1pPr>
                  <a:defRPr sz="2000"/>
                </a:lvl1pPr>
              </a:lstStyle>
              <a:p>
                <a:r>
                  <a:rPr lang="en-US" sz="1800" dirty="0"/>
                  <a:t>Future cash flows </a:t>
                </a:r>
                <a:r>
                  <a:rPr lang="en-US" sz="1800" dirty="0" smtClean="0"/>
                  <a:t>dictated </a:t>
                </a:r>
                <a:r>
                  <a:rPr lang="en-US" sz="1800" dirty="0"/>
                  <a:t>by the fluctuations of the market </a:t>
                </a:r>
                <a:endParaRPr lang="es-PE" sz="1800" dirty="0"/>
              </a:p>
            </p:txBody>
          </p:sp>
          <p:sp>
            <p:nvSpPr>
              <p:cNvPr id="85" name="CuadroTexto 28">
                <a:extLst>
                  <a:ext uri="{FF2B5EF4-FFF2-40B4-BE49-F238E27FC236}">
                    <a16:creationId xmlns="" xmlns:a16="http://schemas.microsoft.com/office/drawing/2014/main" id="{3D72BBC9-CD05-49F3-A685-29D0192A4555}"/>
                  </a:ext>
                </a:extLst>
              </p:cNvPr>
              <p:cNvSpPr txBox="1"/>
              <p:nvPr/>
            </p:nvSpPr>
            <p:spPr>
              <a:xfrm>
                <a:off x="6434794" y="5299499"/>
                <a:ext cx="2879804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s-PE"/>
                </a:defPPr>
                <a:lvl1pPr algn="ctr">
                  <a:defRPr sz="2000"/>
                </a:lvl1pPr>
              </a:lstStyle>
              <a:p>
                <a:pPr algn="l"/>
                <a:r>
                  <a:rPr lang="en-US" sz="1800" dirty="0"/>
                  <a:t>Important to be prepared for unforeseen volatility in the market and your </a:t>
                </a:r>
                <a:r>
                  <a:rPr lang="en-US" sz="1800" dirty="0" smtClean="0"/>
                  <a:t>returns </a:t>
                </a:r>
                <a:endParaRPr lang="es-PE" sz="1800" dirty="0"/>
              </a:p>
            </p:txBody>
          </p:sp>
          <p:cxnSp>
            <p:nvCxnSpPr>
              <p:cNvPr id="88" name="Conector recto 29">
                <a:extLst>
                  <a:ext uri="{FF2B5EF4-FFF2-40B4-BE49-F238E27FC236}">
                    <a16:creationId xmlns="" xmlns:a16="http://schemas.microsoft.com/office/drawing/2014/main" id="{F6E2E266-7EC6-4610-B5FF-F07E717CDFFF}"/>
                  </a:ext>
                </a:extLst>
              </p:cNvPr>
              <p:cNvCxnSpPr/>
              <p:nvPr/>
            </p:nvCxnSpPr>
            <p:spPr>
              <a:xfrm flipH="1">
                <a:off x="5839534" y="5315714"/>
                <a:ext cx="512164" cy="890900"/>
              </a:xfrm>
              <a:prstGeom prst="line">
                <a:avLst/>
              </a:prstGeom>
              <a:ln w="57150">
                <a:solidFill>
                  <a:schemeClr val="accent6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89" name="Flecha: a la derecha 5">
                <a:extLst>
                  <a:ext uri="{FF2B5EF4-FFF2-40B4-BE49-F238E27FC236}">
                    <a16:creationId xmlns="" xmlns:a16="http://schemas.microsoft.com/office/drawing/2014/main" id="{F74CB1B6-84AD-4A59-8646-95C62BD577F9}"/>
                  </a:ext>
                </a:extLst>
              </p:cNvPr>
              <p:cNvSpPr/>
              <p:nvPr/>
            </p:nvSpPr>
            <p:spPr>
              <a:xfrm>
                <a:off x="2668673" y="5530332"/>
                <a:ext cx="610670" cy="461665"/>
              </a:xfrm>
              <a:prstGeom prst="rightArrow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PE"/>
              </a:p>
            </p:txBody>
          </p:sp>
        </p:grpSp>
      </p:grpSp>
      <p:grpSp>
        <p:nvGrpSpPr>
          <p:cNvPr id="93" name="Group 92"/>
          <p:cNvGrpSpPr/>
          <p:nvPr/>
        </p:nvGrpSpPr>
        <p:grpSpPr>
          <a:xfrm>
            <a:off x="0" y="259492"/>
            <a:ext cx="12191999" cy="651194"/>
            <a:chOff x="0" y="259492"/>
            <a:chExt cx="12191999" cy="651194"/>
          </a:xfrm>
        </p:grpSpPr>
        <p:sp>
          <p:nvSpPr>
            <p:cNvPr id="94" name="TextBox 93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0" y="259492"/>
              <a:ext cx="12191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calculate the value of a property given the projected cash flows?</a:t>
              </a:r>
            </a:p>
          </p:txBody>
        </p:sp>
        <p:cxnSp>
          <p:nvCxnSpPr>
            <p:cNvPr id="95" name="Straight Connector 94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910686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764021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117979" y="259492"/>
            <a:ext cx="9956042" cy="999216"/>
            <a:chOff x="1117979" y="259492"/>
            <a:chExt cx="9956042" cy="999216"/>
          </a:xfrm>
        </p:grpSpPr>
        <p:sp>
          <p:nvSpPr>
            <p:cNvPr id="19" name="TextBox 18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1117979" y="259492"/>
              <a:ext cx="99560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calculate the return if there is operational cash flow (rent) in addition to the reversion cash flow (sale</a:t>
              </a:r>
              <a:r>
                <a:rPr lang="en-US" sz="2800" dirty="0" smtClean="0"/>
                <a:t>) </a:t>
              </a:r>
              <a:endParaRPr lang="en-US" sz="2800" dirty="0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1258708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769530" y="1605371"/>
                <a:ext cx="471481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)/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9530" y="1605371"/>
                <a:ext cx="4714817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/>
          <p:cNvGrpSpPr/>
          <p:nvPr/>
        </p:nvGrpSpPr>
        <p:grpSpPr>
          <a:xfrm>
            <a:off x="3039000" y="2088400"/>
            <a:ext cx="4826241" cy="1714519"/>
            <a:chOff x="3170808" y="2137828"/>
            <a:chExt cx="4826241" cy="1714519"/>
          </a:xfrm>
        </p:grpSpPr>
        <p:grpSp>
          <p:nvGrpSpPr>
            <p:cNvPr id="5" name="Group 4"/>
            <p:cNvGrpSpPr/>
            <p:nvPr/>
          </p:nvGrpSpPr>
          <p:grpSpPr>
            <a:xfrm>
              <a:off x="3170808" y="2836684"/>
              <a:ext cx="4787656" cy="1015663"/>
              <a:chOff x="3779324" y="2836684"/>
              <a:chExt cx="4787656" cy="10156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CuadroTexto 5">
                    <a:extLst>
                      <a:ext uri="{FF2B5EF4-FFF2-40B4-BE49-F238E27FC236}">
                        <a16:creationId xmlns="" xmlns:a16="http://schemas.microsoft.com/office/drawing/2014/main" id="{711B30AD-079D-4808-B44D-77EF3CF6F4E5}"/>
                      </a:ext>
                    </a:extLst>
                  </p:cNvPr>
                  <p:cNvSpPr txBox="1"/>
                  <p:nvPr/>
                </p:nvSpPr>
                <p:spPr>
                  <a:xfrm>
                    <a:off x="3779324" y="2836684"/>
                    <a:ext cx="1248916" cy="707886"/>
                  </a:xfrm>
                  <a:prstGeom prst="rect">
                    <a:avLst/>
                  </a:prstGeom>
                  <a:ln>
                    <a:solidFill>
                      <a:schemeClr val="accent6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a14:m>
                    <a:r>
                      <a:rPr lang="en-US" sz="2000" i="1" dirty="0"/>
                      <a:t> </a:t>
                    </a:r>
                    <a:r>
                      <a:rPr lang="en-US" sz="2000" dirty="0"/>
                      <a:t>= </a:t>
                    </a:r>
                    <a:r>
                      <a:rPr lang="en-US" sz="2000" dirty="0" smtClean="0"/>
                      <a:t>Return</a:t>
                    </a:r>
                    <a:endParaRPr lang="es-PE" sz="2000" dirty="0"/>
                  </a:p>
                </p:txBody>
              </p:sp>
            </mc:Choice>
            <mc:Fallback xmlns="">
              <p:sp>
                <p:nvSpPr>
                  <p:cNvPr id="27" name="CuadroTexto 5">
                    <a:extLst>
                      <a:ext uri="{FF2B5EF4-FFF2-40B4-BE49-F238E27FC236}">
                        <a16:creationId xmlns:a16="http://schemas.microsoft.com/office/drawing/2014/main" xmlns="" id="{711B30AD-079D-4808-B44D-77EF3CF6F4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779324" y="2836684"/>
                    <a:ext cx="1248916" cy="707886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t="-3390" b="-13559"/>
                    </a:stretch>
                  </a:blipFill>
                  <a:ln>
                    <a:solidFill>
                      <a:schemeClr val="accent6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CuadroTexto 9">
                    <a:extLst>
                      <a:ext uri="{FF2B5EF4-FFF2-40B4-BE49-F238E27FC236}">
                        <a16:creationId xmlns="" xmlns:a16="http://schemas.microsoft.com/office/drawing/2014/main" id="{51FCA4DC-06E3-4489-A8E8-375BF68DC02D}"/>
                      </a:ext>
                    </a:extLst>
                  </p:cNvPr>
                  <p:cNvSpPr txBox="1"/>
                  <p:nvPr/>
                </p:nvSpPr>
                <p:spPr>
                  <a:xfrm>
                    <a:off x="5106188" y="2836684"/>
                    <a:ext cx="1806539" cy="1015663"/>
                  </a:xfrm>
                  <a:prstGeom prst="rect">
                    <a:avLst/>
                  </a:prstGeom>
                  <a:ln>
                    <a:solidFill>
                      <a:schemeClr val="tx1">
                        <a:lumMod val="60000"/>
                        <a:lumOff val="40000"/>
                      </a:schemeClr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tx1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𝐶𝐹</m:t>
                        </m:r>
                      </m:oMath>
                    </a14:m>
                    <a:r>
                      <a:rPr lang="en-US" sz="2000" dirty="0"/>
                      <a:t> = Operational cash flow (rent) </a:t>
                    </a:r>
                    <a:endParaRPr lang="es-PE" sz="2000" dirty="0"/>
                  </a:p>
                </p:txBody>
              </p:sp>
            </mc:Choice>
            <mc:Fallback xmlns="">
              <p:sp>
                <p:nvSpPr>
                  <p:cNvPr id="29" name="CuadroTexto 9">
                    <a:extLst>
                      <a:ext uri="{FF2B5EF4-FFF2-40B4-BE49-F238E27FC236}">
                        <a16:creationId xmlns:a16="http://schemas.microsoft.com/office/drawing/2014/main" xmlns="" id="{51FCA4DC-06E3-4489-A8E8-375BF68DC02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06188" y="2836684"/>
                    <a:ext cx="1806539" cy="1015663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l="-3010" t="-2367" r="-6355" b="-8876"/>
                    </a:stretch>
                  </a:blipFill>
                  <a:ln>
                    <a:solidFill>
                      <a:schemeClr val="tx1">
                        <a:lumMod val="60000"/>
                        <a:lumOff val="40000"/>
                      </a:schemeClr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CuadroTexto 16">
                    <a:extLst>
                      <a:ext uri="{FF2B5EF4-FFF2-40B4-BE49-F238E27FC236}">
                        <a16:creationId xmlns="" xmlns:a16="http://schemas.microsoft.com/office/drawing/2014/main" id="{984EB976-8E0C-48CC-BED4-7D2884081956}"/>
                      </a:ext>
                    </a:extLst>
                  </p:cNvPr>
                  <p:cNvSpPr txBox="1"/>
                  <p:nvPr/>
                </p:nvSpPr>
                <p:spPr>
                  <a:xfrm>
                    <a:off x="6990676" y="2836684"/>
                    <a:ext cx="1576304" cy="1015663"/>
                  </a:xfrm>
                  <a:prstGeom prst="rect">
                    <a:avLst/>
                  </a:prstGeom>
                  <a:ln>
                    <a:solidFill>
                      <a:schemeClr val="accent3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a14:m>
                    <a:r>
                      <a:rPr lang="en-US" sz="2000" dirty="0"/>
                      <a:t> = </a:t>
                    </a:r>
                    <a:r>
                      <a:rPr lang="en-US" sz="2000" dirty="0" smtClean="0"/>
                      <a:t>Property’s </a:t>
                    </a:r>
                    <a:r>
                      <a:rPr lang="en-US" sz="2000" dirty="0"/>
                      <a:t>market value</a:t>
                    </a:r>
                    <a:endParaRPr lang="es-PE" sz="2000" dirty="0"/>
                  </a:p>
                </p:txBody>
              </p:sp>
            </mc:Choice>
            <mc:Fallback xmlns="">
              <p:sp>
                <p:nvSpPr>
                  <p:cNvPr id="32" name="CuadroTexto 16">
                    <a:extLst>
                      <a:ext uri="{FF2B5EF4-FFF2-40B4-BE49-F238E27FC236}">
                        <a16:creationId xmlns:a16="http://schemas.microsoft.com/office/drawing/2014/main" xmlns="" id="{984EB976-8E0C-48CC-BED4-7D28840819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90676" y="2836684"/>
                    <a:ext cx="1576304" cy="1015663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l="-1149" t="-2367" r="-1149" b="-8876"/>
                    </a:stretch>
                  </a:blipFill>
                  <a:ln>
                    <a:solidFill>
                      <a:schemeClr val="accent3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" name="Straight Arrow Connector 6"/>
            <p:cNvCxnSpPr/>
            <p:nvPr/>
          </p:nvCxnSpPr>
          <p:spPr>
            <a:xfrm>
              <a:off x="4154255" y="2137828"/>
              <a:ext cx="0" cy="625747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5222741" y="2137828"/>
              <a:ext cx="0" cy="625747"/>
            </a:xfrm>
            <a:prstGeom prst="straightConnector1">
              <a:avLst/>
            </a:prstGeom>
            <a:ln w="57150">
              <a:solidFill>
                <a:schemeClr val="tx1">
                  <a:lumMod val="60000"/>
                  <a:lumOff val="4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Group 52"/>
            <p:cNvGrpSpPr/>
            <p:nvPr/>
          </p:nvGrpSpPr>
          <p:grpSpPr>
            <a:xfrm>
              <a:off x="6109005" y="2137828"/>
              <a:ext cx="1888044" cy="619265"/>
              <a:chOff x="6100693" y="2217419"/>
              <a:chExt cx="1888044" cy="619265"/>
            </a:xfrm>
          </p:grpSpPr>
          <p:grpSp>
            <p:nvGrpSpPr>
              <p:cNvPr id="52" name="Group 51"/>
              <p:cNvGrpSpPr/>
              <p:nvPr/>
            </p:nvGrpSpPr>
            <p:grpSpPr>
              <a:xfrm>
                <a:off x="6100693" y="2217419"/>
                <a:ext cx="1888044" cy="296424"/>
                <a:chOff x="6100693" y="2217419"/>
                <a:chExt cx="1888044" cy="296424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6128625" y="2217419"/>
                  <a:ext cx="1831807" cy="296423"/>
                  <a:chOff x="6128625" y="2137827"/>
                  <a:chExt cx="1831807" cy="376016"/>
                </a:xfrm>
              </p:grpSpPr>
              <p:cxnSp>
                <p:nvCxnSpPr>
                  <p:cNvPr id="37" name="Straight Connector 36"/>
                  <p:cNvCxnSpPr/>
                  <p:nvPr/>
                </p:nvCxnSpPr>
                <p:spPr>
                  <a:xfrm>
                    <a:off x="6128625" y="2137827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/>
                  <p:cNvCxnSpPr/>
                  <p:nvPr/>
                </p:nvCxnSpPr>
                <p:spPr>
                  <a:xfrm>
                    <a:off x="6835357" y="2137828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/>
                  <p:cNvCxnSpPr/>
                  <p:nvPr/>
                </p:nvCxnSpPr>
                <p:spPr>
                  <a:xfrm>
                    <a:off x="7960432" y="2137828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0" name="Straight Connector 39"/>
                <p:cNvCxnSpPr/>
                <p:nvPr/>
              </p:nvCxnSpPr>
              <p:spPr>
                <a:xfrm flipH="1">
                  <a:off x="6100693" y="2513841"/>
                  <a:ext cx="1888044" cy="2"/>
                </a:xfrm>
                <a:prstGeom prst="line">
                  <a:avLst/>
                </a:prstGeom>
                <a:ln w="571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5" name="Straight Arrow Connector 44"/>
              <p:cNvCxnSpPr/>
              <p:nvPr/>
            </p:nvCxnSpPr>
            <p:spPr>
              <a:xfrm>
                <a:off x="7065301" y="2513842"/>
                <a:ext cx="0" cy="322842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2036010" y="4197071"/>
                <a:ext cx="811998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=(€7,000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€205,000−€200,000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lang="en-US" sz="280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€</m:t>
                      </m:r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200,000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6010" y="4197071"/>
                <a:ext cx="8119980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Group 65"/>
          <p:cNvGrpSpPr/>
          <p:nvPr/>
        </p:nvGrpSpPr>
        <p:grpSpPr>
          <a:xfrm>
            <a:off x="4819135" y="4808577"/>
            <a:ext cx="2553730" cy="798010"/>
            <a:chOff x="4860324" y="4874481"/>
            <a:chExt cx="2553730" cy="7980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/>
                <p:cNvSpPr txBox="1"/>
                <p:nvPr/>
              </p:nvSpPr>
              <p:spPr>
                <a:xfrm>
                  <a:off x="5182184" y="5058043"/>
                  <a:ext cx="1910010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=6.00%</m:t>
                        </m:r>
                      </m:oMath>
                    </m:oMathPara>
                  </a14:m>
                  <a:endParaRPr lang="en-US" sz="2800" i="1" dirty="0"/>
                </a:p>
              </p:txBody>
            </p:sp>
          </mc:Choice>
          <mc:Fallback xmlns="">
            <p:sp>
              <p:nvSpPr>
                <p:cNvPr id="64" name="TextBox 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2184" y="5058043"/>
                  <a:ext cx="1910010" cy="430887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Rectangle 64"/>
            <p:cNvSpPr/>
            <p:nvPr/>
          </p:nvSpPr>
          <p:spPr>
            <a:xfrm>
              <a:off x="4860324" y="4874481"/>
              <a:ext cx="2553730" cy="798010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3821650" y="2282420"/>
            <a:ext cx="4548700" cy="1717557"/>
            <a:chOff x="3741900" y="4295568"/>
            <a:chExt cx="4548700" cy="1717557"/>
          </a:xfrm>
        </p:grpSpPr>
        <p:sp>
          <p:nvSpPr>
            <p:cNvPr id="55" name="Rectangle 54"/>
            <p:cNvSpPr/>
            <p:nvPr/>
          </p:nvSpPr>
          <p:spPr>
            <a:xfrm>
              <a:off x="3741900" y="4295568"/>
              <a:ext cx="4548700" cy="17175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87217" y="4400294"/>
              <a:ext cx="4058067" cy="15081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000" b="1" dirty="0"/>
                <a:t>Example: </a:t>
              </a:r>
              <a:endParaRPr lang="en-US" sz="2000" b="1" dirty="0" smtClean="0"/>
            </a:p>
            <a:p>
              <a:r>
                <a:rPr lang="en-US" dirty="0" smtClean="0"/>
                <a:t>A </a:t>
              </a:r>
              <a:r>
                <a:rPr lang="en-US" dirty="0"/>
                <a:t>property is bought for </a:t>
              </a:r>
              <a:r>
                <a:rPr lang="fr-FR" dirty="0"/>
                <a:t>€</a:t>
              </a:r>
              <a:r>
                <a:rPr lang="en-GB" dirty="0"/>
                <a:t>2</a:t>
              </a:r>
              <a:r>
                <a:rPr lang="en-US" dirty="0"/>
                <a:t>00,000 at </a:t>
              </a:r>
              <a:r>
                <a:rPr lang="en-US" dirty="0" smtClean="0"/>
                <a:t>t=0</a:t>
              </a:r>
              <a:endParaRPr lang="en-US" dirty="0"/>
            </a:p>
            <a:p>
              <a:r>
                <a:rPr lang="en-US" dirty="0"/>
                <a:t>The landlord receives </a:t>
              </a:r>
              <a:r>
                <a:rPr lang="fr-FR" dirty="0"/>
                <a:t>€</a:t>
              </a:r>
              <a:r>
                <a:rPr lang="en-US" dirty="0"/>
                <a:t>7,000 rent and sells the property for </a:t>
              </a:r>
              <a:r>
                <a:rPr lang="fr-FR" dirty="0"/>
                <a:t>€</a:t>
              </a:r>
              <a:r>
                <a:rPr lang="en-US" dirty="0"/>
                <a:t>205,000 at t = </a:t>
              </a:r>
              <a:r>
                <a:rPr lang="en-US" dirty="0" smtClean="0"/>
                <a:t>1</a:t>
              </a:r>
              <a:endParaRPr lang="en-US" dirty="0"/>
            </a:p>
            <a:p>
              <a:pPr algn="ctr"/>
              <a:r>
                <a:rPr lang="en-US" b="1" dirty="0"/>
                <a:t>What is the rate of return?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248707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8918484E-3B72-4AE2-B6FA-ABEA0BB0C63A}"/>
              </a:ext>
            </a:extLst>
          </p:cNvPr>
          <p:cNvSpPr txBox="1"/>
          <p:nvPr/>
        </p:nvSpPr>
        <p:spPr>
          <a:xfrm>
            <a:off x="1117979" y="259492"/>
            <a:ext cx="99560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How to calculate the return if there is operational cash flow (rent) in addition to the reversion cash flow (sale</a:t>
            </a:r>
            <a:r>
              <a:rPr lang="en-US" sz="2800" dirty="0" smtClean="0"/>
              <a:t>) </a:t>
            </a:r>
            <a:endParaRPr lang="en-US" sz="2800" dirty="0"/>
          </a:p>
        </p:txBody>
      </p:sp>
      <p:grpSp>
        <p:nvGrpSpPr>
          <p:cNvPr id="65" name="Group 64">
            <a:extLst>
              <a:ext uri="{FF2B5EF4-FFF2-40B4-BE49-F238E27FC236}">
                <a16:creationId xmlns="" xmlns:a16="http://schemas.microsoft.com/office/drawing/2014/main" id="{E0E7B56C-844F-4B8B-8E91-90EC34069464}"/>
              </a:ext>
            </a:extLst>
          </p:cNvPr>
          <p:cNvGrpSpPr/>
          <p:nvPr/>
        </p:nvGrpSpPr>
        <p:grpSpPr>
          <a:xfrm>
            <a:off x="2361942" y="1175110"/>
            <a:ext cx="7468117" cy="520045"/>
            <a:chOff x="2361942" y="889391"/>
            <a:chExt cx="7468117" cy="629254"/>
          </a:xfrm>
        </p:grpSpPr>
        <p:sp>
          <p:nvSpPr>
            <p:cNvPr id="66" name="TextBox 65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2361942" y="889391"/>
              <a:ext cx="7468117" cy="5809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spc="30" dirty="0">
                  <a:solidFill>
                    <a:schemeClr val="tx1">
                      <a:lumMod val="60000"/>
                      <a:lumOff val="40000"/>
                    </a:schemeClr>
                  </a:solidFill>
                  <a:latin typeface="+mj-lt"/>
                </a:rPr>
                <a:t>Two components</a:t>
              </a:r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1518645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Rectangle 69"/>
          <p:cNvSpPr/>
          <p:nvPr/>
        </p:nvSpPr>
        <p:spPr>
          <a:xfrm>
            <a:off x="3859487" y="2270995"/>
            <a:ext cx="1828800" cy="986772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tx2"/>
                </a:solidFill>
              </a:rPr>
              <a:t>Income</a:t>
            </a:r>
          </a:p>
          <a:p>
            <a:pPr algn="ctr"/>
            <a:r>
              <a:rPr lang="en-US" sz="2000" b="1" dirty="0" smtClean="0">
                <a:solidFill>
                  <a:schemeClr val="tx2"/>
                </a:solidFill>
              </a:rPr>
              <a:t>Return</a:t>
            </a:r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789123" y="2271076"/>
            <a:ext cx="1903305" cy="986691"/>
            <a:chOff x="1789123" y="2271076"/>
            <a:chExt cx="1903305" cy="986691"/>
          </a:xfrm>
        </p:grpSpPr>
        <p:sp>
          <p:nvSpPr>
            <p:cNvPr id="48" name="Rectángulo 20">
              <a:extLst>
                <a:ext uri="{FF2B5EF4-FFF2-40B4-BE49-F238E27FC236}">
                  <a16:creationId xmlns="" xmlns:a16="http://schemas.microsoft.com/office/drawing/2014/main" id="{3D693596-7CD5-440A-B3A8-F41EF07ABDF1}"/>
                </a:ext>
              </a:extLst>
            </p:cNvPr>
            <p:cNvSpPr/>
            <p:nvPr/>
          </p:nvSpPr>
          <p:spPr>
            <a:xfrm>
              <a:off x="1789123" y="2441215"/>
              <a:ext cx="1435731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GB" sz="2000" dirty="0" smtClean="0"/>
                <a:t>Yield of </a:t>
              </a:r>
              <a:r>
                <a:rPr lang="en-GB" sz="2000" dirty="0"/>
                <a:t>an investment </a:t>
              </a:r>
              <a:endParaRPr lang="es-PE" sz="2000" dirty="0"/>
            </a:p>
          </p:txBody>
        </p:sp>
        <p:sp>
          <p:nvSpPr>
            <p:cNvPr id="72" name="Abrir llave 1">
              <a:extLst>
                <a:ext uri="{FF2B5EF4-FFF2-40B4-BE49-F238E27FC236}">
                  <a16:creationId xmlns:a16="http://schemas.microsoft.com/office/drawing/2014/main" xmlns="" id="{658A1BD8-D363-4331-AFE6-5954C635B694}"/>
                </a:ext>
              </a:extLst>
            </p:cNvPr>
            <p:cNvSpPr/>
            <p:nvPr/>
          </p:nvSpPr>
          <p:spPr>
            <a:xfrm>
              <a:off x="3494218" y="2271076"/>
              <a:ext cx="198210" cy="986691"/>
            </a:xfrm>
            <a:prstGeom prst="leftBrace">
              <a:avLst>
                <a:gd name="adj1" fmla="val 42717"/>
                <a:gd name="adj2" fmla="val 50134"/>
              </a:avLst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2467294" y="3593144"/>
                <a:ext cx="241649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7294" y="3593144"/>
                <a:ext cx="2416494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/>
          <p:cNvGrpSpPr/>
          <p:nvPr/>
        </p:nvGrpSpPr>
        <p:grpSpPr>
          <a:xfrm>
            <a:off x="1602843" y="4077907"/>
            <a:ext cx="4377092" cy="1740146"/>
            <a:chOff x="854392" y="4093809"/>
            <a:chExt cx="4377092" cy="1740146"/>
          </a:xfrm>
        </p:grpSpPr>
        <p:grpSp>
          <p:nvGrpSpPr>
            <p:cNvPr id="74" name="Group 73"/>
            <p:cNvGrpSpPr/>
            <p:nvPr/>
          </p:nvGrpSpPr>
          <p:grpSpPr>
            <a:xfrm>
              <a:off x="854392" y="4093809"/>
              <a:ext cx="4377092" cy="1740146"/>
              <a:chOff x="3098635" y="2115398"/>
              <a:chExt cx="4377092" cy="1740146"/>
            </a:xfrm>
          </p:grpSpPr>
          <p:grpSp>
            <p:nvGrpSpPr>
              <p:cNvPr id="75" name="Group 74"/>
              <p:cNvGrpSpPr/>
              <p:nvPr/>
            </p:nvGrpSpPr>
            <p:grpSpPr>
              <a:xfrm>
                <a:off x="3098635" y="2686919"/>
                <a:ext cx="4377092" cy="1168625"/>
                <a:chOff x="3707151" y="2686919"/>
                <a:chExt cx="4377092" cy="11686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6" name="CuadroTexto 5">
                      <a:extLst>
                        <a:ext uri="{FF2B5EF4-FFF2-40B4-BE49-F238E27FC236}">
                          <a16:creationId xmlns="" xmlns:a16="http://schemas.microsoft.com/office/drawing/2014/main" id="{711B30AD-079D-4808-B44D-77EF3CF6F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07151" y="2747446"/>
                      <a:ext cx="1057501" cy="707886"/>
                    </a:xfrm>
                    <a:prstGeom prst="rect">
                      <a:avLst/>
                    </a:prstGeom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a14:m>
                      <a:r>
                        <a:rPr lang="en-US" sz="2000" dirty="0"/>
                        <a:t> </a:t>
                      </a:r>
                      <a:r>
                        <a:rPr lang="en-US" sz="2000" dirty="0" smtClean="0"/>
                        <a:t>= yield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86" name="CuadroTexto 5">
                      <a:extLst>
                        <a:ext uri="{FF2B5EF4-FFF2-40B4-BE49-F238E27FC236}">
                          <a16:creationId xmlns:a16="http://schemas.microsoft.com/office/drawing/2014/main" xmlns="" id="{711B30AD-079D-4808-B44D-77EF3CF6F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707151" y="2747446"/>
                      <a:ext cx="1057501" cy="707886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 t="-4237" b="-13559"/>
                      </a:stretch>
                    </a:blipFill>
                    <a:ln>
                      <a:solidFill>
                        <a:schemeClr val="accent6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7" name="CuadroTexto 9">
                      <a:extLst>
                        <a:ext uri="{FF2B5EF4-FFF2-40B4-BE49-F238E27FC236}">
                          <a16:creationId xmlns="" xmlns:a16="http://schemas.microsoft.com/office/drawing/2014/main" id="{51FCA4DC-06E3-4489-A8E8-375BF68DC0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2155" y="2839881"/>
                      <a:ext cx="1531392" cy="1015663"/>
                    </a:xfrm>
                    <a:prstGeom prst="rect">
                      <a:avLst/>
                    </a:prstGeom>
                    <a:ln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𝐶𝐹</m:t>
                          </m:r>
                        </m:oMath>
                      </a14:m>
                      <a:r>
                        <a:rPr lang="en-US" sz="2000" dirty="0"/>
                        <a:t> = Operational cash </a:t>
                      </a:r>
                      <a:r>
                        <a:rPr lang="en-US" sz="2000" dirty="0" smtClean="0"/>
                        <a:t>flow 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87" name="CuadroTexto 9">
                      <a:extLst>
                        <a:ext uri="{FF2B5EF4-FFF2-40B4-BE49-F238E27FC236}">
                          <a16:creationId xmlns:a16="http://schemas.microsoft.com/office/drawing/2014/main" xmlns="" id="{51FCA4DC-06E3-4489-A8E8-375BF68DC0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2155" y="2839881"/>
                      <a:ext cx="1531392" cy="1015663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l="-395" t="-2976" r="-4348" b="-9524"/>
                      </a:stretch>
                    </a:blipFill>
                    <a:ln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8" name="CuadroTexto 16">
                      <a:extLst>
                        <a:ext uri="{FF2B5EF4-FFF2-40B4-BE49-F238E27FC236}">
                          <a16:creationId xmlns="" xmlns:a16="http://schemas.microsoft.com/office/drawing/2014/main" id="{984EB976-8E0C-48CC-BED4-7D28840819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7939" y="2686919"/>
                      <a:ext cx="1576304" cy="1015663"/>
                    </a:xfrm>
                    <a:prstGeom prst="rect">
                      <a:avLst/>
                    </a:prstGeom>
                    <a:ln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oMath>
                      </a14:m>
                      <a:r>
                        <a:rPr lang="en-US" sz="2000" dirty="0"/>
                        <a:t> = </a:t>
                      </a:r>
                      <a:r>
                        <a:rPr lang="en-US" sz="2000" dirty="0" smtClean="0"/>
                        <a:t>Property’s </a:t>
                      </a:r>
                      <a:r>
                        <a:rPr lang="en-US" sz="2000" dirty="0"/>
                        <a:t>market value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88" name="CuadroTexto 16">
                      <a:extLst>
                        <a:ext uri="{FF2B5EF4-FFF2-40B4-BE49-F238E27FC236}">
                          <a16:creationId xmlns:a16="http://schemas.microsoft.com/office/drawing/2014/main" xmlns="" id="{984EB976-8E0C-48CC-BED4-7D28840819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7939" y="2686919"/>
                      <a:ext cx="1576304" cy="1015663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l="-1149" t="-2976" r="-1149" b="-9524"/>
                      </a:stretch>
                    </a:blipFill>
                    <a:ln>
                      <a:solidFill>
                        <a:schemeClr val="accent3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6" name="Straight Arrow Connector 75"/>
              <p:cNvCxnSpPr/>
              <p:nvPr/>
            </p:nvCxnSpPr>
            <p:spPr>
              <a:xfrm flipH="1">
                <a:off x="3673863" y="2115398"/>
                <a:ext cx="350426" cy="574122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/>
              <p:nvPr/>
            </p:nvCxnSpPr>
            <p:spPr>
              <a:xfrm>
                <a:off x="5030111" y="2137828"/>
                <a:ext cx="0" cy="625747"/>
              </a:xfrm>
              <a:prstGeom prst="straightConnector1">
                <a:avLst/>
              </a:prstGeom>
              <a:ln w="57150">
                <a:solidFill>
                  <a:schemeClr val="tx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5" name="Straight Arrow Connector 104"/>
            <p:cNvCxnSpPr/>
            <p:nvPr/>
          </p:nvCxnSpPr>
          <p:spPr>
            <a:xfrm>
              <a:off x="3522993" y="4093809"/>
              <a:ext cx="357405" cy="517645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/>
              <p:cNvSpPr txBox="1"/>
              <p:nvPr/>
            </p:nvSpPr>
            <p:spPr>
              <a:xfrm>
                <a:off x="1497476" y="4198501"/>
                <a:ext cx="435612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€7,000</m:t>
                      </m:r>
                      <m:r>
                        <a:rPr lang="en-US" sz="2800" i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i="1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€200,000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=3.5%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89" name="TextBox 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476" y="4198501"/>
                <a:ext cx="4356129" cy="43088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Rectangle 107"/>
          <p:cNvSpPr/>
          <p:nvPr/>
        </p:nvSpPr>
        <p:spPr>
          <a:xfrm>
            <a:off x="6521740" y="2289523"/>
            <a:ext cx="1828800" cy="986772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Appreciation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</a:rPr>
              <a:t>Return</a:t>
            </a:r>
            <a:endParaRPr lang="en-US" sz="2000" dirty="0">
              <a:solidFill>
                <a:schemeClr val="tx2"/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8478937" y="2270995"/>
            <a:ext cx="2967103" cy="1015663"/>
            <a:chOff x="8478937" y="2270995"/>
            <a:chExt cx="2967103" cy="1015663"/>
          </a:xfrm>
        </p:grpSpPr>
        <p:sp>
          <p:nvSpPr>
            <p:cNvPr id="107" name="Rectángulo 20">
              <a:extLst>
                <a:ext uri="{FF2B5EF4-FFF2-40B4-BE49-F238E27FC236}">
                  <a16:creationId xmlns="" xmlns:a16="http://schemas.microsoft.com/office/drawing/2014/main" id="{3D693596-7CD5-440A-B3A8-F41EF07ABDF1}"/>
                </a:ext>
              </a:extLst>
            </p:cNvPr>
            <p:cNvSpPr/>
            <p:nvPr/>
          </p:nvSpPr>
          <p:spPr>
            <a:xfrm>
              <a:off x="8977753" y="2270995"/>
              <a:ext cx="2468287" cy="10156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2000" dirty="0"/>
                <a:t>Cash flow derived from the rise in value of a property</a:t>
              </a:r>
              <a:endParaRPr lang="es-PE" sz="2000" dirty="0"/>
            </a:p>
          </p:txBody>
        </p:sp>
        <p:sp>
          <p:nvSpPr>
            <p:cNvPr id="109" name="Abrir llave 1">
              <a:extLst>
                <a:ext uri="{FF2B5EF4-FFF2-40B4-BE49-F238E27FC236}">
                  <a16:creationId xmlns:a16="http://schemas.microsoft.com/office/drawing/2014/main" xmlns="" id="{658A1BD8-D363-4331-AFE6-5954C635B694}"/>
                </a:ext>
              </a:extLst>
            </p:cNvPr>
            <p:cNvSpPr/>
            <p:nvPr/>
          </p:nvSpPr>
          <p:spPr>
            <a:xfrm rot="10800000">
              <a:off x="8478937" y="2289564"/>
              <a:ext cx="198210" cy="986691"/>
            </a:xfrm>
            <a:prstGeom prst="leftBrace">
              <a:avLst>
                <a:gd name="adj1" fmla="val 42717"/>
                <a:gd name="adj2" fmla="val 50134"/>
              </a:avLst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6876282" y="4146295"/>
            <a:ext cx="3289349" cy="1714519"/>
            <a:chOff x="3676919" y="2137828"/>
            <a:chExt cx="3289349" cy="1714519"/>
          </a:xfrm>
        </p:grpSpPr>
        <p:grpSp>
          <p:nvGrpSpPr>
            <p:cNvPr id="91" name="Group 90"/>
            <p:cNvGrpSpPr/>
            <p:nvPr/>
          </p:nvGrpSpPr>
          <p:grpSpPr>
            <a:xfrm>
              <a:off x="3676919" y="2836684"/>
              <a:ext cx="3134388" cy="1015663"/>
              <a:chOff x="4285435" y="2836684"/>
              <a:chExt cx="3134388" cy="101566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CuadroTexto 5">
                    <a:extLst>
                      <a:ext uri="{FF2B5EF4-FFF2-40B4-BE49-F238E27FC236}">
                        <a16:creationId xmlns="" xmlns:a16="http://schemas.microsoft.com/office/drawing/2014/main" id="{711B30AD-079D-4808-B44D-77EF3CF6F4E5}"/>
                      </a:ext>
                    </a:extLst>
                  </p:cNvPr>
                  <p:cNvSpPr txBox="1"/>
                  <p:nvPr/>
                </p:nvSpPr>
                <p:spPr>
                  <a:xfrm>
                    <a:off x="4285435" y="2836684"/>
                    <a:ext cx="1057501" cy="707886"/>
                  </a:xfrm>
                  <a:prstGeom prst="rect">
                    <a:avLst/>
                  </a:prstGeom>
                  <a:ln>
                    <a:solidFill>
                      <a:schemeClr val="accent6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a14:m>
                    <a:r>
                      <a:rPr lang="en-US" sz="2000" dirty="0" smtClean="0"/>
                      <a:t> = Growth</a:t>
                    </a:r>
                    <a:endParaRPr lang="es-PE" sz="2000" dirty="0"/>
                  </a:p>
                </p:txBody>
              </p:sp>
            </mc:Choice>
            <mc:Fallback xmlns="">
              <p:sp>
                <p:nvSpPr>
                  <p:cNvPr id="102" name="CuadroTexto 5">
                    <a:extLst>
                      <a:ext uri="{FF2B5EF4-FFF2-40B4-BE49-F238E27FC236}">
                        <a16:creationId xmlns:a16="http://schemas.microsoft.com/office/drawing/2014/main" xmlns="" id="{711B30AD-079D-4808-B44D-77EF3CF6F4E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5435" y="2836684"/>
                    <a:ext cx="1057501" cy="707886"/>
                  </a:xfrm>
                  <a:prstGeom prst="rect">
                    <a:avLst/>
                  </a:prstGeom>
                  <a:blipFill rotWithShape="0">
                    <a:blip r:embed="rId8"/>
                    <a:stretch>
                      <a:fillRect l="-2857" t="-4237" r="-3429" b="-13559"/>
                    </a:stretch>
                  </a:blipFill>
                  <a:ln>
                    <a:solidFill>
                      <a:schemeClr val="accent6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4" name="CuadroTexto 16">
                    <a:extLst>
                      <a:ext uri="{FF2B5EF4-FFF2-40B4-BE49-F238E27FC236}">
                        <a16:creationId xmlns="" xmlns:a16="http://schemas.microsoft.com/office/drawing/2014/main" id="{984EB976-8E0C-48CC-BED4-7D2884081956}"/>
                      </a:ext>
                    </a:extLst>
                  </p:cNvPr>
                  <p:cNvSpPr txBox="1"/>
                  <p:nvPr/>
                </p:nvSpPr>
                <p:spPr>
                  <a:xfrm>
                    <a:off x="5843519" y="2836684"/>
                    <a:ext cx="1576304" cy="1015663"/>
                  </a:xfrm>
                  <a:prstGeom prst="rect">
                    <a:avLst/>
                  </a:prstGeom>
                  <a:ln>
                    <a:solidFill>
                      <a:schemeClr val="accent3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r>
                          <a:rPr lang="en-US" sz="2000" i="1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oMath>
                    </a14:m>
                    <a:r>
                      <a:rPr lang="en-US" sz="2000" dirty="0"/>
                      <a:t> = </a:t>
                    </a:r>
                    <a:r>
                      <a:rPr lang="en-US" sz="2000" dirty="0" smtClean="0"/>
                      <a:t>Property’s </a:t>
                    </a:r>
                    <a:r>
                      <a:rPr lang="en-US" sz="2000" dirty="0"/>
                      <a:t>market value</a:t>
                    </a:r>
                    <a:endParaRPr lang="es-PE" sz="2000" dirty="0"/>
                  </a:p>
                </p:txBody>
              </p:sp>
            </mc:Choice>
            <mc:Fallback xmlns="">
              <p:sp>
                <p:nvSpPr>
                  <p:cNvPr id="104" name="CuadroTexto 16">
                    <a:extLst>
                      <a:ext uri="{FF2B5EF4-FFF2-40B4-BE49-F238E27FC236}">
                        <a16:creationId xmlns:a16="http://schemas.microsoft.com/office/drawing/2014/main" xmlns="" id="{984EB976-8E0C-48CC-BED4-7D28840819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43519" y="2836684"/>
                    <a:ext cx="1576304" cy="1015663"/>
                  </a:xfrm>
                  <a:prstGeom prst="rect">
                    <a:avLst/>
                  </a:prstGeom>
                  <a:blipFill rotWithShape="0">
                    <a:blip r:embed="rId9"/>
                    <a:stretch>
                      <a:fillRect l="-1538" t="-2976" r="-1154" b="-9524"/>
                    </a:stretch>
                  </a:blipFill>
                  <a:ln>
                    <a:solidFill>
                      <a:schemeClr val="accent3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92" name="Straight Arrow Connector 91"/>
            <p:cNvCxnSpPr/>
            <p:nvPr/>
          </p:nvCxnSpPr>
          <p:spPr>
            <a:xfrm>
              <a:off x="4207695" y="2137828"/>
              <a:ext cx="0" cy="625747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/>
            <p:cNvGrpSpPr/>
            <p:nvPr/>
          </p:nvGrpSpPr>
          <p:grpSpPr>
            <a:xfrm>
              <a:off x="5078224" y="2137828"/>
              <a:ext cx="1888044" cy="619265"/>
              <a:chOff x="5069912" y="2217419"/>
              <a:chExt cx="1888044" cy="619265"/>
            </a:xfrm>
          </p:grpSpPr>
          <p:grpSp>
            <p:nvGrpSpPr>
              <p:cNvPr id="95" name="Group 94"/>
              <p:cNvGrpSpPr/>
              <p:nvPr/>
            </p:nvGrpSpPr>
            <p:grpSpPr>
              <a:xfrm>
                <a:off x="5069912" y="2217419"/>
                <a:ext cx="1888044" cy="296424"/>
                <a:chOff x="5069912" y="2217419"/>
                <a:chExt cx="1888044" cy="296424"/>
              </a:xfrm>
            </p:grpSpPr>
            <p:grpSp>
              <p:nvGrpSpPr>
                <p:cNvPr id="97" name="Group 96"/>
                <p:cNvGrpSpPr/>
                <p:nvPr/>
              </p:nvGrpSpPr>
              <p:grpSpPr>
                <a:xfrm>
                  <a:off x="5097844" y="2217419"/>
                  <a:ext cx="1831807" cy="296423"/>
                  <a:chOff x="5097844" y="2137827"/>
                  <a:chExt cx="1831807" cy="376016"/>
                </a:xfrm>
              </p:grpSpPr>
              <p:cxnSp>
                <p:nvCxnSpPr>
                  <p:cNvPr id="99" name="Straight Connector 98"/>
                  <p:cNvCxnSpPr/>
                  <p:nvPr/>
                </p:nvCxnSpPr>
                <p:spPr>
                  <a:xfrm>
                    <a:off x="5097844" y="2137827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Straight Connector 99"/>
                  <p:cNvCxnSpPr/>
                  <p:nvPr/>
                </p:nvCxnSpPr>
                <p:spPr>
                  <a:xfrm>
                    <a:off x="5804576" y="2137828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Straight Connector 100"/>
                  <p:cNvCxnSpPr/>
                  <p:nvPr/>
                </p:nvCxnSpPr>
                <p:spPr>
                  <a:xfrm>
                    <a:off x="6929651" y="2137828"/>
                    <a:ext cx="0" cy="376015"/>
                  </a:xfrm>
                  <a:prstGeom prst="line">
                    <a:avLst/>
                  </a:prstGeom>
                  <a:ln w="57150">
                    <a:solidFill>
                      <a:schemeClr val="accent3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98" name="Straight Connector 97"/>
                <p:cNvCxnSpPr/>
                <p:nvPr/>
              </p:nvCxnSpPr>
              <p:spPr>
                <a:xfrm flipH="1">
                  <a:off x="5069912" y="2513841"/>
                  <a:ext cx="1888044" cy="2"/>
                </a:xfrm>
                <a:prstGeom prst="line">
                  <a:avLst/>
                </a:prstGeom>
                <a:ln w="57150">
                  <a:solidFill>
                    <a:schemeClr val="accent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6" name="Straight Arrow Connector 95"/>
              <p:cNvCxnSpPr/>
              <p:nvPr/>
            </p:nvCxnSpPr>
            <p:spPr>
              <a:xfrm>
                <a:off x="6013934" y="2513842"/>
                <a:ext cx="0" cy="322842"/>
              </a:xfrm>
              <a:prstGeom prst="straightConnector1">
                <a:avLst/>
              </a:prstGeom>
              <a:ln w="57150">
                <a:solidFill>
                  <a:schemeClr val="accent3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/>
              <p:cNvSpPr txBox="1"/>
              <p:nvPr/>
            </p:nvSpPr>
            <p:spPr>
              <a:xfrm>
                <a:off x="7180608" y="3574224"/>
                <a:ext cx="360656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tx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8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110" name="TextBox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608" y="3574224"/>
                <a:ext cx="3606565" cy="430887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5498160" y="4147683"/>
                <a:ext cx="6325450" cy="4001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600" b="0" i="1" smtClean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(€205,000 −€200,000)/€</m:t>
                      </m:r>
                      <m:r>
                        <a:rPr lang="en-US" sz="2600" b="0" i="1" smtClean="0">
                          <a:solidFill>
                            <a:schemeClr val="accent3"/>
                          </a:solidFill>
                          <a:latin typeface="Cambria Math" panose="02040503050406030204" pitchFamily="18" charset="0"/>
                        </a:rPr>
                        <m:t>200,000</m:t>
                      </m:r>
                      <m:r>
                        <a:rPr lang="en-US" sz="2600" b="0" i="1" smtClean="0">
                          <a:latin typeface="Cambria Math" panose="02040503050406030204" pitchFamily="18" charset="0"/>
                        </a:rPr>
                        <m:t>=2.5%</m:t>
                      </m:r>
                    </m:oMath>
                  </m:oMathPara>
                </a14:m>
                <a:endParaRPr lang="en-US" sz="2600" i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160" y="4147683"/>
                <a:ext cx="6325450" cy="400110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53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3" grpId="0"/>
      <p:bldP spid="89" grpId="0"/>
      <p:bldP spid="89" grpId="1"/>
      <p:bldP spid="108" grpId="0" animBg="1"/>
      <p:bldP spid="110" grpId="0"/>
      <p:bldP spid="1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1117979" y="259492"/>
            <a:ext cx="9956042" cy="999216"/>
            <a:chOff x="1117979" y="259492"/>
            <a:chExt cx="9956042" cy="999216"/>
          </a:xfrm>
        </p:grpSpPr>
        <p:sp>
          <p:nvSpPr>
            <p:cNvPr id="22" name="TextBox 21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1117979" y="259492"/>
              <a:ext cx="99560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calculate the return if there is operational cash flow (rent) in addition to the reversion cash flow (sale</a:t>
              </a:r>
              <a:r>
                <a:rPr lang="en-US" sz="2800" dirty="0" smtClean="0"/>
                <a:t>) </a:t>
              </a:r>
              <a:endParaRPr lang="en-US" sz="2800" dirty="0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1258708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504622" y="1957505"/>
                <a:ext cx="7182757" cy="793646"/>
              </a:xfrm>
              <a:prstGeom prst="rect">
                <a:avLst/>
              </a:prstGeom>
              <a:solidFill>
                <a:schemeClr val="tx1">
                  <a:lumMod val="20000"/>
                  <a:lumOff val="8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US" sz="2000" b="1" dirty="0" smtClean="0">
                    <a:solidFill>
                      <a:schemeClr val="accent6"/>
                    </a:solidFill>
                  </a:rPr>
                  <a:t>Total Return</a:t>
                </a:r>
                <a:r>
                  <a:rPr lang="en-US" sz="2000" b="1" dirty="0" smtClean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A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 smtClean="0">
                    <a:solidFill>
                      <a:schemeClr val="accent6"/>
                    </a:solidFill>
                  </a:rPr>
                  <a:t> </a:t>
                </a:r>
                <a:r>
                  <a:rPr lang="en-US" sz="2000" b="1" dirty="0" smtClean="0">
                    <a:solidFill>
                      <a:schemeClr val="accent2"/>
                    </a:solidFill>
                  </a:rPr>
                  <a:t>Income Return</a:t>
                </a:r>
                <a:r>
                  <a:rPr lang="en-US" sz="2000" b="1" dirty="0" smtClean="0">
                    <a:solidFill>
                      <a:schemeClr val="tx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66A1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b="1" dirty="0" smtClean="0">
                    <a:solidFill>
                      <a:schemeClr val="accent4"/>
                    </a:solidFill>
                  </a:rPr>
                  <a:t> Appreciation Return</a:t>
                </a:r>
                <a:endParaRPr lang="en-US" sz="2000" b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622" y="1957505"/>
                <a:ext cx="7182757" cy="79364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5653841" y="2844205"/>
            <a:ext cx="2148922" cy="749957"/>
            <a:chOff x="5653841" y="2844205"/>
            <a:chExt cx="2148922" cy="74995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5653841" y="2844205"/>
                  <a:ext cx="214892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  <m:r>
                          <a:rPr lang="en-US" sz="2400" i="1">
                            <a:solidFill>
                              <a:srgbClr val="0066A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24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24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en-US" sz="2400" b="1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%</m:t>
                        </m:r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3841" y="2844205"/>
                  <a:ext cx="2148922" cy="46166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Abrir llave 1">
              <a:extLst>
                <a:ext uri="{FF2B5EF4-FFF2-40B4-BE49-F238E27FC236}">
                  <a16:creationId xmlns:a16="http://schemas.microsoft.com/office/drawing/2014/main" xmlns="" id="{658A1BD8-D363-4331-AFE6-5954C635B694}"/>
                </a:ext>
              </a:extLst>
            </p:cNvPr>
            <p:cNvSpPr/>
            <p:nvPr/>
          </p:nvSpPr>
          <p:spPr>
            <a:xfrm rot="16200000">
              <a:off x="6629197" y="2513097"/>
              <a:ext cx="198210" cy="1963919"/>
            </a:xfrm>
            <a:prstGeom prst="leftBrace">
              <a:avLst>
                <a:gd name="adj1" fmla="val 42717"/>
                <a:gd name="adj2" fmla="val 50134"/>
              </a:avLst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680554" y="3952173"/>
            <a:ext cx="2095495" cy="798010"/>
            <a:chOff x="4860324" y="4874481"/>
            <a:chExt cx="2095495" cy="7980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5185662" y="5058043"/>
                  <a:ext cx="1444819" cy="43088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=6%</m:t>
                        </m:r>
                      </m:oMath>
                    </m:oMathPara>
                  </a14:m>
                  <a:endParaRPr lang="en-US" sz="2800" i="1" dirty="0"/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662" y="5058043"/>
                  <a:ext cx="1444819" cy="43088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/>
            <p:cNvSpPr/>
            <p:nvPr/>
          </p:nvSpPr>
          <p:spPr>
            <a:xfrm>
              <a:off x="4860324" y="4874481"/>
              <a:ext cx="2095495" cy="798010"/>
            </a:xfrm>
            <a:prstGeom prst="rect">
              <a:avLst/>
            </a:prstGeom>
            <a:noFill/>
            <a:ln>
              <a:solidFill>
                <a:schemeClr val="accent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3734304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0" y="259492"/>
            <a:ext cx="12191999" cy="651194"/>
            <a:chOff x="0" y="259492"/>
            <a:chExt cx="12191999" cy="651194"/>
          </a:xfrm>
        </p:grpSpPr>
        <p:sp>
          <p:nvSpPr>
            <p:cNvPr id="48" name="TextBox 47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0" y="259492"/>
              <a:ext cx="12191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measure the return of a multi-period investment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910686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CuadroTexto 3">
            <a:extLst>
              <a:ext uri="{FF2B5EF4-FFF2-40B4-BE49-F238E27FC236}">
                <a16:creationId xmlns:a16="http://schemas.microsoft.com/office/drawing/2014/main" xmlns="" id="{DA3B7D67-6E9F-4490-B3ED-82B879B34C79}"/>
              </a:ext>
            </a:extLst>
          </p:cNvPr>
          <p:cNvSpPr txBox="1"/>
          <p:nvPr/>
        </p:nvSpPr>
        <p:spPr>
          <a:xfrm>
            <a:off x="1001865" y="1532472"/>
            <a:ext cx="3493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Total return is </a:t>
            </a:r>
            <a:r>
              <a:rPr lang="en-US" b="1" dirty="0"/>
              <a:t>typically measured over multiple time periods</a:t>
            </a:r>
            <a:r>
              <a:rPr lang="en-US" dirty="0"/>
              <a:t> because real estate investment is normally </a:t>
            </a:r>
            <a:r>
              <a:rPr lang="en-US" dirty="0" smtClean="0"/>
              <a:t>long-term 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4574022" y="1670971"/>
            <a:ext cx="3743042" cy="923330"/>
            <a:chOff x="4574022" y="1670971"/>
            <a:chExt cx="3743042" cy="923330"/>
          </a:xfrm>
        </p:grpSpPr>
        <p:sp>
          <p:nvSpPr>
            <p:cNvPr id="54" name="Flecha: cheurón 13">
              <a:extLst>
                <a:ext uri="{FF2B5EF4-FFF2-40B4-BE49-F238E27FC236}">
                  <a16:creationId xmlns:a16="http://schemas.microsoft.com/office/drawing/2014/main" xmlns="" id="{8C4BB320-0B75-46F7-818B-ED8803EF06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574022" y="1820619"/>
              <a:ext cx="421582" cy="624035"/>
            </a:xfrm>
            <a:prstGeom prst="chevron">
              <a:avLst>
                <a:gd name="adj" fmla="val 42603"/>
              </a:avLst>
            </a:prstGeom>
            <a:solidFill>
              <a:schemeClr val="tx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>
                <a:solidFill>
                  <a:schemeClr val="tx1"/>
                </a:solidFill>
              </a:endParaRPr>
            </a:p>
          </p:txBody>
        </p:sp>
        <p:sp>
          <p:nvSpPr>
            <p:cNvPr id="56" name="CuadroTexto 11">
              <a:extLst>
                <a:ext uri="{FF2B5EF4-FFF2-40B4-BE49-F238E27FC236}">
                  <a16:creationId xmlns:a16="http://schemas.microsoft.com/office/drawing/2014/main" xmlns="" id="{514EC870-43EE-4BD9-9E4F-3521714C7885}"/>
                </a:ext>
              </a:extLst>
            </p:cNvPr>
            <p:cNvSpPr txBox="1"/>
            <p:nvPr/>
          </p:nvSpPr>
          <p:spPr>
            <a:xfrm>
              <a:off x="5073924" y="1670971"/>
              <a:ext cx="324314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Investors therefore need to calculate the expected long-term </a:t>
              </a:r>
              <a:r>
                <a:rPr lang="en-US" b="1" dirty="0"/>
                <a:t>horizon</a:t>
              </a:r>
              <a:r>
                <a:rPr lang="en-US" dirty="0"/>
                <a:t> of the </a:t>
              </a:r>
              <a:r>
                <a:rPr lang="en-US" dirty="0" smtClean="0"/>
                <a:t>investment</a:t>
              </a:r>
              <a:endParaRPr lang="en-US" dirty="0"/>
            </a:p>
          </p:txBody>
        </p:sp>
      </p:grpSp>
      <p:sp>
        <p:nvSpPr>
          <p:cNvPr id="58" name="Rectangle 57"/>
          <p:cNvSpPr/>
          <p:nvPr/>
        </p:nvSpPr>
        <p:spPr>
          <a:xfrm>
            <a:off x="1001864" y="2891768"/>
            <a:ext cx="7315199" cy="1131593"/>
          </a:xfrm>
          <a:prstGeom prst="rect">
            <a:avLst/>
          </a:prstGeom>
          <a:solidFill>
            <a:schemeClr val="tx1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/>
                </a:solidFill>
              </a:rPr>
              <a:t>Internal Rate of Return – </a:t>
            </a:r>
            <a:r>
              <a:rPr lang="en-US" b="1" dirty="0" smtClean="0">
                <a:solidFill>
                  <a:schemeClr val="tx2"/>
                </a:solidFill>
              </a:rPr>
              <a:t>IRR</a:t>
            </a:r>
            <a:r>
              <a:rPr lang="en-US" dirty="0" smtClean="0">
                <a:solidFill>
                  <a:schemeClr val="tx2"/>
                </a:solidFill>
              </a:rPr>
              <a:t>:</a:t>
            </a:r>
          </a:p>
          <a:p>
            <a:pPr algn="ctr"/>
            <a:r>
              <a:rPr lang="en-US" dirty="0" smtClean="0">
                <a:solidFill>
                  <a:schemeClr val="tx2"/>
                </a:solidFill>
              </a:rPr>
              <a:t>Single </a:t>
            </a:r>
            <a:r>
              <a:rPr lang="en-US" dirty="0">
                <a:solidFill>
                  <a:schemeClr val="tx2"/>
                </a:solidFill>
              </a:rPr>
              <a:t>rate that discounts all net cash flows obtained from the investment to a present value that equals the purchase price of the investment.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1066829" y="4320828"/>
                <a:ext cx="7172733" cy="7593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0=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𝐼𝑅𝑅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𝐼𝑅𝑅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(1+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𝐼𝑅𝑅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29" y="4320828"/>
                <a:ext cx="7172733" cy="7593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936557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8" grpId="0" animBg="1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259492"/>
            <a:ext cx="12191999" cy="651194"/>
            <a:chOff x="0" y="259492"/>
            <a:chExt cx="12191999" cy="651194"/>
          </a:xfrm>
        </p:grpSpPr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0" y="259492"/>
              <a:ext cx="121919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measure the return of a multi-period investment</a:t>
              </a:r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910686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/>
          <p:cNvSpPr/>
          <p:nvPr/>
        </p:nvSpPr>
        <p:spPr>
          <a:xfrm>
            <a:off x="1790749" y="1116777"/>
            <a:ext cx="3017520" cy="1142720"/>
          </a:xfrm>
          <a:prstGeom prst="rect">
            <a:avLst/>
          </a:prstGeom>
          <a:solidFill>
            <a:schemeClr val="accent2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Discounted Cash Flow (“DCF”) Approach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23" name="CuadroTexto 1">
            <a:extLst>
              <a:ext uri="{FF2B5EF4-FFF2-40B4-BE49-F238E27FC236}">
                <a16:creationId xmlns="" xmlns:a16="http://schemas.microsoft.com/office/drawing/2014/main" id="{2477C209-AFC2-47F8-9830-AD444DCEC356}"/>
              </a:ext>
            </a:extLst>
          </p:cNvPr>
          <p:cNvSpPr txBox="1"/>
          <p:nvPr/>
        </p:nvSpPr>
        <p:spPr>
          <a:xfrm>
            <a:off x="5371276" y="3665119"/>
            <a:ext cx="5585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000" b="1" dirty="0"/>
              <a:t>Property value = NOI1 / Capitalization </a:t>
            </a:r>
            <a:r>
              <a:rPr lang="en-US" sz="2000" b="1" dirty="0" smtClean="0"/>
              <a:t>Rate</a:t>
            </a:r>
            <a:endParaRPr lang="es-PE" sz="2000" b="1" dirty="0"/>
          </a:p>
        </p:txBody>
      </p:sp>
      <p:sp>
        <p:nvSpPr>
          <p:cNvPr id="30" name="Rectángulo 9">
            <a:extLst>
              <a:ext uri="{FF2B5EF4-FFF2-40B4-BE49-F238E27FC236}">
                <a16:creationId xmlns="" xmlns:a16="http://schemas.microsoft.com/office/drawing/2014/main" id="{DD5AA7D0-2FEE-4A6B-8E61-3A35786A75E3}"/>
              </a:ext>
            </a:extLst>
          </p:cNvPr>
          <p:cNvSpPr/>
          <p:nvPr/>
        </p:nvSpPr>
        <p:spPr>
          <a:xfrm>
            <a:off x="6095999" y="2649456"/>
            <a:ext cx="41957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How much income an investment will generate over an infinite/perpetual stream of cash </a:t>
            </a:r>
            <a:r>
              <a:rPr lang="en-US" sz="2000" dirty="0" smtClean="0"/>
              <a:t>flows</a:t>
            </a:r>
            <a:endParaRPr lang="en-US" sz="2000" dirty="0"/>
          </a:p>
        </p:txBody>
      </p:sp>
      <p:sp>
        <p:nvSpPr>
          <p:cNvPr id="45" name="CuadroTexto 16">
            <a:extLst>
              <a:ext uri="{FF2B5EF4-FFF2-40B4-BE49-F238E27FC236}">
                <a16:creationId xmlns="" xmlns:a16="http://schemas.microsoft.com/office/drawing/2014/main" id="{984EB976-8E0C-48CC-BED4-7D2884081956}"/>
              </a:ext>
            </a:extLst>
          </p:cNvPr>
          <p:cNvSpPr txBox="1"/>
          <p:nvPr/>
        </p:nvSpPr>
        <p:spPr>
          <a:xfrm>
            <a:off x="5536585" y="4090345"/>
            <a:ext cx="5308994" cy="1477328"/>
          </a:xfrm>
          <a:prstGeom prst="rect">
            <a:avLst/>
          </a:prstGeom>
          <a:ln>
            <a:solidFill>
              <a:schemeClr val="accent3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Capitalization Rate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Captures </a:t>
            </a:r>
            <a:r>
              <a:rPr lang="en-US" b="1" dirty="0">
                <a:solidFill>
                  <a:schemeClr val="tx1"/>
                </a:solidFill>
              </a:rPr>
              <a:t>the opportunity cost of </a:t>
            </a:r>
            <a:r>
              <a:rPr lang="en-US" b="1" dirty="0" smtClean="0">
                <a:solidFill>
                  <a:schemeClr val="tx1"/>
                </a:solidFill>
              </a:rPr>
              <a:t>capital </a:t>
            </a:r>
            <a:r>
              <a:rPr lang="en-US" dirty="0" smtClean="0">
                <a:solidFill>
                  <a:schemeClr val="tx1"/>
                </a:solidFill>
              </a:rPr>
              <a:t>of an alternative but similar investment for the investor</a:t>
            </a: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Determined </a:t>
            </a:r>
            <a:r>
              <a:rPr lang="en-US" b="1" dirty="0">
                <a:solidFill>
                  <a:schemeClr val="tx1"/>
                </a:solidFill>
              </a:rPr>
              <a:t>by comparing the cap rates of other similar properties</a:t>
            </a:r>
            <a:r>
              <a:rPr lang="en-US" dirty="0">
                <a:solidFill>
                  <a:schemeClr val="tx1"/>
                </a:solidFill>
              </a:rPr>
              <a:t> in capital </a:t>
            </a:r>
            <a:r>
              <a:rPr lang="en-US" dirty="0" smtClean="0">
                <a:solidFill>
                  <a:schemeClr val="tx1"/>
                </a:solidFill>
              </a:rPr>
              <a:t>markets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4" name="CuadroTexto 5">
            <a:extLst>
              <a:ext uri="{FF2B5EF4-FFF2-40B4-BE49-F238E27FC236}">
                <a16:creationId xmlns="" xmlns:a16="http://schemas.microsoft.com/office/drawing/2014/main" id="{711B30AD-079D-4808-B44D-77EF3CF6F4E5}"/>
              </a:ext>
            </a:extLst>
          </p:cNvPr>
          <p:cNvSpPr txBox="1"/>
          <p:nvPr/>
        </p:nvSpPr>
        <p:spPr>
          <a:xfrm>
            <a:off x="7603924" y="4090345"/>
            <a:ext cx="2379747" cy="92333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NOI1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=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NOI </a:t>
            </a:r>
            <a:r>
              <a:rPr lang="en-US" dirty="0">
                <a:solidFill>
                  <a:schemeClr val="tx1"/>
                </a:solidFill>
              </a:rPr>
              <a:t>a year after the initial investment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47" name="Rectángulo 6">
            <a:extLst>
              <a:ext uri="{FF2B5EF4-FFF2-40B4-BE49-F238E27FC236}">
                <a16:creationId xmlns="" xmlns:a16="http://schemas.microsoft.com/office/drawing/2014/main" id="{0484B5BA-0D82-4313-9540-9E9C38D275E4}"/>
              </a:ext>
            </a:extLst>
          </p:cNvPr>
          <p:cNvSpPr/>
          <p:nvPr/>
        </p:nvSpPr>
        <p:spPr>
          <a:xfrm>
            <a:off x="1353832" y="3013128"/>
            <a:ext cx="435292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Used to calculate the total return, including income return and appreciation return, of the </a:t>
            </a:r>
            <a:r>
              <a:rPr lang="en-US" sz="2000" dirty="0" smtClean="0"/>
              <a:t>investment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Property value = PV (present value) </a:t>
            </a:r>
            <a:r>
              <a:rPr lang="en-US" sz="2000" dirty="0"/>
              <a:t>of all future cash flows</a:t>
            </a:r>
            <a:endParaRPr lang="es-PE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Only appropriate for finite horizon investment valuation (e.g. 7 years</a:t>
            </a:r>
            <a:r>
              <a:rPr lang="en-US" sz="2000" dirty="0" smtClean="0"/>
              <a:t>)</a:t>
            </a:r>
            <a:endParaRPr lang="en-US" sz="2000" dirty="0"/>
          </a:p>
        </p:txBody>
      </p:sp>
      <p:sp>
        <p:nvSpPr>
          <p:cNvPr id="13" name="Rectangle 12"/>
          <p:cNvSpPr/>
          <p:nvPr/>
        </p:nvSpPr>
        <p:spPr>
          <a:xfrm>
            <a:off x="6682322" y="1116777"/>
            <a:ext cx="3017520" cy="1142720"/>
          </a:xfrm>
          <a:prstGeom prst="rect">
            <a:avLst/>
          </a:prstGeom>
          <a:solidFill>
            <a:schemeClr val="accent4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Income Capitalization Approach</a:t>
            </a:r>
          </a:p>
          <a:p>
            <a:pPr algn="ctr"/>
            <a:r>
              <a:rPr lang="en-US" sz="2000" b="1" dirty="0">
                <a:solidFill>
                  <a:schemeClr val="tx2"/>
                </a:solidFill>
              </a:rPr>
              <a:t>(Cap Rate/Yield</a:t>
            </a:r>
            <a:r>
              <a:rPr lang="en-US" sz="2000" b="1" dirty="0" smtClean="0">
                <a:solidFill>
                  <a:schemeClr val="tx2"/>
                </a:solidFill>
              </a:rPr>
              <a:t>)</a:t>
            </a:r>
            <a:endParaRPr lang="en-US" sz="2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9147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3" grpId="1"/>
      <p:bldP spid="30" grpId="0"/>
      <p:bldP spid="30" grpId="1"/>
      <p:bldP spid="45" grpId="0" animBg="1"/>
      <p:bldP spid="45" grpId="1" animBg="1"/>
      <p:bldP spid="44" grpId="0" animBg="1"/>
      <p:bldP spid="44" grpId="1" animBg="1"/>
      <p:bldP spid="4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1117979" y="259492"/>
            <a:ext cx="9956042" cy="999216"/>
            <a:chOff x="1117979" y="259492"/>
            <a:chExt cx="9956042" cy="999216"/>
          </a:xfrm>
        </p:grpSpPr>
        <p:sp>
          <p:nvSpPr>
            <p:cNvPr id="56" name="TextBox 55">
              <a:extLst>
                <a:ext uri="{FF2B5EF4-FFF2-40B4-BE49-F238E27FC236}">
                  <a16:creationId xmlns="" xmlns:a16="http://schemas.microsoft.com/office/drawing/2014/main" id="{8918484E-3B72-4AE2-B6FA-ABEA0BB0C63A}"/>
                </a:ext>
              </a:extLst>
            </p:cNvPr>
            <p:cNvSpPr txBox="1"/>
            <p:nvPr/>
          </p:nvSpPr>
          <p:spPr>
            <a:xfrm>
              <a:off x="1117979" y="259492"/>
              <a:ext cx="995604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/>
                <a:t>How to split the “cap rate” between the investor’s time discount rate and the property’s growth rate</a:t>
              </a:r>
              <a:r>
                <a:rPr lang="en-US" sz="2800" dirty="0" smtClean="0"/>
                <a:t>?</a:t>
              </a:r>
              <a:endParaRPr lang="en-US" sz="2800" dirty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="" xmlns:a16="http://schemas.microsoft.com/office/drawing/2014/main" id="{72F9B7D4-064B-4E58-96A8-E5F9791CDDA5}"/>
                </a:ext>
              </a:extLst>
            </p:cNvPr>
            <p:cNvCxnSpPr>
              <a:cxnSpLocks/>
            </p:cNvCxnSpPr>
            <p:nvPr/>
          </p:nvCxnSpPr>
          <p:spPr>
            <a:xfrm>
              <a:off x="5757208" y="1258708"/>
              <a:ext cx="6775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CuadroTexto 6">
            <a:extLst>
              <a:ext uri="{FF2B5EF4-FFF2-40B4-BE49-F238E27FC236}">
                <a16:creationId xmlns="" xmlns:a16="http://schemas.microsoft.com/office/drawing/2014/main" id="{AD716422-3202-4553-AB85-883C7561DC5B}"/>
              </a:ext>
            </a:extLst>
          </p:cNvPr>
          <p:cNvSpPr txBox="1"/>
          <p:nvPr/>
        </p:nvSpPr>
        <p:spPr>
          <a:xfrm>
            <a:off x="1329116" y="1760334"/>
            <a:ext cx="51056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2"/>
                </a:solidFill>
              </a:rPr>
              <a:t>A real estate investment approximates a constant growth annuity:</a:t>
            </a:r>
            <a:endParaRPr lang="es-PE" sz="2000" dirty="0">
              <a:solidFill>
                <a:schemeClr val="tx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361730" y="2695292"/>
                <a:ext cx="3040448" cy="88498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𝑁𝑂𝐼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𝑁𝑂𝐼</m:t>
                          </m:r>
                        </m:num>
                        <m:den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730" y="2695292"/>
                <a:ext cx="3040448" cy="8849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/>
          <p:cNvGrpSpPr/>
          <p:nvPr/>
        </p:nvGrpSpPr>
        <p:grpSpPr>
          <a:xfrm>
            <a:off x="1960390" y="3639714"/>
            <a:ext cx="4055164" cy="1745706"/>
            <a:chOff x="698688" y="4088249"/>
            <a:chExt cx="4055164" cy="1745706"/>
          </a:xfrm>
        </p:grpSpPr>
        <p:grpSp>
          <p:nvGrpSpPr>
            <p:cNvPr id="65" name="Group 64"/>
            <p:cNvGrpSpPr/>
            <p:nvPr/>
          </p:nvGrpSpPr>
          <p:grpSpPr>
            <a:xfrm>
              <a:off x="698688" y="4088249"/>
              <a:ext cx="4055164" cy="1745706"/>
              <a:chOff x="2942931" y="2109838"/>
              <a:chExt cx="4055164" cy="1745706"/>
            </a:xfrm>
          </p:grpSpPr>
          <p:grpSp>
            <p:nvGrpSpPr>
              <p:cNvPr id="69" name="Group 68"/>
              <p:cNvGrpSpPr/>
              <p:nvPr/>
            </p:nvGrpSpPr>
            <p:grpSpPr>
              <a:xfrm>
                <a:off x="2942931" y="2686919"/>
                <a:ext cx="4055164" cy="1168625"/>
                <a:chOff x="3551447" y="2686919"/>
                <a:chExt cx="4055164" cy="116862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3" name="CuadroTexto 5">
                      <a:extLst>
                        <a:ext uri="{FF2B5EF4-FFF2-40B4-BE49-F238E27FC236}">
                          <a16:creationId xmlns="" xmlns:a16="http://schemas.microsoft.com/office/drawing/2014/main" id="{711B30AD-079D-4808-B44D-77EF3CF6F4E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51447" y="2747446"/>
                      <a:ext cx="1213206" cy="1015663"/>
                    </a:xfrm>
                    <a:prstGeom prst="rect">
                      <a:avLst/>
                    </a:prstGeom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sz="2000" dirty="0"/>
                        <a:t> </a:t>
                      </a:r>
                      <a:r>
                        <a:rPr lang="en-US" sz="2000" dirty="0" smtClean="0"/>
                        <a:t>= Discount Rate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73" name="CuadroTexto 5">
                      <a:extLst>
                        <a:ext uri="{FF2B5EF4-FFF2-40B4-BE49-F238E27FC236}">
                          <a16:creationId xmlns:a16="http://schemas.microsoft.com/office/drawing/2014/main" xmlns="" id="{711B30AD-079D-4808-B44D-77EF3CF6F4E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51447" y="2747446"/>
                      <a:ext cx="1213206" cy="1015663"/>
                    </a:xfrm>
                    <a:prstGeom prst="rect">
                      <a:avLst/>
                    </a:prstGeom>
                    <a:blipFill rotWithShape="0">
                      <a:blip r:embed="rId4"/>
                      <a:stretch>
                        <a:fillRect l="-1493" t="-2976" r="-5970" b="-9524"/>
                      </a:stretch>
                    </a:blipFill>
                    <a:ln>
                      <a:solidFill>
                        <a:schemeClr val="accent6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5" name="CuadroTexto 9">
                      <a:extLst>
                        <a:ext uri="{FF2B5EF4-FFF2-40B4-BE49-F238E27FC236}">
                          <a16:creationId xmlns="" xmlns:a16="http://schemas.microsoft.com/office/drawing/2014/main" id="{51FCA4DC-06E3-4489-A8E8-375BF68DC0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872155" y="2839881"/>
                      <a:ext cx="1531392" cy="1015663"/>
                    </a:xfrm>
                    <a:prstGeom prst="rect">
                      <a:avLst/>
                    </a:prstGeom>
                    <a:ln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a14:m>
                      <a:r>
                        <a:rPr lang="en-US" sz="2000" dirty="0"/>
                        <a:t> </a:t>
                      </a:r>
                      <a:r>
                        <a:rPr lang="en-US" sz="2000" dirty="0" smtClean="0"/>
                        <a:t>=</a:t>
                      </a:r>
                    </a:p>
                    <a:p>
                      <a:pPr algn="ctr"/>
                      <a:r>
                        <a:rPr lang="en-US" sz="2000" dirty="0" smtClean="0"/>
                        <a:t>Growth Rate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75" name="CuadroTexto 9">
                      <a:extLst>
                        <a:ext uri="{FF2B5EF4-FFF2-40B4-BE49-F238E27FC236}">
                          <a16:creationId xmlns:a16="http://schemas.microsoft.com/office/drawing/2014/main" xmlns="" id="{51FCA4DC-06E3-4489-A8E8-375BF68DC02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872155" y="2839881"/>
                      <a:ext cx="1531392" cy="1015663"/>
                    </a:xfrm>
                    <a:prstGeom prst="rect">
                      <a:avLst/>
                    </a:prstGeom>
                    <a:blipFill rotWithShape="0">
                      <a:blip r:embed="rId5"/>
                      <a:stretch>
                        <a:fillRect t="-2976" b="-9524"/>
                      </a:stretch>
                    </a:blipFill>
                    <a:ln>
                      <a:solidFill>
                        <a:schemeClr val="tx1">
                          <a:lumMod val="60000"/>
                          <a:lumOff val="40000"/>
                        </a:schemeClr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6" name="CuadroTexto 16">
                      <a:extLst>
                        <a:ext uri="{FF2B5EF4-FFF2-40B4-BE49-F238E27FC236}">
                          <a16:creationId xmlns="" xmlns:a16="http://schemas.microsoft.com/office/drawing/2014/main" id="{984EB976-8E0C-48CC-BED4-7D288408195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507939" y="2686919"/>
                      <a:ext cx="1098672" cy="1015663"/>
                    </a:xfrm>
                    <a:prstGeom prst="rect">
                      <a:avLst/>
                    </a:prstGeom>
                    <a:ln>
                      <a:solidFill>
                        <a:schemeClr val="accent3"/>
                      </a:solidFill>
                    </a:ln>
                  </p:spPr>
                  <p:style>
                    <a:lnRef idx="2">
                      <a:schemeClr val="dk1"/>
                    </a:lnRef>
                    <a:fillRef idx="1">
                      <a:schemeClr val="lt1"/>
                    </a:fillRef>
                    <a:effectRef idx="0">
                      <a:schemeClr val="dk1"/>
                    </a:effectRef>
                    <a:fontRef idx="minor">
                      <a:schemeClr val="dk1"/>
                    </a:fontRef>
                  </p:style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accent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a14:m>
                      <a:r>
                        <a:rPr lang="en-US" sz="2000" dirty="0"/>
                        <a:t> </a:t>
                      </a:r>
                      <a:r>
                        <a:rPr lang="en-US" sz="2000" dirty="0" smtClean="0"/>
                        <a:t>=</a:t>
                      </a:r>
                    </a:p>
                    <a:p>
                      <a:pPr algn="ctr"/>
                      <a:r>
                        <a:rPr lang="en-US" sz="2000" dirty="0" smtClean="0"/>
                        <a:t>Cap Rate</a:t>
                      </a:r>
                      <a:endParaRPr lang="es-PE" sz="2000" dirty="0"/>
                    </a:p>
                  </p:txBody>
                </p:sp>
              </mc:Choice>
              <mc:Fallback xmlns="">
                <p:sp>
                  <p:nvSpPr>
                    <p:cNvPr id="76" name="CuadroTexto 16">
                      <a:extLst>
                        <a:ext uri="{FF2B5EF4-FFF2-40B4-BE49-F238E27FC236}">
                          <a16:creationId xmlns:a16="http://schemas.microsoft.com/office/drawing/2014/main" xmlns="" id="{984EB976-8E0C-48CC-BED4-7D288408195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07939" y="2686919"/>
                      <a:ext cx="1098672" cy="1015663"/>
                    </a:xfrm>
                    <a:prstGeom prst="rect">
                      <a:avLst/>
                    </a:prstGeom>
                    <a:blipFill rotWithShape="0">
                      <a:blip r:embed="rId6"/>
                      <a:stretch>
                        <a:fillRect t="-2976" b="-9524"/>
                      </a:stretch>
                    </a:blipFill>
                    <a:ln>
                      <a:solidFill>
                        <a:schemeClr val="accent3"/>
                      </a:solidFill>
                    </a:ln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71" name="Straight Arrow Connector 70"/>
              <p:cNvCxnSpPr/>
              <p:nvPr/>
            </p:nvCxnSpPr>
            <p:spPr>
              <a:xfrm flipH="1">
                <a:off x="3805711" y="2109838"/>
                <a:ext cx="350426" cy="574122"/>
              </a:xfrm>
              <a:prstGeom prst="straightConnector1">
                <a:avLst/>
              </a:prstGeom>
              <a:ln w="57150"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/>
              <p:nvPr/>
            </p:nvCxnSpPr>
            <p:spPr>
              <a:xfrm>
                <a:off x="5030111" y="2137828"/>
                <a:ext cx="0" cy="625747"/>
              </a:xfrm>
              <a:prstGeom prst="straightConnector1">
                <a:avLst/>
              </a:prstGeom>
              <a:ln w="57150">
                <a:solidFill>
                  <a:schemeClr val="tx1">
                    <a:lumMod val="60000"/>
                    <a:lumOff val="4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6" name="Straight Arrow Connector 65"/>
            <p:cNvCxnSpPr/>
            <p:nvPr/>
          </p:nvCxnSpPr>
          <p:spPr>
            <a:xfrm>
              <a:off x="3791691" y="4088249"/>
              <a:ext cx="357405" cy="517645"/>
            </a:xfrm>
            <a:prstGeom prst="straightConnector1">
              <a:avLst/>
            </a:prstGeom>
            <a:ln w="57150">
              <a:solidFill>
                <a:schemeClr val="accent3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7377269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  <p:bldP spid="8" grpId="0"/>
    </p:bldLst>
  </p:timing>
</p:sld>
</file>

<file path=ppt/theme/theme1.xml><?xml version="1.0" encoding="utf-8"?>
<a:theme xmlns:a="http://schemas.openxmlformats.org/drawingml/2006/main" name="ESCP DARK BLUE">
  <a:themeElements>
    <a:clrScheme name="ATOS">
      <a:dk1>
        <a:srgbClr val="0066A1"/>
      </a:dk1>
      <a:lt1>
        <a:srgbClr val="FFFFFF"/>
      </a:lt1>
      <a:dk2>
        <a:srgbClr val="000000"/>
      </a:dk2>
      <a:lt2>
        <a:srgbClr val="FFFFFF"/>
      </a:lt2>
      <a:accent1>
        <a:srgbClr val="0066A1"/>
      </a:accent1>
      <a:accent2>
        <a:srgbClr val="FF6319"/>
      </a:accent2>
      <a:accent3>
        <a:srgbClr val="AEA300"/>
      </a:accent3>
      <a:accent4>
        <a:srgbClr val="6638B7"/>
      </a:accent4>
      <a:accent5>
        <a:srgbClr val="A626AA"/>
      </a:accent5>
      <a:accent6>
        <a:srgbClr val="00B2A9"/>
      </a:accent6>
      <a:hlink>
        <a:srgbClr val="004481"/>
      </a:hlink>
      <a:folHlink>
        <a:srgbClr val="072046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keholders_Management_Unit_2_Video_1.potx" id="{BBEB1B50-EF33-44F3-B303-1714832C7AD7}" vid="{DA19911C-41AB-431E-B159-1A808230140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ESCP DARK BLUE</Template>
  <TotalTime>837</TotalTime>
  <Words>1819</Words>
  <Application>Microsoft Office PowerPoint</Application>
  <PresentationFormat>Widescreen</PresentationFormat>
  <Paragraphs>290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Cambria Math</vt:lpstr>
      <vt:lpstr>Gill Sans</vt:lpstr>
      <vt:lpstr>Gill Sans MT</vt:lpstr>
      <vt:lpstr>Gill Sans Normal</vt:lpstr>
      <vt:lpstr>ESCP DARK BLUE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Stakeholder Management</dc:title>
  <dc:creator>Francisco Requena</dc:creator>
  <cp:lastModifiedBy>Yo</cp:lastModifiedBy>
  <cp:revision>106</cp:revision>
  <dcterms:created xsi:type="dcterms:W3CDTF">2019-12-16T17:11:40Z</dcterms:created>
  <dcterms:modified xsi:type="dcterms:W3CDTF">2023-10-08T13:33:42Z</dcterms:modified>
</cp:coreProperties>
</file>