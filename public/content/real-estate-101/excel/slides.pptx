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3"/>
  </p:notesMasterIdLst>
  <p:handoutMasterIdLst>
    <p:handoutMasterId r:id="rId24"/>
  </p:handoutMasterIdLst>
  <p:sldIdLst>
    <p:sldId id="256" r:id="rId2"/>
    <p:sldId id="369" r:id="rId3"/>
    <p:sldId id="384" r:id="rId4"/>
    <p:sldId id="386" r:id="rId5"/>
    <p:sldId id="381" r:id="rId6"/>
    <p:sldId id="387" r:id="rId7"/>
    <p:sldId id="371" r:id="rId8"/>
    <p:sldId id="389" r:id="rId9"/>
    <p:sldId id="390" r:id="rId10"/>
    <p:sldId id="382" r:id="rId11"/>
    <p:sldId id="391" r:id="rId12"/>
    <p:sldId id="392" r:id="rId13"/>
    <p:sldId id="393" r:id="rId14"/>
    <p:sldId id="394" r:id="rId15"/>
    <p:sldId id="397" r:id="rId16"/>
    <p:sldId id="398" r:id="rId17"/>
    <p:sldId id="399" r:id="rId18"/>
    <p:sldId id="400" r:id="rId19"/>
    <p:sldId id="402" r:id="rId20"/>
    <p:sldId id="403" r:id="rId21"/>
    <p:sldId id="404" r:id="rId22"/>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27" autoAdjust="0"/>
    <p:restoredTop sz="94660"/>
  </p:normalViewPr>
  <p:slideViewPr>
    <p:cSldViewPr>
      <p:cViewPr varScale="1">
        <p:scale>
          <a:sx n="67" d="100"/>
          <a:sy n="67" d="100"/>
        </p:scale>
        <p:origin x="1064"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2125"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63988" y="0"/>
            <a:ext cx="3032125" cy="463550"/>
          </a:xfrm>
          <a:prstGeom prst="rect">
            <a:avLst/>
          </a:prstGeom>
        </p:spPr>
        <p:txBody>
          <a:bodyPr vert="horz" lIns="91440" tIns="45720" rIns="91440" bIns="45720" rtlCol="0"/>
          <a:lstStyle>
            <a:lvl1pPr algn="r">
              <a:defRPr sz="1200"/>
            </a:lvl1pPr>
          </a:lstStyle>
          <a:p>
            <a:fld id="{669E8512-59B4-4577-9937-013869CD4978}" type="datetimeFigureOut">
              <a:rPr lang="en-US" smtClean="0"/>
              <a:pPr/>
              <a:t>10/12/2020</a:t>
            </a:fld>
            <a:endParaRPr lang="en-US"/>
          </a:p>
        </p:txBody>
      </p:sp>
      <p:sp>
        <p:nvSpPr>
          <p:cNvPr id="4" name="Footer Placeholder 3"/>
          <p:cNvSpPr>
            <a:spLocks noGrp="1"/>
          </p:cNvSpPr>
          <p:nvPr>
            <p:ph type="ftr" sz="quarter" idx="2"/>
          </p:nvPr>
        </p:nvSpPr>
        <p:spPr>
          <a:xfrm>
            <a:off x="1" y="8818564"/>
            <a:ext cx="3032125"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63988" y="8818564"/>
            <a:ext cx="3032125" cy="463550"/>
          </a:xfrm>
          <a:prstGeom prst="rect">
            <a:avLst/>
          </a:prstGeom>
        </p:spPr>
        <p:txBody>
          <a:bodyPr vert="horz" lIns="91440" tIns="45720" rIns="91440" bIns="45720" rtlCol="0" anchor="b"/>
          <a:lstStyle>
            <a:lvl1pPr algn="r">
              <a:defRPr sz="1200"/>
            </a:lvl1pPr>
          </a:lstStyle>
          <a:p>
            <a:fld id="{8DF242B2-4DDE-4B40-A135-88534B94F2DA}" type="slidenum">
              <a:rPr lang="en-US" smtClean="0"/>
              <a:pPr/>
              <a:t>‹#›</a:t>
            </a:fld>
            <a:endParaRPr lang="en-US"/>
          </a:p>
        </p:txBody>
      </p:sp>
    </p:spTree>
    <p:extLst>
      <p:ext uri="{BB962C8B-B14F-4D97-AF65-F5344CB8AC3E}">
        <p14:creationId xmlns:p14="http://schemas.microsoft.com/office/powerpoint/2010/main" val="11725652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6834" name="Rectangle 2"/>
          <p:cNvSpPr>
            <a:spLocks noGrp="1" noChangeArrowheads="1"/>
          </p:cNvSpPr>
          <p:nvPr>
            <p:ph type="hdr" sz="quarter"/>
          </p:nvPr>
        </p:nvSpPr>
        <p:spPr bwMode="auto">
          <a:xfrm>
            <a:off x="1" y="0"/>
            <a:ext cx="3032641" cy="463571"/>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437">
              <a:defRPr sz="1300">
                <a:latin typeface="Times New Roman" pitchFamily="18" charset="0"/>
              </a:defRPr>
            </a:lvl1pPr>
          </a:lstStyle>
          <a:p>
            <a:endParaRPr lang="en-US"/>
          </a:p>
        </p:txBody>
      </p:sp>
      <p:sp>
        <p:nvSpPr>
          <p:cNvPr id="376835" name="Rectangle 3"/>
          <p:cNvSpPr>
            <a:spLocks noGrp="1" noChangeArrowheads="1"/>
          </p:cNvSpPr>
          <p:nvPr>
            <p:ph type="dt" idx="1"/>
          </p:nvPr>
        </p:nvSpPr>
        <p:spPr bwMode="auto">
          <a:xfrm>
            <a:off x="3963542" y="0"/>
            <a:ext cx="3032641" cy="463571"/>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437">
              <a:defRPr sz="1300">
                <a:latin typeface="Times New Roman" pitchFamily="18" charset="0"/>
              </a:defRPr>
            </a:lvl1pPr>
          </a:lstStyle>
          <a:p>
            <a:endParaRPr lang="en-US"/>
          </a:p>
        </p:txBody>
      </p:sp>
      <p:sp>
        <p:nvSpPr>
          <p:cNvPr id="37683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ffectLst/>
        </p:spPr>
      </p:sp>
      <p:sp>
        <p:nvSpPr>
          <p:cNvPr id="376837" name="Rectangle 5"/>
          <p:cNvSpPr>
            <a:spLocks noGrp="1" noChangeArrowheads="1"/>
          </p:cNvSpPr>
          <p:nvPr>
            <p:ph type="body" sz="quarter" idx="3"/>
          </p:nvPr>
        </p:nvSpPr>
        <p:spPr bwMode="auto">
          <a:xfrm>
            <a:off x="700075" y="4410065"/>
            <a:ext cx="5597553" cy="4176744"/>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6838" name="Rectangle 6"/>
          <p:cNvSpPr>
            <a:spLocks noGrp="1" noChangeArrowheads="1"/>
          </p:cNvSpPr>
          <p:nvPr>
            <p:ph type="ftr" sz="quarter" idx="4"/>
          </p:nvPr>
        </p:nvSpPr>
        <p:spPr bwMode="auto">
          <a:xfrm>
            <a:off x="1" y="8818595"/>
            <a:ext cx="3032641" cy="463571"/>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437">
              <a:defRPr sz="1300">
                <a:latin typeface="Times New Roman" pitchFamily="18" charset="0"/>
              </a:defRPr>
            </a:lvl1pPr>
          </a:lstStyle>
          <a:p>
            <a:endParaRPr lang="en-US"/>
          </a:p>
        </p:txBody>
      </p:sp>
      <p:sp>
        <p:nvSpPr>
          <p:cNvPr id="376839" name="Rectangle 7"/>
          <p:cNvSpPr>
            <a:spLocks noGrp="1" noChangeArrowheads="1"/>
          </p:cNvSpPr>
          <p:nvPr>
            <p:ph type="sldNum" sz="quarter" idx="5"/>
          </p:nvPr>
        </p:nvSpPr>
        <p:spPr bwMode="auto">
          <a:xfrm>
            <a:off x="3963542" y="8818595"/>
            <a:ext cx="3032641" cy="463571"/>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437">
              <a:defRPr sz="1300">
                <a:latin typeface="Times New Roman" pitchFamily="18" charset="0"/>
              </a:defRPr>
            </a:lvl1pPr>
          </a:lstStyle>
          <a:p>
            <a:fld id="{8324DEF4-E4A2-42C6-9E3A-0F7701BDC5ED}" type="slidenum">
              <a:rPr lang="en-US"/>
              <a:pPr/>
              <a:t>‹#›</a:t>
            </a:fld>
            <a:endParaRPr lang="en-US"/>
          </a:p>
        </p:txBody>
      </p:sp>
    </p:spTree>
    <p:extLst>
      <p:ext uri="{BB962C8B-B14F-4D97-AF65-F5344CB8AC3E}">
        <p14:creationId xmlns:p14="http://schemas.microsoft.com/office/powerpoint/2010/main" val="475100494"/>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324DEF4-E4A2-42C6-9E3A-0F7701BDC5ED}"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324DEF4-E4A2-42C6-9E3A-0F7701BDC5ED}"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Present on mathematics is sometimes referred to in traditional appraisal speak as six functions of a dollar</a:t>
            </a:r>
          </a:p>
          <a:p>
            <a:r>
              <a:rPr lang="en-US" dirty="0"/>
              <a:t>One) present value of a single future cash flow, which could use simple or compound interest</a:t>
            </a:r>
          </a:p>
          <a:p>
            <a:r>
              <a:rPr lang="en-US" dirty="0"/>
              <a:t>Two) space future value of a current present amount, which could use simple or compound interest</a:t>
            </a:r>
          </a:p>
          <a:p>
            <a:endParaRPr lang="en-US" dirty="0"/>
          </a:p>
        </p:txBody>
      </p:sp>
      <p:sp>
        <p:nvSpPr>
          <p:cNvPr id="4" name="Slide Number Placeholder 3"/>
          <p:cNvSpPr>
            <a:spLocks noGrp="1"/>
          </p:cNvSpPr>
          <p:nvPr>
            <p:ph type="sldNum" sz="quarter" idx="10"/>
          </p:nvPr>
        </p:nvSpPr>
        <p:spPr/>
        <p:txBody>
          <a:bodyPr/>
          <a:lstStyle/>
          <a:p>
            <a:fld id="{8324DEF4-E4A2-42C6-9E3A-0F7701BDC5ED}"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7" name="Slide Number Placeholder 6"/>
          <p:cNvSpPr>
            <a:spLocks noGrp="1"/>
          </p:cNvSpPr>
          <p:nvPr>
            <p:ph type="sldNum" sz="quarter" idx="10"/>
          </p:nvPr>
        </p:nvSpPr>
        <p:spPr>
          <a:xfrm>
            <a:off x="6553200" y="6553199"/>
            <a:ext cx="2133600" cy="304801"/>
          </a:xfrm>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a:xfrm>
            <a:off x="457200" y="6537326"/>
            <a:ext cx="6035040" cy="320674"/>
          </a:xfrm>
        </p:spPr>
        <p:txBody>
          <a:bodyPr/>
          <a:lstStyle/>
          <a:p>
            <a:r>
              <a:rPr lang="en-US" dirty="0"/>
              <a:t>©Joe Walsh - Do not distribute without explicit permission.</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7" name="Slide Number Placeholder 6"/>
          <p:cNvSpPr>
            <a:spLocks noGrp="1"/>
          </p:cNvSpPr>
          <p:nvPr>
            <p:ph type="sldNum" sz="quarter" idx="10"/>
          </p:nvPr>
        </p:nvSpPr>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p:cNvSpPr>
            <a:spLocks noGrp="1"/>
          </p:cNvSpPr>
          <p:nvPr>
            <p:ph type="sldNum" sz="quarter" idx="10"/>
          </p:nvPr>
        </p:nvSpPr>
        <p:spPr/>
        <p:txBody>
          <a:bodyPr/>
          <a:lstStyle/>
          <a:p>
            <a:fld id="{C674EDA7-B996-475E-B155-5CBB23D664FF}" type="slidenum">
              <a:rPr lang="en-US" smtClean="0"/>
              <a:pPr/>
              <a:t>‹#›</a:t>
            </a:fld>
            <a:endParaRPr lang="en-US" dirty="0"/>
          </a:p>
        </p:txBody>
      </p:sp>
      <p:sp>
        <p:nvSpPr>
          <p:cNvPr id="9" name="Footer Placeholder 8"/>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p:cNvSpPr>
            <a:spLocks noGrp="1"/>
          </p:cNvSpPr>
          <p:nvPr>
            <p:ph type="sldNum" sz="quarter" idx="10"/>
          </p:nvPr>
        </p:nvSpPr>
        <p:spPr/>
        <p:txBody>
          <a:bodyPr/>
          <a:lstStyle/>
          <a:p>
            <a:fld id="{C674EDA7-B996-475E-B155-5CBB23D664FF}" type="slidenum">
              <a:rPr lang="en-US" smtClean="0"/>
              <a:pPr/>
              <a:t>‹#›</a:t>
            </a:fld>
            <a:endParaRPr lang="en-US" dirty="0"/>
          </a:p>
        </p:txBody>
      </p:sp>
      <p:sp>
        <p:nvSpPr>
          <p:cNvPr id="11" name="Footer Placeholder 10"/>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Slide Number Placeholder 5"/>
          <p:cNvSpPr>
            <a:spLocks noGrp="1"/>
          </p:cNvSpPr>
          <p:nvPr>
            <p:ph type="sldNum" sz="quarter" idx="10"/>
          </p:nvPr>
        </p:nvSpPr>
        <p:spPr/>
        <p:txBody>
          <a:bodyPr/>
          <a:lstStyle/>
          <a:p>
            <a:fld id="{C674EDA7-B996-475E-B155-5CBB23D664FF}" type="slidenum">
              <a:rPr lang="en-US" smtClean="0"/>
              <a:pPr/>
              <a:t>‹#›</a:t>
            </a:fld>
            <a:endParaRPr lang="en-US" dirty="0"/>
          </a:p>
        </p:txBody>
      </p:sp>
      <p:sp>
        <p:nvSpPr>
          <p:cNvPr id="7" name="Footer Placeholder 6"/>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C674EDA7-B996-475E-B155-5CBB23D664FF}" type="slidenum">
              <a:rPr lang="en-US" smtClean="0"/>
              <a:pPr/>
              <a:t>‹#›</a:t>
            </a:fld>
            <a:endParaRPr lang="en-US" dirty="0"/>
          </a:p>
        </p:txBody>
      </p:sp>
      <p:sp>
        <p:nvSpPr>
          <p:cNvPr id="6" name="Footer Placeholder 5"/>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Slide Number Placeholder 7"/>
          <p:cNvSpPr>
            <a:spLocks noGrp="1"/>
          </p:cNvSpPr>
          <p:nvPr>
            <p:ph type="sldNum" sz="quarter" idx="10"/>
          </p:nvPr>
        </p:nvSpPr>
        <p:spPr/>
        <p:txBody>
          <a:bodyPr/>
          <a:lstStyle/>
          <a:p>
            <a:fld id="{C674EDA7-B996-475E-B155-5CBB23D664FF}" type="slidenum">
              <a:rPr lang="en-US" smtClean="0"/>
              <a:pPr/>
              <a:t>‹#›</a:t>
            </a:fld>
            <a:endParaRPr lang="en-US" dirty="0"/>
          </a:p>
        </p:txBody>
      </p:sp>
      <p:sp>
        <p:nvSpPr>
          <p:cNvPr id="9" name="Footer Placeholder 8"/>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Slide Number Placeholder 7"/>
          <p:cNvSpPr>
            <a:spLocks noGrp="1"/>
          </p:cNvSpPr>
          <p:nvPr>
            <p:ph type="sldNum" sz="quarter" idx="10"/>
          </p:nvPr>
        </p:nvSpPr>
        <p:spPr/>
        <p:txBody>
          <a:bodyPr/>
          <a:lstStyle/>
          <a:p>
            <a:fld id="{C674EDA7-B996-475E-B155-5CBB23D664FF}" type="slidenum">
              <a:rPr lang="en-US" smtClean="0"/>
              <a:pPr/>
              <a:t>‹#›</a:t>
            </a:fld>
            <a:endParaRPr lang="en-US" dirty="0"/>
          </a:p>
        </p:txBody>
      </p:sp>
      <p:sp>
        <p:nvSpPr>
          <p:cNvPr id="9" name="Footer Placeholder 8"/>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457200" y="6537326"/>
            <a:ext cx="6035040" cy="32067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100" i="1">
                <a:solidFill>
                  <a:schemeClr val="tx2"/>
                </a:solidFill>
              </a:defRPr>
            </a:lvl1pPr>
          </a:lstStyle>
          <a:p>
            <a:r>
              <a:rPr lang="en-US" dirty="0"/>
              <a:t>©Joe Walsh - Do not distribute without explicit permission.</a:t>
            </a:r>
          </a:p>
        </p:txBody>
      </p:sp>
      <p:sp>
        <p:nvSpPr>
          <p:cNvPr id="1030" name="Rectangle 6"/>
          <p:cNvSpPr>
            <a:spLocks noGrp="1" noChangeArrowheads="1"/>
          </p:cNvSpPr>
          <p:nvPr>
            <p:ph type="sldNum" sz="quarter" idx="4"/>
          </p:nvPr>
        </p:nvSpPr>
        <p:spPr bwMode="auto">
          <a:xfrm>
            <a:off x="6553200" y="6553199"/>
            <a:ext cx="2133600" cy="3048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chemeClr val="tx2"/>
                </a:solidFill>
              </a:defRPr>
            </a:lvl1pPr>
          </a:lstStyle>
          <a:p>
            <a:fld id="{C674EDA7-B996-475E-B155-5CBB23D664FF}"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p:hf hd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lr>
          <a:schemeClr val="tx2"/>
        </a:buClr>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Char char="–"/>
        <a:defRPr sz="2800">
          <a:solidFill>
            <a:schemeClr val="tx1"/>
          </a:solidFill>
          <a:latin typeface="+mn-lt"/>
        </a:defRPr>
      </a:lvl2pPr>
      <a:lvl3pPr marL="1143000" indent="-228600" algn="l" rtl="0" eaLnBrk="1" fontAlgn="base" hangingPunct="1">
        <a:spcBef>
          <a:spcPct val="20000"/>
        </a:spcBef>
        <a:spcAft>
          <a:spcPct val="0"/>
        </a:spcAft>
        <a:buClr>
          <a:schemeClr val="tx2"/>
        </a:buClr>
        <a:buChar char="•"/>
        <a:defRPr sz="2400">
          <a:solidFill>
            <a:schemeClr val="tx1"/>
          </a:solidFill>
          <a:latin typeface="+mn-lt"/>
        </a:defRPr>
      </a:lvl3pPr>
      <a:lvl4pPr marL="1600200" indent="-228600" algn="l" rtl="0" eaLnBrk="1" fontAlgn="base" hangingPunct="1">
        <a:spcBef>
          <a:spcPct val="20000"/>
        </a:spcBef>
        <a:spcAft>
          <a:spcPct val="0"/>
        </a:spcAft>
        <a:buClr>
          <a:schemeClr val="tx2"/>
        </a:buClr>
        <a:buChar char="–"/>
        <a:defRPr sz="2000">
          <a:solidFill>
            <a:schemeClr val="tx1"/>
          </a:solidFill>
          <a:latin typeface="+mn-lt"/>
        </a:defRPr>
      </a:lvl4pPr>
      <a:lvl5pPr marL="2057400" indent="-228600" algn="l" rtl="0" eaLnBrk="1" fontAlgn="base" hangingPunct="1">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5.w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8.bin"/><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0.wmf"/><Relationship Id="rId5" Type="http://schemas.openxmlformats.org/officeDocument/2006/relationships/oleObject" Target="../embeddings/oleObject10.bin"/><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3.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4.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5.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6.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7.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b="1" dirty="0"/>
              <a:t>Present Value Mathematics and</a:t>
            </a:r>
            <a:br>
              <a:rPr lang="en-US" b="1" dirty="0"/>
            </a:br>
            <a:r>
              <a:rPr lang="en-US" b="1" dirty="0"/>
              <a:t>Investment Decision Rules</a:t>
            </a:r>
          </a:p>
        </p:txBody>
      </p:sp>
      <p:sp>
        <p:nvSpPr>
          <p:cNvPr id="2051" name="Rectangle 3"/>
          <p:cNvSpPr>
            <a:spLocks noGrp="1" noChangeArrowheads="1"/>
          </p:cNvSpPr>
          <p:nvPr>
            <p:ph type="subTitle" idx="1"/>
          </p:nvPr>
        </p:nvSpPr>
        <p:spPr/>
        <p:txBody>
          <a:bodyPr/>
          <a:lstStyle/>
          <a:p>
            <a:r>
              <a:rPr lang="en-US" dirty="0"/>
              <a:t>Time Value of Money, NPV and IRR</a:t>
            </a:r>
          </a:p>
        </p:txBody>
      </p:sp>
      <p:sp>
        <p:nvSpPr>
          <p:cNvPr id="6" name="Slide Number Placeholder 5"/>
          <p:cNvSpPr>
            <a:spLocks noGrp="1"/>
          </p:cNvSpPr>
          <p:nvPr>
            <p:ph type="sldNum" sz="quarter" idx="10"/>
          </p:nvPr>
        </p:nvSpPr>
        <p:spPr/>
        <p:txBody>
          <a:bodyPr/>
          <a:lstStyle/>
          <a:p>
            <a:fld id="{7F6878CA-525B-4B1F-B0A0-E50593A3D10B}" type="slidenum">
              <a:rPr lang="en-US"/>
              <a:pPr/>
              <a:t>1</a:t>
            </a:fld>
            <a:endParaRPr lang="en-US" dirty="0"/>
          </a:p>
        </p:txBody>
      </p:sp>
      <p:sp>
        <p:nvSpPr>
          <p:cNvPr id="5" name="Footer Placeholder 4"/>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b="1" dirty="0"/>
              <a:t>Readings and Resources</a:t>
            </a:r>
          </a:p>
        </p:txBody>
      </p:sp>
      <p:sp>
        <p:nvSpPr>
          <p:cNvPr id="6147" name="Rectangle 3"/>
          <p:cNvSpPr>
            <a:spLocks noGrp="1" noChangeArrowheads="1"/>
          </p:cNvSpPr>
          <p:nvPr>
            <p:ph idx="1"/>
          </p:nvPr>
        </p:nvSpPr>
        <p:spPr/>
        <p:txBody>
          <a:bodyPr/>
          <a:lstStyle/>
          <a:p>
            <a:pPr marL="514350" indent="-457200"/>
            <a:r>
              <a:rPr lang="en-US" sz="2400" dirty="0"/>
              <a:t>Recommended Reading</a:t>
            </a:r>
          </a:p>
          <a:p>
            <a:pPr marL="914400" lvl="1" indent="-457200"/>
            <a:r>
              <a:rPr lang="en-US" sz="2000" dirty="0" err="1"/>
              <a:t>Geltner</a:t>
            </a:r>
            <a:r>
              <a:rPr lang="en-US" sz="2000" dirty="0"/>
              <a:t> Miller 8.1.1 – 8.1.4</a:t>
            </a:r>
          </a:p>
          <a:p>
            <a:pPr marL="914400" lvl="1" indent="-457200"/>
            <a:r>
              <a:rPr lang="en-US" sz="2000" dirty="0" err="1"/>
              <a:t>Geltner</a:t>
            </a:r>
            <a:r>
              <a:rPr lang="en-US" sz="2000" dirty="0"/>
              <a:t> Miller 8.2.2, 8.2.3, 8.2.5, 8.2.12, 8.2.14</a:t>
            </a:r>
          </a:p>
          <a:p>
            <a:pPr marL="514350" indent="-457200"/>
            <a:r>
              <a:rPr lang="en-US" sz="2400" dirty="0"/>
              <a:t>Cash Flows in Single and Multiple Periods</a:t>
            </a:r>
          </a:p>
          <a:p>
            <a:pPr marL="514350" indent="-457200"/>
            <a:r>
              <a:rPr lang="en-US" sz="2400" dirty="0"/>
              <a:t>Simple and Compound Interest</a:t>
            </a:r>
          </a:p>
          <a:p>
            <a:pPr marL="514350" indent="-457200"/>
            <a:r>
              <a:rPr lang="en-US" sz="2400" dirty="0"/>
              <a:t>These slides: Emphasis on solving problems, not memorizing formulas</a:t>
            </a:r>
          </a:p>
          <a:p>
            <a:pPr marL="914400" lvl="1" indent="-457200"/>
            <a:r>
              <a:rPr lang="en-US" sz="2000" dirty="0"/>
              <a:t>Calculator solutions for assignments and exams</a:t>
            </a:r>
          </a:p>
          <a:p>
            <a:pPr marL="914400" lvl="1" indent="-457200"/>
            <a:r>
              <a:rPr lang="en-US" sz="2000" dirty="0"/>
              <a:t>Excel solutions for assignments</a:t>
            </a:r>
          </a:p>
          <a:p>
            <a:pPr marL="914400" lvl="1" indent="-457200"/>
            <a:r>
              <a:rPr lang="en-US" sz="2000" dirty="0"/>
              <a:t>Note: You’ll need to understand the basic formulas and concepts well enough to solve the problems.</a:t>
            </a:r>
          </a:p>
        </p:txBody>
      </p:sp>
      <p:sp>
        <p:nvSpPr>
          <p:cNvPr id="6" name="Slide Number Placeholder 5"/>
          <p:cNvSpPr>
            <a:spLocks noGrp="1"/>
          </p:cNvSpPr>
          <p:nvPr>
            <p:ph type="sldNum" sz="quarter" idx="10"/>
          </p:nvPr>
        </p:nvSpPr>
        <p:spPr>
          <a:prstGeom prst="rect">
            <a:avLst/>
          </a:prstGeom>
        </p:spPr>
        <p:txBody>
          <a:bodyPr/>
          <a:lstStyle/>
          <a:p>
            <a:fld id="{3409C8D0-776A-43C4-9479-FEE41C208373}" type="slidenum">
              <a:rPr lang="en-US"/>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PV Math in Real Estate</a:t>
            </a:r>
          </a:p>
        </p:txBody>
      </p:sp>
      <p:sp>
        <p:nvSpPr>
          <p:cNvPr id="3" name="Content Placeholder 2"/>
          <p:cNvSpPr>
            <a:spLocks noGrp="1"/>
          </p:cNvSpPr>
          <p:nvPr>
            <p:ph idx="1"/>
          </p:nvPr>
        </p:nvSpPr>
        <p:spPr/>
        <p:txBody>
          <a:bodyPr/>
          <a:lstStyle/>
          <a:p>
            <a:r>
              <a:rPr lang="en-US" sz="1800" dirty="0"/>
              <a:t>Real Estate investments almost always involve cash amounts at different periods of time.</a:t>
            </a:r>
          </a:p>
          <a:p>
            <a:r>
              <a:rPr lang="en-US" sz="1800" dirty="0"/>
              <a:t>A fundamental fact of financial economics</a:t>
            </a:r>
          </a:p>
          <a:p>
            <a:pPr lvl="1"/>
            <a:r>
              <a:rPr lang="en-US" sz="1800" dirty="0"/>
              <a:t>$1 received in the future &lt; $1 received today</a:t>
            </a:r>
          </a:p>
          <a:p>
            <a:r>
              <a:rPr lang="en-US" sz="1800" dirty="0"/>
              <a:t>Must be able to </a:t>
            </a:r>
            <a:r>
              <a:rPr lang="en-US" sz="1800" b="1" i="1" dirty="0"/>
              <a:t>compare cash amounts at different periods of time </a:t>
            </a:r>
            <a:r>
              <a:rPr lang="en-US" sz="1800" dirty="0"/>
              <a:t>if you are to make </a:t>
            </a:r>
            <a:r>
              <a:rPr lang="en-US" sz="1800" b="1" i="1" dirty="0"/>
              <a:t>good investment decisions</a:t>
            </a:r>
          </a:p>
          <a:p>
            <a:r>
              <a:rPr lang="en-US" sz="1800" dirty="0"/>
              <a:t>Present Value Mathematics</a:t>
            </a:r>
          </a:p>
          <a:p>
            <a:pPr lvl="1"/>
            <a:r>
              <a:rPr lang="en-US" sz="1800" dirty="0"/>
              <a:t>Algebraically (formulas)</a:t>
            </a:r>
          </a:p>
          <a:p>
            <a:pPr lvl="1"/>
            <a:r>
              <a:rPr lang="en-US" sz="1800" dirty="0"/>
              <a:t>Logically (diagram)</a:t>
            </a:r>
          </a:p>
          <a:p>
            <a:pPr lvl="1"/>
            <a:r>
              <a:rPr lang="en-US" sz="1800" dirty="0"/>
              <a:t>Business Calculator</a:t>
            </a:r>
          </a:p>
          <a:p>
            <a:pPr lvl="1"/>
            <a:r>
              <a:rPr lang="en-US" sz="1800" dirty="0"/>
              <a:t>Computer Spreadsheet</a:t>
            </a:r>
          </a:p>
          <a:p>
            <a:r>
              <a:rPr lang="en-US" sz="2200" dirty="0"/>
              <a:t>Mathematical mechanics in this lecture; Applications in financial economic in future lectures </a:t>
            </a:r>
          </a:p>
        </p:txBody>
      </p:sp>
      <p:sp>
        <p:nvSpPr>
          <p:cNvPr id="4" name="Slide Number Placeholder 3"/>
          <p:cNvSpPr>
            <a:spLocks noGrp="1"/>
          </p:cNvSpPr>
          <p:nvPr>
            <p:ph type="sldNum" sz="quarter" idx="10"/>
          </p:nvPr>
        </p:nvSpPr>
        <p:spPr/>
        <p:txBody>
          <a:bodyPr/>
          <a:lstStyle/>
          <a:p>
            <a:fld id="{C674EDA7-B996-475E-B155-5CBB23D664FF}" type="slidenum">
              <a:rPr lang="en-US" smtClean="0"/>
              <a:pPr/>
              <a:t>3</a:t>
            </a:fld>
            <a:endParaRPr 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Terms and Variable Names</a:t>
            </a:r>
          </a:p>
        </p:txBody>
      </p:sp>
      <p:sp>
        <p:nvSpPr>
          <p:cNvPr id="3" name="Content Placeholder 2"/>
          <p:cNvSpPr>
            <a:spLocks noGrp="1"/>
          </p:cNvSpPr>
          <p:nvPr>
            <p:ph idx="1"/>
          </p:nvPr>
        </p:nvSpPr>
        <p:spPr/>
        <p:txBody>
          <a:bodyPr/>
          <a:lstStyle/>
          <a:p>
            <a:r>
              <a:rPr lang="en-US" sz="1600" dirty="0"/>
              <a:t>“r” – Opportunity Cost of Capital (OCC)</a:t>
            </a:r>
          </a:p>
          <a:p>
            <a:pPr lvl="1"/>
            <a:r>
              <a:rPr lang="en-US" sz="1600" dirty="0"/>
              <a:t>Relates $1’s at different points in time</a:t>
            </a:r>
          </a:p>
          <a:p>
            <a:pPr lvl="1"/>
            <a:r>
              <a:rPr lang="en-US" sz="1600" dirty="0"/>
              <a:t>Expressed as a “rate of return” or “interest rate”</a:t>
            </a:r>
          </a:p>
          <a:p>
            <a:pPr lvl="1"/>
            <a:r>
              <a:rPr lang="en-US" sz="1600" dirty="0"/>
              <a:t>“Discount Rate” if estimating a present value</a:t>
            </a:r>
          </a:p>
          <a:p>
            <a:pPr marL="457200" lvl="1" indent="0">
              <a:buNone/>
            </a:pPr>
            <a:endParaRPr lang="en-US" sz="1600" dirty="0"/>
          </a:p>
          <a:p>
            <a:r>
              <a:rPr lang="en-US" sz="1600" dirty="0"/>
              <a:t>Financial Calculator Inputs</a:t>
            </a:r>
          </a:p>
          <a:p>
            <a:pPr lvl="1"/>
            <a:r>
              <a:rPr lang="en-US" sz="1600" dirty="0"/>
              <a:t>PV – Present Value</a:t>
            </a:r>
          </a:p>
          <a:p>
            <a:pPr lvl="1"/>
            <a:r>
              <a:rPr lang="en-US" sz="1600" dirty="0"/>
              <a:t>FV – Future Value</a:t>
            </a:r>
          </a:p>
          <a:p>
            <a:pPr lvl="1"/>
            <a:r>
              <a:rPr lang="en-US" sz="1600" dirty="0"/>
              <a:t>PMT – Periodic, level amount, recurring annuity payments</a:t>
            </a:r>
          </a:p>
          <a:p>
            <a:pPr lvl="1"/>
            <a:r>
              <a:rPr lang="en-US" sz="1600" dirty="0"/>
              <a:t>N – Number of time periods</a:t>
            </a:r>
          </a:p>
          <a:p>
            <a:pPr lvl="1"/>
            <a:r>
              <a:rPr lang="en-US" sz="1600" dirty="0"/>
              <a:t>I – Interest rate, or rate of return as entered into a financial calculator</a:t>
            </a:r>
          </a:p>
          <a:p>
            <a:pPr marL="457200" lvl="1" indent="0">
              <a:buNone/>
            </a:pPr>
            <a:endParaRPr lang="en-US" sz="1600" dirty="0"/>
          </a:p>
          <a:p>
            <a:r>
              <a:rPr lang="en-US" sz="1600" dirty="0"/>
              <a:t>CF – Cash flow</a:t>
            </a:r>
          </a:p>
          <a:p>
            <a:pPr marL="0" indent="0">
              <a:buNone/>
            </a:pPr>
            <a:endParaRPr lang="en-US" sz="1600" dirty="0"/>
          </a:p>
          <a:p>
            <a:r>
              <a:rPr lang="en-US" sz="1600" dirty="0"/>
              <a:t>“g” – Growth rate of cash flows</a:t>
            </a:r>
          </a:p>
        </p:txBody>
      </p:sp>
      <p:sp>
        <p:nvSpPr>
          <p:cNvPr id="4" name="Slide Number Placeholder 3"/>
          <p:cNvSpPr>
            <a:spLocks noGrp="1"/>
          </p:cNvSpPr>
          <p:nvPr>
            <p:ph type="sldNum" sz="quarter" idx="10"/>
          </p:nvPr>
        </p:nvSpPr>
        <p:spPr/>
        <p:txBody>
          <a:bodyPr/>
          <a:lstStyle/>
          <a:p>
            <a:fld id="{C674EDA7-B996-475E-B155-5CBB23D664FF}" type="slidenum">
              <a:rPr lang="en-US" smtClean="0"/>
              <a:pPr/>
              <a:t>4</a:t>
            </a:fld>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Value of Money</a:t>
            </a:r>
          </a:p>
        </p:txBody>
      </p:sp>
      <p:sp>
        <p:nvSpPr>
          <p:cNvPr id="3" name="Content Placeholder 2"/>
          <p:cNvSpPr>
            <a:spLocks noGrp="1"/>
          </p:cNvSpPr>
          <p:nvPr>
            <p:ph idx="1"/>
          </p:nvPr>
        </p:nvSpPr>
        <p:spPr>
          <a:xfrm>
            <a:off x="457200" y="1371600"/>
            <a:ext cx="8229600" cy="4724400"/>
          </a:xfrm>
        </p:spPr>
        <p:txBody>
          <a:bodyPr/>
          <a:lstStyle/>
          <a:p>
            <a:pPr>
              <a:lnSpc>
                <a:spcPct val="90000"/>
              </a:lnSpc>
            </a:pPr>
            <a:r>
              <a:rPr lang="en-US" sz="2400" dirty="0"/>
              <a:t>Why is $1 today not equivalent to $1 a year from now?</a:t>
            </a:r>
          </a:p>
          <a:p>
            <a:pPr>
              <a:lnSpc>
                <a:spcPct val="90000"/>
              </a:lnSpc>
            </a:pPr>
            <a:r>
              <a:rPr lang="en-US" sz="1800" dirty="0"/>
              <a:t>$1 received today is worth more than $1 received in the future</a:t>
            </a:r>
            <a:br>
              <a:rPr lang="en-US" sz="1800" dirty="0"/>
            </a:br>
            <a:r>
              <a:rPr lang="en-US" sz="1800" dirty="0"/>
              <a:t>(alternatively, invest $1 today, expect &gt;$1 in the future)</a:t>
            </a:r>
          </a:p>
          <a:p>
            <a:pPr lvl="1">
              <a:lnSpc>
                <a:spcPct val="90000"/>
              </a:lnSpc>
            </a:pPr>
            <a:r>
              <a:rPr lang="en-US" sz="1800" dirty="0"/>
              <a:t>Uncertainty of Future Payments (Credit Risk)</a:t>
            </a:r>
          </a:p>
          <a:p>
            <a:pPr lvl="2">
              <a:lnSpc>
                <a:spcPct val="90000"/>
              </a:lnSpc>
            </a:pPr>
            <a:r>
              <a:rPr lang="en-US" sz="1800" dirty="0"/>
              <a:t>How certain is the promise of receiving a Future $1?</a:t>
            </a:r>
          </a:p>
          <a:p>
            <a:pPr lvl="2">
              <a:lnSpc>
                <a:spcPct val="90000"/>
              </a:lnSpc>
            </a:pPr>
            <a:r>
              <a:rPr lang="en-US" sz="1800" dirty="0"/>
              <a:t>Who do you trust to repay?</a:t>
            </a:r>
          </a:p>
          <a:p>
            <a:pPr lvl="2">
              <a:lnSpc>
                <a:spcPct val="90000"/>
              </a:lnSpc>
            </a:pPr>
            <a:r>
              <a:rPr lang="en-US" sz="1800" dirty="0"/>
              <a:t>What assumptions are you making in estimating the future payment? </a:t>
            </a:r>
          </a:p>
          <a:p>
            <a:pPr lvl="2">
              <a:lnSpc>
                <a:spcPct val="90000"/>
              </a:lnSpc>
            </a:pPr>
            <a:r>
              <a:rPr lang="en-US" sz="1800" dirty="0"/>
              <a:t>What is the risk or possibility of receiving a different amount?</a:t>
            </a:r>
          </a:p>
          <a:p>
            <a:pPr lvl="1">
              <a:lnSpc>
                <a:spcPct val="90000"/>
              </a:lnSpc>
            </a:pPr>
            <a:r>
              <a:rPr lang="en-US" sz="1800" dirty="0"/>
              <a:t>Opportunity Cost</a:t>
            </a:r>
          </a:p>
          <a:p>
            <a:pPr lvl="2">
              <a:lnSpc>
                <a:spcPct val="90000"/>
              </a:lnSpc>
            </a:pPr>
            <a:r>
              <a:rPr lang="en-US" sz="1800" dirty="0"/>
              <a:t>If I lend/invest $1 today, I forego investing in some alternative that might give a higher or lower return, or have different uncertainty</a:t>
            </a:r>
          </a:p>
          <a:p>
            <a:pPr lvl="2">
              <a:lnSpc>
                <a:spcPct val="90000"/>
              </a:lnSpc>
            </a:pPr>
            <a:r>
              <a:rPr lang="en-US" sz="1800" dirty="0"/>
              <a:t>Or, if I invest $1 today, I can’t consume that $1 today (deferred consumption)</a:t>
            </a:r>
          </a:p>
          <a:p>
            <a:pPr lvl="1">
              <a:lnSpc>
                <a:spcPct val="90000"/>
              </a:lnSpc>
            </a:pPr>
            <a:r>
              <a:rPr lang="en-US" sz="1800" dirty="0"/>
              <a:t>Inflation</a:t>
            </a:r>
          </a:p>
          <a:p>
            <a:pPr lvl="2">
              <a:lnSpc>
                <a:spcPct val="90000"/>
              </a:lnSpc>
            </a:pPr>
            <a:r>
              <a:rPr lang="en-US" sz="1800" dirty="0"/>
              <a:t>Maybe in the future, $1 won’t buy as much stuff it will today</a:t>
            </a:r>
            <a:endParaRPr lang="en-US" dirty="0"/>
          </a:p>
        </p:txBody>
      </p:sp>
      <p:sp>
        <p:nvSpPr>
          <p:cNvPr id="4" name="Slide Number Placeholder 3"/>
          <p:cNvSpPr>
            <a:spLocks noGrp="1"/>
          </p:cNvSpPr>
          <p:nvPr>
            <p:ph type="sldNum" sz="quarter" idx="10"/>
          </p:nvPr>
        </p:nvSpPr>
        <p:spPr/>
        <p:txBody>
          <a:bodyPr/>
          <a:lstStyle/>
          <a:p>
            <a:fld id="{C674EDA7-B996-475E-B155-5CBB23D664FF}" type="slidenum">
              <a:rPr lang="en-US" smtClean="0"/>
              <a:pPr/>
              <a:t>5</a:t>
            </a:fld>
            <a:endParaRPr 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 Relationship</a:t>
            </a:r>
          </a:p>
        </p:txBody>
      </p:sp>
      <p:sp>
        <p:nvSpPr>
          <p:cNvPr id="3" name="Content Placeholder 2"/>
          <p:cNvSpPr>
            <a:spLocks noGrp="1"/>
          </p:cNvSpPr>
          <p:nvPr>
            <p:ph idx="1"/>
          </p:nvPr>
        </p:nvSpPr>
        <p:spPr>
          <a:xfrm>
            <a:off x="457200" y="2819401"/>
            <a:ext cx="8229600" cy="761999"/>
          </a:xfrm>
        </p:spPr>
        <p:txBody>
          <a:bodyPr/>
          <a:lstStyle/>
          <a:p>
            <a:r>
              <a:rPr lang="en-US" sz="2000" dirty="0"/>
              <a:t>What is the </a:t>
            </a:r>
            <a:r>
              <a:rPr lang="en-US" sz="2000" b="1" i="1" dirty="0"/>
              <a:t>present value </a:t>
            </a:r>
            <a:r>
              <a:rPr lang="en-US" sz="2000" dirty="0"/>
              <a:t>of $1 to be received one year from now if</a:t>
            </a:r>
            <a:br>
              <a:rPr lang="en-US" sz="2000" dirty="0"/>
            </a:br>
            <a:r>
              <a:rPr lang="en-US" sz="2000" dirty="0"/>
              <a:t>r = 10%?</a:t>
            </a:r>
          </a:p>
        </p:txBody>
      </p:sp>
      <p:sp>
        <p:nvSpPr>
          <p:cNvPr id="4" name="Slide Number Placeholder 3"/>
          <p:cNvSpPr>
            <a:spLocks noGrp="1"/>
          </p:cNvSpPr>
          <p:nvPr>
            <p:ph type="sldNum" sz="quarter" idx="10"/>
          </p:nvPr>
        </p:nvSpPr>
        <p:spPr/>
        <p:txBody>
          <a:bodyPr/>
          <a:lstStyle/>
          <a:p>
            <a:fld id="{C674EDA7-B996-475E-B155-5CBB23D664FF}" type="slidenum">
              <a:rPr lang="en-US" smtClean="0"/>
              <a:pPr/>
              <a:t>6</a:t>
            </a:fld>
            <a:endParaRPr lang="en-US" dirty="0"/>
          </a:p>
        </p:txBody>
      </p:sp>
      <p:graphicFrame>
        <p:nvGraphicFramePr>
          <p:cNvPr id="43010" name="Object 2"/>
          <p:cNvGraphicFramePr>
            <a:graphicFrameLocks noChangeAspect="1"/>
          </p:cNvGraphicFramePr>
          <p:nvPr/>
        </p:nvGraphicFramePr>
        <p:xfrm>
          <a:off x="1066800" y="1524000"/>
          <a:ext cx="2133600" cy="1059392"/>
        </p:xfrm>
        <a:graphic>
          <a:graphicData uri="http://schemas.openxmlformats.org/presentationml/2006/ole">
            <mc:AlternateContent xmlns:mc="http://schemas.openxmlformats.org/markup-compatibility/2006">
              <mc:Choice xmlns:v="urn:schemas-microsoft-com:vml" Requires="v">
                <p:oleObj spid="_x0000_s43072" r:id="rId3" imgW="787058" imgH="393529" progId="Equation.3">
                  <p:embed/>
                </p:oleObj>
              </mc:Choice>
              <mc:Fallback>
                <p:oleObj r:id="rId3" imgW="787058" imgH="393529"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524000"/>
                        <a:ext cx="2133600" cy="1059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1" name="Object 3"/>
          <p:cNvGraphicFramePr>
            <a:graphicFrameLocks noChangeAspect="1"/>
          </p:cNvGraphicFramePr>
          <p:nvPr/>
        </p:nvGraphicFramePr>
        <p:xfrm>
          <a:off x="1903413" y="5240338"/>
          <a:ext cx="3813175" cy="671512"/>
        </p:xfrm>
        <a:graphic>
          <a:graphicData uri="http://schemas.openxmlformats.org/presentationml/2006/ole">
            <mc:AlternateContent xmlns:mc="http://schemas.openxmlformats.org/markup-compatibility/2006">
              <mc:Choice xmlns:v="urn:schemas-microsoft-com:vml" Requires="v">
                <p:oleObj spid="_x0000_s43073" name="Equation" r:id="rId5" imgW="1371600" imgH="241200" progId="Equation.3">
                  <p:embed/>
                </p:oleObj>
              </mc:Choice>
              <mc:Fallback>
                <p:oleObj name="Equation" r:id="rId5" imgW="1371600" imgH="2412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3413" y="5240338"/>
                        <a:ext cx="3813175" cy="671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3" name="Object 5"/>
          <p:cNvGraphicFramePr>
            <a:graphicFrameLocks noChangeAspect="1"/>
          </p:cNvGraphicFramePr>
          <p:nvPr/>
        </p:nvGraphicFramePr>
        <p:xfrm>
          <a:off x="2514600" y="3429000"/>
          <a:ext cx="2743200" cy="758919"/>
        </p:xfrm>
        <a:graphic>
          <a:graphicData uri="http://schemas.openxmlformats.org/presentationml/2006/ole">
            <mc:AlternateContent xmlns:mc="http://schemas.openxmlformats.org/markup-compatibility/2006">
              <mc:Choice xmlns:v="urn:schemas-microsoft-com:vml" Requires="v">
                <p:oleObj spid="_x0000_s43074" name="Equation" r:id="rId7" imgW="1422360" imgH="393480" progId="Equation.3">
                  <p:embed/>
                </p:oleObj>
              </mc:Choice>
              <mc:Fallback>
                <p:oleObj name="Equation" r:id="rId7" imgW="1422360" imgH="39348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0" y="3429000"/>
                        <a:ext cx="2743200" cy="758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Content Placeholder 2"/>
          <p:cNvSpPr txBox="1">
            <a:spLocks/>
          </p:cNvSpPr>
          <p:nvPr/>
        </p:nvSpPr>
        <p:spPr bwMode="auto">
          <a:xfrm>
            <a:off x="533400" y="4343400"/>
            <a:ext cx="8229600" cy="76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defTabSz="914400" latinLnBrk="0">
              <a:lnSpc>
                <a:spcPct val="100000"/>
              </a:lnSpc>
              <a:spcBef>
                <a:spcPct val="20000"/>
              </a:spcBef>
              <a:buClr>
                <a:schemeClr val="tx2"/>
              </a:buClr>
              <a:buSzTx/>
              <a:buFont typeface="Arial" pitchFamily="34" charset="0"/>
              <a:buChar char="•"/>
              <a:tabLst/>
              <a:defRPr/>
            </a:pPr>
            <a:r>
              <a:rPr lang="en-US" sz="2000" dirty="0">
                <a:latin typeface="+mn-lt"/>
              </a:rPr>
              <a:t>If I invest $1 today and it earns r = 10% per year for 2 years, what is the </a:t>
            </a:r>
            <a:r>
              <a:rPr lang="en-US" sz="2000" b="1" i="1" dirty="0">
                <a:latin typeface="+mn-lt"/>
              </a:rPr>
              <a:t>future value </a:t>
            </a:r>
            <a:r>
              <a:rPr lang="en-US" sz="2000" dirty="0">
                <a:latin typeface="+mn-lt"/>
              </a:rPr>
              <a:t>of my investment?</a:t>
            </a:r>
          </a:p>
        </p:txBody>
      </p:sp>
      <p:graphicFrame>
        <p:nvGraphicFramePr>
          <p:cNvPr id="43015" name="Object 7"/>
          <p:cNvGraphicFramePr>
            <a:graphicFrameLocks noChangeAspect="1"/>
          </p:cNvGraphicFramePr>
          <p:nvPr/>
        </p:nvGraphicFramePr>
        <p:xfrm>
          <a:off x="4343400" y="1676400"/>
          <a:ext cx="3354388" cy="671512"/>
        </p:xfrm>
        <a:graphic>
          <a:graphicData uri="http://schemas.openxmlformats.org/presentationml/2006/ole">
            <mc:AlternateContent xmlns:mc="http://schemas.openxmlformats.org/markup-compatibility/2006">
              <mc:Choice xmlns:v="urn:schemas-microsoft-com:vml" Requires="v">
                <p:oleObj spid="_x0000_s43075" name="Equation" r:id="rId9" imgW="1206360" imgH="241200" progId="Equation.3">
                  <p:embed/>
                </p:oleObj>
              </mc:Choice>
              <mc:Fallback>
                <p:oleObj name="Equation" r:id="rId9" imgW="1206360" imgH="241200" progId="Equation.3">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43400" y="1676400"/>
                        <a:ext cx="3354388" cy="671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b="1" dirty="0"/>
              <a:t>“Nominal Annual” vs. </a:t>
            </a:r>
            <a:br>
              <a:rPr lang="en-US" b="1" dirty="0"/>
            </a:br>
            <a:r>
              <a:rPr lang="en-US" b="1" dirty="0"/>
              <a:t>“Effective Annual” Rates</a:t>
            </a:r>
          </a:p>
        </p:txBody>
      </p:sp>
      <p:sp>
        <p:nvSpPr>
          <p:cNvPr id="6147" name="Rectangle 3"/>
          <p:cNvSpPr>
            <a:spLocks noGrp="1" noChangeArrowheads="1"/>
          </p:cNvSpPr>
          <p:nvPr>
            <p:ph idx="1"/>
          </p:nvPr>
        </p:nvSpPr>
        <p:spPr>
          <a:xfrm>
            <a:off x="457200" y="1600200"/>
            <a:ext cx="8229600" cy="4953000"/>
          </a:xfrm>
        </p:spPr>
        <p:txBody>
          <a:bodyPr/>
          <a:lstStyle/>
          <a:p>
            <a:r>
              <a:rPr lang="en-US" sz="1800" dirty="0"/>
              <a:t>Simple vs. Compound Interest</a:t>
            </a:r>
          </a:p>
          <a:p>
            <a:pPr lvl="1"/>
            <a:r>
              <a:rPr lang="en-US" sz="1800" dirty="0"/>
              <a:t>1% interest, compounded monthly, has a different value than</a:t>
            </a:r>
          </a:p>
          <a:p>
            <a:pPr lvl="1"/>
            <a:endParaRPr lang="en-US" sz="1800" dirty="0"/>
          </a:p>
          <a:p>
            <a:pPr lvl="1"/>
            <a:endParaRPr lang="en-US" sz="1800" dirty="0"/>
          </a:p>
          <a:p>
            <a:pPr lvl="1"/>
            <a:r>
              <a:rPr lang="en-US" sz="1800" dirty="0"/>
              <a:t>12% simple annual interest</a:t>
            </a:r>
          </a:p>
          <a:p>
            <a:endParaRPr lang="en-US" sz="1800" dirty="0"/>
          </a:p>
          <a:p>
            <a:endParaRPr lang="en-US" sz="1800" dirty="0"/>
          </a:p>
          <a:p>
            <a:r>
              <a:rPr lang="en-US" sz="1800" dirty="0"/>
              <a:t>However, interest rates are typically quoted on an annual basis, even if the compounding occurs more frequently </a:t>
            </a:r>
          </a:p>
          <a:p>
            <a:r>
              <a:rPr lang="en-US" sz="1800" dirty="0"/>
              <a:t>So, in the first example above,</a:t>
            </a:r>
          </a:p>
          <a:p>
            <a:pPr lvl="1"/>
            <a:r>
              <a:rPr lang="en-US" sz="1800" dirty="0"/>
              <a:t>12% “equivalent nominal annual rate (ENAR),” or more typically, “</a:t>
            </a:r>
            <a:r>
              <a:rPr lang="en-US" sz="1800" b="1" i="1" dirty="0"/>
              <a:t>nominal annual rate,</a:t>
            </a:r>
            <a:r>
              <a:rPr lang="en-US" sz="1800" dirty="0"/>
              <a:t>” </a:t>
            </a:r>
            <a:r>
              <a:rPr lang="en-US" sz="1800" b="1" i="1" dirty="0"/>
              <a:t>compounded monthly</a:t>
            </a:r>
            <a:r>
              <a:rPr lang="en-US" sz="1800" dirty="0"/>
              <a:t> equates to </a:t>
            </a:r>
          </a:p>
          <a:p>
            <a:pPr lvl="1"/>
            <a:r>
              <a:rPr lang="en-US" sz="1800" dirty="0"/>
              <a:t>12.68% “</a:t>
            </a:r>
            <a:r>
              <a:rPr lang="en-US" sz="1800" b="1" i="1" dirty="0"/>
              <a:t>effective annual rate</a:t>
            </a:r>
            <a:r>
              <a:rPr lang="en-US" sz="1800" dirty="0"/>
              <a:t>” (EAR), or “effective annual yield” (EAY)</a:t>
            </a:r>
          </a:p>
          <a:p>
            <a:pPr lvl="1"/>
            <a:endParaRPr lang="en-US" sz="1800" dirty="0"/>
          </a:p>
        </p:txBody>
      </p:sp>
      <p:sp>
        <p:nvSpPr>
          <p:cNvPr id="6" name="Slide Number Placeholder 5"/>
          <p:cNvSpPr>
            <a:spLocks noGrp="1"/>
          </p:cNvSpPr>
          <p:nvPr>
            <p:ph type="sldNum" sz="quarter" idx="10"/>
          </p:nvPr>
        </p:nvSpPr>
        <p:spPr>
          <a:prstGeom prst="rect">
            <a:avLst/>
          </a:prstGeom>
        </p:spPr>
        <p:txBody>
          <a:bodyPr/>
          <a:lstStyle/>
          <a:p>
            <a:fld id="{3409C8D0-776A-43C4-9479-FEE41C208373}" type="slidenum">
              <a:rPr lang="en-US"/>
              <a:pPr/>
              <a:t>7</a:t>
            </a:fld>
            <a:endParaRPr lang="en-US"/>
          </a:p>
        </p:txBody>
      </p:sp>
      <p:graphicFrame>
        <p:nvGraphicFramePr>
          <p:cNvPr id="22529" name="Object 1"/>
          <p:cNvGraphicFramePr>
            <a:graphicFrameLocks noChangeAspect="1"/>
          </p:cNvGraphicFramePr>
          <p:nvPr/>
        </p:nvGraphicFramePr>
        <p:xfrm>
          <a:off x="1600200" y="2286000"/>
          <a:ext cx="3557588" cy="550863"/>
        </p:xfrm>
        <a:graphic>
          <a:graphicData uri="http://schemas.openxmlformats.org/presentationml/2006/ole">
            <mc:AlternateContent xmlns:mc="http://schemas.openxmlformats.org/markup-compatibility/2006">
              <mc:Choice xmlns:v="urn:schemas-microsoft-com:vml" Requires="v">
                <p:oleObj spid="_x0000_s22559" name="Equation" r:id="rId4" imgW="1562040" imgH="241200" progId="Equation.3">
                  <p:embed/>
                </p:oleObj>
              </mc:Choice>
              <mc:Fallback>
                <p:oleObj name="Equation" r:id="rId4" imgW="1562040" imgH="24120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2286000"/>
                        <a:ext cx="3557588"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0" name="Object 2"/>
          <p:cNvGraphicFramePr>
            <a:graphicFrameLocks noChangeAspect="1"/>
          </p:cNvGraphicFramePr>
          <p:nvPr/>
        </p:nvGraphicFramePr>
        <p:xfrm>
          <a:off x="1600200" y="3352800"/>
          <a:ext cx="3200400" cy="563600"/>
        </p:xfrm>
        <a:graphic>
          <a:graphicData uri="http://schemas.openxmlformats.org/presentationml/2006/ole">
            <mc:AlternateContent xmlns:mc="http://schemas.openxmlformats.org/markup-compatibility/2006">
              <mc:Choice xmlns:v="urn:schemas-microsoft-com:vml" Requires="v">
                <p:oleObj spid="_x0000_s22560" name="Equation" r:id="rId6" imgW="1371600" imgH="241200" progId="Equation.3">
                  <p:embed/>
                </p:oleObj>
              </mc:Choice>
              <mc:Fallback>
                <p:oleObj name="Equation" r:id="rId6" imgW="1371600" imgH="241200" progId="Equation.3">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3352800"/>
                        <a:ext cx="3200400" cy="5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685800" y="304800"/>
            <a:ext cx="7772400" cy="1143000"/>
          </a:xfrm>
        </p:spPr>
        <p:txBody>
          <a:bodyPr/>
          <a:lstStyle/>
          <a:p>
            <a:r>
              <a:rPr lang="en-US" sz="3200" b="1" dirty="0">
                <a:cs typeface="Times New Roman" pitchFamily="18" charset="0"/>
              </a:rPr>
              <a:t>“Bond-Equivalent Yield” and</a:t>
            </a:r>
            <a:br>
              <a:rPr lang="en-US" sz="3200" b="1" dirty="0">
                <a:cs typeface="Times New Roman" pitchFamily="18" charset="0"/>
              </a:rPr>
            </a:br>
            <a:r>
              <a:rPr lang="en-US" sz="3200" b="1" dirty="0">
                <a:cs typeface="Times New Roman" pitchFamily="18" charset="0"/>
              </a:rPr>
              <a:t> “Mortgage Equivalent Yield”</a:t>
            </a:r>
            <a:endParaRPr lang="en-US" sz="3200" dirty="0">
              <a:cs typeface="Times New Roman" pitchFamily="18" charset="0"/>
            </a:endParaRPr>
          </a:p>
        </p:txBody>
      </p:sp>
      <p:sp>
        <p:nvSpPr>
          <p:cNvPr id="169987" name="Rectangle 3"/>
          <p:cNvSpPr>
            <a:spLocks noGrp="1" noChangeArrowheads="1"/>
          </p:cNvSpPr>
          <p:nvPr>
            <p:ph idx="1"/>
          </p:nvPr>
        </p:nvSpPr>
        <p:spPr>
          <a:xfrm>
            <a:off x="685800" y="1524000"/>
            <a:ext cx="7772400" cy="1524000"/>
          </a:xfrm>
        </p:spPr>
        <p:txBody>
          <a:bodyPr/>
          <a:lstStyle/>
          <a:p>
            <a:pPr>
              <a:lnSpc>
                <a:spcPct val="90000"/>
              </a:lnSpc>
            </a:pPr>
            <a:r>
              <a:rPr lang="en-US" sz="1800" dirty="0">
                <a:cs typeface="Times New Roman" pitchFamily="18" charset="0"/>
              </a:rPr>
              <a:t>Traditionally, bonds pay interest </a:t>
            </a:r>
            <a:r>
              <a:rPr lang="en-US" sz="1800" i="1" dirty="0">
                <a:cs typeface="Times New Roman" pitchFamily="18" charset="0"/>
              </a:rPr>
              <a:t>semi-annually</a:t>
            </a:r>
            <a:r>
              <a:rPr lang="en-US" sz="1800" dirty="0">
                <a:cs typeface="Times New Roman" pitchFamily="18" charset="0"/>
              </a:rPr>
              <a:t> (twice per year).</a:t>
            </a:r>
          </a:p>
          <a:p>
            <a:pPr>
              <a:lnSpc>
                <a:spcPct val="90000"/>
              </a:lnSpc>
            </a:pPr>
            <a:r>
              <a:rPr lang="en-US" sz="1800" dirty="0">
                <a:cs typeface="Times New Roman" pitchFamily="18" charset="0"/>
              </a:rPr>
              <a:t>Bond interest rates (and yields) are quoted in nominal annual terms (ENAR) assuming semi-annual compounding (m = 2).</a:t>
            </a:r>
          </a:p>
          <a:p>
            <a:pPr>
              <a:lnSpc>
                <a:spcPct val="90000"/>
              </a:lnSpc>
            </a:pPr>
            <a:r>
              <a:rPr lang="en-US" sz="1800" dirty="0">
                <a:cs typeface="Times New Roman" pitchFamily="18" charset="0"/>
              </a:rPr>
              <a:t>This is often called “bond-equivalent yield” (BEY), or “coupon-equivalent yield” (CEY). Thus:</a:t>
            </a:r>
          </a:p>
        </p:txBody>
      </p:sp>
      <p:sp>
        <p:nvSpPr>
          <p:cNvPr id="7" name="Slide Number Placeholder 5"/>
          <p:cNvSpPr>
            <a:spLocks noGrp="1"/>
          </p:cNvSpPr>
          <p:nvPr>
            <p:ph type="sldNum" sz="quarter" idx="4294967295"/>
          </p:nvPr>
        </p:nvSpPr>
        <p:spPr>
          <a:xfrm>
            <a:off x="6553200" y="6245225"/>
            <a:ext cx="2133600" cy="476250"/>
          </a:xfrm>
          <a:prstGeom prst="rect">
            <a:avLst/>
          </a:prstGeom>
        </p:spPr>
        <p:txBody>
          <a:bodyPr/>
          <a:lstStyle/>
          <a:p>
            <a:fld id="{BF0FFC64-D14D-40F1-966D-B9C04F0B84A5}" type="slidenum">
              <a:rPr lang="en-US"/>
              <a:pPr/>
              <a:t>8</a:t>
            </a:fld>
            <a:endParaRPr lang="en-US"/>
          </a:p>
        </p:txBody>
      </p:sp>
      <p:graphicFrame>
        <p:nvGraphicFramePr>
          <p:cNvPr id="169988" name="Object 4"/>
          <p:cNvGraphicFramePr>
            <a:graphicFrameLocks noChangeAspect="1"/>
          </p:cNvGraphicFramePr>
          <p:nvPr/>
        </p:nvGraphicFramePr>
        <p:xfrm>
          <a:off x="1981200" y="3048000"/>
          <a:ext cx="3505200" cy="554481"/>
        </p:xfrm>
        <a:graphic>
          <a:graphicData uri="http://schemas.openxmlformats.org/presentationml/2006/ole">
            <mc:AlternateContent xmlns:mc="http://schemas.openxmlformats.org/markup-compatibility/2006">
              <mc:Choice xmlns:v="urn:schemas-microsoft-com:vml" Requires="v">
                <p:oleObj spid="_x0000_s45088" name="Equation" r:id="rId3" imgW="1523880" imgH="241200" progId="Equation.3">
                  <p:embed/>
                </p:oleObj>
              </mc:Choice>
              <mc:Fallback>
                <p:oleObj name="Equation" r:id="rId3" imgW="1523880" imgH="2412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048000"/>
                        <a:ext cx="3505200" cy="554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3"/>
          <p:cNvSpPr txBox="1">
            <a:spLocks noChangeArrowheads="1"/>
          </p:cNvSpPr>
          <p:nvPr/>
        </p:nvSpPr>
        <p:spPr bwMode="auto">
          <a:xfrm>
            <a:off x="685800" y="3810000"/>
            <a:ext cx="7772400" cy="137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tx2"/>
              </a:buClr>
              <a:buSzTx/>
              <a:buFontTx/>
              <a:buChar char="•"/>
              <a:tabLst/>
              <a:defRPr/>
            </a:pPr>
            <a:r>
              <a:rPr kumimoji="0" lang="en-US" b="0" i="0" u="none" strike="noStrike" kern="0" cap="none" spc="0" normalizeH="0" baseline="0" noProof="0" dirty="0">
                <a:ln>
                  <a:noFill/>
                </a:ln>
                <a:solidFill>
                  <a:schemeClr val="tx1"/>
                </a:solidFill>
                <a:effectLst/>
                <a:uLnTx/>
                <a:uFillTx/>
                <a:latin typeface="+mn-lt"/>
                <a:ea typeface="+mn-ea"/>
                <a:cs typeface="Times New Roman" pitchFamily="18" charset="0"/>
              </a:rPr>
              <a:t>Traditionally, mortgages pay interest </a:t>
            </a:r>
            <a:r>
              <a:rPr kumimoji="0" lang="en-US" b="0" i="1" u="none" strike="noStrike" kern="0" cap="none" spc="0" normalizeH="0" baseline="0" noProof="0" dirty="0">
                <a:ln>
                  <a:noFill/>
                </a:ln>
                <a:solidFill>
                  <a:schemeClr val="tx1"/>
                </a:solidFill>
                <a:effectLst/>
                <a:uLnTx/>
                <a:uFillTx/>
                <a:latin typeface="+mn-lt"/>
                <a:ea typeface="+mn-ea"/>
                <a:cs typeface="Times New Roman" pitchFamily="18" charset="0"/>
              </a:rPr>
              <a:t>monthly</a:t>
            </a:r>
            <a:r>
              <a:rPr kumimoji="0" lang="en-US" b="0" i="0" u="none" strike="noStrike" kern="0" cap="none" spc="0" normalizeH="0" baseline="0" noProof="0" dirty="0">
                <a:ln>
                  <a:noFill/>
                </a:ln>
                <a:solidFill>
                  <a:schemeClr val="tx1"/>
                </a:solidFill>
                <a:effectLst/>
                <a:uLnTx/>
                <a:uFillTx/>
                <a:latin typeface="+mn-lt"/>
                <a:ea typeface="+mn-ea"/>
                <a:cs typeface="Times New Roman" pitchFamily="18" charset="0"/>
              </a:rPr>
              <a:t>.</a:t>
            </a:r>
          </a:p>
          <a:p>
            <a:pPr marL="342900" marR="0" lvl="0" indent="-342900" algn="l" defTabSz="914400" rtl="0" eaLnBrk="1" fontAlgn="base" latinLnBrk="0" hangingPunct="1">
              <a:lnSpc>
                <a:spcPct val="100000"/>
              </a:lnSpc>
              <a:spcBef>
                <a:spcPct val="20000"/>
              </a:spcBef>
              <a:spcAft>
                <a:spcPct val="0"/>
              </a:spcAft>
              <a:buClr>
                <a:schemeClr val="tx2"/>
              </a:buClr>
              <a:buSzTx/>
              <a:buFontTx/>
              <a:buChar char="•"/>
              <a:tabLst/>
              <a:defRPr/>
            </a:pPr>
            <a:r>
              <a:rPr kumimoji="0" lang="en-US" b="0" i="0" u="none" strike="noStrike" kern="0" cap="none" spc="0" normalizeH="0" baseline="0" noProof="0" dirty="0">
                <a:ln>
                  <a:noFill/>
                </a:ln>
                <a:solidFill>
                  <a:schemeClr val="tx1"/>
                </a:solidFill>
                <a:effectLst/>
                <a:uLnTx/>
                <a:uFillTx/>
                <a:latin typeface="+mn-lt"/>
                <a:ea typeface="+mn-ea"/>
                <a:cs typeface="Times New Roman" pitchFamily="18" charset="0"/>
              </a:rPr>
              <a:t>Mortgage interest rates (and yields) are quoted in nominal annual terms (ENAR) assuming monthly compounding (m = 12).</a:t>
            </a:r>
          </a:p>
          <a:p>
            <a:pPr marL="342900" marR="0" lvl="0" indent="-342900" algn="l" defTabSz="914400" rtl="0" eaLnBrk="1" fontAlgn="base" latinLnBrk="0" hangingPunct="1">
              <a:lnSpc>
                <a:spcPct val="100000"/>
              </a:lnSpc>
              <a:spcBef>
                <a:spcPct val="20000"/>
              </a:spcBef>
              <a:spcAft>
                <a:spcPct val="0"/>
              </a:spcAft>
              <a:buClr>
                <a:schemeClr val="tx2"/>
              </a:buClr>
              <a:buSzTx/>
              <a:buFontTx/>
              <a:buChar char="•"/>
              <a:tabLst/>
              <a:defRPr/>
            </a:pPr>
            <a:r>
              <a:rPr kumimoji="0" lang="en-US" b="0" i="0" u="none" strike="noStrike" kern="0" cap="none" spc="0" normalizeH="0" baseline="0" noProof="0" dirty="0">
                <a:ln>
                  <a:noFill/>
                </a:ln>
                <a:solidFill>
                  <a:schemeClr val="tx1"/>
                </a:solidFill>
                <a:effectLst/>
                <a:uLnTx/>
                <a:uFillTx/>
                <a:latin typeface="+mn-lt"/>
                <a:ea typeface="+mn-ea"/>
                <a:cs typeface="Times New Roman" pitchFamily="18" charset="0"/>
              </a:rPr>
              <a:t>This is often called “mortgage-equivalent yield” (MEY) Thus:</a:t>
            </a:r>
          </a:p>
        </p:txBody>
      </p:sp>
      <p:graphicFrame>
        <p:nvGraphicFramePr>
          <p:cNvPr id="45059" name="Object 3"/>
          <p:cNvGraphicFramePr>
            <a:graphicFrameLocks noChangeAspect="1"/>
          </p:cNvGraphicFramePr>
          <p:nvPr/>
        </p:nvGraphicFramePr>
        <p:xfrm>
          <a:off x="1752600" y="5257800"/>
          <a:ext cx="3962400" cy="579726"/>
        </p:xfrm>
        <a:graphic>
          <a:graphicData uri="http://schemas.openxmlformats.org/presentationml/2006/ole">
            <mc:AlternateContent xmlns:mc="http://schemas.openxmlformats.org/markup-compatibility/2006">
              <mc:Choice xmlns:v="urn:schemas-microsoft-com:vml" Requires="v">
                <p:oleObj spid="_x0000_s45089" name="Equation" r:id="rId5" imgW="1650960" imgH="241200" progId="Equation.3">
                  <p:embed/>
                </p:oleObj>
              </mc:Choice>
              <mc:Fallback>
                <p:oleObj name="Equation" r:id="rId5" imgW="1650960" imgH="2412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5257800"/>
                        <a:ext cx="3962400" cy="579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Basic Problem Types</a:t>
            </a:r>
          </a:p>
        </p:txBody>
      </p:sp>
      <p:sp>
        <p:nvSpPr>
          <p:cNvPr id="3" name="Content Placeholder 2"/>
          <p:cNvSpPr>
            <a:spLocks noGrp="1"/>
          </p:cNvSpPr>
          <p:nvPr>
            <p:ph idx="1"/>
          </p:nvPr>
        </p:nvSpPr>
        <p:spPr/>
        <p:txBody>
          <a:bodyPr/>
          <a:lstStyle/>
          <a:p>
            <a:r>
              <a:rPr lang="en-US" sz="2400" dirty="0"/>
              <a:t>Present Value of a Future Amount</a:t>
            </a:r>
          </a:p>
          <a:p>
            <a:r>
              <a:rPr lang="en-US" sz="2400" dirty="0"/>
              <a:t>Present Value of a Level Annuity</a:t>
            </a:r>
          </a:p>
          <a:p>
            <a:r>
              <a:rPr lang="en-US" sz="2400" dirty="0"/>
              <a:t>Future Value of a Present Amount</a:t>
            </a:r>
          </a:p>
          <a:p>
            <a:r>
              <a:rPr lang="en-US" sz="2400" dirty="0"/>
              <a:t>Future Value of a Level Annuity</a:t>
            </a:r>
          </a:p>
          <a:p>
            <a:r>
              <a:rPr lang="en-US" sz="2400" dirty="0"/>
              <a:t>Level Annuity to Amortize a Present Amount</a:t>
            </a:r>
          </a:p>
          <a:p>
            <a:pPr lvl="1"/>
            <a:r>
              <a:rPr lang="en-US" sz="2400" dirty="0"/>
              <a:t>“Loan Amortization”</a:t>
            </a:r>
          </a:p>
          <a:p>
            <a:r>
              <a:rPr lang="en-US" sz="2400" dirty="0"/>
              <a:t>Level Annuity to Reach a Future Amount</a:t>
            </a:r>
          </a:p>
          <a:p>
            <a:pPr lvl="1"/>
            <a:r>
              <a:rPr lang="en-US" sz="2400" dirty="0"/>
              <a:t>“Sinking Fund Factor”</a:t>
            </a:r>
          </a:p>
        </p:txBody>
      </p:sp>
      <p:sp>
        <p:nvSpPr>
          <p:cNvPr id="4" name="Slide Number Placeholder 3"/>
          <p:cNvSpPr>
            <a:spLocks noGrp="1"/>
          </p:cNvSpPr>
          <p:nvPr>
            <p:ph type="sldNum" sz="quarter" idx="10"/>
          </p:nvPr>
        </p:nvSpPr>
        <p:spPr/>
        <p:txBody>
          <a:bodyPr/>
          <a:lstStyle/>
          <a:p>
            <a:fld id="{C674EDA7-B996-475E-B155-5CBB23D664FF}" type="slidenum">
              <a:rPr lang="en-US" smtClean="0"/>
              <a:pPr/>
              <a:t>9</a:t>
            </a:fld>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38200" y="2895600"/>
            <a:ext cx="1600200" cy="1588"/>
          </a:xfrm>
          <a:prstGeom prst="line">
            <a:avLst/>
          </a:prstGeom>
        </p:spPr>
        <p:style>
          <a:lnRef idx="2">
            <a:schemeClr val="accent2"/>
          </a:lnRef>
          <a:fillRef idx="1">
            <a:schemeClr val="lt1"/>
          </a:fillRef>
          <a:effectRef idx="0">
            <a:schemeClr val="accent2"/>
          </a:effectRef>
          <a:fontRef idx="minor">
            <a:schemeClr val="dk1"/>
          </a:fontRef>
        </p:style>
      </p:cxnSp>
      <p:cxnSp>
        <p:nvCxnSpPr>
          <p:cNvPr id="10" name="Straight Connector 9"/>
          <p:cNvCxnSpPr/>
          <p:nvPr/>
        </p:nvCxnSpPr>
        <p:spPr>
          <a:xfrm>
            <a:off x="2362200" y="2895600"/>
            <a:ext cx="1600200" cy="0"/>
          </a:xfrm>
          <a:prstGeom prst="line">
            <a:avLst/>
          </a:prstGeom>
        </p:spPr>
        <p:style>
          <a:lnRef idx="2">
            <a:schemeClr val="accent2"/>
          </a:lnRef>
          <a:fillRef idx="1">
            <a:schemeClr val="lt1"/>
          </a:fillRef>
          <a:effectRef idx="0">
            <a:schemeClr val="accent2"/>
          </a:effectRef>
          <a:fontRef idx="minor">
            <a:schemeClr val="dk1"/>
          </a:fontRef>
        </p:style>
      </p:cxnSp>
      <p:sp>
        <p:nvSpPr>
          <p:cNvPr id="42" name="TextBox 41"/>
          <p:cNvSpPr txBox="1"/>
          <p:nvPr/>
        </p:nvSpPr>
        <p:spPr>
          <a:xfrm>
            <a:off x="609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0</a:t>
            </a:r>
          </a:p>
        </p:txBody>
      </p:sp>
      <p:sp>
        <p:nvSpPr>
          <p:cNvPr id="43" name="TextBox 42"/>
          <p:cNvSpPr txBox="1"/>
          <p:nvPr/>
        </p:nvSpPr>
        <p:spPr>
          <a:xfrm>
            <a:off x="990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1</a:t>
            </a:r>
          </a:p>
        </p:txBody>
      </p:sp>
      <p:sp>
        <p:nvSpPr>
          <p:cNvPr id="44" name="TextBox 43"/>
          <p:cNvSpPr txBox="1"/>
          <p:nvPr/>
        </p:nvSpPr>
        <p:spPr>
          <a:xfrm>
            <a:off x="38100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N</a:t>
            </a:r>
          </a:p>
        </p:txBody>
      </p:sp>
      <p:sp>
        <p:nvSpPr>
          <p:cNvPr id="59" name="TextBox 58"/>
          <p:cNvSpPr txBox="1"/>
          <p:nvPr/>
        </p:nvSpPr>
        <p:spPr>
          <a:xfrm>
            <a:off x="457200" y="1371600"/>
            <a:ext cx="7696200" cy="523220"/>
          </a:xfrm>
          <a:prstGeom prst="rect">
            <a:avLst/>
          </a:prstGeom>
          <a:noFill/>
        </p:spPr>
        <p:txBody>
          <a:bodyPr wrap="square" rtlCol="0">
            <a:spAutoFit/>
          </a:bodyPr>
          <a:lstStyle/>
          <a:p>
            <a:r>
              <a:rPr lang="en-US" sz="1400" b="1" dirty="0"/>
              <a:t>Problem</a:t>
            </a:r>
            <a:r>
              <a:rPr lang="en-US" sz="1400" dirty="0"/>
              <a:t>:  What is the present value of an offer of $15,000  10 years from now if the opportunity cost of capital is 8% per year simple interest? 8% per year compounded monthly? </a:t>
            </a:r>
          </a:p>
        </p:txBody>
      </p:sp>
      <p:cxnSp>
        <p:nvCxnSpPr>
          <p:cNvPr id="67" name="Straight Arrow Connector 66"/>
          <p:cNvCxnSpPr/>
          <p:nvPr/>
        </p:nvCxnSpPr>
        <p:spPr>
          <a:xfrm rot="5400000">
            <a:off x="457994" y="3276600"/>
            <a:ext cx="761206"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5" name="Straight Arrow Connector 84"/>
          <p:cNvCxnSpPr/>
          <p:nvPr/>
        </p:nvCxnSpPr>
        <p:spPr>
          <a:xfrm rot="5400000" flipH="1" flipV="1">
            <a:off x="3581003" y="2514997"/>
            <a:ext cx="762794"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89" name="TextBox 88"/>
          <p:cNvSpPr txBox="1"/>
          <p:nvPr/>
        </p:nvSpPr>
        <p:spPr>
          <a:xfrm>
            <a:off x="12954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2</a:t>
            </a:r>
          </a:p>
        </p:txBody>
      </p:sp>
      <p:sp>
        <p:nvSpPr>
          <p:cNvPr id="90" name="Title 89"/>
          <p:cNvSpPr>
            <a:spLocks noGrp="1"/>
          </p:cNvSpPr>
          <p:nvPr>
            <p:ph type="title"/>
          </p:nvPr>
        </p:nvSpPr>
        <p:spPr/>
        <p:txBody>
          <a:bodyPr/>
          <a:lstStyle/>
          <a:p>
            <a:r>
              <a:rPr lang="en-US" sz="4000" dirty="0"/>
              <a:t>Present Value of a Future Amount</a:t>
            </a:r>
          </a:p>
        </p:txBody>
      </p:sp>
      <p:sp>
        <p:nvSpPr>
          <p:cNvPr id="91" name="TextBox 90"/>
          <p:cNvSpPr txBox="1"/>
          <p:nvPr/>
        </p:nvSpPr>
        <p:spPr>
          <a:xfrm>
            <a:off x="2057400" y="29718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sp>
        <p:nvSpPr>
          <p:cNvPr id="76" name="TextBox 75"/>
          <p:cNvSpPr txBox="1"/>
          <p:nvPr/>
        </p:nvSpPr>
        <p:spPr>
          <a:xfrm>
            <a:off x="685800" y="3657600"/>
            <a:ext cx="4572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PV</a:t>
            </a:r>
          </a:p>
        </p:txBody>
      </p:sp>
      <p:sp>
        <p:nvSpPr>
          <p:cNvPr id="86" name="TextBox 85"/>
          <p:cNvSpPr txBox="1"/>
          <p:nvPr/>
        </p:nvSpPr>
        <p:spPr>
          <a:xfrm>
            <a:off x="4038600" y="1981200"/>
            <a:ext cx="4572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FV</a:t>
            </a:r>
          </a:p>
        </p:txBody>
      </p:sp>
      <p:sp>
        <p:nvSpPr>
          <p:cNvPr id="87" name="TextBox 86"/>
          <p:cNvSpPr txBox="1"/>
          <p:nvPr/>
        </p:nvSpPr>
        <p:spPr>
          <a:xfrm>
            <a:off x="1676400" y="2286000"/>
            <a:ext cx="685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PMT</a:t>
            </a:r>
          </a:p>
        </p:txBody>
      </p:sp>
      <p:sp>
        <p:nvSpPr>
          <p:cNvPr id="126" name="TextBox 125"/>
          <p:cNvSpPr txBox="1"/>
          <p:nvPr/>
        </p:nvSpPr>
        <p:spPr>
          <a:xfrm>
            <a:off x="5867400" y="3962400"/>
            <a:ext cx="1828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Formula</a:t>
            </a:r>
          </a:p>
        </p:txBody>
      </p:sp>
      <p:sp>
        <p:nvSpPr>
          <p:cNvPr id="289" name="TextBox 288"/>
          <p:cNvSpPr txBox="1"/>
          <p:nvPr/>
        </p:nvSpPr>
        <p:spPr>
          <a:xfrm>
            <a:off x="1600200" y="3962400"/>
            <a:ext cx="2209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Calculator / Excel Solution</a:t>
            </a:r>
          </a:p>
        </p:txBody>
      </p:sp>
      <p:graphicFrame>
        <p:nvGraphicFramePr>
          <p:cNvPr id="294" name="Content Placeholder 293"/>
          <p:cNvGraphicFramePr>
            <a:graphicFrameLocks noGrp="1"/>
          </p:cNvGraphicFramePr>
          <p:nvPr>
            <p:ph idx="1"/>
          </p:nvPr>
        </p:nvGraphicFramePr>
        <p:xfrm>
          <a:off x="914400" y="4343400"/>
          <a:ext cx="3124199" cy="1600200"/>
        </p:xfrm>
        <a:graphic>
          <a:graphicData uri="http://schemas.openxmlformats.org/drawingml/2006/table">
            <a:tbl>
              <a:tblPr/>
              <a:tblGrid>
                <a:gridCol w="740551">
                  <a:extLst>
                    <a:ext uri="{9D8B030D-6E8A-4147-A177-3AD203B41FA5}">
                      <a16:colId xmlns:a16="http://schemas.microsoft.com/office/drawing/2014/main" val="20000"/>
                    </a:ext>
                  </a:extLst>
                </a:gridCol>
                <a:gridCol w="1191824">
                  <a:extLst>
                    <a:ext uri="{9D8B030D-6E8A-4147-A177-3AD203B41FA5}">
                      <a16:colId xmlns:a16="http://schemas.microsoft.com/office/drawing/2014/main" val="20001"/>
                    </a:ext>
                  </a:extLst>
                </a:gridCol>
                <a:gridCol w="1191824">
                  <a:extLst>
                    <a:ext uri="{9D8B030D-6E8A-4147-A177-3AD203B41FA5}">
                      <a16:colId xmlns:a16="http://schemas.microsoft.com/office/drawing/2014/main" val="20002"/>
                    </a:ext>
                  </a:extLst>
                </a:gridCol>
              </a:tblGrid>
              <a:tr h="2667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US" sz="1100" b="0" i="0" u="sng" strike="noStrike">
                          <a:solidFill>
                            <a:srgbClr val="000000"/>
                          </a:solidFill>
                          <a:latin typeface="Calibri"/>
                        </a:rPr>
                        <a:t>Simple Interest</a:t>
                      </a:r>
                    </a:p>
                  </a:txBody>
                  <a:tcPr marL="9525" marR="9525" marT="9525" marB="0" anchor="b">
                    <a:lnL>
                      <a:noFill/>
                    </a:lnL>
                    <a:lnR>
                      <a:noFill/>
                    </a:lnR>
                    <a:lnT>
                      <a:noFill/>
                    </a:lnT>
                    <a:lnB>
                      <a:noFill/>
                    </a:lnB>
                  </a:tcPr>
                </a:tc>
                <a:tc>
                  <a:txBody>
                    <a:bodyPr/>
                    <a:lstStyle/>
                    <a:p>
                      <a:pPr algn="ctr" fontAlgn="b"/>
                      <a:r>
                        <a:rPr lang="en-US" sz="1100" b="0" i="0" u="sng" strike="noStrike">
                          <a:solidFill>
                            <a:srgbClr val="000000"/>
                          </a:solidFill>
                          <a:latin typeface="Calibri"/>
                        </a:rPr>
                        <a:t>Monthly</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66700">
                <a:tc>
                  <a:txBody>
                    <a:bodyPr/>
                    <a:lstStyle/>
                    <a:p>
                      <a:pPr algn="l" fontAlgn="b"/>
                      <a:r>
                        <a:rPr lang="en-US" sz="1100" b="0" i="0" u="none" strike="noStrike">
                          <a:solidFill>
                            <a:srgbClr val="000000"/>
                          </a:solidFill>
                          <a:latin typeface="Calibri"/>
                        </a:rPr>
                        <a:t>N</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120</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266700">
                <a:tc>
                  <a:txBody>
                    <a:bodyPr/>
                    <a:lstStyle/>
                    <a:p>
                      <a:pPr algn="l" fontAlgn="b"/>
                      <a:r>
                        <a:rPr lang="en-US" sz="1100" b="0" i="0" u="none" strike="noStrike">
                          <a:solidFill>
                            <a:srgbClr val="000000"/>
                          </a:solidFill>
                          <a:latin typeface="Calibri"/>
                        </a:rPr>
                        <a:t>I</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8.000%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0.667%</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6700">
                <a:tc>
                  <a:txBody>
                    <a:bodyPr/>
                    <a:lstStyle/>
                    <a:p>
                      <a:pPr algn="l" fontAlgn="b"/>
                      <a:r>
                        <a:rPr lang="en-US" sz="1100" b="0" i="0" u="none" strike="noStrike">
                          <a:solidFill>
                            <a:srgbClr val="000000"/>
                          </a:solidFill>
                          <a:latin typeface="Calibri"/>
                        </a:rPr>
                        <a:t>PV</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solidFill>
                            <a:srgbClr val="000000"/>
                          </a:solidFill>
                          <a:latin typeface="Calibri"/>
                        </a:rPr>
                        <a:t>($6,948)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($6,758)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66700">
                <a:tc>
                  <a:txBody>
                    <a:bodyPr/>
                    <a:lstStyle/>
                    <a:p>
                      <a:pPr algn="l" fontAlgn="b"/>
                      <a:r>
                        <a:rPr lang="en-US" sz="1100" b="0" i="0" u="none" strike="noStrike">
                          <a:solidFill>
                            <a:srgbClr val="000000"/>
                          </a:solidFill>
                          <a:latin typeface="Calibri"/>
                        </a:rPr>
                        <a:t>PMT</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$0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solidFill>
                            <a:srgbClr val="000000"/>
                          </a:solidFill>
                          <a:latin typeface="Calibri"/>
                        </a:rPr>
                        <a:t>$0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r h="266700">
                <a:tc>
                  <a:txBody>
                    <a:bodyPr/>
                    <a:lstStyle/>
                    <a:p>
                      <a:pPr algn="l" fontAlgn="b"/>
                      <a:r>
                        <a:rPr lang="en-US" sz="1100" b="0" i="0" u="none" strike="noStrike">
                          <a:solidFill>
                            <a:srgbClr val="000000"/>
                          </a:solidFill>
                          <a:latin typeface="Calibri"/>
                        </a:rPr>
                        <a:t>FV</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$15,000 </a:t>
                      </a:r>
                    </a:p>
                  </a:txBody>
                  <a:tcPr marL="9525" marR="9525" marT="9525" marB="0" anchor="b">
                    <a:lnL>
                      <a:noFill/>
                    </a:lnL>
                    <a:lnR>
                      <a:noFill/>
                    </a:lnR>
                    <a:lnT>
                      <a:noFill/>
                    </a:lnT>
                    <a:lnB>
                      <a:noFill/>
                    </a:lnB>
                  </a:tcPr>
                </a:tc>
                <a:tc>
                  <a:txBody>
                    <a:bodyPr/>
                    <a:lstStyle/>
                    <a:p>
                      <a:pPr algn="r" fontAlgn="b"/>
                      <a:r>
                        <a:rPr lang="en-US" sz="1100" b="0" i="0" u="none" strike="noStrike" dirty="0">
                          <a:solidFill>
                            <a:srgbClr val="000000"/>
                          </a:solidFill>
                          <a:latin typeface="Calibri"/>
                        </a:rPr>
                        <a:t>$15,000 </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bl>
          </a:graphicData>
        </a:graphic>
      </p:graphicFrame>
      <p:graphicFrame>
        <p:nvGraphicFramePr>
          <p:cNvPr id="1027" name="Object 3"/>
          <p:cNvGraphicFramePr>
            <a:graphicFrameLocks noChangeAspect="1"/>
          </p:cNvGraphicFramePr>
          <p:nvPr/>
        </p:nvGraphicFramePr>
        <p:xfrm>
          <a:off x="4724400" y="4495800"/>
          <a:ext cx="3124200" cy="410333"/>
        </p:xfrm>
        <a:graphic>
          <a:graphicData uri="http://schemas.openxmlformats.org/presentationml/2006/ole">
            <mc:AlternateContent xmlns:mc="http://schemas.openxmlformats.org/markup-compatibility/2006">
              <mc:Choice xmlns:v="urn:schemas-microsoft-com:vml" Requires="v">
                <p:oleObj spid="_x0000_s1057" name="Equation" r:id="rId3" imgW="1841400" imgH="241200" progId="Equation.3">
                  <p:embed/>
                </p:oleObj>
              </mc:Choice>
              <mc:Fallback>
                <p:oleObj name="Equation" r:id="rId3" imgW="1841400" imgH="2412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4495800"/>
                        <a:ext cx="3124200" cy="4103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4"/>
          <p:cNvGraphicFramePr>
            <a:graphicFrameLocks noChangeAspect="1"/>
          </p:cNvGraphicFramePr>
          <p:nvPr/>
        </p:nvGraphicFramePr>
        <p:xfrm>
          <a:off x="4724400" y="5257800"/>
          <a:ext cx="3727450" cy="409575"/>
        </p:xfrm>
        <a:graphic>
          <a:graphicData uri="http://schemas.openxmlformats.org/presentationml/2006/ole">
            <mc:AlternateContent xmlns:mc="http://schemas.openxmlformats.org/markup-compatibility/2006">
              <mc:Choice xmlns:v="urn:schemas-microsoft-com:vml" Requires="v">
                <p:oleObj spid="_x0000_s1058" name="Equation" r:id="rId5" imgW="2197080" imgH="241200" progId="Equation.3">
                  <p:embed/>
                </p:oleObj>
              </mc:Choice>
              <mc:Fallback>
                <p:oleObj name="Equation" r:id="rId5" imgW="2197080" imgH="2412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5257800"/>
                        <a:ext cx="372745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38200" y="2895600"/>
            <a:ext cx="1600200" cy="1588"/>
          </a:xfrm>
          <a:prstGeom prst="line">
            <a:avLst/>
          </a:prstGeom>
        </p:spPr>
        <p:style>
          <a:lnRef idx="2">
            <a:schemeClr val="accent2"/>
          </a:lnRef>
          <a:fillRef idx="1">
            <a:schemeClr val="lt1"/>
          </a:fillRef>
          <a:effectRef idx="0">
            <a:schemeClr val="accent2"/>
          </a:effectRef>
          <a:fontRef idx="minor">
            <a:schemeClr val="dk1"/>
          </a:fontRef>
        </p:style>
      </p:cxnSp>
      <p:cxnSp>
        <p:nvCxnSpPr>
          <p:cNvPr id="9" name="Straight Connector 8"/>
          <p:cNvCxnSpPr/>
          <p:nvPr/>
        </p:nvCxnSpPr>
        <p:spPr>
          <a:xfrm>
            <a:off x="2438400" y="2895600"/>
            <a:ext cx="838200" cy="1588"/>
          </a:xfrm>
          <a:prstGeom prst="line">
            <a:avLst/>
          </a:prstGeom>
          <a:ln/>
        </p:spPr>
        <p:style>
          <a:lnRef idx="2">
            <a:schemeClr val="accent2"/>
          </a:lnRef>
          <a:fillRef idx="1">
            <a:schemeClr val="lt1"/>
          </a:fillRef>
          <a:effectRef idx="0">
            <a:schemeClr val="accent2"/>
          </a:effectRef>
          <a:fontRef idx="minor">
            <a:schemeClr val="dk1"/>
          </a:fontRef>
        </p:style>
      </p:cxnSp>
      <p:cxnSp>
        <p:nvCxnSpPr>
          <p:cNvPr id="10" name="Straight Connector 9"/>
          <p:cNvCxnSpPr/>
          <p:nvPr/>
        </p:nvCxnSpPr>
        <p:spPr>
          <a:xfrm>
            <a:off x="3276600" y="2895600"/>
            <a:ext cx="1143000" cy="0"/>
          </a:xfrm>
          <a:prstGeom prst="line">
            <a:avLst/>
          </a:prstGeom>
        </p:spPr>
        <p:style>
          <a:lnRef idx="2">
            <a:schemeClr val="accent2"/>
          </a:lnRef>
          <a:fillRef idx="1">
            <a:schemeClr val="lt1"/>
          </a:fillRef>
          <a:effectRef idx="0">
            <a:schemeClr val="accent2"/>
          </a:effectRef>
          <a:fontRef idx="minor">
            <a:schemeClr val="dk1"/>
          </a:fontRef>
        </p:style>
      </p:cxnSp>
      <p:cxnSp>
        <p:nvCxnSpPr>
          <p:cNvPr id="17" name="Straight Connector 16"/>
          <p:cNvCxnSpPr/>
          <p:nvPr/>
        </p:nvCxnSpPr>
        <p:spPr>
          <a:xfrm rot="5400000">
            <a:off x="1372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8" name="Straight Connector 17"/>
          <p:cNvCxnSpPr/>
          <p:nvPr/>
        </p:nvCxnSpPr>
        <p:spPr>
          <a:xfrm rot="5400000">
            <a:off x="1677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9" name="Straight Connector 18"/>
          <p:cNvCxnSpPr/>
          <p:nvPr/>
        </p:nvCxnSpPr>
        <p:spPr>
          <a:xfrm rot="5400000">
            <a:off x="19819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0" name="Straight Connector 19"/>
          <p:cNvCxnSpPr/>
          <p:nvPr/>
        </p:nvCxnSpPr>
        <p:spPr>
          <a:xfrm rot="5400000">
            <a:off x="3582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1" name="Straight Connector 20"/>
          <p:cNvCxnSpPr/>
          <p:nvPr/>
        </p:nvCxnSpPr>
        <p:spPr>
          <a:xfrm rot="5400000">
            <a:off x="3277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2" name="Straight Connector 21"/>
          <p:cNvCxnSpPr/>
          <p:nvPr/>
        </p:nvCxnSpPr>
        <p:spPr>
          <a:xfrm rot="5400000">
            <a:off x="29725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3" name="Straight Connector 22"/>
          <p:cNvCxnSpPr/>
          <p:nvPr/>
        </p:nvCxnSpPr>
        <p:spPr>
          <a:xfrm rot="5400000">
            <a:off x="26677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7" name="Straight Connector 26"/>
          <p:cNvCxnSpPr/>
          <p:nvPr/>
        </p:nvCxnSpPr>
        <p:spPr>
          <a:xfrm>
            <a:off x="838200" y="2667000"/>
            <a:ext cx="3124200" cy="0"/>
          </a:xfrm>
          <a:prstGeom prst="line">
            <a:avLst/>
          </a:prstGeom>
          <a:ln w="9525">
            <a:prstDash val="sysDot"/>
          </a:ln>
        </p:spPr>
        <p:style>
          <a:lnRef idx="2">
            <a:schemeClr val="accent2"/>
          </a:lnRef>
          <a:fillRef idx="1">
            <a:schemeClr val="lt1"/>
          </a:fillRef>
          <a:effectRef idx="0">
            <a:schemeClr val="accent2"/>
          </a:effectRef>
          <a:fontRef idx="minor">
            <a:schemeClr val="dk1"/>
          </a:fontRef>
        </p:style>
      </p:cxnSp>
      <p:sp>
        <p:nvSpPr>
          <p:cNvPr id="42" name="TextBox 41"/>
          <p:cNvSpPr txBox="1"/>
          <p:nvPr/>
        </p:nvSpPr>
        <p:spPr>
          <a:xfrm>
            <a:off x="609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0</a:t>
            </a:r>
          </a:p>
        </p:txBody>
      </p:sp>
      <p:sp>
        <p:nvSpPr>
          <p:cNvPr id="43" name="TextBox 42"/>
          <p:cNvSpPr txBox="1"/>
          <p:nvPr/>
        </p:nvSpPr>
        <p:spPr>
          <a:xfrm>
            <a:off x="990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1</a:t>
            </a:r>
          </a:p>
        </p:txBody>
      </p:sp>
      <p:sp>
        <p:nvSpPr>
          <p:cNvPr id="44" name="TextBox 43"/>
          <p:cNvSpPr txBox="1"/>
          <p:nvPr/>
        </p:nvSpPr>
        <p:spPr>
          <a:xfrm>
            <a:off x="38100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N</a:t>
            </a:r>
          </a:p>
        </p:txBody>
      </p:sp>
      <p:sp>
        <p:nvSpPr>
          <p:cNvPr id="59" name="TextBox 58"/>
          <p:cNvSpPr txBox="1"/>
          <p:nvPr/>
        </p:nvSpPr>
        <p:spPr>
          <a:xfrm>
            <a:off x="457200" y="1524000"/>
            <a:ext cx="7696200" cy="461665"/>
          </a:xfrm>
          <a:prstGeom prst="rect">
            <a:avLst/>
          </a:prstGeom>
          <a:noFill/>
        </p:spPr>
        <p:txBody>
          <a:bodyPr wrap="square" rtlCol="0">
            <a:spAutoFit/>
          </a:bodyPr>
          <a:lstStyle/>
          <a:p>
            <a:r>
              <a:rPr lang="en-US" sz="1200" b="1" dirty="0"/>
              <a:t>Problem</a:t>
            </a:r>
            <a:r>
              <a:rPr lang="en-US" sz="1200" dirty="0"/>
              <a:t>: What is the present value of a 12-year lease that has monthly rental payments of $2,500, where the OCC is 9%?</a:t>
            </a:r>
          </a:p>
        </p:txBody>
      </p:sp>
      <p:cxnSp>
        <p:nvCxnSpPr>
          <p:cNvPr id="233" name="Straight Connector 232"/>
          <p:cNvCxnSpPr/>
          <p:nvPr/>
        </p:nvCxnSpPr>
        <p:spPr>
          <a:xfrm rot="5400000">
            <a:off x="1067594" y="2894806"/>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67" name="Straight Arrow Connector 66"/>
          <p:cNvCxnSpPr/>
          <p:nvPr/>
        </p:nvCxnSpPr>
        <p:spPr>
          <a:xfrm rot="5400000">
            <a:off x="457994" y="3276600"/>
            <a:ext cx="761206"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7" name="Straight Arrow Connector 76"/>
          <p:cNvCxnSpPr/>
          <p:nvPr/>
        </p:nvCxnSpPr>
        <p:spPr>
          <a:xfrm rot="5400000" flipH="1" flipV="1">
            <a:off x="1027906" y="2781300"/>
            <a:ext cx="229394"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8" name="Straight Arrow Connector 77"/>
          <p:cNvCxnSpPr/>
          <p:nvPr/>
        </p:nvCxnSpPr>
        <p:spPr>
          <a:xfrm rot="5400000" flipH="1" flipV="1">
            <a:off x="13335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9" name="Straight Arrow Connector 78"/>
          <p:cNvCxnSpPr/>
          <p:nvPr/>
        </p:nvCxnSpPr>
        <p:spPr>
          <a:xfrm rot="5400000" flipH="1" flipV="1">
            <a:off x="19431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0" name="Straight Arrow Connector 79"/>
          <p:cNvCxnSpPr/>
          <p:nvPr/>
        </p:nvCxnSpPr>
        <p:spPr>
          <a:xfrm rot="5400000" flipH="1" flipV="1">
            <a:off x="16383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1" name="Straight Arrow Connector 80"/>
          <p:cNvCxnSpPr/>
          <p:nvPr/>
        </p:nvCxnSpPr>
        <p:spPr>
          <a:xfrm rot="5400000" flipH="1" flipV="1">
            <a:off x="26289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2" name="Straight Arrow Connector 81"/>
          <p:cNvCxnSpPr/>
          <p:nvPr/>
        </p:nvCxnSpPr>
        <p:spPr>
          <a:xfrm rot="5400000" flipH="1" flipV="1">
            <a:off x="29337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3" name="Straight Arrow Connector 82"/>
          <p:cNvCxnSpPr/>
          <p:nvPr/>
        </p:nvCxnSpPr>
        <p:spPr>
          <a:xfrm rot="5400000" flipH="1" flipV="1">
            <a:off x="32385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4" name="Straight Arrow Connector 83"/>
          <p:cNvCxnSpPr/>
          <p:nvPr/>
        </p:nvCxnSpPr>
        <p:spPr>
          <a:xfrm rot="5400000" flipH="1" flipV="1">
            <a:off x="35433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89" name="TextBox 88"/>
          <p:cNvSpPr txBox="1"/>
          <p:nvPr/>
        </p:nvSpPr>
        <p:spPr>
          <a:xfrm>
            <a:off x="12954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2</a:t>
            </a:r>
          </a:p>
        </p:txBody>
      </p:sp>
      <p:sp>
        <p:nvSpPr>
          <p:cNvPr id="90" name="Title 89"/>
          <p:cNvSpPr>
            <a:spLocks noGrp="1"/>
          </p:cNvSpPr>
          <p:nvPr>
            <p:ph type="title"/>
          </p:nvPr>
        </p:nvSpPr>
        <p:spPr/>
        <p:txBody>
          <a:bodyPr/>
          <a:lstStyle/>
          <a:p>
            <a:r>
              <a:rPr lang="en-US" sz="4000" dirty="0"/>
              <a:t>Present Value of a Level Annuity</a:t>
            </a:r>
          </a:p>
        </p:txBody>
      </p:sp>
      <p:sp>
        <p:nvSpPr>
          <p:cNvPr id="91" name="TextBox 90"/>
          <p:cNvSpPr txBox="1"/>
          <p:nvPr/>
        </p:nvSpPr>
        <p:spPr>
          <a:xfrm>
            <a:off x="2057400" y="29718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sp>
        <p:nvSpPr>
          <p:cNvPr id="76" name="TextBox 75"/>
          <p:cNvSpPr txBox="1"/>
          <p:nvPr/>
        </p:nvSpPr>
        <p:spPr>
          <a:xfrm>
            <a:off x="685800" y="3657600"/>
            <a:ext cx="4572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PV</a:t>
            </a:r>
          </a:p>
        </p:txBody>
      </p:sp>
      <p:sp>
        <p:nvSpPr>
          <p:cNvPr id="87" name="TextBox 86"/>
          <p:cNvSpPr txBox="1"/>
          <p:nvPr/>
        </p:nvSpPr>
        <p:spPr>
          <a:xfrm>
            <a:off x="1676400" y="2286000"/>
            <a:ext cx="685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PMT</a:t>
            </a:r>
          </a:p>
        </p:txBody>
      </p:sp>
      <p:sp>
        <p:nvSpPr>
          <p:cNvPr id="289" name="TextBox 288"/>
          <p:cNvSpPr txBox="1"/>
          <p:nvPr/>
        </p:nvSpPr>
        <p:spPr>
          <a:xfrm>
            <a:off x="1828800" y="3657600"/>
            <a:ext cx="2209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Calculator / Excel Solution</a:t>
            </a:r>
          </a:p>
        </p:txBody>
      </p:sp>
      <p:cxnSp>
        <p:nvCxnSpPr>
          <p:cNvPr id="37" name="Straight Arrow Connector 36"/>
          <p:cNvCxnSpPr/>
          <p:nvPr/>
        </p:nvCxnSpPr>
        <p:spPr>
          <a:xfrm rot="5400000" flipH="1" flipV="1">
            <a:off x="3848894" y="2780506"/>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graphicFrame>
        <p:nvGraphicFramePr>
          <p:cNvPr id="40" name="Content Placeholder 39"/>
          <p:cNvGraphicFramePr>
            <a:graphicFrameLocks noGrp="1"/>
          </p:cNvGraphicFramePr>
          <p:nvPr>
            <p:ph idx="1"/>
          </p:nvPr>
        </p:nvGraphicFramePr>
        <p:xfrm>
          <a:off x="1752600" y="3886200"/>
          <a:ext cx="2057400" cy="1524000"/>
        </p:xfrm>
        <a:graphic>
          <a:graphicData uri="http://schemas.openxmlformats.org/drawingml/2006/table">
            <a:tbl>
              <a:tblPr/>
              <a:tblGrid>
                <a:gridCol w="788465">
                  <a:extLst>
                    <a:ext uri="{9D8B030D-6E8A-4147-A177-3AD203B41FA5}">
                      <a16:colId xmlns:a16="http://schemas.microsoft.com/office/drawing/2014/main" val="20000"/>
                    </a:ext>
                  </a:extLst>
                </a:gridCol>
                <a:gridCol w="1268935">
                  <a:extLst>
                    <a:ext uri="{9D8B030D-6E8A-4147-A177-3AD203B41FA5}">
                      <a16:colId xmlns:a16="http://schemas.microsoft.com/office/drawing/2014/main" val="20001"/>
                    </a:ext>
                  </a:extLst>
                </a:gridCol>
              </a:tblGrid>
              <a:tr h="2540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US" sz="1100" b="0" i="0" u="sng" strike="noStrike">
                          <a:solidFill>
                            <a:srgbClr val="000000"/>
                          </a:solidFill>
                          <a:latin typeface="Calibri"/>
                        </a:rPr>
                        <a:t>Lease PV</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54000">
                <a:tc>
                  <a:txBody>
                    <a:bodyPr/>
                    <a:lstStyle/>
                    <a:p>
                      <a:pPr algn="l" fontAlgn="b"/>
                      <a:r>
                        <a:rPr lang="en-US" sz="1100" b="0" i="0" u="none" strike="noStrike">
                          <a:solidFill>
                            <a:srgbClr val="000000"/>
                          </a:solidFill>
                          <a:latin typeface="Calibri"/>
                        </a:rPr>
                        <a:t>N</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144</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254000">
                <a:tc>
                  <a:txBody>
                    <a:bodyPr/>
                    <a:lstStyle/>
                    <a:p>
                      <a:pPr algn="l" fontAlgn="b"/>
                      <a:r>
                        <a:rPr lang="en-US" sz="1100" b="0" i="0" u="none" strike="noStrike">
                          <a:solidFill>
                            <a:srgbClr val="000000"/>
                          </a:solidFill>
                          <a:latin typeface="Calibri"/>
                        </a:rPr>
                        <a:t>I</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0.750%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4000">
                <a:tc>
                  <a:txBody>
                    <a:bodyPr/>
                    <a:lstStyle/>
                    <a:p>
                      <a:pPr algn="l" fontAlgn="b"/>
                      <a:r>
                        <a:rPr lang="en-US" sz="1100" b="0" i="0" u="none" strike="noStrike">
                          <a:solidFill>
                            <a:srgbClr val="000000"/>
                          </a:solidFill>
                          <a:latin typeface="Calibri"/>
                        </a:rPr>
                        <a:t>PV</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solidFill>
                            <a:srgbClr val="000000"/>
                          </a:solidFill>
                          <a:latin typeface="Calibri"/>
                        </a:rPr>
                        <a:t>($219,678)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4000">
                <a:tc>
                  <a:txBody>
                    <a:bodyPr/>
                    <a:lstStyle/>
                    <a:p>
                      <a:pPr algn="l" fontAlgn="b"/>
                      <a:r>
                        <a:rPr lang="en-US" sz="1100" b="0" i="0" u="none" strike="noStrike">
                          <a:solidFill>
                            <a:srgbClr val="000000"/>
                          </a:solidFill>
                          <a:latin typeface="Calibri"/>
                        </a:rPr>
                        <a:t>PMT</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$2,500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r h="254000">
                <a:tc>
                  <a:txBody>
                    <a:bodyPr/>
                    <a:lstStyle/>
                    <a:p>
                      <a:pPr algn="l" fontAlgn="b"/>
                      <a:r>
                        <a:rPr lang="en-US" sz="1100" b="0" i="0" u="none" strike="noStrike">
                          <a:solidFill>
                            <a:srgbClr val="000000"/>
                          </a:solidFill>
                          <a:latin typeface="Calibri"/>
                        </a:rPr>
                        <a:t>FV</a:t>
                      </a:r>
                    </a:p>
                  </a:txBody>
                  <a:tcPr marL="9525" marR="9525" marT="9525" marB="0" anchor="b">
                    <a:lnL>
                      <a:noFill/>
                    </a:lnL>
                    <a:lnR>
                      <a:noFill/>
                    </a:lnR>
                    <a:lnT>
                      <a:noFill/>
                    </a:lnT>
                    <a:lnB>
                      <a:noFill/>
                    </a:lnB>
                  </a:tcPr>
                </a:tc>
                <a:tc>
                  <a:txBody>
                    <a:bodyPr/>
                    <a:lstStyle/>
                    <a:p>
                      <a:pPr algn="r" fontAlgn="b"/>
                      <a:r>
                        <a:rPr lang="en-US" sz="1100" b="0" i="0" u="none" strike="noStrike" dirty="0">
                          <a:solidFill>
                            <a:srgbClr val="000000"/>
                          </a:solidFill>
                          <a:latin typeface="Calibri"/>
                        </a:rPr>
                        <a:t>$0 </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bl>
          </a:graphicData>
        </a:graphic>
      </p:graphicFrame>
      <p:graphicFrame>
        <p:nvGraphicFramePr>
          <p:cNvPr id="52225" name="Object 1"/>
          <p:cNvGraphicFramePr>
            <a:graphicFrameLocks noChangeAspect="1"/>
          </p:cNvGraphicFramePr>
          <p:nvPr/>
        </p:nvGraphicFramePr>
        <p:xfrm>
          <a:off x="4800600" y="4191000"/>
          <a:ext cx="3260333" cy="533400"/>
        </p:xfrm>
        <a:graphic>
          <a:graphicData uri="http://schemas.openxmlformats.org/presentationml/2006/ole">
            <mc:AlternateContent xmlns:mc="http://schemas.openxmlformats.org/markup-compatibility/2006">
              <mc:Choice xmlns:v="urn:schemas-microsoft-com:vml" Requires="v">
                <p:oleObj spid="_x0000_s52240" name="Equation" r:id="rId3" imgW="2641320" imgH="431640" progId="Equation.3">
                  <p:embed/>
                </p:oleObj>
              </mc:Choice>
              <mc:Fallback>
                <p:oleObj name="Equation" r:id="rId3" imgW="2641320" imgH="43164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191000"/>
                        <a:ext cx="326033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 name="TextBox 44"/>
          <p:cNvSpPr txBox="1"/>
          <p:nvPr/>
        </p:nvSpPr>
        <p:spPr>
          <a:xfrm>
            <a:off x="5943600" y="3581400"/>
            <a:ext cx="2209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Formula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38200" y="2895600"/>
            <a:ext cx="1600200" cy="1588"/>
          </a:xfrm>
          <a:prstGeom prst="line">
            <a:avLst/>
          </a:prstGeom>
        </p:spPr>
        <p:style>
          <a:lnRef idx="2">
            <a:schemeClr val="accent2"/>
          </a:lnRef>
          <a:fillRef idx="1">
            <a:schemeClr val="lt1"/>
          </a:fillRef>
          <a:effectRef idx="0">
            <a:schemeClr val="accent2"/>
          </a:effectRef>
          <a:fontRef idx="minor">
            <a:schemeClr val="dk1"/>
          </a:fontRef>
        </p:style>
      </p:cxnSp>
      <p:cxnSp>
        <p:nvCxnSpPr>
          <p:cNvPr id="9" name="Straight Connector 8"/>
          <p:cNvCxnSpPr/>
          <p:nvPr/>
        </p:nvCxnSpPr>
        <p:spPr>
          <a:xfrm>
            <a:off x="2438400" y="2895600"/>
            <a:ext cx="838200" cy="1588"/>
          </a:xfrm>
          <a:prstGeom prst="line">
            <a:avLst/>
          </a:prstGeom>
          <a:ln/>
        </p:spPr>
        <p:style>
          <a:lnRef idx="2">
            <a:schemeClr val="accent2"/>
          </a:lnRef>
          <a:fillRef idx="1">
            <a:schemeClr val="lt1"/>
          </a:fillRef>
          <a:effectRef idx="0">
            <a:schemeClr val="accent2"/>
          </a:effectRef>
          <a:fontRef idx="minor">
            <a:schemeClr val="dk1"/>
          </a:fontRef>
        </p:style>
      </p:cxnSp>
      <p:cxnSp>
        <p:nvCxnSpPr>
          <p:cNvPr id="10" name="Straight Connector 9"/>
          <p:cNvCxnSpPr/>
          <p:nvPr/>
        </p:nvCxnSpPr>
        <p:spPr>
          <a:xfrm>
            <a:off x="3276600" y="2895600"/>
            <a:ext cx="1143000" cy="0"/>
          </a:xfrm>
          <a:prstGeom prst="line">
            <a:avLst/>
          </a:prstGeom>
        </p:spPr>
        <p:style>
          <a:lnRef idx="2">
            <a:schemeClr val="accent2"/>
          </a:lnRef>
          <a:fillRef idx="1">
            <a:schemeClr val="lt1"/>
          </a:fillRef>
          <a:effectRef idx="0">
            <a:schemeClr val="accent2"/>
          </a:effectRef>
          <a:fontRef idx="minor">
            <a:schemeClr val="dk1"/>
          </a:fontRef>
        </p:style>
      </p:cxnSp>
      <p:cxnSp>
        <p:nvCxnSpPr>
          <p:cNvPr id="17" name="Straight Connector 16"/>
          <p:cNvCxnSpPr/>
          <p:nvPr/>
        </p:nvCxnSpPr>
        <p:spPr>
          <a:xfrm rot="5400000">
            <a:off x="1372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8" name="Straight Connector 17"/>
          <p:cNvCxnSpPr/>
          <p:nvPr/>
        </p:nvCxnSpPr>
        <p:spPr>
          <a:xfrm rot="5400000">
            <a:off x="1677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9" name="Straight Connector 18"/>
          <p:cNvCxnSpPr/>
          <p:nvPr/>
        </p:nvCxnSpPr>
        <p:spPr>
          <a:xfrm rot="5400000">
            <a:off x="19819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0" name="Straight Connector 19"/>
          <p:cNvCxnSpPr/>
          <p:nvPr/>
        </p:nvCxnSpPr>
        <p:spPr>
          <a:xfrm rot="5400000">
            <a:off x="3582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1" name="Straight Connector 20"/>
          <p:cNvCxnSpPr/>
          <p:nvPr/>
        </p:nvCxnSpPr>
        <p:spPr>
          <a:xfrm rot="5400000">
            <a:off x="3277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2" name="Straight Connector 21"/>
          <p:cNvCxnSpPr/>
          <p:nvPr/>
        </p:nvCxnSpPr>
        <p:spPr>
          <a:xfrm rot="5400000">
            <a:off x="29725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3" name="Straight Connector 22"/>
          <p:cNvCxnSpPr/>
          <p:nvPr/>
        </p:nvCxnSpPr>
        <p:spPr>
          <a:xfrm rot="5400000">
            <a:off x="26677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sp>
        <p:nvSpPr>
          <p:cNvPr id="42" name="TextBox 41"/>
          <p:cNvSpPr txBox="1"/>
          <p:nvPr/>
        </p:nvSpPr>
        <p:spPr>
          <a:xfrm>
            <a:off x="609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0</a:t>
            </a:r>
          </a:p>
        </p:txBody>
      </p:sp>
      <p:sp>
        <p:nvSpPr>
          <p:cNvPr id="43" name="TextBox 42"/>
          <p:cNvSpPr txBox="1"/>
          <p:nvPr/>
        </p:nvSpPr>
        <p:spPr>
          <a:xfrm>
            <a:off x="990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1</a:t>
            </a:r>
          </a:p>
        </p:txBody>
      </p:sp>
      <p:sp>
        <p:nvSpPr>
          <p:cNvPr id="44" name="TextBox 43"/>
          <p:cNvSpPr txBox="1"/>
          <p:nvPr/>
        </p:nvSpPr>
        <p:spPr>
          <a:xfrm>
            <a:off x="38100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N</a:t>
            </a:r>
          </a:p>
        </p:txBody>
      </p:sp>
      <p:sp>
        <p:nvSpPr>
          <p:cNvPr id="59" name="TextBox 58"/>
          <p:cNvSpPr txBox="1"/>
          <p:nvPr/>
        </p:nvSpPr>
        <p:spPr>
          <a:xfrm>
            <a:off x="457200" y="1524000"/>
            <a:ext cx="7696200" cy="461665"/>
          </a:xfrm>
          <a:prstGeom prst="rect">
            <a:avLst/>
          </a:prstGeom>
          <a:noFill/>
        </p:spPr>
        <p:txBody>
          <a:bodyPr wrap="square" rtlCol="0">
            <a:spAutoFit/>
          </a:bodyPr>
          <a:lstStyle/>
          <a:p>
            <a:r>
              <a:rPr lang="en-US" sz="1200" b="1" dirty="0"/>
              <a:t>Problem</a:t>
            </a:r>
            <a:r>
              <a:rPr lang="en-US" sz="1200" dirty="0"/>
              <a:t>: You acquired a parcel of land for $100,000. If the land value grows 3% per year, what will the land value be after 15 years?</a:t>
            </a:r>
          </a:p>
        </p:txBody>
      </p:sp>
      <p:cxnSp>
        <p:nvCxnSpPr>
          <p:cNvPr id="233" name="Straight Connector 232"/>
          <p:cNvCxnSpPr/>
          <p:nvPr/>
        </p:nvCxnSpPr>
        <p:spPr>
          <a:xfrm rot="5400000">
            <a:off x="1067594" y="2894806"/>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67" name="Straight Arrow Connector 66"/>
          <p:cNvCxnSpPr/>
          <p:nvPr/>
        </p:nvCxnSpPr>
        <p:spPr>
          <a:xfrm rot="5400000">
            <a:off x="457994" y="3276600"/>
            <a:ext cx="761206"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5" name="Straight Arrow Connector 84"/>
          <p:cNvCxnSpPr/>
          <p:nvPr/>
        </p:nvCxnSpPr>
        <p:spPr>
          <a:xfrm rot="5400000" flipH="1" flipV="1">
            <a:off x="3581003" y="2514997"/>
            <a:ext cx="762794"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89" name="TextBox 88"/>
          <p:cNvSpPr txBox="1"/>
          <p:nvPr/>
        </p:nvSpPr>
        <p:spPr>
          <a:xfrm>
            <a:off x="12954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2</a:t>
            </a:r>
          </a:p>
        </p:txBody>
      </p:sp>
      <p:sp>
        <p:nvSpPr>
          <p:cNvPr id="90" name="Title 89"/>
          <p:cNvSpPr>
            <a:spLocks noGrp="1"/>
          </p:cNvSpPr>
          <p:nvPr>
            <p:ph type="title"/>
          </p:nvPr>
        </p:nvSpPr>
        <p:spPr/>
        <p:txBody>
          <a:bodyPr/>
          <a:lstStyle/>
          <a:p>
            <a:r>
              <a:rPr lang="en-US" sz="4000" dirty="0"/>
              <a:t>Future Value of a Present Amount</a:t>
            </a:r>
          </a:p>
        </p:txBody>
      </p:sp>
      <p:graphicFrame>
        <p:nvGraphicFramePr>
          <p:cNvPr id="37" name="Content Placeholder 36"/>
          <p:cNvGraphicFramePr>
            <a:graphicFrameLocks noGrp="1"/>
          </p:cNvGraphicFramePr>
          <p:nvPr>
            <p:ph idx="1"/>
          </p:nvPr>
        </p:nvGraphicFramePr>
        <p:xfrm>
          <a:off x="1981200" y="4038600"/>
          <a:ext cx="2133600" cy="1524002"/>
        </p:xfrm>
        <a:graphic>
          <a:graphicData uri="http://schemas.openxmlformats.org/drawingml/2006/table">
            <a:tbl>
              <a:tblPr/>
              <a:tblGrid>
                <a:gridCol w="817667">
                  <a:extLst>
                    <a:ext uri="{9D8B030D-6E8A-4147-A177-3AD203B41FA5}">
                      <a16:colId xmlns:a16="http://schemas.microsoft.com/office/drawing/2014/main" val="20000"/>
                    </a:ext>
                  </a:extLst>
                </a:gridCol>
                <a:gridCol w="1315933">
                  <a:extLst>
                    <a:ext uri="{9D8B030D-6E8A-4147-A177-3AD203B41FA5}">
                      <a16:colId xmlns:a16="http://schemas.microsoft.com/office/drawing/2014/main" val="20001"/>
                    </a:ext>
                  </a:extLst>
                </a:gridCol>
              </a:tblGrid>
              <a:tr h="405057">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US" sz="1100" b="0" i="0" u="sng" strike="noStrike">
                          <a:solidFill>
                            <a:srgbClr val="000000"/>
                          </a:solidFill>
                          <a:latin typeface="Calibri"/>
                        </a:rPr>
                        <a:t>Future Land Value</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23789">
                <a:tc>
                  <a:txBody>
                    <a:bodyPr/>
                    <a:lstStyle/>
                    <a:p>
                      <a:pPr algn="l" fontAlgn="b"/>
                      <a:r>
                        <a:rPr lang="en-US" sz="1100" b="0" i="0" u="none" strike="noStrike">
                          <a:solidFill>
                            <a:srgbClr val="000000"/>
                          </a:solidFill>
                          <a:latin typeface="Calibri"/>
                        </a:rPr>
                        <a:t>N</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15</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223789">
                <a:tc>
                  <a:txBody>
                    <a:bodyPr/>
                    <a:lstStyle/>
                    <a:p>
                      <a:pPr algn="l" fontAlgn="b"/>
                      <a:r>
                        <a:rPr lang="en-US" sz="1100" b="0" i="0" u="none" strike="noStrike">
                          <a:solidFill>
                            <a:srgbClr val="000000"/>
                          </a:solidFill>
                          <a:latin typeface="Calibri"/>
                        </a:rPr>
                        <a:t>I</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3.000%</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223789">
                <a:tc>
                  <a:txBody>
                    <a:bodyPr/>
                    <a:lstStyle/>
                    <a:p>
                      <a:pPr algn="l" fontAlgn="b"/>
                      <a:r>
                        <a:rPr lang="en-US" sz="1100" b="0" i="0" u="none" strike="noStrike">
                          <a:solidFill>
                            <a:srgbClr val="000000"/>
                          </a:solidFill>
                          <a:latin typeface="Calibri"/>
                        </a:rPr>
                        <a:t>PV</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($100,000)</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223789">
                <a:tc>
                  <a:txBody>
                    <a:bodyPr/>
                    <a:lstStyle/>
                    <a:p>
                      <a:pPr algn="l" fontAlgn="b"/>
                      <a:r>
                        <a:rPr lang="en-US" sz="1100" b="0" i="0" u="none" strike="noStrike">
                          <a:solidFill>
                            <a:srgbClr val="000000"/>
                          </a:solidFill>
                          <a:latin typeface="Calibri"/>
                        </a:rPr>
                        <a:t>PMT</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$0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23789">
                <a:tc>
                  <a:txBody>
                    <a:bodyPr/>
                    <a:lstStyle/>
                    <a:p>
                      <a:pPr algn="l" fontAlgn="b"/>
                      <a:r>
                        <a:rPr lang="en-US" sz="1100" b="0" i="0" u="none" strike="noStrike">
                          <a:solidFill>
                            <a:srgbClr val="000000"/>
                          </a:solidFill>
                          <a:latin typeface="Calibri"/>
                        </a:rPr>
                        <a:t>FV</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dirty="0">
                          <a:solidFill>
                            <a:srgbClr val="000000"/>
                          </a:solidFill>
                          <a:latin typeface="Calibri"/>
                        </a:rPr>
                        <a:t>$155,797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1" name="TextBox 90"/>
          <p:cNvSpPr txBox="1"/>
          <p:nvPr/>
        </p:nvSpPr>
        <p:spPr>
          <a:xfrm>
            <a:off x="2057400" y="29718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sp>
        <p:nvSpPr>
          <p:cNvPr id="76" name="TextBox 75"/>
          <p:cNvSpPr txBox="1"/>
          <p:nvPr/>
        </p:nvSpPr>
        <p:spPr>
          <a:xfrm>
            <a:off x="685800" y="3657600"/>
            <a:ext cx="4572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PV</a:t>
            </a:r>
          </a:p>
        </p:txBody>
      </p:sp>
      <p:sp>
        <p:nvSpPr>
          <p:cNvPr id="86" name="TextBox 85"/>
          <p:cNvSpPr txBox="1"/>
          <p:nvPr/>
        </p:nvSpPr>
        <p:spPr>
          <a:xfrm>
            <a:off x="4038600" y="1981200"/>
            <a:ext cx="4572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FV</a:t>
            </a:r>
          </a:p>
        </p:txBody>
      </p:sp>
      <p:sp>
        <p:nvSpPr>
          <p:cNvPr id="126" name="TextBox 125"/>
          <p:cNvSpPr txBox="1"/>
          <p:nvPr/>
        </p:nvSpPr>
        <p:spPr>
          <a:xfrm>
            <a:off x="5715000" y="3733800"/>
            <a:ext cx="1828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Formula</a:t>
            </a:r>
          </a:p>
        </p:txBody>
      </p:sp>
      <p:sp>
        <p:nvSpPr>
          <p:cNvPr id="289" name="TextBox 288"/>
          <p:cNvSpPr txBox="1"/>
          <p:nvPr/>
        </p:nvSpPr>
        <p:spPr>
          <a:xfrm>
            <a:off x="2133600" y="3733800"/>
            <a:ext cx="2209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Calculator / Excel Solution</a:t>
            </a:r>
          </a:p>
        </p:txBody>
      </p:sp>
      <p:graphicFrame>
        <p:nvGraphicFramePr>
          <p:cNvPr id="51201" name="Object 1"/>
          <p:cNvGraphicFramePr>
            <a:graphicFrameLocks noChangeAspect="1"/>
          </p:cNvGraphicFramePr>
          <p:nvPr/>
        </p:nvGraphicFramePr>
        <p:xfrm>
          <a:off x="5029200" y="4267200"/>
          <a:ext cx="3121025" cy="357401"/>
        </p:xfrm>
        <a:graphic>
          <a:graphicData uri="http://schemas.openxmlformats.org/presentationml/2006/ole">
            <mc:AlternateContent xmlns:mc="http://schemas.openxmlformats.org/markup-compatibility/2006">
              <mc:Choice xmlns:v="urn:schemas-microsoft-com:vml" Requires="v">
                <p:oleObj spid="_x0000_s51216" name="Equation" r:id="rId3" imgW="2108160" imgH="241200" progId="Equation.3">
                  <p:embed/>
                </p:oleObj>
              </mc:Choice>
              <mc:Fallback>
                <p:oleObj name="Equation" r:id="rId3" imgW="2108160" imgH="24120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4267200"/>
                        <a:ext cx="3121025" cy="357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38200" y="2895600"/>
            <a:ext cx="1600200" cy="1588"/>
          </a:xfrm>
          <a:prstGeom prst="line">
            <a:avLst/>
          </a:prstGeom>
        </p:spPr>
        <p:style>
          <a:lnRef idx="2">
            <a:schemeClr val="accent2"/>
          </a:lnRef>
          <a:fillRef idx="1">
            <a:schemeClr val="lt1"/>
          </a:fillRef>
          <a:effectRef idx="0">
            <a:schemeClr val="accent2"/>
          </a:effectRef>
          <a:fontRef idx="minor">
            <a:schemeClr val="dk1"/>
          </a:fontRef>
        </p:style>
      </p:cxnSp>
      <p:cxnSp>
        <p:nvCxnSpPr>
          <p:cNvPr id="9" name="Straight Connector 8"/>
          <p:cNvCxnSpPr/>
          <p:nvPr/>
        </p:nvCxnSpPr>
        <p:spPr>
          <a:xfrm>
            <a:off x="2438400" y="2895600"/>
            <a:ext cx="838200" cy="1588"/>
          </a:xfrm>
          <a:prstGeom prst="line">
            <a:avLst/>
          </a:prstGeom>
          <a:ln/>
        </p:spPr>
        <p:style>
          <a:lnRef idx="2">
            <a:schemeClr val="accent2"/>
          </a:lnRef>
          <a:fillRef idx="1">
            <a:schemeClr val="lt1"/>
          </a:fillRef>
          <a:effectRef idx="0">
            <a:schemeClr val="accent2"/>
          </a:effectRef>
          <a:fontRef idx="minor">
            <a:schemeClr val="dk1"/>
          </a:fontRef>
        </p:style>
      </p:cxnSp>
      <p:cxnSp>
        <p:nvCxnSpPr>
          <p:cNvPr id="10" name="Straight Connector 9"/>
          <p:cNvCxnSpPr/>
          <p:nvPr/>
        </p:nvCxnSpPr>
        <p:spPr>
          <a:xfrm>
            <a:off x="3276600" y="2895600"/>
            <a:ext cx="1143000" cy="0"/>
          </a:xfrm>
          <a:prstGeom prst="line">
            <a:avLst/>
          </a:prstGeom>
        </p:spPr>
        <p:style>
          <a:lnRef idx="2">
            <a:schemeClr val="accent2"/>
          </a:lnRef>
          <a:fillRef idx="1">
            <a:schemeClr val="lt1"/>
          </a:fillRef>
          <a:effectRef idx="0">
            <a:schemeClr val="accent2"/>
          </a:effectRef>
          <a:fontRef idx="minor">
            <a:schemeClr val="dk1"/>
          </a:fontRef>
        </p:style>
      </p:cxnSp>
      <p:cxnSp>
        <p:nvCxnSpPr>
          <p:cNvPr id="17" name="Straight Connector 16"/>
          <p:cNvCxnSpPr/>
          <p:nvPr/>
        </p:nvCxnSpPr>
        <p:spPr>
          <a:xfrm rot="5400000">
            <a:off x="1372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8" name="Straight Connector 17"/>
          <p:cNvCxnSpPr/>
          <p:nvPr/>
        </p:nvCxnSpPr>
        <p:spPr>
          <a:xfrm rot="5400000">
            <a:off x="1677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9" name="Straight Connector 18"/>
          <p:cNvCxnSpPr/>
          <p:nvPr/>
        </p:nvCxnSpPr>
        <p:spPr>
          <a:xfrm rot="5400000">
            <a:off x="19819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0" name="Straight Connector 19"/>
          <p:cNvCxnSpPr/>
          <p:nvPr/>
        </p:nvCxnSpPr>
        <p:spPr>
          <a:xfrm rot="5400000">
            <a:off x="3582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1" name="Straight Connector 20"/>
          <p:cNvCxnSpPr/>
          <p:nvPr/>
        </p:nvCxnSpPr>
        <p:spPr>
          <a:xfrm rot="5400000">
            <a:off x="3277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2" name="Straight Connector 21"/>
          <p:cNvCxnSpPr/>
          <p:nvPr/>
        </p:nvCxnSpPr>
        <p:spPr>
          <a:xfrm rot="5400000">
            <a:off x="29725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3" name="Straight Connector 22"/>
          <p:cNvCxnSpPr/>
          <p:nvPr/>
        </p:nvCxnSpPr>
        <p:spPr>
          <a:xfrm rot="5400000">
            <a:off x="26677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7" name="Straight Connector 26"/>
          <p:cNvCxnSpPr/>
          <p:nvPr/>
        </p:nvCxnSpPr>
        <p:spPr>
          <a:xfrm>
            <a:off x="838200" y="2667000"/>
            <a:ext cx="3124200" cy="0"/>
          </a:xfrm>
          <a:prstGeom prst="line">
            <a:avLst/>
          </a:prstGeom>
          <a:ln w="9525">
            <a:prstDash val="sysDot"/>
          </a:ln>
        </p:spPr>
        <p:style>
          <a:lnRef idx="2">
            <a:schemeClr val="accent2"/>
          </a:lnRef>
          <a:fillRef idx="1">
            <a:schemeClr val="lt1"/>
          </a:fillRef>
          <a:effectRef idx="0">
            <a:schemeClr val="accent2"/>
          </a:effectRef>
          <a:fontRef idx="minor">
            <a:schemeClr val="dk1"/>
          </a:fontRef>
        </p:style>
      </p:cxnSp>
      <p:sp>
        <p:nvSpPr>
          <p:cNvPr id="42" name="TextBox 41"/>
          <p:cNvSpPr txBox="1"/>
          <p:nvPr/>
        </p:nvSpPr>
        <p:spPr>
          <a:xfrm>
            <a:off x="609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0</a:t>
            </a:r>
          </a:p>
        </p:txBody>
      </p:sp>
      <p:sp>
        <p:nvSpPr>
          <p:cNvPr id="43" name="TextBox 42"/>
          <p:cNvSpPr txBox="1"/>
          <p:nvPr/>
        </p:nvSpPr>
        <p:spPr>
          <a:xfrm>
            <a:off x="990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1</a:t>
            </a:r>
          </a:p>
        </p:txBody>
      </p:sp>
      <p:sp>
        <p:nvSpPr>
          <p:cNvPr id="44" name="TextBox 43"/>
          <p:cNvSpPr txBox="1"/>
          <p:nvPr/>
        </p:nvSpPr>
        <p:spPr>
          <a:xfrm>
            <a:off x="38100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N</a:t>
            </a:r>
          </a:p>
        </p:txBody>
      </p:sp>
      <p:sp>
        <p:nvSpPr>
          <p:cNvPr id="59" name="TextBox 58"/>
          <p:cNvSpPr txBox="1"/>
          <p:nvPr/>
        </p:nvSpPr>
        <p:spPr>
          <a:xfrm>
            <a:off x="457200" y="1295400"/>
            <a:ext cx="7696200" cy="276999"/>
          </a:xfrm>
          <a:prstGeom prst="rect">
            <a:avLst/>
          </a:prstGeom>
          <a:noFill/>
        </p:spPr>
        <p:txBody>
          <a:bodyPr wrap="square" rtlCol="0">
            <a:spAutoFit/>
          </a:bodyPr>
          <a:lstStyle/>
          <a:p>
            <a:r>
              <a:rPr lang="en-US" sz="1200" b="1" dirty="0"/>
              <a:t>Problem</a:t>
            </a:r>
            <a:r>
              <a:rPr lang="en-US" sz="1200" dirty="0"/>
              <a:t>: What if the future value of $1,000 saved monthly at an interest rate of 2.5% at the end of 2 years? </a:t>
            </a:r>
          </a:p>
        </p:txBody>
      </p:sp>
      <p:cxnSp>
        <p:nvCxnSpPr>
          <p:cNvPr id="233" name="Straight Connector 232"/>
          <p:cNvCxnSpPr/>
          <p:nvPr/>
        </p:nvCxnSpPr>
        <p:spPr>
          <a:xfrm rot="5400000">
            <a:off x="1067594" y="2894806"/>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77" name="Straight Arrow Connector 76"/>
          <p:cNvCxnSpPr/>
          <p:nvPr/>
        </p:nvCxnSpPr>
        <p:spPr>
          <a:xfrm rot="5400000" flipH="1" flipV="1">
            <a:off x="1027906" y="2781300"/>
            <a:ext cx="229394"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8" name="Straight Arrow Connector 77"/>
          <p:cNvCxnSpPr/>
          <p:nvPr/>
        </p:nvCxnSpPr>
        <p:spPr>
          <a:xfrm rot="5400000" flipH="1" flipV="1">
            <a:off x="13335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9" name="Straight Arrow Connector 78"/>
          <p:cNvCxnSpPr/>
          <p:nvPr/>
        </p:nvCxnSpPr>
        <p:spPr>
          <a:xfrm rot="5400000" flipH="1" flipV="1">
            <a:off x="19431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0" name="Straight Arrow Connector 79"/>
          <p:cNvCxnSpPr/>
          <p:nvPr/>
        </p:nvCxnSpPr>
        <p:spPr>
          <a:xfrm rot="5400000" flipH="1" flipV="1">
            <a:off x="16383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1" name="Straight Arrow Connector 80"/>
          <p:cNvCxnSpPr/>
          <p:nvPr/>
        </p:nvCxnSpPr>
        <p:spPr>
          <a:xfrm rot="5400000" flipH="1" flipV="1">
            <a:off x="26289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2" name="Straight Arrow Connector 81"/>
          <p:cNvCxnSpPr/>
          <p:nvPr/>
        </p:nvCxnSpPr>
        <p:spPr>
          <a:xfrm rot="5400000" flipH="1" flipV="1">
            <a:off x="29337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3" name="Straight Arrow Connector 82"/>
          <p:cNvCxnSpPr/>
          <p:nvPr/>
        </p:nvCxnSpPr>
        <p:spPr>
          <a:xfrm rot="5400000" flipH="1" flipV="1">
            <a:off x="32385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4" name="Straight Arrow Connector 83"/>
          <p:cNvCxnSpPr/>
          <p:nvPr/>
        </p:nvCxnSpPr>
        <p:spPr>
          <a:xfrm rot="5400000" flipH="1" flipV="1">
            <a:off x="35433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5" name="Straight Arrow Connector 84"/>
          <p:cNvCxnSpPr/>
          <p:nvPr/>
        </p:nvCxnSpPr>
        <p:spPr>
          <a:xfrm rot="16200000" flipH="1">
            <a:off x="3619897" y="3238897"/>
            <a:ext cx="684212"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89" name="TextBox 88"/>
          <p:cNvSpPr txBox="1"/>
          <p:nvPr/>
        </p:nvSpPr>
        <p:spPr>
          <a:xfrm>
            <a:off x="12954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2</a:t>
            </a:r>
          </a:p>
        </p:txBody>
      </p:sp>
      <p:sp>
        <p:nvSpPr>
          <p:cNvPr id="90" name="Title 89"/>
          <p:cNvSpPr>
            <a:spLocks noGrp="1"/>
          </p:cNvSpPr>
          <p:nvPr>
            <p:ph type="title"/>
          </p:nvPr>
        </p:nvSpPr>
        <p:spPr/>
        <p:txBody>
          <a:bodyPr/>
          <a:lstStyle/>
          <a:p>
            <a:r>
              <a:rPr lang="en-US" dirty="0"/>
              <a:t>Future Value of a Level Annuity</a:t>
            </a:r>
          </a:p>
        </p:txBody>
      </p:sp>
      <p:sp>
        <p:nvSpPr>
          <p:cNvPr id="91" name="TextBox 90"/>
          <p:cNvSpPr txBox="1"/>
          <p:nvPr/>
        </p:nvSpPr>
        <p:spPr>
          <a:xfrm>
            <a:off x="2057400" y="29718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sp>
        <p:nvSpPr>
          <p:cNvPr id="86" name="TextBox 85"/>
          <p:cNvSpPr txBox="1"/>
          <p:nvPr/>
        </p:nvSpPr>
        <p:spPr>
          <a:xfrm>
            <a:off x="4038600" y="1981200"/>
            <a:ext cx="4572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FV</a:t>
            </a:r>
          </a:p>
        </p:txBody>
      </p:sp>
      <p:sp>
        <p:nvSpPr>
          <p:cNvPr id="87" name="TextBox 86"/>
          <p:cNvSpPr txBox="1"/>
          <p:nvPr/>
        </p:nvSpPr>
        <p:spPr>
          <a:xfrm>
            <a:off x="1676400" y="2286000"/>
            <a:ext cx="685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PMT</a:t>
            </a:r>
          </a:p>
        </p:txBody>
      </p:sp>
      <p:sp>
        <p:nvSpPr>
          <p:cNvPr id="126" name="TextBox 125"/>
          <p:cNvSpPr txBox="1"/>
          <p:nvPr/>
        </p:nvSpPr>
        <p:spPr>
          <a:xfrm>
            <a:off x="5410200" y="3657600"/>
            <a:ext cx="1828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Formula</a:t>
            </a:r>
          </a:p>
        </p:txBody>
      </p:sp>
      <p:sp>
        <p:nvSpPr>
          <p:cNvPr id="289" name="TextBox 288"/>
          <p:cNvSpPr txBox="1"/>
          <p:nvPr/>
        </p:nvSpPr>
        <p:spPr>
          <a:xfrm>
            <a:off x="1295400" y="3657600"/>
            <a:ext cx="2209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Calculator / Excel Solution</a:t>
            </a:r>
          </a:p>
        </p:txBody>
      </p:sp>
      <p:cxnSp>
        <p:nvCxnSpPr>
          <p:cNvPr id="38" name="Straight Arrow Connector 37"/>
          <p:cNvCxnSpPr/>
          <p:nvPr/>
        </p:nvCxnSpPr>
        <p:spPr>
          <a:xfrm rot="5400000" flipH="1" flipV="1">
            <a:off x="3848894" y="2780506"/>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graphicFrame>
        <p:nvGraphicFramePr>
          <p:cNvPr id="50177" name="Object 1"/>
          <p:cNvGraphicFramePr>
            <a:graphicFrameLocks noChangeAspect="1"/>
          </p:cNvGraphicFramePr>
          <p:nvPr/>
        </p:nvGraphicFramePr>
        <p:xfrm>
          <a:off x="3810000" y="4114800"/>
          <a:ext cx="4989513" cy="1524000"/>
        </p:xfrm>
        <a:graphic>
          <a:graphicData uri="http://schemas.openxmlformats.org/presentationml/2006/ole">
            <mc:AlternateContent xmlns:mc="http://schemas.openxmlformats.org/markup-compatibility/2006">
              <mc:Choice xmlns:v="urn:schemas-microsoft-com:vml" Requires="v">
                <p:oleObj spid="_x0000_s50192" name="Equation" r:id="rId3" imgW="3987720" imgH="1206360" progId="Equation.3">
                  <p:embed/>
                </p:oleObj>
              </mc:Choice>
              <mc:Fallback>
                <p:oleObj name="Equation" r:id="rId3" imgW="3987720" imgH="120636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4114800"/>
                        <a:ext cx="4989513"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Content Placeholder 44"/>
          <p:cNvGraphicFramePr>
            <a:graphicFrameLocks noGrp="1"/>
          </p:cNvGraphicFramePr>
          <p:nvPr>
            <p:ph idx="1"/>
          </p:nvPr>
        </p:nvGraphicFramePr>
        <p:xfrm>
          <a:off x="1143000" y="4038600"/>
          <a:ext cx="2209800" cy="1600200"/>
        </p:xfrm>
        <a:graphic>
          <a:graphicData uri="http://schemas.openxmlformats.org/drawingml/2006/table">
            <a:tbl>
              <a:tblPr/>
              <a:tblGrid>
                <a:gridCol w="846869">
                  <a:extLst>
                    <a:ext uri="{9D8B030D-6E8A-4147-A177-3AD203B41FA5}">
                      <a16:colId xmlns:a16="http://schemas.microsoft.com/office/drawing/2014/main" val="20000"/>
                    </a:ext>
                  </a:extLst>
                </a:gridCol>
                <a:gridCol w="1362931">
                  <a:extLst>
                    <a:ext uri="{9D8B030D-6E8A-4147-A177-3AD203B41FA5}">
                      <a16:colId xmlns:a16="http://schemas.microsoft.com/office/drawing/2014/main" val="20001"/>
                    </a:ext>
                  </a:extLst>
                </a:gridCol>
              </a:tblGrid>
              <a:tr h="2667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US" sz="1100" b="0" i="0" u="sng" strike="noStrike">
                          <a:solidFill>
                            <a:srgbClr val="000000"/>
                          </a:solidFill>
                          <a:latin typeface="Calibri"/>
                        </a:rPr>
                        <a:t>Loan Amort.</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66700">
                <a:tc>
                  <a:txBody>
                    <a:bodyPr/>
                    <a:lstStyle/>
                    <a:p>
                      <a:pPr algn="l" fontAlgn="b"/>
                      <a:r>
                        <a:rPr lang="en-US" sz="1100" b="0" i="0" u="none" strike="noStrike">
                          <a:solidFill>
                            <a:srgbClr val="000000"/>
                          </a:solidFill>
                          <a:latin typeface="Calibri"/>
                        </a:rPr>
                        <a:t>N</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24</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266700">
                <a:tc>
                  <a:txBody>
                    <a:bodyPr/>
                    <a:lstStyle/>
                    <a:p>
                      <a:pPr algn="l" fontAlgn="b"/>
                      <a:r>
                        <a:rPr lang="en-US" sz="1100" b="0" i="0" u="none" strike="noStrike">
                          <a:solidFill>
                            <a:srgbClr val="000000"/>
                          </a:solidFill>
                          <a:latin typeface="Calibri"/>
                        </a:rPr>
                        <a:t>I</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0.208%</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266700">
                <a:tc>
                  <a:txBody>
                    <a:bodyPr/>
                    <a:lstStyle/>
                    <a:p>
                      <a:pPr algn="l" fontAlgn="b"/>
                      <a:r>
                        <a:rPr lang="en-US" sz="1100" b="0" i="0" u="none" strike="noStrike">
                          <a:solidFill>
                            <a:srgbClr val="000000"/>
                          </a:solidFill>
                          <a:latin typeface="Calibri"/>
                        </a:rPr>
                        <a:t>PV</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$0 </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266700">
                <a:tc>
                  <a:txBody>
                    <a:bodyPr/>
                    <a:lstStyle/>
                    <a:p>
                      <a:pPr algn="l" fontAlgn="b"/>
                      <a:r>
                        <a:rPr lang="en-US" sz="1100" b="0" i="0" u="none" strike="noStrike">
                          <a:solidFill>
                            <a:srgbClr val="000000"/>
                          </a:solidFill>
                          <a:latin typeface="Calibri"/>
                        </a:rPr>
                        <a:t>PMT</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$1,000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66700">
                <a:tc>
                  <a:txBody>
                    <a:bodyPr/>
                    <a:lstStyle/>
                    <a:p>
                      <a:pPr algn="l" fontAlgn="b"/>
                      <a:r>
                        <a:rPr lang="en-US" sz="1100" b="0" i="0" u="none" strike="noStrike">
                          <a:solidFill>
                            <a:srgbClr val="000000"/>
                          </a:solidFill>
                          <a:latin typeface="Calibri"/>
                        </a:rPr>
                        <a:t>FV</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dirty="0">
                          <a:solidFill>
                            <a:srgbClr val="000000"/>
                          </a:solidFill>
                          <a:latin typeface="Calibri"/>
                        </a:rPr>
                        <a:t>($24,584)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7" name="Footer Placeholder 4"/>
          <p:cNvSpPr>
            <a:spLocks noGrp="1"/>
          </p:cNvSpPr>
          <p:nvPr>
            <p:ph type="ftr" sz="quarter" idx="11"/>
          </p:nvPr>
        </p:nvSpPr>
        <p:spPr>
          <a:xfrm>
            <a:off x="457200" y="6537326"/>
            <a:ext cx="6035040" cy="320674"/>
          </a:xfrm>
        </p:spPr>
        <p:txBody>
          <a:bodyPr/>
          <a:lstStyle/>
          <a:p>
            <a:r>
              <a:rPr lang="en-US" dirty="0"/>
              <a:t>©Joe Walsh  - Do not distribute without explicit permission.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38200" y="2895600"/>
            <a:ext cx="1600200" cy="1588"/>
          </a:xfrm>
          <a:prstGeom prst="line">
            <a:avLst/>
          </a:prstGeom>
        </p:spPr>
        <p:style>
          <a:lnRef idx="2">
            <a:schemeClr val="accent2"/>
          </a:lnRef>
          <a:fillRef idx="1">
            <a:schemeClr val="lt1"/>
          </a:fillRef>
          <a:effectRef idx="0">
            <a:schemeClr val="accent2"/>
          </a:effectRef>
          <a:fontRef idx="minor">
            <a:schemeClr val="dk1"/>
          </a:fontRef>
        </p:style>
      </p:cxnSp>
      <p:cxnSp>
        <p:nvCxnSpPr>
          <p:cNvPr id="9" name="Straight Connector 8"/>
          <p:cNvCxnSpPr/>
          <p:nvPr/>
        </p:nvCxnSpPr>
        <p:spPr>
          <a:xfrm>
            <a:off x="2438400" y="2895600"/>
            <a:ext cx="838200" cy="1588"/>
          </a:xfrm>
          <a:prstGeom prst="line">
            <a:avLst/>
          </a:prstGeom>
          <a:ln/>
        </p:spPr>
        <p:style>
          <a:lnRef idx="2">
            <a:schemeClr val="accent2"/>
          </a:lnRef>
          <a:fillRef idx="1">
            <a:schemeClr val="lt1"/>
          </a:fillRef>
          <a:effectRef idx="0">
            <a:schemeClr val="accent2"/>
          </a:effectRef>
          <a:fontRef idx="minor">
            <a:schemeClr val="dk1"/>
          </a:fontRef>
        </p:style>
      </p:cxnSp>
      <p:cxnSp>
        <p:nvCxnSpPr>
          <p:cNvPr id="10" name="Straight Connector 9"/>
          <p:cNvCxnSpPr/>
          <p:nvPr/>
        </p:nvCxnSpPr>
        <p:spPr>
          <a:xfrm>
            <a:off x="3276600" y="2895600"/>
            <a:ext cx="1143000" cy="0"/>
          </a:xfrm>
          <a:prstGeom prst="line">
            <a:avLst/>
          </a:prstGeom>
        </p:spPr>
        <p:style>
          <a:lnRef idx="2">
            <a:schemeClr val="accent2"/>
          </a:lnRef>
          <a:fillRef idx="1">
            <a:schemeClr val="lt1"/>
          </a:fillRef>
          <a:effectRef idx="0">
            <a:schemeClr val="accent2"/>
          </a:effectRef>
          <a:fontRef idx="minor">
            <a:schemeClr val="dk1"/>
          </a:fontRef>
        </p:style>
      </p:cxnSp>
      <p:cxnSp>
        <p:nvCxnSpPr>
          <p:cNvPr id="17" name="Straight Connector 16"/>
          <p:cNvCxnSpPr/>
          <p:nvPr/>
        </p:nvCxnSpPr>
        <p:spPr>
          <a:xfrm rot="5400000">
            <a:off x="1372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8" name="Straight Connector 17"/>
          <p:cNvCxnSpPr/>
          <p:nvPr/>
        </p:nvCxnSpPr>
        <p:spPr>
          <a:xfrm rot="5400000">
            <a:off x="1677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9" name="Straight Connector 18"/>
          <p:cNvCxnSpPr/>
          <p:nvPr/>
        </p:nvCxnSpPr>
        <p:spPr>
          <a:xfrm rot="5400000">
            <a:off x="19819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0" name="Straight Connector 19"/>
          <p:cNvCxnSpPr/>
          <p:nvPr/>
        </p:nvCxnSpPr>
        <p:spPr>
          <a:xfrm rot="5400000">
            <a:off x="3582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1" name="Straight Connector 20"/>
          <p:cNvCxnSpPr/>
          <p:nvPr/>
        </p:nvCxnSpPr>
        <p:spPr>
          <a:xfrm rot="5400000">
            <a:off x="3277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2" name="Straight Connector 21"/>
          <p:cNvCxnSpPr/>
          <p:nvPr/>
        </p:nvCxnSpPr>
        <p:spPr>
          <a:xfrm rot="5400000">
            <a:off x="29725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3" name="Straight Connector 22"/>
          <p:cNvCxnSpPr/>
          <p:nvPr/>
        </p:nvCxnSpPr>
        <p:spPr>
          <a:xfrm rot="5400000">
            <a:off x="26677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7" name="Straight Connector 26"/>
          <p:cNvCxnSpPr/>
          <p:nvPr/>
        </p:nvCxnSpPr>
        <p:spPr>
          <a:xfrm>
            <a:off x="838200" y="2667000"/>
            <a:ext cx="3124200" cy="0"/>
          </a:xfrm>
          <a:prstGeom prst="line">
            <a:avLst/>
          </a:prstGeom>
          <a:ln w="9525">
            <a:prstDash val="sysDot"/>
          </a:ln>
        </p:spPr>
        <p:style>
          <a:lnRef idx="2">
            <a:schemeClr val="accent2"/>
          </a:lnRef>
          <a:fillRef idx="1">
            <a:schemeClr val="lt1"/>
          </a:fillRef>
          <a:effectRef idx="0">
            <a:schemeClr val="accent2"/>
          </a:effectRef>
          <a:fontRef idx="minor">
            <a:schemeClr val="dk1"/>
          </a:fontRef>
        </p:style>
      </p:cxnSp>
      <p:sp>
        <p:nvSpPr>
          <p:cNvPr id="42" name="TextBox 41"/>
          <p:cNvSpPr txBox="1"/>
          <p:nvPr/>
        </p:nvSpPr>
        <p:spPr>
          <a:xfrm>
            <a:off x="609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0</a:t>
            </a:r>
          </a:p>
        </p:txBody>
      </p:sp>
      <p:sp>
        <p:nvSpPr>
          <p:cNvPr id="43" name="TextBox 42"/>
          <p:cNvSpPr txBox="1"/>
          <p:nvPr/>
        </p:nvSpPr>
        <p:spPr>
          <a:xfrm>
            <a:off x="990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1</a:t>
            </a:r>
          </a:p>
        </p:txBody>
      </p:sp>
      <p:sp>
        <p:nvSpPr>
          <p:cNvPr id="44" name="TextBox 43"/>
          <p:cNvSpPr txBox="1"/>
          <p:nvPr/>
        </p:nvSpPr>
        <p:spPr>
          <a:xfrm>
            <a:off x="38100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N</a:t>
            </a:r>
          </a:p>
        </p:txBody>
      </p:sp>
      <p:sp>
        <p:nvSpPr>
          <p:cNvPr id="59" name="TextBox 58"/>
          <p:cNvSpPr txBox="1"/>
          <p:nvPr/>
        </p:nvSpPr>
        <p:spPr>
          <a:xfrm>
            <a:off x="457200" y="1524000"/>
            <a:ext cx="7696200" cy="461665"/>
          </a:xfrm>
          <a:prstGeom prst="rect">
            <a:avLst/>
          </a:prstGeom>
          <a:noFill/>
        </p:spPr>
        <p:txBody>
          <a:bodyPr wrap="square" rtlCol="0">
            <a:spAutoFit/>
          </a:bodyPr>
          <a:lstStyle/>
          <a:p>
            <a:r>
              <a:rPr lang="en-US" sz="1200" b="1" dirty="0"/>
              <a:t>Problem</a:t>
            </a:r>
            <a:r>
              <a:rPr lang="en-US" sz="1200" dirty="0"/>
              <a:t>: A lender makes a $200,000 loan at a 6% nominal annual rate. What monthly payments must the borrower make to pay off on loan over 15 years?</a:t>
            </a:r>
          </a:p>
        </p:txBody>
      </p:sp>
      <p:cxnSp>
        <p:nvCxnSpPr>
          <p:cNvPr id="233" name="Straight Connector 232"/>
          <p:cNvCxnSpPr/>
          <p:nvPr/>
        </p:nvCxnSpPr>
        <p:spPr>
          <a:xfrm rot="5400000">
            <a:off x="1067594" y="2894806"/>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67" name="Straight Arrow Connector 66"/>
          <p:cNvCxnSpPr/>
          <p:nvPr/>
        </p:nvCxnSpPr>
        <p:spPr>
          <a:xfrm rot="5400000">
            <a:off x="457994" y="3276600"/>
            <a:ext cx="761206"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7" name="Straight Arrow Connector 76"/>
          <p:cNvCxnSpPr/>
          <p:nvPr/>
        </p:nvCxnSpPr>
        <p:spPr>
          <a:xfrm rot="5400000" flipH="1" flipV="1">
            <a:off x="1027906" y="2781300"/>
            <a:ext cx="229394"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8" name="Straight Arrow Connector 77"/>
          <p:cNvCxnSpPr/>
          <p:nvPr/>
        </p:nvCxnSpPr>
        <p:spPr>
          <a:xfrm rot="5400000" flipH="1" flipV="1">
            <a:off x="13335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9" name="Straight Arrow Connector 78"/>
          <p:cNvCxnSpPr/>
          <p:nvPr/>
        </p:nvCxnSpPr>
        <p:spPr>
          <a:xfrm rot="5400000" flipH="1" flipV="1">
            <a:off x="19431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0" name="Straight Arrow Connector 79"/>
          <p:cNvCxnSpPr/>
          <p:nvPr/>
        </p:nvCxnSpPr>
        <p:spPr>
          <a:xfrm rot="5400000" flipH="1" flipV="1">
            <a:off x="16383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1" name="Straight Arrow Connector 80"/>
          <p:cNvCxnSpPr/>
          <p:nvPr/>
        </p:nvCxnSpPr>
        <p:spPr>
          <a:xfrm rot="5400000" flipH="1" flipV="1">
            <a:off x="26289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2" name="Straight Arrow Connector 81"/>
          <p:cNvCxnSpPr/>
          <p:nvPr/>
        </p:nvCxnSpPr>
        <p:spPr>
          <a:xfrm rot="5400000" flipH="1" flipV="1">
            <a:off x="29337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3" name="Straight Arrow Connector 82"/>
          <p:cNvCxnSpPr/>
          <p:nvPr/>
        </p:nvCxnSpPr>
        <p:spPr>
          <a:xfrm rot="5400000" flipH="1" flipV="1">
            <a:off x="32385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4" name="Straight Arrow Connector 83"/>
          <p:cNvCxnSpPr/>
          <p:nvPr/>
        </p:nvCxnSpPr>
        <p:spPr>
          <a:xfrm rot="5400000" flipH="1" flipV="1">
            <a:off x="35433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5" name="Straight Arrow Connector 84"/>
          <p:cNvCxnSpPr/>
          <p:nvPr/>
        </p:nvCxnSpPr>
        <p:spPr>
          <a:xfrm rot="5400000" flipH="1" flipV="1">
            <a:off x="3846909" y="2781697"/>
            <a:ext cx="230188"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89" name="TextBox 88"/>
          <p:cNvSpPr txBox="1"/>
          <p:nvPr/>
        </p:nvSpPr>
        <p:spPr>
          <a:xfrm>
            <a:off x="12954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2</a:t>
            </a:r>
          </a:p>
        </p:txBody>
      </p:sp>
      <p:sp>
        <p:nvSpPr>
          <p:cNvPr id="90" name="Title 89"/>
          <p:cNvSpPr>
            <a:spLocks noGrp="1"/>
          </p:cNvSpPr>
          <p:nvPr>
            <p:ph type="title"/>
          </p:nvPr>
        </p:nvSpPr>
        <p:spPr/>
        <p:txBody>
          <a:bodyPr/>
          <a:lstStyle/>
          <a:p>
            <a:r>
              <a:rPr lang="en-US" sz="3200" dirty="0"/>
              <a:t>Level Annuity to Amortize a Present Amount</a:t>
            </a:r>
          </a:p>
        </p:txBody>
      </p:sp>
      <p:graphicFrame>
        <p:nvGraphicFramePr>
          <p:cNvPr id="39" name="Content Placeholder 38"/>
          <p:cNvGraphicFramePr>
            <a:graphicFrameLocks noGrp="1"/>
          </p:cNvGraphicFramePr>
          <p:nvPr>
            <p:ph idx="1"/>
          </p:nvPr>
        </p:nvGraphicFramePr>
        <p:xfrm>
          <a:off x="1905000" y="3962400"/>
          <a:ext cx="2133600" cy="1371600"/>
        </p:xfrm>
        <a:graphic>
          <a:graphicData uri="http://schemas.openxmlformats.org/drawingml/2006/table">
            <a:tbl>
              <a:tblPr/>
              <a:tblGrid>
                <a:gridCol w="817667">
                  <a:extLst>
                    <a:ext uri="{9D8B030D-6E8A-4147-A177-3AD203B41FA5}">
                      <a16:colId xmlns:a16="http://schemas.microsoft.com/office/drawing/2014/main" val="20000"/>
                    </a:ext>
                  </a:extLst>
                </a:gridCol>
                <a:gridCol w="1315933">
                  <a:extLst>
                    <a:ext uri="{9D8B030D-6E8A-4147-A177-3AD203B41FA5}">
                      <a16:colId xmlns:a16="http://schemas.microsoft.com/office/drawing/2014/main" val="20001"/>
                    </a:ext>
                  </a:extLst>
                </a:gridCol>
              </a:tblGrid>
              <a:tr h="2286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US" sz="1100" b="0" i="0" u="sng" strike="noStrike">
                          <a:solidFill>
                            <a:srgbClr val="000000"/>
                          </a:solidFill>
                          <a:latin typeface="Calibri"/>
                        </a:rPr>
                        <a:t>Loan Amort.</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28600">
                <a:tc>
                  <a:txBody>
                    <a:bodyPr/>
                    <a:lstStyle/>
                    <a:p>
                      <a:pPr algn="l" fontAlgn="b"/>
                      <a:r>
                        <a:rPr lang="en-US" sz="1100" b="0" i="0" u="none" strike="noStrike">
                          <a:solidFill>
                            <a:srgbClr val="000000"/>
                          </a:solidFill>
                          <a:latin typeface="Calibri"/>
                        </a:rPr>
                        <a:t>N</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180</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228600">
                <a:tc>
                  <a:txBody>
                    <a:bodyPr/>
                    <a:lstStyle/>
                    <a:p>
                      <a:pPr algn="l" fontAlgn="b"/>
                      <a:r>
                        <a:rPr lang="en-US" sz="1100" b="0" i="0" u="none" strike="noStrike">
                          <a:solidFill>
                            <a:srgbClr val="000000"/>
                          </a:solidFill>
                          <a:latin typeface="Calibri"/>
                        </a:rPr>
                        <a:t>I</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0.500%</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228600">
                <a:tc>
                  <a:txBody>
                    <a:bodyPr/>
                    <a:lstStyle/>
                    <a:p>
                      <a:pPr algn="l" fontAlgn="b"/>
                      <a:r>
                        <a:rPr lang="en-US" sz="1100" b="0" i="0" u="none" strike="noStrike">
                          <a:solidFill>
                            <a:srgbClr val="000000"/>
                          </a:solidFill>
                          <a:latin typeface="Calibri"/>
                        </a:rPr>
                        <a:t>PV</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$200,000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algn="l" fontAlgn="b"/>
                      <a:r>
                        <a:rPr lang="en-US" sz="1100" b="0" i="0" u="none" strike="noStrike">
                          <a:solidFill>
                            <a:srgbClr val="000000"/>
                          </a:solidFill>
                          <a:latin typeface="Calibri"/>
                        </a:rPr>
                        <a:t>PMT</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solidFill>
                            <a:srgbClr val="000000"/>
                          </a:solidFill>
                          <a:latin typeface="Calibri"/>
                        </a:rPr>
                        <a:t>($1,688)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algn="l" fontAlgn="b"/>
                      <a:r>
                        <a:rPr lang="en-US" sz="1100" b="0" i="0" u="none" strike="noStrike">
                          <a:solidFill>
                            <a:srgbClr val="000000"/>
                          </a:solidFill>
                          <a:latin typeface="Calibri"/>
                        </a:rPr>
                        <a:t>FV</a:t>
                      </a:r>
                    </a:p>
                  </a:txBody>
                  <a:tcPr marL="9525" marR="9525" marT="9525" marB="0" anchor="b">
                    <a:lnL>
                      <a:noFill/>
                    </a:lnL>
                    <a:lnR>
                      <a:noFill/>
                    </a:lnR>
                    <a:lnT>
                      <a:noFill/>
                    </a:lnT>
                    <a:lnB>
                      <a:noFill/>
                    </a:lnB>
                  </a:tcPr>
                </a:tc>
                <a:tc>
                  <a:txBody>
                    <a:bodyPr/>
                    <a:lstStyle/>
                    <a:p>
                      <a:pPr algn="r" fontAlgn="b"/>
                      <a:r>
                        <a:rPr lang="en-US" sz="1100" b="0" i="0" u="none" strike="noStrike" dirty="0">
                          <a:solidFill>
                            <a:srgbClr val="000000"/>
                          </a:solidFill>
                          <a:latin typeface="Calibri"/>
                        </a:rPr>
                        <a:t>$0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5"/>
                  </a:ext>
                </a:extLst>
              </a:tr>
            </a:tbl>
          </a:graphicData>
        </a:graphic>
      </p:graphicFrame>
      <p:sp>
        <p:nvSpPr>
          <p:cNvPr id="91" name="TextBox 90"/>
          <p:cNvSpPr txBox="1"/>
          <p:nvPr/>
        </p:nvSpPr>
        <p:spPr>
          <a:xfrm>
            <a:off x="2057400" y="29718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sp>
        <p:nvSpPr>
          <p:cNvPr id="76" name="TextBox 75"/>
          <p:cNvSpPr txBox="1"/>
          <p:nvPr/>
        </p:nvSpPr>
        <p:spPr>
          <a:xfrm>
            <a:off x="685800" y="3657600"/>
            <a:ext cx="4572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PV</a:t>
            </a:r>
          </a:p>
        </p:txBody>
      </p:sp>
      <p:sp>
        <p:nvSpPr>
          <p:cNvPr id="87" name="TextBox 86"/>
          <p:cNvSpPr txBox="1"/>
          <p:nvPr/>
        </p:nvSpPr>
        <p:spPr>
          <a:xfrm>
            <a:off x="1676400" y="2286000"/>
            <a:ext cx="685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PMT</a:t>
            </a:r>
          </a:p>
        </p:txBody>
      </p:sp>
      <p:sp>
        <p:nvSpPr>
          <p:cNvPr id="126" name="TextBox 125"/>
          <p:cNvSpPr txBox="1"/>
          <p:nvPr/>
        </p:nvSpPr>
        <p:spPr>
          <a:xfrm>
            <a:off x="6172200" y="3505200"/>
            <a:ext cx="1828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Formula</a:t>
            </a:r>
          </a:p>
        </p:txBody>
      </p:sp>
      <p:sp>
        <p:nvSpPr>
          <p:cNvPr id="289" name="TextBox 288"/>
          <p:cNvSpPr txBox="1"/>
          <p:nvPr/>
        </p:nvSpPr>
        <p:spPr>
          <a:xfrm>
            <a:off x="2057400" y="3505200"/>
            <a:ext cx="2209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Calculator / Excel Solution</a:t>
            </a:r>
          </a:p>
        </p:txBody>
      </p:sp>
      <p:graphicFrame>
        <p:nvGraphicFramePr>
          <p:cNvPr id="49153" name="Object 1"/>
          <p:cNvGraphicFramePr>
            <a:graphicFrameLocks noChangeAspect="1"/>
          </p:cNvGraphicFramePr>
          <p:nvPr/>
        </p:nvGraphicFramePr>
        <p:xfrm>
          <a:off x="5029200" y="3886200"/>
          <a:ext cx="3733800" cy="2780903"/>
        </p:xfrm>
        <a:graphic>
          <a:graphicData uri="http://schemas.openxmlformats.org/presentationml/2006/ole">
            <mc:AlternateContent xmlns:mc="http://schemas.openxmlformats.org/markup-compatibility/2006">
              <mc:Choice xmlns:v="urn:schemas-microsoft-com:vml" Requires="v">
                <p:oleObj spid="_x0000_s49168" name="Equation" r:id="rId3" imgW="2692080" imgH="2006280" progId="Equation.3">
                  <p:embed/>
                </p:oleObj>
              </mc:Choice>
              <mc:Fallback>
                <p:oleObj name="Equation" r:id="rId3" imgW="2692080" imgH="200628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3886200"/>
                        <a:ext cx="3733800" cy="2780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38200" y="2895600"/>
            <a:ext cx="1600200" cy="1588"/>
          </a:xfrm>
          <a:prstGeom prst="line">
            <a:avLst/>
          </a:prstGeom>
        </p:spPr>
        <p:style>
          <a:lnRef idx="2">
            <a:schemeClr val="accent2"/>
          </a:lnRef>
          <a:fillRef idx="1">
            <a:schemeClr val="lt1"/>
          </a:fillRef>
          <a:effectRef idx="0">
            <a:schemeClr val="accent2"/>
          </a:effectRef>
          <a:fontRef idx="minor">
            <a:schemeClr val="dk1"/>
          </a:fontRef>
        </p:style>
      </p:cxnSp>
      <p:cxnSp>
        <p:nvCxnSpPr>
          <p:cNvPr id="9" name="Straight Connector 8"/>
          <p:cNvCxnSpPr/>
          <p:nvPr/>
        </p:nvCxnSpPr>
        <p:spPr>
          <a:xfrm>
            <a:off x="2438400" y="2895600"/>
            <a:ext cx="838200" cy="1588"/>
          </a:xfrm>
          <a:prstGeom prst="line">
            <a:avLst/>
          </a:prstGeom>
          <a:ln/>
        </p:spPr>
        <p:style>
          <a:lnRef idx="2">
            <a:schemeClr val="accent2"/>
          </a:lnRef>
          <a:fillRef idx="1">
            <a:schemeClr val="lt1"/>
          </a:fillRef>
          <a:effectRef idx="0">
            <a:schemeClr val="accent2"/>
          </a:effectRef>
          <a:fontRef idx="minor">
            <a:schemeClr val="dk1"/>
          </a:fontRef>
        </p:style>
      </p:cxnSp>
      <p:cxnSp>
        <p:nvCxnSpPr>
          <p:cNvPr id="10" name="Straight Connector 9"/>
          <p:cNvCxnSpPr/>
          <p:nvPr/>
        </p:nvCxnSpPr>
        <p:spPr>
          <a:xfrm>
            <a:off x="3276600" y="2895600"/>
            <a:ext cx="1143000" cy="0"/>
          </a:xfrm>
          <a:prstGeom prst="line">
            <a:avLst/>
          </a:prstGeom>
        </p:spPr>
        <p:style>
          <a:lnRef idx="2">
            <a:schemeClr val="accent2"/>
          </a:lnRef>
          <a:fillRef idx="1">
            <a:schemeClr val="lt1"/>
          </a:fillRef>
          <a:effectRef idx="0">
            <a:schemeClr val="accent2"/>
          </a:effectRef>
          <a:fontRef idx="minor">
            <a:schemeClr val="dk1"/>
          </a:fontRef>
        </p:style>
      </p:cxnSp>
      <p:cxnSp>
        <p:nvCxnSpPr>
          <p:cNvPr id="17" name="Straight Connector 16"/>
          <p:cNvCxnSpPr/>
          <p:nvPr/>
        </p:nvCxnSpPr>
        <p:spPr>
          <a:xfrm rot="5400000">
            <a:off x="1372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8" name="Straight Connector 17"/>
          <p:cNvCxnSpPr/>
          <p:nvPr/>
        </p:nvCxnSpPr>
        <p:spPr>
          <a:xfrm rot="5400000">
            <a:off x="1677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9" name="Straight Connector 18"/>
          <p:cNvCxnSpPr/>
          <p:nvPr/>
        </p:nvCxnSpPr>
        <p:spPr>
          <a:xfrm rot="5400000">
            <a:off x="19819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0" name="Straight Connector 19"/>
          <p:cNvCxnSpPr/>
          <p:nvPr/>
        </p:nvCxnSpPr>
        <p:spPr>
          <a:xfrm rot="5400000">
            <a:off x="3582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1" name="Straight Connector 20"/>
          <p:cNvCxnSpPr/>
          <p:nvPr/>
        </p:nvCxnSpPr>
        <p:spPr>
          <a:xfrm rot="5400000">
            <a:off x="3277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2" name="Straight Connector 21"/>
          <p:cNvCxnSpPr/>
          <p:nvPr/>
        </p:nvCxnSpPr>
        <p:spPr>
          <a:xfrm rot="5400000">
            <a:off x="29725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3" name="Straight Connector 22"/>
          <p:cNvCxnSpPr/>
          <p:nvPr/>
        </p:nvCxnSpPr>
        <p:spPr>
          <a:xfrm rot="5400000">
            <a:off x="26677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7" name="Straight Connector 26"/>
          <p:cNvCxnSpPr/>
          <p:nvPr/>
        </p:nvCxnSpPr>
        <p:spPr>
          <a:xfrm>
            <a:off x="838200" y="2667000"/>
            <a:ext cx="3124200" cy="0"/>
          </a:xfrm>
          <a:prstGeom prst="line">
            <a:avLst/>
          </a:prstGeom>
          <a:ln w="9525">
            <a:prstDash val="sysDot"/>
          </a:ln>
        </p:spPr>
        <p:style>
          <a:lnRef idx="2">
            <a:schemeClr val="accent2"/>
          </a:lnRef>
          <a:fillRef idx="1">
            <a:schemeClr val="lt1"/>
          </a:fillRef>
          <a:effectRef idx="0">
            <a:schemeClr val="accent2"/>
          </a:effectRef>
          <a:fontRef idx="minor">
            <a:schemeClr val="dk1"/>
          </a:fontRef>
        </p:style>
      </p:cxnSp>
      <p:sp>
        <p:nvSpPr>
          <p:cNvPr id="42" name="TextBox 41"/>
          <p:cNvSpPr txBox="1"/>
          <p:nvPr/>
        </p:nvSpPr>
        <p:spPr>
          <a:xfrm>
            <a:off x="609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0</a:t>
            </a:r>
          </a:p>
        </p:txBody>
      </p:sp>
      <p:sp>
        <p:nvSpPr>
          <p:cNvPr id="43" name="TextBox 42"/>
          <p:cNvSpPr txBox="1"/>
          <p:nvPr/>
        </p:nvSpPr>
        <p:spPr>
          <a:xfrm>
            <a:off x="990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1</a:t>
            </a:r>
          </a:p>
        </p:txBody>
      </p:sp>
      <p:sp>
        <p:nvSpPr>
          <p:cNvPr id="44" name="TextBox 43"/>
          <p:cNvSpPr txBox="1"/>
          <p:nvPr/>
        </p:nvSpPr>
        <p:spPr>
          <a:xfrm>
            <a:off x="38100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N</a:t>
            </a:r>
          </a:p>
        </p:txBody>
      </p:sp>
      <p:sp>
        <p:nvSpPr>
          <p:cNvPr id="59" name="TextBox 58"/>
          <p:cNvSpPr txBox="1"/>
          <p:nvPr/>
        </p:nvSpPr>
        <p:spPr>
          <a:xfrm>
            <a:off x="457200" y="1295400"/>
            <a:ext cx="7696200" cy="646331"/>
          </a:xfrm>
          <a:prstGeom prst="rect">
            <a:avLst/>
          </a:prstGeom>
          <a:noFill/>
        </p:spPr>
        <p:txBody>
          <a:bodyPr wrap="square" rtlCol="0">
            <a:spAutoFit/>
          </a:bodyPr>
          <a:lstStyle/>
          <a:p>
            <a:r>
              <a:rPr lang="en-US" sz="1200" b="1" dirty="0"/>
              <a:t>Problem</a:t>
            </a:r>
            <a:r>
              <a:rPr lang="en-US" sz="1200" dirty="0"/>
              <a:t>: The roof of your office building will need to be replaced in 3 years. How much would you need to deposit into a interest bearing account each month, earning 4% nominal annual interest, compounded monthly, in order to have $100, 000 saved at the end of the 3</a:t>
            </a:r>
            <a:r>
              <a:rPr lang="en-US" sz="1200" baseline="30000" dirty="0"/>
              <a:t>rd</a:t>
            </a:r>
            <a:r>
              <a:rPr lang="en-US" sz="1200" dirty="0"/>
              <a:t> year?</a:t>
            </a:r>
          </a:p>
        </p:txBody>
      </p:sp>
      <p:cxnSp>
        <p:nvCxnSpPr>
          <p:cNvPr id="233" name="Straight Connector 232"/>
          <p:cNvCxnSpPr/>
          <p:nvPr/>
        </p:nvCxnSpPr>
        <p:spPr>
          <a:xfrm rot="5400000">
            <a:off x="1067594" y="2894806"/>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77" name="Straight Arrow Connector 76"/>
          <p:cNvCxnSpPr/>
          <p:nvPr/>
        </p:nvCxnSpPr>
        <p:spPr>
          <a:xfrm rot="5400000" flipH="1" flipV="1">
            <a:off x="1027906" y="2781300"/>
            <a:ext cx="229394"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8" name="Straight Arrow Connector 77"/>
          <p:cNvCxnSpPr/>
          <p:nvPr/>
        </p:nvCxnSpPr>
        <p:spPr>
          <a:xfrm rot="5400000" flipH="1" flipV="1">
            <a:off x="13335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9" name="Straight Arrow Connector 78"/>
          <p:cNvCxnSpPr/>
          <p:nvPr/>
        </p:nvCxnSpPr>
        <p:spPr>
          <a:xfrm rot="5400000" flipH="1" flipV="1">
            <a:off x="19431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0" name="Straight Arrow Connector 79"/>
          <p:cNvCxnSpPr/>
          <p:nvPr/>
        </p:nvCxnSpPr>
        <p:spPr>
          <a:xfrm rot="5400000" flipH="1" flipV="1">
            <a:off x="16383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1" name="Straight Arrow Connector 80"/>
          <p:cNvCxnSpPr/>
          <p:nvPr/>
        </p:nvCxnSpPr>
        <p:spPr>
          <a:xfrm rot="5400000" flipH="1" flipV="1">
            <a:off x="26289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2" name="Straight Arrow Connector 81"/>
          <p:cNvCxnSpPr/>
          <p:nvPr/>
        </p:nvCxnSpPr>
        <p:spPr>
          <a:xfrm rot="5400000" flipH="1" flipV="1">
            <a:off x="29337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3" name="Straight Arrow Connector 82"/>
          <p:cNvCxnSpPr/>
          <p:nvPr/>
        </p:nvCxnSpPr>
        <p:spPr>
          <a:xfrm rot="5400000" flipH="1" flipV="1">
            <a:off x="32385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4" name="Straight Arrow Connector 83"/>
          <p:cNvCxnSpPr/>
          <p:nvPr/>
        </p:nvCxnSpPr>
        <p:spPr>
          <a:xfrm rot="5400000" flipH="1" flipV="1">
            <a:off x="35433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5" name="Straight Arrow Connector 84"/>
          <p:cNvCxnSpPr/>
          <p:nvPr/>
        </p:nvCxnSpPr>
        <p:spPr>
          <a:xfrm rot="16200000" flipH="1">
            <a:off x="3619897" y="3238897"/>
            <a:ext cx="684212"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89" name="TextBox 88"/>
          <p:cNvSpPr txBox="1"/>
          <p:nvPr/>
        </p:nvSpPr>
        <p:spPr>
          <a:xfrm>
            <a:off x="12954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2</a:t>
            </a:r>
          </a:p>
        </p:txBody>
      </p:sp>
      <p:sp>
        <p:nvSpPr>
          <p:cNvPr id="90" name="Title 89"/>
          <p:cNvSpPr>
            <a:spLocks noGrp="1"/>
          </p:cNvSpPr>
          <p:nvPr>
            <p:ph type="title"/>
          </p:nvPr>
        </p:nvSpPr>
        <p:spPr/>
        <p:txBody>
          <a:bodyPr/>
          <a:lstStyle/>
          <a:p>
            <a:r>
              <a:rPr lang="en-US" sz="3600" dirty="0"/>
              <a:t>Level Annuity to Reach a Future Value</a:t>
            </a:r>
          </a:p>
        </p:txBody>
      </p:sp>
      <p:graphicFrame>
        <p:nvGraphicFramePr>
          <p:cNvPr id="39" name="Content Placeholder 38"/>
          <p:cNvGraphicFramePr>
            <a:graphicFrameLocks noGrp="1"/>
          </p:cNvGraphicFramePr>
          <p:nvPr>
            <p:ph idx="1"/>
          </p:nvPr>
        </p:nvGraphicFramePr>
        <p:xfrm>
          <a:off x="1143000" y="4038600"/>
          <a:ext cx="2057400" cy="1371600"/>
        </p:xfrm>
        <a:graphic>
          <a:graphicData uri="http://schemas.openxmlformats.org/drawingml/2006/table">
            <a:tbl>
              <a:tblPr/>
              <a:tblGrid>
                <a:gridCol w="788464">
                  <a:extLst>
                    <a:ext uri="{9D8B030D-6E8A-4147-A177-3AD203B41FA5}">
                      <a16:colId xmlns:a16="http://schemas.microsoft.com/office/drawing/2014/main" val="20000"/>
                    </a:ext>
                  </a:extLst>
                </a:gridCol>
                <a:gridCol w="1268936">
                  <a:extLst>
                    <a:ext uri="{9D8B030D-6E8A-4147-A177-3AD203B41FA5}">
                      <a16:colId xmlns:a16="http://schemas.microsoft.com/office/drawing/2014/main" val="20001"/>
                    </a:ext>
                  </a:extLst>
                </a:gridCol>
              </a:tblGrid>
              <a:tr h="2286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US" sz="1100" b="0" i="0" u="sng" strike="noStrike">
                          <a:solidFill>
                            <a:srgbClr val="000000"/>
                          </a:solidFill>
                          <a:latin typeface="Calibri"/>
                        </a:rPr>
                        <a:t>Sinking Fund</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28600">
                <a:tc>
                  <a:txBody>
                    <a:bodyPr/>
                    <a:lstStyle/>
                    <a:p>
                      <a:pPr algn="l" fontAlgn="b"/>
                      <a:r>
                        <a:rPr lang="en-US" sz="1100" b="0" i="0" u="none" strike="noStrike">
                          <a:solidFill>
                            <a:srgbClr val="000000"/>
                          </a:solidFill>
                          <a:latin typeface="Calibri"/>
                        </a:rPr>
                        <a:t>N</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36</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228600">
                <a:tc>
                  <a:txBody>
                    <a:bodyPr/>
                    <a:lstStyle/>
                    <a:p>
                      <a:pPr algn="l" fontAlgn="b"/>
                      <a:r>
                        <a:rPr lang="en-US" sz="1100" b="0" i="0" u="none" strike="noStrike">
                          <a:solidFill>
                            <a:srgbClr val="000000"/>
                          </a:solidFill>
                          <a:latin typeface="Calibri"/>
                        </a:rPr>
                        <a:t>I</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0.333%</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228600">
                <a:tc>
                  <a:txBody>
                    <a:bodyPr/>
                    <a:lstStyle/>
                    <a:p>
                      <a:pPr algn="l" fontAlgn="b"/>
                      <a:r>
                        <a:rPr lang="en-US" sz="1100" b="0" i="0" u="none" strike="noStrike">
                          <a:solidFill>
                            <a:srgbClr val="000000"/>
                          </a:solidFill>
                          <a:latin typeface="Calibri"/>
                        </a:rPr>
                        <a:t>PV</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$0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algn="l" fontAlgn="b"/>
                      <a:r>
                        <a:rPr lang="en-US" sz="1100" b="0" i="0" u="none" strike="noStrike">
                          <a:solidFill>
                            <a:srgbClr val="000000"/>
                          </a:solidFill>
                          <a:latin typeface="Calibri"/>
                        </a:rPr>
                        <a:t>PMT</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solidFill>
                            <a:srgbClr val="000000"/>
                          </a:solidFill>
                          <a:latin typeface="Calibri"/>
                        </a:rPr>
                        <a:t>($2,619)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algn="l" fontAlgn="b"/>
                      <a:r>
                        <a:rPr lang="en-US" sz="1100" b="0" i="0" u="none" strike="noStrike">
                          <a:solidFill>
                            <a:srgbClr val="000000"/>
                          </a:solidFill>
                          <a:latin typeface="Calibri"/>
                        </a:rPr>
                        <a:t>FV</a:t>
                      </a:r>
                    </a:p>
                  </a:txBody>
                  <a:tcPr marL="9525" marR="9525" marT="9525" marB="0" anchor="b">
                    <a:lnL>
                      <a:noFill/>
                    </a:lnL>
                    <a:lnR>
                      <a:noFill/>
                    </a:lnR>
                    <a:lnT>
                      <a:noFill/>
                    </a:lnT>
                    <a:lnB>
                      <a:noFill/>
                    </a:lnB>
                  </a:tcPr>
                </a:tc>
                <a:tc>
                  <a:txBody>
                    <a:bodyPr/>
                    <a:lstStyle/>
                    <a:p>
                      <a:pPr algn="r" fontAlgn="b"/>
                      <a:r>
                        <a:rPr lang="en-US" sz="1100" b="0" i="0" u="none" strike="noStrike" dirty="0">
                          <a:solidFill>
                            <a:srgbClr val="000000"/>
                          </a:solidFill>
                          <a:latin typeface="Calibri"/>
                        </a:rPr>
                        <a:t>$100,000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5"/>
                  </a:ext>
                </a:extLst>
              </a:tr>
            </a:tbl>
          </a:graphicData>
        </a:graphic>
      </p:graphicFrame>
      <p:sp>
        <p:nvSpPr>
          <p:cNvPr id="91" name="TextBox 90"/>
          <p:cNvSpPr txBox="1"/>
          <p:nvPr/>
        </p:nvSpPr>
        <p:spPr>
          <a:xfrm>
            <a:off x="2057400" y="29718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sp>
        <p:nvSpPr>
          <p:cNvPr id="86" name="TextBox 85"/>
          <p:cNvSpPr txBox="1"/>
          <p:nvPr/>
        </p:nvSpPr>
        <p:spPr>
          <a:xfrm>
            <a:off x="4038600" y="1981200"/>
            <a:ext cx="4572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FV</a:t>
            </a:r>
          </a:p>
        </p:txBody>
      </p:sp>
      <p:sp>
        <p:nvSpPr>
          <p:cNvPr id="87" name="TextBox 86"/>
          <p:cNvSpPr txBox="1"/>
          <p:nvPr/>
        </p:nvSpPr>
        <p:spPr>
          <a:xfrm>
            <a:off x="1676400" y="2286000"/>
            <a:ext cx="685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PMT</a:t>
            </a:r>
          </a:p>
        </p:txBody>
      </p:sp>
      <p:sp>
        <p:nvSpPr>
          <p:cNvPr id="126" name="TextBox 125"/>
          <p:cNvSpPr txBox="1"/>
          <p:nvPr/>
        </p:nvSpPr>
        <p:spPr>
          <a:xfrm>
            <a:off x="5410200" y="3657600"/>
            <a:ext cx="1828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Formula</a:t>
            </a:r>
          </a:p>
        </p:txBody>
      </p:sp>
      <p:sp>
        <p:nvSpPr>
          <p:cNvPr id="289" name="TextBox 288"/>
          <p:cNvSpPr txBox="1"/>
          <p:nvPr/>
        </p:nvSpPr>
        <p:spPr>
          <a:xfrm>
            <a:off x="1295400" y="3657600"/>
            <a:ext cx="2209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Calculator / Excel Solution</a:t>
            </a:r>
          </a:p>
        </p:txBody>
      </p:sp>
      <p:cxnSp>
        <p:nvCxnSpPr>
          <p:cNvPr id="38" name="Straight Arrow Connector 37"/>
          <p:cNvCxnSpPr/>
          <p:nvPr/>
        </p:nvCxnSpPr>
        <p:spPr>
          <a:xfrm rot="5400000" flipH="1" flipV="1">
            <a:off x="3848894" y="2780506"/>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graphicFrame>
        <p:nvGraphicFramePr>
          <p:cNvPr id="50177" name="Object 1"/>
          <p:cNvGraphicFramePr>
            <a:graphicFrameLocks noChangeAspect="1"/>
          </p:cNvGraphicFramePr>
          <p:nvPr/>
        </p:nvGraphicFramePr>
        <p:xfrm>
          <a:off x="3810000" y="3886200"/>
          <a:ext cx="4989512" cy="2420937"/>
        </p:xfrm>
        <a:graphic>
          <a:graphicData uri="http://schemas.openxmlformats.org/presentationml/2006/ole">
            <mc:AlternateContent xmlns:mc="http://schemas.openxmlformats.org/markup-compatibility/2006">
              <mc:Choice xmlns:v="urn:schemas-microsoft-com:vml" Requires="v">
                <p:oleObj spid="_x0000_s60433" name="Equation" r:id="rId3" imgW="3987720" imgH="1917360" progId="Equation.3">
                  <p:embed/>
                </p:oleObj>
              </mc:Choice>
              <mc:Fallback>
                <p:oleObj name="Equation" r:id="rId3" imgW="3987720" imgH="19173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3886200"/>
                        <a:ext cx="4989512" cy="2420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Perpetuity Formulas</a:t>
            </a:r>
          </a:p>
        </p:txBody>
      </p:sp>
      <p:sp>
        <p:nvSpPr>
          <p:cNvPr id="3" name="Content Placeholder 2"/>
          <p:cNvSpPr>
            <a:spLocks noGrp="1"/>
          </p:cNvSpPr>
          <p:nvPr>
            <p:ph idx="1"/>
          </p:nvPr>
        </p:nvSpPr>
        <p:spPr/>
        <p:txBody>
          <a:bodyPr/>
          <a:lstStyle/>
          <a:p>
            <a:r>
              <a:rPr lang="en-US" sz="2000" dirty="0"/>
              <a:t>Perpetuity Formulas</a:t>
            </a:r>
          </a:p>
          <a:p>
            <a:pPr lvl="1"/>
            <a:r>
              <a:rPr lang="en-US" sz="2000" dirty="0"/>
              <a:t>PV of a constant annuity in perpetuity</a:t>
            </a:r>
          </a:p>
          <a:p>
            <a:pPr lvl="1"/>
            <a:r>
              <a:rPr lang="en-US" sz="2000" dirty="0"/>
              <a:t>PV of a constant growth annuity in perpetuity</a:t>
            </a:r>
          </a:p>
          <a:p>
            <a:r>
              <a:rPr lang="en-US" sz="2000" dirty="0"/>
              <a:t>Useful in real estate because</a:t>
            </a:r>
          </a:p>
          <a:p>
            <a:pPr lvl="1"/>
            <a:r>
              <a:rPr lang="en-US" sz="2000" dirty="0"/>
              <a:t>Approximates long-run normalized rental income from real estate</a:t>
            </a:r>
          </a:p>
          <a:p>
            <a:pPr lvl="2"/>
            <a:r>
              <a:rPr lang="en-US" sz="2000" dirty="0"/>
              <a:t>Real estate generates rents over an indefinite period</a:t>
            </a:r>
          </a:p>
          <a:p>
            <a:pPr lvl="2"/>
            <a:r>
              <a:rPr lang="en-US" sz="2000" dirty="0"/>
              <a:t>Rental income tends to grow in  with inflation</a:t>
            </a:r>
          </a:p>
          <a:p>
            <a:pPr lvl="1"/>
            <a:r>
              <a:rPr lang="en-US" sz="2000" dirty="0"/>
              <a:t>Simple for “back of the envelop” calculations, as a first approximation of value</a:t>
            </a:r>
          </a:p>
          <a:p>
            <a:pPr lvl="1"/>
            <a:endParaRPr lang="en-US" sz="2000" dirty="0"/>
          </a:p>
        </p:txBody>
      </p:sp>
      <p:sp>
        <p:nvSpPr>
          <p:cNvPr id="4" name="Slide Number Placeholder 3"/>
          <p:cNvSpPr>
            <a:spLocks noGrp="1"/>
          </p:cNvSpPr>
          <p:nvPr>
            <p:ph type="sldNum" sz="quarter" idx="10"/>
          </p:nvPr>
        </p:nvSpPr>
        <p:spPr/>
        <p:txBody>
          <a:bodyPr/>
          <a:lstStyle/>
          <a:p>
            <a:fld id="{C674EDA7-B996-475E-B155-5CBB23D664FF}" type="slidenum">
              <a:rPr lang="en-US" smtClean="0"/>
              <a:pPr/>
              <a:t>16</a:t>
            </a:fld>
            <a:endParaRPr 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38200" y="2895600"/>
            <a:ext cx="1600200" cy="1588"/>
          </a:xfrm>
          <a:prstGeom prst="line">
            <a:avLst/>
          </a:prstGeom>
        </p:spPr>
        <p:style>
          <a:lnRef idx="2">
            <a:schemeClr val="accent2"/>
          </a:lnRef>
          <a:fillRef idx="1">
            <a:schemeClr val="lt1"/>
          </a:fillRef>
          <a:effectRef idx="0">
            <a:schemeClr val="accent2"/>
          </a:effectRef>
          <a:fontRef idx="minor">
            <a:schemeClr val="dk1"/>
          </a:fontRef>
        </p:style>
      </p:cxnSp>
      <p:cxnSp>
        <p:nvCxnSpPr>
          <p:cNvPr id="9" name="Straight Connector 8"/>
          <p:cNvCxnSpPr/>
          <p:nvPr/>
        </p:nvCxnSpPr>
        <p:spPr>
          <a:xfrm>
            <a:off x="2438400" y="2895600"/>
            <a:ext cx="838200" cy="1588"/>
          </a:xfrm>
          <a:prstGeom prst="line">
            <a:avLst/>
          </a:prstGeom>
          <a:ln/>
        </p:spPr>
        <p:style>
          <a:lnRef idx="2">
            <a:schemeClr val="accent2"/>
          </a:lnRef>
          <a:fillRef idx="1">
            <a:schemeClr val="lt1"/>
          </a:fillRef>
          <a:effectRef idx="0">
            <a:schemeClr val="accent2"/>
          </a:effectRef>
          <a:fontRef idx="minor">
            <a:schemeClr val="dk1"/>
          </a:fontRef>
        </p:style>
      </p:cxnSp>
      <p:cxnSp>
        <p:nvCxnSpPr>
          <p:cNvPr id="10" name="Straight Connector 9"/>
          <p:cNvCxnSpPr/>
          <p:nvPr/>
        </p:nvCxnSpPr>
        <p:spPr>
          <a:xfrm>
            <a:off x="2971800" y="2895600"/>
            <a:ext cx="5410200" cy="0"/>
          </a:xfrm>
          <a:prstGeom prst="line">
            <a:avLst/>
          </a:prstGeom>
        </p:spPr>
        <p:style>
          <a:lnRef idx="2">
            <a:schemeClr val="accent2"/>
          </a:lnRef>
          <a:fillRef idx="1">
            <a:schemeClr val="lt1"/>
          </a:fillRef>
          <a:effectRef idx="0">
            <a:schemeClr val="accent2"/>
          </a:effectRef>
          <a:fontRef idx="minor">
            <a:schemeClr val="dk1"/>
          </a:fontRef>
        </p:style>
      </p:cxnSp>
      <p:cxnSp>
        <p:nvCxnSpPr>
          <p:cNvPr id="17" name="Straight Connector 16"/>
          <p:cNvCxnSpPr/>
          <p:nvPr/>
        </p:nvCxnSpPr>
        <p:spPr>
          <a:xfrm rot="5400000">
            <a:off x="1372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8" name="Straight Connector 17"/>
          <p:cNvCxnSpPr/>
          <p:nvPr/>
        </p:nvCxnSpPr>
        <p:spPr>
          <a:xfrm rot="5400000">
            <a:off x="1677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9" name="Straight Connector 18"/>
          <p:cNvCxnSpPr/>
          <p:nvPr/>
        </p:nvCxnSpPr>
        <p:spPr>
          <a:xfrm rot="5400000">
            <a:off x="19819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0" name="Straight Connector 19"/>
          <p:cNvCxnSpPr/>
          <p:nvPr/>
        </p:nvCxnSpPr>
        <p:spPr>
          <a:xfrm rot="5400000">
            <a:off x="7850188"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1" name="Straight Connector 20"/>
          <p:cNvCxnSpPr/>
          <p:nvPr/>
        </p:nvCxnSpPr>
        <p:spPr>
          <a:xfrm rot="5400000">
            <a:off x="7545388"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2" name="Straight Connector 21"/>
          <p:cNvCxnSpPr/>
          <p:nvPr/>
        </p:nvCxnSpPr>
        <p:spPr>
          <a:xfrm rot="5400000">
            <a:off x="7240588"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3" name="Straight Connector 22"/>
          <p:cNvCxnSpPr/>
          <p:nvPr/>
        </p:nvCxnSpPr>
        <p:spPr>
          <a:xfrm rot="5400000">
            <a:off x="6935788"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7" name="Straight Connector 26"/>
          <p:cNvCxnSpPr/>
          <p:nvPr/>
        </p:nvCxnSpPr>
        <p:spPr>
          <a:xfrm>
            <a:off x="838200" y="2667000"/>
            <a:ext cx="7391400" cy="0"/>
          </a:xfrm>
          <a:prstGeom prst="line">
            <a:avLst/>
          </a:prstGeom>
          <a:ln w="9525">
            <a:prstDash val="sysDot"/>
          </a:ln>
        </p:spPr>
        <p:style>
          <a:lnRef idx="2">
            <a:schemeClr val="accent2"/>
          </a:lnRef>
          <a:fillRef idx="1">
            <a:schemeClr val="lt1"/>
          </a:fillRef>
          <a:effectRef idx="0">
            <a:schemeClr val="accent2"/>
          </a:effectRef>
          <a:fontRef idx="minor">
            <a:schemeClr val="dk1"/>
          </a:fontRef>
        </p:style>
      </p:cxnSp>
      <p:sp>
        <p:nvSpPr>
          <p:cNvPr id="42" name="TextBox 41"/>
          <p:cNvSpPr txBox="1"/>
          <p:nvPr/>
        </p:nvSpPr>
        <p:spPr>
          <a:xfrm>
            <a:off x="609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0</a:t>
            </a:r>
          </a:p>
        </p:txBody>
      </p:sp>
      <p:sp>
        <p:nvSpPr>
          <p:cNvPr id="43" name="TextBox 42"/>
          <p:cNvSpPr txBox="1"/>
          <p:nvPr/>
        </p:nvSpPr>
        <p:spPr>
          <a:xfrm>
            <a:off x="990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1</a:t>
            </a:r>
          </a:p>
        </p:txBody>
      </p:sp>
      <p:sp>
        <p:nvSpPr>
          <p:cNvPr id="44" name="TextBox 43"/>
          <p:cNvSpPr txBox="1"/>
          <p:nvPr/>
        </p:nvSpPr>
        <p:spPr>
          <a:xfrm>
            <a:off x="80772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N</a:t>
            </a:r>
          </a:p>
        </p:txBody>
      </p:sp>
      <p:sp>
        <p:nvSpPr>
          <p:cNvPr id="59" name="TextBox 58"/>
          <p:cNvSpPr txBox="1"/>
          <p:nvPr/>
        </p:nvSpPr>
        <p:spPr>
          <a:xfrm>
            <a:off x="457200" y="1295400"/>
            <a:ext cx="7696200" cy="461665"/>
          </a:xfrm>
          <a:prstGeom prst="rect">
            <a:avLst/>
          </a:prstGeom>
          <a:noFill/>
        </p:spPr>
        <p:txBody>
          <a:bodyPr wrap="square" rtlCol="0">
            <a:spAutoFit/>
          </a:bodyPr>
          <a:lstStyle/>
          <a:p>
            <a:r>
              <a:rPr lang="en-US" sz="1200" b="1" dirty="0"/>
              <a:t>Problem</a:t>
            </a:r>
            <a:r>
              <a:rPr lang="en-US" sz="1200" dirty="0"/>
              <a:t>: A charitable foundation’s endowment will pay a fixed annuity of $100,000 annually in perpetuity. At 5% Opportunity Cost of Capital, what is the present value of the annuity payments?</a:t>
            </a:r>
          </a:p>
        </p:txBody>
      </p:sp>
      <p:cxnSp>
        <p:nvCxnSpPr>
          <p:cNvPr id="233" name="Straight Connector 232"/>
          <p:cNvCxnSpPr/>
          <p:nvPr/>
        </p:nvCxnSpPr>
        <p:spPr>
          <a:xfrm rot="5400000">
            <a:off x="1067594" y="2894806"/>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77" name="Straight Arrow Connector 76"/>
          <p:cNvCxnSpPr/>
          <p:nvPr/>
        </p:nvCxnSpPr>
        <p:spPr>
          <a:xfrm rot="5400000" flipH="1" flipV="1">
            <a:off x="1027906" y="2781300"/>
            <a:ext cx="229394"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8" name="Straight Arrow Connector 77"/>
          <p:cNvCxnSpPr/>
          <p:nvPr/>
        </p:nvCxnSpPr>
        <p:spPr>
          <a:xfrm rot="5400000" flipH="1" flipV="1">
            <a:off x="13335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9" name="Straight Arrow Connector 78"/>
          <p:cNvCxnSpPr/>
          <p:nvPr/>
        </p:nvCxnSpPr>
        <p:spPr>
          <a:xfrm rot="5400000" flipH="1" flipV="1">
            <a:off x="19431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0" name="Straight Arrow Connector 79"/>
          <p:cNvCxnSpPr/>
          <p:nvPr/>
        </p:nvCxnSpPr>
        <p:spPr>
          <a:xfrm rot="5400000" flipH="1" flipV="1">
            <a:off x="1638300"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1" name="Straight Arrow Connector 80"/>
          <p:cNvCxnSpPr/>
          <p:nvPr/>
        </p:nvCxnSpPr>
        <p:spPr>
          <a:xfrm rot="5400000" flipH="1" flipV="1">
            <a:off x="6896894"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2" name="Straight Arrow Connector 81"/>
          <p:cNvCxnSpPr/>
          <p:nvPr/>
        </p:nvCxnSpPr>
        <p:spPr>
          <a:xfrm rot="5400000" flipH="1" flipV="1">
            <a:off x="7201694"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3" name="Straight Arrow Connector 82"/>
          <p:cNvCxnSpPr/>
          <p:nvPr/>
        </p:nvCxnSpPr>
        <p:spPr>
          <a:xfrm rot="5400000" flipH="1" flipV="1">
            <a:off x="7506494" y="2781300"/>
            <a:ext cx="2286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4" name="Straight Arrow Connector 83"/>
          <p:cNvCxnSpPr/>
          <p:nvPr/>
        </p:nvCxnSpPr>
        <p:spPr>
          <a:xfrm rot="5400000" flipH="1" flipV="1">
            <a:off x="7810500" y="2781300"/>
            <a:ext cx="229394"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89" name="TextBox 88"/>
          <p:cNvSpPr txBox="1"/>
          <p:nvPr/>
        </p:nvSpPr>
        <p:spPr>
          <a:xfrm>
            <a:off x="12954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2</a:t>
            </a:r>
          </a:p>
        </p:txBody>
      </p:sp>
      <p:sp>
        <p:nvSpPr>
          <p:cNvPr id="90" name="Title 89"/>
          <p:cNvSpPr>
            <a:spLocks noGrp="1"/>
          </p:cNvSpPr>
          <p:nvPr>
            <p:ph type="title"/>
          </p:nvPr>
        </p:nvSpPr>
        <p:spPr/>
        <p:txBody>
          <a:bodyPr/>
          <a:lstStyle/>
          <a:p>
            <a:r>
              <a:rPr lang="en-US" sz="3600" dirty="0"/>
              <a:t>PV of a Constant Annuity in Perpetuity</a:t>
            </a:r>
          </a:p>
        </p:txBody>
      </p:sp>
      <p:sp>
        <p:nvSpPr>
          <p:cNvPr id="91" name="TextBox 90"/>
          <p:cNvSpPr txBox="1"/>
          <p:nvPr/>
        </p:nvSpPr>
        <p:spPr>
          <a:xfrm>
            <a:off x="2057400" y="29718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sp>
        <p:nvSpPr>
          <p:cNvPr id="87" name="TextBox 86"/>
          <p:cNvSpPr txBox="1"/>
          <p:nvPr/>
        </p:nvSpPr>
        <p:spPr>
          <a:xfrm>
            <a:off x="1676400" y="2286000"/>
            <a:ext cx="685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PMT</a:t>
            </a:r>
          </a:p>
        </p:txBody>
      </p:sp>
      <p:sp>
        <p:nvSpPr>
          <p:cNvPr id="126" name="TextBox 125"/>
          <p:cNvSpPr txBox="1"/>
          <p:nvPr/>
        </p:nvSpPr>
        <p:spPr>
          <a:xfrm>
            <a:off x="5410200" y="3657600"/>
            <a:ext cx="1828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Formula</a:t>
            </a:r>
          </a:p>
        </p:txBody>
      </p:sp>
      <p:sp>
        <p:nvSpPr>
          <p:cNvPr id="289" name="TextBox 288"/>
          <p:cNvSpPr txBox="1"/>
          <p:nvPr/>
        </p:nvSpPr>
        <p:spPr>
          <a:xfrm>
            <a:off x="1295400" y="3657600"/>
            <a:ext cx="2209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Calculator / Excel Solution</a:t>
            </a:r>
          </a:p>
        </p:txBody>
      </p:sp>
      <p:cxnSp>
        <p:nvCxnSpPr>
          <p:cNvPr id="38" name="Straight Arrow Connector 37"/>
          <p:cNvCxnSpPr/>
          <p:nvPr/>
        </p:nvCxnSpPr>
        <p:spPr>
          <a:xfrm rot="5400000" flipH="1" flipV="1">
            <a:off x="6553994" y="2818606"/>
            <a:ext cx="3048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55" name="TextBox 54"/>
          <p:cNvSpPr txBox="1"/>
          <p:nvPr/>
        </p:nvSpPr>
        <p:spPr>
          <a:xfrm>
            <a:off x="8153400" y="25146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graphicFrame>
        <p:nvGraphicFramePr>
          <p:cNvPr id="61" name="Content Placeholder 60"/>
          <p:cNvGraphicFramePr>
            <a:graphicFrameLocks noGrp="1"/>
          </p:cNvGraphicFramePr>
          <p:nvPr>
            <p:ph idx="1"/>
          </p:nvPr>
        </p:nvGraphicFramePr>
        <p:xfrm>
          <a:off x="762000" y="4038600"/>
          <a:ext cx="3162300" cy="1905000"/>
        </p:xfrm>
        <a:graphic>
          <a:graphicData uri="http://schemas.openxmlformats.org/drawingml/2006/table">
            <a:tbl>
              <a:tblPr/>
              <a:tblGrid>
                <a:gridCol w="608989">
                  <a:extLst>
                    <a:ext uri="{9D8B030D-6E8A-4147-A177-3AD203B41FA5}">
                      <a16:colId xmlns:a16="http://schemas.microsoft.com/office/drawing/2014/main" val="20000"/>
                    </a:ext>
                  </a:extLst>
                </a:gridCol>
                <a:gridCol w="773923">
                  <a:extLst>
                    <a:ext uri="{9D8B030D-6E8A-4147-A177-3AD203B41FA5}">
                      <a16:colId xmlns:a16="http://schemas.microsoft.com/office/drawing/2014/main" val="20001"/>
                    </a:ext>
                  </a:extLst>
                </a:gridCol>
                <a:gridCol w="1779388">
                  <a:extLst>
                    <a:ext uri="{9D8B030D-6E8A-4147-A177-3AD203B41FA5}">
                      <a16:colId xmlns:a16="http://schemas.microsoft.com/office/drawing/2014/main" val="20002"/>
                    </a:ext>
                  </a:extLst>
                </a:gridCol>
              </a:tblGrid>
              <a:tr h="1905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US" sz="1100" b="0" i="0" u="sng" strike="noStrike">
                          <a:solidFill>
                            <a:srgbClr val="000000"/>
                          </a:solidFill>
                          <a:latin typeface="Calibri"/>
                        </a:rPr>
                        <a:t>Perpetuity</a:t>
                      </a: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latin typeface="Calibri"/>
                        </a:rPr>
                        <a:t>N</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9999</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latin typeface="Calibri"/>
                        </a:rPr>
                        <a:t>&lt;approximating a perpetuity</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190500">
                <a:tc>
                  <a:txBody>
                    <a:bodyPr/>
                    <a:lstStyle/>
                    <a:p>
                      <a:pPr algn="l" fontAlgn="b"/>
                      <a:r>
                        <a:rPr lang="en-US" sz="1100" b="0" i="0" u="none" strike="noStrike">
                          <a:solidFill>
                            <a:srgbClr val="000000"/>
                          </a:solidFill>
                          <a:latin typeface="Calibri"/>
                        </a:rPr>
                        <a:t>I</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5.000%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l" fontAlgn="b"/>
                      <a:r>
                        <a:rPr lang="en-US" sz="1100" b="0" i="0" u="none" strike="noStrike">
                          <a:solidFill>
                            <a:srgbClr val="000000"/>
                          </a:solidFill>
                          <a:latin typeface="Calibri"/>
                        </a:rPr>
                        <a:t>PV</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solidFill>
                            <a:srgbClr val="000000"/>
                          </a:solidFill>
                          <a:latin typeface="Calibri"/>
                        </a:rPr>
                        <a:t>($2,000,000)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100" b="0" i="0" u="none" strike="noStrike">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190500">
                <a:tc>
                  <a:txBody>
                    <a:bodyPr/>
                    <a:lstStyle/>
                    <a:p>
                      <a:pPr algn="l" fontAlgn="b"/>
                      <a:r>
                        <a:rPr lang="en-US" sz="1100" b="0" i="0" u="none" strike="noStrike">
                          <a:solidFill>
                            <a:srgbClr val="000000"/>
                          </a:solidFill>
                          <a:latin typeface="Calibri"/>
                        </a:rPr>
                        <a:t>PMT</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$100,000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l" fontAlgn="b"/>
                      <a:r>
                        <a:rPr lang="en-US" sz="1100" b="0" i="0" u="none" strike="noStrike">
                          <a:solidFill>
                            <a:srgbClr val="000000"/>
                          </a:solidFill>
                          <a:latin typeface="Calibri"/>
                        </a:rPr>
                        <a:t>FV</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$0 </a:t>
                      </a: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l" fontAlgn="b"/>
                      <a:r>
                        <a:rPr lang="en-US" sz="1100" b="0" i="0" u="none" strike="noStrike">
                          <a:solidFill>
                            <a:srgbClr val="000000"/>
                          </a:solidFill>
                          <a:latin typeface="Calibri"/>
                        </a:rPr>
                        <a:t>Or</a:t>
                      </a: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l" fontAlgn="b"/>
                      <a:r>
                        <a:rPr lang="en-US" sz="1100" b="0" i="0" u="none" strike="noStrike">
                          <a:solidFill>
                            <a:srgbClr val="000000"/>
                          </a:solidFill>
                          <a:latin typeface="Calibri"/>
                        </a:rPr>
                        <a:t>PMT/I</a:t>
                      </a:r>
                    </a:p>
                  </a:txBody>
                  <a:tcPr marL="9525" marR="9525" marT="9525" marB="0" anchor="b">
                    <a:lnL>
                      <a:noFill/>
                    </a:lnL>
                    <a:lnR>
                      <a:noFill/>
                    </a:lnR>
                    <a:lnT>
                      <a:noFill/>
                    </a:lnT>
                    <a:lnB>
                      <a:noFill/>
                    </a:lnB>
                  </a:tcPr>
                </a:tc>
                <a:tc>
                  <a:txBody>
                    <a:bodyPr/>
                    <a:lstStyle/>
                    <a:p>
                      <a:pPr algn="r" fontAlgn="b"/>
                      <a:r>
                        <a:rPr lang="en-US" sz="1100" b="0" i="0" u="sng" strike="noStrike">
                          <a:solidFill>
                            <a:srgbClr val="000000"/>
                          </a:solidFill>
                          <a:latin typeface="Calibri"/>
                        </a:rPr>
                        <a:t>$100,000 </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latin typeface="Calibri"/>
                        </a:rPr>
                        <a:t>$2,000,000 </a:t>
                      </a:r>
                    </a:p>
                  </a:txBody>
                  <a:tcPr marL="9525" marR="9525" marT="9525" marB="0" anchor="b">
                    <a:lnL>
                      <a:noFill/>
                    </a:lnL>
                    <a:lnR>
                      <a:noFill/>
                    </a:lnR>
                    <a:lnT>
                      <a:noFill/>
                    </a:lnT>
                    <a:lnB>
                      <a:noFill/>
                    </a:lnB>
                  </a:tcPr>
                </a:tc>
                <a:extLst>
                  <a:ext uri="{0D108BD9-81ED-4DB2-BD59-A6C34878D82A}">
                    <a16:rowId xmlns:a16="http://schemas.microsoft.com/office/drawing/2014/main" val="10008"/>
                  </a:ext>
                </a:extLst>
              </a:tr>
              <a:tr h="1905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5.000%</a:t>
                      </a:r>
                    </a:p>
                  </a:txBody>
                  <a:tcPr marL="9525" marR="9525" marT="9525"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9"/>
                  </a:ext>
                </a:extLst>
              </a:tr>
            </a:tbl>
          </a:graphicData>
        </a:graphic>
      </p:graphicFrame>
      <p:cxnSp>
        <p:nvCxnSpPr>
          <p:cNvPr id="62" name="Straight Arrow Connector 61"/>
          <p:cNvCxnSpPr/>
          <p:nvPr/>
        </p:nvCxnSpPr>
        <p:spPr>
          <a:xfrm rot="5400000">
            <a:off x="457200" y="3276600"/>
            <a:ext cx="7620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graphicFrame>
        <p:nvGraphicFramePr>
          <p:cNvPr id="61443" name="Object 3"/>
          <p:cNvGraphicFramePr>
            <a:graphicFrameLocks noChangeAspect="1"/>
          </p:cNvGraphicFramePr>
          <p:nvPr/>
        </p:nvGraphicFramePr>
        <p:xfrm>
          <a:off x="4191000" y="3978275"/>
          <a:ext cx="3605213" cy="2328863"/>
        </p:xfrm>
        <a:graphic>
          <a:graphicData uri="http://schemas.openxmlformats.org/presentationml/2006/ole">
            <mc:AlternateContent xmlns:mc="http://schemas.openxmlformats.org/markup-compatibility/2006">
              <mc:Choice xmlns:v="urn:schemas-microsoft-com:vml" Requires="v">
                <p:oleObj spid="_x0000_s61458" name="Equation" r:id="rId3" imgW="2692080" imgH="1739880" progId="Equation.3">
                  <p:embed/>
                </p:oleObj>
              </mc:Choice>
              <mc:Fallback>
                <p:oleObj name="Equation" r:id="rId3" imgW="2692080" imgH="173988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3978275"/>
                        <a:ext cx="3605213" cy="232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38200" y="2895600"/>
            <a:ext cx="1600200" cy="1588"/>
          </a:xfrm>
          <a:prstGeom prst="line">
            <a:avLst/>
          </a:prstGeom>
        </p:spPr>
        <p:style>
          <a:lnRef idx="2">
            <a:schemeClr val="accent2"/>
          </a:lnRef>
          <a:fillRef idx="1">
            <a:schemeClr val="lt1"/>
          </a:fillRef>
          <a:effectRef idx="0">
            <a:schemeClr val="accent2"/>
          </a:effectRef>
          <a:fontRef idx="minor">
            <a:schemeClr val="dk1"/>
          </a:fontRef>
        </p:style>
      </p:cxnSp>
      <p:cxnSp>
        <p:nvCxnSpPr>
          <p:cNvPr id="9" name="Straight Connector 8"/>
          <p:cNvCxnSpPr/>
          <p:nvPr/>
        </p:nvCxnSpPr>
        <p:spPr>
          <a:xfrm>
            <a:off x="2438400" y="2895600"/>
            <a:ext cx="838200" cy="1588"/>
          </a:xfrm>
          <a:prstGeom prst="line">
            <a:avLst/>
          </a:prstGeom>
          <a:ln/>
        </p:spPr>
        <p:style>
          <a:lnRef idx="2">
            <a:schemeClr val="accent2"/>
          </a:lnRef>
          <a:fillRef idx="1">
            <a:schemeClr val="lt1"/>
          </a:fillRef>
          <a:effectRef idx="0">
            <a:schemeClr val="accent2"/>
          </a:effectRef>
          <a:fontRef idx="minor">
            <a:schemeClr val="dk1"/>
          </a:fontRef>
        </p:style>
      </p:cxnSp>
      <p:cxnSp>
        <p:nvCxnSpPr>
          <p:cNvPr id="10" name="Straight Connector 9"/>
          <p:cNvCxnSpPr/>
          <p:nvPr/>
        </p:nvCxnSpPr>
        <p:spPr>
          <a:xfrm>
            <a:off x="2971800" y="2895600"/>
            <a:ext cx="5410200" cy="0"/>
          </a:xfrm>
          <a:prstGeom prst="line">
            <a:avLst/>
          </a:prstGeom>
        </p:spPr>
        <p:style>
          <a:lnRef idx="2">
            <a:schemeClr val="accent2"/>
          </a:lnRef>
          <a:fillRef idx="1">
            <a:schemeClr val="lt1"/>
          </a:fillRef>
          <a:effectRef idx="0">
            <a:schemeClr val="accent2"/>
          </a:effectRef>
          <a:fontRef idx="minor">
            <a:schemeClr val="dk1"/>
          </a:fontRef>
        </p:style>
      </p:cxnSp>
      <p:cxnSp>
        <p:nvCxnSpPr>
          <p:cNvPr id="17" name="Straight Connector 16"/>
          <p:cNvCxnSpPr/>
          <p:nvPr/>
        </p:nvCxnSpPr>
        <p:spPr>
          <a:xfrm rot="5400000">
            <a:off x="13723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8" name="Straight Connector 17"/>
          <p:cNvCxnSpPr/>
          <p:nvPr/>
        </p:nvCxnSpPr>
        <p:spPr>
          <a:xfrm rot="5400000">
            <a:off x="16771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19" name="Straight Connector 18"/>
          <p:cNvCxnSpPr/>
          <p:nvPr/>
        </p:nvCxnSpPr>
        <p:spPr>
          <a:xfrm rot="5400000">
            <a:off x="1981994"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0" name="Straight Connector 19"/>
          <p:cNvCxnSpPr/>
          <p:nvPr/>
        </p:nvCxnSpPr>
        <p:spPr>
          <a:xfrm rot="5400000">
            <a:off x="7850188"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1" name="Straight Connector 20"/>
          <p:cNvCxnSpPr/>
          <p:nvPr/>
        </p:nvCxnSpPr>
        <p:spPr>
          <a:xfrm rot="5400000">
            <a:off x="7545388"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2" name="Straight Connector 21"/>
          <p:cNvCxnSpPr/>
          <p:nvPr/>
        </p:nvCxnSpPr>
        <p:spPr>
          <a:xfrm rot="5400000">
            <a:off x="7240588"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3" name="Straight Connector 22"/>
          <p:cNvCxnSpPr/>
          <p:nvPr/>
        </p:nvCxnSpPr>
        <p:spPr>
          <a:xfrm rot="5400000">
            <a:off x="6935788" y="2895600"/>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27" name="Straight Connector 26"/>
          <p:cNvCxnSpPr/>
          <p:nvPr/>
        </p:nvCxnSpPr>
        <p:spPr>
          <a:xfrm flipV="1">
            <a:off x="838200" y="1981200"/>
            <a:ext cx="7391400" cy="685800"/>
          </a:xfrm>
          <a:prstGeom prst="line">
            <a:avLst/>
          </a:prstGeom>
          <a:ln w="9525">
            <a:prstDash val="sysDot"/>
          </a:ln>
        </p:spPr>
        <p:style>
          <a:lnRef idx="2">
            <a:schemeClr val="accent2"/>
          </a:lnRef>
          <a:fillRef idx="1">
            <a:schemeClr val="lt1"/>
          </a:fillRef>
          <a:effectRef idx="0">
            <a:schemeClr val="accent2"/>
          </a:effectRef>
          <a:fontRef idx="minor">
            <a:schemeClr val="dk1"/>
          </a:fontRef>
        </p:style>
      </p:cxnSp>
      <p:sp>
        <p:nvSpPr>
          <p:cNvPr id="42" name="TextBox 41"/>
          <p:cNvSpPr txBox="1"/>
          <p:nvPr/>
        </p:nvSpPr>
        <p:spPr>
          <a:xfrm>
            <a:off x="609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0</a:t>
            </a:r>
          </a:p>
        </p:txBody>
      </p:sp>
      <p:sp>
        <p:nvSpPr>
          <p:cNvPr id="43" name="TextBox 42"/>
          <p:cNvSpPr txBox="1"/>
          <p:nvPr/>
        </p:nvSpPr>
        <p:spPr>
          <a:xfrm>
            <a:off x="9906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1</a:t>
            </a:r>
          </a:p>
        </p:txBody>
      </p:sp>
      <p:sp>
        <p:nvSpPr>
          <p:cNvPr id="44" name="TextBox 43"/>
          <p:cNvSpPr txBox="1"/>
          <p:nvPr/>
        </p:nvSpPr>
        <p:spPr>
          <a:xfrm>
            <a:off x="80772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N</a:t>
            </a:r>
          </a:p>
        </p:txBody>
      </p:sp>
      <p:sp>
        <p:nvSpPr>
          <p:cNvPr id="59" name="TextBox 58"/>
          <p:cNvSpPr txBox="1"/>
          <p:nvPr/>
        </p:nvSpPr>
        <p:spPr>
          <a:xfrm>
            <a:off x="394335" y="1524000"/>
            <a:ext cx="7696200" cy="461665"/>
          </a:xfrm>
          <a:prstGeom prst="rect">
            <a:avLst/>
          </a:prstGeom>
          <a:noFill/>
        </p:spPr>
        <p:txBody>
          <a:bodyPr wrap="square" rtlCol="0">
            <a:spAutoFit/>
          </a:bodyPr>
          <a:lstStyle/>
          <a:p>
            <a:r>
              <a:rPr lang="en-US" sz="1200" b="1" dirty="0"/>
              <a:t>Problem</a:t>
            </a:r>
            <a:r>
              <a:rPr lang="en-US" sz="1200" dirty="0"/>
              <a:t>: A charitable foundation’s endowment will pay a fixed annuity of $100,000 annually, growing at 2% per year, in perpetuity. At 5% Opportunity Cost of Capital, what is the present value of the annuity payments?</a:t>
            </a:r>
          </a:p>
        </p:txBody>
      </p:sp>
      <p:cxnSp>
        <p:nvCxnSpPr>
          <p:cNvPr id="233" name="Straight Connector 232"/>
          <p:cNvCxnSpPr/>
          <p:nvPr/>
        </p:nvCxnSpPr>
        <p:spPr>
          <a:xfrm rot="5400000">
            <a:off x="1067594" y="2894806"/>
            <a:ext cx="151606" cy="794"/>
          </a:xfrm>
          <a:prstGeom prst="line">
            <a:avLst/>
          </a:prstGeom>
          <a:ln/>
        </p:spPr>
        <p:style>
          <a:lnRef idx="2">
            <a:schemeClr val="accent2"/>
          </a:lnRef>
          <a:fillRef idx="1">
            <a:schemeClr val="lt1"/>
          </a:fillRef>
          <a:effectRef idx="0">
            <a:schemeClr val="accent2"/>
          </a:effectRef>
          <a:fontRef idx="minor">
            <a:schemeClr val="dk1"/>
          </a:fontRef>
        </p:style>
      </p:cxnSp>
      <p:cxnSp>
        <p:nvCxnSpPr>
          <p:cNvPr id="77" name="Straight Arrow Connector 76"/>
          <p:cNvCxnSpPr/>
          <p:nvPr/>
        </p:nvCxnSpPr>
        <p:spPr>
          <a:xfrm rot="5400000" flipH="1" flipV="1">
            <a:off x="1027906" y="2781300"/>
            <a:ext cx="229394"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8" name="Straight Arrow Connector 77"/>
          <p:cNvCxnSpPr/>
          <p:nvPr/>
        </p:nvCxnSpPr>
        <p:spPr>
          <a:xfrm rot="5400000" flipH="1" flipV="1">
            <a:off x="1294606" y="2743200"/>
            <a:ext cx="305594"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79" name="Straight Arrow Connector 78"/>
          <p:cNvCxnSpPr/>
          <p:nvPr/>
        </p:nvCxnSpPr>
        <p:spPr>
          <a:xfrm rot="5400000" flipH="1" flipV="1">
            <a:off x="1866900" y="2705100"/>
            <a:ext cx="3810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0" name="Straight Arrow Connector 79"/>
          <p:cNvCxnSpPr/>
          <p:nvPr/>
        </p:nvCxnSpPr>
        <p:spPr>
          <a:xfrm rot="16200000" flipV="1">
            <a:off x="1562102" y="2705099"/>
            <a:ext cx="381001" cy="3"/>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1" name="Straight Arrow Connector 80"/>
          <p:cNvCxnSpPr/>
          <p:nvPr/>
        </p:nvCxnSpPr>
        <p:spPr>
          <a:xfrm rot="5400000" flipH="1" flipV="1">
            <a:off x="6628209" y="2514997"/>
            <a:ext cx="763588"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2" name="Straight Arrow Connector 81"/>
          <p:cNvCxnSpPr/>
          <p:nvPr/>
        </p:nvCxnSpPr>
        <p:spPr>
          <a:xfrm rot="5400000" flipH="1" flipV="1">
            <a:off x="6894909" y="2476897"/>
            <a:ext cx="839788"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3" name="Straight Arrow Connector 82"/>
          <p:cNvCxnSpPr/>
          <p:nvPr/>
        </p:nvCxnSpPr>
        <p:spPr>
          <a:xfrm rot="5400000" flipH="1" flipV="1">
            <a:off x="7201694" y="2475706"/>
            <a:ext cx="8382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84" name="Straight Arrow Connector 83"/>
          <p:cNvCxnSpPr/>
          <p:nvPr/>
        </p:nvCxnSpPr>
        <p:spPr>
          <a:xfrm rot="5400000" flipH="1" flipV="1">
            <a:off x="7504509" y="2476897"/>
            <a:ext cx="839788"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89" name="TextBox 88"/>
          <p:cNvSpPr txBox="1"/>
          <p:nvPr/>
        </p:nvSpPr>
        <p:spPr>
          <a:xfrm>
            <a:off x="1295400" y="2971800"/>
            <a:ext cx="2286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2</a:t>
            </a:r>
          </a:p>
        </p:txBody>
      </p:sp>
      <p:sp>
        <p:nvSpPr>
          <p:cNvPr id="90" name="Title 89"/>
          <p:cNvSpPr>
            <a:spLocks noGrp="1"/>
          </p:cNvSpPr>
          <p:nvPr>
            <p:ph type="title"/>
          </p:nvPr>
        </p:nvSpPr>
        <p:spPr/>
        <p:txBody>
          <a:bodyPr/>
          <a:lstStyle/>
          <a:p>
            <a:r>
              <a:rPr lang="en-US" sz="3600" dirty="0"/>
              <a:t>PV of a Constant </a:t>
            </a:r>
            <a:r>
              <a:rPr lang="en-US" sz="3600" b="1" i="1" dirty="0"/>
              <a:t>Growth</a:t>
            </a:r>
            <a:r>
              <a:rPr lang="en-US" sz="3600" dirty="0"/>
              <a:t> Annuity in Perpetuity</a:t>
            </a:r>
          </a:p>
        </p:txBody>
      </p:sp>
      <p:sp>
        <p:nvSpPr>
          <p:cNvPr id="91" name="TextBox 90"/>
          <p:cNvSpPr txBox="1"/>
          <p:nvPr/>
        </p:nvSpPr>
        <p:spPr>
          <a:xfrm>
            <a:off x="2057400" y="29718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sp>
        <p:nvSpPr>
          <p:cNvPr id="87" name="TextBox 86"/>
          <p:cNvSpPr txBox="1"/>
          <p:nvPr/>
        </p:nvSpPr>
        <p:spPr>
          <a:xfrm>
            <a:off x="990600" y="2133600"/>
            <a:ext cx="685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PMT</a:t>
            </a:r>
          </a:p>
        </p:txBody>
      </p:sp>
      <p:sp>
        <p:nvSpPr>
          <p:cNvPr id="126" name="TextBox 125"/>
          <p:cNvSpPr txBox="1"/>
          <p:nvPr/>
        </p:nvSpPr>
        <p:spPr>
          <a:xfrm>
            <a:off x="5410200" y="3657600"/>
            <a:ext cx="1828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Formula</a:t>
            </a:r>
          </a:p>
        </p:txBody>
      </p:sp>
      <p:sp>
        <p:nvSpPr>
          <p:cNvPr id="289" name="TextBox 288"/>
          <p:cNvSpPr txBox="1"/>
          <p:nvPr/>
        </p:nvSpPr>
        <p:spPr>
          <a:xfrm>
            <a:off x="1295400" y="3657600"/>
            <a:ext cx="22098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u="sng" dirty="0"/>
              <a:t>Calculator / Excel Solution</a:t>
            </a:r>
          </a:p>
        </p:txBody>
      </p:sp>
      <p:cxnSp>
        <p:nvCxnSpPr>
          <p:cNvPr id="38" name="Straight Arrow Connector 37"/>
          <p:cNvCxnSpPr/>
          <p:nvPr/>
        </p:nvCxnSpPr>
        <p:spPr>
          <a:xfrm rot="5400000" flipH="1" flipV="1">
            <a:off x="6285706" y="2552700"/>
            <a:ext cx="838994" cy="794"/>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
        <p:nvSpPr>
          <p:cNvPr id="55" name="TextBox 54"/>
          <p:cNvSpPr txBox="1"/>
          <p:nvPr/>
        </p:nvSpPr>
        <p:spPr>
          <a:xfrm>
            <a:off x="8153400" y="2514600"/>
            <a:ext cx="533400" cy="27699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dirty="0"/>
              <a:t>.  .  . </a:t>
            </a:r>
          </a:p>
        </p:txBody>
      </p:sp>
      <p:cxnSp>
        <p:nvCxnSpPr>
          <p:cNvPr id="62" name="Straight Arrow Connector 61"/>
          <p:cNvCxnSpPr/>
          <p:nvPr/>
        </p:nvCxnSpPr>
        <p:spPr>
          <a:xfrm rot="5400000">
            <a:off x="457200" y="3276600"/>
            <a:ext cx="762000" cy="158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graphicFrame>
        <p:nvGraphicFramePr>
          <p:cNvPr id="52" name="Content Placeholder 51"/>
          <p:cNvGraphicFramePr>
            <a:graphicFrameLocks noGrp="1"/>
          </p:cNvGraphicFramePr>
          <p:nvPr>
            <p:ph idx="1"/>
          </p:nvPr>
        </p:nvGraphicFramePr>
        <p:xfrm>
          <a:off x="762000" y="4038600"/>
          <a:ext cx="3276600" cy="1828800"/>
        </p:xfrm>
        <a:graphic>
          <a:graphicData uri="http://schemas.openxmlformats.org/drawingml/2006/table">
            <a:tbl>
              <a:tblPr/>
              <a:tblGrid>
                <a:gridCol w="631001">
                  <a:extLst>
                    <a:ext uri="{9D8B030D-6E8A-4147-A177-3AD203B41FA5}">
                      <a16:colId xmlns:a16="http://schemas.microsoft.com/office/drawing/2014/main" val="20000"/>
                    </a:ext>
                  </a:extLst>
                </a:gridCol>
                <a:gridCol w="801896">
                  <a:extLst>
                    <a:ext uri="{9D8B030D-6E8A-4147-A177-3AD203B41FA5}">
                      <a16:colId xmlns:a16="http://schemas.microsoft.com/office/drawing/2014/main" val="20001"/>
                    </a:ext>
                  </a:extLst>
                </a:gridCol>
                <a:gridCol w="1843703">
                  <a:extLst>
                    <a:ext uri="{9D8B030D-6E8A-4147-A177-3AD203B41FA5}">
                      <a16:colId xmlns:a16="http://schemas.microsoft.com/office/drawing/2014/main" val="20002"/>
                    </a:ext>
                  </a:extLst>
                </a:gridCol>
              </a:tblGrid>
              <a:tr h="228600">
                <a:tc>
                  <a:txBody>
                    <a:bodyPr/>
                    <a:lstStyle/>
                    <a:p>
                      <a:pPr algn="l" fontAlgn="b"/>
                      <a:r>
                        <a:rPr lang="en-US" sz="1100" b="0" i="0" u="none" strike="noStrike" dirty="0">
                          <a:solidFill>
                            <a:srgbClr val="000000"/>
                          </a:solidFill>
                          <a:latin typeface="Calibri"/>
                        </a:rPr>
                        <a:t>PMT</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$100,000 </a:t>
                      </a: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28600">
                <a:tc>
                  <a:txBody>
                    <a:bodyPr/>
                    <a:lstStyle/>
                    <a:p>
                      <a:pPr algn="l" fontAlgn="b"/>
                      <a:r>
                        <a:rPr lang="en-US" sz="1100" b="0" i="0" u="none" strike="noStrike">
                          <a:solidFill>
                            <a:srgbClr val="000000"/>
                          </a:solidFill>
                          <a:latin typeface="Calibri"/>
                        </a:rPr>
                        <a: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5.00%</a:t>
                      </a: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228600">
                <a:tc>
                  <a:txBody>
                    <a:bodyPr/>
                    <a:lstStyle/>
                    <a:p>
                      <a:pPr algn="l" fontAlgn="b"/>
                      <a:r>
                        <a:rPr lang="en-US" sz="1100" b="0" i="0" u="none" strike="noStrike">
                          <a:solidFill>
                            <a:srgbClr val="000000"/>
                          </a:solidFill>
                          <a:latin typeface="Calibri"/>
                        </a:rPr>
                        <a:t>g</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2.00%</a:t>
                      </a: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228600">
                <a:tc>
                  <a:txBody>
                    <a:bodyPr/>
                    <a:lstStyle/>
                    <a:p>
                      <a:pPr algn="l" fontAlgn="b"/>
                      <a:r>
                        <a:rPr lang="en-US" sz="1100" b="0" i="0" u="none" strike="noStrike">
                          <a:solidFill>
                            <a:srgbClr val="000000"/>
                          </a:solidFill>
                          <a:latin typeface="Calibri"/>
                        </a:rPr>
                        <a:t>y = r - g</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3.00%</a:t>
                      </a:r>
                    </a:p>
                  </a:txBody>
                  <a:tcPr marL="9525" marR="9525" marT="9525"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2286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228600">
                <a:tc>
                  <a:txBody>
                    <a:bodyPr/>
                    <a:lstStyle/>
                    <a:p>
                      <a:pPr algn="l" fontAlgn="b"/>
                      <a:r>
                        <a:rPr lang="en-US" sz="1100" b="0" i="0" u="none" strike="noStrike">
                          <a:solidFill>
                            <a:srgbClr val="000000"/>
                          </a:solidFill>
                          <a:latin typeface="Calibri"/>
                        </a:rPr>
                        <a:t>PV =</a:t>
                      </a: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228600">
                <a:tc>
                  <a:txBody>
                    <a:bodyPr/>
                    <a:lstStyle/>
                    <a:p>
                      <a:pPr algn="l" fontAlgn="b"/>
                      <a:r>
                        <a:rPr lang="en-US" sz="1100" b="0" i="0" u="none" strike="noStrike">
                          <a:solidFill>
                            <a:srgbClr val="000000"/>
                          </a:solidFill>
                          <a:latin typeface="Calibri"/>
                        </a:rPr>
                        <a:t>PMT / y</a:t>
                      </a:r>
                    </a:p>
                  </a:txBody>
                  <a:tcPr marL="9525" marR="9525" marT="9525" marB="0" anchor="b">
                    <a:lnL>
                      <a:noFill/>
                    </a:lnL>
                    <a:lnR>
                      <a:noFill/>
                    </a:lnR>
                    <a:lnT>
                      <a:noFill/>
                    </a:lnT>
                    <a:lnB>
                      <a:noFill/>
                    </a:lnB>
                  </a:tcPr>
                </a:tc>
                <a:tc>
                  <a:txBody>
                    <a:bodyPr/>
                    <a:lstStyle/>
                    <a:p>
                      <a:pPr algn="r" fontAlgn="b"/>
                      <a:r>
                        <a:rPr lang="en-US" sz="1100" b="0" i="0" u="sng" strike="noStrike">
                          <a:solidFill>
                            <a:srgbClr val="000000"/>
                          </a:solidFill>
                          <a:latin typeface="Calibri"/>
                        </a:rPr>
                        <a:t>$100,000 </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latin typeface="Calibri"/>
                        </a:rPr>
                        <a:t>$3,333,333 </a:t>
                      </a: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228600">
                <a:tc>
                  <a:txBody>
                    <a:bodyPr/>
                    <a:lstStyle/>
                    <a:p>
                      <a:pPr algn="l" fontAlgn="b"/>
                      <a:endParaRPr lang="en-US"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latin typeface="Calibri"/>
                        </a:rPr>
                        <a:t>3.000%</a:t>
                      </a:r>
                    </a:p>
                  </a:txBody>
                  <a:tcPr marL="9525" marR="9525" marT="9525"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bl>
          </a:graphicData>
        </a:graphic>
      </p:graphicFrame>
      <p:cxnSp>
        <p:nvCxnSpPr>
          <p:cNvPr id="53" name="Straight Connector 52"/>
          <p:cNvCxnSpPr/>
          <p:nvPr/>
        </p:nvCxnSpPr>
        <p:spPr>
          <a:xfrm flipV="1">
            <a:off x="838200" y="2590800"/>
            <a:ext cx="7391400" cy="76200"/>
          </a:xfrm>
          <a:prstGeom prst="line">
            <a:avLst/>
          </a:prstGeom>
          <a:ln w="9525">
            <a:prstDash val="sysDot"/>
          </a:ln>
        </p:spPr>
        <p:style>
          <a:lnRef idx="2">
            <a:schemeClr val="accent2"/>
          </a:lnRef>
          <a:fillRef idx="1">
            <a:schemeClr val="lt1"/>
          </a:fillRef>
          <a:effectRef idx="0">
            <a:schemeClr val="accent2"/>
          </a:effectRef>
          <a:fontRef idx="minor">
            <a:schemeClr val="dk1"/>
          </a:fontRef>
        </p:style>
      </p:cxnSp>
      <p:graphicFrame>
        <p:nvGraphicFramePr>
          <p:cNvPr id="63489" name="Object 1"/>
          <p:cNvGraphicFramePr>
            <a:graphicFrameLocks noChangeAspect="1"/>
          </p:cNvGraphicFramePr>
          <p:nvPr/>
        </p:nvGraphicFramePr>
        <p:xfrm>
          <a:off x="3886200" y="4038600"/>
          <a:ext cx="4038600" cy="1728454"/>
        </p:xfrm>
        <a:graphic>
          <a:graphicData uri="http://schemas.openxmlformats.org/presentationml/2006/ole">
            <mc:AlternateContent xmlns:mc="http://schemas.openxmlformats.org/markup-compatibility/2006">
              <mc:Choice xmlns:v="urn:schemas-microsoft-com:vml" Requires="v">
                <p:oleObj spid="_x0000_s63504" name="Equation" r:id="rId3" imgW="2641320" imgH="1130040" progId="Equation.3">
                  <p:embed/>
                </p:oleObj>
              </mc:Choice>
              <mc:Fallback>
                <p:oleObj name="Equation" r:id="rId3" imgW="2641320" imgH="113004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4038600"/>
                        <a:ext cx="4038600" cy="1728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Investment Decision Rules</a:t>
            </a:r>
          </a:p>
        </p:txBody>
      </p:sp>
      <p:sp>
        <p:nvSpPr>
          <p:cNvPr id="3" name="Content Placeholder 2"/>
          <p:cNvSpPr>
            <a:spLocks noGrp="1"/>
          </p:cNvSpPr>
          <p:nvPr>
            <p:ph idx="1"/>
          </p:nvPr>
        </p:nvSpPr>
        <p:spPr/>
        <p:txBody>
          <a:bodyPr/>
          <a:lstStyle/>
          <a:p>
            <a:r>
              <a:rPr lang="en-US" dirty="0"/>
              <a:t>Net Present Value (NPV)</a:t>
            </a:r>
          </a:p>
          <a:p>
            <a:pPr lvl="1"/>
            <a:r>
              <a:rPr lang="en-US" dirty="0"/>
              <a:t>Comparison of the PV of an investment’s cash flows with an initial purchase prices</a:t>
            </a:r>
          </a:p>
          <a:p>
            <a:pPr lvl="1"/>
            <a:endParaRPr lang="en-US" dirty="0"/>
          </a:p>
          <a:p>
            <a:r>
              <a:rPr lang="en-US" dirty="0"/>
              <a:t>IRR Hurdle Rate</a:t>
            </a:r>
          </a:p>
          <a:p>
            <a:pPr lvl="1"/>
            <a:r>
              <a:rPr lang="en-US" dirty="0"/>
              <a:t>Given a purchase amount and cash flow projections, does the IRR exceed the required threshold investment return</a:t>
            </a:r>
          </a:p>
          <a:p>
            <a:pPr lvl="1"/>
            <a:endParaRPr lang="en-US" dirty="0"/>
          </a:p>
          <a:p>
            <a:pPr lvl="1"/>
            <a:endParaRPr lang="en-US" dirty="0"/>
          </a:p>
        </p:txBody>
      </p:sp>
      <p:sp>
        <p:nvSpPr>
          <p:cNvPr id="4" name="Slide Number Placeholder 3"/>
          <p:cNvSpPr>
            <a:spLocks noGrp="1"/>
          </p:cNvSpPr>
          <p:nvPr>
            <p:ph type="sldNum" sz="quarter" idx="10"/>
          </p:nvPr>
        </p:nvSpPr>
        <p:spPr/>
        <p:txBody>
          <a:bodyPr/>
          <a:lstStyle/>
          <a:p>
            <a:fld id="{C674EDA7-B996-475E-B155-5CBB23D664FF}" type="slidenum">
              <a:rPr lang="en-US" smtClean="0"/>
              <a:pPr/>
              <a:t>19</a:t>
            </a:fld>
            <a:endParaRPr lang="en-US" dirty="0"/>
          </a:p>
        </p:txBody>
      </p:sp>
      <p:sp>
        <p:nvSpPr>
          <p:cNvPr id="5" name="Footer Placeholder 4"/>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3400" y="152400"/>
            <a:ext cx="8229600" cy="1143000"/>
          </a:xfrm>
        </p:spPr>
        <p:txBody>
          <a:bodyPr/>
          <a:lstStyle/>
          <a:p>
            <a:r>
              <a:rPr lang="en-US" b="1" dirty="0"/>
              <a:t>NPV Investment Rule</a:t>
            </a:r>
          </a:p>
        </p:txBody>
      </p:sp>
      <p:sp>
        <p:nvSpPr>
          <p:cNvPr id="6147" name="Rectangle 3"/>
          <p:cNvSpPr>
            <a:spLocks noGrp="1" noChangeArrowheads="1"/>
          </p:cNvSpPr>
          <p:nvPr>
            <p:ph idx="1"/>
          </p:nvPr>
        </p:nvSpPr>
        <p:spPr>
          <a:xfrm>
            <a:off x="457200" y="1524000"/>
            <a:ext cx="8229600" cy="4983163"/>
          </a:xfrm>
        </p:spPr>
        <p:txBody>
          <a:bodyPr/>
          <a:lstStyle/>
          <a:p>
            <a:r>
              <a:rPr lang="en-US" sz="2000" dirty="0"/>
              <a:t>NPV for the typical commercial property investment deal is</a:t>
            </a:r>
          </a:p>
          <a:p>
            <a:pPr lvl="1"/>
            <a:r>
              <a:rPr lang="en-US" sz="2000" dirty="0"/>
              <a:t>If buying: NPV = Value of the property minus Price paid</a:t>
            </a:r>
          </a:p>
          <a:p>
            <a:pPr lvl="1"/>
            <a:r>
              <a:rPr lang="en-US" sz="2000" dirty="0"/>
              <a:t>If selling: NPV = Price obtained minus Value of the property</a:t>
            </a:r>
            <a:br>
              <a:rPr lang="en-US" sz="2000" dirty="0"/>
            </a:br>
            <a:r>
              <a:rPr lang="en-US" sz="2000" dirty="0"/>
              <a:t>…where the value of the property is the outcome of the DCF valuation procedure.</a:t>
            </a:r>
          </a:p>
          <a:p>
            <a:pPr lvl="1"/>
            <a:endParaRPr lang="en-US" sz="2000" dirty="0"/>
          </a:p>
          <a:p>
            <a:r>
              <a:rPr lang="en-US" sz="2000" dirty="0"/>
              <a:t>NPV investment decision rule </a:t>
            </a:r>
          </a:p>
          <a:p>
            <a:pPr lvl="1"/>
            <a:r>
              <a:rPr lang="en-US" sz="2000" dirty="0"/>
              <a:t>Maximize the NPV across all mutually exclusive alternatives</a:t>
            </a:r>
          </a:p>
          <a:p>
            <a:pPr lvl="1"/>
            <a:r>
              <a:rPr lang="en-US" sz="2000" dirty="0"/>
              <a:t>Never choose an alternative that has negative NPV</a:t>
            </a:r>
          </a:p>
          <a:p>
            <a:pPr lvl="1"/>
            <a:endParaRPr lang="en-US" sz="2000" dirty="0"/>
          </a:p>
          <a:p>
            <a:r>
              <a:rPr lang="en-US" sz="2000" dirty="0"/>
              <a:t>In other words: maximize the difference between the value of what you get and the value of what you give up. This approach highlights the benefits of proper DCF valuation for both the buyer and the seller.</a:t>
            </a:r>
          </a:p>
          <a:p>
            <a:pPr>
              <a:buFontTx/>
              <a:buNone/>
            </a:pPr>
            <a:endParaRPr lang="en-US" sz="2000" dirty="0"/>
          </a:p>
        </p:txBody>
      </p:sp>
      <p:sp>
        <p:nvSpPr>
          <p:cNvPr id="5" name="Footer Placeholder 4"/>
          <p:cNvSpPr>
            <a:spLocks noGrp="1"/>
          </p:cNvSpPr>
          <p:nvPr>
            <p:ph type="ftr" sz="quarter" idx="11"/>
          </p:nvPr>
        </p:nvSpPr>
        <p:spPr/>
        <p:txBody>
          <a:bodyPr/>
          <a:lstStyle/>
          <a:p>
            <a:r>
              <a:rPr lang="en-US" dirty="0"/>
              <a:t>©Joe Walsh  - Do not distribute without explicit permission.</a:t>
            </a:r>
          </a:p>
        </p:txBody>
      </p:sp>
      <p:sp>
        <p:nvSpPr>
          <p:cNvPr id="6" name="Slide Number Placeholder 5"/>
          <p:cNvSpPr>
            <a:spLocks noGrp="1"/>
          </p:cNvSpPr>
          <p:nvPr>
            <p:ph type="sldNum" sz="quarter" idx="4294967295"/>
          </p:nvPr>
        </p:nvSpPr>
        <p:spPr>
          <a:xfrm>
            <a:off x="6553200" y="6245225"/>
            <a:ext cx="2133600" cy="476250"/>
          </a:xfrm>
          <a:prstGeom prst="rect">
            <a:avLst/>
          </a:prstGeom>
        </p:spPr>
        <p:txBody>
          <a:bodyPr/>
          <a:lstStyle/>
          <a:p>
            <a:fld id="{3409C8D0-776A-43C4-9479-FEE41C208373}" type="slidenum">
              <a:rPr lang="en-US"/>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229600" cy="685800"/>
          </a:xfrm>
        </p:spPr>
        <p:txBody>
          <a:bodyPr/>
          <a:lstStyle/>
          <a:p>
            <a:r>
              <a:rPr lang="en-US" b="1" dirty="0"/>
              <a:t>IRR Hurdle Rate</a:t>
            </a:r>
          </a:p>
        </p:txBody>
      </p:sp>
      <p:sp>
        <p:nvSpPr>
          <p:cNvPr id="6147" name="Rectangle 3"/>
          <p:cNvSpPr>
            <a:spLocks noGrp="1" noChangeArrowheads="1"/>
          </p:cNvSpPr>
          <p:nvPr>
            <p:ph idx="1"/>
          </p:nvPr>
        </p:nvSpPr>
        <p:spPr>
          <a:xfrm>
            <a:off x="457200" y="1295400"/>
            <a:ext cx="8229600" cy="5211763"/>
          </a:xfrm>
        </p:spPr>
        <p:txBody>
          <a:bodyPr/>
          <a:lstStyle/>
          <a:p>
            <a:r>
              <a:rPr lang="en-US" sz="2400" dirty="0"/>
              <a:t>Hurdle rate, or IRR version of the investment decision rule (as an alternative to the NPV investment decision rule)</a:t>
            </a:r>
          </a:p>
          <a:p>
            <a:endParaRPr lang="en-US" sz="2400" dirty="0"/>
          </a:p>
          <a:p>
            <a:pPr lvl="1"/>
            <a:r>
              <a:rPr lang="en-US" sz="2400" dirty="0"/>
              <a:t>Maximize the difference between the project's expected IRR and the required return</a:t>
            </a:r>
          </a:p>
          <a:p>
            <a:pPr lvl="1"/>
            <a:endParaRPr lang="en-US" sz="2400" dirty="0"/>
          </a:p>
          <a:p>
            <a:pPr lvl="1"/>
            <a:r>
              <a:rPr lang="en-US" sz="2400" dirty="0"/>
              <a:t>Never do a deal with an expected IRR less than the required return (or “hurdle rate”, or the opportunity cost of capital) where the required return is the total return, including a risk premium that is determined by the characteristics of the investment.</a:t>
            </a:r>
          </a:p>
          <a:p>
            <a:pPr>
              <a:buFontTx/>
              <a:buNone/>
            </a:pPr>
            <a:endParaRPr lang="en-US" sz="2400" dirty="0"/>
          </a:p>
        </p:txBody>
      </p:sp>
      <p:sp>
        <p:nvSpPr>
          <p:cNvPr id="5" name="Footer Placeholder 4"/>
          <p:cNvSpPr>
            <a:spLocks noGrp="1"/>
          </p:cNvSpPr>
          <p:nvPr>
            <p:ph type="ftr" sz="quarter" idx="11"/>
          </p:nvPr>
        </p:nvSpPr>
        <p:spPr/>
        <p:txBody>
          <a:bodyPr/>
          <a:lstStyle/>
          <a:p>
            <a:r>
              <a:rPr lang="en-US" dirty="0"/>
              <a:t>©Joe Walsh  - Do not distribute without explicit permission.</a:t>
            </a:r>
          </a:p>
        </p:txBody>
      </p:sp>
      <p:sp>
        <p:nvSpPr>
          <p:cNvPr id="6" name="Slide Number Placeholder 5"/>
          <p:cNvSpPr>
            <a:spLocks noGrp="1"/>
          </p:cNvSpPr>
          <p:nvPr>
            <p:ph type="sldNum" sz="quarter" idx="4294967295"/>
          </p:nvPr>
        </p:nvSpPr>
        <p:spPr>
          <a:xfrm>
            <a:off x="6553200" y="6245225"/>
            <a:ext cx="2133600" cy="476250"/>
          </a:xfrm>
          <a:prstGeom prst="rect">
            <a:avLst/>
          </a:prstGeom>
        </p:spPr>
        <p:txBody>
          <a:bodyPr/>
          <a:lstStyle/>
          <a:p>
            <a:fld id="{3409C8D0-776A-43C4-9479-FEE41C208373}" type="slidenum">
              <a:rPr lang="en-US"/>
              <a:pPr/>
              <a:t>21</a:t>
            </a:fld>
            <a:endParaRPr lang="en-US"/>
          </a:p>
        </p:txBody>
      </p:sp>
    </p:spTree>
  </p:cSld>
  <p:clrMapOvr>
    <a:masterClrMapping/>
  </p:clrMapOvr>
</p:sld>
</file>

<file path=ppt/theme/theme1.xml><?xml version="1.0" encoding="utf-8"?>
<a:theme xmlns:a="http://schemas.openxmlformats.org/drawingml/2006/main" name="Joe Walsh, Generic Copyright">
  <a:themeElements>
    <a:clrScheme name="">
      <a:dk1>
        <a:srgbClr val="000000"/>
      </a:dk1>
      <a:lt1>
        <a:srgbClr val="FFFFFF"/>
      </a:lt1>
      <a:dk2>
        <a:srgbClr val="A92026"/>
      </a:dk2>
      <a:lt2>
        <a:srgbClr val="808080"/>
      </a:lt2>
      <a:accent1>
        <a:srgbClr val="C19A25"/>
      </a:accent1>
      <a:accent2>
        <a:srgbClr val="A41E21"/>
      </a:accent2>
      <a:accent3>
        <a:srgbClr val="FFFFFF"/>
      </a:accent3>
      <a:accent4>
        <a:srgbClr val="000000"/>
      </a:accent4>
      <a:accent5>
        <a:srgbClr val="DDCAAC"/>
      </a:accent5>
      <a:accent6>
        <a:srgbClr val="941A1D"/>
      </a:accent6>
      <a:hlink>
        <a:srgbClr val="929199"/>
      </a:hlink>
      <a:folHlink>
        <a:srgbClr val="6F6E6D"/>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UW_PPT_white</Template>
  <TotalTime>4176</TotalTime>
  <Words>1822</Words>
  <Application>Microsoft Office PowerPoint</Application>
  <PresentationFormat>On-screen Show (4:3)</PresentationFormat>
  <Paragraphs>329</Paragraphs>
  <Slides>21</Slides>
  <Notes>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21</vt:i4>
      </vt:variant>
    </vt:vector>
  </HeadingPairs>
  <TitlesOfParts>
    <vt:vector size="27" baseType="lpstr">
      <vt:lpstr>Arial</vt:lpstr>
      <vt:lpstr>Calibri</vt:lpstr>
      <vt:lpstr>Times New Roman</vt:lpstr>
      <vt:lpstr>Joe Walsh, Generic Copyright</vt:lpstr>
      <vt:lpstr>Equation.3</vt:lpstr>
      <vt:lpstr>Equation</vt:lpstr>
      <vt:lpstr>Present Value Mathematics and Investment Decision Rules</vt:lpstr>
      <vt:lpstr>Readings and Resources</vt:lpstr>
      <vt:lpstr>PV Math in Real Estate</vt:lpstr>
      <vt:lpstr>Terms and Variable Names</vt:lpstr>
      <vt:lpstr>Time Value of Money</vt:lpstr>
      <vt:lpstr>The Basic Relationship</vt:lpstr>
      <vt:lpstr>“Nominal Annual” vs.  “Effective Annual” Rates</vt:lpstr>
      <vt:lpstr>“Bond-Equivalent Yield” and  “Mortgage Equivalent Yield”</vt:lpstr>
      <vt:lpstr>6 Basic Problem Types</vt:lpstr>
      <vt:lpstr>Present Value of a Future Amount</vt:lpstr>
      <vt:lpstr>Present Value of a Level Annuity</vt:lpstr>
      <vt:lpstr>Future Value of a Present Amount</vt:lpstr>
      <vt:lpstr>Future Value of a Level Annuity</vt:lpstr>
      <vt:lpstr>Level Annuity to Amortize a Present Amount</vt:lpstr>
      <vt:lpstr>Level Annuity to Reach a Future Value</vt:lpstr>
      <vt:lpstr>Perpetuity Formulas</vt:lpstr>
      <vt:lpstr>PV of a Constant Annuity in Perpetuity</vt:lpstr>
      <vt:lpstr>PV of a Constant Growth Annuity in Perpetuity</vt:lpstr>
      <vt:lpstr>Investment Decision Rules</vt:lpstr>
      <vt:lpstr>NPV Investment Rule</vt:lpstr>
      <vt:lpstr>IRR Hurdle Rate</vt:lpstr>
    </vt:vector>
  </TitlesOfParts>
  <Company>The Yates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Lecture:</dc:title>
  <dc:creator>Joe Walsh</dc:creator>
  <cp:lastModifiedBy>Jaime Pérez Luque</cp:lastModifiedBy>
  <cp:revision>221</cp:revision>
  <dcterms:created xsi:type="dcterms:W3CDTF">2000-11-21T12:50:15Z</dcterms:created>
  <dcterms:modified xsi:type="dcterms:W3CDTF">2020-10-12T15:19:37Z</dcterms:modified>
</cp:coreProperties>
</file>