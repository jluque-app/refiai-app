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794" r:id="rId2"/>
  </p:sldMasterIdLst>
  <p:notesMasterIdLst>
    <p:notesMasterId r:id="rId35"/>
  </p:notesMasterIdLst>
  <p:sldIdLst>
    <p:sldId id="256" r:id="rId3"/>
    <p:sldId id="568" r:id="rId4"/>
    <p:sldId id="476" r:id="rId5"/>
    <p:sldId id="570" r:id="rId6"/>
    <p:sldId id="572" r:id="rId7"/>
    <p:sldId id="573" r:id="rId8"/>
    <p:sldId id="477" r:id="rId9"/>
    <p:sldId id="480" r:id="rId10"/>
    <p:sldId id="502" r:id="rId11"/>
    <p:sldId id="504" r:id="rId12"/>
    <p:sldId id="505" r:id="rId13"/>
    <p:sldId id="484" r:id="rId14"/>
    <p:sldId id="485" r:id="rId15"/>
    <p:sldId id="488" r:id="rId16"/>
    <p:sldId id="487" r:id="rId17"/>
    <p:sldId id="507" r:id="rId18"/>
    <p:sldId id="508" r:id="rId19"/>
    <p:sldId id="510" r:id="rId20"/>
    <p:sldId id="512" r:id="rId21"/>
    <p:sldId id="566" r:id="rId22"/>
    <p:sldId id="489" r:id="rId23"/>
    <p:sldId id="491" r:id="rId24"/>
    <p:sldId id="520" r:id="rId25"/>
    <p:sldId id="519" r:id="rId26"/>
    <p:sldId id="545" r:id="rId27"/>
    <p:sldId id="555" r:id="rId28"/>
    <p:sldId id="494" r:id="rId29"/>
    <p:sldId id="551" r:id="rId30"/>
    <p:sldId id="552" r:id="rId31"/>
    <p:sldId id="553" r:id="rId32"/>
    <p:sldId id="549" r:id="rId33"/>
    <p:sldId id="550" r:id="rId34"/>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1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1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1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1400" kern="1200">
        <a:solidFill>
          <a:schemeClr val="tx1"/>
        </a:solidFill>
        <a:latin typeface="Times New Roman" pitchFamily="18" charset="0"/>
        <a:ea typeface="+mn-ea"/>
        <a:cs typeface="+mn-cs"/>
      </a:defRPr>
    </a:lvl5pPr>
    <a:lvl6pPr marL="2286000" algn="l" defTabSz="914400" rtl="0" eaLnBrk="1" latinLnBrk="0" hangingPunct="1">
      <a:defRPr sz="1400" kern="1200">
        <a:solidFill>
          <a:schemeClr val="tx1"/>
        </a:solidFill>
        <a:latin typeface="Times New Roman" pitchFamily="18" charset="0"/>
        <a:ea typeface="+mn-ea"/>
        <a:cs typeface="+mn-cs"/>
      </a:defRPr>
    </a:lvl6pPr>
    <a:lvl7pPr marL="2743200" algn="l" defTabSz="914400" rtl="0" eaLnBrk="1" latinLnBrk="0" hangingPunct="1">
      <a:defRPr sz="1400" kern="1200">
        <a:solidFill>
          <a:schemeClr val="tx1"/>
        </a:solidFill>
        <a:latin typeface="Times New Roman" pitchFamily="18" charset="0"/>
        <a:ea typeface="+mn-ea"/>
        <a:cs typeface="+mn-cs"/>
      </a:defRPr>
    </a:lvl7pPr>
    <a:lvl8pPr marL="3200400" algn="l" defTabSz="914400" rtl="0" eaLnBrk="1" latinLnBrk="0" hangingPunct="1">
      <a:defRPr sz="1400" kern="1200">
        <a:solidFill>
          <a:schemeClr val="tx1"/>
        </a:solidFill>
        <a:latin typeface="Times New Roman" pitchFamily="18" charset="0"/>
        <a:ea typeface="+mn-ea"/>
        <a:cs typeface="+mn-cs"/>
      </a:defRPr>
    </a:lvl8pPr>
    <a:lvl9pPr marL="3657600" algn="l" defTabSz="914400" rtl="0" eaLnBrk="1" latinLnBrk="0" hangingPunct="1">
      <a:defRPr sz="1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669900"/>
    <a:srgbClr val="FF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15620" autoAdjust="0"/>
    <p:restoredTop sz="94660" autoAdjust="0"/>
  </p:normalViewPr>
  <p:slideViewPr>
    <p:cSldViewPr>
      <p:cViewPr varScale="1">
        <p:scale>
          <a:sx n="167" d="100"/>
          <a:sy n="167" d="100"/>
        </p:scale>
        <p:origin x="-267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9.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14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23142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880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3142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3143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23143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09D96655-3120-4B55-9221-9993996E9242}" type="slidenum">
              <a:rPr lang="en-US"/>
              <a:pPr/>
              <a:t>‹#›</a:t>
            </a:fld>
            <a:endParaRPr lang="en-US"/>
          </a:p>
        </p:txBody>
      </p:sp>
    </p:spTree>
    <p:extLst>
      <p:ext uri="{BB962C8B-B14F-4D97-AF65-F5344CB8AC3E}">
        <p14:creationId xmlns:p14="http://schemas.microsoft.com/office/powerpoint/2010/main" val="37759920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miter lim="800000"/>
            <a:headEnd/>
            <a:tailEnd/>
          </a:ln>
        </p:spPr>
        <p:txBody>
          <a:bodyPr/>
          <a:lstStyle/>
          <a:p>
            <a:fld id="{63E158C3-228B-4708-9D5B-ACF3A7A2635D}" type="slidenum">
              <a:rPr lang="en-US">
                <a:solidFill>
                  <a:srgbClr val="000000"/>
                </a:solidFill>
              </a:rPr>
              <a:pPr/>
              <a:t>16</a:t>
            </a:fld>
            <a:endParaRPr lang="en-US">
              <a:solidFill>
                <a:srgbClr val="000000"/>
              </a:solidFill>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r>
              <a:rPr lang="en-US" smtClean="0"/>
              <a:t>The expected CFs for the IO tranche are 75*.02 = $1.5M in year 1, and 25*.02 = $0.5M in year 2, so the WAM is (1.5/(1.5+0.5))*1 + (0.5/(1.5+0.5))*2 = 1.25 yrs; the mkt value is $1.5M/1.14 + $0.5M/1.14</a:t>
            </a:r>
            <a:r>
              <a:rPr lang="en-US" baseline="30000" smtClean="0"/>
              <a:t>2</a:t>
            </a:r>
            <a:r>
              <a:rPr lang="en-US" smtClean="0"/>
              <a:t> = $1.70M.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miter lim="800000"/>
            <a:headEnd/>
            <a:tailEnd/>
          </a:ln>
        </p:spPr>
        <p:txBody>
          <a:bodyPr/>
          <a:lstStyle/>
          <a:p>
            <a:fld id="{5EB58708-51D3-4204-9AF2-609891430742}" type="slidenum">
              <a:rPr lang="en-US">
                <a:solidFill>
                  <a:srgbClr val="000000"/>
                </a:solidFill>
              </a:rPr>
              <a:pPr/>
              <a:t>17</a:t>
            </a:fld>
            <a:endParaRPr lang="en-US">
              <a:solidFill>
                <a:srgbClr val="000000"/>
              </a:solidFill>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r>
              <a:rPr lang="en-US" smtClean="0"/>
              <a:t>Loss severity issue described here for B tranche is sometimes referred to as “levered debt”.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miter lim="800000"/>
            <a:headEnd/>
            <a:tailEnd/>
          </a:ln>
        </p:spPr>
        <p:txBody>
          <a:bodyPr/>
          <a:lstStyle/>
          <a:p>
            <a:fld id="{7CA07583-D081-4DF0-81C9-92AE7F64150A}" type="slidenum">
              <a:rPr lang="en-US">
                <a:solidFill>
                  <a:srgbClr val="000000"/>
                </a:solidFill>
              </a:rPr>
              <a:pPr/>
              <a:t>18</a:t>
            </a:fld>
            <a:endParaRPr lang="en-US">
              <a:solidFill>
                <a:srgbClr val="000000"/>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p:spPr>
        <p:txBody>
          <a:bodyPr/>
          <a:lstStyle/>
          <a:p>
            <a:r>
              <a:rPr lang="en-US" smtClean="0"/>
              <a:t>Loss severity issue described here for B tranche is sometimes referred to as “levered debt”.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miter lim="800000"/>
            <a:headEnd/>
            <a:tailEnd/>
          </a:ln>
        </p:spPr>
        <p:txBody>
          <a:bodyPr/>
          <a:lstStyle/>
          <a:p>
            <a:fld id="{159A6C9A-29D2-4C65-88B4-F7457D1E4B60}" type="slidenum">
              <a:rPr lang="en-US">
                <a:solidFill>
                  <a:srgbClr val="000000"/>
                </a:solidFill>
              </a:rPr>
              <a:pPr/>
              <a:t>19</a:t>
            </a:fld>
            <a:endParaRPr lang="en-US">
              <a:solidFill>
                <a:srgbClr val="000000"/>
              </a:solidFill>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r>
              <a:rPr lang="en-US" smtClean="0"/>
              <a:t>Loss severity issue described here for B tranche is sometimes referred to as “levered debt”.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miter lim="800000"/>
            <a:headEnd/>
            <a:tailEnd/>
          </a:ln>
        </p:spPr>
        <p:txBody>
          <a:bodyPr/>
          <a:lstStyle/>
          <a:p>
            <a:fld id="{57BF9A9E-9ADA-4628-8500-2FE91132AEC3}" type="slidenum">
              <a:rPr lang="en-US">
                <a:solidFill>
                  <a:srgbClr val="000000"/>
                </a:solidFill>
              </a:rPr>
              <a:pPr/>
              <a:t>20</a:t>
            </a:fld>
            <a:endParaRPr lang="en-US">
              <a:solidFill>
                <a:srgbClr val="000000"/>
              </a:solidFill>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p:spPr>
        <p:txBody>
          <a:bodyPr/>
          <a:lstStyle/>
          <a:p>
            <a:r>
              <a:rPr lang="en-US" smtClean="0"/>
              <a:t>Loss severity issue described here for B tranche is sometimes referred to as “levered debt”.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6741" name="Rectangle 2053"/>
          <p:cNvSpPr>
            <a:spLocks noGrp="1" noChangeArrowheads="1"/>
          </p:cNvSpPr>
          <p:nvPr>
            <p:ph type="ctrTitle" sz="quarter"/>
          </p:nvPr>
        </p:nvSpPr>
        <p:spPr>
          <a:xfrm>
            <a:off x="1293813" y="762000"/>
            <a:ext cx="7772400" cy="1143000"/>
          </a:xfrm>
        </p:spPr>
        <p:txBody>
          <a:bodyPr anchor="b"/>
          <a:lstStyle>
            <a:lvl1pPr>
              <a:defRPr/>
            </a:lvl1pPr>
          </a:lstStyle>
          <a:p>
            <a:pPr lvl="0"/>
            <a:r>
              <a:rPr lang="en-US" noProof="0" smtClean="0"/>
              <a:t>Click to edit Master title style</a:t>
            </a:r>
          </a:p>
        </p:txBody>
      </p:sp>
      <p:sp>
        <p:nvSpPr>
          <p:cNvPr id="116742" name="Rectangle 2054"/>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anose="05000000000000000000" pitchFamily="2" charset="2"/>
              <a:buNone/>
              <a:defRPr/>
            </a:lvl1pPr>
          </a:lstStyle>
          <a:p>
            <a:pPr lvl="0"/>
            <a:r>
              <a:rPr lang="en-US" noProof="0" smtClean="0"/>
              <a:t>Click to edit Master subtitle style</a:t>
            </a:r>
          </a:p>
        </p:txBody>
      </p:sp>
      <p:sp>
        <p:nvSpPr>
          <p:cNvPr id="7" name="Rectangle 2055"/>
          <p:cNvSpPr>
            <a:spLocks noGrp="1" noChangeArrowheads="1"/>
          </p:cNvSpPr>
          <p:nvPr>
            <p:ph type="dt" sz="quarter"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8" name="Rectangle 2056"/>
          <p:cNvSpPr>
            <a:spLocks noGrp="1" noChangeArrowheads="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9" name="Rectangle 2057"/>
          <p:cNvSpPr>
            <a:spLocks noGrp="1" noChangeArrowheads="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924D6021-A509-47F1-A69F-DEFE333C4314}"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5" name="Footer Placeholder 4"/>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BE2EE7B0-3F58-4064-A6B1-2C77F4CA9B2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5" name="Footer Placeholder 4"/>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46489DA5-A00B-4EEC-A07C-8F6ED33C772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6" name="Footer Placeholder 5"/>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D6B18B86-434C-4D84-B885-D236CB4AAB4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8" name="Footer Placeholder 7"/>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9" name="Slide Number Placeholder 8"/>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6BB2E353-563F-4FB8-821C-21E67BA493DC}"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4" name="Footer Placeholder 3"/>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5" name="Slide Number Placeholder 4"/>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2B06E369-FECA-4591-A201-ACDCFA4A6FF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3" name="Footer Placeholder 2"/>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4" name="Slide Number Placeholder 3"/>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48A99278-0183-414C-88A9-7F7A59B915A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6" name="Footer Placeholder 5"/>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4DC157F7-23F4-460E-B154-F476E3083719}"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6" name="Footer Placeholder 5"/>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117F7B35-D885-45D5-8AB9-0F6FA4E6DDB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5" name="Footer Placeholder 4"/>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ED60FA1C-9DAB-4CF6-B602-B03638FAAF01}"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5" name="Footer Placeholder 4"/>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95310D84-C772-4AD9-B065-10D90C618BC1}"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en-US"/>
          </a:p>
        </p:txBody>
      </p:sp>
      <p:sp>
        <p:nvSpPr>
          <p:cNvPr id="6" name="Footer Placeholder 5"/>
          <p:cNvSpPr>
            <a:spLocks noGrp="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fld id="{57E72140-E184-4661-8B7E-CF38F25CC1BA}"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eaLnBrk="0" hangingPunc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p:txBody>
          <a:bodyPr/>
          <a:lstStyle>
            <a:lvl1pPr eaLnBrk="0" hangingPunct="0">
              <a:defRPr/>
            </a:lvl1pPr>
          </a:lstStyle>
          <a:p>
            <a:fld id="{315228F3-8248-45B8-B083-E5EECCBF0AC3}"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eaLnBrk="0" hangingPunc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p:txBody>
          <a:bodyPr/>
          <a:lstStyle>
            <a:lvl1pPr eaLnBrk="0" hangingPunct="0">
              <a:defRPr/>
            </a:lvl1pPr>
          </a:lstStyle>
          <a:p>
            <a:fld id="{F0AFD944-3F92-445D-9A86-11B3FB3F3DD3}"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eaLnBrk="0" hangingPunc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p:txBody>
          <a:bodyPr/>
          <a:lstStyle>
            <a:lvl1pPr eaLnBrk="0" hangingPunct="0">
              <a:defRPr/>
            </a:lvl1pPr>
          </a:lstStyle>
          <a:p>
            <a:fld id="{C28D5348-B0AB-48FF-8BC0-18F201F7EB46}"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eaLnBrk="0" hangingPunc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p:txBody>
          <a:bodyPr/>
          <a:lstStyle>
            <a:lvl1pPr eaLnBrk="0" hangingPunct="0">
              <a:defRPr/>
            </a:lvl1pPr>
          </a:lstStyle>
          <a:p>
            <a:fld id="{E40CD869-3DBF-4115-829A-074D7FCEDA8C}"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eaLnBrk="0" hangingPunct="0">
              <a:defRPr/>
            </a:lvl1pPr>
          </a:lstStyle>
          <a:p>
            <a:pPr>
              <a:defRPr/>
            </a:pPr>
            <a:endParaRPr lang="en-US"/>
          </a:p>
        </p:txBody>
      </p:sp>
      <p:sp>
        <p:nvSpPr>
          <p:cNvPr id="8" name="Footer Placeholder 7"/>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9" name="Slide Number Placeholder 8"/>
          <p:cNvSpPr>
            <a:spLocks noGrp="1"/>
          </p:cNvSpPr>
          <p:nvPr>
            <p:ph type="sldNum" sz="quarter" idx="12"/>
          </p:nvPr>
        </p:nvSpPr>
        <p:spPr/>
        <p:txBody>
          <a:bodyPr/>
          <a:lstStyle>
            <a:lvl1pPr eaLnBrk="0" hangingPunct="0">
              <a:defRPr/>
            </a:lvl1pPr>
          </a:lstStyle>
          <a:p>
            <a:fld id="{3B16159A-663E-48AE-85A8-41C956126D50}"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eaLnBrk="0" hangingPunct="0">
              <a:defRPr/>
            </a:lvl1pPr>
          </a:lstStyle>
          <a:p>
            <a:pPr>
              <a:defRPr/>
            </a:pPr>
            <a:endParaRPr lang="en-US"/>
          </a:p>
        </p:txBody>
      </p:sp>
      <p:sp>
        <p:nvSpPr>
          <p:cNvPr id="4" name="Footer Placeholder 3"/>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5" name="Slide Number Placeholder 4"/>
          <p:cNvSpPr>
            <a:spLocks noGrp="1"/>
          </p:cNvSpPr>
          <p:nvPr>
            <p:ph type="sldNum" sz="quarter" idx="12"/>
          </p:nvPr>
        </p:nvSpPr>
        <p:spPr/>
        <p:txBody>
          <a:bodyPr/>
          <a:lstStyle>
            <a:lvl1pPr eaLnBrk="0" hangingPunct="0">
              <a:defRPr/>
            </a:lvl1pPr>
          </a:lstStyle>
          <a:p>
            <a:fld id="{5CEEF850-ED94-4017-B208-0FC5EC69EB03}"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eaLnBrk="0" hangingPunct="0">
              <a:defRPr/>
            </a:lvl1pPr>
          </a:lstStyle>
          <a:p>
            <a:pPr>
              <a:defRPr/>
            </a:pPr>
            <a:endParaRPr lang="en-US"/>
          </a:p>
        </p:txBody>
      </p:sp>
      <p:sp>
        <p:nvSpPr>
          <p:cNvPr id="3" name="Footer Placeholder 2"/>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4" name="Slide Number Placeholder 3"/>
          <p:cNvSpPr>
            <a:spLocks noGrp="1"/>
          </p:cNvSpPr>
          <p:nvPr>
            <p:ph type="sldNum" sz="quarter" idx="12"/>
          </p:nvPr>
        </p:nvSpPr>
        <p:spPr/>
        <p:txBody>
          <a:bodyPr/>
          <a:lstStyle>
            <a:lvl1pPr eaLnBrk="0" hangingPunct="0">
              <a:defRPr/>
            </a:lvl1pPr>
          </a:lstStyle>
          <a:p>
            <a:fld id="{5CB8043B-13A3-4432-8CD3-16C4F941CB81}"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eaLnBrk="0" hangingPunc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p:txBody>
          <a:bodyPr/>
          <a:lstStyle>
            <a:lvl1pPr eaLnBrk="0" hangingPunct="0">
              <a:defRPr/>
            </a:lvl1pPr>
          </a:lstStyle>
          <a:p>
            <a:fld id="{7E131E64-0A09-4C21-A045-BF32F0D9439C}"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eaLnBrk="0" hangingPunc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7" name="Slide Number Placeholder 6"/>
          <p:cNvSpPr>
            <a:spLocks noGrp="1"/>
          </p:cNvSpPr>
          <p:nvPr>
            <p:ph type="sldNum" sz="quarter" idx="12"/>
          </p:nvPr>
        </p:nvSpPr>
        <p:spPr/>
        <p:txBody>
          <a:bodyPr/>
          <a:lstStyle>
            <a:lvl1pPr eaLnBrk="0" hangingPunct="0">
              <a:defRPr/>
            </a:lvl1pPr>
          </a:lstStyle>
          <a:p>
            <a:fld id="{E42802BE-3FFB-4361-834B-AAAAE36709D4}"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eaLnBrk="0" hangingPunc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p:txBody>
          <a:bodyPr/>
          <a:lstStyle>
            <a:lvl1pPr eaLnBrk="0" hangingPunct="0">
              <a:defRPr/>
            </a:lvl1pPr>
          </a:lstStyle>
          <a:p>
            <a:fld id="{E13AAF59-6754-4F64-B3F1-BBB99385ECC7}"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eaLnBrk="0" hangingPunc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lvl1pPr>
          </a:lstStyle>
          <a:p>
            <a:pPr>
              <a:defRPr/>
            </a:pPr>
            <a:r>
              <a:rPr lang="en-US" smtClean="0"/>
              <a:t>© 2014 OnCourse Learning. All Rights Reserved.</a:t>
            </a:r>
            <a:endParaRPr lang="en-US"/>
          </a:p>
        </p:txBody>
      </p:sp>
      <p:sp>
        <p:nvSpPr>
          <p:cNvPr id="6" name="Slide Number Placeholder 5"/>
          <p:cNvSpPr>
            <a:spLocks noGrp="1"/>
          </p:cNvSpPr>
          <p:nvPr>
            <p:ph type="sldNum" sz="quarter" idx="12"/>
          </p:nvPr>
        </p:nvSpPr>
        <p:spPr/>
        <p:txBody>
          <a:bodyPr/>
          <a:lstStyle>
            <a:lvl1pPr eaLnBrk="0" hangingPunct="0">
              <a:defRPr/>
            </a:lvl1pPr>
          </a:lstStyle>
          <a:p>
            <a:fld id="{F423221C-2295-42DC-8E3D-C70B7AC38F71}"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15717" name="Rectangle 5"/>
          <p:cNvSpPr>
            <a:spLocks noGrp="1" noChangeArrowheads="1"/>
          </p:cNvSpPr>
          <p:nvPr>
            <p:ph type="title"/>
          </p:nvPr>
        </p:nvSpPr>
        <p:spPr bwMode="auto">
          <a:xfrm>
            <a:off x="685800"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dirty="0" smtClean="0"/>
              <a:t>Click to edit Master title style</a:t>
            </a:r>
          </a:p>
        </p:txBody>
      </p:sp>
      <p:sp>
        <p:nvSpPr>
          <p:cNvPr id="115719" name="Rectangle 7"/>
          <p:cNvSpPr>
            <a:spLocks noGrp="1" noChangeArrowheads="1"/>
          </p:cNvSpPr>
          <p:nvPr>
            <p:ph type="ftr" sz="quarter" idx="3"/>
          </p:nvPr>
        </p:nvSpPr>
        <p:spPr bwMode="auto">
          <a:xfrm>
            <a:off x="2743200" y="6400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ctr" eaLnBrk="1" hangingPunct="1">
              <a:defRPr sz="1200">
                <a:latin typeface="Calibri" pitchFamily="34" charset="0"/>
              </a:defRPr>
            </a:lvl1pPr>
          </a:lstStyle>
          <a:p>
            <a:pPr>
              <a:defRPr/>
            </a:pPr>
            <a:r>
              <a:rPr lang="en-US" smtClean="0"/>
              <a:t>© 2014 OnCourse Learning. All Rights Reserved.</a:t>
            </a:r>
            <a:endParaRPr lang="en-US" dirty="0"/>
          </a:p>
        </p:txBody>
      </p:sp>
      <p:sp>
        <p:nvSpPr>
          <p:cNvPr id="115720" name="Rectangle 8"/>
          <p:cNvSpPr>
            <a:spLocks noGrp="1" noChangeArrowheads="1"/>
          </p:cNvSpPr>
          <p:nvPr>
            <p:ph type="sldNum" sz="quarter" idx="4"/>
          </p:nvPr>
        </p:nvSpPr>
        <p:spPr bwMode="auto">
          <a:xfrm>
            <a:off x="6553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eaLnBrk="1" hangingPunct="1">
              <a:defRPr sz="1200">
                <a:latin typeface="Calibri" pitchFamily="34" charset="0"/>
              </a:defRPr>
            </a:lvl1pPr>
          </a:lstStyle>
          <a:p>
            <a:fld id="{AA128E88-0639-4ECF-B08A-FB2F19532BA8}" type="slidenum">
              <a:rPr lang="en-US" smtClean="0"/>
              <a:pPr/>
              <a:t>‹#›</a:t>
            </a:fld>
            <a:endParaRPr lang="en-US"/>
          </a:p>
        </p:txBody>
      </p:sp>
      <p:sp>
        <p:nvSpPr>
          <p:cNvPr id="1031" name="Rectangle 9"/>
          <p:cNvSpPr>
            <a:spLocks noGrp="1" noChangeArrowheads="1"/>
          </p:cNvSpPr>
          <p:nvPr>
            <p:ph type="body" idx="1"/>
          </p:nvPr>
        </p:nvSpPr>
        <p:spPr bwMode="auto">
          <a:xfrm>
            <a:off x="685800" y="1295400"/>
            <a:ext cx="77724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527" r:id="rId4"/>
    <p:sldLayoutId id="2147484528" r:id="rId5"/>
    <p:sldLayoutId id="2147484529" r:id="rId6"/>
    <p:sldLayoutId id="2147484530" r:id="rId7"/>
    <p:sldLayoutId id="2147484531" r:id="rId8"/>
    <p:sldLayoutId id="2147484532" r:id="rId9"/>
    <p:sldLayoutId id="2147484533" r:id="rId10"/>
    <p:sldLayoutId id="2147484534" r:id="rId11"/>
    <p:sldLayoutId id="2147484535" r:id="rId12"/>
  </p:sldLayoutIdLst>
  <p:hf hdr="0" dt="0"/>
  <p:txStyles>
    <p:titleStyle>
      <a:lvl1pPr algn="ctr" rtl="0" eaLnBrk="0" fontAlgn="base" hangingPunct="0">
        <a:spcBef>
          <a:spcPct val="0"/>
        </a:spcBef>
        <a:spcAft>
          <a:spcPct val="0"/>
        </a:spcAft>
        <a:defRPr sz="3600" kern="12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9pPr>
    </p:titleStyle>
    <p:bodyStyle>
      <a:lvl1pPr marL="342900" indent="-342900" algn="l" rtl="0" eaLnBrk="0" fontAlgn="base" hangingPunct="0">
        <a:spcBef>
          <a:spcPct val="20000"/>
        </a:spcBef>
        <a:spcAft>
          <a:spcPct val="0"/>
        </a:spcAft>
        <a:buClr>
          <a:schemeClr val="accent2"/>
        </a:buClr>
        <a:buSzPct val="80000"/>
        <a:buFont typeface="Wingdings" pitchFamily="2" charset="2"/>
        <a:buChar char="l"/>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i="0">
                <a:solidFill>
                  <a:srgbClr val="000000"/>
                </a:solidFill>
                <a:effectLst/>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i="0">
                <a:solidFill>
                  <a:srgbClr val="000000"/>
                </a:solidFill>
                <a:effectLst/>
                <a:latin typeface="+mn-lt"/>
              </a:defRPr>
            </a:lvl1pPr>
          </a:lstStyle>
          <a:p>
            <a:pPr>
              <a:defRPr/>
            </a:pPr>
            <a:r>
              <a:rPr lang="en-US" smtClean="0"/>
              <a:t>© 2014 OnCourse Learning. All Rights Reserved.</a:t>
            </a: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solidFill>
                  <a:srgbClr val="000000"/>
                </a:solidFill>
                <a:latin typeface="Arial" charset="0"/>
              </a:defRPr>
            </a:lvl1pPr>
          </a:lstStyle>
          <a:p>
            <a:fld id="{2C01107D-FD5E-48CE-B8EA-17DA3D0EFD8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547" r:id="rId1"/>
    <p:sldLayoutId id="2147484548" r:id="rId2"/>
    <p:sldLayoutId id="2147484549" r:id="rId3"/>
    <p:sldLayoutId id="2147484550" r:id="rId4"/>
    <p:sldLayoutId id="2147484551" r:id="rId5"/>
    <p:sldLayoutId id="2147484552" r:id="rId6"/>
    <p:sldLayoutId id="2147484553" r:id="rId7"/>
    <p:sldLayoutId id="2147484554" r:id="rId8"/>
    <p:sldLayoutId id="2147484555" r:id="rId9"/>
    <p:sldLayoutId id="2147484556" r:id="rId10"/>
    <p:sldLayoutId id="2147484557"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notesSlide" Target="../notesSlides/notesSlide4.xml"/><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4.wmf"/><Relationship Id="rId5" Type="http://schemas.openxmlformats.org/officeDocument/2006/relationships/oleObject" Target="../embeddings/oleObject3.bin"/><Relationship Id="rId10" Type="http://schemas.openxmlformats.org/officeDocument/2006/relationships/image" Target="../media/image15.wmf"/><Relationship Id="rId4" Type="http://schemas.openxmlformats.org/officeDocument/2006/relationships/image" Target="../media/image12.emf"/><Relationship Id="rId9"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90600" y="762000"/>
            <a:ext cx="6935788"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r>
              <a:rPr lang="en-US" b="1" dirty="0" smtClean="0"/>
              <a:t>Chapter 20</a:t>
            </a:r>
          </a:p>
        </p:txBody>
      </p:sp>
      <p:sp>
        <p:nvSpPr>
          <p:cNvPr id="89091" name="Rectangle 3"/>
          <p:cNvSpPr>
            <a:spLocks noGrp="1" noChangeArrowheads="1"/>
          </p:cNvSpPr>
          <p:nvPr>
            <p:ph type="subTitle" idx="1"/>
          </p:nvPr>
        </p:nvSpPr>
        <p:spPr>
          <a:xfrm>
            <a:off x="1325563" y="2514600"/>
            <a:ext cx="6400800" cy="1752600"/>
          </a:xfrm>
        </p:spPr>
        <p:txBody>
          <a:bodyPr/>
          <a:lstStyle/>
          <a:p>
            <a:pPr eaLnBrk="1" hangingPunct="1"/>
            <a:r>
              <a:rPr lang="en-US" b="1" smtClean="0">
                <a:latin typeface="Arial" charset="0"/>
              </a:rPr>
              <a:t>Commercial Mortgage Backed Securities</a:t>
            </a:r>
            <a:endParaRPr lang="en-US" smtClean="0">
              <a:latin typeface="Arial" charset="0"/>
            </a:endParaRPr>
          </a:p>
        </p:txBody>
      </p:sp>
      <p:sp>
        <p:nvSpPr>
          <p:cNvPr id="4" name="Slide Number Placeholder 3"/>
          <p:cNvSpPr>
            <a:spLocks noGrp="1"/>
          </p:cNvSpPr>
          <p:nvPr>
            <p:ph type="sldNum" sz="quarter" idx="12"/>
          </p:nvPr>
        </p:nvSpPr>
        <p:spPr/>
        <p:txBody>
          <a:bodyPr/>
          <a:lstStyle/>
          <a:p>
            <a:fld id="{924D6021-A509-47F1-A69F-DEFE333C4314}" type="slidenum">
              <a:rPr lang="en-US" smtClean="0"/>
              <a:pPr/>
              <a:t>1</a:t>
            </a:fld>
            <a:endParaRPr lang="en-US"/>
          </a:p>
        </p:txBody>
      </p:sp>
      <p:sp>
        <p:nvSpPr>
          <p:cNvPr id="5" name="Footer Placeholder 4"/>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CHAPTER OUTLINE</a:t>
            </a:r>
            <a:endParaRPr lang="en-US" dirty="0"/>
          </a:p>
        </p:txBody>
      </p:sp>
      <p:sp>
        <p:nvSpPr>
          <p:cNvPr id="5" name="Content Placeholder 4"/>
          <p:cNvSpPr>
            <a:spLocks noGrp="1"/>
          </p:cNvSpPr>
          <p:nvPr>
            <p:ph idx="1"/>
          </p:nvPr>
        </p:nvSpPr>
        <p:spPr>
          <a:xfrm>
            <a:off x="685800" y="990600"/>
            <a:ext cx="7772400" cy="5334000"/>
          </a:xfrm>
        </p:spPr>
        <p:txBody>
          <a:bodyPr/>
          <a:lstStyle/>
          <a:p>
            <a:pPr marL="690563" indent="-690563">
              <a:buNone/>
            </a:pPr>
            <a:r>
              <a:rPr lang="en-US" sz="2400" b="1" dirty="0" smtClean="0">
                <a:solidFill>
                  <a:schemeClr val="accent1"/>
                </a:solidFill>
              </a:rPr>
              <a:t>20.1 	</a:t>
            </a:r>
            <a:r>
              <a:rPr lang="en-US" sz="2400" dirty="0" smtClean="0"/>
              <a:t>What Are </a:t>
            </a:r>
            <a:r>
              <a:rPr lang="en-US" sz="2400" dirty="0" err="1" smtClean="0"/>
              <a:t>CMBS</a:t>
            </a:r>
            <a:r>
              <a:rPr lang="en-US" sz="2400" dirty="0" smtClean="0"/>
              <a:t>?</a:t>
            </a:r>
          </a:p>
          <a:p>
            <a:pPr marL="1487488" lvl="1" indent="-796925">
              <a:buNone/>
            </a:pPr>
            <a:r>
              <a:rPr lang="en-US" sz="2000" b="1" dirty="0" smtClean="0">
                <a:solidFill>
                  <a:schemeClr val="accent1"/>
                </a:solidFill>
              </a:rPr>
              <a:t>20.1.1</a:t>
            </a:r>
            <a:r>
              <a:rPr lang="en-US" sz="2000" dirty="0" smtClean="0"/>
              <a:t>	A Brief History of the </a:t>
            </a:r>
            <a:r>
              <a:rPr lang="en-US" sz="2000" dirty="0" err="1" smtClean="0"/>
              <a:t>CMBS</a:t>
            </a:r>
            <a:r>
              <a:rPr lang="en-US" sz="2000" dirty="0" smtClean="0"/>
              <a:t> Industry</a:t>
            </a:r>
          </a:p>
          <a:p>
            <a:pPr marL="1487488" lvl="1" indent="-796925">
              <a:buNone/>
            </a:pPr>
            <a:r>
              <a:rPr lang="en-US" sz="2000" b="1" dirty="0" smtClean="0">
                <a:solidFill>
                  <a:schemeClr val="accent1"/>
                </a:solidFill>
              </a:rPr>
              <a:t>20.1.2</a:t>
            </a:r>
            <a:r>
              <a:rPr lang="en-US" sz="2000" dirty="0" smtClean="0"/>
              <a:t> 	Magnitude of the </a:t>
            </a:r>
            <a:r>
              <a:rPr lang="en-US" sz="2000" dirty="0" err="1" smtClean="0"/>
              <a:t>CMBS</a:t>
            </a:r>
            <a:r>
              <a:rPr lang="en-US" sz="2000" dirty="0" smtClean="0"/>
              <a:t> Industry and Its “Rise and Fall” (and Rebirth?)</a:t>
            </a:r>
          </a:p>
          <a:p>
            <a:pPr marL="690563" indent="-690563">
              <a:buNone/>
            </a:pPr>
            <a:r>
              <a:rPr lang="en-US" sz="2400" b="1" dirty="0" smtClean="0">
                <a:solidFill>
                  <a:schemeClr val="accent1"/>
                </a:solidFill>
              </a:rPr>
              <a:t>20.2</a:t>
            </a:r>
            <a:r>
              <a:rPr lang="en-US" sz="2400" dirty="0" smtClean="0"/>
              <a:t> 	</a:t>
            </a:r>
            <a:r>
              <a:rPr lang="en-US" sz="2400" dirty="0" err="1" smtClean="0"/>
              <a:t>CMBS</a:t>
            </a:r>
            <a:r>
              <a:rPr lang="en-US" sz="2400" dirty="0" smtClean="0"/>
              <a:t> Structure: Pooling, </a:t>
            </a:r>
            <a:r>
              <a:rPr lang="en-US" sz="2400" dirty="0" err="1" smtClean="0"/>
              <a:t>Tranching</a:t>
            </a:r>
            <a:r>
              <a:rPr lang="en-US" sz="2400" dirty="0" smtClean="0"/>
              <a:t>, and Subordination</a:t>
            </a:r>
          </a:p>
          <a:p>
            <a:pPr marL="1487488" lvl="1" indent="-796925">
              <a:buNone/>
            </a:pPr>
            <a:r>
              <a:rPr lang="en-US" sz="2000" b="1" dirty="0" smtClean="0">
                <a:solidFill>
                  <a:schemeClr val="accent1"/>
                </a:solidFill>
              </a:rPr>
              <a:t>20.2.1</a:t>
            </a:r>
            <a:r>
              <a:rPr lang="en-US" sz="2000" dirty="0" smtClean="0"/>
              <a:t> 	A Simplified Numerical Example of </a:t>
            </a:r>
            <a:r>
              <a:rPr lang="en-US" sz="2000" dirty="0" err="1" smtClean="0"/>
              <a:t>Tranching</a:t>
            </a:r>
            <a:endParaRPr lang="en-US" sz="2000" dirty="0" smtClean="0"/>
          </a:p>
          <a:p>
            <a:pPr marL="1487488" lvl="1" indent="-796925">
              <a:buNone/>
            </a:pPr>
            <a:r>
              <a:rPr lang="en-US" sz="2000" b="1" dirty="0" smtClean="0">
                <a:solidFill>
                  <a:schemeClr val="accent1"/>
                </a:solidFill>
              </a:rPr>
              <a:t>20.2.2</a:t>
            </a:r>
            <a:r>
              <a:rPr lang="en-US" sz="2000" dirty="0" smtClean="0"/>
              <a:t> 	Allocating the Credit Losses</a:t>
            </a:r>
          </a:p>
          <a:p>
            <a:pPr marL="1487488" lvl="1" indent="-796925">
              <a:buNone/>
            </a:pPr>
            <a:r>
              <a:rPr lang="en-US" sz="2000" b="1" dirty="0" smtClean="0">
                <a:solidFill>
                  <a:schemeClr val="accent1"/>
                </a:solidFill>
              </a:rPr>
              <a:t>20.2.3</a:t>
            </a:r>
            <a:r>
              <a:rPr lang="en-US" sz="2000" dirty="0" smtClean="0"/>
              <a:t> 	Unbundling, Specialization, and Value Creation</a:t>
            </a:r>
          </a:p>
          <a:p>
            <a:pPr marL="690563" indent="-690563">
              <a:buNone/>
            </a:pPr>
            <a:r>
              <a:rPr lang="en-US" sz="2400" b="1" dirty="0" smtClean="0">
                <a:solidFill>
                  <a:schemeClr val="accent1"/>
                </a:solidFill>
              </a:rPr>
              <a:t>20.3</a:t>
            </a:r>
            <a:r>
              <a:rPr lang="en-US" sz="2400" dirty="0" smtClean="0"/>
              <a:t> 	</a:t>
            </a:r>
            <a:r>
              <a:rPr lang="en-US" sz="2400" dirty="0" err="1" smtClean="0"/>
              <a:t>CMBS</a:t>
            </a:r>
            <a:r>
              <a:rPr lang="en-US" sz="2400" dirty="0" smtClean="0"/>
              <a:t> Rating and Yields</a:t>
            </a:r>
          </a:p>
          <a:p>
            <a:pPr marL="1487488" lvl="1" indent="-796925">
              <a:buNone/>
            </a:pPr>
            <a:r>
              <a:rPr lang="en-US" sz="2000" b="1" dirty="0" smtClean="0">
                <a:solidFill>
                  <a:schemeClr val="accent1"/>
                </a:solidFill>
              </a:rPr>
              <a:t>20.3.1</a:t>
            </a:r>
            <a:r>
              <a:rPr lang="en-US" sz="2000" dirty="0" smtClean="0"/>
              <a:t> 	Bond Credit Rating</a:t>
            </a:r>
          </a:p>
          <a:p>
            <a:pPr marL="1487488" lvl="1" indent="-796925">
              <a:buNone/>
            </a:pPr>
            <a:r>
              <a:rPr lang="en-US" sz="2000" b="1" dirty="0" smtClean="0">
                <a:solidFill>
                  <a:schemeClr val="accent1"/>
                </a:solidFill>
              </a:rPr>
              <a:t>20.3.2</a:t>
            </a:r>
            <a:r>
              <a:rPr lang="en-US" sz="2000" dirty="0" smtClean="0"/>
              <a:t> 	Credit Rating, Market Yields, and </a:t>
            </a:r>
            <a:r>
              <a:rPr lang="en-US" sz="2000" dirty="0" err="1" smtClean="0"/>
              <a:t>CMBS</a:t>
            </a:r>
            <a:r>
              <a:rPr lang="en-US" sz="2000" dirty="0" smtClean="0"/>
              <a:t> Structure</a:t>
            </a:r>
          </a:p>
          <a:p>
            <a:pPr marL="690563" indent="-690563">
              <a:buNone/>
            </a:pPr>
            <a:r>
              <a:rPr lang="en-US" sz="2400" b="1" dirty="0" smtClean="0">
                <a:solidFill>
                  <a:schemeClr val="accent1"/>
                </a:solidFill>
              </a:rPr>
              <a:t>20.4</a:t>
            </a:r>
            <a:r>
              <a:rPr lang="en-US" sz="2400" dirty="0" smtClean="0"/>
              <a:t> 	Lessons from the Financial Crisis</a:t>
            </a:r>
          </a:p>
          <a:p>
            <a:pPr marL="690563" indent="-690563">
              <a:buNone/>
            </a:pPr>
            <a:r>
              <a:rPr lang="en-US" sz="2400" b="1" dirty="0" smtClean="0">
                <a:solidFill>
                  <a:schemeClr val="accent1"/>
                </a:solidFill>
              </a:rPr>
              <a:t>20.5</a:t>
            </a:r>
            <a:r>
              <a:rPr lang="en-US" sz="2400" dirty="0" smtClean="0"/>
              <a:t> 	Chapter Summary</a:t>
            </a:r>
            <a:endParaRPr lang="en-US" sz="2400" dirty="0"/>
          </a:p>
        </p:txBody>
      </p:sp>
      <p:sp>
        <p:nvSpPr>
          <p:cNvPr id="2" name="Footer Placeholder 1"/>
          <p:cNvSpPr>
            <a:spLocks noGrp="1"/>
          </p:cNvSpPr>
          <p:nvPr>
            <p:ph type="ftr" sz="quarter" idx="11"/>
          </p:nvPr>
        </p:nvSpPr>
        <p:spPr/>
        <p:txBody>
          <a:bodyPr/>
          <a:lstStyle/>
          <a:p>
            <a:r>
              <a:rPr lang="en-US" smtClean="0"/>
              <a:t>© 2014 OnCourse Learning. All Rights Reserved.</a:t>
            </a:r>
            <a:endParaRPr lang="en-US"/>
          </a:p>
        </p:txBody>
      </p:sp>
      <p:sp>
        <p:nvSpPr>
          <p:cNvPr id="3" name="Slide Number Placeholder 2"/>
          <p:cNvSpPr>
            <a:spLocks noGrp="1"/>
          </p:cNvSpPr>
          <p:nvPr>
            <p:ph type="sldNum" sz="quarter" idx="12"/>
          </p:nvPr>
        </p:nvSpPr>
        <p:spPr/>
        <p:txBody>
          <a:bodyPr/>
          <a:lstStyle/>
          <a:p>
            <a:fld id="{48A99278-0183-414C-88A9-7F7A59B915A5}"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85800" y="-20638"/>
            <a:ext cx="7772400" cy="5540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sz="2400" dirty="0" smtClean="0"/>
              <a:t>20.1 What are CMBS?</a:t>
            </a:r>
            <a:endParaRPr lang="en-US" sz="2400" dirty="0"/>
          </a:p>
        </p:txBody>
      </p:sp>
      <p:sp>
        <p:nvSpPr>
          <p:cNvPr id="5" name="Text Box 3"/>
          <p:cNvSpPr txBox="1">
            <a:spLocks noChangeArrowheads="1"/>
          </p:cNvSpPr>
          <p:nvPr/>
        </p:nvSpPr>
        <p:spPr bwMode="auto">
          <a:xfrm>
            <a:off x="228600" y="533400"/>
            <a:ext cx="8686800" cy="5724644"/>
          </a:xfrm>
          <a:prstGeom prst="rect">
            <a:avLst/>
          </a:prstGeom>
          <a:noFill/>
          <a:ln w="9525">
            <a:solidFill>
              <a:srgbClr val="000000"/>
            </a:solidFill>
            <a:miter lim="800000"/>
            <a:headEnd/>
            <a:tailEnd/>
          </a:ln>
          <a:effectLst/>
        </p:spPr>
        <p:txBody>
          <a:bodyPr>
            <a:spAutoFit/>
          </a:bodyPr>
          <a:lstStyle/>
          <a:p>
            <a:pPr marL="233363" indent="-233363" eaLnBrk="1" fontAlgn="auto" hangingPunct="1">
              <a:spcBef>
                <a:spcPts val="600"/>
              </a:spcBef>
              <a:spcAft>
                <a:spcPts val="0"/>
              </a:spcAft>
              <a:buFontTx/>
              <a:buChar char="•"/>
              <a:defRPr/>
            </a:pPr>
            <a:r>
              <a:rPr lang="en-US" sz="2200" b="1" kern="0" dirty="0" err="1" smtClean="0">
                <a:solidFill>
                  <a:srgbClr val="CC0000"/>
                </a:solidFill>
                <a:latin typeface="Arial" pitchFamily="34" charset="0"/>
                <a:cs typeface="Arial" pitchFamily="34" charset="0"/>
              </a:rPr>
              <a:t>CMBS</a:t>
            </a:r>
            <a:r>
              <a:rPr lang="en-US" sz="2200" b="1" kern="0" dirty="0" smtClean="0">
                <a:solidFill>
                  <a:srgbClr val="CC0000"/>
                </a:solidFill>
                <a:latin typeface="Arial" pitchFamily="34" charset="0"/>
                <a:cs typeface="Arial" pitchFamily="34" charset="0"/>
              </a:rPr>
              <a:t> </a:t>
            </a:r>
            <a:r>
              <a:rPr lang="en-US" sz="2200" b="1" kern="0" dirty="0">
                <a:solidFill>
                  <a:srgbClr val="CC0000"/>
                </a:solidFill>
                <a:latin typeface="Arial" pitchFamily="34" charset="0"/>
                <a:cs typeface="Arial" pitchFamily="34" charset="0"/>
              </a:rPr>
              <a:t>are mortgage-backed securities based on </a:t>
            </a:r>
            <a:r>
              <a:rPr lang="en-US" sz="2200" b="1" i="1" u="sng" kern="0" dirty="0">
                <a:solidFill>
                  <a:srgbClr val="CC0000"/>
                </a:solidFill>
                <a:latin typeface="Arial" pitchFamily="34" charset="0"/>
                <a:cs typeface="Arial" pitchFamily="34" charset="0"/>
              </a:rPr>
              <a:t>commercial</a:t>
            </a:r>
            <a:r>
              <a:rPr lang="en-US" sz="2200" b="1" kern="0" dirty="0">
                <a:solidFill>
                  <a:srgbClr val="CC0000"/>
                </a:solidFill>
                <a:latin typeface="Arial" pitchFamily="34" charset="0"/>
                <a:cs typeface="Arial" pitchFamily="34" charset="0"/>
              </a:rPr>
              <a:t> mortgages.</a:t>
            </a:r>
            <a:r>
              <a:rPr lang="en-US" sz="2200" b="1" kern="0" dirty="0">
                <a:solidFill>
                  <a:srgbClr val="000000"/>
                </a:solidFill>
                <a:latin typeface="Arial" pitchFamily="34" charset="0"/>
                <a:cs typeface="Arial" pitchFamily="34" charset="0"/>
              </a:rPr>
              <a:t> </a:t>
            </a:r>
          </a:p>
          <a:p>
            <a:pPr marL="690563" lvl="2" indent="-233363" eaLnBrk="1" fontAlgn="auto" hangingPunct="1">
              <a:spcBef>
                <a:spcPts val="600"/>
              </a:spcBef>
              <a:spcAft>
                <a:spcPts val="0"/>
              </a:spcAft>
              <a:buFontTx/>
              <a:buChar char="•"/>
              <a:defRPr/>
            </a:pPr>
            <a:r>
              <a:rPr lang="en-US" b="1" kern="0" dirty="0" smtClean="0">
                <a:solidFill>
                  <a:srgbClr val="000000"/>
                </a:solidFill>
                <a:latin typeface="Arial" pitchFamily="34" charset="0"/>
                <a:cs typeface="Arial" pitchFamily="34" charset="0"/>
              </a:rPr>
              <a:t>Provide </a:t>
            </a:r>
            <a:r>
              <a:rPr lang="en-US" b="1" kern="0" dirty="0">
                <a:solidFill>
                  <a:srgbClr val="000000"/>
                </a:solidFill>
                <a:latin typeface="Arial" pitchFamily="34" charset="0"/>
                <a:cs typeface="Arial" pitchFamily="34" charset="0"/>
              </a:rPr>
              <a:t>claims to components of the CF of the underlying mortgages. </a:t>
            </a:r>
          </a:p>
          <a:p>
            <a:pPr marL="233363" indent="-233363" eaLnBrk="1" fontAlgn="auto" hangingPunct="1">
              <a:spcBef>
                <a:spcPts val="600"/>
              </a:spcBef>
              <a:spcAft>
                <a:spcPts val="0"/>
              </a:spcAft>
              <a:buFontTx/>
              <a:buChar char="•"/>
              <a:defRPr/>
            </a:pPr>
            <a:r>
              <a:rPr lang="en-US" sz="2200" b="1" kern="0" dirty="0">
                <a:solidFill>
                  <a:srgbClr val="CC0000"/>
                </a:solidFill>
                <a:latin typeface="Arial" pitchFamily="34" charset="0"/>
                <a:cs typeface="Arial" pitchFamily="34" charset="0"/>
              </a:rPr>
              <a:t>CMBS is an efficient source of debt capital</a:t>
            </a:r>
          </a:p>
          <a:p>
            <a:pPr marL="233363" indent="-233363" eaLnBrk="1" fontAlgn="auto" hangingPunct="1">
              <a:spcBef>
                <a:spcPts val="600"/>
              </a:spcBef>
              <a:spcAft>
                <a:spcPts val="0"/>
              </a:spcAft>
              <a:buFontTx/>
              <a:buChar char="•"/>
              <a:defRPr/>
            </a:pPr>
            <a:r>
              <a:rPr lang="en-US" sz="2200" b="1" kern="0" dirty="0" smtClean="0">
                <a:solidFill>
                  <a:srgbClr val="CC0000"/>
                </a:solidFill>
                <a:latin typeface="Arial" pitchFamily="34" charset="0"/>
                <a:cs typeface="Arial" pitchFamily="34" charset="0"/>
              </a:rPr>
              <a:t>Issued </a:t>
            </a:r>
            <a:r>
              <a:rPr lang="en-US" sz="2200" b="1" kern="0" dirty="0">
                <a:solidFill>
                  <a:srgbClr val="CC0000"/>
                </a:solidFill>
                <a:latin typeface="Arial" pitchFamily="34" charset="0"/>
                <a:cs typeface="Arial" pitchFamily="34" charset="0"/>
              </a:rPr>
              <a:t>in relatively small, homogeneous units, so as to facilitate trading by a large potential population of investors,</a:t>
            </a:r>
            <a:r>
              <a:rPr lang="en-US" sz="2200" b="1" kern="0" dirty="0">
                <a:solidFill>
                  <a:srgbClr val="000000"/>
                </a:solidFill>
                <a:latin typeface="Arial" pitchFamily="34" charset="0"/>
                <a:cs typeface="Arial" pitchFamily="34" charset="0"/>
              </a:rPr>
              <a:t> </a:t>
            </a:r>
          </a:p>
          <a:p>
            <a:pPr marL="690563" lvl="2" indent="-233363" eaLnBrk="1" fontAlgn="auto" hangingPunct="1">
              <a:spcBef>
                <a:spcPts val="600"/>
              </a:spcBef>
              <a:spcAft>
                <a:spcPts val="0"/>
              </a:spcAft>
              <a:buFontTx/>
              <a:buChar char="•"/>
              <a:defRPr/>
            </a:pPr>
            <a:r>
              <a:rPr lang="en-US" b="1" kern="0" dirty="0" smtClean="0">
                <a:solidFill>
                  <a:srgbClr val="000000"/>
                </a:solidFill>
                <a:latin typeface="Arial" pitchFamily="34" charset="0"/>
                <a:cs typeface="Arial" pitchFamily="34" charset="0"/>
              </a:rPr>
              <a:t>Including </a:t>
            </a:r>
            <a:r>
              <a:rPr lang="en-US" b="1" kern="0" dirty="0">
                <a:solidFill>
                  <a:srgbClr val="000000"/>
                </a:solidFill>
                <a:latin typeface="Arial" pitchFamily="34" charset="0"/>
                <a:cs typeface="Arial" pitchFamily="34" charset="0"/>
              </a:rPr>
              <a:t>those who do not wish (or are unable) to invest large sums of money in any given security &amp; </a:t>
            </a:r>
            <a:r>
              <a:rPr lang="en-US" b="1" u="sng" kern="0" dirty="0">
                <a:solidFill>
                  <a:srgbClr val="000000"/>
                </a:solidFill>
                <a:latin typeface="Arial" pitchFamily="34" charset="0"/>
                <a:cs typeface="Arial" pitchFamily="34" charset="0"/>
              </a:rPr>
              <a:t>passive</a:t>
            </a:r>
            <a:r>
              <a:rPr lang="en-US" b="1" kern="0" dirty="0">
                <a:solidFill>
                  <a:srgbClr val="000000"/>
                </a:solidFill>
                <a:latin typeface="Arial" pitchFamily="34" charset="0"/>
                <a:cs typeface="Arial" pitchFamily="34" charset="0"/>
              </a:rPr>
              <a:t> investors w/out RE expertise (large pool of bond </a:t>
            </a:r>
            <a:r>
              <a:rPr lang="en-US" b="1" kern="0" dirty="0" err="1">
                <a:solidFill>
                  <a:srgbClr val="000000"/>
                </a:solidFill>
                <a:latin typeface="Arial" pitchFamily="34" charset="0"/>
                <a:cs typeface="Arial" pitchFamily="34" charset="0"/>
              </a:rPr>
              <a:t>mkt</a:t>
            </a:r>
            <a:r>
              <a:rPr lang="en-US" b="1" kern="0" dirty="0">
                <a:solidFill>
                  <a:srgbClr val="000000"/>
                </a:solidFill>
                <a:latin typeface="Arial" pitchFamily="34" charset="0"/>
                <a:cs typeface="Arial" pitchFamily="34" charset="0"/>
              </a:rPr>
              <a:t> capital). </a:t>
            </a:r>
          </a:p>
          <a:p>
            <a:pPr marL="233363" indent="-233363" eaLnBrk="1" fontAlgn="auto" hangingPunct="1">
              <a:spcBef>
                <a:spcPts val="600"/>
              </a:spcBef>
              <a:spcAft>
                <a:spcPts val="0"/>
              </a:spcAft>
              <a:buFontTx/>
              <a:buChar char="•"/>
              <a:defRPr/>
            </a:pPr>
            <a:r>
              <a:rPr lang="en-US" sz="2200" b="1" kern="0" dirty="0" smtClean="0">
                <a:solidFill>
                  <a:srgbClr val="CC0000"/>
                </a:solidFill>
                <a:latin typeface="Arial" pitchFamily="34" charset="0"/>
                <a:cs typeface="Arial" pitchFamily="34" charset="0"/>
              </a:rPr>
              <a:t>Many </a:t>
            </a:r>
            <a:r>
              <a:rPr lang="en-US" sz="2200" b="1" kern="0" dirty="0">
                <a:solidFill>
                  <a:srgbClr val="CC0000"/>
                </a:solidFill>
                <a:latin typeface="Arial" pitchFamily="34" charset="0"/>
                <a:cs typeface="Arial" pitchFamily="34" charset="0"/>
              </a:rPr>
              <a:t>CMBS are traded in relatively liquid public exchanges (part of the bond market).</a:t>
            </a:r>
            <a:r>
              <a:rPr lang="en-US" sz="2200" b="1" kern="0" dirty="0">
                <a:solidFill>
                  <a:srgbClr val="000000"/>
                </a:solidFill>
                <a:latin typeface="Arial" pitchFamily="34" charset="0"/>
                <a:cs typeface="Arial" pitchFamily="34" charset="0"/>
              </a:rPr>
              <a:t> </a:t>
            </a:r>
          </a:p>
          <a:p>
            <a:pPr marL="690563" lvl="2" indent="-233363" eaLnBrk="1" fontAlgn="auto" hangingPunct="1">
              <a:spcBef>
                <a:spcPts val="600"/>
              </a:spcBef>
              <a:spcAft>
                <a:spcPts val="0"/>
              </a:spcAft>
              <a:buFontTx/>
              <a:buChar char="•"/>
              <a:defRPr/>
            </a:pPr>
            <a:r>
              <a:rPr lang="en-US" b="1" kern="0" dirty="0" smtClean="0">
                <a:solidFill>
                  <a:srgbClr val="000000"/>
                </a:solidFill>
                <a:latin typeface="Arial" pitchFamily="34" charset="0"/>
                <a:cs typeface="Arial" pitchFamily="34" charset="0"/>
              </a:rPr>
              <a:t>Market </a:t>
            </a:r>
            <a:r>
              <a:rPr lang="en-US" b="1" kern="0" dirty="0">
                <a:solidFill>
                  <a:srgbClr val="000000"/>
                </a:solidFill>
                <a:latin typeface="Arial" pitchFamily="34" charset="0"/>
                <a:cs typeface="Arial" pitchFamily="34" charset="0"/>
              </a:rPr>
              <a:t>for a given individual security is likely to be rather thin, but the similarity within classes of securities is great enough to allow relatively efficient price discovery and resulting high levels of liquidity in the market. </a:t>
            </a:r>
          </a:p>
          <a:p>
            <a:pPr marL="233363" indent="-233363" eaLnBrk="1" fontAlgn="auto" hangingPunct="1">
              <a:spcBef>
                <a:spcPts val="600"/>
              </a:spcBef>
              <a:spcAft>
                <a:spcPts val="0"/>
              </a:spcAft>
              <a:buFontTx/>
              <a:buChar char="•"/>
              <a:defRPr/>
            </a:pPr>
            <a:r>
              <a:rPr lang="en-US" sz="2200" b="1" kern="0" dirty="0" smtClean="0">
                <a:solidFill>
                  <a:srgbClr val="CC0000"/>
                </a:solidFill>
                <a:latin typeface="Arial" pitchFamily="34" charset="0"/>
                <a:cs typeface="Arial" pitchFamily="34" charset="0"/>
              </a:rPr>
              <a:t>Other </a:t>
            </a:r>
            <a:r>
              <a:rPr lang="en-US" sz="2200" b="1" kern="0" dirty="0">
                <a:solidFill>
                  <a:srgbClr val="CC0000"/>
                </a:solidFill>
                <a:latin typeface="Arial" pitchFamily="34" charset="0"/>
                <a:cs typeface="Arial" pitchFamily="34" charset="0"/>
              </a:rPr>
              <a:t>CMBS are privately placed initially, only traded privately (if at all</a:t>
            </a:r>
            <a:r>
              <a:rPr lang="en-US" sz="2200" b="1" kern="0" dirty="0" smtClean="0">
                <a:solidFill>
                  <a:srgbClr val="CC0000"/>
                </a:solidFill>
                <a:latin typeface="Arial" pitchFamily="34" charset="0"/>
                <a:cs typeface="Arial" pitchFamily="34" charset="0"/>
              </a:rPr>
              <a:t>).</a:t>
            </a:r>
          </a:p>
          <a:p>
            <a:pPr marL="233363" indent="-233363" eaLnBrk="1" fontAlgn="auto" hangingPunct="1">
              <a:spcBef>
                <a:spcPts val="600"/>
              </a:spcBef>
              <a:spcAft>
                <a:spcPts val="0"/>
              </a:spcAft>
              <a:buFontTx/>
              <a:buChar char="•"/>
              <a:defRPr/>
            </a:pPr>
            <a:r>
              <a:rPr lang="en-US" sz="2200" b="1" kern="0" dirty="0" smtClean="0">
                <a:solidFill>
                  <a:srgbClr val="CC0000"/>
                </a:solidFill>
                <a:latin typeface="Arial" pitchFamily="34" charset="0"/>
                <a:cs typeface="Arial" pitchFamily="34" charset="0"/>
              </a:rPr>
              <a:t>CMBS offers investors in the bond market a variety of new securities that serve different types of investment needs</a:t>
            </a:r>
          </a:p>
        </p:txBody>
      </p:sp>
      <p:sp>
        <p:nvSpPr>
          <p:cNvPr id="4" name="Slide Number Placeholder 3"/>
          <p:cNvSpPr>
            <a:spLocks noGrp="1"/>
          </p:cNvSpPr>
          <p:nvPr>
            <p:ph type="sldNum" sz="quarter" idx="12"/>
          </p:nvPr>
        </p:nvSpPr>
        <p:spPr/>
        <p:txBody>
          <a:bodyPr/>
          <a:lstStyle/>
          <a:p>
            <a:fld id="{48A99278-0183-414C-88A9-7F7A59B915A5}" type="slidenum">
              <a:rPr lang="en-US" smtClean="0"/>
              <a:pPr/>
              <a:t>3</a:t>
            </a:fld>
            <a:endParaRPr lang="en-US"/>
          </a:p>
        </p:txBody>
      </p:sp>
      <p:sp>
        <p:nvSpPr>
          <p:cNvPr id="6" name="Footer Placeholder 5"/>
          <p:cNvSpPr>
            <a:spLocks noGrp="1"/>
          </p:cNvSpPr>
          <p:nvPr>
            <p:ph type="ftr" sz="quarter" idx="11"/>
          </p:nvPr>
        </p:nvSpPr>
        <p:spPr/>
        <p:txBody>
          <a:bodyPr/>
          <a:lstStyle/>
          <a:p>
            <a:pPr>
              <a:defRPr/>
            </a:pPr>
            <a:r>
              <a:rPr lang="en-US" dirty="0" smtClean="0"/>
              <a:t>© 2014 OnCourse Learning. All Rights Reserved.</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dirty="0"/>
              <a:t>© </a:t>
            </a:r>
            <a:r>
              <a:rPr lang="en-US" dirty="0" err="1"/>
              <a:t>Erwan</a:t>
            </a:r>
            <a:r>
              <a:rPr lang="en-US" dirty="0"/>
              <a:t> Quintin’s “Rays of research”</a:t>
            </a:r>
          </a:p>
          <a:p>
            <a:pPr>
              <a:defRPr/>
            </a:pPr>
            <a:endParaRPr lang="en-US" dirty="0"/>
          </a:p>
        </p:txBody>
      </p:sp>
      <p:sp>
        <p:nvSpPr>
          <p:cNvPr id="3" name="Slide Number Placeholder 2"/>
          <p:cNvSpPr>
            <a:spLocks noGrp="1"/>
          </p:cNvSpPr>
          <p:nvPr>
            <p:ph type="sldNum" sz="quarter" idx="12"/>
          </p:nvPr>
        </p:nvSpPr>
        <p:spPr/>
        <p:txBody>
          <a:bodyPr/>
          <a:lstStyle/>
          <a:p>
            <a:fld id="{48A99278-0183-414C-88A9-7F7A59B915A5}" type="slidenum">
              <a:rPr lang="en-US" smtClean="0"/>
              <a:pPr/>
              <a:t>4</a:t>
            </a:fld>
            <a:endParaRPr lang="en-US" dirty="0"/>
          </a:p>
        </p:txBody>
      </p:sp>
      <p:pic>
        <p:nvPicPr>
          <p:cNvPr id="144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875721" cy="5214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bwMode="auto">
          <a:xfrm flipH="1">
            <a:off x="6705600" y="2971800"/>
            <a:ext cx="685800" cy="2286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1311045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dirty="0"/>
              <a:t>© </a:t>
            </a:r>
            <a:r>
              <a:rPr lang="en-US" dirty="0" err="1"/>
              <a:t>Erwan</a:t>
            </a:r>
            <a:r>
              <a:rPr lang="en-US" dirty="0"/>
              <a:t> Quintin’s “Rays of research”</a:t>
            </a:r>
          </a:p>
        </p:txBody>
      </p:sp>
      <p:sp>
        <p:nvSpPr>
          <p:cNvPr id="3" name="Slide Number Placeholder 2"/>
          <p:cNvSpPr>
            <a:spLocks noGrp="1"/>
          </p:cNvSpPr>
          <p:nvPr>
            <p:ph type="sldNum" sz="quarter" idx="12"/>
          </p:nvPr>
        </p:nvSpPr>
        <p:spPr/>
        <p:txBody>
          <a:bodyPr/>
          <a:lstStyle/>
          <a:p>
            <a:fld id="{48A99278-0183-414C-88A9-7F7A59B915A5}" type="slidenum">
              <a:rPr lang="en-US" smtClean="0"/>
              <a:pPr/>
              <a:t>5</a:t>
            </a:fld>
            <a:endParaRPr lang="en-US"/>
          </a:p>
        </p:txBody>
      </p:sp>
      <p:pic>
        <p:nvPicPr>
          <p:cNvPr id="146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04800"/>
            <a:ext cx="775335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495012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dirty="0"/>
              <a:t>© </a:t>
            </a:r>
            <a:r>
              <a:rPr lang="en-US" dirty="0" err="1"/>
              <a:t>Erwan</a:t>
            </a:r>
            <a:r>
              <a:rPr lang="en-US" dirty="0"/>
              <a:t> Quintin’s “Rays of research”</a:t>
            </a:r>
          </a:p>
          <a:p>
            <a:pPr>
              <a:defRPr/>
            </a:pPr>
            <a:endParaRPr lang="en-US" dirty="0"/>
          </a:p>
        </p:txBody>
      </p:sp>
      <p:sp>
        <p:nvSpPr>
          <p:cNvPr id="3" name="Slide Number Placeholder 2"/>
          <p:cNvSpPr>
            <a:spLocks noGrp="1"/>
          </p:cNvSpPr>
          <p:nvPr>
            <p:ph type="sldNum" sz="quarter" idx="12"/>
          </p:nvPr>
        </p:nvSpPr>
        <p:spPr/>
        <p:txBody>
          <a:bodyPr/>
          <a:lstStyle/>
          <a:p>
            <a:fld id="{48A99278-0183-414C-88A9-7F7A59B915A5}" type="slidenum">
              <a:rPr lang="en-US" smtClean="0"/>
              <a:pPr/>
              <a:t>6</a:t>
            </a:fld>
            <a:endParaRPr lang="en-US"/>
          </a:p>
        </p:txBody>
      </p:sp>
      <p:pic>
        <p:nvPicPr>
          <p:cNvPr id="147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33400"/>
            <a:ext cx="7734301" cy="5529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30283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838200" y="76200"/>
            <a:ext cx="7239000" cy="461963"/>
          </a:xfrm>
          <a:prstGeom prst="rect">
            <a:avLst/>
          </a:prstGeom>
          <a:noFill/>
        </p:spPr>
        <p:txBody>
          <a:bodyPr>
            <a:spAutoFit/>
          </a:bodyPr>
          <a:lstStyle/>
          <a:p>
            <a:pPr algn="ctr">
              <a:defRPr/>
            </a:pPr>
            <a:r>
              <a:rPr lang="en-US" sz="2400" dirty="0">
                <a:latin typeface="+mj-lt"/>
              </a:rPr>
              <a:t>Exhibit 20-1: CMBS Securitization Process</a:t>
            </a:r>
          </a:p>
        </p:txBody>
      </p:sp>
      <p:sp>
        <p:nvSpPr>
          <p:cNvPr id="4" name="Slide Number Placeholder 3"/>
          <p:cNvSpPr>
            <a:spLocks noGrp="1"/>
          </p:cNvSpPr>
          <p:nvPr>
            <p:ph type="sldNum" sz="quarter" idx="12"/>
          </p:nvPr>
        </p:nvSpPr>
        <p:spPr/>
        <p:txBody>
          <a:bodyPr/>
          <a:lstStyle/>
          <a:p>
            <a:fld id="{48A99278-0183-414C-88A9-7F7A59B915A5}" type="slidenum">
              <a:rPr lang="en-US" smtClean="0"/>
              <a:pPr/>
              <a:t>7</a:t>
            </a:fld>
            <a:endParaRPr lang="en-US"/>
          </a:p>
        </p:txBody>
      </p:sp>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grpSp>
        <p:nvGrpSpPr>
          <p:cNvPr id="8" name="Group 7"/>
          <p:cNvGrpSpPr/>
          <p:nvPr/>
        </p:nvGrpSpPr>
        <p:grpSpPr>
          <a:xfrm>
            <a:off x="191701" y="609600"/>
            <a:ext cx="8531998" cy="5330825"/>
            <a:chOff x="431800" y="765175"/>
            <a:chExt cx="8531998" cy="5330825"/>
          </a:xfrm>
        </p:grpSpPr>
        <p:pic>
          <p:nvPicPr>
            <p:cNvPr id="92164" name="Picture 4"/>
            <p:cNvPicPr>
              <a:picLocks noChangeAspect="1" noChangeArrowheads="1"/>
            </p:cNvPicPr>
            <p:nvPr/>
          </p:nvPicPr>
          <p:blipFill>
            <a:blip r:embed="rId2" cstate="print"/>
            <a:srcRect/>
            <a:stretch>
              <a:fillRect/>
            </a:stretch>
          </p:blipFill>
          <p:spPr bwMode="auto">
            <a:xfrm>
              <a:off x="431800" y="765175"/>
              <a:ext cx="8280400" cy="5327650"/>
            </a:xfrm>
            <a:prstGeom prst="rect">
              <a:avLst/>
            </a:prstGeom>
            <a:noFill/>
            <a:ln w="9525">
              <a:solidFill>
                <a:schemeClr val="tx1"/>
              </a:solidFill>
              <a:miter lim="800000"/>
              <a:headEnd/>
              <a:tailEnd/>
            </a:ln>
          </p:spPr>
        </p:pic>
        <p:sp>
          <p:nvSpPr>
            <p:cNvPr id="7" name="Rectangle 6"/>
            <p:cNvSpPr/>
            <p:nvPr/>
          </p:nvSpPr>
          <p:spPr>
            <a:xfrm rot="16200000">
              <a:off x="8184098" y="5316299"/>
              <a:ext cx="1313180" cy="246221"/>
            </a:xfrm>
            <a:prstGeom prst="rect">
              <a:avLst/>
            </a:prstGeom>
          </p:spPr>
          <p:txBody>
            <a:bodyPr wrap="none">
              <a:spAutoFit/>
            </a:bodyPr>
            <a:lstStyle/>
            <a:p>
              <a:r>
                <a:rPr lang="en-US" sz="1000" dirty="0">
                  <a:latin typeface="Calibri" pitchFamily="34" charset="0"/>
                </a:rPr>
                <a:t>© OnCourse Learning</a:t>
              </a:r>
            </a:p>
          </p:txBody>
        </p:sp>
      </p:grpSp>
      <p:sp>
        <p:nvSpPr>
          <p:cNvPr id="2" name="TextBox 1"/>
          <p:cNvSpPr txBox="1"/>
          <p:nvPr/>
        </p:nvSpPr>
        <p:spPr>
          <a:xfrm>
            <a:off x="2362200" y="1828800"/>
            <a:ext cx="1079142" cy="230832"/>
          </a:xfrm>
          <a:prstGeom prst="rect">
            <a:avLst/>
          </a:prstGeom>
          <a:noFill/>
        </p:spPr>
        <p:txBody>
          <a:bodyPr wrap="none" rtlCol="0">
            <a:spAutoFit/>
          </a:bodyPr>
          <a:lstStyle/>
          <a:p>
            <a:r>
              <a:rPr lang="en-US" sz="900" dirty="0" smtClean="0"/>
              <a:t>Pass-through entity</a:t>
            </a:r>
            <a:endParaRPr lang="en-US" sz="900" dirty="0"/>
          </a:p>
        </p:txBody>
      </p:sp>
      <p:sp>
        <p:nvSpPr>
          <p:cNvPr id="9" name="TextBox 8"/>
          <p:cNvSpPr txBox="1"/>
          <p:nvPr/>
        </p:nvSpPr>
        <p:spPr>
          <a:xfrm>
            <a:off x="3962400" y="1371600"/>
            <a:ext cx="1765227" cy="230832"/>
          </a:xfrm>
          <a:prstGeom prst="rect">
            <a:avLst/>
          </a:prstGeom>
          <a:noFill/>
        </p:spPr>
        <p:txBody>
          <a:bodyPr wrap="none" rtlCol="0">
            <a:spAutoFit/>
          </a:bodyPr>
          <a:lstStyle/>
          <a:p>
            <a:r>
              <a:rPr lang="en-US" sz="900" dirty="0" smtClean="0"/>
              <a:t>Issues and sells bonds to investors</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457200" y="819090"/>
            <a:ext cx="7239000" cy="400110"/>
          </a:xfrm>
          <a:prstGeom prst="rect">
            <a:avLst/>
          </a:prstGeom>
          <a:noFill/>
        </p:spPr>
        <p:txBody>
          <a:bodyPr>
            <a:spAutoFit/>
          </a:bodyPr>
          <a:lstStyle/>
          <a:p>
            <a:pPr>
              <a:defRPr/>
            </a:pPr>
            <a:r>
              <a:rPr lang="en-US" sz="2000" b="1" dirty="0">
                <a:solidFill>
                  <a:srgbClr val="00B0F0"/>
                </a:solidFill>
                <a:latin typeface="+mj-lt"/>
              </a:rPr>
              <a:t>Exhibit 20-2: </a:t>
            </a:r>
            <a:r>
              <a:rPr lang="en-US" sz="2000" dirty="0">
                <a:latin typeface="+mj-lt"/>
              </a:rPr>
              <a:t>CMBS Issuance, U.S., 1990-2011</a:t>
            </a:r>
          </a:p>
        </p:txBody>
      </p:sp>
      <p:sp>
        <p:nvSpPr>
          <p:cNvPr id="4" name="Title 1"/>
          <p:cNvSpPr txBox="1">
            <a:spLocks/>
          </p:cNvSpPr>
          <p:nvPr/>
        </p:nvSpPr>
        <p:spPr bwMode="auto">
          <a:xfrm>
            <a:off x="609600" y="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rtl="0" eaLnBrk="0" fontAlgn="base" hangingPunct="0">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9pPr>
          </a:lstStyle>
          <a:p>
            <a:pPr>
              <a:defRPr/>
            </a:pPr>
            <a:r>
              <a:rPr lang="en-US" sz="2400" smtClean="0"/>
              <a:t>20.1.1 A Brief History of the CMBS Industry</a:t>
            </a:r>
            <a:endParaRPr lang="en-US" sz="2400" dirty="0"/>
          </a:p>
        </p:txBody>
      </p:sp>
      <p:sp>
        <p:nvSpPr>
          <p:cNvPr id="6" name="Slide Number Placeholder 5"/>
          <p:cNvSpPr>
            <a:spLocks noGrp="1"/>
          </p:cNvSpPr>
          <p:nvPr>
            <p:ph type="sldNum" sz="quarter" idx="12"/>
          </p:nvPr>
        </p:nvSpPr>
        <p:spPr/>
        <p:txBody>
          <a:bodyPr/>
          <a:lstStyle/>
          <a:p>
            <a:fld id="{48A99278-0183-414C-88A9-7F7A59B915A5}" type="slidenum">
              <a:rPr lang="en-US" smtClean="0"/>
              <a:pPr/>
              <a:t>8</a:t>
            </a:fld>
            <a:endParaRPr lang="en-US"/>
          </a:p>
        </p:txBody>
      </p:sp>
      <p:sp>
        <p:nvSpPr>
          <p:cNvPr id="7" name="Footer Placeholder 6"/>
          <p:cNvSpPr>
            <a:spLocks noGrp="1"/>
          </p:cNvSpPr>
          <p:nvPr>
            <p:ph type="ftr" sz="quarter" idx="11"/>
          </p:nvPr>
        </p:nvSpPr>
        <p:spPr/>
        <p:txBody>
          <a:bodyPr/>
          <a:lstStyle/>
          <a:p>
            <a:pPr>
              <a:defRPr/>
            </a:pPr>
            <a:r>
              <a:rPr lang="en-US" dirty="0" smtClean="0"/>
              <a:t>© 2014 OnCourse Learning. All Rights Reserved.</a:t>
            </a:r>
            <a:endParaRPr lang="en-US" dirty="0"/>
          </a:p>
        </p:txBody>
      </p:sp>
      <p:grpSp>
        <p:nvGrpSpPr>
          <p:cNvPr id="9" name="Group 8"/>
          <p:cNvGrpSpPr/>
          <p:nvPr/>
        </p:nvGrpSpPr>
        <p:grpSpPr>
          <a:xfrm>
            <a:off x="457200" y="1219398"/>
            <a:ext cx="8197850" cy="5181402"/>
            <a:chOff x="457200" y="993775"/>
            <a:chExt cx="8197850" cy="5181402"/>
          </a:xfrm>
        </p:grpSpPr>
        <p:pic>
          <p:nvPicPr>
            <p:cNvPr id="94213" name="Picture 5"/>
            <p:cNvPicPr>
              <a:picLocks noChangeAspect="1" noChangeArrowheads="1"/>
            </p:cNvPicPr>
            <p:nvPr/>
          </p:nvPicPr>
          <p:blipFill>
            <a:blip r:embed="rId2" cstate="print"/>
            <a:srcRect/>
            <a:stretch>
              <a:fillRect/>
            </a:stretch>
          </p:blipFill>
          <p:spPr bwMode="auto">
            <a:xfrm>
              <a:off x="488950" y="993775"/>
              <a:ext cx="8166100" cy="4870450"/>
            </a:xfrm>
            <a:prstGeom prst="rect">
              <a:avLst/>
            </a:prstGeom>
            <a:noFill/>
            <a:ln w="9525">
              <a:solidFill>
                <a:schemeClr val="tx1"/>
              </a:solidFill>
              <a:miter lim="800000"/>
              <a:headEnd/>
              <a:tailEnd/>
            </a:ln>
          </p:spPr>
        </p:pic>
        <p:sp>
          <p:nvSpPr>
            <p:cNvPr id="8" name="Rectangle 7"/>
            <p:cNvSpPr/>
            <p:nvPr/>
          </p:nvSpPr>
          <p:spPr>
            <a:xfrm>
              <a:off x="457200" y="5867400"/>
              <a:ext cx="7315200" cy="307777"/>
            </a:xfrm>
            <a:prstGeom prst="rect">
              <a:avLst/>
            </a:prstGeom>
          </p:spPr>
          <p:txBody>
            <a:bodyPr wrap="square">
              <a:spAutoFit/>
            </a:bodyPr>
            <a:lstStyle/>
            <a:p>
              <a:r>
                <a:rPr lang="en-US" dirty="0">
                  <a:latin typeface="Calibri" pitchFamily="34" charset="0"/>
                </a:rPr>
                <a:t>Source: Based on </a:t>
              </a:r>
              <a:r>
                <a:rPr lang="en-US" dirty="0" smtClean="0">
                  <a:latin typeface="Calibri" pitchFamily="34" charset="0"/>
                </a:rPr>
                <a:t>data </a:t>
              </a:r>
              <a:r>
                <a:rPr lang="en-US" dirty="0">
                  <a:latin typeface="Calibri" pitchFamily="34" charset="0"/>
                </a:rPr>
                <a:t>from Commercial </a:t>
              </a:r>
              <a:r>
                <a:rPr lang="en-US" dirty="0" smtClean="0">
                  <a:latin typeface="Calibri" pitchFamily="34" charset="0"/>
                </a:rPr>
                <a:t>Mortgage </a:t>
              </a:r>
              <a:r>
                <a:rPr lang="en-US" dirty="0">
                  <a:latin typeface="Calibri" pitchFamily="34" charset="0"/>
                </a:rPr>
                <a:t>Alert </a:t>
              </a:r>
              <a:r>
                <a:rPr lang="en-US" dirty="0" smtClean="0">
                  <a:latin typeface="Calibri" pitchFamily="34" charset="0"/>
                </a:rPr>
                <a:t> and </a:t>
              </a:r>
              <a:r>
                <a:rPr lang="en-US" dirty="0" err="1">
                  <a:latin typeface="Calibri" pitchFamily="34" charset="0"/>
                </a:rPr>
                <a:t>Clodfelter</a:t>
              </a:r>
              <a:r>
                <a:rPr lang="en-US" dirty="0">
                  <a:latin typeface="Calibri" pitchFamily="34" charset="0"/>
                </a:rPr>
                <a:t> (2005).</a:t>
              </a:r>
            </a:p>
          </p:txBody>
        </p:sp>
      </p:grpSp>
      <p:cxnSp>
        <p:nvCxnSpPr>
          <p:cNvPr id="3" name="Straight Connector 2"/>
          <p:cNvCxnSpPr/>
          <p:nvPr/>
        </p:nvCxnSpPr>
        <p:spPr bwMode="auto">
          <a:xfrm>
            <a:off x="3048000" y="4495800"/>
            <a:ext cx="68580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1"/>
          <p:cNvSpPr>
            <a:spLocks noGrp="1"/>
          </p:cNvSpPr>
          <p:nvPr>
            <p:ph type="sldNum" sz="quarter" idx="12"/>
          </p:nvPr>
        </p:nvSpPr>
        <p:spPr>
          <a:noFill/>
          <a:ln>
            <a:miter lim="800000"/>
            <a:headEnd/>
            <a:tailEnd/>
          </a:ln>
        </p:spPr>
        <p:txBody>
          <a:bodyPr/>
          <a:lstStyle/>
          <a:p>
            <a:fld id="{A0CBD80C-8C48-4082-A329-A361CF290607}" type="slidenum">
              <a:rPr lang="en-US"/>
              <a:pPr/>
              <a:t>9</a:t>
            </a:fld>
            <a:endParaRPr lang="en-US"/>
          </a:p>
        </p:txBody>
      </p:sp>
      <p:pic>
        <p:nvPicPr>
          <p:cNvPr id="95235" name="Picture 2"/>
          <p:cNvPicPr>
            <a:picLocks noChangeAspect="1" noChangeArrowheads="1"/>
          </p:cNvPicPr>
          <p:nvPr/>
        </p:nvPicPr>
        <p:blipFill>
          <a:blip r:embed="rId2" cstate="print"/>
          <a:srcRect/>
          <a:stretch>
            <a:fillRect/>
          </a:stretch>
        </p:blipFill>
        <p:spPr bwMode="auto">
          <a:xfrm>
            <a:off x="1183349" y="762000"/>
            <a:ext cx="6777302" cy="4572000"/>
          </a:xfrm>
          <a:prstGeom prst="rect">
            <a:avLst/>
          </a:prstGeom>
          <a:noFill/>
          <a:ln w="9525">
            <a:noFill/>
            <a:miter lim="800000"/>
            <a:headEnd/>
            <a:tailEnd/>
          </a:ln>
        </p:spPr>
      </p:pic>
      <p:sp>
        <p:nvSpPr>
          <p:cNvPr id="4" name="TextBox 3"/>
          <p:cNvSpPr txBox="1"/>
          <p:nvPr/>
        </p:nvSpPr>
        <p:spPr>
          <a:xfrm>
            <a:off x="762000" y="66675"/>
            <a:ext cx="7543800" cy="708025"/>
          </a:xfrm>
          <a:prstGeom prst="rect">
            <a:avLst/>
          </a:prstGeom>
          <a:noFill/>
        </p:spPr>
        <p:txBody>
          <a:bodyPr>
            <a:spAutoFit/>
          </a:bodyPr>
          <a:lstStyle/>
          <a:p>
            <a:pPr>
              <a:defRPr/>
            </a:pPr>
            <a:r>
              <a:rPr lang="en-US" dirty="0">
                <a:latin typeface="+mj-lt"/>
              </a:rPr>
              <a:t>Modern </a:t>
            </a:r>
            <a:r>
              <a:rPr lang="en-US" dirty="0">
                <a:solidFill>
                  <a:srgbClr val="FF0000"/>
                </a:solidFill>
                <a:latin typeface="+mj-lt"/>
              </a:rPr>
              <a:t>CMBS</a:t>
            </a:r>
            <a:r>
              <a:rPr lang="en-US" dirty="0">
                <a:latin typeface="+mj-lt"/>
              </a:rPr>
              <a:t> industry established in 1990s, grew to be major source of  permanent CRE finance in 2000s boom…</a:t>
            </a:r>
          </a:p>
        </p:txBody>
      </p:sp>
      <p:sp>
        <p:nvSpPr>
          <p:cNvPr id="5" name="TextBox 4"/>
          <p:cNvSpPr txBox="1"/>
          <p:nvPr/>
        </p:nvSpPr>
        <p:spPr>
          <a:xfrm>
            <a:off x="457200" y="5410199"/>
            <a:ext cx="8077200" cy="923330"/>
          </a:xfrm>
          <a:prstGeom prst="rect">
            <a:avLst/>
          </a:prstGeom>
          <a:noFill/>
        </p:spPr>
        <p:txBody>
          <a:bodyPr wrap="square">
            <a:spAutoFit/>
          </a:bodyPr>
          <a:lstStyle/>
          <a:p>
            <a:pPr>
              <a:defRPr/>
            </a:pPr>
            <a:r>
              <a:rPr lang="en-US" sz="1800" dirty="0">
                <a:solidFill>
                  <a:srgbClr val="FF0000"/>
                </a:solidFill>
                <a:latin typeface="+mj-lt"/>
              </a:rPr>
              <a:t>Note</a:t>
            </a:r>
            <a:r>
              <a:rPr lang="en-US" sz="1800" dirty="0">
                <a:latin typeface="+mj-lt"/>
              </a:rPr>
              <a:t>: Banks &amp; Thrifts provide shorter-term loans (&lt; 5 yrs) and about half is typically construction loans. Major long-term permanent financing of CRE is LICs &amp; CMBS (GSEs just </a:t>
            </a:r>
            <a:r>
              <a:rPr lang="en-US" sz="1800" dirty="0" err="1">
                <a:latin typeface="+mj-lt"/>
              </a:rPr>
              <a:t>apts</a:t>
            </a:r>
            <a:r>
              <a:rPr lang="en-US" sz="1800" dirty="0">
                <a:latin typeface="+mj-lt"/>
              </a:rPr>
              <a:t>).</a:t>
            </a:r>
          </a:p>
        </p:txBody>
      </p:sp>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sp>
        <p:nvSpPr>
          <p:cNvPr id="5" name="Slide Number Placeholder 3"/>
          <p:cNvSpPr>
            <a:spLocks noGrp="1"/>
          </p:cNvSpPr>
          <p:nvPr>
            <p:ph type="sldNum" sz="quarter" idx="12"/>
          </p:nvPr>
        </p:nvSpPr>
        <p:spPr/>
        <p:txBody>
          <a:bodyPr/>
          <a:lstStyle/>
          <a:p>
            <a:fld id="{8C42BB24-2BC0-4550-BDAC-EF27FADE4F7A}" type="slidenum">
              <a:rPr lang="en-US"/>
              <a:pPr/>
              <a:t>10</a:t>
            </a:fld>
            <a:endParaRPr lang="en-US"/>
          </a:p>
        </p:txBody>
      </p:sp>
      <p:sp>
        <p:nvSpPr>
          <p:cNvPr id="96259" name="Text Box 2"/>
          <p:cNvSpPr txBox="1">
            <a:spLocks noChangeArrowheads="1"/>
          </p:cNvSpPr>
          <p:nvPr/>
        </p:nvSpPr>
        <p:spPr bwMode="auto">
          <a:xfrm>
            <a:off x="457200" y="0"/>
            <a:ext cx="8229600" cy="641350"/>
          </a:xfrm>
          <a:prstGeom prst="rect">
            <a:avLst/>
          </a:prstGeom>
          <a:noFill/>
          <a:ln w="9525">
            <a:noFill/>
            <a:miter lim="800000"/>
            <a:headEnd/>
            <a:tailEnd/>
          </a:ln>
        </p:spPr>
        <p:txBody>
          <a:bodyPr>
            <a:spAutoFit/>
          </a:bodyPr>
          <a:lstStyle/>
          <a:p>
            <a:pPr eaLnBrk="1" hangingPunct="1">
              <a:spcBef>
                <a:spcPct val="50000"/>
              </a:spcBef>
            </a:pPr>
            <a:r>
              <a:rPr lang="en-US" sz="1800" b="1" dirty="0">
                <a:solidFill>
                  <a:srgbClr val="FF0000"/>
                </a:solidFill>
                <a:latin typeface="Arial" charset="0"/>
                <a:cs typeface="Arial" charset="0"/>
              </a:rPr>
              <a:t>Key to creation of CMBS industry in 1990s was </a:t>
            </a:r>
            <a:r>
              <a:rPr lang="en-US" sz="1800" b="1" dirty="0" err="1">
                <a:solidFill>
                  <a:srgbClr val="FF0000"/>
                </a:solidFill>
                <a:latin typeface="Arial" charset="0"/>
                <a:cs typeface="Arial" charset="0"/>
              </a:rPr>
              <a:t>devlpt</a:t>
            </a:r>
            <a:r>
              <a:rPr lang="en-US" sz="1800" b="1" dirty="0">
                <a:solidFill>
                  <a:srgbClr val="FF0000"/>
                </a:solidFill>
                <a:latin typeface="Arial" charset="0"/>
                <a:cs typeface="Arial" charset="0"/>
              </a:rPr>
              <a:t> by bond-rating agencies of the ability to rate the default-risk of CMBS tranches:</a:t>
            </a:r>
          </a:p>
        </p:txBody>
      </p:sp>
      <p:sp>
        <p:nvSpPr>
          <p:cNvPr id="96260" name="Text Box 3"/>
          <p:cNvSpPr txBox="1">
            <a:spLocks noChangeArrowheads="1"/>
          </p:cNvSpPr>
          <p:nvPr/>
        </p:nvSpPr>
        <p:spPr bwMode="auto">
          <a:xfrm>
            <a:off x="228600" y="685800"/>
            <a:ext cx="8915400" cy="3785652"/>
          </a:xfrm>
          <a:prstGeom prst="rect">
            <a:avLst/>
          </a:prstGeom>
          <a:noFill/>
          <a:ln w="9525">
            <a:noFill/>
            <a:miter lim="800000"/>
            <a:headEnd/>
            <a:tailEnd/>
          </a:ln>
        </p:spPr>
        <p:txBody>
          <a:bodyPr>
            <a:spAutoFit/>
          </a:bodyPr>
          <a:lstStyle/>
          <a:p>
            <a:pPr marL="233363" indent="-233363" eaLnBrk="1" hangingPunct="1">
              <a:spcBef>
                <a:spcPct val="25000"/>
              </a:spcBef>
              <a:buFontTx/>
              <a:buChar char="•"/>
            </a:pPr>
            <a:r>
              <a:rPr lang="en-US" sz="2000" b="1" dirty="0" smtClean="0">
                <a:solidFill>
                  <a:srgbClr val="000000"/>
                </a:solidFill>
                <a:latin typeface="Arial" charset="0"/>
                <a:cs typeface="Arial" charset="0"/>
              </a:rPr>
              <a:t>Bond </a:t>
            </a:r>
            <a:r>
              <a:rPr lang="en-US" sz="2000" b="1" dirty="0" err="1">
                <a:solidFill>
                  <a:srgbClr val="000000"/>
                </a:solidFill>
                <a:latin typeface="Arial" charset="0"/>
                <a:cs typeface="Arial" charset="0"/>
              </a:rPr>
              <a:t>mkt</a:t>
            </a:r>
            <a:r>
              <a:rPr lang="en-US" sz="2000" b="1" dirty="0">
                <a:solidFill>
                  <a:srgbClr val="000000"/>
                </a:solidFill>
                <a:latin typeface="Arial" charset="0"/>
                <a:cs typeface="Arial" charset="0"/>
              </a:rPr>
              <a:t> full of </a:t>
            </a:r>
            <a:r>
              <a:rPr lang="en-US" sz="2000" b="1" dirty="0">
                <a:solidFill>
                  <a:srgbClr val="0000FF"/>
                </a:solidFill>
                <a:latin typeface="Arial" charset="0"/>
                <a:cs typeface="Arial" charset="0"/>
              </a:rPr>
              <a:t>“passive investors”</a:t>
            </a:r>
            <a:r>
              <a:rPr lang="en-US" sz="2000" b="1" dirty="0">
                <a:solidFill>
                  <a:srgbClr val="000000"/>
                </a:solidFill>
                <a:latin typeface="Arial" charset="0"/>
                <a:cs typeface="Arial" charset="0"/>
              </a:rPr>
              <a:t> (lack time, resources, expertise to assess risk of individual bonds). Won’t invest w/out a reliable measure of default risk.</a:t>
            </a:r>
          </a:p>
          <a:p>
            <a:pPr marL="233363" indent="-233363" eaLnBrk="1" hangingPunct="1">
              <a:spcBef>
                <a:spcPct val="25000"/>
              </a:spcBef>
              <a:buFontTx/>
              <a:buChar char="•"/>
            </a:pPr>
            <a:endParaRPr lang="en-US" sz="2000" b="1" dirty="0" smtClean="0">
              <a:solidFill>
                <a:srgbClr val="000000"/>
              </a:solidFill>
              <a:latin typeface="Arial" charset="0"/>
              <a:cs typeface="Arial" charset="0"/>
            </a:endParaRPr>
          </a:p>
          <a:p>
            <a:pPr marL="233363" indent="-233363" eaLnBrk="1" hangingPunct="1">
              <a:spcBef>
                <a:spcPct val="25000"/>
              </a:spcBef>
              <a:buFontTx/>
              <a:buChar char="•"/>
            </a:pPr>
            <a:r>
              <a:rPr lang="en-US" sz="2000" b="1" dirty="0" smtClean="0">
                <a:solidFill>
                  <a:srgbClr val="000000"/>
                </a:solidFill>
                <a:latin typeface="Arial" charset="0"/>
                <a:cs typeface="Arial" charset="0"/>
              </a:rPr>
              <a:t>When </a:t>
            </a:r>
            <a:r>
              <a:rPr lang="en-US" sz="2000" b="1" dirty="0">
                <a:solidFill>
                  <a:srgbClr val="000000"/>
                </a:solidFill>
                <a:latin typeface="Arial" charset="0"/>
                <a:cs typeface="Arial" charset="0"/>
              </a:rPr>
              <a:t>a CMBS tranche obtains a bond rating, investors who know little or nothing about CRE feel comfortable working under the assumption that </a:t>
            </a:r>
            <a:r>
              <a:rPr lang="en-US" sz="2000" b="1" dirty="0">
                <a:solidFill>
                  <a:srgbClr val="0000FF"/>
                </a:solidFill>
                <a:latin typeface="Arial" charset="0"/>
                <a:cs typeface="Arial" charset="0"/>
              </a:rPr>
              <a:t>default risk of that tranche is very similar to the default risk of any other bond with the same rating</a:t>
            </a:r>
            <a:r>
              <a:rPr lang="en-US" sz="2000" b="1" dirty="0">
                <a:solidFill>
                  <a:srgbClr val="000000"/>
                </a:solidFill>
                <a:latin typeface="Arial" charset="0"/>
                <a:cs typeface="Arial" charset="0"/>
              </a:rPr>
              <a:t>. </a:t>
            </a:r>
            <a:endParaRPr lang="en-US" sz="2000" b="1" dirty="0" smtClean="0">
              <a:solidFill>
                <a:srgbClr val="000000"/>
              </a:solidFill>
              <a:latin typeface="Arial" charset="0"/>
              <a:cs typeface="Arial" charset="0"/>
            </a:endParaRPr>
          </a:p>
          <a:p>
            <a:pPr marL="233363" indent="-233363" eaLnBrk="1" hangingPunct="1">
              <a:spcBef>
                <a:spcPct val="25000"/>
              </a:spcBef>
              <a:buFontTx/>
              <a:buChar char="•"/>
            </a:pPr>
            <a:endParaRPr lang="en-US" sz="2000" b="1" dirty="0">
              <a:solidFill>
                <a:srgbClr val="000000"/>
              </a:solidFill>
              <a:latin typeface="Arial" charset="0"/>
              <a:cs typeface="Arial" charset="0"/>
            </a:endParaRPr>
          </a:p>
          <a:p>
            <a:pPr marL="233363" indent="-233363" eaLnBrk="1" hangingPunct="1">
              <a:spcBef>
                <a:spcPct val="25000"/>
              </a:spcBef>
              <a:buFontTx/>
              <a:buChar char="•"/>
            </a:pPr>
            <a:r>
              <a:rPr lang="en-US" sz="2000" b="1" dirty="0" smtClean="0">
                <a:solidFill>
                  <a:srgbClr val="000000"/>
                </a:solidFill>
                <a:latin typeface="Arial" charset="0"/>
                <a:cs typeface="Arial" charset="0"/>
              </a:rPr>
              <a:t>This </a:t>
            </a:r>
            <a:r>
              <a:rPr lang="en-US" sz="2000" b="1" dirty="0">
                <a:solidFill>
                  <a:srgbClr val="000000"/>
                </a:solidFill>
                <a:latin typeface="Arial" charset="0"/>
                <a:cs typeface="Arial" charset="0"/>
              </a:rPr>
              <a:t>vastly expands the pool of potential investors and makes the public market for CMBS viable</a:t>
            </a:r>
            <a:r>
              <a:rPr lang="en-US" sz="2000" b="1" dirty="0" smtClean="0">
                <a:solidFill>
                  <a:srgbClr val="000000"/>
                </a:solidFill>
                <a:latin typeface="Arial" charset="0"/>
                <a:cs typeface="Arial" charset="0"/>
              </a:rPr>
              <a:t>.</a:t>
            </a:r>
            <a:endParaRPr lang="en-US" sz="2000" b="1" dirty="0">
              <a:solidFill>
                <a:srgbClr val="000000"/>
              </a:solidFill>
              <a:latin typeface="Arial" charset="0"/>
              <a:cs typeface="Arial"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3"/>
          <p:cNvSpPr>
            <a:spLocks noGrp="1"/>
          </p:cNvSpPr>
          <p:nvPr>
            <p:ph type="sldNum" sz="quarter" idx="12"/>
          </p:nvPr>
        </p:nvSpPr>
        <p:spPr>
          <a:noFill/>
          <a:ln>
            <a:miter lim="800000"/>
            <a:headEnd/>
            <a:tailEnd/>
          </a:ln>
        </p:spPr>
        <p:txBody>
          <a:bodyPr/>
          <a:lstStyle/>
          <a:p>
            <a:fld id="{BB20BF32-2BCB-4752-A8A8-21290F010D5A}" type="slidenum">
              <a:rPr lang="en-US"/>
              <a:pPr/>
              <a:t>11</a:t>
            </a:fld>
            <a:endParaRPr lang="en-US"/>
          </a:p>
        </p:txBody>
      </p:sp>
      <p:sp>
        <p:nvSpPr>
          <p:cNvPr id="470018" name="Text Box 2"/>
          <p:cNvSpPr txBox="1">
            <a:spLocks noChangeArrowheads="1"/>
          </p:cNvSpPr>
          <p:nvPr/>
        </p:nvSpPr>
        <p:spPr bwMode="auto">
          <a:xfrm>
            <a:off x="228600" y="152400"/>
            <a:ext cx="8763000" cy="823913"/>
          </a:xfrm>
          <a:prstGeom prst="rect">
            <a:avLst/>
          </a:prstGeom>
          <a:noFill/>
          <a:ln w="9525">
            <a:noFill/>
            <a:miter lim="800000"/>
            <a:headEnd/>
            <a:tailEnd/>
          </a:ln>
          <a:effectLst/>
        </p:spPr>
        <p:txBody>
          <a:bodyPr>
            <a:spAutoFit/>
          </a:bodyPr>
          <a:lstStyle/>
          <a:p>
            <a:pPr>
              <a:defRPr/>
            </a:pPr>
            <a:r>
              <a:rPr lang="en-US" sz="2800">
                <a:effectLst>
                  <a:outerShdw blurRad="38100" dist="38100" dir="2700000" algn="tl">
                    <a:srgbClr val="FFFFFF"/>
                  </a:outerShdw>
                </a:effectLst>
              </a:rPr>
              <a:t>20.2 CMBS Structure: Tranching &amp; Subordination…</a:t>
            </a:r>
          </a:p>
          <a:p>
            <a:pPr>
              <a:defRPr/>
            </a:pPr>
            <a:r>
              <a:rPr lang="en-US">
                <a:effectLst>
                  <a:outerShdw blurRad="38100" dist="38100" dir="2700000" algn="tl">
                    <a:srgbClr val="FFFFFF"/>
                  </a:outerShdw>
                </a:effectLst>
              </a:rPr>
              <a:t> </a:t>
            </a:r>
          </a:p>
        </p:txBody>
      </p:sp>
      <p:sp>
        <p:nvSpPr>
          <p:cNvPr id="470019" name="Text Box 3"/>
          <p:cNvSpPr txBox="1">
            <a:spLocks noChangeArrowheads="1"/>
          </p:cNvSpPr>
          <p:nvPr/>
        </p:nvSpPr>
        <p:spPr bwMode="auto">
          <a:xfrm>
            <a:off x="304800" y="533400"/>
            <a:ext cx="8610600" cy="6248400"/>
          </a:xfrm>
          <a:prstGeom prst="rect">
            <a:avLst/>
          </a:prstGeom>
          <a:noFill/>
          <a:ln w="9525">
            <a:noFill/>
            <a:miter lim="800000"/>
            <a:headEnd/>
            <a:tailEnd/>
          </a:ln>
          <a:effectLst/>
        </p:spPr>
        <p:txBody>
          <a:bodyPr>
            <a:spAutoFit/>
          </a:bodyPr>
          <a:lstStyle/>
          <a:p>
            <a:pPr>
              <a:defRPr/>
            </a:pPr>
            <a:endParaRPr lang="en-US" sz="1800" dirty="0">
              <a:effectLst>
                <a:outerShdw blurRad="38100" dist="38100" dir="2700000" algn="tl">
                  <a:srgbClr val="FFFFFF"/>
                </a:outerShdw>
              </a:effectLst>
            </a:endParaRPr>
          </a:p>
          <a:p>
            <a:pPr>
              <a:defRPr/>
            </a:pPr>
            <a:r>
              <a:rPr lang="en-US" sz="1800" dirty="0">
                <a:effectLst>
                  <a:outerShdw blurRad="38100" dist="38100" dir="2700000" algn="tl">
                    <a:srgbClr val="FFFFFF"/>
                  </a:outerShdw>
                </a:effectLst>
              </a:rPr>
              <a:t>Basic Structure </a:t>
            </a:r>
            <a:r>
              <a:rPr lang="en-US" sz="1800" dirty="0">
                <a:solidFill>
                  <a:srgbClr val="FF0000"/>
                </a:solidFill>
                <a:effectLst>
                  <a:outerShdw blurRad="38100" dist="38100" dir="2700000" algn="tl">
                    <a:srgbClr val="FFFFFF"/>
                  </a:outerShdw>
                </a:effectLst>
              </a:rPr>
              <a:t>… </a:t>
            </a:r>
            <a:r>
              <a:rPr lang="en-US" sz="1800" dirty="0">
                <a:solidFill>
                  <a:srgbClr val="FF0000"/>
                </a:solidFill>
              </a:rPr>
              <a:t>A senior/subordinate structure in which the cash flow from the pool of underlying commercial mortgages is used to create distinct classes of securities (bonds); the pool is cut up into tranches</a:t>
            </a:r>
            <a:r>
              <a:rPr lang="en-US" sz="1800" dirty="0"/>
              <a:t>.</a:t>
            </a:r>
          </a:p>
          <a:p>
            <a:pPr>
              <a:defRPr/>
            </a:pPr>
            <a:endParaRPr lang="en-US" sz="1800" dirty="0">
              <a:effectLst>
                <a:outerShdw blurRad="38100" dist="38100" dir="2700000" algn="tl">
                  <a:srgbClr val="FFFFFF"/>
                </a:outerShdw>
              </a:effectLst>
            </a:endParaRPr>
          </a:p>
          <a:p>
            <a:pPr>
              <a:defRPr/>
            </a:pPr>
            <a:r>
              <a:rPr lang="en-US" sz="1800" dirty="0" err="1">
                <a:effectLst>
                  <a:outerShdw blurRad="38100" dist="38100" dir="2700000" algn="tl">
                    <a:srgbClr val="FFFFFF"/>
                  </a:outerShdw>
                </a:effectLst>
              </a:rPr>
              <a:t>Tranching</a:t>
            </a:r>
            <a:r>
              <a:rPr lang="en-US" sz="1800" dirty="0">
                <a:effectLst>
                  <a:outerShdw blurRad="38100" dist="38100" dir="2700000" algn="tl">
                    <a:srgbClr val="FFFFFF"/>
                  </a:outerShdw>
                </a:effectLst>
              </a:rPr>
              <a:t> cash flow claim priority involves two primary dimensions: </a:t>
            </a:r>
          </a:p>
          <a:p>
            <a:pPr>
              <a:defRPr/>
            </a:pPr>
            <a:endParaRPr lang="en-US" sz="1800" dirty="0">
              <a:effectLst>
                <a:outerShdw blurRad="38100" dist="38100" dir="2700000" algn="tl">
                  <a:srgbClr val="FFFFFF"/>
                </a:outerShdw>
              </a:effectLst>
            </a:endParaRPr>
          </a:p>
          <a:p>
            <a:pPr lvl="3">
              <a:buFontTx/>
              <a:buChar char="•"/>
              <a:defRPr/>
            </a:pPr>
            <a:r>
              <a:rPr lang="en-US" sz="1800" dirty="0">
                <a:solidFill>
                  <a:srgbClr val="FF0000"/>
                </a:solidFill>
                <a:effectLst>
                  <a:outerShdw blurRad="38100" dist="38100" dir="2700000" algn="tl">
                    <a:srgbClr val="FFFFFF"/>
                  </a:outerShdw>
                </a:effectLst>
              </a:rPr>
              <a:t> Loan Contractual Retirement. </a:t>
            </a:r>
            <a:r>
              <a:rPr lang="en-US" sz="1800" dirty="0">
                <a:solidFill>
                  <a:srgbClr val="FF0000"/>
                </a:solidFill>
                <a:effectLst>
                  <a:outerShdw blurRad="38100" dist="38100" dir="2700000" algn="tl">
                    <a:srgbClr val="FFFFFF"/>
                  </a:outerShdw>
                </a:effectLst>
                <a:sym typeface="Wingdings" pitchFamily="2" charset="2"/>
              </a:rPr>
              <a:t> Duration / Interest Rate Risk.</a:t>
            </a:r>
            <a:endParaRPr lang="en-US" sz="1800" dirty="0">
              <a:solidFill>
                <a:srgbClr val="FF0000"/>
              </a:solidFill>
              <a:effectLst>
                <a:outerShdw blurRad="38100" dist="38100" dir="2700000" algn="tl">
                  <a:srgbClr val="FFFFFF"/>
                </a:outerShdw>
              </a:effectLst>
            </a:endParaRPr>
          </a:p>
          <a:p>
            <a:pPr lvl="4">
              <a:defRPr/>
            </a:pPr>
            <a:endParaRPr lang="en-US" sz="1800" dirty="0">
              <a:solidFill>
                <a:srgbClr val="FF0000"/>
              </a:solidFill>
              <a:effectLst>
                <a:outerShdw blurRad="38100" dist="38100" dir="2700000" algn="tl">
                  <a:srgbClr val="FFFFFF"/>
                </a:outerShdw>
              </a:effectLst>
            </a:endParaRPr>
          </a:p>
          <a:p>
            <a:pPr lvl="3">
              <a:buFontTx/>
              <a:buChar char="•"/>
              <a:defRPr/>
            </a:pPr>
            <a:r>
              <a:rPr lang="en-US" sz="1800" dirty="0">
                <a:solidFill>
                  <a:srgbClr val="FF0000"/>
                </a:solidFill>
                <a:effectLst>
                  <a:outerShdw blurRad="38100" dist="38100" dir="2700000" algn="tl">
                    <a:srgbClr val="FFFFFF"/>
                  </a:outerShdw>
                </a:effectLst>
              </a:rPr>
              <a:t> Credit Losses. </a:t>
            </a:r>
            <a:r>
              <a:rPr lang="en-US" sz="1800" dirty="0">
                <a:solidFill>
                  <a:srgbClr val="FF0000"/>
                </a:solidFill>
                <a:effectLst>
                  <a:outerShdw blurRad="38100" dist="38100" dir="2700000" algn="tl">
                    <a:srgbClr val="FFFFFF"/>
                  </a:outerShdw>
                </a:effectLst>
                <a:sym typeface="Wingdings" pitchFamily="2" charset="2"/>
              </a:rPr>
              <a:t> Default Risk.</a:t>
            </a:r>
            <a:endParaRPr lang="en-US" sz="1800" dirty="0">
              <a:solidFill>
                <a:srgbClr val="FF0000"/>
              </a:solidFill>
              <a:effectLst>
                <a:outerShdw blurRad="38100" dist="38100" dir="2700000" algn="tl">
                  <a:srgbClr val="FFFFFF"/>
                </a:outerShdw>
              </a:effectLst>
            </a:endParaRPr>
          </a:p>
          <a:p>
            <a:pPr>
              <a:defRPr/>
            </a:pPr>
            <a:endParaRPr lang="en-US" sz="1800" dirty="0">
              <a:effectLst>
                <a:outerShdw blurRad="38100" dist="38100" dir="2700000" algn="tl">
                  <a:srgbClr val="FFFFFF"/>
                </a:outerShdw>
              </a:effectLst>
            </a:endParaRPr>
          </a:p>
          <a:p>
            <a:pPr>
              <a:defRPr/>
            </a:pPr>
            <a:r>
              <a:rPr lang="en-US" sz="1800" dirty="0">
                <a:effectLst>
                  <a:outerShdw blurRad="38100" dist="38100" dir="2700000" algn="tl">
                    <a:srgbClr val="FFFFFF"/>
                  </a:outerShdw>
                </a:effectLst>
              </a:rPr>
              <a:t>In CMBS it is usually the default risk dimension that is most important (most commercial mortgages have “prepayment protection”).</a:t>
            </a:r>
          </a:p>
          <a:p>
            <a:pPr>
              <a:defRPr/>
            </a:pPr>
            <a:endParaRPr lang="en-US" sz="1800" dirty="0">
              <a:effectLst>
                <a:outerShdw blurRad="38100" dist="38100" dir="2700000" algn="tl">
                  <a:srgbClr val="FFFFFF"/>
                </a:outerShdw>
              </a:effectLst>
            </a:endParaRPr>
          </a:p>
          <a:p>
            <a:pPr>
              <a:defRPr/>
            </a:pPr>
            <a:r>
              <a:rPr lang="en-US" sz="1800" dirty="0">
                <a:effectLst>
                  <a:outerShdw blurRad="38100" dist="38100" dir="2700000" algn="tl">
                    <a:srgbClr val="FFFFFF"/>
                  </a:outerShdw>
                </a:effectLst>
              </a:rPr>
              <a:t>The opposite used to be true in RMBS, where duration was traditionally the prime concern, due to the greater prepayment risk in residential loans (RMBS pools from FNMA FHLMC had “default protection”).</a:t>
            </a:r>
          </a:p>
          <a:p>
            <a:pPr>
              <a:defRPr/>
            </a:pPr>
            <a:endParaRPr lang="en-US" sz="1800" dirty="0">
              <a:effectLst>
                <a:outerShdw blurRad="38100" dist="38100" dir="2700000" algn="tl">
                  <a:srgbClr val="FFFFFF"/>
                </a:outerShdw>
              </a:effectLst>
            </a:endParaRPr>
          </a:p>
          <a:p>
            <a:pPr>
              <a:defRPr/>
            </a:pPr>
            <a:r>
              <a:rPr lang="en-US" sz="1800" dirty="0">
                <a:effectLst>
                  <a:outerShdw blurRad="38100" dist="38100" dir="2700000" algn="tl">
                    <a:srgbClr val="FFFFFF"/>
                  </a:outerShdw>
                </a:effectLst>
              </a:rPr>
              <a:t>The way the CMBS industry has worked, an </a:t>
            </a:r>
            <a:r>
              <a:rPr lang="en-US" sz="1800" dirty="0">
                <a:solidFill>
                  <a:srgbClr val="FF0000"/>
                </a:solidFill>
                <a:effectLst>
                  <a:outerShdw blurRad="38100" dist="38100" dir="2700000" algn="tl">
                    <a:srgbClr val="FFFFFF"/>
                  </a:outerShdw>
                </a:effectLst>
              </a:rPr>
              <a:t>“IO” class </a:t>
            </a:r>
            <a:r>
              <a:rPr lang="en-US" sz="1800" dirty="0">
                <a:effectLst>
                  <a:outerShdw blurRad="38100" dist="38100" dir="2700000" algn="tl">
                    <a:srgbClr val="FFFFFF"/>
                  </a:outerShdw>
                </a:effectLst>
              </a:rPr>
              <a:t>is “stripped” off of the other securities (from the excess of pool loan coupon interest over the A-Tranche coupon interest), providing shorter-duration securities that have been </a:t>
            </a:r>
            <a:r>
              <a:rPr lang="en-US" sz="1800" dirty="0">
                <a:solidFill>
                  <a:srgbClr val="FF0000"/>
                </a:solidFill>
                <a:effectLst>
                  <a:outerShdw blurRad="38100" dist="38100" dir="2700000" algn="tl">
                    <a:srgbClr val="FFFFFF"/>
                  </a:outerShdw>
                </a:effectLst>
              </a:rPr>
              <a:t>major source of profit to CMBS issuers</a:t>
            </a:r>
            <a:r>
              <a:rPr lang="en-US" sz="1800" dirty="0">
                <a:effectLst>
                  <a:outerShdw blurRad="38100" dist="38100" dir="2700000" algn="tl">
                    <a:srgbClr val="FFFFFF"/>
                  </a:outerShdw>
                </a:effectLst>
              </a:rPr>
              <a:t>. </a:t>
            </a:r>
          </a:p>
        </p:txBody>
      </p:sp>
      <p:sp>
        <p:nvSpPr>
          <p:cNvPr id="5" name="Footer Placeholder 4"/>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685800" y="6350"/>
            <a:ext cx="77724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rtl="0" eaLnBrk="0" fontAlgn="base" hangingPunct="0">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9pPr>
          </a:lstStyle>
          <a:p>
            <a:pPr>
              <a:defRPr/>
            </a:pPr>
            <a:r>
              <a:rPr lang="en-US" sz="2400" smtClean="0"/>
              <a:t>20.2.1 A Simplified Numerical Example of Tranching</a:t>
            </a:r>
            <a:endParaRPr lang="en-US" sz="2400" dirty="0"/>
          </a:p>
        </p:txBody>
      </p:sp>
      <p:sp>
        <p:nvSpPr>
          <p:cNvPr id="5" name="Slide Number Placeholder 4"/>
          <p:cNvSpPr>
            <a:spLocks noGrp="1"/>
          </p:cNvSpPr>
          <p:nvPr>
            <p:ph type="sldNum" sz="quarter" idx="12"/>
          </p:nvPr>
        </p:nvSpPr>
        <p:spPr/>
        <p:txBody>
          <a:bodyPr/>
          <a:lstStyle/>
          <a:p>
            <a:fld id="{48A99278-0183-414C-88A9-7F7A59B915A5}" type="slidenum">
              <a:rPr lang="en-US" smtClean="0"/>
              <a:pPr/>
              <a:t>12</a:t>
            </a:fld>
            <a:endParaRPr lang="en-US"/>
          </a:p>
        </p:txBody>
      </p:sp>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grpSp>
        <p:nvGrpSpPr>
          <p:cNvPr id="9" name="Group 8"/>
          <p:cNvGrpSpPr/>
          <p:nvPr/>
        </p:nvGrpSpPr>
        <p:grpSpPr>
          <a:xfrm>
            <a:off x="457200" y="1670050"/>
            <a:ext cx="8506599" cy="4502150"/>
            <a:chOff x="457200" y="1670050"/>
            <a:chExt cx="8506599" cy="4502150"/>
          </a:xfrm>
        </p:grpSpPr>
        <p:pic>
          <p:nvPicPr>
            <p:cNvPr id="100356" name="Picture 4"/>
            <p:cNvPicPr>
              <a:picLocks noChangeAspect="1" noChangeArrowheads="1"/>
            </p:cNvPicPr>
            <p:nvPr/>
          </p:nvPicPr>
          <p:blipFill>
            <a:blip r:embed="rId2" cstate="print"/>
            <a:srcRect/>
            <a:stretch>
              <a:fillRect/>
            </a:stretch>
          </p:blipFill>
          <p:spPr bwMode="auto">
            <a:xfrm>
              <a:off x="457200" y="1670050"/>
              <a:ext cx="8229600" cy="4502150"/>
            </a:xfrm>
            <a:prstGeom prst="rect">
              <a:avLst/>
            </a:prstGeom>
            <a:noFill/>
            <a:ln w="9525">
              <a:solidFill>
                <a:schemeClr val="tx1"/>
              </a:solidFill>
              <a:miter lim="800000"/>
              <a:headEnd/>
              <a:tailEnd/>
            </a:ln>
          </p:spPr>
        </p:pic>
        <p:sp>
          <p:nvSpPr>
            <p:cNvPr id="7" name="Rectangle 6"/>
            <p:cNvSpPr/>
            <p:nvPr/>
          </p:nvSpPr>
          <p:spPr>
            <a:xfrm rot="16200000">
              <a:off x="7888188" y="4944190"/>
              <a:ext cx="1905001" cy="246221"/>
            </a:xfrm>
            <a:prstGeom prst="rect">
              <a:avLst/>
            </a:prstGeom>
          </p:spPr>
          <p:txBody>
            <a:bodyPr wrap="square">
              <a:spAutoFit/>
            </a:bodyPr>
            <a:lstStyle/>
            <a:p>
              <a:r>
                <a:rPr lang="en-US" sz="1000" dirty="0" smtClean="0">
                  <a:latin typeface="Calibri" pitchFamily="34" charset="0"/>
                </a:rPr>
                <a:t>© </a:t>
              </a:r>
              <a:r>
                <a:rPr lang="en-US" sz="1000" dirty="0">
                  <a:latin typeface="Calibri" pitchFamily="34" charset="0"/>
                </a:rPr>
                <a:t>OnCourse Learning</a:t>
              </a:r>
            </a:p>
          </p:txBody>
        </p:sp>
      </p:grpSp>
      <p:sp>
        <p:nvSpPr>
          <p:cNvPr id="8" name="Rectangle 7"/>
          <p:cNvSpPr/>
          <p:nvPr/>
        </p:nvSpPr>
        <p:spPr>
          <a:xfrm>
            <a:off x="457200" y="762000"/>
            <a:ext cx="8229600" cy="707886"/>
          </a:xfrm>
          <a:prstGeom prst="rect">
            <a:avLst/>
          </a:prstGeom>
        </p:spPr>
        <p:txBody>
          <a:bodyPr wrap="square">
            <a:spAutoFit/>
          </a:bodyPr>
          <a:lstStyle/>
          <a:p>
            <a:r>
              <a:rPr lang="en-US" sz="2000" b="1" dirty="0">
                <a:solidFill>
                  <a:srgbClr val="00B0F0"/>
                </a:solidFill>
                <a:latin typeface="Calibri" pitchFamily="34" charset="0"/>
              </a:rPr>
              <a:t>EXHIBIT 20-3 </a:t>
            </a:r>
            <a:r>
              <a:rPr lang="en-US" sz="2000" dirty="0" err="1">
                <a:latin typeface="Calibri" pitchFamily="34" charset="0"/>
              </a:rPr>
              <a:t>CMBS</a:t>
            </a:r>
            <a:r>
              <a:rPr lang="en-US" sz="2000" dirty="0">
                <a:latin typeface="Calibri" pitchFamily="34" charset="0"/>
              </a:rPr>
              <a:t> Mortgage Securitization Basics: Numerical Example of </a:t>
            </a:r>
            <a:r>
              <a:rPr lang="en-US" sz="2000" dirty="0" err="1">
                <a:latin typeface="Calibri" pitchFamily="34" charset="0"/>
              </a:rPr>
              <a:t>Tranching</a:t>
            </a:r>
            <a:r>
              <a:rPr lang="en-US" sz="2000" dirty="0">
                <a:latin typeface="Calibri" pitchFamily="34" charset="0"/>
              </a:rPr>
              <a:t> and Senior/Subordinate </a:t>
            </a:r>
            <a:r>
              <a:rPr lang="en-US" sz="2000" dirty="0" smtClean="0">
                <a:latin typeface="Calibri" pitchFamily="34" charset="0"/>
              </a:rPr>
              <a:t>Structure</a:t>
            </a:r>
            <a:endParaRPr lang="en-US" sz="2000" dirty="0">
              <a:latin typeface="Calibri" pitchFamily="34" charset="0"/>
            </a:endParaRPr>
          </a:p>
        </p:txBody>
      </p:sp>
      <p:sp>
        <p:nvSpPr>
          <p:cNvPr id="2" name="TextBox 1"/>
          <p:cNvSpPr txBox="1"/>
          <p:nvPr/>
        </p:nvSpPr>
        <p:spPr>
          <a:xfrm>
            <a:off x="6085435" y="5412760"/>
            <a:ext cx="2372765" cy="461665"/>
          </a:xfrm>
          <a:prstGeom prst="rect">
            <a:avLst/>
          </a:prstGeom>
          <a:noFill/>
        </p:spPr>
        <p:txBody>
          <a:bodyPr wrap="none" rtlCol="0">
            <a:spAutoFit/>
          </a:bodyPr>
          <a:lstStyle/>
          <a:p>
            <a:r>
              <a:rPr lang="en-US" sz="800" dirty="0" smtClean="0"/>
              <a:t>Portions of interest payments that are not claimed by </a:t>
            </a:r>
          </a:p>
          <a:p>
            <a:r>
              <a:rPr lang="en-US" sz="800" dirty="0"/>
              <a:t>o</a:t>
            </a:r>
            <a:r>
              <a:rPr lang="en-US" sz="800" dirty="0" smtClean="0"/>
              <a:t>ther tranches on the basis of their par values and </a:t>
            </a:r>
          </a:p>
          <a:p>
            <a:r>
              <a:rPr lang="en-US" sz="800" dirty="0" smtClean="0"/>
              <a:t>coupon rates</a:t>
            </a:r>
            <a:endParaRPr lang="en-US" sz="800" dirty="0"/>
          </a:p>
        </p:txBody>
      </p:sp>
      <p:sp>
        <p:nvSpPr>
          <p:cNvPr id="3" name="TextBox 2"/>
          <p:cNvSpPr txBox="1"/>
          <p:nvPr/>
        </p:nvSpPr>
        <p:spPr>
          <a:xfrm>
            <a:off x="685800" y="2239089"/>
            <a:ext cx="702436" cy="246221"/>
          </a:xfrm>
          <a:prstGeom prst="rect">
            <a:avLst/>
          </a:prstGeom>
          <a:noFill/>
        </p:spPr>
        <p:txBody>
          <a:bodyPr wrap="none" rtlCol="0">
            <a:spAutoFit/>
          </a:bodyPr>
          <a:lstStyle/>
          <a:p>
            <a:r>
              <a:rPr lang="en-US" sz="1000" dirty="0" smtClean="0"/>
              <a:t>70% LTV</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9525"/>
            <a:ext cx="7772400" cy="5334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sz="2800" dirty="0" smtClean="0"/>
              <a:t>20.2.2 Example: Allocating the Credit Losses</a:t>
            </a:r>
            <a:endParaRPr lang="en-US" sz="2800" dirty="0"/>
          </a:p>
        </p:txBody>
      </p:sp>
      <p:sp>
        <p:nvSpPr>
          <p:cNvPr id="8" name="TextBox 7"/>
          <p:cNvSpPr txBox="1"/>
          <p:nvPr/>
        </p:nvSpPr>
        <p:spPr>
          <a:xfrm>
            <a:off x="384810" y="2362200"/>
            <a:ext cx="8229600" cy="338554"/>
          </a:xfrm>
          <a:prstGeom prst="rect">
            <a:avLst/>
          </a:prstGeom>
          <a:noFill/>
        </p:spPr>
        <p:txBody>
          <a:bodyPr wrap="square">
            <a:spAutoFit/>
          </a:bodyPr>
          <a:lstStyle/>
          <a:p>
            <a:pPr marL="1944688" indent="-1944688">
              <a:defRPr/>
            </a:pPr>
            <a:r>
              <a:rPr lang="en-US" sz="1600" b="1" dirty="0" smtClean="0">
                <a:solidFill>
                  <a:srgbClr val="00B0F0"/>
                </a:solidFill>
                <a:latin typeface="+mj-lt"/>
              </a:rPr>
              <a:t>Exhibit 20-4: </a:t>
            </a:r>
            <a:r>
              <a:rPr lang="en-US" sz="1600" dirty="0" smtClean="0">
                <a:latin typeface="+mj-lt"/>
              </a:rPr>
              <a:t>Contract </a:t>
            </a:r>
            <a:r>
              <a:rPr lang="en-US" sz="1600" dirty="0">
                <a:latin typeface="+mj-lt"/>
              </a:rPr>
              <a:t>vs Ex Post (realized) Cash Flows by </a:t>
            </a:r>
            <a:r>
              <a:rPr lang="en-US" sz="1600" dirty="0" err="1">
                <a:latin typeface="+mj-lt"/>
              </a:rPr>
              <a:t>Tranch</a:t>
            </a:r>
            <a:r>
              <a:rPr lang="en-US" sz="1600" dirty="0">
                <a:latin typeface="+mj-lt"/>
              </a:rPr>
              <a:t> and Year</a:t>
            </a:r>
          </a:p>
        </p:txBody>
      </p:sp>
      <p:sp>
        <p:nvSpPr>
          <p:cNvPr id="9" name="Slide Number Placeholder 8"/>
          <p:cNvSpPr>
            <a:spLocks noGrp="1"/>
          </p:cNvSpPr>
          <p:nvPr>
            <p:ph type="sldNum" sz="quarter" idx="12"/>
          </p:nvPr>
        </p:nvSpPr>
        <p:spPr/>
        <p:txBody>
          <a:bodyPr/>
          <a:lstStyle/>
          <a:p>
            <a:fld id="{48A99278-0183-414C-88A9-7F7A59B915A5}" type="slidenum">
              <a:rPr lang="en-US" smtClean="0"/>
              <a:pPr/>
              <a:t>13</a:t>
            </a:fld>
            <a:endParaRPr lang="en-US"/>
          </a:p>
        </p:txBody>
      </p:sp>
      <p:sp>
        <p:nvSpPr>
          <p:cNvPr id="10" name="Footer Placeholder 9"/>
          <p:cNvSpPr>
            <a:spLocks noGrp="1"/>
          </p:cNvSpPr>
          <p:nvPr>
            <p:ph type="ftr" sz="quarter" idx="11"/>
          </p:nvPr>
        </p:nvSpPr>
        <p:spPr/>
        <p:txBody>
          <a:bodyPr/>
          <a:lstStyle/>
          <a:p>
            <a:pPr>
              <a:defRPr/>
            </a:pPr>
            <a:r>
              <a:rPr lang="en-US" smtClean="0"/>
              <a:t>© 2014 OnCourse Learning. All Rights Reserved.</a:t>
            </a:r>
            <a:endParaRPr lang="en-US"/>
          </a:p>
        </p:txBody>
      </p:sp>
      <p:grpSp>
        <p:nvGrpSpPr>
          <p:cNvPr id="18" name="Group 17"/>
          <p:cNvGrpSpPr/>
          <p:nvPr/>
        </p:nvGrpSpPr>
        <p:grpSpPr>
          <a:xfrm>
            <a:off x="381000" y="2895600"/>
            <a:ext cx="8229600" cy="3045145"/>
            <a:chOff x="457200" y="1907855"/>
            <a:chExt cx="8229600" cy="3045145"/>
          </a:xfrm>
        </p:grpSpPr>
        <p:pic>
          <p:nvPicPr>
            <p:cNvPr id="101384" name="Picture 8"/>
            <p:cNvPicPr>
              <a:picLocks noChangeAspect="1" noChangeArrowheads="1"/>
            </p:cNvPicPr>
            <p:nvPr/>
          </p:nvPicPr>
          <p:blipFill>
            <a:blip r:embed="rId2" cstate="print"/>
            <a:srcRect/>
            <a:stretch>
              <a:fillRect/>
            </a:stretch>
          </p:blipFill>
          <p:spPr bwMode="auto">
            <a:xfrm>
              <a:off x="457200" y="1907855"/>
              <a:ext cx="8229600" cy="3045145"/>
            </a:xfrm>
            <a:prstGeom prst="rect">
              <a:avLst/>
            </a:prstGeom>
            <a:noFill/>
            <a:ln w="9525">
              <a:noFill/>
              <a:miter lim="800000"/>
              <a:headEnd/>
              <a:tailEnd/>
            </a:ln>
          </p:spPr>
        </p:pic>
        <p:cxnSp>
          <p:nvCxnSpPr>
            <p:cNvPr id="15" name="Straight Connector 14"/>
            <p:cNvCxnSpPr/>
            <p:nvPr/>
          </p:nvCxnSpPr>
          <p:spPr bwMode="auto">
            <a:xfrm>
              <a:off x="457200" y="3124200"/>
              <a:ext cx="8229600" cy="0"/>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p:nvPr/>
          </p:nvCxnSpPr>
          <p:spPr bwMode="auto">
            <a:xfrm>
              <a:off x="457200" y="3733800"/>
              <a:ext cx="8229600" cy="0"/>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p:nvPr/>
          </p:nvCxnSpPr>
          <p:spPr bwMode="auto">
            <a:xfrm>
              <a:off x="457200" y="4343400"/>
              <a:ext cx="8229600" cy="0"/>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TextBox 2"/>
          <p:cNvSpPr txBox="1"/>
          <p:nvPr/>
        </p:nvSpPr>
        <p:spPr>
          <a:xfrm>
            <a:off x="582930" y="609600"/>
            <a:ext cx="7502375" cy="1815882"/>
          </a:xfrm>
          <a:prstGeom prst="rect">
            <a:avLst/>
          </a:prstGeom>
          <a:noFill/>
        </p:spPr>
        <p:txBody>
          <a:bodyPr wrap="none" rtlCol="0">
            <a:spAutoFit/>
          </a:bodyPr>
          <a:lstStyle/>
          <a:p>
            <a:pPr marL="285750" indent="-285750">
              <a:buFont typeface="Arial" panose="020B0604020202020204" pitchFamily="34" charset="0"/>
              <a:buChar char="•"/>
            </a:pPr>
            <a:r>
              <a:rPr lang="en-US" dirty="0"/>
              <a:t>Suppose all loans perform according to the contract in the first year</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but </a:t>
            </a:r>
            <a:r>
              <a:rPr lang="en-US" dirty="0"/>
              <a:t>in the second year </a:t>
            </a:r>
            <a:r>
              <a:rPr lang="en-US" dirty="0" smtClean="0"/>
              <a:t>one </a:t>
            </a:r>
            <a:r>
              <a:rPr lang="en-US" dirty="0"/>
              <a:t>of the </a:t>
            </a:r>
            <a:r>
              <a:rPr lang="en-US" dirty="0" smtClean="0"/>
              <a:t>remaining </a:t>
            </a:r>
            <a:r>
              <a:rPr lang="en-US" dirty="0"/>
              <a:t>five loans defaults on its $1 million interest payment</a:t>
            </a:r>
            <a:r>
              <a:rPr lang="en-US" dirty="0" smtClean="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The loan is sold in foreclosure for net proceeds of $5 million.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Thus, the pool is short $6 million of contractual cash flow in year 2.</a:t>
            </a:r>
            <a:endParaRPr lang="en-US" dirty="0"/>
          </a:p>
          <a:p>
            <a:endParaRPr lang="en-US" dirty="0"/>
          </a:p>
        </p:txBody>
      </p:sp>
      <p:cxnSp>
        <p:nvCxnSpPr>
          <p:cNvPr id="5" name="Straight Arrow Connector 4"/>
          <p:cNvCxnSpPr/>
          <p:nvPr/>
        </p:nvCxnSpPr>
        <p:spPr bwMode="auto">
          <a:xfrm flipV="1">
            <a:off x="7467600" y="4648200"/>
            <a:ext cx="0" cy="457200"/>
          </a:xfrm>
          <a:prstGeom prst="straightConnector1">
            <a:avLst/>
          </a:prstGeom>
          <a:solidFill>
            <a:schemeClr val="accent1"/>
          </a:solidFill>
          <a:ln w="952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p:cNvCxnSpPr/>
          <p:nvPr/>
        </p:nvCxnSpPr>
        <p:spPr bwMode="auto">
          <a:xfrm flipV="1">
            <a:off x="8001000" y="4648200"/>
            <a:ext cx="0" cy="457200"/>
          </a:xfrm>
          <a:prstGeom prst="straightConnector1">
            <a:avLst/>
          </a:prstGeom>
          <a:solidFill>
            <a:schemeClr val="accent1"/>
          </a:solidFill>
          <a:ln w="952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p:cNvSpPr txBox="1"/>
          <p:nvPr/>
        </p:nvSpPr>
        <p:spPr>
          <a:xfrm>
            <a:off x="582930" y="6248400"/>
            <a:ext cx="1977657" cy="307777"/>
          </a:xfrm>
          <a:prstGeom prst="rect">
            <a:avLst/>
          </a:prstGeom>
          <a:noFill/>
        </p:spPr>
        <p:txBody>
          <a:bodyPr wrap="none" rtlCol="0">
            <a:spAutoFit/>
          </a:bodyPr>
          <a:lstStyle/>
          <a:p>
            <a:r>
              <a:rPr lang="en-US" dirty="0" smtClean="0">
                <a:solidFill>
                  <a:srgbClr val="FF0000"/>
                </a:solidFill>
              </a:rPr>
              <a:t>Write on the blackboard!</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sz="2800" dirty="0" smtClean="0"/>
              <a:t>20.2.3 Unbundling, Specialization, &amp; Value Creation</a:t>
            </a:r>
            <a:endParaRPr lang="en-US" sz="2800" dirty="0"/>
          </a:p>
        </p:txBody>
      </p:sp>
      <p:sp>
        <p:nvSpPr>
          <p:cNvPr id="102403" name="Content Placeholder 2"/>
          <p:cNvSpPr>
            <a:spLocks noGrp="1"/>
          </p:cNvSpPr>
          <p:nvPr>
            <p:ph idx="1"/>
          </p:nvPr>
        </p:nvSpPr>
        <p:spPr>
          <a:xfrm>
            <a:off x="685800" y="1219200"/>
            <a:ext cx="7772400" cy="5105400"/>
          </a:xfrm>
        </p:spPr>
        <p:txBody>
          <a:bodyPr/>
          <a:lstStyle/>
          <a:p>
            <a:r>
              <a:rPr lang="en-US" sz="1800" b="1" dirty="0" smtClean="0">
                <a:solidFill>
                  <a:srgbClr val="FF0000"/>
                </a:solidFill>
              </a:rPr>
              <a:t>Unbundle</a:t>
            </a:r>
            <a:r>
              <a:rPr lang="en-US" sz="1800" b="1" dirty="0" smtClean="0"/>
              <a:t> cash flow sources. Separate:</a:t>
            </a:r>
          </a:p>
          <a:p>
            <a:pPr lvl="1"/>
            <a:r>
              <a:rPr lang="en-US" sz="1800" dirty="0" smtClean="0"/>
              <a:t>Principal vs Interest</a:t>
            </a:r>
          </a:p>
          <a:p>
            <a:pPr lvl="1"/>
            <a:r>
              <a:rPr lang="en-US" sz="1800" dirty="0" smtClean="0"/>
              <a:t>Credit losses vs Contractual payments</a:t>
            </a:r>
          </a:p>
          <a:p>
            <a:pPr lvl="1"/>
            <a:r>
              <a:rPr lang="en-US" sz="1800" dirty="0" smtClean="0"/>
              <a:t>Stratify &amp; concentrate default risk &amp; maturity</a:t>
            </a:r>
          </a:p>
          <a:p>
            <a:r>
              <a:rPr lang="en-US" sz="1800" b="1" dirty="0" smtClean="0">
                <a:solidFill>
                  <a:srgbClr val="FF0000"/>
                </a:solidFill>
              </a:rPr>
              <a:t>Specialize</a:t>
            </a:r>
            <a:r>
              <a:rPr lang="en-US" sz="1800" b="1" dirty="0" smtClean="0"/>
              <a:t> match of securities to investors:</a:t>
            </a:r>
          </a:p>
          <a:p>
            <a:pPr lvl="1"/>
            <a:r>
              <a:rPr lang="en-US" sz="1800" dirty="0" smtClean="0"/>
              <a:t>AAA (&amp; other “Investment Grade”) to passive conservative fixed-income investors</a:t>
            </a:r>
          </a:p>
          <a:p>
            <a:pPr lvl="1"/>
            <a:r>
              <a:rPr lang="en-US" sz="1800" dirty="0" smtClean="0"/>
              <a:t>Lower-rated &amp; “B-pieces” to specialized investors with RE expertise, more active and aggressive</a:t>
            </a:r>
          </a:p>
          <a:p>
            <a:pPr lvl="1"/>
            <a:r>
              <a:rPr lang="en-US" sz="1800" dirty="0" smtClean="0"/>
              <a:t>Shorter maturities to investors with short-term liabilities (banks), longer maturities to investors with long-</a:t>
            </a:r>
            <a:r>
              <a:rPr lang="en-US" sz="1800" dirty="0" err="1" smtClean="0"/>
              <a:t>ter</a:t>
            </a:r>
            <a:r>
              <a:rPr lang="en-US" sz="1800" dirty="0" smtClean="0"/>
              <a:t> liabilities (LICs, PFs)</a:t>
            </a:r>
          </a:p>
          <a:p>
            <a:r>
              <a:rPr lang="en-US" sz="1800" b="1" dirty="0" smtClean="0"/>
              <a:t>Market </a:t>
            </a:r>
            <a:r>
              <a:rPr lang="en-US" sz="1800" b="1" dirty="0" smtClean="0">
                <a:solidFill>
                  <a:srgbClr val="FF0000"/>
                </a:solidFill>
              </a:rPr>
              <a:t>value of securities created </a:t>
            </a:r>
            <a:r>
              <a:rPr lang="en-US" sz="1800" b="1" dirty="0" smtClean="0"/>
              <a:t>in deal must exceed cost of acquiring the mortgage pool reflecting par values (OLBs) of the mortgages:</a:t>
            </a:r>
          </a:p>
          <a:p>
            <a:pPr lvl="1"/>
            <a:r>
              <a:rPr lang="en-US" sz="1800" dirty="0" smtClean="0"/>
              <a:t>Sufficient to cover cost of securitization and pool/trust administration (including necessary profit to investment bank).</a:t>
            </a:r>
          </a:p>
        </p:txBody>
      </p:sp>
      <p:sp>
        <p:nvSpPr>
          <p:cNvPr id="4" name="Slide Number Placeholder 3"/>
          <p:cNvSpPr>
            <a:spLocks noGrp="1"/>
          </p:cNvSpPr>
          <p:nvPr>
            <p:ph type="sldNum" sz="quarter" idx="12"/>
          </p:nvPr>
        </p:nvSpPr>
        <p:spPr/>
        <p:txBody>
          <a:bodyPr/>
          <a:lstStyle/>
          <a:p>
            <a:fld id="{BE2EE7B0-3F58-4064-A6B1-2C77F4CA9B2A}" type="slidenum">
              <a:rPr lang="en-US" smtClean="0"/>
              <a:pPr/>
              <a:t>14</a:t>
            </a:fld>
            <a:endParaRPr lang="en-US"/>
          </a:p>
        </p:txBody>
      </p:sp>
      <p:sp>
        <p:nvSpPr>
          <p:cNvPr id="5" name="Footer Placeholder 4"/>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76200"/>
            <a:ext cx="8382000" cy="830263"/>
          </a:xfrm>
          <a:prstGeom prst="rect">
            <a:avLst/>
          </a:prstGeom>
          <a:noFill/>
        </p:spPr>
        <p:txBody>
          <a:bodyPr>
            <a:spAutoFit/>
          </a:bodyPr>
          <a:lstStyle/>
          <a:p>
            <a:pPr algn="ctr">
              <a:defRPr/>
            </a:pPr>
            <a:r>
              <a:rPr lang="en-US" sz="2400" dirty="0">
                <a:latin typeface="+mj-lt"/>
              </a:rPr>
              <a:t>Exhibit 20-5: Summary of CMBS Example Bond Characteristics, Values, and Ex Post Realized Returns</a:t>
            </a:r>
          </a:p>
        </p:txBody>
      </p:sp>
      <p:pic>
        <p:nvPicPr>
          <p:cNvPr id="104451" name="Picture 3"/>
          <p:cNvPicPr>
            <a:picLocks noChangeAspect="1"/>
          </p:cNvPicPr>
          <p:nvPr/>
        </p:nvPicPr>
        <p:blipFill>
          <a:blip r:embed="rId3" cstate="print"/>
          <a:srcRect/>
          <a:stretch>
            <a:fillRect/>
          </a:stretch>
        </p:blipFill>
        <p:spPr bwMode="auto">
          <a:xfrm>
            <a:off x="303213" y="919163"/>
            <a:ext cx="8686800" cy="2505075"/>
          </a:xfrm>
          <a:prstGeom prst="rect">
            <a:avLst/>
          </a:prstGeom>
          <a:solidFill>
            <a:schemeClr val="bg1"/>
          </a:solidFill>
          <a:ln w="9525">
            <a:noFill/>
            <a:miter lim="800000"/>
            <a:headEnd/>
            <a:tailEnd/>
          </a:ln>
        </p:spPr>
      </p:pic>
      <p:graphicFrame>
        <p:nvGraphicFramePr>
          <p:cNvPr id="104452" name="Object 3"/>
          <p:cNvGraphicFramePr>
            <a:graphicFrameLocks noChangeAspect="1"/>
          </p:cNvGraphicFramePr>
          <p:nvPr/>
        </p:nvGraphicFramePr>
        <p:xfrm>
          <a:off x="3352800" y="4256088"/>
          <a:ext cx="2576513" cy="609600"/>
        </p:xfrm>
        <a:graphic>
          <a:graphicData uri="http://schemas.openxmlformats.org/presentationml/2006/ole">
            <mc:AlternateContent xmlns:mc="http://schemas.openxmlformats.org/markup-compatibility/2006">
              <mc:Choice xmlns:v="urn:schemas-microsoft-com:vml" Requires="v">
                <p:oleObj spid="_x0000_s104485" name="Equation" r:id="rId4" imgW="1663700" imgH="393700" progId="Equation.3">
                  <p:embed/>
                </p:oleObj>
              </mc:Choice>
              <mc:Fallback>
                <p:oleObj name="Equation" r:id="rId4" imgW="1663700" imgH="3937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4256088"/>
                        <a:ext cx="2576513"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455613" y="3557588"/>
            <a:ext cx="8382000" cy="708025"/>
          </a:xfrm>
          <a:prstGeom prst="rect">
            <a:avLst/>
          </a:prstGeom>
          <a:noFill/>
        </p:spPr>
        <p:txBody>
          <a:bodyPr>
            <a:spAutoFit/>
          </a:bodyPr>
          <a:lstStyle/>
          <a:p>
            <a:pPr>
              <a:defRPr/>
            </a:pPr>
            <a:r>
              <a:rPr lang="en-US" sz="2000" i="1" dirty="0">
                <a:latin typeface="+mj-lt"/>
              </a:rPr>
              <a:t>Example bond pricing, for Class B, the 12% market yield implies bond price (value) is $24.15, discounting contractual cash flows @ the yield:</a:t>
            </a:r>
          </a:p>
        </p:txBody>
      </p:sp>
      <p:graphicFrame>
        <p:nvGraphicFramePr>
          <p:cNvPr id="104454" name="Object 3"/>
          <p:cNvGraphicFramePr>
            <a:graphicFrameLocks noChangeAspect="1"/>
          </p:cNvGraphicFramePr>
          <p:nvPr/>
        </p:nvGraphicFramePr>
        <p:xfrm>
          <a:off x="2128838" y="5791200"/>
          <a:ext cx="5035550" cy="649288"/>
        </p:xfrm>
        <a:graphic>
          <a:graphicData uri="http://schemas.openxmlformats.org/presentationml/2006/ole">
            <mc:AlternateContent xmlns:mc="http://schemas.openxmlformats.org/markup-compatibility/2006">
              <mc:Choice xmlns:v="urn:schemas-microsoft-com:vml" Requires="v">
                <p:oleObj spid="_x0000_s104486" name="Equation" r:id="rId6" imgW="3251200" imgH="419100" progId="Equation.3">
                  <p:embed/>
                </p:oleObj>
              </mc:Choice>
              <mc:Fallback>
                <p:oleObj name="Equation" r:id="rId6" imgW="3251200" imgH="41910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8838" y="5791200"/>
                        <a:ext cx="5035550"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449263" y="5022850"/>
            <a:ext cx="8382000" cy="708025"/>
          </a:xfrm>
          <a:prstGeom prst="rect">
            <a:avLst/>
          </a:prstGeom>
          <a:noFill/>
        </p:spPr>
        <p:txBody>
          <a:bodyPr>
            <a:spAutoFit/>
          </a:bodyPr>
          <a:lstStyle/>
          <a:p>
            <a:pPr>
              <a:defRPr/>
            </a:pPr>
            <a:r>
              <a:rPr lang="en-US" sz="2000" i="1" dirty="0">
                <a:latin typeface="+mj-lt"/>
              </a:rPr>
              <a:t>Example realized yield for Class B (after credit losses) is the ex post IRR based on realized cash flows &amp; original market price:</a:t>
            </a:r>
          </a:p>
        </p:txBody>
      </p:sp>
      <p:sp>
        <p:nvSpPr>
          <p:cNvPr id="9" name="Slide Number Placeholder 8"/>
          <p:cNvSpPr>
            <a:spLocks noGrp="1"/>
          </p:cNvSpPr>
          <p:nvPr>
            <p:ph type="sldNum" sz="quarter" idx="12"/>
          </p:nvPr>
        </p:nvSpPr>
        <p:spPr/>
        <p:txBody>
          <a:bodyPr/>
          <a:lstStyle/>
          <a:p>
            <a:fld id="{48A99278-0183-414C-88A9-7F7A59B915A5}" type="slidenum">
              <a:rPr lang="en-US" smtClean="0"/>
              <a:pPr/>
              <a:t>15</a:t>
            </a:fld>
            <a:endParaRPr lang="en-US"/>
          </a:p>
        </p:txBody>
      </p:sp>
      <p:sp>
        <p:nvSpPr>
          <p:cNvPr id="10" name="Footer Placeholder 9"/>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702AB831-C981-4B9F-832D-F09445D66535}" type="slidenum">
              <a:rPr lang="en-US"/>
              <a:pPr/>
              <a:t>16</a:t>
            </a:fld>
            <a:endParaRPr lang="en-US"/>
          </a:p>
        </p:txBody>
      </p:sp>
      <p:sp>
        <p:nvSpPr>
          <p:cNvPr id="478210" name="Text Box 2"/>
          <p:cNvSpPr txBox="1">
            <a:spLocks noChangeArrowheads="1"/>
          </p:cNvSpPr>
          <p:nvPr/>
        </p:nvSpPr>
        <p:spPr bwMode="auto">
          <a:xfrm>
            <a:off x="228600" y="152400"/>
            <a:ext cx="8382000" cy="396875"/>
          </a:xfrm>
          <a:prstGeom prst="rect">
            <a:avLst/>
          </a:prstGeom>
          <a:noFill/>
          <a:ln w="9525">
            <a:noFill/>
            <a:miter lim="800000"/>
            <a:headEnd/>
            <a:tailEnd/>
          </a:ln>
          <a:effectLst/>
        </p:spPr>
        <p:txBody>
          <a:bodyPr>
            <a:spAutoFit/>
          </a:bodyPr>
          <a:lstStyle/>
          <a:p>
            <a:pPr eaLnBrk="1" hangingPunct="1">
              <a:defRPr/>
            </a:pPr>
            <a:r>
              <a:rPr lang="en-US" sz="2000" b="1" dirty="0">
                <a:solidFill>
                  <a:srgbClr val="000000"/>
                </a:solidFill>
                <a:effectLst>
                  <a:outerShdw blurRad="38100" dist="38100" dir="2700000" algn="tl">
                    <a:srgbClr val="FFFFFF"/>
                  </a:outerShdw>
                </a:effectLst>
              </a:rPr>
              <a:t>20.2.1 (2e revised) A simple numerical example of </a:t>
            </a:r>
            <a:r>
              <a:rPr lang="en-US" sz="2000" b="1" dirty="0" err="1">
                <a:solidFill>
                  <a:srgbClr val="000000"/>
                </a:solidFill>
                <a:effectLst>
                  <a:outerShdw blurRad="38100" dist="38100" dir="2700000" algn="tl">
                    <a:srgbClr val="FFFFFF"/>
                  </a:outerShdw>
                </a:effectLst>
              </a:rPr>
              <a:t>tranching</a:t>
            </a:r>
            <a:r>
              <a:rPr lang="en-US" sz="2000" b="1" dirty="0">
                <a:solidFill>
                  <a:srgbClr val="000000"/>
                </a:solidFill>
                <a:effectLst>
                  <a:outerShdw blurRad="38100" dist="38100" dir="2700000" algn="tl">
                    <a:srgbClr val="FFFFFF"/>
                  </a:outerShdw>
                </a:effectLst>
              </a:rPr>
              <a:t>...</a:t>
            </a:r>
          </a:p>
        </p:txBody>
      </p:sp>
      <p:sp>
        <p:nvSpPr>
          <p:cNvPr id="478211" name="Text Box 3"/>
          <p:cNvSpPr txBox="1">
            <a:spLocks noChangeArrowheads="1"/>
          </p:cNvSpPr>
          <p:nvPr/>
        </p:nvSpPr>
        <p:spPr bwMode="auto">
          <a:xfrm>
            <a:off x="228600" y="609600"/>
            <a:ext cx="8686800" cy="5401479"/>
          </a:xfrm>
          <a:prstGeom prst="rect">
            <a:avLst/>
          </a:prstGeom>
          <a:solidFill>
            <a:srgbClr val="FFFFCC"/>
          </a:solidFill>
          <a:ln w="9525">
            <a:solidFill>
              <a:srgbClr val="0000FF"/>
            </a:solidFill>
            <a:miter lim="800000"/>
            <a:headEnd/>
            <a:tailEnd/>
          </a:ln>
          <a:effectLst/>
        </p:spPr>
        <p:txBody>
          <a:bodyPr>
            <a:spAutoFit/>
          </a:bodyPr>
          <a:lstStyle/>
          <a:p>
            <a:pPr eaLnBrk="1" hangingPunct="1">
              <a:defRPr/>
            </a:pPr>
            <a:r>
              <a:rPr lang="en-US" sz="1800" b="1" i="1" dirty="0">
                <a:solidFill>
                  <a:srgbClr val="0000FF"/>
                </a:solidFill>
                <a:effectLst>
                  <a:outerShdw blurRad="38100" dist="38100" dir="2700000" algn="tl">
                    <a:srgbClr val="C0C0C0"/>
                  </a:outerShdw>
                </a:effectLst>
              </a:rPr>
              <a:t>CMBS Structure of Securities in the Deal…</a:t>
            </a:r>
          </a:p>
          <a:p>
            <a:pPr eaLnBrk="1" hangingPunct="1">
              <a:spcBef>
                <a:spcPct val="50000"/>
              </a:spcBef>
              <a:defRPr/>
            </a:pPr>
            <a:r>
              <a:rPr lang="en-US" sz="1800" b="1" dirty="0">
                <a:solidFill>
                  <a:srgbClr val="000000"/>
                </a:solidFill>
                <a:effectLst>
                  <a:outerShdw blurRad="38100" dist="38100" dir="2700000" algn="tl">
                    <a:srgbClr val="C0C0C0"/>
                  </a:outerShdw>
                </a:effectLst>
              </a:rPr>
              <a:t>Three classes (tranches) are created based on the underlying pool, and sold into the bond (CMBS) market:</a:t>
            </a:r>
          </a:p>
          <a:p>
            <a:pPr eaLnBrk="1" hangingPunct="1">
              <a:spcBef>
                <a:spcPct val="50000"/>
              </a:spcBef>
              <a:defRPr/>
            </a:pPr>
            <a:endParaRPr lang="en-US" sz="1800" b="1" dirty="0">
              <a:solidFill>
                <a:srgbClr val="000000"/>
              </a:solidFill>
              <a:effectLst>
                <a:outerShdw blurRad="38100" dist="38100" dir="2700000" algn="tl">
                  <a:srgbClr val="C0C0C0"/>
                </a:outerShdw>
              </a:effectLst>
            </a:endParaRPr>
          </a:p>
          <a:p>
            <a:pPr eaLnBrk="1" hangingPunct="1">
              <a:spcBef>
                <a:spcPct val="50000"/>
              </a:spcBef>
              <a:defRPr/>
            </a:pPr>
            <a:endParaRPr lang="en-US" sz="1800" b="1" dirty="0">
              <a:solidFill>
                <a:srgbClr val="000000"/>
              </a:solidFill>
              <a:effectLst>
                <a:outerShdw blurRad="38100" dist="38100" dir="2700000" algn="tl">
                  <a:srgbClr val="C0C0C0"/>
                </a:outerShdw>
              </a:effectLst>
            </a:endParaRPr>
          </a:p>
          <a:p>
            <a:pPr eaLnBrk="1" hangingPunct="1">
              <a:spcBef>
                <a:spcPct val="50000"/>
              </a:spcBef>
              <a:defRPr/>
            </a:pPr>
            <a:endParaRPr lang="en-US" sz="1800" b="1" dirty="0">
              <a:solidFill>
                <a:srgbClr val="000000"/>
              </a:solidFill>
              <a:effectLst>
                <a:outerShdw blurRad="38100" dist="38100" dir="2700000" algn="tl">
                  <a:srgbClr val="C0C0C0"/>
                </a:outerShdw>
              </a:effectLst>
            </a:endParaRPr>
          </a:p>
          <a:p>
            <a:pPr eaLnBrk="1" hangingPunct="1">
              <a:spcBef>
                <a:spcPct val="50000"/>
              </a:spcBef>
              <a:defRPr/>
            </a:pPr>
            <a:endParaRPr lang="en-US" sz="1600" b="1" dirty="0">
              <a:solidFill>
                <a:srgbClr val="0000FF"/>
              </a:solidFill>
              <a:effectLst>
                <a:outerShdw blurRad="38100" dist="38100" dir="2700000" algn="tl">
                  <a:srgbClr val="C0C0C0"/>
                </a:outerShdw>
              </a:effectLst>
            </a:endParaRPr>
          </a:p>
          <a:p>
            <a:pPr eaLnBrk="1" hangingPunct="1">
              <a:spcBef>
                <a:spcPct val="50000"/>
              </a:spcBef>
              <a:buFontTx/>
              <a:buChar char="•"/>
              <a:defRPr/>
            </a:pPr>
            <a:endParaRPr lang="en-US" sz="1600" b="1" dirty="0">
              <a:solidFill>
                <a:srgbClr val="0000FF"/>
              </a:solidFill>
              <a:effectLst>
                <a:outerShdw blurRad="38100" dist="38100" dir="2700000" algn="tl">
                  <a:srgbClr val="C0C0C0"/>
                </a:outerShdw>
              </a:effectLst>
            </a:endParaRPr>
          </a:p>
          <a:p>
            <a:pPr eaLnBrk="1" hangingPunct="1">
              <a:spcBef>
                <a:spcPct val="50000"/>
              </a:spcBef>
              <a:defRPr/>
            </a:pPr>
            <a:r>
              <a:rPr lang="en-US" sz="1800" b="1" dirty="0" smtClean="0">
                <a:solidFill>
                  <a:srgbClr val="0000FF"/>
                </a:solidFill>
                <a:effectLst>
                  <a:outerShdw blurRad="38100" dist="38100" dir="2700000" algn="tl">
                    <a:srgbClr val="C0C0C0"/>
                  </a:outerShdw>
                </a:effectLst>
              </a:rPr>
              <a:t>A-Tranche </a:t>
            </a:r>
            <a:r>
              <a:rPr lang="en-US" sz="1800" b="1" dirty="0">
                <a:solidFill>
                  <a:srgbClr val="0000FF"/>
                </a:solidFill>
                <a:effectLst>
                  <a:outerShdw blurRad="38100" dist="38100" dir="2700000" algn="tl">
                    <a:srgbClr val="C0C0C0"/>
                  </a:outerShdw>
                </a:effectLst>
              </a:rPr>
              <a:t>is “senior”, “investment grade” securities:</a:t>
            </a:r>
          </a:p>
          <a:p>
            <a:pPr lvl="1" eaLnBrk="1" hangingPunct="1">
              <a:buFontTx/>
              <a:buChar char="•"/>
              <a:defRPr/>
            </a:pPr>
            <a:r>
              <a:rPr lang="en-US" sz="1800" b="1" dirty="0" smtClean="0">
                <a:solidFill>
                  <a:srgbClr val="CC0000"/>
                </a:solidFill>
              </a:rPr>
              <a:t>25</a:t>
            </a:r>
            <a:r>
              <a:rPr lang="en-US" sz="1800" b="1" dirty="0">
                <a:solidFill>
                  <a:srgbClr val="CC0000"/>
                </a:solidFill>
              </a:rPr>
              <a:t>%</a:t>
            </a:r>
            <a:r>
              <a:rPr lang="en-US" sz="1800" b="1" dirty="0">
                <a:solidFill>
                  <a:srgbClr val="000000"/>
                </a:solidFill>
              </a:rPr>
              <a:t> </a:t>
            </a:r>
            <a:r>
              <a:rPr lang="en-US" sz="1800" b="1" dirty="0">
                <a:solidFill>
                  <a:srgbClr val="CC0000"/>
                </a:solidFill>
              </a:rPr>
              <a:t>credit </a:t>
            </a:r>
            <a:r>
              <a:rPr lang="en-US" sz="1800" b="1" dirty="0" smtClean="0">
                <a:solidFill>
                  <a:srgbClr val="CC0000"/>
                </a:solidFill>
              </a:rPr>
              <a:t>support</a:t>
            </a:r>
            <a:r>
              <a:rPr lang="en-US" sz="1800" b="1" dirty="0" smtClean="0">
                <a:solidFill>
                  <a:srgbClr val="000000"/>
                </a:solidFill>
              </a:rPr>
              <a:t>: </a:t>
            </a:r>
            <a:r>
              <a:rPr lang="en-US" sz="1800" b="1" dirty="0" smtClean="0">
                <a:solidFill>
                  <a:srgbClr val="000000"/>
                </a:solidFill>
                <a:sym typeface="Wingdings" pitchFamily="2" charset="2"/>
              </a:rPr>
              <a:t>25</a:t>
            </a:r>
            <a:r>
              <a:rPr lang="en-US" sz="1800" b="1" dirty="0">
                <a:solidFill>
                  <a:srgbClr val="000000"/>
                </a:solidFill>
                <a:sym typeface="Wingdings" pitchFamily="2" charset="2"/>
              </a:rPr>
              <a:t>% of pool par value will be assigned credit losses (par value lost in default) </a:t>
            </a:r>
            <a:r>
              <a:rPr lang="en-US" sz="1800" b="1" i="1" dirty="0">
                <a:solidFill>
                  <a:srgbClr val="CC0000"/>
                </a:solidFill>
                <a:sym typeface="Wingdings" pitchFamily="2" charset="2"/>
              </a:rPr>
              <a:t>before</a:t>
            </a:r>
            <a:r>
              <a:rPr lang="en-US" sz="1800" b="1" dirty="0">
                <a:solidFill>
                  <a:srgbClr val="000000"/>
                </a:solidFill>
                <a:sym typeface="Wingdings" pitchFamily="2" charset="2"/>
              </a:rPr>
              <a:t> Tranche A receives any credit losses (any reduction in par due to default). </a:t>
            </a:r>
            <a:r>
              <a:rPr lang="en-US" sz="1800" b="1" dirty="0" smtClean="0">
                <a:solidFill>
                  <a:srgbClr val="000000"/>
                </a:solidFill>
                <a:sym typeface="Wingdings" pitchFamily="2" charset="2"/>
              </a:rPr>
              <a:t> </a:t>
            </a:r>
            <a:r>
              <a:rPr lang="en-US" sz="1800" b="1" dirty="0">
                <a:solidFill>
                  <a:srgbClr val="000000"/>
                </a:solidFill>
                <a:sym typeface="Wingdings" pitchFamily="2" charset="2"/>
              </a:rPr>
              <a:t>Effective LTV for A tranche = (1-0.25)70% = 52.5%. (Underlying properties would have to lose 47.5% of their value before Tranche A gets hit, since it is </a:t>
            </a:r>
            <a:r>
              <a:rPr lang="en-US" sz="1800" b="1" i="1" dirty="0">
                <a:solidFill>
                  <a:srgbClr val="000000"/>
                </a:solidFill>
                <a:sym typeface="Wingdings" pitchFamily="2" charset="2"/>
              </a:rPr>
              <a:t>most senior</a:t>
            </a:r>
            <a:r>
              <a:rPr lang="en-US" sz="1800" b="1" dirty="0">
                <a:solidFill>
                  <a:srgbClr val="000000"/>
                </a:solidFill>
                <a:sym typeface="Wingdings" pitchFamily="2" charset="2"/>
              </a:rPr>
              <a:t> tranche</a:t>
            </a:r>
            <a:r>
              <a:rPr lang="en-US" sz="1800" b="1" dirty="0" smtClean="0">
                <a:solidFill>
                  <a:srgbClr val="000000"/>
                </a:solidFill>
                <a:sym typeface="Wingdings" pitchFamily="2" charset="2"/>
              </a:rPr>
              <a:t>.)</a:t>
            </a:r>
          </a:p>
          <a:p>
            <a:pPr lvl="1" eaLnBrk="1" hangingPunct="1">
              <a:buFontTx/>
              <a:buChar char="•"/>
              <a:defRPr/>
            </a:pPr>
            <a:endParaRPr lang="en-US" sz="1800" b="1" dirty="0">
              <a:solidFill>
                <a:srgbClr val="000000"/>
              </a:solidFill>
              <a:sym typeface="Wingdings" pitchFamily="2" charset="2"/>
            </a:endParaRPr>
          </a:p>
          <a:p>
            <a:pPr lvl="1" eaLnBrk="1" hangingPunct="1">
              <a:buFontTx/>
              <a:buChar char="•"/>
              <a:defRPr/>
            </a:pPr>
            <a:r>
              <a:rPr lang="en-US" sz="1800" b="1" dirty="0">
                <a:solidFill>
                  <a:srgbClr val="000000"/>
                </a:solidFill>
                <a:sym typeface="Wingdings" pitchFamily="2" charset="2"/>
              </a:rPr>
              <a:t> Shorter duration: WAM = (50/75)*1 + (25/75)*2 = 1.33 yrs.</a:t>
            </a:r>
          </a:p>
        </p:txBody>
      </p:sp>
      <p:sp>
        <p:nvSpPr>
          <p:cNvPr id="6" name="Rectangle 5"/>
          <p:cNvSpPr/>
          <p:nvPr/>
        </p:nvSpPr>
        <p:spPr bwMode="auto">
          <a:xfrm>
            <a:off x="1600200" y="2895600"/>
            <a:ext cx="533400" cy="304800"/>
          </a:xfrm>
          <a:prstGeom prst="rect">
            <a:avLst/>
          </a:prstGeom>
          <a:solidFill>
            <a:schemeClr val="bg1"/>
          </a:solidFill>
          <a:ln w="9525" cap="flat" cmpd="sng" algn="ctr">
            <a:no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pic>
        <p:nvPicPr>
          <p:cNvPr id="105478" name="Picture 8"/>
          <p:cNvPicPr>
            <a:picLocks noChangeAspect="1" noChangeArrowheads="1"/>
          </p:cNvPicPr>
          <p:nvPr/>
        </p:nvPicPr>
        <p:blipFill>
          <a:blip r:embed="rId3" cstate="print"/>
          <a:srcRect/>
          <a:stretch>
            <a:fillRect/>
          </a:stretch>
        </p:blipFill>
        <p:spPr bwMode="auto">
          <a:xfrm>
            <a:off x="228600" y="1752600"/>
            <a:ext cx="8686800" cy="1816100"/>
          </a:xfrm>
          <a:prstGeom prst="rect">
            <a:avLst/>
          </a:prstGeom>
          <a:solidFill>
            <a:schemeClr val="bg1"/>
          </a:solidFill>
          <a:ln w="9525">
            <a:noFill/>
            <a:miter lim="800000"/>
            <a:headEnd/>
            <a:tailEnd/>
          </a:ln>
        </p:spPr>
      </p:pic>
      <p:sp>
        <p:nvSpPr>
          <p:cNvPr id="2" name="Rectangle 1"/>
          <p:cNvSpPr/>
          <p:nvPr/>
        </p:nvSpPr>
        <p:spPr bwMode="auto">
          <a:xfrm>
            <a:off x="244475" y="1763713"/>
            <a:ext cx="1143000" cy="228600"/>
          </a:xfrm>
          <a:prstGeom prst="rect">
            <a:avLst/>
          </a:prstGeom>
          <a:solidFill>
            <a:schemeClr val="bg1"/>
          </a:solidFill>
          <a:ln w="9525" cap="flat" cmpd="sng" algn="ctr">
            <a:noFill/>
            <a:prstDash val="solid"/>
            <a:round/>
            <a:headEnd type="none" w="med" len="med"/>
            <a:tailEnd type="none" w="med" len="med"/>
          </a:ln>
          <a:effectLst/>
        </p:spPr>
        <p:txBody>
          <a:bodyPr/>
          <a:lstStyle/>
          <a:p>
            <a:pPr eaLnBrk="1" hangingPunct="1">
              <a:defRPr/>
            </a:pPr>
            <a:endParaRPr lang="en-US" sz="2000" b="1" i="1">
              <a:effectLst>
                <a:outerShdw blurRad="38100" dist="38100" dir="2700000" algn="tl">
                  <a:srgbClr val="000000">
                    <a:alpha val="43137"/>
                  </a:srgbClr>
                </a:outerShdw>
              </a:effectLst>
            </a:endParaRPr>
          </a:p>
        </p:txBody>
      </p:sp>
      <p:sp>
        <p:nvSpPr>
          <p:cNvPr id="8" name="Footer Placeholder 7"/>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1F9E680C-8CAE-41FE-BA3D-2DB0705C490C}" type="slidenum">
              <a:rPr lang="en-US"/>
              <a:pPr/>
              <a:t>17</a:t>
            </a:fld>
            <a:endParaRPr lang="en-US"/>
          </a:p>
        </p:txBody>
      </p:sp>
      <p:sp>
        <p:nvSpPr>
          <p:cNvPr id="537602" name="Rectangle 2"/>
          <p:cNvSpPr>
            <a:spLocks noChangeArrowheads="1"/>
          </p:cNvSpPr>
          <p:nvPr/>
        </p:nvSpPr>
        <p:spPr bwMode="auto">
          <a:xfrm>
            <a:off x="533400" y="2667000"/>
            <a:ext cx="8229600" cy="2308324"/>
          </a:xfrm>
          <a:prstGeom prst="rect">
            <a:avLst/>
          </a:prstGeom>
          <a:noFill/>
          <a:ln w="9525">
            <a:noFill/>
            <a:miter lim="800000"/>
            <a:headEnd/>
            <a:tailEnd/>
          </a:ln>
          <a:effectLst/>
        </p:spPr>
        <p:txBody>
          <a:bodyPr>
            <a:spAutoFit/>
          </a:bodyPr>
          <a:lstStyle/>
          <a:p>
            <a:pPr eaLnBrk="1" hangingPunct="1">
              <a:defRPr/>
            </a:pPr>
            <a:r>
              <a:rPr lang="en-US" sz="1800" b="1" dirty="0">
                <a:solidFill>
                  <a:srgbClr val="0000FF"/>
                </a:solidFill>
                <a:effectLst>
                  <a:outerShdw blurRad="38100" dist="38100" dir="2700000" algn="tl">
                    <a:srgbClr val="000000"/>
                  </a:outerShdw>
                </a:effectLst>
              </a:rPr>
              <a:t>B Tranche is “subordinated” (“non-investment grade” &amp; “unrated”) securities:</a:t>
            </a:r>
          </a:p>
          <a:p>
            <a:pPr eaLnBrk="1" hangingPunct="1">
              <a:buFontTx/>
              <a:buChar char="•"/>
              <a:defRPr/>
            </a:pPr>
            <a:r>
              <a:rPr lang="en-US" sz="1800" b="1" dirty="0">
                <a:solidFill>
                  <a:srgbClr val="000000"/>
                </a:solidFill>
              </a:rPr>
              <a:t> </a:t>
            </a:r>
            <a:endParaRPr lang="en-US" sz="1800" b="1" dirty="0" smtClean="0">
              <a:solidFill>
                <a:srgbClr val="000000"/>
              </a:solidFill>
            </a:endParaRPr>
          </a:p>
          <a:p>
            <a:pPr eaLnBrk="1" hangingPunct="1">
              <a:buFontTx/>
              <a:buChar char="•"/>
              <a:defRPr/>
            </a:pPr>
            <a:r>
              <a:rPr lang="en-US" sz="1800" b="1" dirty="0" smtClean="0">
                <a:solidFill>
                  <a:srgbClr val="000000"/>
                </a:solidFill>
              </a:rPr>
              <a:t> </a:t>
            </a:r>
            <a:r>
              <a:rPr lang="en-US" sz="1800" b="1" dirty="0">
                <a:solidFill>
                  <a:srgbClr val="000000"/>
                </a:solidFill>
              </a:rPr>
              <a:t>Longer duration: </a:t>
            </a:r>
            <a:r>
              <a:rPr lang="en-US" sz="1800" b="1" dirty="0" smtClean="0">
                <a:solidFill>
                  <a:srgbClr val="000000"/>
                </a:solidFill>
              </a:rPr>
              <a:t>WAM </a:t>
            </a:r>
            <a:r>
              <a:rPr lang="en-US" sz="1800" b="1" dirty="0">
                <a:solidFill>
                  <a:srgbClr val="000000"/>
                </a:solidFill>
              </a:rPr>
              <a:t>= (25/25)*2 = 2.00 yrs.</a:t>
            </a:r>
          </a:p>
          <a:p>
            <a:pPr eaLnBrk="1" hangingPunct="1">
              <a:buFontTx/>
              <a:buChar char="•"/>
              <a:defRPr/>
            </a:pPr>
            <a:endParaRPr lang="en-US" sz="1800" b="1" dirty="0">
              <a:solidFill>
                <a:srgbClr val="0000FF"/>
              </a:solidFill>
              <a:effectLst>
                <a:outerShdw blurRad="38100" dist="38100" dir="2700000" algn="tl">
                  <a:srgbClr val="000000"/>
                </a:outerShdw>
              </a:effectLst>
            </a:endParaRPr>
          </a:p>
          <a:p>
            <a:pPr eaLnBrk="1" hangingPunct="1">
              <a:defRPr/>
            </a:pPr>
            <a:r>
              <a:rPr lang="en-US" sz="1800" b="1" dirty="0">
                <a:solidFill>
                  <a:srgbClr val="0000FF"/>
                </a:solidFill>
                <a:effectLst>
                  <a:outerShdw blurRad="38100" dist="38100" dir="2700000" algn="tl">
                    <a:srgbClr val="000000"/>
                  </a:outerShdw>
                </a:effectLst>
              </a:rPr>
              <a:t> “X Tranche” (IO security)</a:t>
            </a:r>
            <a:r>
              <a:rPr lang="en-US" sz="1800" b="1" dirty="0">
                <a:solidFill>
                  <a:srgbClr val="FF0000"/>
                </a:solidFill>
                <a:effectLst>
                  <a:outerShdw blurRad="38100" dist="38100" dir="2700000" algn="tl">
                    <a:srgbClr val="000000"/>
                  </a:outerShdw>
                </a:effectLst>
              </a:rPr>
              <a:t> </a:t>
            </a:r>
          </a:p>
          <a:p>
            <a:pPr eaLnBrk="1" hangingPunct="1">
              <a:buFont typeface="Arial" pitchFamily="34" charset="0"/>
              <a:buChar char="•"/>
              <a:defRPr/>
            </a:pPr>
            <a:r>
              <a:rPr lang="en-US" sz="1800" b="1" dirty="0">
                <a:solidFill>
                  <a:srgbClr val="000000"/>
                </a:solidFill>
              </a:rPr>
              <a:t> Notional par and </a:t>
            </a:r>
            <a:r>
              <a:rPr lang="en-US" sz="1800" b="1" dirty="0">
                <a:solidFill>
                  <a:srgbClr val="FF0000"/>
                </a:solidFill>
              </a:rPr>
              <a:t>high claim priority on interest</a:t>
            </a:r>
            <a:r>
              <a:rPr lang="en-US" sz="1800" b="1" dirty="0">
                <a:solidFill>
                  <a:srgbClr val="000000"/>
                </a:solidFill>
              </a:rPr>
              <a:t>:</a:t>
            </a:r>
          </a:p>
          <a:p>
            <a:pPr eaLnBrk="1" hangingPunct="1">
              <a:buFontTx/>
              <a:buChar char="•"/>
              <a:defRPr/>
            </a:pPr>
            <a:r>
              <a:rPr lang="en-US" sz="1800" b="1" dirty="0">
                <a:solidFill>
                  <a:srgbClr val="000000"/>
                </a:solidFill>
              </a:rPr>
              <a:t> Any r</a:t>
            </a:r>
            <a:r>
              <a:rPr lang="en-US" sz="1800" b="1" dirty="0">
                <a:solidFill>
                  <a:srgbClr val="000000"/>
                </a:solidFill>
                <a:sym typeface="Wingdings" pitchFamily="2" charset="2"/>
              </a:rPr>
              <a:t>ecovery in default allocated 1st to interest, IO variable coupon 1.5%, 1% Yr1, 2, based on notional par = entire pool (as it remains</a:t>
            </a:r>
            <a:r>
              <a:rPr lang="en-US" sz="1800" b="1" dirty="0" smtClean="0">
                <a:solidFill>
                  <a:srgbClr val="000000"/>
                </a:solidFill>
                <a:sym typeface="Wingdings" pitchFamily="2" charset="2"/>
              </a:rPr>
              <a:t>).</a:t>
            </a:r>
            <a:endParaRPr lang="en-US" sz="1800" b="1" dirty="0">
              <a:solidFill>
                <a:srgbClr val="000000"/>
              </a:solidFill>
              <a:sym typeface="Wingdings" pitchFamily="2" charset="2"/>
            </a:endParaRPr>
          </a:p>
        </p:txBody>
      </p:sp>
      <p:pic>
        <p:nvPicPr>
          <p:cNvPr id="107524" name="Picture 8"/>
          <p:cNvPicPr>
            <a:picLocks noChangeAspect="1" noChangeArrowheads="1"/>
          </p:cNvPicPr>
          <p:nvPr/>
        </p:nvPicPr>
        <p:blipFill>
          <a:blip r:embed="rId3" cstate="print"/>
          <a:srcRect/>
          <a:stretch>
            <a:fillRect/>
          </a:stretch>
        </p:blipFill>
        <p:spPr bwMode="auto">
          <a:xfrm>
            <a:off x="228600" y="685800"/>
            <a:ext cx="8686800" cy="1816100"/>
          </a:xfrm>
          <a:prstGeom prst="rect">
            <a:avLst/>
          </a:prstGeom>
          <a:solidFill>
            <a:schemeClr val="bg1"/>
          </a:solidFill>
          <a:ln w="9525">
            <a:noFill/>
            <a:miter lim="800000"/>
            <a:headEnd/>
            <a:tailEnd/>
          </a:ln>
        </p:spPr>
      </p:pic>
      <p:sp>
        <p:nvSpPr>
          <p:cNvPr id="6" name="Rectangle 5"/>
          <p:cNvSpPr/>
          <p:nvPr/>
        </p:nvSpPr>
        <p:spPr bwMode="auto">
          <a:xfrm>
            <a:off x="228600" y="685800"/>
            <a:ext cx="1143000" cy="228600"/>
          </a:xfrm>
          <a:prstGeom prst="rect">
            <a:avLst/>
          </a:prstGeom>
          <a:solidFill>
            <a:schemeClr val="bg1"/>
          </a:solidFill>
          <a:ln w="9525" cap="flat" cmpd="sng" algn="ctr">
            <a:noFill/>
            <a:prstDash val="solid"/>
            <a:round/>
            <a:headEnd type="none" w="med" len="med"/>
            <a:tailEnd type="none" w="med" len="med"/>
          </a:ln>
          <a:effectLst/>
        </p:spPr>
        <p:txBody>
          <a:bodyPr/>
          <a:lstStyle/>
          <a:p>
            <a:pPr eaLnBrk="1" hangingPunct="1">
              <a:defRPr/>
            </a:pPr>
            <a:endParaRPr lang="en-US" sz="2000" b="1" i="1">
              <a:effectLst>
                <a:outerShdw blurRad="38100" dist="38100" dir="2700000" algn="tl">
                  <a:srgbClr val="000000">
                    <a:alpha val="43137"/>
                  </a:srgbClr>
                </a:outerShdw>
              </a:effectLst>
            </a:endParaRPr>
          </a:p>
        </p:txBody>
      </p:sp>
      <p:sp>
        <p:nvSpPr>
          <p:cNvPr id="7" name="Footer Placeholder 6"/>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A55EBC3A-6B47-4701-AE48-F94700BC65EB}" type="slidenum">
              <a:rPr lang="en-US"/>
              <a:pPr/>
              <a:t>18</a:t>
            </a:fld>
            <a:endParaRPr lang="en-US"/>
          </a:p>
        </p:txBody>
      </p:sp>
      <p:sp>
        <p:nvSpPr>
          <p:cNvPr id="537602" name="Rectangle 2"/>
          <p:cNvSpPr>
            <a:spLocks noChangeArrowheads="1"/>
          </p:cNvSpPr>
          <p:nvPr/>
        </p:nvSpPr>
        <p:spPr bwMode="auto">
          <a:xfrm>
            <a:off x="226854" y="2213610"/>
            <a:ext cx="8229600" cy="2862322"/>
          </a:xfrm>
          <a:prstGeom prst="rect">
            <a:avLst/>
          </a:prstGeom>
          <a:solidFill>
            <a:srgbClr val="FFFFCC"/>
          </a:solidFill>
          <a:ln w="9525">
            <a:noFill/>
            <a:miter lim="800000"/>
            <a:headEnd/>
            <a:tailEnd/>
          </a:ln>
          <a:effectLst/>
        </p:spPr>
        <p:txBody>
          <a:bodyPr wrap="square">
            <a:spAutoFit/>
          </a:bodyPr>
          <a:lstStyle/>
          <a:p>
            <a:pPr eaLnBrk="1" hangingPunct="1">
              <a:defRPr/>
            </a:pPr>
            <a:r>
              <a:rPr lang="en-US" sz="1800" b="1" i="1" dirty="0" smtClean="0">
                <a:solidFill>
                  <a:srgbClr val="FF0000"/>
                </a:solidFill>
                <a:sym typeface="Wingdings" pitchFamily="2" charset="2"/>
              </a:rPr>
              <a:t>How </a:t>
            </a:r>
            <a:r>
              <a:rPr lang="en-US" sz="1800" b="1" i="1" dirty="0">
                <a:solidFill>
                  <a:srgbClr val="FF0000"/>
                </a:solidFill>
                <a:sym typeface="Wingdings" pitchFamily="2" charset="2"/>
              </a:rPr>
              <a:t>did we determine the coupons in X</a:t>
            </a:r>
            <a:r>
              <a:rPr lang="en-US" sz="1800" b="1" i="1" dirty="0" smtClean="0">
                <a:solidFill>
                  <a:srgbClr val="FF0000"/>
                </a:solidFill>
                <a:sym typeface="Wingdings" pitchFamily="2" charset="2"/>
              </a:rPr>
              <a:t>?...</a:t>
            </a:r>
          </a:p>
          <a:p>
            <a:pPr eaLnBrk="1" hangingPunct="1">
              <a:defRPr/>
            </a:pPr>
            <a:endParaRPr lang="en-US" sz="1800" b="1" i="1" dirty="0">
              <a:solidFill>
                <a:srgbClr val="FF0000"/>
              </a:solidFill>
              <a:sym typeface="Wingdings" pitchFamily="2" charset="2"/>
            </a:endParaRPr>
          </a:p>
          <a:p>
            <a:pPr eaLnBrk="1" hangingPunct="1">
              <a:defRPr/>
            </a:pPr>
            <a:r>
              <a:rPr lang="en-US" sz="1800" b="1" dirty="0">
                <a:solidFill>
                  <a:srgbClr val="000000"/>
                </a:solidFill>
                <a:sym typeface="Wingdings" pitchFamily="2" charset="2"/>
              </a:rPr>
              <a:t>Consider difference between WAC in pool minus coupons in bonds</a:t>
            </a:r>
            <a:r>
              <a:rPr lang="en-US" sz="1800" b="1" dirty="0" smtClean="0">
                <a:solidFill>
                  <a:srgbClr val="000000"/>
                </a:solidFill>
                <a:sym typeface="Wingdings" pitchFamily="2" charset="2"/>
              </a:rPr>
              <a:t>:</a:t>
            </a:r>
          </a:p>
          <a:p>
            <a:pPr eaLnBrk="1" hangingPunct="1">
              <a:defRPr/>
            </a:pPr>
            <a:endParaRPr lang="en-US" sz="1800" b="1" dirty="0">
              <a:solidFill>
                <a:srgbClr val="000000"/>
              </a:solidFill>
              <a:sym typeface="Wingdings" pitchFamily="2" charset="2"/>
            </a:endParaRPr>
          </a:p>
          <a:p>
            <a:pPr eaLnBrk="1" hangingPunct="1">
              <a:buFont typeface="Arial" pitchFamily="34" charset="0"/>
              <a:buChar char="•"/>
              <a:defRPr/>
            </a:pPr>
            <a:r>
              <a:rPr lang="en-US" sz="1800" b="1" dirty="0">
                <a:solidFill>
                  <a:srgbClr val="000000"/>
                </a:solidFill>
                <a:sym typeface="Wingdings" pitchFamily="2" charset="2"/>
              </a:rPr>
              <a:t> Yr.1: </a:t>
            </a:r>
            <a:r>
              <a:rPr lang="en-US" sz="1800" b="1" dirty="0" smtClean="0">
                <a:solidFill>
                  <a:srgbClr val="000000"/>
                </a:solidFill>
                <a:sym typeface="Wingdings" pitchFamily="2" charset="2"/>
              </a:rPr>
              <a:t>A-tranche </a:t>
            </a:r>
            <a:r>
              <a:rPr lang="en-US" sz="1800" b="1" dirty="0">
                <a:solidFill>
                  <a:srgbClr val="000000"/>
                </a:solidFill>
                <a:sym typeface="Wingdings" pitchFamily="2" charset="2"/>
              </a:rPr>
              <a:t>has 8% coupon on $75M par (vs 10% WAC in pool), hence:</a:t>
            </a:r>
          </a:p>
          <a:p>
            <a:pPr lvl="1" eaLnBrk="1" hangingPunct="1">
              <a:buFont typeface="Arial" pitchFamily="34" charset="0"/>
              <a:buChar char="•"/>
              <a:defRPr/>
            </a:pPr>
            <a:r>
              <a:rPr lang="en-US" sz="1800" b="1" dirty="0">
                <a:solidFill>
                  <a:srgbClr val="000000"/>
                </a:solidFill>
                <a:sym typeface="Wingdings" pitchFamily="2" charset="2"/>
              </a:rPr>
              <a:t> (10% - 8%)*$75M = $1.5M extra interest,  1.5% of $100M Yr.1 total par</a:t>
            </a:r>
            <a:r>
              <a:rPr lang="en-US" sz="1800" b="1" dirty="0" smtClean="0">
                <a:solidFill>
                  <a:srgbClr val="000000"/>
                </a:solidFill>
                <a:sym typeface="Wingdings" pitchFamily="2" charset="2"/>
              </a:rPr>
              <a:t>.</a:t>
            </a:r>
          </a:p>
          <a:p>
            <a:pPr lvl="1" eaLnBrk="1" hangingPunct="1">
              <a:buFont typeface="Arial" pitchFamily="34" charset="0"/>
              <a:buChar char="•"/>
              <a:defRPr/>
            </a:pPr>
            <a:endParaRPr lang="en-US" sz="1800" b="1" dirty="0">
              <a:solidFill>
                <a:srgbClr val="000000"/>
              </a:solidFill>
              <a:sym typeface="Wingdings" pitchFamily="2" charset="2"/>
            </a:endParaRPr>
          </a:p>
          <a:p>
            <a:pPr lvl="1" eaLnBrk="1" hangingPunct="1">
              <a:defRPr/>
            </a:pPr>
            <a:endParaRPr lang="en-US" sz="1800" b="1" dirty="0">
              <a:solidFill>
                <a:srgbClr val="000000"/>
              </a:solidFill>
              <a:sym typeface="Wingdings" pitchFamily="2" charset="2"/>
            </a:endParaRPr>
          </a:p>
          <a:p>
            <a:pPr eaLnBrk="1" hangingPunct="1">
              <a:buFont typeface="Arial" pitchFamily="34" charset="0"/>
              <a:buChar char="•"/>
              <a:defRPr/>
            </a:pPr>
            <a:r>
              <a:rPr lang="en-US" sz="1800" b="1" dirty="0">
                <a:solidFill>
                  <a:srgbClr val="000000"/>
                </a:solidFill>
                <a:sym typeface="Wingdings" pitchFamily="2" charset="2"/>
              </a:rPr>
              <a:t> Yr.2: </a:t>
            </a:r>
            <a:r>
              <a:rPr lang="en-US" sz="1800" b="1" dirty="0" smtClean="0">
                <a:solidFill>
                  <a:srgbClr val="000000"/>
                </a:solidFill>
                <a:sym typeface="Wingdings" pitchFamily="2" charset="2"/>
              </a:rPr>
              <a:t>A-</a:t>
            </a:r>
            <a:r>
              <a:rPr lang="en-US" sz="1800" b="1" dirty="0" err="1" smtClean="0">
                <a:solidFill>
                  <a:srgbClr val="000000"/>
                </a:solidFill>
                <a:sym typeface="Wingdings" pitchFamily="2" charset="2"/>
              </a:rPr>
              <a:t>tranch</a:t>
            </a:r>
            <a:r>
              <a:rPr lang="en-US" sz="1800" b="1" dirty="0" smtClean="0">
                <a:solidFill>
                  <a:srgbClr val="000000"/>
                </a:solidFill>
                <a:sym typeface="Wingdings" pitchFamily="2" charset="2"/>
              </a:rPr>
              <a:t> </a:t>
            </a:r>
            <a:r>
              <a:rPr lang="en-US" sz="1800" b="1" dirty="0">
                <a:solidFill>
                  <a:srgbClr val="000000"/>
                </a:solidFill>
                <a:sym typeface="Wingdings" pitchFamily="2" charset="2"/>
              </a:rPr>
              <a:t>has 8% coupon on $25M remaining par (vs 10% WAC in pool):</a:t>
            </a:r>
          </a:p>
          <a:p>
            <a:pPr lvl="1" eaLnBrk="1" hangingPunct="1">
              <a:buFont typeface="Arial" pitchFamily="34" charset="0"/>
              <a:buChar char="•"/>
              <a:defRPr/>
            </a:pPr>
            <a:r>
              <a:rPr lang="en-US" sz="1800" b="1" dirty="0">
                <a:solidFill>
                  <a:srgbClr val="000000"/>
                </a:solidFill>
                <a:sym typeface="Wingdings" pitchFamily="2" charset="2"/>
              </a:rPr>
              <a:t> (10% - 8%)*$25M = $0.5M on $50M remaining par in pool  1% coupon. </a:t>
            </a:r>
          </a:p>
        </p:txBody>
      </p:sp>
      <p:pic>
        <p:nvPicPr>
          <p:cNvPr id="111620" name="Picture 2"/>
          <p:cNvPicPr>
            <a:picLocks noChangeAspect="1" noChangeArrowheads="1"/>
          </p:cNvPicPr>
          <p:nvPr/>
        </p:nvPicPr>
        <p:blipFill>
          <a:blip r:embed="rId3" cstate="print"/>
          <a:srcRect/>
          <a:stretch>
            <a:fillRect/>
          </a:stretch>
        </p:blipFill>
        <p:spPr bwMode="auto">
          <a:xfrm>
            <a:off x="2133600" y="228600"/>
            <a:ext cx="4446588" cy="1981200"/>
          </a:xfrm>
          <a:prstGeom prst="rect">
            <a:avLst/>
          </a:prstGeom>
          <a:noFill/>
          <a:ln w="9525">
            <a:noFill/>
            <a:miter lim="800000"/>
            <a:headEnd/>
            <a:tailEnd/>
          </a:ln>
        </p:spPr>
      </p:pic>
      <p:sp>
        <p:nvSpPr>
          <p:cNvPr id="6" name="Oval 5"/>
          <p:cNvSpPr/>
          <p:nvPr/>
        </p:nvSpPr>
        <p:spPr bwMode="auto">
          <a:xfrm>
            <a:off x="4038600" y="1371600"/>
            <a:ext cx="2895600" cy="457200"/>
          </a:xfrm>
          <a:prstGeom prst="ellipse">
            <a:avLst/>
          </a:prstGeom>
          <a:noFill/>
          <a:ln w="15875"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7" name="Footer Placeholder 6"/>
          <p:cNvSpPr>
            <a:spLocks noGrp="1"/>
          </p:cNvSpPr>
          <p:nvPr>
            <p:ph type="ftr" sz="quarter" idx="11"/>
          </p:nvPr>
        </p:nvSpPr>
        <p:spPr>
          <a:xfrm>
            <a:off x="3124200" y="6553199"/>
            <a:ext cx="4191000" cy="168275"/>
          </a:xfrm>
        </p:spPr>
        <p:txBody>
          <a:bodyPr/>
          <a:lstStyle/>
          <a:p>
            <a:pPr>
              <a:defRPr/>
            </a:pPr>
            <a:r>
              <a:rPr lang="en-US" dirty="0" smtClean="0"/>
              <a:t>© 2014 </a:t>
            </a:r>
            <a:r>
              <a:rPr lang="en-US" dirty="0" err="1" smtClean="0"/>
              <a:t>OnCourse</a:t>
            </a:r>
            <a:r>
              <a:rPr lang="en-US" dirty="0" smtClean="0"/>
              <a:t> Learning. All Rights Reserved.</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p:txBody>
          <a:bodyPr/>
          <a:lstStyle/>
          <a:p>
            <a:pPr>
              <a:defRPr/>
            </a:pPr>
            <a:r>
              <a:rPr lang="en-US" smtClean="0"/>
              <a:t>© 2014 OnCourse Learning. All Rights Reserved.</a:t>
            </a:r>
            <a:endParaRPr lang="en-US"/>
          </a:p>
        </p:txBody>
      </p:sp>
      <p:sp>
        <p:nvSpPr>
          <p:cNvPr id="5" name="Slide Number Placeholder 3"/>
          <p:cNvSpPr>
            <a:spLocks noGrp="1"/>
          </p:cNvSpPr>
          <p:nvPr>
            <p:ph type="sldNum" sz="quarter" idx="12"/>
          </p:nvPr>
        </p:nvSpPr>
        <p:spPr/>
        <p:txBody>
          <a:bodyPr/>
          <a:lstStyle/>
          <a:p>
            <a:fld id="{9605F8AC-1681-4F7A-9D32-4C1E4B9AC53C}" type="slidenum">
              <a:rPr lang="en-US"/>
              <a:pPr/>
              <a:t>19</a:t>
            </a:fld>
            <a:endParaRPr lang="en-US"/>
          </a:p>
        </p:txBody>
      </p:sp>
      <p:sp>
        <p:nvSpPr>
          <p:cNvPr id="115715" name="Rectangle 2"/>
          <p:cNvSpPr>
            <a:spLocks noChangeArrowheads="1"/>
          </p:cNvSpPr>
          <p:nvPr/>
        </p:nvSpPr>
        <p:spPr bwMode="auto">
          <a:xfrm>
            <a:off x="533400" y="2667000"/>
            <a:ext cx="8229600" cy="1695450"/>
          </a:xfrm>
          <a:prstGeom prst="rect">
            <a:avLst/>
          </a:prstGeom>
          <a:noFill/>
          <a:ln w="9525">
            <a:noFill/>
            <a:miter lim="800000"/>
            <a:headEnd/>
            <a:tailEnd/>
          </a:ln>
        </p:spPr>
        <p:txBody>
          <a:bodyPr>
            <a:spAutoFit/>
          </a:bodyPr>
          <a:lstStyle/>
          <a:p>
            <a:pPr algn="ctr" eaLnBrk="1" hangingPunct="1"/>
            <a:r>
              <a:rPr lang="en-US" sz="2000" b="1" dirty="0">
                <a:solidFill>
                  <a:srgbClr val="0000FF"/>
                </a:solidFill>
              </a:rPr>
              <a:t>Value at issuance as </a:t>
            </a:r>
            <a:r>
              <a:rPr lang="en-US" sz="2000" b="1" dirty="0" err="1">
                <a:solidFill>
                  <a:srgbClr val="0000FF"/>
                </a:solidFill>
              </a:rPr>
              <a:t>CMBS</a:t>
            </a:r>
            <a:r>
              <a:rPr lang="en-US" sz="2000" b="1" dirty="0">
                <a:solidFill>
                  <a:srgbClr val="0000FF"/>
                </a:solidFill>
              </a:rPr>
              <a:t>:</a:t>
            </a:r>
          </a:p>
          <a:p>
            <a:pPr eaLnBrk="1" hangingPunct="1">
              <a:spcBef>
                <a:spcPts val="500"/>
              </a:spcBef>
            </a:pPr>
            <a:r>
              <a:rPr lang="en-US" sz="2000" dirty="0">
                <a:solidFill>
                  <a:srgbClr val="0000FF"/>
                </a:solidFill>
                <a:latin typeface="Arial" charset="0"/>
              </a:rPr>
              <a:t>The present value (</a:t>
            </a:r>
            <a:r>
              <a:rPr lang="en-US" sz="2000" dirty="0" err="1">
                <a:solidFill>
                  <a:srgbClr val="0000FF"/>
                </a:solidFill>
                <a:latin typeface="Arial" charset="0"/>
              </a:rPr>
              <a:t>mkt</a:t>
            </a:r>
            <a:r>
              <a:rPr lang="en-US" sz="2000" dirty="0">
                <a:solidFill>
                  <a:srgbClr val="0000FF"/>
                </a:solidFill>
                <a:latin typeface="Arial" charset="0"/>
              </a:rPr>
              <a:t> value) of each tranche (class of bonds) is determined by discounting the contractual cash flows to maturity of the bonds back to PV using the market yield-to-maturity (“</a:t>
            </a:r>
            <a:r>
              <a:rPr lang="en-US" sz="2000" dirty="0" err="1">
                <a:solidFill>
                  <a:srgbClr val="0000FF"/>
                </a:solidFill>
                <a:latin typeface="Arial" charset="0"/>
              </a:rPr>
              <a:t>YTM</a:t>
            </a:r>
            <a:r>
              <a:rPr lang="en-US" sz="2000" dirty="0">
                <a:solidFill>
                  <a:srgbClr val="0000FF"/>
                </a:solidFill>
                <a:latin typeface="Arial" charset="0"/>
              </a:rPr>
              <a:t>”) as the discount rate:</a:t>
            </a:r>
          </a:p>
        </p:txBody>
      </p:sp>
      <p:pic>
        <p:nvPicPr>
          <p:cNvPr id="115716" name="Picture 8"/>
          <p:cNvPicPr>
            <a:picLocks noChangeAspect="1" noChangeArrowheads="1"/>
          </p:cNvPicPr>
          <p:nvPr/>
        </p:nvPicPr>
        <p:blipFill>
          <a:blip r:embed="rId4" cstate="print"/>
          <a:srcRect/>
          <a:stretch>
            <a:fillRect/>
          </a:stretch>
        </p:blipFill>
        <p:spPr bwMode="auto">
          <a:xfrm>
            <a:off x="228600" y="685800"/>
            <a:ext cx="8686800" cy="1816100"/>
          </a:xfrm>
          <a:prstGeom prst="rect">
            <a:avLst/>
          </a:prstGeom>
          <a:solidFill>
            <a:schemeClr val="bg1"/>
          </a:solidFill>
          <a:ln w="9525">
            <a:noFill/>
            <a:miter lim="800000"/>
            <a:headEnd/>
            <a:tailEnd/>
          </a:ln>
        </p:spPr>
      </p:pic>
      <p:graphicFrame>
        <p:nvGraphicFramePr>
          <p:cNvPr id="115717" name="Object 5"/>
          <p:cNvGraphicFramePr>
            <a:graphicFrameLocks noChangeAspect="1"/>
          </p:cNvGraphicFramePr>
          <p:nvPr/>
        </p:nvGraphicFramePr>
        <p:xfrm>
          <a:off x="533400" y="4419600"/>
          <a:ext cx="2693988" cy="609600"/>
        </p:xfrm>
        <a:graphic>
          <a:graphicData uri="http://schemas.openxmlformats.org/presentationml/2006/ole">
            <mc:AlternateContent xmlns:mc="http://schemas.openxmlformats.org/markup-compatibility/2006">
              <mc:Choice xmlns:v="urn:schemas-microsoft-com:vml" Requires="v">
                <p:oleObj spid="_x0000_s115765" name="Equation" r:id="rId5" imgW="1739900" imgH="393700" progId="Equation.3">
                  <p:embed/>
                </p:oleObj>
              </mc:Choice>
              <mc:Fallback>
                <p:oleObj name="Equation" r:id="rId5" imgW="17399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4419600"/>
                        <a:ext cx="2693988"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8" name="Object 3"/>
          <p:cNvGraphicFramePr>
            <a:graphicFrameLocks noChangeAspect="1"/>
          </p:cNvGraphicFramePr>
          <p:nvPr/>
        </p:nvGraphicFramePr>
        <p:xfrm>
          <a:off x="3352800" y="4419600"/>
          <a:ext cx="2576513" cy="609600"/>
        </p:xfrm>
        <a:graphic>
          <a:graphicData uri="http://schemas.openxmlformats.org/presentationml/2006/ole">
            <mc:AlternateContent xmlns:mc="http://schemas.openxmlformats.org/markup-compatibility/2006">
              <mc:Choice xmlns:v="urn:schemas-microsoft-com:vml" Requires="v">
                <p:oleObj spid="_x0000_s115766" name="Equation" r:id="rId7" imgW="1663700" imgH="393700" progId="Equation.3">
                  <p:embed/>
                </p:oleObj>
              </mc:Choice>
              <mc:Fallback>
                <p:oleObj name="Equation" r:id="rId7" imgW="1663700" imgH="3937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4419600"/>
                        <a:ext cx="2576513"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9" name="Object 4"/>
          <p:cNvGraphicFramePr>
            <a:graphicFrameLocks noChangeAspect="1"/>
          </p:cNvGraphicFramePr>
          <p:nvPr/>
        </p:nvGraphicFramePr>
        <p:xfrm>
          <a:off x="6070600" y="4419600"/>
          <a:ext cx="2438400" cy="609600"/>
        </p:xfrm>
        <a:graphic>
          <a:graphicData uri="http://schemas.openxmlformats.org/presentationml/2006/ole">
            <mc:AlternateContent xmlns:mc="http://schemas.openxmlformats.org/markup-compatibility/2006">
              <mc:Choice xmlns:v="urn:schemas-microsoft-com:vml" Requires="v">
                <p:oleObj spid="_x0000_s115767" name="Equation" r:id="rId9" imgW="1574800" imgH="393700" progId="Equation.3">
                  <p:embed/>
                </p:oleObj>
              </mc:Choice>
              <mc:Fallback>
                <p:oleObj name="Equation" r:id="rId9" imgW="1574800" imgH="3937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70600" y="4419600"/>
                        <a:ext cx="2438400"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20" name="Rectangle 2"/>
          <p:cNvSpPr>
            <a:spLocks noChangeArrowheads="1"/>
          </p:cNvSpPr>
          <p:nvPr/>
        </p:nvSpPr>
        <p:spPr bwMode="auto">
          <a:xfrm>
            <a:off x="609600" y="5181600"/>
            <a:ext cx="8229600" cy="1144588"/>
          </a:xfrm>
          <a:prstGeom prst="rect">
            <a:avLst/>
          </a:prstGeom>
          <a:noFill/>
          <a:ln w="9525">
            <a:noFill/>
            <a:miter lim="800000"/>
            <a:headEnd/>
            <a:tailEnd/>
          </a:ln>
        </p:spPr>
        <p:txBody>
          <a:bodyPr>
            <a:spAutoFit/>
          </a:bodyPr>
          <a:lstStyle/>
          <a:p>
            <a:pPr eaLnBrk="1" hangingPunct="1"/>
            <a:r>
              <a:rPr lang="en-US" sz="2000">
                <a:solidFill>
                  <a:srgbClr val="0000FF"/>
                </a:solidFill>
                <a:latin typeface="Arial" charset="0"/>
              </a:rPr>
              <a:t>The idea is that at issuance the </a:t>
            </a:r>
            <a:r>
              <a:rPr lang="en-US" sz="2000" b="1">
                <a:solidFill>
                  <a:srgbClr val="0000FF"/>
                </a:solidFill>
                <a:latin typeface="Arial" charset="0"/>
              </a:rPr>
              <a:t>sum</a:t>
            </a:r>
            <a:r>
              <a:rPr lang="en-US" sz="2000">
                <a:solidFill>
                  <a:srgbClr val="0000FF"/>
                </a:solidFill>
                <a:latin typeface="Arial" charset="0"/>
              </a:rPr>
              <a:t> of the values of all of the tranches </a:t>
            </a:r>
            <a:r>
              <a:rPr lang="en-US" sz="2000" b="1">
                <a:solidFill>
                  <a:srgbClr val="0000FF"/>
                </a:solidFill>
                <a:latin typeface="Arial" charset="0"/>
              </a:rPr>
              <a:t>exceeds</a:t>
            </a:r>
            <a:r>
              <a:rPr lang="en-US" sz="2000">
                <a:solidFill>
                  <a:srgbClr val="0000FF"/>
                </a:solidFill>
                <a:latin typeface="Arial" charset="0"/>
              </a:rPr>
              <a:t> the value (cost) of the </a:t>
            </a:r>
            <a:r>
              <a:rPr lang="en-US" sz="2000" b="1">
                <a:solidFill>
                  <a:srgbClr val="0000FF"/>
                </a:solidFill>
                <a:latin typeface="Arial" charset="0"/>
              </a:rPr>
              <a:t>pool</a:t>
            </a:r>
            <a:r>
              <a:rPr lang="en-US" sz="2000">
                <a:solidFill>
                  <a:srgbClr val="0000FF"/>
                </a:solidFill>
                <a:latin typeface="Arial" charset="0"/>
              </a:rPr>
              <a:t> of all the individual mortgages:</a:t>
            </a:r>
          </a:p>
          <a:p>
            <a:pPr algn="ctr" eaLnBrk="1" hangingPunct="1">
              <a:spcBef>
                <a:spcPts val="1000"/>
              </a:spcBef>
            </a:pPr>
            <a:r>
              <a:rPr lang="en-US" sz="2000">
                <a:solidFill>
                  <a:srgbClr val="0000FF"/>
                </a:solidFill>
                <a:latin typeface="Arial" charset="0"/>
              </a:rPr>
              <a:t>A + B + X  =  $75.00 + $24.15 + $1.82  =  $100.97  &gt;  $100.</a:t>
            </a:r>
          </a:p>
        </p:txBody>
      </p:sp>
      <p:sp>
        <p:nvSpPr>
          <p:cNvPr id="9" name="Rectangle 8"/>
          <p:cNvSpPr/>
          <p:nvPr/>
        </p:nvSpPr>
        <p:spPr bwMode="auto">
          <a:xfrm>
            <a:off x="228600" y="685800"/>
            <a:ext cx="1143000" cy="228600"/>
          </a:xfrm>
          <a:prstGeom prst="rect">
            <a:avLst/>
          </a:prstGeom>
          <a:solidFill>
            <a:schemeClr val="bg1"/>
          </a:solidFill>
          <a:ln w="9525" cap="flat" cmpd="sng" algn="ctr">
            <a:noFill/>
            <a:prstDash val="solid"/>
            <a:round/>
            <a:headEnd type="none" w="med" len="med"/>
            <a:tailEnd type="none" w="med" len="med"/>
          </a:ln>
          <a:effectLst/>
        </p:spPr>
        <p:txBody>
          <a:bodyPr/>
          <a:lstStyle/>
          <a:p>
            <a:pPr eaLnBrk="1" hangingPunct="1">
              <a:defRPr/>
            </a:pPr>
            <a:endParaRPr lang="en-US" sz="2000" b="1" i="1">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8" name="Footer Placeholder 17"/>
          <p:cNvSpPr>
            <a:spLocks noGrp="1"/>
          </p:cNvSpPr>
          <p:nvPr>
            <p:ph type="ftr" sz="quarter" idx="11"/>
          </p:nvPr>
        </p:nvSpPr>
        <p:spPr/>
        <p:txBody>
          <a:bodyPr/>
          <a:lstStyle/>
          <a:p>
            <a:pPr>
              <a:defRPr/>
            </a:pPr>
            <a:r>
              <a:rPr lang="en-US" smtClean="0"/>
              <a:t>© 2014 OnCourse Learning. All Rights Reserved.</a:t>
            </a:r>
            <a:endParaRPr lang="en-US"/>
          </a:p>
        </p:txBody>
      </p:sp>
      <p:sp>
        <p:nvSpPr>
          <p:cNvPr id="5" name="Slide Number Placeholder 3"/>
          <p:cNvSpPr>
            <a:spLocks noGrp="1"/>
          </p:cNvSpPr>
          <p:nvPr>
            <p:ph type="sldNum" sz="quarter" idx="12"/>
          </p:nvPr>
        </p:nvSpPr>
        <p:spPr/>
        <p:txBody>
          <a:bodyPr/>
          <a:lstStyle/>
          <a:p>
            <a:fld id="{A127CFD2-627A-4F50-B7BB-A2D23F0EB315}" type="slidenum">
              <a:rPr lang="en-US"/>
              <a:pPr/>
              <a:t>20</a:t>
            </a:fld>
            <a:endParaRPr lang="en-US"/>
          </a:p>
        </p:txBody>
      </p:sp>
      <p:pic>
        <p:nvPicPr>
          <p:cNvPr id="130051" name="Picture 5"/>
          <p:cNvPicPr>
            <a:picLocks noChangeAspect="1" noChangeArrowheads="1"/>
          </p:cNvPicPr>
          <p:nvPr/>
        </p:nvPicPr>
        <p:blipFill>
          <a:blip r:embed="rId3" cstate="print"/>
          <a:srcRect/>
          <a:stretch>
            <a:fillRect/>
          </a:stretch>
        </p:blipFill>
        <p:spPr bwMode="auto">
          <a:xfrm>
            <a:off x="0" y="1600200"/>
            <a:ext cx="9144000" cy="1728788"/>
          </a:xfrm>
          <a:prstGeom prst="rect">
            <a:avLst/>
          </a:prstGeom>
          <a:solidFill>
            <a:schemeClr val="bg1"/>
          </a:solidFill>
          <a:ln w="9525">
            <a:noFill/>
            <a:miter lim="800000"/>
            <a:headEnd/>
            <a:tailEnd/>
          </a:ln>
        </p:spPr>
      </p:pic>
      <p:sp>
        <p:nvSpPr>
          <p:cNvPr id="130052" name="Rectangle 2"/>
          <p:cNvSpPr>
            <a:spLocks noChangeArrowheads="1"/>
          </p:cNvSpPr>
          <p:nvPr/>
        </p:nvSpPr>
        <p:spPr bwMode="auto">
          <a:xfrm>
            <a:off x="457200" y="152400"/>
            <a:ext cx="7848600" cy="1323975"/>
          </a:xfrm>
          <a:prstGeom prst="rect">
            <a:avLst/>
          </a:prstGeom>
          <a:noFill/>
          <a:ln w="9525">
            <a:noFill/>
            <a:miter lim="800000"/>
            <a:headEnd/>
            <a:tailEnd/>
          </a:ln>
        </p:spPr>
        <p:txBody>
          <a:bodyPr>
            <a:spAutoFit/>
          </a:bodyPr>
          <a:lstStyle/>
          <a:p>
            <a:pPr eaLnBrk="1" hangingPunct="1">
              <a:spcBef>
                <a:spcPct val="50000"/>
              </a:spcBef>
            </a:pPr>
            <a:r>
              <a:rPr lang="en-US" sz="2000">
                <a:solidFill>
                  <a:srgbClr val="FF0000"/>
                </a:solidFill>
                <a:latin typeface="Arial" charset="0"/>
              </a:rPr>
              <a:t>Recall example “credit event”: one of the 2-yr loans defaults in yr.2 paying no interest that year and recovering only $5 million in foreclosure sale proceeds (5/11 = 45% “recovery rate”). What will the ex post CMBS cash flows look like?...</a:t>
            </a:r>
          </a:p>
        </p:txBody>
      </p:sp>
      <p:sp>
        <p:nvSpPr>
          <p:cNvPr id="9" name="Oval 8"/>
          <p:cNvSpPr/>
          <p:nvPr/>
        </p:nvSpPr>
        <p:spPr bwMode="auto">
          <a:xfrm>
            <a:off x="6858000" y="2438400"/>
            <a:ext cx="1600200" cy="304800"/>
          </a:xfrm>
          <a:prstGeom prst="ellipse">
            <a:avLst/>
          </a:prstGeom>
          <a:noFill/>
          <a:ln w="15875"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2" name="Oval 11"/>
          <p:cNvSpPr/>
          <p:nvPr/>
        </p:nvSpPr>
        <p:spPr bwMode="auto">
          <a:xfrm>
            <a:off x="8458200" y="2438400"/>
            <a:ext cx="685800" cy="228600"/>
          </a:xfrm>
          <a:prstGeom prst="ellipse">
            <a:avLst/>
          </a:prstGeom>
          <a:noFill/>
          <a:ln w="15875"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3" name="Oval 12"/>
          <p:cNvSpPr/>
          <p:nvPr/>
        </p:nvSpPr>
        <p:spPr bwMode="auto">
          <a:xfrm>
            <a:off x="8458200" y="3048000"/>
            <a:ext cx="685800" cy="228600"/>
          </a:xfrm>
          <a:prstGeom prst="ellipse">
            <a:avLst/>
          </a:prstGeom>
          <a:noFill/>
          <a:ln w="15875" cap="flat" cmpd="sng" algn="ctr">
            <a:solidFill>
              <a:srgbClr val="0000FF"/>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4" name="Oval 13"/>
          <p:cNvSpPr/>
          <p:nvPr/>
        </p:nvSpPr>
        <p:spPr bwMode="auto">
          <a:xfrm>
            <a:off x="2057400" y="1981200"/>
            <a:ext cx="685800" cy="228600"/>
          </a:xfrm>
          <a:prstGeom prst="ellipse">
            <a:avLst/>
          </a:prstGeom>
          <a:noFill/>
          <a:ln w="15875"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5" name="Oval 14"/>
          <p:cNvSpPr/>
          <p:nvPr/>
        </p:nvSpPr>
        <p:spPr bwMode="auto">
          <a:xfrm>
            <a:off x="2057400" y="2209800"/>
            <a:ext cx="685800" cy="228600"/>
          </a:xfrm>
          <a:prstGeom prst="ellipse">
            <a:avLst/>
          </a:prstGeom>
          <a:noFill/>
          <a:ln w="15875"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6" name="Oval 15"/>
          <p:cNvSpPr/>
          <p:nvPr/>
        </p:nvSpPr>
        <p:spPr bwMode="auto">
          <a:xfrm>
            <a:off x="2057400" y="2438400"/>
            <a:ext cx="685800" cy="228600"/>
          </a:xfrm>
          <a:prstGeom prst="ellipse">
            <a:avLst/>
          </a:prstGeom>
          <a:noFill/>
          <a:ln w="15875"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7" name="Oval 16"/>
          <p:cNvSpPr/>
          <p:nvPr/>
        </p:nvSpPr>
        <p:spPr bwMode="auto">
          <a:xfrm>
            <a:off x="2057400" y="2667000"/>
            <a:ext cx="685800" cy="228600"/>
          </a:xfrm>
          <a:prstGeom prst="ellipse">
            <a:avLst/>
          </a:prstGeom>
          <a:noFill/>
          <a:ln w="15875" cap="flat" cmpd="sng" algn="ctr">
            <a:solidFill>
              <a:srgbClr val="0000FF"/>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sp>
        <p:nvSpPr>
          <p:cNvPr id="130060" name="Rectangle 2"/>
          <p:cNvSpPr>
            <a:spLocks noChangeArrowheads="1"/>
          </p:cNvSpPr>
          <p:nvPr/>
        </p:nvSpPr>
        <p:spPr bwMode="auto">
          <a:xfrm>
            <a:off x="304800" y="3429000"/>
            <a:ext cx="8458200" cy="2785378"/>
          </a:xfrm>
          <a:prstGeom prst="rect">
            <a:avLst/>
          </a:prstGeom>
          <a:noFill/>
          <a:ln w="9525">
            <a:noFill/>
            <a:miter lim="800000"/>
            <a:headEnd/>
            <a:tailEnd/>
          </a:ln>
        </p:spPr>
        <p:txBody>
          <a:bodyPr>
            <a:spAutoFit/>
          </a:bodyPr>
          <a:lstStyle/>
          <a:p>
            <a:pPr eaLnBrk="1" hangingPunct="1">
              <a:spcBef>
                <a:spcPts val="500"/>
              </a:spcBef>
            </a:pPr>
            <a:r>
              <a:rPr lang="en-US" sz="2000" dirty="0" smtClean="0">
                <a:solidFill>
                  <a:srgbClr val="FF0000"/>
                </a:solidFill>
                <a:latin typeface="Arial" charset="0"/>
              </a:rPr>
              <a:t>CMBS </a:t>
            </a:r>
            <a:r>
              <a:rPr lang="en-US" sz="2000" dirty="0">
                <a:solidFill>
                  <a:srgbClr val="FF0000"/>
                </a:solidFill>
                <a:latin typeface="Arial" charset="0"/>
              </a:rPr>
              <a:t>issue:</a:t>
            </a:r>
          </a:p>
          <a:p>
            <a:pPr lvl="1" eaLnBrk="1" hangingPunct="1">
              <a:spcBef>
                <a:spcPts val="500"/>
              </a:spcBef>
              <a:buFont typeface="Arial" charset="0"/>
              <a:buChar char="•"/>
            </a:pPr>
            <a:r>
              <a:rPr lang="en-US" sz="2000" dirty="0">
                <a:solidFill>
                  <a:srgbClr val="FF0000"/>
                </a:solidFill>
                <a:latin typeface="Arial" charset="0"/>
              </a:rPr>
              <a:t> Default risk stratified &amp; concentrated, wider variation:</a:t>
            </a:r>
          </a:p>
          <a:p>
            <a:pPr lvl="3" eaLnBrk="1" hangingPunct="1">
              <a:buFont typeface="Arial" charset="0"/>
              <a:buChar char="•"/>
            </a:pPr>
            <a:r>
              <a:rPr lang="en-US" sz="1800" i="1" dirty="0">
                <a:solidFill>
                  <a:srgbClr val="FF0000"/>
                </a:solidFill>
                <a:latin typeface="Arial" charset="0"/>
              </a:rPr>
              <a:t> Here Class B much riskier: -0.35% yield instead of 12.00%.</a:t>
            </a:r>
          </a:p>
          <a:p>
            <a:pPr lvl="3" eaLnBrk="1" hangingPunct="1">
              <a:spcBef>
                <a:spcPts val="500"/>
              </a:spcBef>
              <a:buFont typeface="Arial" charset="0"/>
              <a:buChar char="•"/>
            </a:pPr>
            <a:r>
              <a:rPr lang="en-US" sz="1800" i="1" dirty="0">
                <a:solidFill>
                  <a:srgbClr val="FF0000"/>
                </a:solidFill>
                <a:latin typeface="Arial" charset="0"/>
              </a:rPr>
              <a:t> Classes A &amp; X much less risky: 8% ex post </a:t>
            </a:r>
            <a:r>
              <a:rPr lang="en-US" sz="1800" i="1" dirty="0" err="1">
                <a:solidFill>
                  <a:srgbClr val="FF0000"/>
                </a:solidFill>
                <a:latin typeface="Arial" charset="0"/>
              </a:rPr>
              <a:t>yld</a:t>
            </a:r>
            <a:r>
              <a:rPr lang="en-US" sz="1800" i="1" dirty="0">
                <a:solidFill>
                  <a:srgbClr val="FF0000"/>
                </a:solidFill>
                <a:latin typeface="Arial" charset="0"/>
              </a:rPr>
              <a:t> = 8% YTM</a:t>
            </a:r>
            <a:r>
              <a:rPr lang="en-US" sz="1800" i="1" dirty="0" smtClean="0">
                <a:solidFill>
                  <a:srgbClr val="FF0000"/>
                </a:solidFill>
                <a:latin typeface="Arial" charset="0"/>
              </a:rPr>
              <a:t>.</a:t>
            </a:r>
          </a:p>
          <a:p>
            <a:pPr lvl="3" eaLnBrk="1" hangingPunct="1">
              <a:spcBef>
                <a:spcPts val="500"/>
              </a:spcBef>
              <a:buFont typeface="Arial" charset="0"/>
              <a:buChar char="•"/>
            </a:pPr>
            <a:endParaRPr lang="en-US" sz="1800" i="1" dirty="0">
              <a:solidFill>
                <a:srgbClr val="FF0000"/>
              </a:solidFill>
              <a:latin typeface="Arial" charset="0"/>
            </a:endParaRPr>
          </a:p>
          <a:p>
            <a:pPr lvl="3" eaLnBrk="1" hangingPunct="1">
              <a:spcBef>
                <a:spcPts val="500"/>
              </a:spcBef>
              <a:buFont typeface="Arial" charset="0"/>
              <a:buChar char="•"/>
            </a:pPr>
            <a:endParaRPr lang="en-US" sz="1800" i="1" dirty="0" smtClean="0">
              <a:solidFill>
                <a:srgbClr val="FF0000"/>
              </a:solidFill>
              <a:latin typeface="Arial" charset="0"/>
            </a:endParaRPr>
          </a:p>
          <a:p>
            <a:pPr lvl="3" eaLnBrk="1" hangingPunct="1">
              <a:spcBef>
                <a:spcPts val="500"/>
              </a:spcBef>
              <a:buFont typeface="Arial" charset="0"/>
              <a:buChar char="•"/>
            </a:pPr>
            <a:endParaRPr lang="en-US" sz="1800" i="1" dirty="0">
              <a:solidFill>
                <a:srgbClr val="FF0000"/>
              </a:solidFill>
              <a:latin typeface="Arial" charset="0"/>
            </a:endParaRPr>
          </a:p>
          <a:p>
            <a:pPr lvl="1" eaLnBrk="1" hangingPunct="1">
              <a:spcBef>
                <a:spcPts val="500"/>
              </a:spcBef>
              <a:buFont typeface="Arial" charset="0"/>
              <a:buChar char="•"/>
            </a:pPr>
            <a:r>
              <a:rPr lang="en-US" sz="2000" dirty="0">
                <a:solidFill>
                  <a:srgbClr val="FF0000"/>
                </a:solidFill>
                <a:latin typeface="Arial" charset="0"/>
              </a:rPr>
              <a:t> Maturity stratified &amp; varied: </a:t>
            </a:r>
            <a:r>
              <a:rPr lang="en-US" sz="1800" i="1" dirty="0">
                <a:solidFill>
                  <a:srgbClr val="FF0000"/>
                </a:solidFill>
                <a:latin typeface="Arial" charset="0"/>
              </a:rPr>
              <a:t>Here ranges 1.25, 1.33, 2.00 years.</a:t>
            </a:r>
            <a:endParaRPr lang="en-US" sz="2000" dirty="0">
              <a:solidFill>
                <a:srgbClr val="FF0000"/>
              </a:solidFill>
              <a:latin typeface="Arial" charset="0"/>
            </a:endParaRPr>
          </a:p>
        </p:txBody>
      </p:sp>
      <p:sp>
        <p:nvSpPr>
          <p:cNvPr id="19" name="TextBox 18"/>
          <p:cNvSpPr txBox="1"/>
          <p:nvPr/>
        </p:nvSpPr>
        <p:spPr>
          <a:xfrm>
            <a:off x="8077200" y="4611688"/>
            <a:ext cx="1066800" cy="2246312"/>
          </a:xfrm>
          <a:prstGeom prst="rect">
            <a:avLst/>
          </a:prstGeom>
          <a:solidFill>
            <a:schemeClr val="bg1"/>
          </a:solidFill>
          <a:ln>
            <a:solidFill>
              <a:srgbClr val="FF0000"/>
            </a:solidFill>
          </a:ln>
        </p:spPr>
        <p:txBody>
          <a:bodyPr>
            <a:spAutoFit/>
          </a:bodyPr>
          <a:lstStyle/>
          <a:p>
            <a:pPr eaLnBrk="1" hangingPunct="1">
              <a:defRPr/>
            </a:pPr>
            <a:r>
              <a:rPr lang="en-US" sz="2000" b="1" i="1" dirty="0">
                <a:solidFill>
                  <a:srgbClr val="FF0000"/>
                </a:solidFill>
                <a:effectLst>
                  <a:outerShdw blurRad="38100" dist="38100" dir="2700000" algn="tl">
                    <a:srgbClr val="000000">
                      <a:alpha val="43137"/>
                    </a:srgbClr>
                  </a:outerShdw>
                </a:effectLst>
              </a:rPr>
              <a:t>&amp; Class A is bulk of pool. Allows creation of X.</a:t>
            </a:r>
          </a:p>
        </p:txBody>
      </p:sp>
      <p:cxnSp>
        <p:nvCxnSpPr>
          <p:cNvPr id="130062" name="Straight Arrow Connector 20"/>
          <p:cNvCxnSpPr>
            <a:cxnSpLocks noChangeShapeType="1"/>
          </p:cNvCxnSpPr>
          <p:nvPr/>
        </p:nvCxnSpPr>
        <p:spPr bwMode="auto">
          <a:xfrm rot="10800000">
            <a:off x="7772400" y="5943600"/>
            <a:ext cx="381000" cy="1588"/>
          </a:xfrm>
          <a:prstGeom prst="straightConnector1">
            <a:avLst/>
          </a:prstGeom>
          <a:noFill/>
          <a:ln w="9525" algn="ctr">
            <a:solidFill>
              <a:srgbClr val="FF0000"/>
            </a:solidFill>
            <a:round/>
            <a:headEnd/>
            <a:tailEnd type="arrow" w="med" len="med"/>
          </a:ln>
        </p:spPr>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838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sz="3200" dirty="0" smtClean="0"/>
              <a:t>20.3 CMBS</a:t>
            </a:r>
            <a:r>
              <a:rPr lang="en-US" sz="3200" dirty="0"/>
              <a:t> </a:t>
            </a:r>
            <a:r>
              <a:rPr lang="en-US" sz="3200" dirty="0" smtClean="0"/>
              <a:t>Rating and Yields</a:t>
            </a:r>
            <a:endParaRPr lang="en-US" sz="3200" dirty="0"/>
          </a:p>
        </p:txBody>
      </p:sp>
      <p:sp>
        <p:nvSpPr>
          <p:cNvPr id="133123" name="Content Placeholder 2"/>
          <p:cNvSpPr>
            <a:spLocks noGrp="1"/>
          </p:cNvSpPr>
          <p:nvPr>
            <p:ph idx="1"/>
          </p:nvPr>
        </p:nvSpPr>
        <p:spPr>
          <a:xfrm>
            <a:off x="533400" y="685800"/>
            <a:ext cx="8305800" cy="5943600"/>
          </a:xfrm>
        </p:spPr>
        <p:txBody>
          <a:bodyPr/>
          <a:lstStyle/>
          <a:p>
            <a:r>
              <a:rPr lang="en-US" sz="2400" dirty="0" smtClean="0"/>
              <a:t>Bond credit rating (e.g., “AAA”, “AA”, …) classifies amount of default risk in bonds. Is basic institution of bond market (goes back to early 20</a:t>
            </a:r>
            <a:r>
              <a:rPr lang="en-US" sz="2400" baseline="30000" dirty="0" smtClean="0"/>
              <a:t>th</a:t>
            </a:r>
            <a:r>
              <a:rPr lang="en-US" sz="2400" dirty="0" smtClean="0"/>
              <a:t> century). </a:t>
            </a:r>
            <a:endParaRPr lang="en-US" sz="2400" dirty="0" smtClean="0"/>
          </a:p>
          <a:p>
            <a:endParaRPr lang="en-US" sz="2400" dirty="0" smtClean="0"/>
          </a:p>
          <a:p>
            <a:r>
              <a:rPr lang="en-US" sz="2400" dirty="0" smtClean="0"/>
              <a:t>Facilitates </a:t>
            </a:r>
            <a:r>
              <a:rPr lang="en-US" sz="2400" dirty="0" smtClean="0"/>
              <a:t>passive, non-specialized investors. Rating agencies are private for-profit companies</a:t>
            </a:r>
            <a:r>
              <a:rPr lang="en-US" sz="2400" dirty="0" smtClean="0"/>
              <a:t>.</a:t>
            </a:r>
          </a:p>
          <a:p>
            <a:endParaRPr lang="en-US" sz="2400" dirty="0" smtClean="0"/>
          </a:p>
          <a:p>
            <a:r>
              <a:rPr lang="en-US" sz="2400" dirty="0" smtClean="0"/>
              <a:t>Originally hired by bond investors. But rating info is “public good”. Agencies can’t make profit if paid only by investors. So, industry evolved, now rating agencies hired by bond issuers.</a:t>
            </a:r>
          </a:p>
          <a:p>
            <a:r>
              <a:rPr lang="en-US" sz="2400" dirty="0" smtClean="0"/>
              <a:t>Rating agencies compete </a:t>
            </a:r>
            <a:r>
              <a:rPr lang="en-US" sz="2400" dirty="0" smtClean="0"/>
              <a:t>with each other </a:t>
            </a:r>
            <a:r>
              <a:rPr lang="en-US" sz="2400" dirty="0" smtClean="0"/>
              <a:t>for business: </a:t>
            </a:r>
            <a:r>
              <a:rPr lang="en-US" sz="2400" dirty="0" smtClean="0">
                <a:sym typeface="Wingdings" pitchFamily="2" charset="2"/>
              </a:rPr>
              <a:t> </a:t>
            </a:r>
            <a:endParaRPr lang="en-US" sz="2400" dirty="0" smtClean="0">
              <a:sym typeface="Wingdings" pitchFamily="2" charset="2"/>
            </a:endParaRPr>
          </a:p>
          <a:p>
            <a:pPr marL="0" indent="0">
              <a:buNone/>
            </a:pPr>
            <a:r>
              <a:rPr lang="en-US" sz="2400" dirty="0" smtClean="0">
                <a:sym typeface="Wingdings" pitchFamily="2" charset="2"/>
              </a:rPr>
              <a:t>Potential </a:t>
            </a:r>
            <a:r>
              <a:rPr lang="en-US" sz="2400" dirty="0" smtClean="0">
                <a:sym typeface="Wingdings" pitchFamily="2" charset="2"/>
              </a:rPr>
              <a:t>for conflict of interest (“rating shopping”). But…</a:t>
            </a:r>
          </a:p>
          <a:p>
            <a:r>
              <a:rPr lang="en-US" sz="2400" dirty="0" smtClean="0">
                <a:sym typeface="Wingdings" pitchFamily="2" charset="2"/>
              </a:rPr>
              <a:t>Rating agencies depend on their reputations, credibility</a:t>
            </a:r>
            <a:r>
              <a:rPr lang="en-US" sz="2400" dirty="0" smtClean="0">
                <a:sym typeface="Wingdings" pitchFamily="2" charset="2"/>
              </a:rPr>
              <a:t>.</a:t>
            </a:r>
            <a:endParaRPr lang="en-US" sz="2400" dirty="0" smtClean="0">
              <a:sym typeface="Wingdings" pitchFamily="2" charset="2"/>
            </a:endParaRPr>
          </a:p>
        </p:txBody>
      </p:sp>
      <p:sp>
        <p:nvSpPr>
          <p:cNvPr id="4" name="Slide Number Placeholder 3"/>
          <p:cNvSpPr>
            <a:spLocks noGrp="1"/>
          </p:cNvSpPr>
          <p:nvPr>
            <p:ph type="sldNum" sz="quarter" idx="12"/>
          </p:nvPr>
        </p:nvSpPr>
        <p:spPr/>
        <p:txBody>
          <a:bodyPr/>
          <a:lstStyle/>
          <a:p>
            <a:fld id="{BE2EE7B0-3F58-4064-A6B1-2C77F4CA9B2A}" type="slidenum">
              <a:rPr lang="en-US" smtClean="0"/>
              <a:pPr/>
              <a:t>21</a:t>
            </a:fld>
            <a:endParaRPr lang="en-US"/>
          </a:p>
        </p:txBody>
      </p:sp>
      <p:sp>
        <p:nvSpPr>
          <p:cNvPr id="5" name="Footer Placeholder 4"/>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3"/>
          <p:cNvPicPr>
            <a:picLocks noChangeAspect="1"/>
          </p:cNvPicPr>
          <p:nvPr/>
        </p:nvPicPr>
        <p:blipFill>
          <a:blip r:embed="rId2" cstate="print"/>
          <a:srcRect/>
          <a:stretch>
            <a:fillRect/>
          </a:stretch>
        </p:blipFill>
        <p:spPr bwMode="auto">
          <a:xfrm>
            <a:off x="1600200" y="533400"/>
            <a:ext cx="6159500" cy="6019800"/>
          </a:xfrm>
          <a:prstGeom prst="rect">
            <a:avLst/>
          </a:prstGeom>
          <a:noFill/>
          <a:ln w="9525">
            <a:noFill/>
            <a:miter lim="800000"/>
            <a:headEnd/>
            <a:tailEnd/>
          </a:ln>
        </p:spPr>
      </p:pic>
      <p:sp>
        <p:nvSpPr>
          <p:cNvPr id="5" name="TextBox 4"/>
          <p:cNvSpPr txBox="1"/>
          <p:nvPr/>
        </p:nvSpPr>
        <p:spPr>
          <a:xfrm>
            <a:off x="304800" y="76200"/>
            <a:ext cx="8382000" cy="461963"/>
          </a:xfrm>
          <a:prstGeom prst="rect">
            <a:avLst/>
          </a:prstGeom>
          <a:noFill/>
        </p:spPr>
        <p:txBody>
          <a:bodyPr>
            <a:spAutoFit/>
          </a:bodyPr>
          <a:lstStyle/>
          <a:p>
            <a:pPr algn="ctr">
              <a:defRPr/>
            </a:pPr>
            <a:r>
              <a:rPr lang="en-US" sz="2400" b="1" dirty="0">
                <a:solidFill>
                  <a:srgbClr val="00B0F0"/>
                </a:solidFill>
                <a:latin typeface="+mj-lt"/>
              </a:rPr>
              <a:t>Exhibit 20-6: </a:t>
            </a:r>
            <a:r>
              <a:rPr lang="en-US" sz="2400" dirty="0">
                <a:latin typeface="+mj-lt"/>
              </a:rPr>
              <a:t>Bond Ratings</a:t>
            </a:r>
          </a:p>
        </p:txBody>
      </p:sp>
      <p:sp>
        <p:nvSpPr>
          <p:cNvPr id="4" name="Slide Number Placeholder 3"/>
          <p:cNvSpPr>
            <a:spLocks noGrp="1"/>
          </p:cNvSpPr>
          <p:nvPr>
            <p:ph type="sldNum" sz="quarter" idx="12"/>
          </p:nvPr>
        </p:nvSpPr>
        <p:spPr/>
        <p:txBody>
          <a:bodyPr/>
          <a:lstStyle/>
          <a:p>
            <a:fld id="{48A99278-0183-414C-88A9-7F7A59B915A5}" type="slidenum">
              <a:rPr lang="en-US" smtClean="0"/>
              <a:pPr/>
              <a:t>22</a:t>
            </a:fld>
            <a:endParaRPr lang="en-US"/>
          </a:p>
        </p:txBody>
      </p:sp>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sp>
        <p:nvSpPr>
          <p:cNvPr id="5" name="Slide Number Placeholder 3"/>
          <p:cNvSpPr>
            <a:spLocks noGrp="1"/>
          </p:cNvSpPr>
          <p:nvPr>
            <p:ph type="sldNum" sz="quarter" idx="12"/>
          </p:nvPr>
        </p:nvSpPr>
        <p:spPr/>
        <p:txBody>
          <a:bodyPr/>
          <a:lstStyle/>
          <a:p>
            <a:fld id="{99AE4A52-53C2-489B-B48D-83B874490050}" type="slidenum">
              <a:rPr lang="en-US"/>
              <a:pPr/>
              <a:t>23</a:t>
            </a:fld>
            <a:endParaRPr lang="en-US"/>
          </a:p>
        </p:txBody>
      </p:sp>
      <p:sp>
        <p:nvSpPr>
          <p:cNvPr id="550914" name="Text Box 2"/>
          <p:cNvSpPr txBox="1">
            <a:spLocks noChangeArrowheads="1"/>
          </p:cNvSpPr>
          <p:nvPr/>
        </p:nvSpPr>
        <p:spPr bwMode="auto">
          <a:xfrm>
            <a:off x="381000" y="304800"/>
            <a:ext cx="8077200" cy="366713"/>
          </a:xfrm>
          <a:prstGeom prst="rect">
            <a:avLst/>
          </a:prstGeom>
          <a:noFill/>
          <a:ln w="9525">
            <a:noFill/>
            <a:miter lim="800000"/>
            <a:headEnd/>
            <a:tailEnd/>
          </a:ln>
          <a:effectLst/>
        </p:spPr>
        <p:txBody>
          <a:bodyPr>
            <a:spAutoFit/>
          </a:bodyPr>
          <a:lstStyle/>
          <a:p>
            <a:pPr eaLnBrk="1" hangingPunct="1">
              <a:spcBef>
                <a:spcPct val="50000"/>
              </a:spcBef>
              <a:defRPr/>
            </a:pPr>
            <a:r>
              <a:rPr lang="en-US" sz="1800" b="1" dirty="0">
                <a:solidFill>
                  <a:srgbClr val="000000"/>
                </a:solidFill>
                <a:effectLst>
                  <a:outerShdw blurRad="38100" dist="38100" dir="2700000" algn="tl">
                    <a:srgbClr val="FFFFFF"/>
                  </a:outerShdw>
                </a:effectLst>
              </a:rPr>
              <a:t>Rating CMBS tranches (cont.)…</a:t>
            </a:r>
          </a:p>
        </p:txBody>
      </p:sp>
      <p:sp>
        <p:nvSpPr>
          <p:cNvPr id="550915" name="Text Box 3"/>
          <p:cNvSpPr txBox="1">
            <a:spLocks noChangeArrowheads="1"/>
          </p:cNvSpPr>
          <p:nvPr/>
        </p:nvSpPr>
        <p:spPr bwMode="auto">
          <a:xfrm>
            <a:off x="990600" y="1905000"/>
            <a:ext cx="7315200" cy="3946525"/>
          </a:xfrm>
          <a:prstGeom prst="rect">
            <a:avLst/>
          </a:prstGeom>
          <a:solidFill>
            <a:schemeClr val="bg1"/>
          </a:solidFill>
          <a:ln w="9525">
            <a:solidFill>
              <a:schemeClr val="tx1"/>
            </a:solidFill>
            <a:miter lim="800000"/>
            <a:headEnd/>
            <a:tailEnd/>
          </a:ln>
          <a:effectLst/>
        </p:spPr>
        <p:txBody>
          <a:bodyPr>
            <a:spAutoFit/>
          </a:bodyPr>
          <a:lstStyle/>
          <a:p>
            <a:pPr lvl="2" eaLnBrk="1" hangingPunct="1">
              <a:buFontTx/>
              <a:buChar char="•"/>
              <a:defRPr/>
            </a:pPr>
            <a:r>
              <a:rPr lang="en-US" sz="1800" b="1">
                <a:solidFill>
                  <a:srgbClr val="000000"/>
                </a:solidFill>
                <a:effectLst>
                  <a:outerShdw blurRad="38100" dist="38100" dir="2700000" algn="tl">
                    <a:srgbClr val="C0C0C0"/>
                  </a:outerShdw>
                </a:effectLst>
              </a:rPr>
              <a:t> Overall average LTV ratio &amp; DCR</a:t>
            </a:r>
          </a:p>
          <a:p>
            <a:pPr lvl="2" eaLnBrk="1" hangingPunct="1">
              <a:buFontTx/>
              <a:buChar char="•"/>
              <a:defRPr/>
            </a:pPr>
            <a:r>
              <a:rPr lang="en-US" sz="1800" b="1">
                <a:solidFill>
                  <a:srgbClr val="000000"/>
                </a:solidFill>
                <a:effectLst>
                  <a:outerShdw blurRad="38100" dist="38100" dir="2700000" algn="tl">
                    <a:srgbClr val="C0C0C0"/>
                  </a:outerShdw>
                </a:effectLst>
              </a:rPr>
              <a:t> Dispersion (heterogeneity) in LTV and DCR</a:t>
            </a:r>
          </a:p>
          <a:p>
            <a:pPr lvl="2" eaLnBrk="1" hangingPunct="1">
              <a:buFontTx/>
              <a:buChar char="•"/>
              <a:defRPr/>
            </a:pPr>
            <a:r>
              <a:rPr lang="en-US" sz="1800" b="1">
                <a:solidFill>
                  <a:srgbClr val="000000"/>
                </a:solidFill>
                <a:effectLst>
                  <a:outerShdw blurRad="38100" dist="38100" dir="2700000" algn="tl">
                    <a:srgbClr val="C0C0C0"/>
                  </a:outerShdw>
                </a:effectLst>
              </a:rPr>
              <a:t> Quality of LTV and DCR information</a:t>
            </a:r>
          </a:p>
          <a:p>
            <a:pPr lvl="2" eaLnBrk="1" hangingPunct="1">
              <a:buFontTx/>
              <a:buChar char="•"/>
              <a:defRPr/>
            </a:pPr>
            <a:r>
              <a:rPr lang="en-US" sz="1800" b="1">
                <a:solidFill>
                  <a:srgbClr val="000000"/>
                </a:solidFill>
                <a:effectLst>
                  <a:outerShdw blurRad="38100" dist="38100" dir="2700000" algn="tl">
                    <a:srgbClr val="C0C0C0"/>
                  </a:outerShdw>
                </a:effectLst>
              </a:rPr>
              <a:t> Property types in the pool</a:t>
            </a:r>
          </a:p>
          <a:p>
            <a:pPr lvl="2" eaLnBrk="1" hangingPunct="1">
              <a:buFontTx/>
              <a:buChar char="•"/>
              <a:defRPr/>
            </a:pPr>
            <a:r>
              <a:rPr lang="en-US" sz="1800" b="1">
                <a:solidFill>
                  <a:srgbClr val="000000"/>
                </a:solidFill>
                <a:effectLst>
                  <a:outerShdw blurRad="38100" dist="38100" dir="2700000" algn="tl">
                    <a:srgbClr val="C0C0C0"/>
                  </a:outerShdw>
                </a:effectLst>
              </a:rPr>
              <a:t> Property ages and lease expirations</a:t>
            </a:r>
          </a:p>
          <a:p>
            <a:pPr lvl="2" eaLnBrk="1" hangingPunct="1">
              <a:buFontTx/>
              <a:buChar char="•"/>
              <a:defRPr/>
            </a:pPr>
            <a:r>
              <a:rPr lang="en-US" sz="1800" b="1">
                <a:solidFill>
                  <a:srgbClr val="000000"/>
                </a:solidFill>
                <a:effectLst>
                  <a:outerShdw blurRad="38100" dist="38100" dir="2700000" algn="tl">
                    <a:srgbClr val="C0C0C0"/>
                  </a:outerShdw>
                </a:effectLst>
              </a:rPr>
              <a:t> Geographical location of properties</a:t>
            </a:r>
          </a:p>
          <a:p>
            <a:pPr lvl="2" eaLnBrk="1" hangingPunct="1">
              <a:buFontTx/>
              <a:buChar char="•"/>
              <a:defRPr/>
            </a:pPr>
            <a:r>
              <a:rPr lang="en-US" sz="1800" b="1">
                <a:solidFill>
                  <a:srgbClr val="000000"/>
                </a:solidFill>
                <a:effectLst>
                  <a:outerShdw blurRad="38100" dist="38100" dir="2700000" algn="tl">
                    <a:srgbClr val="C0C0C0"/>
                  </a:outerShdw>
                </a:effectLst>
              </a:rPr>
              <a:t> Loan sizes &amp; total number of loans</a:t>
            </a:r>
          </a:p>
          <a:p>
            <a:pPr lvl="2" eaLnBrk="1" hangingPunct="1">
              <a:buFontTx/>
              <a:buChar char="•"/>
              <a:defRPr/>
            </a:pPr>
            <a:r>
              <a:rPr lang="en-US" sz="1800" b="1">
                <a:solidFill>
                  <a:srgbClr val="000000"/>
                </a:solidFill>
                <a:effectLst>
                  <a:outerShdw blurRad="38100" dist="38100" dir="2700000" algn="tl">
                    <a:srgbClr val="C0C0C0"/>
                  </a:outerShdw>
                </a:effectLst>
              </a:rPr>
              <a:t> Loan maturities</a:t>
            </a:r>
          </a:p>
          <a:p>
            <a:pPr lvl="2" eaLnBrk="1" hangingPunct="1">
              <a:buFontTx/>
              <a:buChar char="•"/>
              <a:defRPr/>
            </a:pPr>
            <a:r>
              <a:rPr lang="en-US" sz="1800" b="1">
                <a:solidFill>
                  <a:srgbClr val="000000"/>
                </a:solidFill>
                <a:effectLst>
                  <a:outerShdw blurRad="38100" dist="38100" dir="2700000" algn="tl">
                    <a:srgbClr val="C0C0C0"/>
                  </a:outerShdw>
                </a:effectLst>
              </a:rPr>
              <a:t> Loan terms (e.g., amortization, floating rates, prepayment, recourse)</a:t>
            </a:r>
          </a:p>
          <a:p>
            <a:pPr lvl="2" eaLnBrk="1" hangingPunct="1">
              <a:buFontTx/>
              <a:buChar char="•"/>
              <a:defRPr/>
            </a:pPr>
            <a:r>
              <a:rPr lang="en-US" sz="1800" b="1">
                <a:solidFill>
                  <a:srgbClr val="000000"/>
                </a:solidFill>
                <a:effectLst>
                  <a:outerShdw blurRad="38100" dist="38100" dir="2700000" algn="tl">
                    <a:srgbClr val="C0C0C0"/>
                  </a:outerShdw>
                </a:effectLst>
              </a:rPr>
              <a:t> Seasoning (age) of the loans</a:t>
            </a:r>
          </a:p>
          <a:p>
            <a:pPr lvl="2" eaLnBrk="1" hangingPunct="1">
              <a:buFontTx/>
              <a:buChar char="•"/>
              <a:defRPr/>
            </a:pPr>
            <a:r>
              <a:rPr lang="en-US" sz="1800" b="1">
                <a:solidFill>
                  <a:srgbClr val="000000"/>
                </a:solidFill>
                <a:effectLst>
                  <a:outerShdw blurRad="38100" dist="38100" dir="2700000" algn="tl">
                    <a:srgbClr val="C0C0C0"/>
                  </a:outerShdw>
                </a:effectLst>
              </a:rPr>
              <a:t> Amount of pool overcollatalization or credit enhancement</a:t>
            </a:r>
          </a:p>
          <a:p>
            <a:pPr lvl="2" eaLnBrk="1" hangingPunct="1">
              <a:buFontTx/>
              <a:buChar char="•"/>
              <a:defRPr/>
            </a:pPr>
            <a:r>
              <a:rPr lang="en-US" sz="1800" b="1">
                <a:solidFill>
                  <a:srgbClr val="000000"/>
                </a:solidFill>
                <a:effectLst>
                  <a:outerShdw blurRad="38100" dist="38100" dir="2700000" algn="tl">
                    <a:srgbClr val="C0C0C0"/>
                  </a:outerShdw>
                </a:effectLst>
              </a:rPr>
              <a:t> Legal structure &amp; servicer relationships</a:t>
            </a:r>
          </a:p>
          <a:p>
            <a:pPr lvl="2" eaLnBrk="1" hangingPunct="1">
              <a:buFontTx/>
              <a:buChar char="•"/>
              <a:defRPr/>
            </a:pPr>
            <a:r>
              <a:rPr lang="en-US" sz="1800" b="1">
                <a:solidFill>
                  <a:srgbClr val="000000"/>
                </a:solidFill>
                <a:effectLst>
                  <a:outerShdw blurRad="38100" dist="38100" dir="2700000" algn="tl">
                    <a:srgbClr val="C0C0C0"/>
                  </a:outerShdw>
                </a:effectLst>
              </a:rPr>
              <a:t> Number of borrowers &amp; cross-collateralization</a:t>
            </a:r>
          </a:p>
        </p:txBody>
      </p:sp>
      <p:sp>
        <p:nvSpPr>
          <p:cNvPr id="550916" name="Text Box 4"/>
          <p:cNvSpPr txBox="1">
            <a:spLocks noChangeArrowheads="1"/>
          </p:cNvSpPr>
          <p:nvPr/>
        </p:nvSpPr>
        <p:spPr bwMode="auto">
          <a:xfrm>
            <a:off x="609600" y="838200"/>
            <a:ext cx="8229600" cy="915988"/>
          </a:xfrm>
          <a:prstGeom prst="rect">
            <a:avLst/>
          </a:prstGeom>
          <a:noFill/>
          <a:ln w="9525">
            <a:noFill/>
            <a:miter lim="800000"/>
            <a:headEnd/>
            <a:tailEnd/>
          </a:ln>
          <a:effectLst/>
        </p:spPr>
        <p:txBody>
          <a:bodyPr>
            <a:spAutoFit/>
          </a:bodyPr>
          <a:lstStyle/>
          <a:p>
            <a:pPr eaLnBrk="1" hangingPunct="1">
              <a:spcBef>
                <a:spcPct val="50000"/>
              </a:spcBef>
              <a:defRPr/>
            </a:pPr>
            <a:r>
              <a:rPr lang="en-US" sz="1800" b="1">
                <a:solidFill>
                  <a:srgbClr val="000000"/>
                </a:solidFill>
                <a:effectLst>
                  <a:outerShdw blurRad="38100" dist="38100" dir="2700000" algn="tl">
                    <a:srgbClr val="FFFFFF"/>
                  </a:outerShdw>
                </a:effectLst>
              </a:rPr>
              <a:t>Variables that can be important in analyzing the credit quality of a mortgage pool and the various tranches that can be carved out of it, in either quantitative or qualitative analysis, include: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pPr>
              <a:defRPr/>
            </a:pPr>
            <a:r>
              <a:rPr lang="en-US" smtClean="0"/>
              <a:t>© 2014 OnCourse Learning. All Rights Reserved.</a:t>
            </a:r>
            <a:endParaRPr lang="en-US"/>
          </a:p>
        </p:txBody>
      </p:sp>
      <p:sp>
        <p:nvSpPr>
          <p:cNvPr id="5" name="Slide Number Placeholder 3"/>
          <p:cNvSpPr>
            <a:spLocks noGrp="1"/>
          </p:cNvSpPr>
          <p:nvPr>
            <p:ph type="sldNum" sz="quarter" idx="12"/>
          </p:nvPr>
        </p:nvSpPr>
        <p:spPr/>
        <p:txBody>
          <a:bodyPr/>
          <a:lstStyle/>
          <a:p>
            <a:fld id="{42EE050D-6A35-431D-94E0-EA87B865CFD4}" type="slidenum">
              <a:rPr lang="en-US"/>
              <a:pPr/>
              <a:t>24</a:t>
            </a:fld>
            <a:endParaRPr lang="en-US"/>
          </a:p>
        </p:txBody>
      </p:sp>
      <p:sp>
        <p:nvSpPr>
          <p:cNvPr id="551938" name="Text Box 2"/>
          <p:cNvSpPr txBox="1">
            <a:spLocks noChangeArrowheads="1"/>
          </p:cNvSpPr>
          <p:nvPr/>
        </p:nvSpPr>
        <p:spPr bwMode="auto">
          <a:xfrm>
            <a:off x="381000" y="304800"/>
            <a:ext cx="8077200" cy="366713"/>
          </a:xfrm>
          <a:prstGeom prst="rect">
            <a:avLst/>
          </a:prstGeom>
          <a:noFill/>
          <a:ln w="9525">
            <a:noFill/>
            <a:miter lim="800000"/>
            <a:headEnd/>
            <a:tailEnd/>
          </a:ln>
          <a:effectLst/>
        </p:spPr>
        <p:txBody>
          <a:bodyPr>
            <a:spAutoFit/>
          </a:bodyPr>
          <a:lstStyle/>
          <a:p>
            <a:pPr eaLnBrk="1" hangingPunct="1">
              <a:spcBef>
                <a:spcPct val="50000"/>
              </a:spcBef>
              <a:defRPr/>
            </a:pPr>
            <a:r>
              <a:rPr lang="en-US" sz="1800" b="1" dirty="0">
                <a:solidFill>
                  <a:srgbClr val="000000"/>
                </a:solidFill>
                <a:effectLst>
                  <a:outerShdw blurRad="38100" dist="38100" dir="2700000" algn="tl">
                    <a:srgbClr val="FFFFFF"/>
                  </a:outerShdw>
                </a:effectLst>
              </a:rPr>
              <a:t>Rating CMBS tranches (cont.)…</a:t>
            </a:r>
          </a:p>
        </p:txBody>
      </p:sp>
      <p:sp>
        <p:nvSpPr>
          <p:cNvPr id="6" name="Text Box 4"/>
          <p:cNvSpPr txBox="1">
            <a:spLocks noChangeArrowheads="1"/>
          </p:cNvSpPr>
          <p:nvPr/>
        </p:nvSpPr>
        <p:spPr bwMode="auto">
          <a:xfrm>
            <a:off x="407670" y="2667000"/>
            <a:ext cx="8153400" cy="1616075"/>
          </a:xfrm>
          <a:prstGeom prst="rect">
            <a:avLst/>
          </a:prstGeom>
          <a:solidFill>
            <a:srgbClr val="FFFF99"/>
          </a:solidFill>
          <a:ln w="9525">
            <a:noFill/>
            <a:miter lim="800000"/>
            <a:headEnd/>
            <a:tailEnd/>
          </a:ln>
          <a:effectLst/>
        </p:spPr>
        <p:txBody>
          <a:bodyPr>
            <a:spAutoFit/>
          </a:bodyPr>
          <a:lstStyle/>
          <a:p>
            <a:pPr eaLnBrk="1" hangingPunct="1">
              <a:spcBef>
                <a:spcPct val="50000"/>
              </a:spcBef>
              <a:defRPr/>
            </a:pPr>
            <a:r>
              <a:rPr lang="en-US" sz="1800" b="1" dirty="0">
                <a:solidFill>
                  <a:srgbClr val="000000"/>
                </a:solidFill>
                <a:effectLst>
                  <a:outerShdw blurRad="38100" dist="38100" dir="2700000" algn="tl">
                    <a:srgbClr val="FFFFFF"/>
                  </a:outerShdw>
                </a:effectLst>
              </a:rPr>
              <a:t>Because of the importance of the credit-rating function in determining the value and hence financial feasibility of a CMBS issue, the </a:t>
            </a:r>
            <a:r>
              <a:rPr lang="en-US" sz="1800" b="1" i="1" dirty="0">
                <a:solidFill>
                  <a:srgbClr val="0000FF"/>
                </a:solidFill>
                <a:effectLst>
                  <a:outerShdw blurRad="38100" dist="38100" dir="2700000" algn="tl">
                    <a:srgbClr val="000000"/>
                  </a:outerShdw>
                </a:effectLst>
              </a:rPr>
              <a:t>rating agencies played a quasi-regulatory role in the CMBS market</a:t>
            </a:r>
            <a:r>
              <a:rPr lang="en-US" sz="1800" b="1" dirty="0">
                <a:solidFill>
                  <a:srgbClr val="000000"/>
                </a:solidFill>
                <a:effectLst>
                  <a:outerShdw blurRad="38100" dist="38100" dir="2700000" algn="tl">
                    <a:srgbClr val="FFFFFF"/>
                  </a:outerShdw>
                </a:effectLst>
              </a:rPr>
              <a:t>.</a:t>
            </a:r>
          </a:p>
          <a:p>
            <a:pPr eaLnBrk="1" hangingPunct="1">
              <a:spcBef>
                <a:spcPct val="50000"/>
              </a:spcBef>
              <a:defRPr/>
            </a:pPr>
            <a:r>
              <a:rPr lang="en-US" sz="1800" b="1" dirty="0">
                <a:solidFill>
                  <a:srgbClr val="000000"/>
                </a:solidFill>
                <a:effectLst>
                  <a:outerShdw blurRad="38100" dist="38100" dir="2700000" algn="tl">
                    <a:srgbClr val="FFFFFF"/>
                  </a:outerShdw>
                </a:effectLst>
              </a:rPr>
              <a:t>The result is greater </a:t>
            </a:r>
            <a:r>
              <a:rPr lang="en-US" sz="1800" b="1" i="1" dirty="0">
                <a:solidFill>
                  <a:srgbClr val="0000FF"/>
                </a:solidFill>
                <a:effectLst>
                  <a:outerShdw blurRad="38100" dist="38100" dir="2700000" algn="tl">
                    <a:srgbClr val="000000"/>
                  </a:outerShdw>
                </a:effectLst>
              </a:rPr>
              <a:t>standardization</a:t>
            </a:r>
            <a:r>
              <a:rPr lang="en-US" sz="1800" b="1" dirty="0">
                <a:solidFill>
                  <a:srgbClr val="000000"/>
                </a:solidFill>
                <a:effectLst>
                  <a:outerShdw blurRad="38100" dist="38100" dir="2700000" algn="tl">
                    <a:srgbClr val="FFFFFF"/>
                  </a:outerShdw>
                </a:effectLst>
              </a:rPr>
              <a:t>, less flexibility, in commercial mortgages, especially smaller loans of the type that are most likely to be issued by conduits.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Number Placeholder 1"/>
          <p:cNvSpPr>
            <a:spLocks noGrp="1"/>
          </p:cNvSpPr>
          <p:nvPr>
            <p:ph type="sldNum" sz="quarter" idx="12"/>
          </p:nvPr>
        </p:nvSpPr>
        <p:spPr>
          <a:noFill/>
          <a:ln>
            <a:miter lim="800000"/>
            <a:headEnd/>
            <a:tailEnd/>
          </a:ln>
        </p:spPr>
        <p:txBody>
          <a:bodyPr/>
          <a:lstStyle/>
          <a:p>
            <a:fld id="{85FA2CA0-7DDD-4105-BBD5-29D7374CB713}" type="slidenum">
              <a:rPr lang="en-US"/>
              <a:pPr/>
              <a:t>25</a:t>
            </a:fld>
            <a:endParaRPr lang="en-US"/>
          </a:p>
        </p:txBody>
      </p:sp>
      <p:pic>
        <p:nvPicPr>
          <p:cNvPr id="139267" name="Picture 3"/>
          <p:cNvPicPr>
            <a:picLocks noChangeAspect="1" noChangeArrowheads="1"/>
          </p:cNvPicPr>
          <p:nvPr/>
        </p:nvPicPr>
        <p:blipFill>
          <a:blip r:embed="rId2" cstate="print"/>
          <a:srcRect/>
          <a:stretch>
            <a:fillRect/>
          </a:stretch>
        </p:blipFill>
        <p:spPr bwMode="auto">
          <a:xfrm>
            <a:off x="3581400" y="990600"/>
            <a:ext cx="2066925" cy="4572000"/>
          </a:xfrm>
          <a:prstGeom prst="rect">
            <a:avLst/>
          </a:prstGeom>
          <a:noFill/>
          <a:ln w="9525">
            <a:solidFill>
              <a:schemeClr val="tx1"/>
            </a:solidFill>
            <a:miter lim="800000"/>
            <a:headEnd/>
            <a:tailEnd/>
          </a:ln>
        </p:spPr>
      </p:pic>
      <p:sp>
        <p:nvSpPr>
          <p:cNvPr id="139268" name="TextBox 4"/>
          <p:cNvSpPr txBox="1">
            <a:spLocks noChangeArrowheads="1"/>
          </p:cNvSpPr>
          <p:nvPr/>
        </p:nvSpPr>
        <p:spPr bwMode="auto">
          <a:xfrm>
            <a:off x="457200" y="0"/>
            <a:ext cx="8077200" cy="1200150"/>
          </a:xfrm>
          <a:prstGeom prst="rect">
            <a:avLst/>
          </a:prstGeom>
          <a:noFill/>
          <a:ln w="9525">
            <a:noFill/>
            <a:miter lim="800000"/>
            <a:headEnd/>
            <a:tailEnd/>
          </a:ln>
        </p:spPr>
        <p:txBody>
          <a:bodyPr>
            <a:spAutoFit/>
          </a:bodyPr>
          <a:lstStyle/>
          <a:p>
            <a:pPr eaLnBrk="1" hangingPunct="1"/>
            <a:r>
              <a:rPr lang="en-US" sz="1800">
                <a:solidFill>
                  <a:srgbClr val="FF0000"/>
                </a:solidFill>
                <a:latin typeface="Arial" charset="0"/>
              </a:rPr>
              <a:t>Since the financial crisis, rating agencies now no longer try to claim that a given credit rating for a Structured Finance product (like CMBS) is equivalent to the corresponding rating for Corporate (or muni) bonds. They designate the ratings with a “(sf)” suffix.</a:t>
            </a:r>
          </a:p>
        </p:txBody>
      </p:sp>
      <p:sp>
        <p:nvSpPr>
          <p:cNvPr id="139269" name="TextBox 5"/>
          <p:cNvSpPr txBox="1">
            <a:spLocks noChangeArrowheads="1"/>
          </p:cNvSpPr>
          <p:nvPr/>
        </p:nvSpPr>
        <p:spPr bwMode="auto">
          <a:xfrm>
            <a:off x="457200" y="5657850"/>
            <a:ext cx="8077200" cy="1077218"/>
          </a:xfrm>
          <a:prstGeom prst="rect">
            <a:avLst/>
          </a:prstGeom>
          <a:noFill/>
          <a:ln w="9525">
            <a:noFill/>
            <a:miter lim="800000"/>
            <a:headEnd/>
            <a:tailEnd/>
          </a:ln>
        </p:spPr>
        <p:txBody>
          <a:bodyPr>
            <a:spAutoFit/>
          </a:bodyPr>
          <a:lstStyle/>
          <a:p>
            <a:pPr eaLnBrk="1" hangingPunct="1"/>
            <a:r>
              <a:rPr lang="en-US" sz="1600" dirty="0">
                <a:solidFill>
                  <a:srgbClr val="FF0000"/>
                </a:solidFill>
                <a:latin typeface="Arial" charset="0"/>
              </a:rPr>
              <a:t>In the early days of the </a:t>
            </a:r>
            <a:r>
              <a:rPr lang="en-US" sz="1600" dirty="0" err="1">
                <a:solidFill>
                  <a:srgbClr val="FF0000"/>
                </a:solidFill>
                <a:latin typeface="Arial" charset="0"/>
              </a:rPr>
              <a:t>CMBS</a:t>
            </a:r>
            <a:r>
              <a:rPr lang="en-US" sz="1600" dirty="0">
                <a:solidFill>
                  <a:srgbClr val="FF0000"/>
                </a:solidFill>
                <a:latin typeface="Arial" charset="0"/>
              </a:rPr>
              <a:t> industry (1990s), they probably could not have gotten away with this. The bond </a:t>
            </a:r>
            <a:r>
              <a:rPr lang="en-US" sz="1600" dirty="0" err="1">
                <a:solidFill>
                  <a:srgbClr val="FF0000"/>
                </a:solidFill>
                <a:latin typeface="Arial" charset="0"/>
              </a:rPr>
              <a:t>mkt</a:t>
            </a:r>
            <a:r>
              <a:rPr lang="en-US" sz="1600" dirty="0">
                <a:solidFill>
                  <a:srgbClr val="FF0000"/>
                </a:solidFill>
                <a:latin typeface="Arial" charset="0"/>
              </a:rPr>
              <a:t> needed to “believe” that the ratings meant the same thing as what they were familiar with. But by now, the </a:t>
            </a:r>
            <a:r>
              <a:rPr lang="en-US" sz="1600" dirty="0" err="1">
                <a:solidFill>
                  <a:srgbClr val="FF0000"/>
                </a:solidFill>
                <a:latin typeface="Arial" charset="0"/>
              </a:rPr>
              <a:t>MBS</a:t>
            </a:r>
            <a:r>
              <a:rPr lang="en-US" sz="1600" dirty="0">
                <a:solidFill>
                  <a:srgbClr val="FF0000"/>
                </a:solidFill>
                <a:latin typeface="Arial" charset="0"/>
              </a:rPr>
              <a:t> industry may (</a:t>
            </a:r>
            <a:r>
              <a:rPr lang="en-US" sz="1600" b="1" i="1" u="sng" dirty="0">
                <a:solidFill>
                  <a:srgbClr val="FF0000"/>
                </a:solidFill>
                <a:latin typeface="Arial" charset="0"/>
              </a:rPr>
              <a:t>may</a:t>
            </a:r>
            <a:r>
              <a:rPr lang="en-US" sz="1600" dirty="0">
                <a:solidFill>
                  <a:srgbClr val="FF0000"/>
                </a:solidFill>
                <a:latin typeface="Arial" charset="0"/>
              </a:rPr>
              <a:t>) have enough history that it will work?...</a:t>
            </a:r>
          </a:p>
        </p:txBody>
      </p:sp>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1"/>
          <p:cNvPicPr>
            <a:picLocks noChangeAspect="1"/>
          </p:cNvPicPr>
          <p:nvPr/>
        </p:nvPicPr>
        <p:blipFill>
          <a:blip r:embed="rId2" cstate="print"/>
          <a:srcRect/>
          <a:stretch>
            <a:fillRect/>
          </a:stretch>
        </p:blipFill>
        <p:spPr bwMode="auto">
          <a:xfrm>
            <a:off x="685800" y="517525"/>
            <a:ext cx="7772400" cy="5247589"/>
          </a:xfrm>
          <a:prstGeom prst="rect">
            <a:avLst/>
          </a:prstGeom>
          <a:noFill/>
          <a:ln w="9525">
            <a:noFill/>
            <a:miter lim="800000"/>
            <a:headEnd/>
            <a:tailEnd/>
          </a:ln>
        </p:spPr>
      </p:pic>
      <p:sp>
        <p:nvSpPr>
          <p:cNvPr id="3" name="Title 1"/>
          <p:cNvSpPr txBox="1">
            <a:spLocks/>
          </p:cNvSpPr>
          <p:nvPr/>
        </p:nvSpPr>
        <p:spPr>
          <a:xfrm>
            <a:off x="228600" y="6350"/>
            <a:ext cx="8686800" cy="831850"/>
          </a:xfrm>
          <a:prstGeom prst="rect">
            <a:avLst/>
          </a:prstGeom>
        </p:spPr>
        <p:txBody>
          <a:bodyPr/>
          <a:lstStyle>
            <a:lvl1pPr algn="ctr" rtl="0" eaLnBrk="0" fontAlgn="base" hangingPunct="0">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9pPr>
          </a:lstStyle>
          <a:p>
            <a:pPr>
              <a:defRPr/>
            </a:pPr>
            <a:r>
              <a:rPr lang="en-US" sz="2400" dirty="0" smtClean="0"/>
              <a:t>During the 2000s a major part of the credit cycle was CMBS…</a:t>
            </a:r>
            <a:endParaRPr lang="en-US" sz="2400" dirty="0"/>
          </a:p>
        </p:txBody>
      </p:sp>
      <p:sp>
        <p:nvSpPr>
          <p:cNvPr id="4" name="Title 1"/>
          <p:cNvSpPr txBox="1">
            <a:spLocks/>
          </p:cNvSpPr>
          <p:nvPr/>
        </p:nvSpPr>
        <p:spPr>
          <a:xfrm>
            <a:off x="249238" y="5797550"/>
            <a:ext cx="8686800" cy="831850"/>
          </a:xfrm>
          <a:prstGeom prst="rect">
            <a:avLst/>
          </a:prstGeom>
        </p:spPr>
        <p:txBody>
          <a:bodyPr/>
          <a:lstStyle>
            <a:lvl1pPr algn="ctr" rtl="0" eaLnBrk="0" fontAlgn="base" hangingPunct="0">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90204" pitchFamily="34" charset="0"/>
              </a:defRPr>
            </a:lvl9pPr>
          </a:lstStyle>
          <a:p>
            <a:pPr algn="l">
              <a:defRPr/>
            </a:pPr>
            <a:r>
              <a:rPr lang="en-US" sz="2000" dirty="0" smtClean="0"/>
              <a:t>CMBS accounted for up to half of all CRE credit (more than half of permanent debt) during peak bubble period.</a:t>
            </a:r>
            <a:endParaRPr lang="en-US" sz="2000" dirty="0"/>
          </a:p>
        </p:txBody>
      </p:sp>
      <p:sp>
        <p:nvSpPr>
          <p:cNvPr id="5" name="Slide Number Placeholder 4"/>
          <p:cNvSpPr>
            <a:spLocks noGrp="1"/>
          </p:cNvSpPr>
          <p:nvPr>
            <p:ph type="sldNum" sz="quarter" idx="12"/>
          </p:nvPr>
        </p:nvSpPr>
        <p:spPr/>
        <p:txBody>
          <a:bodyPr/>
          <a:lstStyle/>
          <a:p>
            <a:fld id="{48A99278-0183-414C-88A9-7F7A59B915A5}" type="slidenum">
              <a:rPr lang="en-US" smtClean="0"/>
              <a:pPr/>
              <a:t>26</a:t>
            </a:fld>
            <a:endParaRPr lang="en-US"/>
          </a:p>
        </p:txBody>
      </p:sp>
      <p:sp>
        <p:nvSpPr>
          <p:cNvPr id="6" name="Footer Placeholder 5"/>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3"/>
          <p:cNvPicPr>
            <a:picLocks noChangeAspect="1"/>
          </p:cNvPicPr>
          <p:nvPr/>
        </p:nvPicPr>
        <p:blipFill>
          <a:blip r:embed="rId2" cstate="print"/>
          <a:srcRect/>
          <a:stretch>
            <a:fillRect/>
          </a:stretch>
        </p:blipFill>
        <p:spPr bwMode="auto">
          <a:xfrm>
            <a:off x="561975" y="990600"/>
            <a:ext cx="7894638" cy="4800600"/>
          </a:xfrm>
          <a:prstGeom prst="rect">
            <a:avLst/>
          </a:prstGeom>
          <a:noFill/>
          <a:ln w="9525">
            <a:noFill/>
            <a:miter lim="800000"/>
            <a:headEnd/>
            <a:tailEnd/>
          </a:ln>
        </p:spPr>
      </p:pic>
      <p:sp>
        <p:nvSpPr>
          <p:cNvPr id="5" name="TextBox 4"/>
          <p:cNvSpPr txBox="1"/>
          <p:nvPr/>
        </p:nvSpPr>
        <p:spPr>
          <a:xfrm>
            <a:off x="304800" y="76200"/>
            <a:ext cx="8382000" cy="830263"/>
          </a:xfrm>
          <a:prstGeom prst="rect">
            <a:avLst/>
          </a:prstGeom>
          <a:noFill/>
        </p:spPr>
        <p:txBody>
          <a:bodyPr>
            <a:spAutoFit/>
          </a:bodyPr>
          <a:lstStyle/>
          <a:p>
            <a:pPr algn="ctr">
              <a:defRPr/>
            </a:pPr>
            <a:r>
              <a:rPr lang="en-US" sz="2400" dirty="0">
                <a:latin typeface="+mj-lt"/>
              </a:rPr>
              <a:t>Exhibit 20-7: History of CMBS Subordination Levels, </a:t>
            </a:r>
          </a:p>
          <a:p>
            <a:pPr algn="ctr">
              <a:defRPr/>
            </a:pPr>
            <a:r>
              <a:rPr lang="en-US" sz="2400" dirty="0">
                <a:latin typeface="+mj-lt"/>
              </a:rPr>
              <a:t>1995-2008 (pre-crisis)</a:t>
            </a:r>
          </a:p>
        </p:txBody>
      </p:sp>
      <p:sp>
        <p:nvSpPr>
          <p:cNvPr id="4" name="Rectangle 3"/>
          <p:cNvSpPr txBox="1">
            <a:spLocks noChangeArrowheads="1"/>
          </p:cNvSpPr>
          <p:nvPr/>
        </p:nvSpPr>
        <p:spPr>
          <a:xfrm>
            <a:off x="561975" y="5943600"/>
            <a:ext cx="7772400" cy="457200"/>
          </a:xfrm>
          <a:prstGeom prst="rect">
            <a:avLst/>
          </a:prstGeom>
          <a:solidFill>
            <a:srgbClr val="FFFF00"/>
          </a:solidFill>
        </p:spPr>
        <p:txBody>
          <a:bodyPr/>
          <a:lstStyle/>
          <a:p>
            <a:pPr algn="ctr" eaLnBrk="1" hangingPunct="1">
              <a:defRPr/>
            </a:pPr>
            <a:r>
              <a:rPr lang="en-US" sz="2400" b="1" i="1" kern="0" dirty="0">
                <a:solidFill>
                  <a:srgbClr val="FF0000"/>
                </a:solidFill>
                <a:latin typeface="Arial"/>
                <a:ea typeface="+mj-ea"/>
                <a:cs typeface="+mj-cs"/>
              </a:rPr>
              <a:t>What should these have been?...</a:t>
            </a:r>
          </a:p>
          <a:p>
            <a:pPr algn="ctr" eaLnBrk="1" hangingPunct="1">
              <a:defRPr/>
            </a:pPr>
            <a:endParaRPr lang="en-US" sz="2400" b="1" i="1" kern="0" dirty="0">
              <a:solidFill>
                <a:srgbClr val="FF0000"/>
              </a:solidFill>
              <a:latin typeface="Arial"/>
              <a:ea typeface="+mj-ea"/>
              <a:cs typeface="+mj-cs"/>
            </a:endParaRPr>
          </a:p>
        </p:txBody>
      </p:sp>
      <p:sp>
        <p:nvSpPr>
          <p:cNvPr id="6" name="Slide Number Placeholder 5"/>
          <p:cNvSpPr>
            <a:spLocks noGrp="1"/>
          </p:cNvSpPr>
          <p:nvPr>
            <p:ph type="sldNum" sz="quarter" idx="12"/>
          </p:nvPr>
        </p:nvSpPr>
        <p:spPr/>
        <p:txBody>
          <a:bodyPr/>
          <a:lstStyle/>
          <a:p>
            <a:fld id="{48A99278-0183-414C-88A9-7F7A59B915A5}" type="slidenum">
              <a:rPr lang="en-US" smtClean="0"/>
              <a:pPr/>
              <a:t>27</a:t>
            </a:fld>
            <a:endParaRPr lang="en-US"/>
          </a:p>
        </p:txBody>
      </p:sp>
      <p:sp>
        <p:nvSpPr>
          <p:cNvPr id="7" name="Footer Placeholder 6"/>
          <p:cNvSpPr>
            <a:spLocks noGrp="1"/>
          </p:cNvSpPr>
          <p:nvPr>
            <p:ph type="ftr" sz="quarter" idx="11"/>
          </p:nvPr>
        </p:nvSpPr>
        <p:spPr/>
        <p:txBody>
          <a:bodyPr/>
          <a:lstStyle/>
          <a:p>
            <a:pPr>
              <a:defRPr/>
            </a:pPr>
            <a:r>
              <a:rPr lang="en-US" smtClean="0"/>
              <a:t>© 2014 OnCourse Learning. All Rights Reserved.</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p:txBody>
          <a:bodyPr/>
          <a:lstStyle/>
          <a:p>
            <a:pPr>
              <a:defRPr/>
            </a:pPr>
            <a:r>
              <a:rPr lang="en-US" smtClean="0"/>
              <a:t>© 2014 OnCourse Learning. All Rights Reserved.</a:t>
            </a:r>
            <a:endParaRPr lang="en-US"/>
          </a:p>
        </p:txBody>
      </p:sp>
      <p:sp>
        <p:nvSpPr>
          <p:cNvPr id="2" name="Slide Number Placeholder 1"/>
          <p:cNvSpPr>
            <a:spLocks noGrp="1"/>
          </p:cNvSpPr>
          <p:nvPr>
            <p:ph type="sldNum" sz="quarter" idx="12"/>
          </p:nvPr>
        </p:nvSpPr>
        <p:spPr/>
        <p:txBody>
          <a:bodyPr/>
          <a:lstStyle/>
          <a:p>
            <a:fld id="{09FCFBC2-A91E-43B9-9DA9-77D725FD8659}" type="slidenum">
              <a:rPr lang="en-US"/>
              <a:pPr/>
              <a:t>28</a:t>
            </a:fld>
            <a:endParaRPr lang="en-US"/>
          </a:p>
        </p:txBody>
      </p:sp>
      <p:pic>
        <p:nvPicPr>
          <p:cNvPr id="155651" name="Picture 3"/>
          <p:cNvPicPr>
            <a:picLocks noChangeAspect="1"/>
          </p:cNvPicPr>
          <p:nvPr/>
        </p:nvPicPr>
        <p:blipFill>
          <a:blip r:embed="rId2" cstate="print"/>
          <a:srcRect/>
          <a:stretch>
            <a:fillRect/>
          </a:stretch>
        </p:blipFill>
        <p:spPr bwMode="auto">
          <a:xfrm>
            <a:off x="457200" y="457200"/>
            <a:ext cx="7894638" cy="4800600"/>
          </a:xfrm>
          <a:prstGeom prst="rect">
            <a:avLst/>
          </a:prstGeom>
          <a:noFill/>
          <a:ln w="9525">
            <a:noFill/>
            <a:miter lim="800000"/>
            <a:headEnd/>
            <a:tailEnd/>
          </a:ln>
        </p:spPr>
      </p:pic>
      <p:sp>
        <p:nvSpPr>
          <p:cNvPr id="4" name="Rectangle 2"/>
          <p:cNvSpPr txBox="1">
            <a:spLocks noChangeArrowheads="1"/>
          </p:cNvSpPr>
          <p:nvPr/>
        </p:nvSpPr>
        <p:spPr>
          <a:xfrm>
            <a:off x="0" y="0"/>
            <a:ext cx="9144000" cy="457200"/>
          </a:xfrm>
          <a:prstGeom prst="rect">
            <a:avLst/>
          </a:prstGeom>
        </p:spPr>
        <p:txBody>
          <a:bodyPr/>
          <a:lstStyle/>
          <a:p>
            <a:pPr algn="ctr" eaLnBrk="1" hangingPunct="1">
              <a:defRPr/>
            </a:pPr>
            <a:r>
              <a:rPr lang="en-US" sz="2000" kern="0" dirty="0">
                <a:solidFill>
                  <a:srgbClr val="000000"/>
                </a:solidFill>
                <a:latin typeface="Arial"/>
                <a:ea typeface="+mj-ea"/>
                <a:cs typeface="+mj-cs"/>
              </a:rPr>
              <a:t>The pre-crash history of Rating Agency CMBS subordination levels…</a:t>
            </a:r>
            <a:endParaRPr lang="en-US" sz="2000" i="1" kern="0" dirty="0">
              <a:solidFill>
                <a:srgbClr val="000000"/>
              </a:solidFill>
              <a:latin typeface="Arial"/>
              <a:ea typeface="+mj-ea"/>
              <a:cs typeface="+mj-cs"/>
            </a:endParaRPr>
          </a:p>
        </p:txBody>
      </p:sp>
      <p:sp>
        <p:nvSpPr>
          <p:cNvPr id="5" name="Rectangle 2"/>
          <p:cNvSpPr txBox="1">
            <a:spLocks noChangeArrowheads="1"/>
          </p:cNvSpPr>
          <p:nvPr/>
        </p:nvSpPr>
        <p:spPr>
          <a:xfrm>
            <a:off x="0" y="5257800"/>
            <a:ext cx="9144000" cy="1295400"/>
          </a:xfrm>
          <a:prstGeom prst="rect">
            <a:avLst/>
          </a:prstGeom>
        </p:spPr>
        <p:txBody>
          <a:bodyPr/>
          <a:lstStyle/>
          <a:p>
            <a:pPr algn="ctr" eaLnBrk="1" hangingPunct="1">
              <a:defRPr/>
            </a:pPr>
            <a:r>
              <a:rPr lang="en-US" sz="2000" kern="0" dirty="0">
                <a:solidFill>
                  <a:srgbClr val="FF0000"/>
                </a:solidFill>
                <a:latin typeface="Arial"/>
                <a:ea typeface="+mj-ea"/>
                <a:cs typeface="+mj-cs"/>
              </a:rPr>
              <a:t>What should it have said (to the rating agencies) when starting in 2004 the bond </a:t>
            </a:r>
            <a:r>
              <a:rPr lang="en-US" sz="2000" kern="0" dirty="0" err="1">
                <a:solidFill>
                  <a:srgbClr val="FF0000"/>
                </a:solidFill>
                <a:latin typeface="Arial"/>
                <a:ea typeface="+mj-ea"/>
                <a:cs typeface="+mj-cs"/>
              </a:rPr>
              <a:t>mkt</a:t>
            </a:r>
            <a:r>
              <a:rPr lang="en-US" sz="2000" kern="0" dirty="0">
                <a:solidFill>
                  <a:srgbClr val="FF0000"/>
                </a:solidFill>
                <a:latin typeface="Arial"/>
                <a:ea typeface="+mj-ea"/>
                <a:cs typeface="+mj-cs"/>
              </a:rPr>
              <a:t> began to demand (and “price”, i.e., pay for) “super-senior” tranches </a:t>
            </a:r>
            <a:r>
              <a:rPr lang="en-US" sz="2000" i="1" u="sng" kern="0" dirty="0">
                <a:solidFill>
                  <a:srgbClr val="FF0000"/>
                </a:solidFill>
                <a:latin typeface="Arial"/>
                <a:ea typeface="+mj-ea"/>
                <a:cs typeface="+mj-cs"/>
              </a:rPr>
              <a:t>above</a:t>
            </a:r>
            <a:r>
              <a:rPr lang="en-US" sz="2000" kern="0" dirty="0">
                <a:solidFill>
                  <a:srgbClr val="FF0000"/>
                </a:solidFill>
                <a:latin typeface="Arial"/>
                <a:ea typeface="+mj-ea"/>
                <a:cs typeface="+mj-cs"/>
              </a:rPr>
              <a:t> the AAA subordination cut-off?...</a:t>
            </a:r>
            <a:endParaRPr lang="en-US" sz="2000" i="1" kern="0" dirty="0">
              <a:solidFill>
                <a:srgbClr val="FF0000"/>
              </a:solidFill>
              <a:latin typeface="Arial"/>
              <a:ea typeface="+mj-ea"/>
              <a:cs typeface="+mj-cs"/>
            </a:endParaRPr>
          </a:p>
        </p:txBody>
      </p:sp>
      <p:sp>
        <p:nvSpPr>
          <p:cNvPr id="6" name="Oval 5"/>
          <p:cNvSpPr/>
          <p:nvPr/>
        </p:nvSpPr>
        <p:spPr bwMode="auto">
          <a:xfrm rot="4244889">
            <a:off x="5544344" y="1223169"/>
            <a:ext cx="615950" cy="1528762"/>
          </a:xfrm>
          <a:prstGeom prst="ellipse">
            <a:avLst/>
          </a:prstGeom>
          <a:noFill/>
          <a:ln w="19050" cap="flat" cmpd="sng" algn="ctr">
            <a:solidFill>
              <a:srgbClr val="FF0000"/>
            </a:solidFill>
            <a:prstDash val="solid"/>
            <a:round/>
            <a:headEnd type="none" w="med" len="med"/>
            <a:tailEnd type="none" w="med" len="med"/>
          </a:ln>
          <a:effectLst/>
        </p:spPr>
        <p:txBody>
          <a:bodyPr/>
          <a:lstStyle/>
          <a:p>
            <a:pPr eaLnBrk="1" hangingPunct="1">
              <a:defRPr/>
            </a:pPr>
            <a:endParaRPr lang="en-US" sz="2000" b="1" i="1">
              <a:solidFill>
                <a:srgbClr val="000000"/>
              </a:solidFill>
              <a:effectLst>
                <a:outerShdw blurRad="38100" dist="38100" dir="2700000" algn="tl">
                  <a:srgbClr val="000000">
                    <a:alpha val="43137"/>
                  </a:srgbClr>
                </a:outerShdw>
              </a:effectLst>
            </a:endParaRPr>
          </a:p>
        </p:txBody>
      </p:sp>
      <p:cxnSp>
        <p:nvCxnSpPr>
          <p:cNvPr id="155655" name="Straight Arrow Connector 10"/>
          <p:cNvCxnSpPr>
            <a:cxnSpLocks noChangeShapeType="1"/>
          </p:cNvCxnSpPr>
          <p:nvPr/>
        </p:nvCxnSpPr>
        <p:spPr bwMode="auto">
          <a:xfrm flipH="1" flipV="1">
            <a:off x="5943600" y="2057400"/>
            <a:ext cx="1905000" cy="3200400"/>
          </a:xfrm>
          <a:prstGeom prst="straightConnector1">
            <a:avLst/>
          </a:prstGeom>
          <a:noFill/>
          <a:ln w="19050" algn="ctr">
            <a:solidFill>
              <a:srgbClr val="FF0000"/>
            </a:solidFill>
            <a:round/>
            <a:headEnd/>
            <a:tailEnd type="arrow" w="med" len="med"/>
          </a:ln>
        </p:spPr>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p:txBody>
          <a:bodyPr/>
          <a:lstStyle/>
          <a:p>
            <a:pPr>
              <a:defRPr/>
            </a:pPr>
            <a:r>
              <a:rPr lang="en-US" smtClean="0"/>
              <a:t>© 2014 OnCourse Learning. All Rights Reserved.</a:t>
            </a:r>
            <a:endParaRPr lang="en-US"/>
          </a:p>
        </p:txBody>
      </p:sp>
      <p:sp>
        <p:nvSpPr>
          <p:cNvPr id="2" name="Slide Number Placeholder 1"/>
          <p:cNvSpPr>
            <a:spLocks noGrp="1"/>
          </p:cNvSpPr>
          <p:nvPr>
            <p:ph type="sldNum" sz="quarter" idx="12"/>
          </p:nvPr>
        </p:nvSpPr>
        <p:spPr/>
        <p:txBody>
          <a:bodyPr/>
          <a:lstStyle/>
          <a:p>
            <a:fld id="{9CC2A0F2-E10D-4EEF-B95D-80A028D216E7}" type="slidenum">
              <a:rPr lang="en-US"/>
              <a:pPr/>
              <a:t>29</a:t>
            </a:fld>
            <a:endParaRPr lang="en-US"/>
          </a:p>
        </p:txBody>
      </p:sp>
      <p:pic>
        <p:nvPicPr>
          <p:cNvPr id="156675" name="Picture 3"/>
          <p:cNvPicPr>
            <a:picLocks noChangeAspect="1"/>
          </p:cNvPicPr>
          <p:nvPr/>
        </p:nvPicPr>
        <p:blipFill>
          <a:blip r:embed="rId2" cstate="print"/>
          <a:srcRect/>
          <a:stretch>
            <a:fillRect/>
          </a:stretch>
        </p:blipFill>
        <p:spPr bwMode="auto">
          <a:xfrm>
            <a:off x="457200" y="457200"/>
            <a:ext cx="7894638" cy="4800600"/>
          </a:xfrm>
          <a:prstGeom prst="rect">
            <a:avLst/>
          </a:prstGeom>
          <a:noFill/>
          <a:ln w="9525">
            <a:noFill/>
            <a:miter lim="800000"/>
            <a:headEnd/>
            <a:tailEnd/>
          </a:ln>
        </p:spPr>
      </p:pic>
      <p:sp>
        <p:nvSpPr>
          <p:cNvPr id="8" name="Rectangle 2"/>
          <p:cNvSpPr txBox="1">
            <a:spLocks noChangeArrowheads="1"/>
          </p:cNvSpPr>
          <p:nvPr/>
        </p:nvSpPr>
        <p:spPr>
          <a:xfrm>
            <a:off x="0" y="0"/>
            <a:ext cx="9144000" cy="457200"/>
          </a:xfrm>
          <a:prstGeom prst="rect">
            <a:avLst/>
          </a:prstGeom>
        </p:spPr>
        <p:txBody>
          <a:bodyPr/>
          <a:lstStyle/>
          <a:p>
            <a:pPr algn="ctr" eaLnBrk="1" hangingPunct="1">
              <a:defRPr/>
            </a:pPr>
            <a:r>
              <a:rPr lang="en-US" sz="2000" kern="0" dirty="0">
                <a:solidFill>
                  <a:srgbClr val="000000"/>
                </a:solidFill>
                <a:latin typeface="Arial"/>
                <a:ea typeface="+mj-ea"/>
                <a:cs typeface="+mj-cs"/>
              </a:rPr>
              <a:t>The pre-crash history of Rating Agency CMBS subordination levels…</a:t>
            </a:r>
            <a:endParaRPr lang="en-US" sz="2000" i="1" kern="0" dirty="0">
              <a:solidFill>
                <a:srgbClr val="000000"/>
              </a:solidFill>
              <a:latin typeface="Arial"/>
              <a:ea typeface="+mj-ea"/>
              <a:cs typeface="+mj-cs"/>
            </a:endParaRPr>
          </a:p>
        </p:txBody>
      </p:sp>
      <p:sp>
        <p:nvSpPr>
          <p:cNvPr id="9" name="Rectangle 2"/>
          <p:cNvSpPr txBox="1">
            <a:spLocks noChangeArrowheads="1"/>
          </p:cNvSpPr>
          <p:nvPr/>
        </p:nvSpPr>
        <p:spPr>
          <a:xfrm>
            <a:off x="0" y="5410200"/>
            <a:ext cx="9144000" cy="1143000"/>
          </a:xfrm>
          <a:prstGeom prst="rect">
            <a:avLst/>
          </a:prstGeom>
        </p:spPr>
        <p:txBody>
          <a:bodyPr/>
          <a:lstStyle/>
          <a:p>
            <a:pPr algn="ctr" eaLnBrk="1" hangingPunct="1">
              <a:defRPr/>
            </a:pPr>
            <a:r>
              <a:rPr lang="en-US" sz="2000" kern="0" dirty="0">
                <a:solidFill>
                  <a:srgbClr val="FF0000"/>
                </a:solidFill>
                <a:latin typeface="Arial"/>
                <a:ea typeface="+mj-ea"/>
                <a:cs typeface="+mj-cs"/>
              </a:rPr>
              <a:t>If 12% was the worst case ACLI credit loss experience, and AA should be protected against that, then shouldn’t the AA protection have been a bit </a:t>
            </a:r>
            <a:r>
              <a:rPr lang="en-US" sz="2000" i="1" u="sng" kern="0" dirty="0">
                <a:solidFill>
                  <a:srgbClr val="FF0000"/>
                </a:solidFill>
                <a:latin typeface="Arial"/>
                <a:ea typeface="+mj-ea"/>
                <a:cs typeface="+mj-cs"/>
              </a:rPr>
              <a:t>greater than</a:t>
            </a:r>
            <a:r>
              <a:rPr lang="en-US" sz="2000" kern="0" dirty="0">
                <a:solidFill>
                  <a:srgbClr val="FF0000"/>
                </a:solidFill>
                <a:latin typeface="Arial"/>
                <a:ea typeface="+mj-ea"/>
                <a:cs typeface="+mj-cs"/>
              </a:rPr>
              <a:t> 12% subordination?... </a:t>
            </a:r>
            <a:r>
              <a:rPr lang="en-US" sz="2000" kern="0" dirty="0">
                <a:solidFill>
                  <a:srgbClr val="FF0000"/>
                </a:solidFill>
                <a:latin typeface="Arial"/>
                <a:ea typeface="+mj-ea"/>
                <a:cs typeface="+mj-cs"/>
                <a:sym typeface="Wingdings" pitchFamily="2" charset="2"/>
              </a:rPr>
              <a:t> Problem 2004-2007.</a:t>
            </a:r>
            <a:endParaRPr lang="en-US" sz="2000" i="1" kern="0" dirty="0">
              <a:solidFill>
                <a:srgbClr val="FF0000"/>
              </a:solidFill>
              <a:latin typeface="Arial"/>
              <a:ea typeface="+mj-ea"/>
              <a:cs typeface="+mj-cs"/>
            </a:endParaRPr>
          </a:p>
        </p:txBody>
      </p:sp>
      <p:cxnSp>
        <p:nvCxnSpPr>
          <p:cNvPr id="156678" name="Straight Connector 11"/>
          <p:cNvCxnSpPr>
            <a:cxnSpLocks noChangeShapeType="1"/>
          </p:cNvCxnSpPr>
          <p:nvPr/>
        </p:nvCxnSpPr>
        <p:spPr bwMode="auto">
          <a:xfrm>
            <a:off x="990600" y="3200400"/>
            <a:ext cx="7010400" cy="0"/>
          </a:xfrm>
          <a:prstGeom prst="line">
            <a:avLst/>
          </a:prstGeom>
          <a:noFill/>
          <a:ln w="38100" algn="ctr">
            <a:solidFill>
              <a:srgbClr val="FF0000"/>
            </a:solidFill>
            <a:prstDash val="dash"/>
            <a:round/>
            <a:headEnd/>
            <a:tailEnd/>
          </a:ln>
        </p:spPr>
      </p:cxnSp>
      <p:cxnSp>
        <p:nvCxnSpPr>
          <p:cNvPr id="156679" name="Straight Arrow Connector 13"/>
          <p:cNvCxnSpPr>
            <a:cxnSpLocks noChangeShapeType="1"/>
          </p:cNvCxnSpPr>
          <p:nvPr/>
        </p:nvCxnSpPr>
        <p:spPr bwMode="auto">
          <a:xfrm flipV="1">
            <a:off x="4953000" y="3276600"/>
            <a:ext cx="990600" cy="2133600"/>
          </a:xfrm>
          <a:prstGeom prst="straightConnector1">
            <a:avLst/>
          </a:prstGeom>
          <a:noFill/>
          <a:ln w="19050" algn="ctr">
            <a:solidFill>
              <a:srgbClr val="FF0000"/>
            </a:solidFill>
            <a:round/>
            <a:headEnd/>
            <a:tailEnd type="arrow" w="med" len="med"/>
          </a:ln>
        </p:spPr>
      </p:cxnSp>
      <p:cxnSp>
        <p:nvCxnSpPr>
          <p:cNvPr id="156680" name="Straight Arrow Connector 15"/>
          <p:cNvCxnSpPr>
            <a:cxnSpLocks noChangeShapeType="1"/>
          </p:cNvCxnSpPr>
          <p:nvPr/>
        </p:nvCxnSpPr>
        <p:spPr bwMode="auto">
          <a:xfrm flipV="1">
            <a:off x="4648200" y="3276600"/>
            <a:ext cx="0" cy="2133600"/>
          </a:xfrm>
          <a:prstGeom prst="straightConnector1">
            <a:avLst/>
          </a:prstGeom>
          <a:noFill/>
          <a:ln w="19050" algn="ctr">
            <a:solidFill>
              <a:srgbClr val="FF0000"/>
            </a:solidFill>
            <a:round/>
            <a:headEnd/>
            <a:tailEnd type="arrow" w="med" len="med"/>
          </a:ln>
        </p:spPr>
      </p:cxn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9" name="Footer Placeholder 8"/>
          <p:cNvSpPr>
            <a:spLocks noGrp="1"/>
          </p:cNvSpPr>
          <p:nvPr>
            <p:ph type="ftr" sz="quarter" idx="11"/>
          </p:nvPr>
        </p:nvSpPr>
        <p:spPr/>
        <p:txBody>
          <a:bodyPr/>
          <a:lstStyle/>
          <a:p>
            <a:pPr>
              <a:defRPr/>
            </a:pPr>
            <a:r>
              <a:rPr lang="en-US" smtClean="0"/>
              <a:t>© 2014 OnCourse Learning. All Rights Reserved.</a:t>
            </a:r>
            <a:endParaRPr lang="en-US"/>
          </a:p>
        </p:txBody>
      </p:sp>
      <p:sp>
        <p:nvSpPr>
          <p:cNvPr id="2" name="Slide Number Placeholder 1"/>
          <p:cNvSpPr>
            <a:spLocks noGrp="1"/>
          </p:cNvSpPr>
          <p:nvPr>
            <p:ph type="sldNum" sz="quarter" idx="12"/>
          </p:nvPr>
        </p:nvSpPr>
        <p:spPr/>
        <p:txBody>
          <a:bodyPr/>
          <a:lstStyle/>
          <a:p>
            <a:fld id="{E84D9E15-90F7-47BD-AA3B-8CFB441BB3F7}" type="slidenum">
              <a:rPr lang="en-US"/>
              <a:pPr/>
              <a:t>30</a:t>
            </a:fld>
            <a:endParaRPr lang="en-US"/>
          </a:p>
        </p:txBody>
      </p:sp>
      <p:pic>
        <p:nvPicPr>
          <p:cNvPr id="157699" name="Picture 3"/>
          <p:cNvPicPr>
            <a:picLocks noChangeAspect="1"/>
          </p:cNvPicPr>
          <p:nvPr/>
        </p:nvPicPr>
        <p:blipFill>
          <a:blip r:embed="rId2" cstate="print"/>
          <a:srcRect/>
          <a:stretch>
            <a:fillRect/>
          </a:stretch>
        </p:blipFill>
        <p:spPr bwMode="auto">
          <a:xfrm>
            <a:off x="457200" y="457200"/>
            <a:ext cx="7894638" cy="4800600"/>
          </a:xfrm>
          <a:prstGeom prst="rect">
            <a:avLst/>
          </a:prstGeom>
          <a:noFill/>
          <a:ln w="9525">
            <a:noFill/>
            <a:miter lim="800000"/>
            <a:headEnd/>
            <a:tailEnd/>
          </a:ln>
        </p:spPr>
      </p:pic>
      <p:sp>
        <p:nvSpPr>
          <p:cNvPr id="4" name="Rectangle 2"/>
          <p:cNvSpPr txBox="1">
            <a:spLocks noChangeArrowheads="1"/>
          </p:cNvSpPr>
          <p:nvPr/>
        </p:nvSpPr>
        <p:spPr>
          <a:xfrm>
            <a:off x="0" y="0"/>
            <a:ext cx="9144000" cy="457200"/>
          </a:xfrm>
          <a:prstGeom prst="rect">
            <a:avLst/>
          </a:prstGeom>
        </p:spPr>
        <p:txBody>
          <a:bodyPr/>
          <a:lstStyle/>
          <a:p>
            <a:pPr algn="ctr" eaLnBrk="1" hangingPunct="1">
              <a:defRPr/>
            </a:pPr>
            <a:r>
              <a:rPr lang="en-US" sz="2000" kern="0" dirty="0">
                <a:solidFill>
                  <a:srgbClr val="000000"/>
                </a:solidFill>
                <a:latin typeface="Arial"/>
                <a:ea typeface="+mj-ea"/>
                <a:cs typeface="+mj-cs"/>
              </a:rPr>
              <a:t>The pre-crash history of Rating Agency CMBS subordination levels…</a:t>
            </a:r>
            <a:endParaRPr lang="en-US" sz="2000" i="1" kern="0" dirty="0">
              <a:solidFill>
                <a:srgbClr val="000000"/>
              </a:solidFill>
              <a:latin typeface="Arial"/>
              <a:ea typeface="+mj-ea"/>
              <a:cs typeface="+mj-cs"/>
            </a:endParaRPr>
          </a:p>
        </p:txBody>
      </p:sp>
      <p:sp>
        <p:nvSpPr>
          <p:cNvPr id="5" name="Rectangle 2"/>
          <p:cNvSpPr txBox="1">
            <a:spLocks noChangeArrowheads="1"/>
          </p:cNvSpPr>
          <p:nvPr/>
        </p:nvSpPr>
        <p:spPr>
          <a:xfrm>
            <a:off x="0" y="5410200"/>
            <a:ext cx="9144000" cy="1143000"/>
          </a:xfrm>
          <a:prstGeom prst="rect">
            <a:avLst/>
          </a:prstGeom>
          <a:solidFill>
            <a:schemeClr val="bg1"/>
          </a:solidFill>
        </p:spPr>
        <p:txBody>
          <a:bodyPr/>
          <a:lstStyle/>
          <a:p>
            <a:pPr algn="ctr" eaLnBrk="1" hangingPunct="1">
              <a:defRPr/>
            </a:pPr>
            <a:r>
              <a:rPr lang="en-US" sz="2400" kern="0" dirty="0">
                <a:solidFill>
                  <a:srgbClr val="FF0000"/>
                </a:solidFill>
                <a:latin typeface="Arial"/>
                <a:ea typeface="+mj-ea"/>
                <a:cs typeface="+mj-cs"/>
              </a:rPr>
              <a:t>Furthermore…</a:t>
            </a:r>
          </a:p>
          <a:p>
            <a:pPr algn="ctr" eaLnBrk="1" hangingPunct="1">
              <a:defRPr/>
            </a:pPr>
            <a:r>
              <a:rPr lang="en-US" sz="2400" kern="0" dirty="0">
                <a:solidFill>
                  <a:srgbClr val="FF0000"/>
                </a:solidFill>
                <a:latin typeface="Arial"/>
                <a:ea typeface="+mj-ea"/>
                <a:cs typeface="+mj-cs"/>
              </a:rPr>
              <a:t>How much sense does it make to think of a </a:t>
            </a:r>
            <a:r>
              <a:rPr lang="en-US" sz="2400" i="1" u="sng" kern="0" dirty="0">
                <a:solidFill>
                  <a:srgbClr val="FF0000"/>
                </a:solidFill>
                <a:latin typeface="Arial"/>
                <a:ea typeface="+mj-ea"/>
                <a:cs typeface="+mj-cs"/>
              </a:rPr>
              <a:t>constant</a:t>
            </a:r>
            <a:r>
              <a:rPr lang="en-US" sz="2400" kern="0" dirty="0">
                <a:solidFill>
                  <a:srgbClr val="FF0000"/>
                </a:solidFill>
                <a:latin typeface="Arial"/>
                <a:ea typeface="+mj-ea"/>
                <a:cs typeface="+mj-cs"/>
              </a:rPr>
              <a:t> level of “correct” subordination </a:t>
            </a:r>
            <a:r>
              <a:rPr lang="en-US" sz="2400" b="1" kern="0" dirty="0">
                <a:solidFill>
                  <a:srgbClr val="FF0000"/>
                </a:solidFill>
                <a:latin typeface="Arial"/>
                <a:ea typeface="+mj-ea"/>
                <a:cs typeface="+mj-cs"/>
              </a:rPr>
              <a:t>if</a:t>
            </a:r>
            <a:r>
              <a:rPr lang="en-US" sz="2400" kern="0" dirty="0">
                <a:solidFill>
                  <a:srgbClr val="FF0000"/>
                </a:solidFill>
                <a:latin typeface="Arial"/>
                <a:ea typeface="+mj-ea"/>
                <a:cs typeface="+mj-cs"/>
              </a:rPr>
              <a:t> real estate prices are highly </a:t>
            </a:r>
            <a:r>
              <a:rPr lang="en-US" sz="2400" i="1" u="sng" kern="0" dirty="0">
                <a:solidFill>
                  <a:srgbClr val="FF0000"/>
                </a:solidFill>
                <a:latin typeface="Arial"/>
                <a:ea typeface="+mj-ea"/>
                <a:cs typeface="+mj-cs"/>
              </a:rPr>
              <a:t>cyclical</a:t>
            </a:r>
            <a:r>
              <a:rPr lang="en-US" sz="2400" kern="0" dirty="0">
                <a:solidFill>
                  <a:srgbClr val="FF0000"/>
                </a:solidFill>
                <a:latin typeface="Arial"/>
                <a:ea typeface="+mj-ea"/>
                <a:cs typeface="+mj-cs"/>
              </a:rPr>
              <a:t>?...</a:t>
            </a:r>
            <a:endParaRPr lang="en-US" sz="2400" i="1" kern="0" dirty="0">
              <a:solidFill>
                <a:srgbClr val="FF0000"/>
              </a:solidFill>
              <a:latin typeface="Arial"/>
              <a:ea typeface="+mj-ea"/>
              <a:cs typeface="+mj-cs"/>
            </a:endParaRPr>
          </a:p>
        </p:txBody>
      </p:sp>
      <p:cxnSp>
        <p:nvCxnSpPr>
          <p:cNvPr id="157702" name="Straight Connector 11"/>
          <p:cNvCxnSpPr>
            <a:cxnSpLocks noChangeShapeType="1"/>
          </p:cNvCxnSpPr>
          <p:nvPr/>
        </p:nvCxnSpPr>
        <p:spPr bwMode="auto">
          <a:xfrm>
            <a:off x="990600" y="3200400"/>
            <a:ext cx="7010400" cy="0"/>
          </a:xfrm>
          <a:prstGeom prst="line">
            <a:avLst/>
          </a:prstGeom>
          <a:noFill/>
          <a:ln w="38100" algn="ctr">
            <a:solidFill>
              <a:srgbClr val="FF0000"/>
            </a:solidFill>
            <a:prstDash val="dash"/>
            <a:round/>
            <a:headEnd/>
            <a:tailEnd/>
          </a:ln>
        </p:spPr>
      </p:cxnSp>
      <p:cxnSp>
        <p:nvCxnSpPr>
          <p:cNvPr id="157703" name="Straight Arrow Connector 13"/>
          <p:cNvCxnSpPr>
            <a:cxnSpLocks noChangeShapeType="1"/>
          </p:cNvCxnSpPr>
          <p:nvPr/>
        </p:nvCxnSpPr>
        <p:spPr bwMode="auto">
          <a:xfrm flipV="1">
            <a:off x="4953000" y="3276600"/>
            <a:ext cx="990600" cy="2133600"/>
          </a:xfrm>
          <a:prstGeom prst="straightConnector1">
            <a:avLst/>
          </a:prstGeom>
          <a:noFill/>
          <a:ln w="19050" algn="ctr">
            <a:solidFill>
              <a:srgbClr val="FF0000"/>
            </a:solidFill>
            <a:round/>
            <a:headEnd/>
            <a:tailEnd type="arrow" w="med" len="med"/>
          </a:ln>
        </p:spPr>
      </p:cxnSp>
      <p:cxnSp>
        <p:nvCxnSpPr>
          <p:cNvPr id="157704" name="Straight Arrow Connector 15"/>
          <p:cNvCxnSpPr>
            <a:cxnSpLocks noChangeShapeType="1"/>
          </p:cNvCxnSpPr>
          <p:nvPr/>
        </p:nvCxnSpPr>
        <p:spPr bwMode="auto">
          <a:xfrm flipV="1">
            <a:off x="4648200" y="3276600"/>
            <a:ext cx="0" cy="2133600"/>
          </a:xfrm>
          <a:prstGeom prst="straightConnector1">
            <a:avLst/>
          </a:prstGeom>
          <a:noFill/>
          <a:ln w="19050" algn="ctr">
            <a:solidFill>
              <a:srgbClr val="FF0000"/>
            </a:solidFill>
            <a:round/>
            <a:headEnd/>
            <a:tailEnd type="arrow" w="med" len="med"/>
          </a:ln>
        </p:spPr>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8" name="Footer Placeholder 17"/>
          <p:cNvSpPr>
            <a:spLocks noGrp="1"/>
          </p:cNvSpPr>
          <p:nvPr>
            <p:ph type="ftr" sz="quarter" idx="11"/>
          </p:nvPr>
        </p:nvSpPr>
        <p:spPr/>
        <p:txBody>
          <a:bodyPr/>
          <a:lstStyle/>
          <a:p>
            <a:pPr>
              <a:defRPr/>
            </a:pPr>
            <a:r>
              <a:rPr lang="en-US" smtClean="0"/>
              <a:t>© 2014 OnCourse Learning. All Rights Reserved.</a:t>
            </a:r>
            <a:endParaRPr lang="en-US"/>
          </a:p>
        </p:txBody>
      </p:sp>
      <p:sp>
        <p:nvSpPr>
          <p:cNvPr id="2" name="Slide Number Placeholder 1"/>
          <p:cNvSpPr>
            <a:spLocks noGrp="1"/>
          </p:cNvSpPr>
          <p:nvPr>
            <p:ph type="sldNum" sz="quarter" idx="12"/>
          </p:nvPr>
        </p:nvSpPr>
        <p:spPr/>
        <p:txBody>
          <a:bodyPr/>
          <a:lstStyle/>
          <a:p>
            <a:fld id="{8FEE9629-7E91-4C59-BA24-3BB245387C88}" type="slidenum">
              <a:rPr lang="en-US"/>
              <a:pPr/>
              <a:t>31</a:t>
            </a:fld>
            <a:endParaRPr lang="en-US"/>
          </a:p>
        </p:txBody>
      </p:sp>
      <p:pic>
        <p:nvPicPr>
          <p:cNvPr id="164867" name="Picture 2"/>
          <p:cNvPicPr>
            <a:picLocks noChangeAspect="1" noChangeArrowheads="1"/>
          </p:cNvPicPr>
          <p:nvPr/>
        </p:nvPicPr>
        <p:blipFill>
          <a:blip r:embed="rId2" cstate="print"/>
          <a:srcRect/>
          <a:stretch>
            <a:fillRect/>
          </a:stretch>
        </p:blipFill>
        <p:spPr bwMode="auto">
          <a:xfrm>
            <a:off x="914400" y="609600"/>
            <a:ext cx="7324725" cy="5200650"/>
          </a:xfrm>
          <a:prstGeom prst="rect">
            <a:avLst/>
          </a:prstGeom>
          <a:noFill/>
          <a:ln w="9525">
            <a:noFill/>
            <a:miter lim="800000"/>
            <a:headEnd/>
            <a:tailEnd/>
          </a:ln>
        </p:spPr>
      </p:pic>
      <p:sp>
        <p:nvSpPr>
          <p:cNvPr id="4" name="Oval 3"/>
          <p:cNvSpPr/>
          <p:nvPr/>
        </p:nvSpPr>
        <p:spPr bwMode="auto">
          <a:xfrm rot="19778855">
            <a:off x="1233488" y="3051175"/>
            <a:ext cx="762000" cy="1752600"/>
          </a:xfrm>
          <a:prstGeom prst="ellipse">
            <a:avLst/>
          </a:prstGeom>
          <a:noFill/>
          <a:ln w="9525" cap="flat" cmpd="sng" algn="ctr">
            <a:solidFill>
              <a:srgbClr val="0000FF"/>
            </a:solidFill>
            <a:prstDash val="solid"/>
            <a:round/>
            <a:headEnd type="none" w="med" len="med"/>
            <a:tailEnd type="none" w="med" len="med"/>
          </a:ln>
          <a:effectLst/>
        </p:spPr>
        <p:txBody>
          <a:bodyPr/>
          <a:lstStyle/>
          <a:p>
            <a:pPr eaLnBrk="1" hangingPunct="1">
              <a:defRPr/>
            </a:pPr>
            <a:endParaRPr lang="en-US" sz="2000" b="1" i="1" dirty="0">
              <a:solidFill>
                <a:srgbClr val="000000"/>
              </a:solidFill>
              <a:effectLst>
                <a:outerShdw blurRad="38100" dist="38100" dir="2700000" algn="tl">
                  <a:srgbClr val="000000">
                    <a:alpha val="43137"/>
                  </a:srgbClr>
                </a:outerShdw>
              </a:effectLst>
            </a:endParaRPr>
          </a:p>
        </p:txBody>
      </p:sp>
      <p:sp>
        <p:nvSpPr>
          <p:cNvPr id="164869" name="TextBox 4"/>
          <p:cNvSpPr txBox="1">
            <a:spLocks noChangeArrowheads="1"/>
          </p:cNvSpPr>
          <p:nvPr/>
        </p:nvSpPr>
        <p:spPr bwMode="auto">
          <a:xfrm>
            <a:off x="381000" y="5715000"/>
            <a:ext cx="2362200" cy="584775"/>
          </a:xfrm>
          <a:prstGeom prst="rect">
            <a:avLst/>
          </a:prstGeom>
          <a:noFill/>
          <a:ln w="9525">
            <a:solidFill>
              <a:srgbClr val="0000FF"/>
            </a:solidFill>
            <a:miter lim="800000"/>
            <a:headEnd/>
            <a:tailEnd/>
          </a:ln>
        </p:spPr>
        <p:txBody>
          <a:bodyPr wrap="square">
            <a:spAutoFit/>
          </a:bodyPr>
          <a:lstStyle/>
          <a:p>
            <a:pPr eaLnBrk="1" hangingPunct="1"/>
            <a:r>
              <a:rPr lang="en-US" sz="1600" dirty="0">
                <a:solidFill>
                  <a:srgbClr val="0000FF"/>
                </a:solidFill>
                <a:latin typeface="Arial" charset="0"/>
              </a:rPr>
              <a:t>Early history: </a:t>
            </a:r>
            <a:r>
              <a:rPr lang="en-US" sz="1600" dirty="0" err="1">
                <a:solidFill>
                  <a:srgbClr val="0000FF"/>
                </a:solidFill>
                <a:latin typeface="Arial" charset="0"/>
              </a:rPr>
              <a:t>Mkt</a:t>
            </a:r>
            <a:r>
              <a:rPr lang="en-US" sz="1600" dirty="0">
                <a:solidFill>
                  <a:srgbClr val="0000FF"/>
                </a:solidFill>
                <a:latin typeface="Arial" charset="0"/>
              </a:rPr>
              <a:t> learning, spreads falling</a:t>
            </a:r>
          </a:p>
        </p:txBody>
      </p:sp>
      <p:cxnSp>
        <p:nvCxnSpPr>
          <p:cNvPr id="164870" name="Straight Arrow Connector 6"/>
          <p:cNvCxnSpPr>
            <a:cxnSpLocks noChangeShapeType="1"/>
          </p:cNvCxnSpPr>
          <p:nvPr/>
        </p:nvCxnSpPr>
        <p:spPr bwMode="auto">
          <a:xfrm rot="5400000" flipH="1" flipV="1">
            <a:off x="266700" y="4457700"/>
            <a:ext cx="1600200" cy="914400"/>
          </a:xfrm>
          <a:prstGeom prst="straightConnector1">
            <a:avLst/>
          </a:prstGeom>
          <a:noFill/>
          <a:ln w="9525" algn="ctr">
            <a:solidFill>
              <a:srgbClr val="0000FF"/>
            </a:solidFill>
            <a:round/>
            <a:headEnd/>
            <a:tailEnd type="arrow" w="med" len="med"/>
          </a:ln>
        </p:spPr>
      </p:cxnSp>
      <p:sp>
        <p:nvSpPr>
          <p:cNvPr id="8" name="Oval 7"/>
          <p:cNvSpPr/>
          <p:nvPr/>
        </p:nvSpPr>
        <p:spPr bwMode="auto">
          <a:xfrm>
            <a:off x="2438400" y="1219200"/>
            <a:ext cx="762000" cy="1752600"/>
          </a:xfrm>
          <a:prstGeom prst="ellipse">
            <a:avLst/>
          </a:prstGeom>
          <a:noFill/>
          <a:ln w="9525" cap="flat" cmpd="sng" algn="ctr">
            <a:solidFill>
              <a:srgbClr val="0000FF"/>
            </a:solidFill>
            <a:prstDash val="solid"/>
            <a:round/>
            <a:headEnd type="none" w="med" len="med"/>
            <a:tailEnd type="none" w="med" len="med"/>
          </a:ln>
          <a:effectLst/>
        </p:spPr>
        <p:txBody>
          <a:bodyPr/>
          <a:lstStyle/>
          <a:p>
            <a:pPr eaLnBrk="1" hangingPunct="1">
              <a:defRPr/>
            </a:pPr>
            <a:endParaRPr lang="en-US" sz="2000" b="1" i="1" dirty="0">
              <a:solidFill>
                <a:srgbClr val="000000"/>
              </a:solidFill>
              <a:effectLst>
                <a:outerShdw blurRad="38100" dist="38100" dir="2700000" algn="tl">
                  <a:srgbClr val="000000">
                    <a:alpha val="43137"/>
                  </a:srgbClr>
                </a:outerShdw>
              </a:effectLst>
            </a:endParaRPr>
          </a:p>
        </p:txBody>
      </p:sp>
      <p:sp>
        <p:nvSpPr>
          <p:cNvPr id="164872" name="TextBox 8"/>
          <p:cNvSpPr txBox="1">
            <a:spLocks noChangeArrowheads="1"/>
          </p:cNvSpPr>
          <p:nvPr/>
        </p:nvSpPr>
        <p:spPr bwMode="auto">
          <a:xfrm>
            <a:off x="3276600" y="990600"/>
            <a:ext cx="1752600" cy="1754188"/>
          </a:xfrm>
          <a:prstGeom prst="rect">
            <a:avLst/>
          </a:prstGeom>
          <a:noFill/>
          <a:ln w="9525">
            <a:solidFill>
              <a:srgbClr val="0000FF"/>
            </a:solidFill>
            <a:miter lim="800000"/>
            <a:headEnd/>
            <a:tailEnd/>
          </a:ln>
        </p:spPr>
        <p:txBody>
          <a:bodyPr>
            <a:spAutoFit/>
          </a:bodyPr>
          <a:lstStyle/>
          <a:p>
            <a:pPr eaLnBrk="1" hangingPunct="1"/>
            <a:r>
              <a:rPr lang="en-US" sz="1800">
                <a:solidFill>
                  <a:srgbClr val="0000FF"/>
                </a:solidFill>
                <a:latin typeface="Arial" charset="0"/>
              </a:rPr>
              <a:t>Big event: </a:t>
            </a:r>
          </a:p>
          <a:p>
            <a:pPr eaLnBrk="1" hangingPunct="1"/>
            <a:r>
              <a:rPr lang="en-US" sz="1800">
                <a:solidFill>
                  <a:srgbClr val="0000FF"/>
                </a:solidFill>
                <a:latin typeface="Arial" charset="0"/>
              </a:rPr>
              <a:t>1998 fin crisis (Russia, Asia, LTCM): Liquidity shock, quick recovery</a:t>
            </a:r>
          </a:p>
        </p:txBody>
      </p:sp>
      <p:cxnSp>
        <p:nvCxnSpPr>
          <p:cNvPr id="164873" name="Straight Arrow Connector 9"/>
          <p:cNvCxnSpPr>
            <a:cxnSpLocks noChangeShapeType="1"/>
          </p:cNvCxnSpPr>
          <p:nvPr/>
        </p:nvCxnSpPr>
        <p:spPr bwMode="auto">
          <a:xfrm rot="5400000">
            <a:off x="2895600" y="1371600"/>
            <a:ext cx="533400" cy="381000"/>
          </a:xfrm>
          <a:prstGeom prst="straightConnector1">
            <a:avLst/>
          </a:prstGeom>
          <a:noFill/>
          <a:ln w="9525" algn="ctr">
            <a:solidFill>
              <a:srgbClr val="0000FF"/>
            </a:solidFill>
            <a:round/>
            <a:headEnd/>
            <a:tailEnd type="arrow" w="med" len="med"/>
          </a:ln>
        </p:spPr>
      </p:cxnSp>
      <p:sp>
        <p:nvSpPr>
          <p:cNvPr id="14" name="Oval 13"/>
          <p:cNvSpPr/>
          <p:nvPr/>
        </p:nvSpPr>
        <p:spPr bwMode="auto">
          <a:xfrm rot="17481667">
            <a:off x="5929313" y="2378075"/>
            <a:ext cx="922337" cy="3217863"/>
          </a:xfrm>
          <a:prstGeom prst="ellipse">
            <a:avLst/>
          </a:prstGeom>
          <a:noFill/>
          <a:ln w="9525" cap="flat" cmpd="sng" algn="ctr">
            <a:solidFill>
              <a:srgbClr val="0000FF"/>
            </a:solidFill>
            <a:prstDash val="solid"/>
            <a:round/>
            <a:headEnd type="none" w="med" len="med"/>
            <a:tailEnd type="none" w="med" len="med"/>
          </a:ln>
          <a:effectLst/>
        </p:spPr>
        <p:txBody>
          <a:bodyPr/>
          <a:lstStyle/>
          <a:p>
            <a:pPr eaLnBrk="1" hangingPunct="1">
              <a:defRPr/>
            </a:pPr>
            <a:endParaRPr lang="en-US" sz="2000" b="1" i="1" dirty="0">
              <a:solidFill>
                <a:srgbClr val="000000"/>
              </a:solidFill>
              <a:effectLst>
                <a:outerShdw blurRad="38100" dist="38100" dir="2700000" algn="tl">
                  <a:srgbClr val="000000">
                    <a:alpha val="43137"/>
                  </a:srgbClr>
                </a:outerShdw>
              </a:effectLst>
            </a:endParaRPr>
          </a:p>
        </p:txBody>
      </p:sp>
      <p:sp>
        <p:nvSpPr>
          <p:cNvPr id="164875" name="TextBox 14"/>
          <p:cNvSpPr txBox="1">
            <a:spLocks noChangeArrowheads="1"/>
          </p:cNvSpPr>
          <p:nvPr/>
        </p:nvSpPr>
        <p:spPr bwMode="auto">
          <a:xfrm>
            <a:off x="3200400" y="5791200"/>
            <a:ext cx="5410200" cy="584775"/>
          </a:xfrm>
          <a:prstGeom prst="rect">
            <a:avLst/>
          </a:prstGeom>
          <a:noFill/>
          <a:ln w="9525">
            <a:solidFill>
              <a:srgbClr val="0000FF"/>
            </a:solidFill>
            <a:miter lim="800000"/>
            <a:headEnd/>
            <a:tailEnd/>
          </a:ln>
        </p:spPr>
        <p:txBody>
          <a:bodyPr wrap="square">
            <a:spAutoFit/>
          </a:bodyPr>
          <a:lstStyle/>
          <a:p>
            <a:pPr eaLnBrk="1" hangingPunct="1"/>
            <a:r>
              <a:rPr lang="en-US" sz="1600" dirty="0">
                <a:solidFill>
                  <a:srgbClr val="0000FF"/>
                </a:solidFill>
                <a:latin typeface="Arial" charset="0"/>
              </a:rPr>
              <a:t>Mature industry: RE boom after 2001 recession &amp; stock </a:t>
            </a:r>
            <a:r>
              <a:rPr lang="en-US" sz="1600" dirty="0" err="1">
                <a:solidFill>
                  <a:srgbClr val="0000FF"/>
                </a:solidFill>
                <a:latin typeface="Arial" charset="0"/>
              </a:rPr>
              <a:t>mkt</a:t>
            </a:r>
            <a:r>
              <a:rPr lang="en-US" sz="1600" dirty="0">
                <a:solidFill>
                  <a:srgbClr val="0000FF"/>
                </a:solidFill>
                <a:latin typeface="Arial" charset="0"/>
              </a:rPr>
              <a:t> tech bust: spreads falling (along with </a:t>
            </a:r>
            <a:r>
              <a:rPr lang="en-US" sz="1600" dirty="0" err="1">
                <a:solidFill>
                  <a:srgbClr val="0000FF"/>
                </a:solidFill>
                <a:latin typeface="Arial" charset="0"/>
              </a:rPr>
              <a:t>subord</a:t>
            </a:r>
            <a:r>
              <a:rPr lang="en-US" sz="1600" dirty="0">
                <a:solidFill>
                  <a:srgbClr val="0000FF"/>
                </a:solidFill>
                <a:latin typeface="Arial" charset="0"/>
              </a:rPr>
              <a:t>.)</a:t>
            </a:r>
          </a:p>
        </p:txBody>
      </p:sp>
      <p:cxnSp>
        <p:nvCxnSpPr>
          <p:cNvPr id="164876" name="Straight Arrow Connector 15"/>
          <p:cNvCxnSpPr>
            <a:cxnSpLocks noChangeShapeType="1"/>
          </p:cNvCxnSpPr>
          <p:nvPr/>
        </p:nvCxnSpPr>
        <p:spPr bwMode="auto">
          <a:xfrm flipV="1">
            <a:off x="4343400" y="4191000"/>
            <a:ext cx="1676400" cy="1600200"/>
          </a:xfrm>
          <a:prstGeom prst="straightConnector1">
            <a:avLst/>
          </a:prstGeom>
          <a:noFill/>
          <a:ln w="9525" algn="ctr">
            <a:solidFill>
              <a:srgbClr val="0000FF"/>
            </a:solidFill>
            <a:round/>
            <a:headEnd/>
            <a:tailEnd type="arrow" w="med" len="med"/>
          </a:ln>
        </p:spPr>
      </p:cxnSp>
      <p:sp>
        <p:nvSpPr>
          <p:cNvPr id="164877" name="TextBox 17"/>
          <p:cNvSpPr txBox="1">
            <a:spLocks noChangeArrowheads="1"/>
          </p:cNvSpPr>
          <p:nvPr/>
        </p:nvSpPr>
        <p:spPr bwMode="auto">
          <a:xfrm>
            <a:off x="6934200" y="914400"/>
            <a:ext cx="2057400" cy="2308225"/>
          </a:xfrm>
          <a:prstGeom prst="rect">
            <a:avLst/>
          </a:prstGeom>
          <a:solidFill>
            <a:schemeClr val="bg1"/>
          </a:solidFill>
          <a:ln w="9525">
            <a:solidFill>
              <a:srgbClr val="FF0000"/>
            </a:solidFill>
            <a:miter lim="800000"/>
            <a:headEnd/>
            <a:tailEnd/>
          </a:ln>
        </p:spPr>
        <p:txBody>
          <a:bodyPr>
            <a:spAutoFit/>
          </a:bodyPr>
          <a:lstStyle/>
          <a:p>
            <a:pPr eaLnBrk="1" hangingPunct="1"/>
            <a:r>
              <a:rPr lang="en-US" sz="1600">
                <a:solidFill>
                  <a:srgbClr val="FF0000"/>
                </a:solidFill>
                <a:latin typeface="Arial" charset="0"/>
              </a:rPr>
              <a:t>Prior to 2008 crisis, bond mkt yields (prices) were </a:t>
            </a:r>
            <a:r>
              <a:rPr lang="en-US" sz="1600" b="1">
                <a:solidFill>
                  <a:srgbClr val="FF0000"/>
                </a:solidFill>
                <a:latin typeface="Arial" charset="0"/>
              </a:rPr>
              <a:t>not </a:t>
            </a:r>
            <a:r>
              <a:rPr lang="en-US" sz="1600">
                <a:solidFill>
                  <a:srgbClr val="FF0000"/>
                </a:solidFill>
                <a:latin typeface="Arial" charset="0"/>
              </a:rPr>
              <a:t>signaling fear, were putting downward pressure on subordination (except “Super-Srs” demand was a hint).</a:t>
            </a:r>
          </a:p>
        </p:txBody>
      </p:sp>
      <p:cxnSp>
        <p:nvCxnSpPr>
          <p:cNvPr id="164878" name="Straight Arrow Connector 19"/>
          <p:cNvCxnSpPr>
            <a:cxnSpLocks noChangeShapeType="1"/>
            <a:stCxn id="164877" idx="1"/>
          </p:cNvCxnSpPr>
          <p:nvPr/>
        </p:nvCxnSpPr>
        <p:spPr bwMode="auto">
          <a:xfrm rot="10800000" flipV="1">
            <a:off x="6324600" y="2068513"/>
            <a:ext cx="609600" cy="1360487"/>
          </a:xfrm>
          <a:prstGeom prst="straightConnector1">
            <a:avLst/>
          </a:prstGeom>
          <a:noFill/>
          <a:ln w="9525" algn="ctr">
            <a:solidFill>
              <a:srgbClr val="FF0000"/>
            </a:solidFill>
            <a:round/>
            <a:headEnd/>
            <a:tailEnd type="arrow" w="med" len="med"/>
          </a:ln>
        </p:spPr>
      </p:cxnSp>
      <p:sp>
        <p:nvSpPr>
          <p:cNvPr id="17" name="Rectangle 3"/>
          <p:cNvSpPr txBox="1">
            <a:spLocks noChangeArrowheads="1"/>
          </p:cNvSpPr>
          <p:nvPr/>
        </p:nvSpPr>
        <p:spPr>
          <a:xfrm>
            <a:off x="228600" y="0"/>
            <a:ext cx="8763000" cy="609600"/>
          </a:xfrm>
          <a:prstGeom prst="rect">
            <a:avLst/>
          </a:prstGeom>
        </p:spPr>
        <p:txBody>
          <a:bodyPr/>
          <a:lstStyle/>
          <a:p>
            <a:pPr algn="ctr" eaLnBrk="1" hangingPunct="1">
              <a:defRPr/>
            </a:pPr>
            <a:r>
              <a:rPr lang="en-US" sz="1600" kern="0" dirty="0">
                <a:solidFill>
                  <a:srgbClr val="FF0000"/>
                </a:solidFill>
                <a:latin typeface="Arial"/>
                <a:ea typeface="+mj-ea"/>
                <a:cs typeface="+mj-cs"/>
              </a:rPr>
              <a:t>How the (bond) market prices the </a:t>
            </a:r>
            <a:r>
              <a:rPr lang="en-US" sz="1600" b="1" i="1" u="sng" kern="0" dirty="0">
                <a:solidFill>
                  <a:srgbClr val="FF0000"/>
                </a:solidFill>
                <a:latin typeface="Arial"/>
                <a:ea typeface="+mj-ea"/>
                <a:cs typeface="+mj-cs"/>
              </a:rPr>
              <a:t>same </a:t>
            </a:r>
            <a:r>
              <a:rPr lang="en-US" sz="1600" kern="0" dirty="0">
                <a:solidFill>
                  <a:srgbClr val="FF0000"/>
                </a:solidFill>
                <a:latin typeface="Arial"/>
                <a:ea typeface="+mj-ea"/>
                <a:cs typeface="+mj-cs"/>
              </a:rPr>
              <a:t>amount of (rated) default </a:t>
            </a:r>
            <a:r>
              <a:rPr lang="en-US" sz="1600" b="1" i="1" u="sng" kern="0" dirty="0">
                <a:solidFill>
                  <a:srgbClr val="FF0000"/>
                </a:solidFill>
                <a:latin typeface="Arial"/>
                <a:ea typeface="+mj-ea"/>
                <a:cs typeface="+mj-cs"/>
              </a:rPr>
              <a:t>risk</a:t>
            </a:r>
            <a:r>
              <a:rPr lang="en-US" sz="1600" kern="0" dirty="0">
                <a:solidFill>
                  <a:srgbClr val="FF0000"/>
                </a:solidFill>
                <a:latin typeface="Arial"/>
                <a:ea typeface="+mj-ea"/>
                <a:cs typeface="+mj-cs"/>
              </a:rPr>
              <a:t> (AAA) varies over time.</a:t>
            </a:r>
          </a:p>
          <a:p>
            <a:pPr algn="ctr" eaLnBrk="1" hangingPunct="1">
              <a:defRPr/>
            </a:pPr>
            <a:r>
              <a:rPr lang="en-US" sz="1600" kern="0" dirty="0">
                <a:solidFill>
                  <a:srgbClr val="FF0000"/>
                </a:solidFill>
                <a:latin typeface="Arial"/>
                <a:ea typeface="+mj-ea"/>
                <a:cs typeface="+mj-cs"/>
              </a:rPr>
              <a:t>Downward pressure on spreads </a:t>
            </a:r>
            <a:r>
              <a:rPr lang="en-US" sz="1600" kern="0" dirty="0">
                <a:solidFill>
                  <a:srgbClr val="FF0000"/>
                </a:solidFill>
                <a:latin typeface="Arial"/>
                <a:ea typeface="+mj-ea"/>
                <a:cs typeface="+mj-cs"/>
                <a:sym typeface="Wingdings" pitchFamily="2" charset="2"/>
              </a:rPr>
              <a:t> Upward pressure on rating agency </a:t>
            </a:r>
            <a:r>
              <a:rPr lang="en-US" sz="1600" kern="0" dirty="0" err="1">
                <a:solidFill>
                  <a:srgbClr val="FF0000"/>
                </a:solidFill>
                <a:latin typeface="Arial"/>
                <a:ea typeface="+mj-ea"/>
                <a:cs typeface="+mj-cs"/>
                <a:sym typeface="Wingdings" pitchFamily="2" charset="2"/>
              </a:rPr>
              <a:t>subord</a:t>
            </a:r>
            <a:r>
              <a:rPr lang="en-US" sz="1600" kern="0" dirty="0">
                <a:solidFill>
                  <a:srgbClr val="FF0000"/>
                </a:solidFill>
                <a:latin typeface="Arial"/>
                <a:ea typeface="+mj-ea"/>
                <a:cs typeface="+mj-cs"/>
                <a:sym typeface="Wingdings" pitchFamily="2" charset="2"/>
              </a:rPr>
              <a:t>. </a:t>
            </a:r>
            <a:r>
              <a:rPr lang="en-US" sz="1600" kern="0" dirty="0" err="1">
                <a:solidFill>
                  <a:srgbClr val="FF0000"/>
                </a:solidFill>
                <a:latin typeface="Arial"/>
                <a:ea typeface="+mj-ea"/>
                <a:cs typeface="+mj-cs"/>
                <a:sym typeface="Wingdings" pitchFamily="2" charset="2"/>
              </a:rPr>
              <a:t>Requirments</a:t>
            </a:r>
            <a:r>
              <a:rPr lang="en-US" sz="1600" kern="0" dirty="0">
                <a:solidFill>
                  <a:srgbClr val="FF0000"/>
                </a:solidFill>
                <a:latin typeface="Arial"/>
                <a:ea typeface="+mj-ea"/>
                <a:cs typeface="+mj-cs"/>
                <a:sym typeface="Wingdings" pitchFamily="2" charset="2"/>
              </a:rPr>
              <a:t>…</a:t>
            </a:r>
            <a:endParaRPr lang="en-US" sz="1600" b="1" kern="0" dirty="0">
              <a:solidFill>
                <a:srgbClr val="FF0000"/>
              </a:solidFill>
              <a:latin typeface="Arial"/>
              <a:ea typeface="+mj-ea"/>
              <a:cs typeface="+mj-cs"/>
            </a:endParaRPr>
          </a:p>
          <a:p>
            <a:pPr algn="ctr" eaLnBrk="1" hangingPunct="1">
              <a:defRPr/>
            </a:pPr>
            <a:endParaRPr lang="en-US" sz="1600" kern="0" dirty="0">
              <a:solidFill>
                <a:srgbClr val="FF0000"/>
              </a:solidFill>
              <a:latin typeface="Arial"/>
              <a:ea typeface="+mj-ea"/>
              <a:cs typeface="+mj-cs"/>
            </a:endParaRPr>
          </a:p>
        </p:txBody>
      </p:sp>
      <p:sp>
        <p:nvSpPr>
          <p:cNvPr id="164880" name="TextBox 2"/>
          <p:cNvSpPr txBox="1">
            <a:spLocks noChangeArrowheads="1"/>
          </p:cNvSpPr>
          <p:nvPr/>
        </p:nvSpPr>
        <p:spPr bwMode="auto">
          <a:xfrm>
            <a:off x="1447800" y="762000"/>
            <a:ext cx="938213" cy="276225"/>
          </a:xfrm>
          <a:prstGeom prst="rect">
            <a:avLst/>
          </a:prstGeom>
          <a:noFill/>
          <a:ln w="9525">
            <a:noFill/>
            <a:miter lim="800000"/>
            <a:headEnd/>
            <a:tailEnd/>
          </a:ln>
        </p:spPr>
        <p:txBody>
          <a:bodyPr>
            <a:spAutoFit/>
          </a:bodyPr>
          <a:lstStyle/>
          <a:p>
            <a:r>
              <a:rPr lang="en-US" sz="1200"/>
              <a:t>Exh.20-9:</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9" name="Footer Placeholder 8"/>
          <p:cNvSpPr>
            <a:spLocks noGrp="1"/>
          </p:cNvSpPr>
          <p:nvPr>
            <p:ph type="ftr" sz="quarter" idx="11"/>
          </p:nvPr>
        </p:nvSpPr>
        <p:spPr/>
        <p:txBody>
          <a:bodyPr/>
          <a:lstStyle/>
          <a:p>
            <a:pPr>
              <a:defRPr/>
            </a:pPr>
            <a:r>
              <a:rPr lang="en-US" smtClean="0"/>
              <a:t>© 2014 OnCourse Learning. All Rights Reserved.</a:t>
            </a:r>
            <a:endParaRPr lang="en-US"/>
          </a:p>
        </p:txBody>
      </p:sp>
      <p:sp>
        <p:nvSpPr>
          <p:cNvPr id="2" name="Slide Number Placeholder 1"/>
          <p:cNvSpPr>
            <a:spLocks noGrp="1"/>
          </p:cNvSpPr>
          <p:nvPr>
            <p:ph type="sldNum" sz="quarter" idx="12"/>
          </p:nvPr>
        </p:nvSpPr>
        <p:spPr/>
        <p:txBody>
          <a:bodyPr/>
          <a:lstStyle/>
          <a:p>
            <a:fld id="{26778518-BA94-4A75-9A6E-714783223892}" type="slidenum">
              <a:rPr lang="en-US"/>
              <a:pPr/>
              <a:t>32</a:t>
            </a:fld>
            <a:endParaRPr lang="en-US"/>
          </a:p>
        </p:txBody>
      </p:sp>
      <p:pic>
        <p:nvPicPr>
          <p:cNvPr id="165891" name="Picture 2"/>
          <p:cNvPicPr>
            <a:picLocks noChangeAspect="1" noChangeArrowheads="1"/>
          </p:cNvPicPr>
          <p:nvPr/>
        </p:nvPicPr>
        <p:blipFill>
          <a:blip r:embed="rId2" cstate="print"/>
          <a:srcRect/>
          <a:stretch>
            <a:fillRect/>
          </a:stretch>
        </p:blipFill>
        <p:spPr bwMode="auto">
          <a:xfrm>
            <a:off x="914400" y="609600"/>
            <a:ext cx="7324725" cy="5200650"/>
          </a:xfrm>
          <a:prstGeom prst="rect">
            <a:avLst/>
          </a:prstGeom>
          <a:noFill/>
          <a:ln w="9525">
            <a:noFill/>
            <a:miter lim="800000"/>
            <a:headEnd/>
            <a:tailEnd/>
          </a:ln>
        </p:spPr>
      </p:pic>
      <p:sp>
        <p:nvSpPr>
          <p:cNvPr id="165892" name="TextBox 4"/>
          <p:cNvSpPr txBox="1">
            <a:spLocks noChangeArrowheads="1"/>
          </p:cNvSpPr>
          <p:nvPr/>
        </p:nvSpPr>
        <p:spPr bwMode="auto">
          <a:xfrm>
            <a:off x="3733800" y="1447800"/>
            <a:ext cx="1752600" cy="2246313"/>
          </a:xfrm>
          <a:prstGeom prst="rect">
            <a:avLst/>
          </a:prstGeom>
          <a:noFill/>
          <a:ln w="9525">
            <a:solidFill>
              <a:srgbClr val="FF0000"/>
            </a:solidFill>
            <a:miter lim="800000"/>
            <a:headEnd/>
            <a:tailEnd/>
          </a:ln>
        </p:spPr>
        <p:txBody>
          <a:bodyPr>
            <a:spAutoFit/>
          </a:bodyPr>
          <a:lstStyle/>
          <a:p>
            <a:pPr eaLnBrk="1" hangingPunct="1"/>
            <a:r>
              <a:rPr lang="en-US" sz="2000">
                <a:solidFill>
                  <a:srgbClr val="FF0000"/>
                </a:solidFill>
                <a:latin typeface="Arial" charset="0"/>
              </a:rPr>
              <a:t>All of the prior history &amp; experience was as </a:t>
            </a:r>
            <a:r>
              <a:rPr lang="en-US" sz="2000" i="1">
                <a:solidFill>
                  <a:srgbClr val="FF0000"/>
                </a:solidFill>
                <a:latin typeface="Arial" charset="0"/>
              </a:rPr>
              <a:t>nothing</a:t>
            </a:r>
            <a:r>
              <a:rPr lang="en-US" sz="2000">
                <a:solidFill>
                  <a:srgbClr val="FF0000"/>
                </a:solidFill>
                <a:latin typeface="Arial" charset="0"/>
              </a:rPr>
              <a:t> compared to 2008-09</a:t>
            </a:r>
          </a:p>
        </p:txBody>
      </p:sp>
      <p:cxnSp>
        <p:nvCxnSpPr>
          <p:cNvPr id="165893" name="Straight Arrow Connector 5"/>
          <p:cNvCxnSpPr>
            <a:cxnSpLocks noChangeShapeType="1"/>
          </p:cNvCxnSpPr>
          <p:nvPr/>
        </p:nvCxnSpPr>
        <p:spPr bwMode="auto">
          <a:xfrm>
            <a:off x="5029200" y="2895600"/>
            <a:ext cx="1905000" cy="1588"/>
          </a:xfrm>
          <a:prstGeom prst="straightConnector1">
            <a:avLst/>
          </a:prstGeom>
          <a:noFill/>
          <a:ln w="9525" algn="ctr">
            <a:solidFill>
              <a:srgbClr val="FF0000"/>
            </a:solidFill>
            <a:round/>
            <a:headEnd/>
            <a:tailEnd type="arrow" w="med" len="med"/>
          </a:ln>
        </p:spPr>
      </p:cxnSp>
      <p:sp>
        <p:nvSpPr>
          <p:cNvPr id="165894" name="TextBox 9"/>
          <p:cNvSpPr txBox="1">
            <a:spLocks noChangeArrowheads="1"/>
          </p:cNvSpPr>
          <p:nvPr/>
        </p:nvSpPr>
        <p:spPr bwMode="auto">
          <a:xfrm>
            <a:off x="2667000" y="3886200"/>
            <a:ext cx="609600" cy="523875"/>
          </a:xfrm>
          <a:prstGeom prst="rect">
            <a:avLst/>
          </a:prstGeom>
          <a:noFill/>
          <a:ln w="9525">
            <a:solidFill>
              <a:srgbClr val="0000FF"/>
            </a:solidFill>
            <a:miter lim="800000"/>
            <a:headEnd/>
            <a:tailEnd/>
          </a:ln>
        </p:spPr>
        <p:txBody>
          <a:bodyPr>
            <a:spAutoFit/>
          </a:bodyPr>
          <a:lstStyle/>
          <a:p>
            <a:pPr eaLnBrk="1" hangingPunct="1"/>
            <a:r>
              <a:rPr lang="en-US">
                <a:solidFill>
                  <a:srgbClr val="0000FF"/>
                </a:solidFill>
                <a:latin typeface="Arial" charset="0"/>
              </a:rPr>
              <a:t>1998 crisis</a:t>
            </a:r>
          </a:p>
        </p:txBody>
      </p:sp>
      <p:cxnSp>
        <p:nvCxnSpPr>
          <p:cNvPr id="165895" name="Straight Arrow Connector 11"/>
          <p:cNvCxnSpPr>
            <a:cxnSpLocks noChangeShapeType="1"/>
            <a:stCxn id="165894" idx="2"/>
          </p:cNvCxnSpPr>
          <p:nvPr/>
        </p:nvCxnSpPr>
        <p:spPr bwMode="auto">
          <a:xfrm rot="5400000">
            <a:off x="2547937" y="4376738"/>
            <a:ext cx="390525" cy="457200"/>
          </a:xfrm>
          <a:prstGeom prst="straightConnector1">
            <a:avLst/>
          </a:prstGeom>
          <a:noFill/>
          <a:ln w="9525" algn="ctr">
            <a:solidFill>
              <a:srgbClr val="0000FF"/>
            </a:solidFill>
            <a:round/>
            <a:headEnd/>
            <a:tailEnd type="arrow" w="med" len="med"/>
          </a:ln>
        </p:spPr>
      </p:cxnSp>
      <p:sp>
        <p:nvSpPr>
          <p:cNvPr id="165896" name="TextBox 7"/>
          <p:cNvSpPr txBox="1">
            <a:spLocks noChangeArrowheads="1"/>
          </p:cNvSpPr>
          <p:nvPr/>
        </p:nvSpPr>
        <p:spPr bwMode="auto">
          <a:xfrm>
            <a:off x="1447800" y="762000"/>
            <a:ext cx="938213" cy="276225"/>
          </a:xfrm>
          <a:prstGeom prst="rect">
            <a:avLst/>
          </a:prstGeom>
          <a:noFill/>
          <a:ln w="9525">
            <a:noFill/>
            <a:miter lim="800000"/>
            <a:headEnd/>
            <a:tailEnd/>
          </a:ln>
        </p:spPr>
        <p:txBody>
          <a:bodyPr>
            <a:spAutoFit/>
          </a:bodyPr>
          <a:lstStyle/>
          <a:p>
            <a:r>
              <a:rPr lang="en-US" sz="1200"/>
              <a:t>Exh.20-10:</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oaring">
  <a:themeElements>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fontScheme name="Soaring">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1" i="1"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1289</TotalTime>
  <Words>2728</Words>
  <Application>Microsoft Office PowerPoint</Application>
  <PresentationFormat>On-screen Show (4:3)</PresentationFormat>
  <Paragraphs>257</Paragraphs>
  <Slides>32</Slides>
  <Notes>5</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35" baseType="lpstr">
      <vt:lpstr>Soaring</vt:lpstr>
      <vt:lpstr>1_Default Design</vt:lpstr>
      <vt:lpstr>Equation</vt:lpstr>
      <vt:lpstr>Chapter 20</vt:lpstr>
      <vt:lpstr>CHAPTER OUTLINE</vt:lpstr>
      <vt:lpstr>20.1 What are CMBS?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20.2.2 Example: Allocating the Credit Losses</vt:lpstr>
      <vt:lpstr>20.2.3 Unbundling, Specialization, &amp; Value Creation</vt:lpstr>
      <vt:lpstr>PowerPoint Presentation</vt:lpstr>
      <vt:lpstr>PowerPoint Presentation</vt:lpstr>
      <vt:lpstr>PowerPoint Presentation</vt:lpstr>
      <vt:lpstr>PowerPoint Presentation</vt:lpstr>
      <vt:lpstr>PowerPoint Presentation</vt:lpstr>
      <vt:lpstr>PowerPoint Presentation</vt:lpstr>
      <vt:lpstr>20.3 CMBS Rating and Yields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Yates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Stephanie R. Yates</dc:creator>
  <cp:lastModifiedBy>Jaime Luque</cp:lastModifiedBy>
  <cp:revision>123</cp:revision>
  <dcterms:created xsi:type="dcterms:W3CDTF">2000-11-12T13:20:52Z</dcterms:created>
  <dcterms:modified xsi:type="dcterms:W3CDTF">2014-11-11T17:31:55Z</dcterms:modified>
</cp:coreProperties>
</file>