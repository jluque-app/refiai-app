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6"/>
  </p:notesMasterIdLst>
  <p:handoutMasterIdLst>
    <p:handoutMasterId r:id="rId17"/>
  </p:handoutMasterIdLst>
  <p:sldIdLst>
    <p:sldId id="271" r:id="rId2"/>
    <p:sldId id="272" r:id="rId3"/>
    <p:sldId id="282" r:id="rId4"/>
    <p:sldId id="274" r:id="rId5"/>
    <p:sldId id="275" r:id="rId6"/>
    <p:sldId id="276" r:id="rId7"/>
    <p:sldId id="277" r:id="rId8"/>
    <p:sldId id="283" r:id="rId9"/>
    <p:sldId id="280" r:id="rId10"/>
    <p:sldId id="281" r:id="rId11"/>
    <p:sldId id="269" r:id="rId12"/>
    <p:sldId id="270" r:id="rId13"/>
    <p:sldId id="268" r:id="rId14"/>
    <p:sldId id="284" r:id="rId15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67" d="100"/>
          <a:sy n="167" d="100"/>
        </p:scale>
        <p:origin x="-19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212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3988" y="0"/>
            <a:ext cx="303212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E8512-59B4-4577-9937-013869CD4978}" type="datetimeFigureOut">
              <a:rPr lang="en-US" smtClean="0"/>
              <a:pPr/>
              <a:t>4/22/2013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18564"/>
            <a:ext cx="303212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3988" y="8818564"/>
            <a:ext cx="303212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242B2-4DDE-4B40-A135-88534B94F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875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2641" cy="46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437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542" y="0"/>
            <a:ext cx="3032641" cy="46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437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768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6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75" y="4410065"/>
            <a:ext cx="5597553" cy="4176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76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18595"/>
            <a:ext cx="3032641" cy="46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437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76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542" y="8818595"/>
            <a:ext cx="3032641" cy="46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437">
              <a:defRPr sz="1300">
                <a:latin typeface="Times New Roman" pitchFamily="18" charset="0"/>
              </a:defRPr>
            </a:lvl1pPr>
          </a:lstStyle>
          <a:p>
            <a:fld id="{8324DEF4-E4A2-42C6-9E3A-0F7701BDC5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711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4DEF4-E4A2-42C6-9E3A-0F7701BDC5ED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6553200" y="6553199"/>
            <a:ext cx="2133600" cy="304801"/>
          </a:xfrm>
        </p:spPr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537326"/>
            <a:ext cx="6035040" cy="320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100" i="1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199"/>
            <a:ext cx="21336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2"/>
                </a:solidFill>
              </a:defRPr>
            </a:lvl1pPr>
          </a:lstStyle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/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After Tax Analysis</a:t>
            </a:r>
            <a:endParaRPr lang="en-US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6878CA-525B-4B1F-B0A0-E50593A3D10B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Quandary of After-Tax Analysis</a:t>
            </a:r>
          </a:p>
          <a:p>
            <a:pPr lvl="1"/>
            <a:r>
              <a:rPr lang="en-US" sz="1800" dirty="0" smtClean="0"/>
              <a:t>After-Tax Cash Flow represents the bottom line return the investor receives, so it clearly matters to the investor</a:t>
            </a:r>
          </a:p>
          <a:p>
            <a:pPr lvl="1"/>
            <a:r>
              <a:rPr lang="en-US" sz="1800" smtClean="0"/>
              <a:t>Taxes Due </a:t>
            </a:r>
            <a:r>
              <a:rPr lang="en-US" sz="1800" dirty="0" smtClean="0"/>
              <a:t>= f(Property Characteristics, Capital Structure, Investor Tax Status, etc.)</a:t>
            </a:r>
          </a:p>
          <a:p>
            <a:pPr lvl="1"/>
            <a:r>
              <a:rPr lang="en-US" sz="1800" dirty="0" smtClean="0"/>
              <a:t>How can you relate the Market Value and other investment underwriting issues to an investor’s After-Tax return?</a:t>
            </a:r>
          </a:p>
          <a:p>
            <a:r>
              <a:rPr lang="en-US" sz="2200" dirty="0" smtClean="0"/>
              <a:t>Main Topics</a:t>
            </a:r>
          </a:p>
          <a:p>
            <a:pPr lvl="1"/>
            <a:r>
              <a:rPr lang="en-US" sz="1800" dirty="0" smtClean="0"/>
              <a:t>Main issues with After Tax Analysis</a:t>
            </a:r>
          </a:p>
          <a:p>
            <a:pPr lvl="1"/>
            <a:r>
              <a:rPr lang="en-US" sz="1800" dirty="0" smtClean="0"/>
              <a:t>After Tax Cash Flow Methodology</a:t>
            </a:r>
          </a:p>
          <a:p>
            <a:pPr lvl="1"/>
            <a:r>
              <a:rPr lang="en-US" sz="1800" dirty="0" smtClean="0"/>
              <a:t>Tax Shield Implications</a:t>
            </a:r>
          </a:p>
          <a:p>
            <a:pPr lvl="1"/>
            <a:r>
              <a:rPr lang="en-US" sz="1800" dirty="0" smtClean="0"/>
              <a:t>A Practical Approach</a:t>
            </a:r>
          </a:p>
          <a:p>
            <a:endParaRPr lang="en-US" sz="2200" dirty="0" smtClean="0"/>
          </a:p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Operating Cash </a:t>
            </a:r>
            <a:r>
              <a:rPr lang="en-US" dirty="0"/>
              <a:t>Flow Streams</a:t>
            </a:r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304800" y="2514600"/>
            <a:ext cx="1981200" cy="101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Property CF</a:t>
            </a:r>
          </a:p>
          <a:p>
            <a:pPr algn="ctr">
              <a:spcBef>
                <a:spcPct val="50000"/>
              </a:spcBef>
            </a:pPr>
            <a:r>
              <a:rPr lang="en-US" dirty="0"/>
              <a:t>(PBTCF)</a:t>
            </a:r>
          </a:p>
        </p:txBody>
      </p:sp>
      <p:sp>
        <p:nvSpPr>
          <p:cNvPr id="90117" name="Line 5"/>
          <p:cNvSpPr>
            <a:spLocks noChangeShapeType="1"/>
          </p:cNvSpPr>
          <p:nvPr/>
        </p:nvSpPr>
        <p:spPr bwMode="auto">
          <a:xfrm flipV="1">
            <a:off x="2362200" y="1905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90118" name="Line 6"/>
          <p:cNvSpPr>
            <a:spLocks noChangeShapeType="1"/>
          </p:cNvSpPr>
          <p:nvPr/>
        </p:nvSpPr>
        <p:spPr bwMode="auto">
          <a:xfrm>
            <a:off x="2286000" y="33528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90119" name="Text Box 7"/>
          <p:cNvSpPr txBox="1">
            <a:spLocks noChangeArrowheads="1"/>
          </p:cNvSpPr>
          <p:nvPr/>
        </p:nvSpPr>
        <p:spPr bwMode="auto">
          <a:xfrm>
            <a:off x="3124200" y="1295400"/>
            <a:ext cx="1981200" cy="101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Debt Service</a:t>
            </a:r>
          </a:p>
          <a:p>
            <a:pPr algn="ctr">
              <a:spcBef>
                <a:spcPct val="50000"/>
              </a:spcBef>
            </a:pPr>
            <a:r>
              <a:rPr lang="en-US" dirty="0"/>
              <a:t>(ADS)</a:t>
            </a:r>
          </a:p>
        </p:txBody>
      </p:sp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3124200" y="3733800"/>
            <a:ext cx="19812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Equity (BTCF)</a:t>
            </a:r>
          </a:p>
        </p:txBody>
      </p:sp>
      <p:sp>
        <p:nvSpPr>
          <p:cNvPr id="90121" name="Text Box 9"/>
          <p:cNvSpPr txBox="1">
            <a:spLocks noChangeArrowheads="1"/>
          </p:cNvSpPr>
          <p:nvPr/>
        </p:nvSpPr>
        <p:spPr bwMode="auto">
          <a:xfrm>
            <a:off x="6019800" y="3048000"/>
            <a:ext cx="251460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Taxes</a:t>
            </a:r>
          </a:p>
        </p:txBody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6019800" y="4800600"/>
            <a:ext cx="25908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Equity After Tax Cash Flow (ATCF)</a:t>
            </a:r>
          </a:p>
        </p:txBody>
      </p:sp>
      <p:sp>
        <p:nvSpPr>
          <p:cNvPr id="90123" name="Line 11"/>
          <p:cNvSpPr>
            <a:spLocks noChangeShapeType="1"/>
          </p:cNvSpPr>
          <p:nvPr/>
        </p:nvSpPr>
        <p:spPr bwMode="auto">
          <a:xfrm flipV="1">
            <a:off x="5105400" y="32004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>
            <a:off x="5105400" y="45720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Main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Depreciation</a:t>
            </a:r>
          </a:p>
          <a:p>
            <a:pPr lvl="1"/>
            <a:r>
              <a:rPr lang="en-US" sz="2400" dirty="0" smtClean="0"/>
              <a:t>Not a cash flow expense</a:t>
            </a:r>
          </a:p>
          <a:p>
            <a:pPr lvl="1"/>
            <a:r>
              <a:rPr lang="en-US" sz="2400" smtClean="0"/>
              <a:t>Accounting </a:t>
            </a:r>
            <a:r>
              <a:rPr lang="en-US" sz="2400" dirty="0" smtClean="0"/>
              <a:t>expense</a:t>
            </a:r>
          </a:p>
          <a:p>
            <a:r>
              <a:rPr lang="en-US" sz="2400" dirty="0" smtClean="0"/>
              <a:t>Capital Expenditures</a:t>
            </a:r>
          </a:p>
          <a:p>
            <a:pPr lvl="1"/>
            <a:r>
              <a:rPr lang="en-US" sz="2400" dirty="0" smtClean="0"/>
              <a:t>Cash expenditure, but not an expense</a:t>
            </a:r>
          </a:p>
          <a:p>
            <a:pPr lvl="1"/>
            <a:r>
              <a:rPr lang="en-US" sz="2400" dirty="0" smtClean="0"/>
              <a:t>Adds to asset value; Asset life &gt; 1 year</a:t>
            </a:r>
          </a:p>
          <a:p>
            <a:pPr lvl="1"/>
            <a:r>
              <a:rPr lang="en-US" sz="2400" dirty="0" smtClean="0"/>
              <a:t>Depreciated in future years</a:t>
            </a:r>
          </a:p>
          <a:p>
            <a:r>
              <a:rPr lang="en-US" sz="2400" dirty="0" smtClean="0"/>
              <a:t>Debt Principal Amortization</a:t>
            </a:r>
          </a:p>
          <a:p>
            <a:pPr lvl="1"/>
            <a:r>
              <a:rPr lang="en-US" sz="2400" dirty="0" smtClean="0"/>
              <a:t>Cash outflow</a:t>
            </a:r>
          </a:p>
          <a:p>
            <a:pPr lvl="1"/>
            <a:r>
              <a:rPr lang="en-US" sz="2400" dirty="0" smtClean="0"/>
              <a:t>Not an expense</a:t>
            </a:r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6D20B202-CAD8-4B25-BC59-82E2225A90F8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609600" y="1343802"/>
            <a:ext cx="8023225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tabLst>
                <a:tab pos="-457200" algn="l"/>
              </a:tabLst>
            </a:pPr>
            <a:endParaRPr lang="en-US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Property </a:t>
            </a:r>
            <a:r>
              <a:rPr lang="en-US" dirty="0">
                <a:ea typeface="Times New Roman" pitchFamily="18" charset="0"/>
                <a:cs typeface="Arial" charset="0"/>
              </a:rPr>
              <a:t>Before-tax Cash Flow        		= </a:t>
            </a:r>
            <a:r>
              <a:rPr lang="en-US" dirty="0" smtClean="0">
                <a:ea typeface="Times New Roman" pitchFamily="18" charset="0"/>
                <a:cs typeface="Arial" charset="0"/>
              </a:rPr>
              <a:t>PBTCF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Debt Service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		- Interest Expense		- Interest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		- Principal Payment		- Principal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_____________________              	   	_______</a:t>
            </a:r>
            <a:endParaRPr lang="en-US" dirty="0" smtClean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Before Tax Cash Flow			= BTCF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Income Tax				- Income Tax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_____________________              	   	_______</a:t>
            </a:r>
            <a:endParaRPr lang="en-US" dirty="0" smtClean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Equity After-Tax Cash Flow		= EATCF</a:t>
            </a:r>
          </a:p>
          <a:p>
            <a:pPr eaLnBrk="0" hangingPunct="0">
              <a:tabLst>
                <a:tab pos="-457200" algn="l"/>
              </a:tabLst>
            </a:pPr>
            <a:endParaRPr lang="en-US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endParaRPr lang="en-US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(For Each Year of the Analysis)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Debt/Equity</a:t>
            </a:r>
            <a:r>
              <a:rPr kumimoji="0" lang="en-US" sz="44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 and Income Taxes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Arial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6D20B202-CAD8-4B25-BC59-82E2225A90F8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609600" y="1620802"/>
            <a:ext cx="8023225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tabLst>
                <a:tab pos="-457200" algn="l"/>
              </a:tabLst>
            </a:pPr>
            <a:endParaRPr lang="en-US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Net Operating Income        </a:t>
            </a:r>
            <a:r>
              <a:rPr lang="en-US" dirty="0">
                <a:ea typeface="Times New Roman" pitchFamily="18" charset="0"/>
                <a:cs typeface="Arial" charset="0"/>
              </a:rPr>
              <a:t>		</a:t>
            </a:r>
            <a:r>
              <a:rPr lang="en-US" dirty="0" smtClean="0">
                <a:ea typeface="Times New Roman" pitchFamily="18" charset="0"/>
                <a:cs typeface="Arial" charset="0"/>
              </a:rPr>
              <a:t>  NOI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 Interest Expense			- </a:t>
            </a:r>
            <a:r>
              <a:rPr lang="en-US" dirty="0" err="1" smtClean="0">
                <a:ea typeface="Times New Roman" pitchFamily="18" charset="0"/>
                <a:cs typeface="Arial" charset="0"/>
              </a:rPr>
              <a:t>Int</a:t>
            </a:r>
            <a:endParaRPr lang="en-US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u="sng" dirty="0" smtClean="0">
                <a:ea typeface="Times New Roman" pitchFamily="18" charset="0"/>
                <a:cs typeface="Arial" charset="0"/>
              </a:rPr>
              <a:t> Depreciation Expense</a:t>
            </a:r>
            <a:r>
              <a:rPr lang="en-US" dirty="0" smtClean="0">
                <a:ea typeface="Times New Roman" pitchFamily="18" charset="0"/>
                <a:cs typeface="Arial" charset="0"/>
              </a:rPr>
              <a:t>			</a:t>
            </a:r>
            <a:r>
              <a:rPr lang="en-US" u="sng" dirty="0" smtClean="0">
                <a:ea typeface="Times New Roman" pitchFamily="18" charset="0"/>
                <a:cs typeface="Arial" charset="0"/>
              </a:rPr>
              <a:t>- DE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= Taxable Income				= TI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u="sng" dirty="0" smtClean="0">
                <a:ea typeface="Times New Roman" pitchFamily="18" charset="0"/>
                <a:cs typeface="Arial" charset="0"/>
              </a:rPr>
              <a:t> * Investor’s Income Tax Rate</a:t>
            </a:r>
            <a:r>
              <a:rPr lang="en-US" dirty="0" smtClean="0">
                <a:ea typeface="Times New Roman" pitchFamily="18" charset="0"/>
                <a:cs typeface="Arial" charset="0"/>
              </a:rPr>
              <a:t>		</a:t>
            </a:r>
            <a:r>
              <a:rPr lang="en-US" u="sng" dirty="0" smtClean="0">
                <a:ea typeface="Times New Roman" pitchFamily="18" charset="0"/>
                <a:cs typeface="Arial" charset="0"/>
              </a:rPr>
              <a:t>* Tax Rate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= Income Tax				= Income Tax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endParaRPr lang="en-US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endParaRPr lang="en-US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endParaRPr lang="en-US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 smtClean="0">
                <a:ea typeface="Times New Roman" pitchFamily="18" charset="0"/>
                <a:cs typeface="Arial" charset="0"/>
              </a:rPr>
              <a:t>(For Each Year of the Analysis)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Income Tax Formula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Arial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845DB632-E415-4B62-A30E-5844E3C497F5}" type="slidenum">
              <a:rPr lang="en-US"/>
              <a:pPr/>
              <a:t>7</a:t>
            </a:fld>
            <a:endParaRPr lang="en-US"/>
          </a:p>
        </p:txBody>
      </p:sp>
      <p:pic>
        <p:nvPicPr>
          <p:cNvPr id="1781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838200"/>
            <a:ext cx="7848600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33400" y="5181600"/>
            <a:ext cx="754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Note: Income Tax Due = f(Taxable Income, Owner, Other Investments, etc.)</a:t>
            </a:r>
            <a:endParaRPr lang="en-US" sz="16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Reversion Cash </a:t>
            </a:r>
            <a:r>
              <a:rPr lang="en-US" dirty="0"/>
              <a:t>Flow Streams</a:t>
            </a:r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304800" y="2514600"/>
            <a:ext cx="1981200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 smtClean="0"/>
              <a:t>Property</a:t>
            </a:r>
            <a:endParaRPr lang="en-US" dirty="0"/>
          </a:p>
          <a:p>
            <a:pPr algn="ctr">
              <a:spcBef>
                <a:spcPct val="50000"/>
              </a:spcBef>
            </a:pPr>
            <a:r>
              <a:rPr lang="en-US" dirty="0" smtClean="0"/>
              <a:t>(NSP)</a:t>
            </a:r>
            <a:endParaRPr lang="en-US" dirty="0"/>
          </a:p>
        </p:txBody>
      </p:sp>
      <p:sp>
        <p:nvSpPr>
          <p:cNvPr id="90117" name="Line 5"/>
          <p:cNvSpPr>
            <a:spLocks noChangeShapeType="1"/>
          </p:cNvSpPr>
          <p:nvPr/>
        </p:nvSpPr>
        <p:spPr bwMode="auto">
          <a:xfrm flipV="1">
            <a:off x="2362200" y="19050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90118" name="Line 6"/>
          <p:cNvSpPr>
            <a:spLocks noChangeShapeType="1"/>
          </p:cNvSpPr>
          <p:nvPr/>
        </p:nvSpPr>
        <p:spPr bwMode="auto">
          <a:xfrm>
            <a:off x="2286000" y="33528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90119" name="Text Box 7"/>
          <p:cNvSpPr txBox="1">
            <a:spLocks noChangeArrowheads="1"/>
          </p:cNvSpPr>
          <p:nvPr/>
        </p:nvSpPr>
        <p:spPr bwMode="auto">
          <a:xfrm>
            <a:off x="3124200" y="1295400"/>
            <a:ext cx="1981200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 smtClean="0"/>
              <a:t>Debt</a:t>
            </a:r>
            <a:endParaRPr lang="en-US" dirty="0"/>
          </a:p>
          <a:p>
            <a:pPr algn="ctr">
              <a:spcBef>
                <a:spcPct val="50000"/>
              </a:spcBef>
            </a:pPr>
            <a:r>
              <a:rPr lang="en-US" dirty="0" smtClean="0"/>
              <a:t>(OLB)</a:t>
            </a:r>
            <a:endParaRPr lang="en-US" dirty="0"/>
          </a:p>
        </p:txBody>
      </p:sp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3124200" y="3733800"/>
            <a:ext cx="1981200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 smtClean="0"/>
              <a:t>Equity</a:t>
            </a:r>
          </a:p>
          <a:p>
            <a:pPr algn="ctr">
              <a:spcBef>
                <a:spcPct val="50000"/>
              </a:spcBef>
            </a:pPr>
            <a:r>
              <a:rPr lang="en-US" dirty="0" smtClean="0"/>
              <a:t>(BTER)</a:t>
            </a:r>
            <a:endParaRPr lang="en-US" dirty="0"/>
          </a:p>
        </p:txBody>
      </p:sp>
      <p:sp>
        <p:nvSpPr>
          <p:cNvPr id="90121" name="Text Box 9"/>
          <p:cNvSpPr txBox="1">
            <a:spLocks noChangeArrowheads="1"/>
          </p:cNvSpPr>
          <p:nvPr/>
        </p:nvSpPr>
        <p:spPr bwMode="auto">
          <a:xfrm>
            <a:off x="6019800" y="2743200"/>
            <a:ext cx="1981200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 smtClean="0"/>
              <a:t>Taxes</a:t>
            </a:r>
          </a:p>
          <a:p>
            <a:pPr algn="ctr">
              <a:spcBef>
                <a:spcPct val="50000"/>
              </a:spcBef>
            </a:pPr>
            <a:r>
              <a:rPr lang="en-US" dirty="0" smtClean="0"/>
              <a:t>(CGT)</a:t>
            </a:r>
            <a:endParaRPr lang="en-US" dirty="0"/>
          </a:p>
        </p:txBody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6019800" y="4800600"/>
            <a:ext cx="2590800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Equity After </a:t>
            </a:r>
            <a:r>
              <a:rPr lang="en-US" dirty="0" smtClean="0"/>
              <a:t>Tax</a:t>
            </a:r>
            <a:br>
              <a:rPr lang="en-US" dirty="0" smtClean="0"/>
            </a:br>
            <a:r>
              <a:rPr lang="en-US" dirty="0" smtClean="0"/>
              <a:t>(ATER)</a:t>
            </a:r>
            <a:endParaRPr lang="en-US" dirty="0"/>
          </a:p>
        </p:txBody>
      </p:sp>
      <p:sp>
        <p:nvSpPr>
          <p:cNvPr id="90123" name="Line 11"/>
          <p:cNvSpPr>
            <a:spLocks noChangeShapeType="1"/>
          </p:cNvSpPr>
          <p:nvPr/>
        </p:nvSpPr>
        <p:spPr bwMode="auto">
          <a:xfrm flipV="1">
            <a:off x="5105400" y="32004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>
            <a:off x="5105400" y="4572000"/>
            <a:ext cx="914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6D20B202-CAD8-4B25-BC59-82E2225A90F8}" type="slidenum">
              <a:rPr lang="en-US"/>
              <a:pPr/>
              <a:t>9</a:t>
            </a:fld>
            <a:endParaRPr lang="en-US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609600" y="990600"/>
            <a:ext cx="8023225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Expected Sale Price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sz="1600" u="sng" dirty="0" smtClean="0">
                <a:ea typeface="Times New Roman" pitchFamily="18" charset="0"/>
                <a:cs typeface="Arial" charset="0"/>
              </a:rPr>
              <a:t>Selling Expenses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= Net Sale Price (NSP)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sz="1600" u="sng" dirty="0" smtClean="0">
                <a:ea typeface="Times New Roman" pitchFamily="18" charset="0"/>
                <a:cs typeface="Arial" charset="0"/>
              </a:rPr>
              <a:t>Outstanding Loan Balance (OLB) 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= Before Tax Equity Reversion (BTER)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 </a:t>
            </a:r>
            <a:r>
              <a:rPr lang="en-US" sz="1600" u="sng" dirty="0" smtClean="0">
                <a:ea typeface="Times New Roman" pitchFamily="18" charset="0"/>
                <a:cs typeface="Arial" charset="0"/>
              </a:rPr>
              <a:t>Capital Gains Tax (CGT)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= After Tax Equity Reversion (ATER)</a:t>
            </a:r>
          </a:p>
          <a:p>
            <a:pPr eaLnBrk="0" hangingPunct="0">
              <a:tabLst>
                <a:tab pos="-457200" algn="l"/>
              </a:tabLst>
            </a:pPr>
            <a:endParaRPr lang="en-US" sz="1600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Where…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Net Sale Price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sz="1600" u="sng" dirty="0" smtClean="0">
                <a:ea typeface="Times New Roman" pitchFamily="18" charset="0"/>
                <a:cs typeface="Arial" charset="0"/>
              </a:rPr>
              <a:t>Adjusted Basis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= Taxable Gain on Sale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u="sng" dirty="0" smtClean="0">
                <a:ea typeface="Times New Roman" pitchFamily="18" charset="0"/>
                <a:cs typeface="Arial" charset="0"/>
              </a:rPr>
              <a:t> * Capital Gain Tax Rate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= Capital Gains Tax</a:t>
            </a:r>
          </a:p>
          <a:p>
            <a:pPr eaLnBrk="0" hangingPunct="0">
              <a:tabLst>
                <a:tab pos="-457200" algn="l"/>
              </a:tabLst>
            </a:pPr>
            <a:endParaRPr lang="en-US" sz="1600" dirty="0" smtClean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Where…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Original Basis (total initial cost)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+ Capital </a:t>
            </a:r>
            <a:r>
              <a:rPr lang="en-US" sz="1600" dirty="0" err="1" smtClean="0">
                <a:ea typeface="Times New Roman" pitchFamily="18" charset="0"/>
                <a:cs typeface="Arial" charset="0"/>
              </a:rPr>
              <a:t>Impr</a:t>
            </a:r>
            <a:r>
              <a:rPr lang="en-US" sz="1600" dirty="0" smtClean="0">
                <a:ea typeface="Times New Roman" pitchFamily="18" charset="0"/>
                <a:cs typeface="Arial" charset="0"/>
              </a:rPr>
              <a:t>. Expenditures</a:t>
            </a:r>
          </a:p>
          <a:p>
            <a:pPr eaLnBrk="0" hangingPunct="0">
              <a:buFontTx/>
              <a:buChar char="-"/>
              <a:tabLst>
                <a:tab pos="-457200" algn="l"/>
              </a:tabLst>
            </a:pPr>
            <a:r>
              <a:rPr lang="en-US" sz="1600" u="sng" dirty="0" smtClean="0">
                <a:ea typeface="Times New Roman" pitchFamily="18" charset="0"/>
                <a:cs typeface="Arial" charset="0"/>
              </a:rPr>
              <a:t> Accrued Depreciation (tax accounting)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sz="1600" dirty="0" smtClean="0">
                <a:ea typeface="Times New Roman" pitchFamily="18" charset="0"/>
                <a:cs typeface="Arial" charset="0"/>
              </a:rPr>
              <a:t>= Adjusted Basis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Reversion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Arial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CB7F47AA-78C6-43AD-AB21-F3EB4EAC5730}" type="slidenum">
              <a:rPr lang="en-US"/>
              <a:pPr/>
              <a:t>10</a:t>
            </a:fld>
            <a:endParaRPr lang="en-US"/>
          </a:p>
        </p:txBody>
      </p:sp>
      <p:pic>
        <p:nvPicPr>
          <p:cNvPr id="1792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090613"/>
            <a:ext cx="8229600" cy="366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33400" y="4876800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Note: Capital Gains Tax (CGT) has 2 components:</a:t>
            </a:r>
          </a:p>
          <a:p>
            <a:r>
              <a:rPr lang="en-US" sz="1600" dirty="0" smtClean="0"/>
              <a:t>1) Tax on depreciation = Accumulated Depreciation * </a:t>
            </a:r>
            <a:r>
              <a:rPr lang="en-US" sz="1600" dirty="0" err="1" smtClean="0"/>
              <a:t>Depr</a:t>
            </a:r>
            <a:r>
              <a:rPr lang="en-US" sz="1600" dirty="0" smtClean="0"/>
              <a:t>. Recapture Tax Rate</a:t>
            </a:r>
          </a:p>
          <a:p>
            <a:r>
              <a:rPr lang="en-US" sz="1600" dirty="0" smtClean="0"/>
              <a:t>2) Tax on capital gain = (Gain on Sale – Acc. </a:t>
            </a:r>
            <a:r>
              <a:rPr lang="en-US" sz="1600" dirty="0" err="1" smtClean="0"/>
              <a:t>Depr</a:t>
            </a:r>
            <a:r>
              <a:rPr lang="en-US" sz="1600" dirty="0" smtClean="0"/>
              <a:t>.) * Capital Gain Tax Rate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z="4000" b="1" dirty="0" smtClean="0"/>
              <a:t>After-tax Equity Valuation</a:t>
            </a:r>
            <a:endParaRPr lang="en-US" sz="40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525963"/>
          </a:xfrm>
        </p:spPr>
        <p:txBody>
          <a:bodyPr/>
          <a:lstStyle/>
          <a:p>
            <a:r>
              <a:rPr lang="en-US" sz="1600" dirty="0" smtClean="0"/>
              <a:t>Focus in earlier section was on Market Value (MV) based on PBTCF and Reversion (DCF model): value of the property per se, independently of how the property is financed and by whom the property is held. MV was therefore computed:</a:t>
            </a:r>
          </a:p>
          <a:p>
            <a:pPr lvl="1"/>
            <a:r>
              <a:rPr lang="en-US" sz="1600" dirty="0" smtClean="0"/>
              <a:t>Without considering any use of debt</a:t>
            </a:r>
          </a:p>
          <a:p>
            <a:pPr lvl="1"/>
            <a:r>
              <a:rPr lang="en-US" sz="1600" dirty="0" smtClean="0"/>
              <a:t>On a before tax basis, without consideration of owner(s) tax status</a:t>
            </a:r>
          </a:p>
          <a:p>
            <a:endParaRPr lang="en-US" sz="1600" dirty="0" smtClean="0"/>
          </a:p>
          <a:p>
            <a:r>
              <a:rPr lang="en-US" sz="1600" dirty="0" smtClean="0"/>
              <a:t>The value of the property to a particular investor is the Investment Value (IV) of the property. This value takes into consideration:</a:t>
            </a:r>
          </a:p>
          <a:p>
            <a:pPr lvl="1"/>
            <a:r>
              <a:rPr lang="en-US" sz="1600" dirty="0" smtClean="0"/>
              <a:t>How the investor is financing the property</a:t>
            </a:r>
          </a:p>
          <a:p>
            <a:pPr lvl="1"/>
            <a:r>
              <a:rPr lang="en-US" sz="1600" dirty="0" smtClean="0"/>
              <a:t>The particular tax rules the investor is subject to</a:t>
            </a:r>
          </a:p>
          <a:p>
            <a:endParaRPr lang="en-US" sz="1600" dirty="0" smtClean="0"/>
          </a:p>
          <a:p>
            <a:r>
              <a:rPr lang="en-US" sz="1600" dirty="0" smtClean="0"/>
              <a:t>Issue: What is the appropriate opportunity cost of capital for equity-after-tax cash  flows. There is no particular reason why the discount rate used to compute IV (EATCF) should be the same as the one used to compute MV (PBTCF). Why?</a:t>
            </a:r>
          </a:p>
          <a:p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3409C8D0-776A-43C4-9479-FEE41C208373}" type="slidenum">
              <a:rPr lang="en-US"/>
              <a:pPr/>
              <a:t>11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b="1" dirty="0" smtClean="0"/>
              <a:t>After-tax Equity Valuation</a:t>
            </a:r>
            <a:endParaRPr lang="en-US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525963"/>
          </a:xfrm>
        </p:spPr>
        <p:txBody>
          <a:bodyPr/>
          <a:lstStyle/>
          <a:p>
            <a:r>
              <a:rPr lang="en-US" sz="1800" dirty="0" smtClean="0"/>
              <a:t>It is very difficult to empirically observe or to accurately estimate the appropriate levered equity after-tax opportunity cost of capital, E(r), the appropriate hurdle going-in IRR. Why? It is a function of many, difficult to observe variables.</a:t>
            </a:r>
          </a:p>
          <a:p>
            <a:pPr lvl="1"/>
            <a:r>
              <a:rPr lang="en-US" sz="1800" dirty="0" smtClean="0"/>
              <a:t>Leverage</a:t>
            </a:r>
          </a:p>
          <a:p>
            <a:pPr lvl="1"/>
            <a:r>
              <a:rPr lang="en-US" sz="1800" dirty="0" smtClean="0"/>
              <a:t>Debt terms</a:t>
            </a:r>
          </a:p>
          <a:p>
            <a:pPr lvl="1"/>
            <a:r>
              <a:rPr lang="en-US" sz="1800" dirty="0" smtClean="0"/>
              <a:t>Owner tax status</a:t>
            </a:r>
          </a:p>
          <a:p>
            <a:pPr lvl="1"/>
            <a:r>
              <a:rPr lang="en-US" sz="1800" dirty="0" smtClean="0"/>
              <a:t>Other investments</a:t>
            </a:r>
          </a:p>
          <a:p>
            <a:r>
              <a:rPr lang="en-US" sz="1800" dirty="0" smtClean="0"/>
              <a:t>After-Tax (AT) analysis generally applies to “Investment Value” (IV), while before-tax (BT) analysis applies to “Market Value” (MV)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3409C8D0-776A-43C4-9479-FEE41C208373}" type="slidenum">
              <a:rPr lang="en-US"/>
              <a:pPr/>
              <a:t>12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b="1" dirty="0" smtClean="0"/>
              <a:t>Tax Shield and Carry Forward</a:t>
            </a:r>
            <a:endParaRPr lang="en-US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525963"/>
          </a:xfrm>
        </p:spPr>
        <p:txBody>
          <a:bodyPr/>
          <a:lstStyle/>
          <a:p>
            <a:r>
              <a:rPr lang="en-US" sz="2400" dirty="0" smtClean="0"/>
              <a:t>Tax losses on a property can be deducted against other incomes, and hence provide a tax shield or tax shelter to the extent allowed by the (changing) tax rules.</a:t>
            </a:r>
          </a:p>
          <a:p>
            <a:endParaRPr lang="en-US" sz="2400" dirty="0" smtClean="0"/>
          </a:p>
          <a:p>
            <a:pPr lvl="1"/>
            <a:r>
              <a:rPr lang="en-US" sz="2000" dirty="0" smtClean="0"/>
              <a:t>Typically can shield similar kinds of income</a:t>
            </a:r>
          </a:p>
          <a:p>
            <a:pPr lvl="1"/>
            <a:r>
              <a:rPr lang="en-US" sz="2000" dirty="0" smtClean="0"/>
              <a:t>Can be carried forward in time</a:t>
            </a:r>
          </a:p>
          <a:p>
            <a:pPr lvl="1"/>
            <a:r>
              <a:rPr lang="en-US" sz="2000" dirty="0" smtClean="0"/>
              <a:t>Use of debt can leverage the tax shielding effect</a:t>
            </a:r>
          </a:p>
          <a:p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3409C8D0-776A-43C4-9479-FEE41C208373}" type="slidenum">
              <a:rPr lang="en-US"/>
              <a:pPr/>
              <a:t>13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Practical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Develop an Investment Thesis</a:t>
            </a:r>
          </a:p>
          <a:p>
            <a:pPr lvl="1"/>
            <a:r>
              <a:rPr lang="en-US" sz="1800" dirty="0" smtClean="0"/>
              <a:t>Proposed investments</a:t>
            </a:r>
          </a:p>
          <a:p>
            <a:pPr lvl="1"/>
            <a:r>
              <a:rPr lang="en-US" sz="1800" dirty="0" smtClean="0"/>
              <a:t>Typical equity investors and tax status</a:t>
            </a:r>
          </a:p>
          <a:p>
            <a:pPr lvl="1"/>
            <a:r>
              <a:rPr lang="en-US" sz="1800" dirty="0" smtClean="0"/>
              <a:t>Capital structure</a:t>
            </a:r>
          </a:p>
          <a:p>
            <a:pPr lvl="1"/>
            <a:r>
              <a:rPr lang="en-US" sz="1800" dirty="0" smtClean="0"/>
              <a:t>Ownership Structure</a:t>
            </a:r>
          </a:p>
          <a:p>
            <a:r>
              <a:rPr lang="en-US" sz="1800" dirty="0" smtClean="0"/>
              <a:t>Consult with a Tax Attorney and Accountant</a:t>
            </a:r>
          </a:p>
          <a:p>
            <a:pPr lvl="1"/>
            <a:r>
              <a:rPr lang="en-US" sz="1800" dirty="0" smtClean="0"/>
              <a:t>Optimize tax efficiency</a:t>
            </a:r>
          </a:p>
          <a:p>
            <a:pPr lvl="1"/>
            <a:r>
              <a:rPr lang="en-US" sz="1800" dirty="0" smtClean="0"/>
              <a:t>Refine investment strategy</a:t>
            </a:r>
          </a:p>
          <a:p>
            <a:r>
              <a:rPr lang="en-US" sz="1800" dirty="0" smtClean="0"/>
              <a:t>Attract Capital with Proposed Strategy</a:t>
            </a:r>
          </a:p>
          <a:p>
            <a:pPr lvl="1"/>
            <a:r>
              <a:rPr lang="en-US" sz="1800" dirty="0" smtClean="0"/>
              <a:t>Investors (and their tax advisors) will analyze their tax consequences</a:t>
            </a:r>
          </a:p>
          <a:p>
            <a:pPr lvl="1"/>
            <a:r>
              <a:rPr lang="en-US" sz="1800" dirty="0" smtClean="0"/>
              <a:t>Capital supply side will dictate a required BT OCC (reflecting AT OCC)</a:t>
            </a:r>
          </a:p>
          <a:p>
            <a:r>
              <a:rPr lang="en-US" sz="1800" dirty="0" smtClean="0"/>
              <a:t>Implement Strategy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©Joe Walsh- Do not distribute without explicit permission.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Joe Walsh, Generic Copyright">
  <a:themeElements>
    <a:clrScheme name="">
      <a:dk1>
        <a:srgbClr val="000000"/>
      </a:dk1>
      <a:lt1>
        <a:srgbClr val="FFFFFF"/>
      </a:lt1>
      <a:dk2>
        <a:srgbClr val="A92026"/>
      </a:dk2>
      <a:lt2>
        <a:srgbClr val="808080"/>
      </a:lt2>
      <a:accent1>
        <a:srgbClr val="C19A25"/>
      </a:accent1>
      <a:accent2>
        <a:srgbClr val="A41E21"/>
      </a:accent2>
      <a:accent3>
        <a:srgbClr val="FFFFFF"/>
      </a:accent3>
      <a:accent4>
        <a:srgbClr val="000000"/>
      </a:accent4>
      <a:accent5>
        <a:srgbClr val="DDCAAC"/>
      </a:accent5>
      <a:accent6>
        <a:srgbClr val="941A1D"/>
      </a:accent6>
      <a:hlink>
        <a:srgbClr val="929199"/>
      </a:hlink>
      <a:folHlink>
        <a:srgbClr val="6F6E6D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UW_PPT_white</Template>
  <TotalTime>4085</TotalTime>
  <Words>859</Words>
  <Application>Microsoft Office PowerPoint</Application>
  <PresentationFormat>On-screen Show (4:3)</PresentationFormat>
  <Paragraphs>154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Joe Walsh, Generic Copyright</vt:lpstr>
      <vt:lpstr>After Tax Analysis</vt:lpstr>
      <vt:lpstr>Topics</vt:lpstr>
      <vt:lpstr> Operating Cash Flow Streams</vt:lpstr>
      <vt:lpstr>3 Main Issues</vt:lpstr>
      <vt:lpstr>PowerPoint Presentation</vt:lpstr>
      <vt:lpstr>PowerPoint Presentation</vt:lpstr>
      <vt:lpstr>PowerPoint Presentation</vt:lpstr>
      <vt:lpstr> Reversion Cash Flow Streams</vt:lpstr>
      <vt:lpstr>PowerPoint Presentation</vt:lpstr>
      <vt:lpstr>PowerPoint Presentation</vt:lpstr>
      <vt:lpstr>After-tax Equity Valuation</vt:lpstr>
      <vt:lpstr>After-tax Equity Valuation</vt:lpstr>
      <vt:lpstr>Tax Shield and Carry Forward</vt:lpstr>
      <vt:lpstr>A Practical Approach</vt:lpstr>
    </vt:vector>
  </TitlesOfParts>
  <Company>The Yates 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Lecture:</dc:title>
  <dc:creator>Joe Walsh</dc:creator>
  <cp:lastModifiedBy>Jaime Luque</cp:lastModifiedBy>
  <cp:revision>185</cp:revision>
  <dcterms:created xsi:type="dcterms:W3CDTF">2000-11-21T12:50:15Z</dcterms:created>
  <dcterms:modified xsi:type="dcterms:W3CDTF">2013-04-22T22:29:11Z</dcterms:modified>
</cp:coreProperties>
</file>