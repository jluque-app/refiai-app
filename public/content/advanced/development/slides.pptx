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18"/>
  </p:notesMasterIdLst>
  <p:handoutMasterIdLst>
    <p:handoutMasterId r:id="rId19"/>
  </p:handoutMasterIdLst>
  <p:sldIdLst>
    <p:sldId id="321" r:id="rId2"/>
    <p:sldId id="322" r:id="rId3"/>
    <p:sldId id="337" r:id="rId4"/>
    <p:sldId id="339" r:id="rId5"/>
    <p:sldId id="323" r:id="rId6"/>
    <p:sldId id="324" r:id="rId7"/>
    <p:sldId id="325" r:id="rId8"/>
    <p:sldId id="326" r:id="rId9"/>
    <p:sldId id="327" r:id="rId10"/>
    <p:sldId id="328" r:id="rId11"/>
    <p:sldId id="329" r:id="rId12"/>
    <p:sldId id="330" r:id="rId13"/>
    <p:sldId id="331" r:id="rId14"/>
    <p:sldId id="332" r:id="rId15"/>
    <p:sldId id="333" r:id="rId16"/>
    <p:sldId id="334" r:id="rId17"/>
  </p:sldIdLst>
  <p:sldSz cx="9144000" cy="6858000" type="screen4x3"/>
  <p:notesSz cx="6997700" cy="92837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00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576" autoAdjust="0"/>
    <p:restoredTop sz="94660"/>
  </p:normalViewPr>
  <p:slideViewPr>
    <p:cSldViewPr>
      <p:cViewPr varScale="1">
        <p:scale>
          <a:sx n="67" d="100"/>
          <a:sy n="67" d="100"/>
        </p:scale>
        <p:origin x="956" y="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2125" cy="4635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63988" y="0"/>
            <a:ext cx="3032125" cy="463550"/>
          </a:xfrm>
          <a:prstGeom prst="rect">
            <a:avLst/>
          </a:prstGeom>
        </p:spPr>
        <p:txBody>
          <a:bodyPr vert="horz" lIns="91440" tIns="45720" rIns="91440" bIns="45720" rtlCol="0"/>
          <a:lstStyle>
            <a:lvl1pPr algn="r">
              <a:defRPr sz="1200"/>
            </a:lvl1pPr>
          </a:lstStyle>
          <a:p>
            <a:fld id="{669E8512-59B4-4577-9937-013869CD4978}" type="datetimeFigureOut">
              <a:rPr lang="en-US" smtClean="0"/>
              <a:pPr/>
              <a:t>8/20/2020</a:t>
            </a:fld>
            <a:endParaRPr lang="en-US"/>
          </a:p>
        </p:txBody>
      </p:sp>
      <p:sp>
        <p:nvSpPr>
          <p:cNvPr id="4" name="Footer Placeholder 3"/>
          <p:cNvSpPr>
            <a:spLocks noGrp="1"/>
          </p:cNvSpPr>
          <p:nvPr>
            <p:ph type="ftr" sz="quarter" idx="2"/>
          </p:nvPr>
        </p:nvSpPr>
        <p:spPr>
          <a:xfrm>
            <a:off x="1" y="8818564"/>
            <a:ext cx="3032125" cy="4635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63988" y="8818564"/>
            <a:ext cx="3032125" cy="463550"/>
          </a:xfrm>
          <a:prstGeom prst="rect">
            <a:avLst/>
          </a:prstGeom>
        </p:spPr>
        <p:txBody>
          <a:bodyPr vert="horz" lIns="91440" tIns="45720" rIns="91440" bIns="45720" rtlCol="0" anchor="b"/>
          <a:lstStyle>
            <a:lvl1pPr algn="r">
              <a:defRPr sz="1200"/>
            </a:lvl1pPr>
          </a:lstStyle>
          <a:p>
            <a:fld id="{8DF242B2-4DDE-4B40-A135-88534B94F2DA}" type="slidenum">
              <a:rPr lang="en-US" smtClean="0"/>
              <a:pPr/>
              <a:t>‹#›</a:t>
            </a:fld>
            <a:endParaRPr lang="en-US"/>
          </a:p>
        </p:txBody>
      </p:sp>
    </p:spTree>
    <p:extLst>
      <p:ext uri="{BB962C8B-B14F-4D97-AF65-F5344CB8AC3E}">
        <p14:creationId xmlns:p14="http://schemas.microsoft.com/office/powerpoint/2010/main" val="3952562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6834" name="Rectangle 2"/>
          <p:cNvSpPr>
            <a:spLocks noGrp="1" noChangeArrowheads="1"/>
          </p:cNvSpPr>
          <p:nvPr>
            <p:ph type="hdr" sz="quarter"/>
          </p:nvPr>
        </p:nvSpPr>
        <p:spPr bwMode="auto">
          <a:xfrm>
            <a:off x="1" y="0"/>
            <a:ext cx="3032641" cy="463571"/>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437">
              <a:defRPr sz="1300">
                <a:latin typeface="Times New Roman" pitchFamily="18" charset="0"/>
              </a:defRPr>
            </a:lvl1pPr>
          </a:lstStyle>
          <a:p>
            <a:endParaRPr lang="en-US"/>
          </a:p>
        </p:txBody>
      </p:sp>
      <p:sp>
        <p:nvSpPr>
          <p:cNvPr id="376835" name="Rectangle 3"/>
          <p:cNvSpPr>
            <a:spLocks noGrp="1" noChangeArrowheads="1"/>
          </p:cNvSpPr>
          <p:nvPr>
            <p:ph type="dt" idx="1"/>
          </p:nvPr>
        </p:nvSpPr>
        <p:spPr bwMode="auto">
          <a:xfrm>
            <a:off x="3963542" y="0"/>
            <a:ext cx="3032641" cy="463571"/>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437">
              <a:defRPr sz="1300">
                <a:latin typeface="Times New Roman" pitchFamily="18" charset="0"/>
              </a:defRPr>
            </a:lvl1pPr>
          </a:lstStyle>
          <a:p>
            <a:endParaRPr lang="en-US"/>
          </a:p>
        </p:txBody>
      </p:sp>
      <p:sp>
        <p:nvSpPr>
          <p:cNvPr id="376836" name="Rectangle 4"/>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ffectLst/>
        </p:spPr>
      </p:sp>
      <p:sp>
        <p:nvSpPr>
          <p:cNvPr id="376837" name="Rectangle 5"/>
          <p:cNvSpPr>
            <a:spLocks noGrp="1" noChangeArrowheads="1"/>
          </p:cNvSpPr>
          <p:nvPr>
            <p:ph type="body" sz="quarter" idx="3"/>
          </p:nvPr>
        </p:nvSpPr>
        <p:spPr bwMode="auto">
          <a:xfrm>
            <a:off x="700075" y="4410065"/>
            <a:ext cx="5597553" cy="4176744"/>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6838" name="Rectangle 6"/>
          <p:cNvSpPr>
            <a:spLocks noGrp="1" noChangeArrowheads="1"/>
          </p:cNvSpPr>
          <p:nvPr>
            <p:ph type="ftr" sz="quarter" idx="4"/>
          </p:nvPr>
        </p:nvSpPr>
        <p:spPr bwMode="auto">
          <a:xfrm>
            <a:off x="1" y="8818595"/>
            <a:ext cx="3032641" cy="463571"/>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437">
              <a:defRPr sz="1300">
                <a:latin typeface="Times New Roman" pitchFamily="18" charset="0"/>
              </a:defRPr>
            </a:lvl1pPr>
          </a:lstStyle>
          <a:p>
            <a:endParaRPr lang="en-US"/>
          </a:p>
        </p:txBody>
      </p:sp>
      <p:sp>
        <p:nvSpPr>
          <p:cNvPr id="376839" name="Rectangle 7"/>
          <p:cNvSpPr>
            <a:spLocks noGrp="1" noChangeArrowheads="1"/>
          </p:cNvSpPr>
          <p:nvPr>
            <p:ph type="sldNum" sz="quarter" idx="5"/>
          </p:nvPr>
        </p:nvSpPr>
        <p:spPr bwMode="auto">
          <a:xfrm>
            <a:off x="3963542" y="8818595"/>
            <a:ext cx="3032641" cy="463571"/>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437">
              <a:defRPr sz="1300">
                <a:latin typeface="Times New Roman" pitchFamily="18" charset="0"/>
              </a:defRPr>
            </a:lvl1pPr>
          </a:lstStyle>
          <a:p>
            <a:fld id="{8324DEF4-E4A2-42C6-9E3A-0F7701BDC5ED}" type="slidenum">
              <a:rPr lang="en-US"/>
              <a:pPr/>
              <a:t>‹#›</a:t>
            </a:fld>
            <a:endParaRPr lang="en-US"/>
          </a:p>
        </p:txBody>
      </p:sp>
    </p:spTree>
    <p:extLst>
      <p:ext uri="{BB962C8B-B14F-4D97-AF65-F5344CB8AC3E}">
        <p14:creationId xmlns:p14="http://schemas.microsoft.com/office/powerpoint/2010/main" val="3982737187"/>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Times New Roman" pitchFamily="18" charset="0"/>
        <a:ea typeface="+mn-ea"/>
        <a:cs typeface="+mn-cs"/>
      </a:defRPr>
    </a:lvl1pPr>
    <a:lvl2pPr marL="457200" algn="l" rtl="0" fontAlgn="base">
      <a:spcBef>
        <a:spcPct val="30000"/>
      </a:spcBef>
      <a:spcAft>
        <a:spcPct val="0"/>
      </a:spcAft>
      <a:defRPr sz="1200" kern="1200">
        <a:solidFill>
          <a:schemeClr val="tx1"/>
        </a:solidFill>
        <a:latin typeface="Times New Roman" pitchFamily="18" charset="0"/>
        <a:ea typeface="+mn-ea"/>
        <a:cs typeface="+mn-cs"/>
      </a:defRPr>
    </a:lvl2pPr>
    <a:lvl3pPr marL="914400" algn="l" rtl="0" fontAlgn="base">
      <a:spcBef>
        <a:spcPct val="30000"/>
      </a:spcBef>
      <a:spcAft>
        <a:spcPct val="0"/>
      </a:spcAft>
      <a:defRPr sz="1200" kern="1200">
        <a:solidFill>
          <a:schemeClr val="tx1"/>
        </a:solidFill>
        <a:latin typeface="Times New Roman" pitchFamily="18" charset="0"/>
        <a:ea typeface="+mn-ea"/>
        <a:cs typeface="+mn-cs"/>
      </a:defRPr>
    </a:lvl3pPr>
    <a:lvl4pPr marL="1371600" algn="l" rtl="0" fontAlgn="base">
      <a:spcBef>
        <a:spcPct val="30000"/>
      </a:spcBef>
      <a:spcAft>
        <a:spcPct val="0"/>
      </a:spcAft>
      <a:defRPr sz="1200" kern="1200">
        <a:solidFill>
          <a:schemeClr val="tx1"/>
        </a:solidFill>
        <a:latin typeface="Times New Roman" pitchFamily="18" charset="0"/>
        <a:ea typeface="+mn-ea"/>
        <a:cs typeface="+mn-cs"/>
      </a:defRPr>
    </a:lvl4pPr>
    <a:lvl5pPr marL="1828800" algn="l" rtl="0" fontAlgn="base">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E9E2156-52B6-45BE-A2A6-A9994360A84F}" type="slidenum">
              <a:rPr lang="en-US"/>
              <a:pPr/>
              <a:t>16</a:t>
            </a:fld>
            <a:endParaRPr lang="en-US"/>
          </a:p>
        </p:txBody>
      </p:sp>
      <p:sp>
        <p:nvSpPr>
          <p:cNvPr id="349186" name="Rectangle 2"/>
          <p:cNvSpPr>
            <a:spLocks noGrp="1" noRot="1" noChangeAspect="1" noChangeArrowheads="1" noTextEdit="1"/>
          </p:cNvSpPr>
          <p:nvPr>
            <p:ph type="sldImg"/>
          </p:nvPr>
        </p:nvSpPr>
        <p:spPr>
          <a:ln/>
        </p:spPr>
      </p:sp>
      <p:sp>
        <p:nvSpPr>
          <p:cNvPr id="349187" name="Rectangle 3"/>
          <p:cNvSpPr>
            <a:spLocks noGrp="1" noChangeArrowheads="1"/>
          </p:cNvSpPr>
          <p:nvPr>
            <p:ph type="body" idx="1"/>
          </p:nvPr>
        </p:nvSpPr>
        <p:spPr/>
        <p:txBody>
          <a:bodyPr/>
          <a:lstStyle/>
          <a:p>
            <a:r>
              <a:rPr lang="en-US"/>
              <a:t>Sometimes a “mini-perm” loan will cover both the construction and lease-up phase, usually provided by the construction lender.</a:t>
            </a:r>
          </a:p>
          <a:p>
            <a:r>
              <a:rPr lang="en-US"/>
              <a:t>It makes sense for commercial banks to supply construction loan capital, because: (i) They have local presence, enabling them to develop the type of local expertise needed to be successful (familiarity with real estate markets, developers, construction contractors); (ii) They have short-term liabilities (deposits), so they need to match these with short-term investments (which construction loans normally are). In contrast, Life insurance cos &amp; pension funds have very long-term liabilities, which need to be matched by long-term assets that yield reliable cash flow streams.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7" name="Slide Number Placeholder 6"/>
          <p:cNvSpPr>
            <a:spLocks noGrp="1"/>
          </p:cNvSpPr>
          <p:nvPr>
            <p:ph type="sldNum" sz="quarter" idx="10"/>
          </p:nvPr>
        </p:nvSpPr>
        <p:spPr>
          <a:xfrm>
            <a:off x="6553200" y="6553199"/>
            <a:ext cx="2133600" cy="304801"/>
          </a:xfrm>
        </p:spPr>
        <p:txBody>
          <a:bodyPr/>
          <a:lstStyle/>
          <a:p>
            <a:fld id="{C674EDA7-B996-475E-B155-5CBB23D664FF}" type="slidenum">
              <a:rPr lang="en-US" smtClean="0"/>
              <a:pPr/>
              <a:t>‹#›</a:t>
            </a:fld>
            <a:endParaRPr lang="en-US" dirty="0"/>
          </a:p>
        </p:txBody>
      </p:sp>
      <p:sp>
        <p:nvSpPr>
          <p:cNvPr id="8" name="Footer Placeholder 7"/>
          <p:cNvSpPr>
            <a:spLocks noGrp="1"/>
          </p:cNvSpPr>
          <p:nvPr>
            <p:ph type="ftr" sz="quarter" idx="11"/>
          </p:nvPr>
        </p:nvSpPr>
        <p:spPr>
          <a:xfrm>
            <a:off x="457200" y="6537326"/>
            <a:ext cx="6035040" cy="320674"/>
          </a:xfrm>
        </p:spPr>
        <p:txBody>
          <a:bodyPr/>
          <a:lstStyle/>
          <a:p>
            <a:r>
              <a:rPr lang="en-US" dirty="0"/>
              <a:t>©Joe Walsh, - Do not distribute without explicit permission.</a:t>
            </a: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p>
            <a:fld id="{C674EDA7-B996-475E-B155-5CBB23D664FF}" type="slidenum">
              <a:rPr lang="en-US" smtClean="0"/>
              <a:pPr/>
              <a:t>‹#›</a:t>
            </a:fld>
            <a:endParaRPr lang="en-US" dirty="0"/>
          </a:p>
        </p:txBody>
      </p:sp>
      <p:sp>
        <p:nvSpPr>
          <p:cNvPr id="8" name="Footer Placeholder 7"/>
          <p:cNvSpPr>
            <a:spLocks noGrp="1"/>
          </p:cNvSpPr>
          <p:nvPr>
            <p:ph type="ftr" sz="quarter" idx="11"/>
          </p:nvPr>
        </p:nvSpPr>
        <p:spPr/>
        <p:txBody>
          <a:bodyPr/>
          <a:lstStyle/>
          <a:p>
            <a:r>
              <a:rPr lang="en-US" dirty="0"/>
              <a:t>©Joe Walsh, - Do not distribute without explicit permission.</a:t>
            </a: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7" name="Slide Number Placeholder 6"/>
          <p:cNvSpPr>
            <a:spLocks noGrp="1"/>
          </p:cNvSpPr>
          <p:nvPr>
            <p:ph type="sldNum" sz="quarter" idx="10"/>
          </p:nvPr>
        </p:nvSpPr>
        <p:spPr/>
        <p:txBody>
          <a:bodyPr/>
          <a:lstStyle/>
          <a:p>
            <a:fld id="{C674EDA7-B996-475E-B155-5CBB23D664FF}" type="slidenum">
              <a:rPr lang="en-US" smtClean="0"/>
              <a:pPr/>
              <a:t>‹#›</a:t>
            </a:fld>
            <a:endParaRPr lang="en-US" dirty="0"/>
          </a:p>
        </p:txBody>
      </p:sp>
      <p:sp>
        <p:nvSpPr>
          <p:cNvPr id="8" name="Footer Placeholder 7"/>
          <p:cNvSpPr>
            <a:spLocks noGrp="1"/>
          </p:cNvSpPr>
          <p:nvPr>
            <p:ph type="ftr" sz="quarter" idx="11"/>
          </p:nvPr>
        </p:nvSpPr>
        <p:spPr/>
        <p:txBody>
          <a:bodyPr/>
          <a:lstStyle/>
          <a:p>
            <a:r>
              <a:rPr lang="en-US" dirty="0"/>
              <a:t>©Joe Walsh, - Do not distribute without explicit permission.</a:t>
            </a: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p:cNvSpPr>
            <a:spLocks noGrp="1"/>
          </p:cNvSpPr>
          <p:nvPr>
            <p:ph type="sldNum" sz="quarter" idx="10"/>
          </p:nvPr>
        </p:nvSpPr>
        <p:spPr/>
        <p:txBody>
          <a:bodyPr/>
          <a:lstStyle/>
          <a:p>
            <a:fld id="{C674EDA7-B996-475E-B155-5CBB23D664FF}" type="slidenum">
              <a:rPr lang="en-US" smtClean="0"/>
              <a:pPr/>
              <a:t>‹#›</a:t>
            </a:fld>
            <a:endParaRPr lang="en-US" dirty="0"/>
          </a:p>
        </p:txBody>
      </p:sp>
      <p:sp>
        <p:nvSpPr>
          <p:cNvPr id="9" name="Footer Placeholder 8"/>
          <p:cNvSpPr>
            <a:spLocks noGrp="1"/>
          </p:cNvSpPr>
          <p:nvPr>
            <p:ph type="ftr" sz="quarter" idx="11"/>
          </p:nvPr>
        </p:nvSpPr>
        <p:spPr/>
        <p:txBody>
          <a:bodyPr/>
          <a:lstStyle/>
          <a:p>
            <a:r>
              <a:rPr lang="en-US" dirty="0"/>
              <a:t>©Joe Walsh, - Do not distribute without explicit permission.</a:t>
            </a: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p:cNvSpPr>
            <a:spLocks noGrp="1"/>
          </p:cNvSpPr>
          <p:nvPr>
            <p:ph type="sldNum" sz="quarter" idx="10"/>
          </p:nvPr>
        </p:nvSpPr>
        <p:spPr/>
        <p:txBody>
          <a:bodyPr/>
          <a:lstStyle/>
          <a:p>
            <a:fld id="{C674EDA7-B996-475E-B155-5CBB23D664FF}" type="slidenum">
              <a:rPr lang="en-US" smtClean="0"/>
              <a:pPr/>
              <a:t>‹#›</a:t>
            </a:fld>
            <a:endParaRPr lang="en-US" dirty="0"/>
          </a:p>
        </p:txBody>
      </p:sp>
      <p:sp>
        <p:nvSpPr>
          <p:cNvPr id="11" name="Footer Placeholder 10"/>
          <p:cNvSpPr>
            <a:spLocks noGrp="1"/>
          </p:cNvSpPr>
          <p:nvPr>
            <p:ph type="ftr" sz="quarter" idx="11"/>
          </p:nvPr>
        </p:nvSpPr>
        <p:spPr/>
        <p:txBody>
          <a:bodyPr/>
          <a:lstStyle/>
          <a:p>
            <a:r>
              <a:rPr lang="en-US" dirty="0"/>
              <a:t>©Joe Walsh, - Do not distribute without explicit permission.</a:t>
            </a: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Slide Number Placeholder 5"/>
          <p:cNvSpPr>
            <a:spLocks noGrp="1"/>
          </p:cNvSpPr>
          <p:nvPr>
            <p:ph type="sldNum" sz="quarter" idx="10"/>
          </p:nvPr>
        </p:nvSpPr>
        <p:spPr/>
        <p:txBody>
          <a:bodyPr/>
          <a:lstStyle/>
          <a:p>
            <a:fld id="{C674EDA7-B996-475E-B155-5CBB23D664FF}" type="slidenum">
              <a:rPr lang="en-US" smtClean="0"/>
              <a:pPr/>
              <a:t>‹#›</a:t>
            </a:fld>
            <a:endParaRPr lang="en-US" dirty="0"/>
          </a:p>
        </p:txBody>
      </p:sp>
      <p:sp>
        <p:nvSpPr>
          <p:cNvPr id="7" name="Footer Placeholder 6"/>
          <p:cNvSpPr>
            <a:spLocks noGrp="1"/>
          </p:cNvSpPr>
          <p:nvPr>
            <p:ph type="ftr" sz="quarter" idx="11"/>
          </p:nvPr>
        </p:nvSpPr>
        <p:spPr/>
        <p:txBody>
          <a:bodyPr/>
          <a:lstStyle/>
          <a:p>
            <a:r>
              <a:rPr lang="en-US" dirty="0"/>
              <a:t>©Joe Walsh, - Do not distribute without explicit permission.</a:t>
            </a: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fld id="{C674EDA7-B996-475E-B155-5CBB23D664FF}" type="slidenum">
              <a:rPr lang="en-US" smtClean="0"/>
              <a:pPr/>
              <a:t>‹#›</a:t>
            </a:fld>
            <a:endParaRPr lang="en-US" dirty="0"/>
          </a:p>
        </p:txBody>
      </p:sp>
      <p:sp>
        <p:nvSpPr>
          <p:cNvPr id="6" name="Footer Placeholder 5"/>
          <p:cNvSpPr>
            <a:spLocks noGrp="1"/>
          </p:cNvSpPr>
          <p:nvPr>
            <p:ph type="ftr" sz="quarter" idx="11"/>
          </p:nvPr>
        </p:nvSpPr>
        <p:spPr/>
        <p:txBody>
          <a:bodyPr/>
          <a:lstStyle/>
          <a:p>
            <a:r>
              <a:rPr lang="en-US" dirty="0"/>
              <a:t>©Joe Walsh, - Do not distribute without explicit permission.</a:t>
            </a: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Slide Number Placeholder 7"/>
          <p:cNvSpPr>
            <a:spLocks noGrp="1"/>
          </p:cNvSpPr>
          <p:nvPr>
            <p:ph type="sldNum" sz="quarter" idx="10"/>
          </p:nvPr>
        </p:nvSpPr>
        <p:spPr/>
        <p:txBody>
          <a:bodyPr/>
          <a:lstStyle/>
          <a:p>
            <a:fld id="{C674EDA7-B996-475E-B155-5CBB23D664FF}" type="slidenum">
              <a:rPr lang="en-US" smtClean="0"/>
              <a:pPr/>
              <a:t>‹#›</a:t>
            </a:fld>
            <a:endParaRPr lang="en-US" dirty="0"/>
          </a:p>
        </p:txBody>
      </p:sp>
      <p:sp>
        <p:nvSpPr>
          <p:cNvPr id="9" name="Footer Placeholder 8"/>
          <p:cNvSpPr>
            <a:spLocks noGrp="1"/>
          </p:cNvSpPr>
          <p:nvPr>
            <p:ph type="ftr" sz="quarter" idx="11"/>
          </p:nvPr>
        </p:nvSpPr>
        <p:spPr/>
        <p:txBody>
          <a:bodyPr/>
          <a:lstStyle/>
          <a:p>
            <a:r>
              <a:rPr lang="en-US" dirty="0"/>
              <a:t>©Joe Walsh, - Do not distribute without explicit permission.</a:t>
            </a: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Slide Number Placeholder 7"/>
          <p:cNvSpPr>
            <a:spLocks noGrp="1"/>
          </p:cNvSpPr>
          <p:nvPr>
            <p:ph type="sldNum" sz="quarter" idx="10"/>
          </p:nvPr>
        </p:nvSpPr>
        <p:spPr/>
        <p:txBody>
          <a:bodyPr/>
          <a:lstStyle/>
          <a:p>
            <a:fld id="{C674EDA7-B996-475E-B155-5CBB23D664FF}" type="slidenum">
              <a:rPr lang="en-US" smtClean="0"/>
              <a:pPr/>
              <a:t>‹#›</a:t>
            </a:fld>
            <a:endParaRPr lang="en-US" dirty="0"/>
          </a:p>
        </p:txBody>
      </p:sp>
      <p:sp>
        <p:nvSpPr>
          <p:cNvPr id="9" name="Footer Placeholder 8"/>
          <p:cNvSpPr>
            <a:spLocks noGrp="1"/>
          </p:cNvSpPr>
          <p:nvPr>
            <p:ph type="ftr" sz="quarter" idx="11"/>
          </p:nvPr>
        </p:nvSpPr>
        <p:spPr/>
        <p:txBody>
          <a:bodyPr/>
          <a:lstStyle/>
          <a:p>
            <a:r>
              <a:rPr lang="en-US" dirty="0"/>
              <a:t>©Joe Walsh, - Do not distribute without explicit permission.</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p>
            <a:fld id="{C674EDA7-B996-475E-B155-5CBB23D664FF}" type="slidenum">
              <a:rPr lang="en-US" smtClean="0"/>
              <a:pPr/>
              <a:t>‹#›</a:t>
            </a:fld>
            <a:endParaRPr lang="en-US" dirty="0"/>
          </a:p>
        </p:txBody>
      </p:sp>
      <p:sp>
        <p:nvSpPr>
          <p:cNvPr id="8" name="Footer Placeholder 7"/>
          <p:cNvSpPr>
            <a:spLocks noGrp="1"/>
          </p:cNvSpPr>
          <p:nvPr>
            <p:ph type="ftr" sz="quarter" idx="11"/>
          </p:nvPr>
        </p:nvSpPr>
        <p:spPr/>
        <p:txBody>
          <a:bodyPr/>
          <a:lstStyle/>
          <a:p>
            <a:r>
              <a:rPr lang="en-US" dirty="0"/>
              <a:t>©Joe Walsh, - Do not distribute without explicit permission.</a:t>
            </a: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p>
            <a:fld id="{C674EDA7-B996-475E-B155-5CBB23D664FF}" type="slidenum">
              <a:rPr lang="en-US" smtClean="0"/>
              <a:pPr/>
              <a:t>‹#›</a:t>
            </a:fld>
            <a:endParaRPr lang="en-US" dirty="0"/>
          </a:p>
        </p:txBody>
      </p:sp>
      <p:sp>
        <p:nvSpPr>
          <p:cNvPr id="8" name="Footer Placeholder 7"/>
          <p:cNvSpPr>
            <a:spLocks noGrp="1"/>
          </p:cNvSpPr>
          <p:nvPr>
            <p:ph type="ftr" sz="quarter" idx="11"/>
          </p:nvPr>
        </p:nvSpPr>
        <p:spPr/>
        <p:txBody>
          <a:bodyPr/>
          <a:lstStyle/>
          <a:p>
            <a:r>
              <a:rPr lang="en-US" dirty="0"/>
              <a:t>©Joe Walsh, - Do not distribute without explicit permission.</a:t>
            </a: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9" name="Rectangle 5"/>
          <p:cNvSpPr>
            <a:spLocks noGrp="1" noChangeArrowheads="1"/>
          </p:cNvSpPr>
          <p:nvPr>
            <p:ph type="ftr" sz="quarter" idx="3"/>
          </p:nvPr>
        </p:nvSpPr>
        <p:spPr bwMode="auto">
          <a:xfrm>
            <a:off x="457200" y="6537326"/>
            <a:ext cx="6035040" cy="32067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100" i="1">
                <a:solidFill>
                  <a:schemeClr val="tx2"/>
                </a:solidFill>
              </a:defRPr>
            </a:lvl1pPr>
          </a:lstStyle>
          <a:p>
            <a:r>
              <a:rPr lang="en-US" dirty="0"/>
              <a:t>©Joe Walsh, - Do not distribute without explicit permission.</a:t>
            </a:r>
          </a:p>
        </p:txBody>
      </p:sp>
      <p:sp>
        <p:nvSpPr>
          <p:cNvPr id="1030" name="Rectangle 6"/>
          <p:cNvSpPr>
            <a:spLocks noGrp="1" noChangeArrowheads="1"/>
          </p:cNvSpPr>
          <p:nvPr>
            <p:ph type="sldNum" sz="quarter" idx="4"/>
          </p:nvPr>
        </p:nvSpPr>
        <p:spPr bwMode="auto">
          <a:xfrm>
            <a:off x="6553200" y="6553199"/>
            <a:ext cx="2133600" cy="30480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solidFill>
                  <a:schemeClr val="tx2"/>
                </a:solidFill>
              </a:defRPr>
            </a:lvl1pPr>
          </a:lstStyle>
          <a:p>
            <a:fld id="{C674EDA7-B996-475E-B155-5CBB23D664FF}"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ransition/>
  <p:hf hd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1" fontAlgn="base" hangingPunct="1">
        <a:spcBef>
          <a:spcPct val="20000"/>
        </a:spcBef>
        <a:spcAft>
          <a:spcPct val="0"/>
        </a:spcAft>
        <a:buClr>
          <a:schemeClr val="tx2"/>
        </a:buClr>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Char char="–"/>
        <a:defRPr sz="2800">
          <a:solidFill>
            <a:schemeClr val="tx1"/>
          </a:solidFill>
          <a:latin typeface="+mn-lt"/>
        </a:defRPr>
      </a:lvl2pPr>
      <a:lvl3pPr marL="1143000" indent="-228600" algn="l" rtl="0" eaLnBrk="1" fontAlgn="base" hangingPunct="1">
        <a:spcBef>
          <a:spcPct val="20000"/>
        </a:spcBef>
        <a:spcAft>
          <a:spcPct val="0"/>
        </a:spcAft>
        <a:buClr>
          <a:schemeClr val="tx2"/>
        </a:buClr>
        <a:buChar char="•"/>
        <a:defRPr sz="2400">
          <a:solidFill>
            <a:schemeClr val="tx1"/>
          </a:solidFill>
          <a:latin typeface="+mn-lt"/>
        </a:defRPr>
      </a:lvl3pPr>
      <a:lvl4pPr marL="1600200" indent="-228600" algn="l" rtl="0" eaLnBrk="1" fontAlgn="base" hangingPunct="1">
        <a:spcBef>
          <a:spcPct val="20000"/>
        </a:spcBef>
        <a:spcAft>
          <a:spcPct val="0"/>
        </a:spcAft>
        <a:buClr>
          <a:schemeClr val="tx2"/>
        </a:buClr>
        <a:buChar char="–"/>
        <a:defRPr sz="2000">
          <a:solidFill>
            <a:schemeClr val="tx1"/>
          </a:solidFill>
          <a:latin typeface="+mn-lt"/>
        </a:defRPr>
      </a:lvl4pPr>
      <a:lvl5pPr marL="2057400" indent="-228600" algn="l" rtl="0" eaLnBrk="1" fontAlgn="base" hangingPunct="1">
        <a:spcBef>
          <a:spcPct val="20000"/>
        </a:spcBef>
        <a:spcAft>
          <a:spcPct val="0"/>
        </a:spcAft>
        <a:buClr>
          <a:schemeClr val="tx2"/>
        </a:buClr>
        <a:buChar char="»"/>
        <a:defRPr sz="2000">
          <a:solidFill>
            <a:schemeClr val="tx1"/>
          </a:solidFill>
          <a:latin typeface="+mn-lt"/>
        </a:defRPr>
      </a:lvl5pPr>
      <a:lvl6pPr marL="2514600" indent="-228600" algn="l" rtl="0" eaLnBrk="1" fontAlgn="base" hangingPunct="1">
        <a:spcBef>
          <a:spcPct val="20000"/>
        </a:spcBef>
        <a:spcAft>
          <a:spcPct val="0"/>
        </a:spcAft>
        <a:buClr>
          <a:schemeClr val="tx2"/>
        </a:buClr>
        <a:buChar char="»"/>
        <a:defRPr sz="2000">
          <a:solidFill>
            <a:schemeClr val="tx1"/>
          </a:solidFill>
          <a:latin typeface="+mn-lt"/>
        </a:defRPr>
      </a:lvl6pPr>
      <a:lvl7pPr marL="2971800" indent="-228600" algn="l" rtl="0" eaLnBrk="1" fontAlgn="base" hangingPunct="1">
        <a:spcBef>
          <a:spcPct val="20000"/>
        </a:spcBef>
        <a:spcAft>
          <a:spcPct val="0"/>
        </a:spcAft>
        <a:buClr>
          <a:schemeClr val="tx2"/>
        </a:buClr>
        <a:buChar char="»"/>
        <a:defRPr sz="2000">
          <a:solidFill>
            <a:schemeClr val="tx1"/>
          </a:solidFill>
          <a:latin typeface="+mn-lt"/>
        </a:defRPr>
      </a:lvl7pPr>
      <a:lvl8pPr marL="3429000" indent="-228600" algn="l" rtl="0" eaLnBrk="1" fontAlgn="base" hangingPunct="1">
        <a:spcBef>
          <a:spcPct val="20000"/>
        </a:spcBef>
        <a:spcAft>
          <a:spcPct val="0"/>
        </a:spcAft>
        <a:buClr>
          <a:schemeClr val="tx2"/>
        </a:buClr>
        <a:buChar char="»"/>
        <a:defRPr sz="2000">
          <a:solidFill>
            <a:schemeClr val="tx1"/>
          </a:solidFill>
          <a:latin typeface="+mn-lt"/>
        </a:defRPr>
      </a:lvl8pPr>
      <a:lvl9pPr marL="3886200" indent="-228600" algn="l" rtl="0" eaLnBrk="1" fontAlgn="base" hangingPunct="1">
        <a:spcBef>
          <a:spcPct val="20000"/>
        </a:spcBef>
        <a:spcAft>
          <a:spcPct val="0"/>
        </a:spcAft>
        <a:buClr>
          <a:schemeClr val="tx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 options</a:t>
            </a:r>
          </a:p>
        </p:txBody>
      </p:sp>
      <p:sp>
        <p:nvSpPr>
          <p:cNvPr id="3" name="Content Placeholder 2"/>
          <p:cNvSpPr>
            <a:spLocks noGrp="1"/>
          </p:cNvSpPr>
          <p:nvPr>
            <p:ph idx="1"/>
          </p:nvPr>
        </p:nvSpPr>
        <p:spPr>
          <a:xfrm>
            <a:off x="457200" y="1219200"/>
            <a:ext cx="8458200" cy="5181600"/>
          </a:xfrm>
        </p:spPr>
        <p:txBody>
          <a:bodyPr/>
          <a:lstStyle/>
          <a:p>
            <a:r>
              <a:rPr lang="en-US" sz="2000" dirty="0"/>
              <a:t>An </a:t>
            </a:r>
            <a:r>
              <a:rPr lang="en-US" sz="2000" i="1" dirty="0"/>
              <a:t>option </a:t>
            </a:r>
            <a:r>
              <a:rPr lang="en-US" sz="2000" dirty="0"/>
              <a:t>is a contract where one party grants (sells) the other party the right to buy or sell an asset at a specific price, within a specific time period.</a:t>
            </a:r>
          </a:p>
          <a:p>
            <a:r>
              <a:rPr lang="en-US" sz="2000" dirty="0"/>
              <a:t>A </a:t>
            </a:r>
            <a:r>
              <a:rPr lang="en-US" sz="2000" i="1" dirty="0"/>
              <a:t>call </a:t>
            </a:r>
            <a:r>
              <a:rPr lang="en-US" sz="2000" dirty="0"/>
              <a:t>option is the right to </a:t>
            </a:r>
            <a:r>
              <a:rPr lang="en-US" sz="2000" b="1" dirty="0"/>
              <a:t>buy</a:t>
            </a:r>
            <a:r>
              <a:rPr lang="en-US" sz="2000" dirty="0"/>
              <a:t>, a </a:t>
            </a:r>
            <a:r>
              <a:rPr lang="en-US" sz="2000" i="1" dirty="0"/>
              <a:t>put </a:t>
            </a:r>
            <a:r>
              <a:rPr lang="en-US" sz="2000" dirty="0"/>
              <a:t>option is the right to </a:t>
            </a:r>
            <a:r>
              <a:rPr lang="en-US" sz="2000" b="1" dirty="0"/>
              <a:t>sell</a:t>
            </a:r>
            <a:endParaRPr lang="en-US" sz="2000" dirty="0"/>
          </a:p>
          <a:p>
            <a:r>
              <a:rPr lang="en-US" sz="2000" dirty="0"/>
              <a:t>The price at which the option buyer may buy or sell is called the </a:t>
            </a:r>
            <a:r>
              <a:rPr lang="en-US" sz="2000" i="1" dirty="0"/>
              <a:t>strike </a:t>
            </a:r>
            <a:r>
              <a:rPr lang="en-US" sz="2000" dirty="0"/>
              <a:t>or </a:t>
            </a:r>
            <a:r>
              <a:rPr lang="en-US" sz="2000" i="1" dirty="0"/>
              <a:t>exercise price</a:t>
            </a:r>
            <a:endParaRPr lang="en-US" sz="2000" dirty="0"/>
          </a:p>
          <a:p>
            <a:r>
              <a:rPr lang="en-US" sz="2000" dirty="0"/>
              <a:t>A call option is </a:t>
            </a:r>
            <a:r>
              <a:rPr lang="en-US" sz="2000" i="1" dirty="0"/>
              <a:t>in the money </a:t>
            </a:r>
            <a:r>
              <a:rPr lang="en-US" sz="2000" dirty="0"/>
              <a:t>if the asset price rises above the strike price</a:t>
            </a:r>
          </a:p>
          <a:p>
            <a:r>
              <a:rPr lang="en-US" sz="2000" dirty="0"/>
              <a:t>A put option is in the money in the opposite situation</a:t>
            </a:r>
          </a:p>
          <a:p>
            <a:pPr marL="0" indent="0">
              <a:buNone/>
            </a:pPr>
            <a:endParaRPr lang="en-US" sz="2000" dirty="0"/>
          </a:p>
          <a:p>
            <a:r>
              <a:rPr lang="en-US" sz="2000" dirty="0"/>
              <a:t>Most real estate projects have option-like aspects: develop (call), expand (call), upgrade (call), contract (put), abandon (put)</a:t>
            </a:r>
            <a:r>
              <a:rPr lang="en-US" sz="2400" dirty="0"/>
              <a:t>…</a:t>
            </a:r>
          </a:p>
          <a:p>
            <a:endParaRPr lang="en-US" sz="2400" dirty="0"/>
          </a:p>
          <a:p>
            <a:endParaRPr lang="en-US" sz="2400" dirty="0"/>
          </a:p>
          <a:p>
            <a:endParaRPr lang="en-US" dirty="0"/>
          </a:p>
        </p:txBody>
      </p:sp>
      <p:sp>
        <p:nvSpPr>
          <p:cNvPr id="4" name="Slide Number Placeholder 3"/>
          <p:cNvSpPr>
            <a:spLocks noGrp="1"/>
          </p:cNvSpPr>
          <p:nvPr>
            <p:ph type="sldNum" sz="quarter" idx="10"/>
          </p:nvPr>
        </p:nvSpPr>
        <p:spPr/>
        <p:txBody>
          <a:bodyPr/>
          <a:lstStyle/>
          <a:p>
            <a:fld id="{C674EDA7-B996-475E-B155-5CBB23D664FF}" type="slidenum">
              <a:rPr lang="en-US" smtClean="0"/>
              <a:pPr/>
              <a:t>1</a:t>
            </a:fld>
            <a:endParaRPr lang="en-US" dirty="0"/>
          </a:p>
        </p:txBody>
      </p:sp>
      <p:sp>
        <p:nvSpPr>
          <p:cNvPr id="5" name="Footer Placeholder 4"/>
          <p:cNvSpPr>
            <a:spLocks noGrp="1"/>
          </p:cNvSpPr>
          <p:nvPr>
            <p:ph type="ftr" sz="quarter" idx="11"/>
          </p:nvPr>
        </p:nvSpPr>
        <p:spPr/>
        <p:txBody>
          <a:bodyPr/>
          <a:lstStyle/>
          <a:p>
            <a:r>
              <a:rPr lang="en-US" dirty="0"/>
              <a:t>©Joe Walsh, - Do not distribute without explicit permission.</a:t>
            </a:r>
          </a:p>
        </p:txBody>
      </p:sp>
    </p:spTree>
    <p:extLst>
      <p:ext uri="{BB962C8B-B14F-4D97-AF65-F5344CB8AC3E}">
        <p14:creationId xmlns:p14="http://schemas.microsoft.com/office/powerpoint/2010/main" val="74024034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Land development option exercise</a:t>
            </a:r>
          </a:p>
        </p:txBody>
      </p:sp>
      <p:sp>
        <p:nvSpPr>
          <p:cNvPr id="3" name="Content Placeholder 2"/>
          <p:cNvSpPr>
            <a:spLocks noGrp="1"/>
          </p:cNvSpPr>
          <p:nvPr>
            <p:ph idx="1"/>
          </p:nvPr>
        </p:nvSpPr>
        <p:spPr/>
        <p:txBody>
          <a:bodyPr/>
          <a:lstStyle/>
          <a:p>
            <a:pPr marL="0" lvl="0" indent="0">
              <a:buNone/>
            </a:pPr>
            <a:r>
              <a:rPr lang="en-US" sz="1200" dirty="0"/>
              <a:t>Consider a vacant land parcel and its potential development as summarized in the table below. In particular, suppose a building worth $100 million today can be developed in the land at a construction cost of $88.24 million, for an </a:t>
            </a:r>
            <a:r>
              <a:rPr lang="en-US" sz="1200" i="1" dirty="0"/>
              <a:t>immediate</a:t>
            </a:r>
            <a:r>
              <a:rPr lang="en-US" sz="1200" dirty="0"/>
              <a:t> profit of $11.76 million (here assume that construction is instantaneous). Now, suppose that the development option does not expire today, but rather will exist another year.  Further, suppose that it is reasonable to expect that, if we wait until next year, there is a 70% chance that the market will improve and a similar building, newly completed next year, would in that case be worth $113.21 million. On the other hand, there is a 30% chance that the market will decline, which would result in a value of only $78.62 million for the new building next year. In either case, construction costs will have increased by 2%, to $90 million next year.</a:t>
            </a:r>
          </a:p>
          <a:p>
            <a:pPr lvl="1"/>
            <a:r>
              <a:rPr lang="en-US" sz="1200" dirty="0"/>
              <a:t>Complete the following table</a:t>
            </a:r>
          </a:p>
          <a:p>
            <a:pPr lvl="1"/>
            <a:endParaRPr lang="en-US" sz="1200" dirty="0"/>
          </a:p>
          <a:p>
            <a:pPr lvl="1"/>
            <a:endParaRPr lang="en-US" sz="1200" dirty="0"/>
          </a:p>
          <a:p>
            <a:pPr lvl="1"/>
            <a:endParaRPr lang="en-US" sz="1200" dirty="0"/>
          </a:p>
          <a:p>
            <a:pPr lvl="1"/>
            <a:endParaRPr lang="en-US" sz="1200" dirty="0"/>
          </a:p>
          <a:p>
            <a:pPr lvl="1"/>
            <a:endParaRPr lang="en-US" sz="1200" dirty="0"/>
          </a:p>
          <a:p>
            <a:pPr marL="0" indent="0">
              <a:buNone/>
            </a:pPr>
            <a:r>
              <a:rPr lang="en-US" sz="1200" dirty="0"/>
              <a:t> </a:t>
            </a:r>
          </a:p>
          <a:p>
            <a:pPr lvl="1"/>
            <a:endParaRPr lang="en-US" sz="1200" dirty="0"/>
          </a:p>
          <a:p>
            <a:pPr lvl="1"/>
            <a:endParaRPr lang="en-US" sz="1200" dirty="0"/>
          </a:p>
          <a:p>
            <a:pPr lvl="1"/>
            <a:endParaRPr lang="en-US" sz="1200" dirty="0"/>
          </a:p>
          <a:p>
            <a:pPr lvl="1"/>
            <a:endParaRPr lang="en-US" sz="1200" dirty="0"/>
          </a:p>
          <a:p>
            <a:pPr lvl="1"/>
            <a:r>
              <a:rPr lang="en-US" sz="1200" dirty="0"/>
              <a:t>Will the landlord wait to develop in the second year? (Show your work)</a:t>
            </a:r>
          </a:p>
          <a:p>
            <a:pPr lvl="1"/>
            <a:r>
              <a:rPr lang="en-US" sz="1200" dirty="0"/>
              <a:t>What is the option premium? (Show your work)</a:t>
            </a:r>
          </a:p>
          <a:p>
            <a:endParaRPr lang="en-US" sz="1200" dirty="0"/>
          </a:p>
        </p:txBody>
      </p:sp>
      <p:sp>
        <p:nvSpPr>
          <p:cNvPr id="4" name="Slide Number Placeholder 3"/>
          <p:cNvSpPr>
            <a:spLocks noGrp="1"/>
          </p:cNvSpPr>
          <p:nvPr>
            <p:ph type="sldNum" sz="quarter" idx="10"/>
          </p:nvPr>
        </p:nvSpPr>
        <p:spPr/>
        <p:txBody>
          <a:bodyPr/>
          <a:lstStyle/>
          <a:p>
            <a:fld id="{C674EDA7-B996-475E-B155-5CBB23D664FF}" type="slidenum">
              <a:rPr lang="en-US" smtClean="0"/>
              <a:pPr/>
              <a:t>2</a:t>
            </a:fld>
            <a:endParaRPr lang="en-US" dirty="0"/>
          </a:p>
        </p:txBody>
      </p:sp>
      <p:sp>
        <p:nvSpPr>
          <p:cNvPr id="5" name="Footer Placeholder 4"/>
          <p:cNvSpPr>
            <a:spLocks noGrp="1"/>
          </p:cNvSpPr>
          <p:nvPr>
            <p:ph type="ftr" sz="quarter" idx="11"/>
          </p:nvPr>
        </p:nvSpPr>
        <p:spPr/>
        <p:txBody>
          <a:bodyPr/>
          <a:lstStyle/>
          <a:p>
            <a:r>
              <a:rPr lang="en-US"/>
              <a:t>©Joe Walsh, - Do not distribute without explicit permission.</a:t>
            </a:r>
            <a:endParaRPr lang="en-US" dirty="0"/>
          </a:p>
        </p:txBody>
      </p:sp>
      <p:pic>
        <p:nvPicPr>
          <p:cNvPr id="102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0" y="3048000"/>
            <a:ext cx="4733925" cy="237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222860"/>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533400"/>
            <a:ext cx="8229600" cy="1143000"/>
          </a:xfrm>
        </p:spPr>
        <p:txBody>
          <a:bodyPr/>
          <a:lstStyle/>
          <a:p>
            <a:r>
              <a:rPr lang="en-US" b="1" dirty="0"/>
              <a:t>NPV Decision</a:t>
            </a:r>
          </a:p>
        </p:txBody>
      </p:sp>
      <p:sp>
        <p:nvSpPr>
          <p:cNvPr id="6147" name="Rectangle 3"/>
          <p:cNvSpPr>
            <a:spLocks noGrp="1" noChangeArrowheads="1"/>
          </p:cNvSpPr>
          <p:nvPr>
            <p:ph idx="1"/>
          </p:nvPr>
        </p:nvSpPr>
        <p:spPr>
          <a:xfrm>
            <a:off x="457200" y="1524000"/>
            <a:ext cx="8229600" cy="4648200"/>
          </a:xfrm>
        </p:spPr>
        <p:txBody>
          <a:bodyPr/>
          <a:lstStyle/>
          <a:p>
            <a:r>
              <a:rPr lang="en-US" sz="1800" dirty="0"/>
              <a:t>NPV</a:t>
            </a:r>
            <a:r>
              <a:rPr lang="en-US" sz="1800" baseline="-25000" dirty="0"/>
              <a:t>0</a:t>
            </a:r>
            <a:r>
              <a:rPr lang="en-US" sz="1800" dirty="0"/>
              <a:t> = V</a:t>
            </a:r>
            <a:r>
              <a:rPr lang="en-US" sz="1800" baseline="-25000" dirty="0"/>
              <a:t>0</a:t>
            </a:r>
            <a:r>
              <a:rPr lang="en-US" sz="1800" dirty="0"/>
              <a:t> – P</a:t>
            </a:r>
            <a:r>
              <a:rPr lang="en-US" sz="1800" baseline="-25000" dirty="0"/>
              <a:t>0</a:t>
            </a:r>
            <a:r>
              <a:rPr lang="en-US" sz="1800" dirty="0"/>
              <a:t> </a:t>
            </a:r>
          </a:p>
          <a:p>
            <a:r>
              <a:rPr lang="en-US" sz="1800" dirty="0"/>
              <a:t>Net Present Value = </a:t>
            </a:r>
          </a:p>
          <a:p>
            <a:pPr lvl="1"/>
            <a:r>
              <a:rPr lang="en-US" sz="1800" dirty="0"/>
              <a:t>PV of operating property, (i.e. value of the completed project) minus</a:t>
            </a:r>
          </a:p>
          <a:p>
            <a:pPr lvl="1"/>
            <a:r>
              <a:rPr lang="en-US" sz="1800" dirty="0"/>
              <a:t>PV of the price/cost in obtaining/developing the property</a:t>
            </a:r>
            <a:br>
              <a:rPr lang="en-US" sz="1800" dirty="0"/>
            </a:br>
            <a:r>
              <a:rPr lang="en-US" sz="1800" dirty="0"/>
              <a:t>(i.e. cost of development)</a:t>
            </a:r>
          </a:p>
          <a:p>
            <a:r>
              <a:rPr lang="en-US" sz="1800" dirty="0"/>
              <a:t>NPV must be;</a:t>
            </a:r>
          </a:p>
          <a:p>
            <a:pPr lvl="1"/>
            <a:r>
              <a:rPr lang="en-US" sz="1800" dirty="0"/>
              <a:t>At some “Present Time” (i.e. at the decision/commitment time)</a:t>
            </a:r>
          </a:p>
          <a:p>
            <a:pPr lvl="1"/>
            <a:r>
              <a:rPr lang="en-US" sz="1800" dirty="0"/>
              <a:t>Certainty equivalent dollars (i.e. in dollars adjusted for risk as of the time the investment is being made)</a:t>
            </a:r>
          </a:p>
          <a:p>
            <a:r>
              <a:rPr lang="en-US" sz="1800" dirty="0"/>
              <a:t>Implications</a:t>
            </a:r>
          </a:p>
          <a:p>
            <a:pPr lvl="1"/>
            <a:r>
              <a:rPr lang="en-US" sz="1800" dirty="0"/>
              <a:t>How do you assess the “risk” of the negative cash flows during development?</a:t>
            </a:r>
          </a:p>
          <a:p>
            <a:pPr lvl="1"/>
            <a:r>
              <a:rPr lang="en-US" sz="1800" dirty="0"/>
              <a:t>How do you assess the change in risk as the project achieves certain milestones?</a:t>
            </a:r>
          </a:p>
        </p:txBody>
      </p:sp>
      <p:sp>
        <p:nvSpPr>
          <p:cNvPr id="6" name="Slide Number Placeholder 5"/>
          <p:cNvSpPr>
            <a:spLocks noGrp="1"/>
          </p:cNvSpPr>
          <p:nvPr>
            <p:ph type="sldNum" sz="quarter" idx="4294967295"/>
          </p:nvPr>
        </p:nvSpPr>
        <p:spPr>
          <a:xfrm>
            <a:off x="6553200" y="6245225"/>
            <a:ext cx="2133600" cy="476250"/>
          </a:xfrm>
          <a:prstGeom prst="rect">
            <a:avLst/>
          </a:prstGeom>
        </p:spPr>
        <p:txBody>
          <a:bodyPr/>
          <a:lstStyle/>
          <a:p>
            <a:fld id="{3409C8D0-776A-43C4-9479-FEE41C208373}" type="slidenum">
              <a:rPr lang="en-US"/>
              <a:pPr/>
              <a:t>3</a:t>
            </a:fld>
            <a:endParaRPr lang="en-US"/>
          </a:p>
        </p:txBody>
      </p:sp>
      <p:sp>
        <p:nvSpPr>
          <p:cNvPr id="7" name="Footer Placeholder 4"/>
          <p:cNvSpPr>
            <a:spLocks noGrp="1"/>
          </p:cNvSpPr>
          <p:nvPr>
            <p:ph type="ftr" sz="quarter" idx="11"/>
          </p:nvPr>
        </p:nvSpPr>
        <p:spPr>
          <a:xfrm>
            <a:off x="457200" y="6537326"/>
            <a:ext cx="6035040" cy="320674"/>
          </a:xfrm>
        </p:spPr>
        <p:txBody>
          <a:bodyPr/>
          <a:lstStyle/>
          <a:p>
            <a:r>
              <a:rPr lang="en-US" dirty="0"/>
              <a:t>©Joe Walsh, - Do not distribute without explicit permission.</a:t>
            </a:r>
          </a:p>
        </p:txBody>
      </p:sp>
    </p:spTree>
    <p:extLst>
      <p:ext uri="{BB962C8B-B14F-4D97-AF65-F5344CB8AC3E}">
        <p14:creationId xmlns:p14="http://schemas.microsoft.com/office/powerpoint/2010/main" val="1892384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533400"/>
            <a:ext cx="8229600" cy="1143000"/>
          </a:xfrm>
        </p:spPr>
        <p:txBody>
          <a:bodyPr/>
          <a:lstStyle/>
          <a:p>
            <a:r>
              <a:rPr lang="en-US" b="1" dirty="0"/>
              <a:t>Development Finance - Overview</a:t>
            </a:r>
          </a:p>
        </p:txBody>
      </p:sp>
      <p:sp>
        <p:nvSpPr>
          <p:cNvPr id="6147" name="Rectangle 3"/>
          <p:cNvSpPr>
            <a:spLocks noGrp="1" noChangeArrowheads="1"/>
          </p:cNvSpPr>
          <p:nvPr>
            <p:ph idx="1"/>
          </p:nvPr>
        </p:nvSpPr>
        <p:spPr>
          <a:xfrm>
            <a:off x="457200" y="1981200"/>
            <a:ext cx="8229600" cy="4525963"/>
          </a:xfrm>
        </p:spPr>
        <p:txBody>
          <a:bodyPr/>
          <a:lstStyle/>
          <a:p>
            <a:r>
              <a:rPr lang="en-US" sz="2400" dirty="0"/>
              <a:t>Overview –What makes Development Finance Different?</a:t>
            </a:r>
          </a:p>
          <a:p>
            <a:r>
              <a:rPr lang="en-US" sz="2400" dirty="0"/>
              <a:t>3 Unique Features of Development Finance</a:t>
            </a:r>
          </a:p>
          <a:p>
            <a:pPr lvl="1"/>
            <a:r>
              <a:rPr lang="en-US" sz="2000" dirty="0"/>
              <a:t>Time-to-Build</a:t>
            </a:r>
          </a:p>
          <a:p>
            <a:pPr lvl="2"/>
            <a:r>
              <a:rPr lang="en-US" sz="1600" dirty="0"/>
              <a:t>Investment cash flows occur over time; not a single point in time investment</a:t>
            </a:r>
          </a:p>
          <a:p>
            <a:pPr lvl="2"/>
            <a:r>
              <a:rPr lang="en-US" sz="1600" dirty="0"/>
              <a:t>Lag between investment and receipt of cash flows</a:t>
            </a:r>
          </a:p>
          <a:p>
            <a:pPr lvl="1"/>
            <a:r>
              <a:rPr lang="en-US" sz="2000" dirty="0"/>
              <a:t>Construction Loans – almost universal in development projects</a:t>
            </a:r>
          </a:p>
          <a:p>
            <a:pPr lvl="1"/>
            <a:r>
              <a:rPr lang="en-US" sz="2000" dirty="0"/>
              <a:t>Phased Risk Regimes – Risk varies at different stages of process</a:t>
            </a:r>
          </a:p>
          <a:p>
            <a:endParaRPr lang="en-US" sz="2400" dirty="0"/>
          </a:p>
        </p:txBody>
      </p:sp>
      <p:sp>
        <p:nvSpPr>
          <p:cNvPr id="6" name="Slide Number Placeholder 5"/>
          <p:cNvSpPr>
            <a:spLocks noGrp="1"/>
          </p:cNvSpPr>
          <p:nvPr>
            <p:ph type="sldNum" sz="quarter" idx="4294967295"/>
          </p:nvPr>
        </p:nvSpPr>
        <p:spPr>
          <a:xfrm>
            <a:off x="6553200" y="6245225"/>
            <a:ext cx="2133600" cy="476250"/>
          </a:xfrm>
          <a:prstGeom prst="rect">
            <a:avLst/>
          </a:prstGeom>
        </p:spPr>
        <p:txBody>
          <a:bodyPr/>
          <a:lstStyle/>
          <a:p>
            <a:fld id="{3409C8D0-776A-43C4-9479-FEE41C208373}" type="slidenum">
              <a:rPr lang="en-US"/>
              <a:pPr/>
              <a:t>4</a:t>
            </a:fld>
            <a:endParaRPr lang="en-US"/>
          </a:p>
        </p:txBody>
      </p:sp>
      <p:sp>
        <p:nvSpPr>
          <p:cNvPr id="7" name="Footer Placeholder 4"/>
          <p:cNvSpPr>
            <a:spLocks noGrp="1"/>
          </p:cNvSpPr>
          <p:nvPr>
            <p:ph type="ftr" sz="quarter" idx="11"/>
          </p:nvPr>
        </p:nvSpPr>
        <p:spPr>
          <a:xfrm>
            <a:off x="457200" y="6537326"/>
            <a:ext cx="6035040" cy="320674"/>
          </a:xfrm>
        </p:spPr>
        <p:txBody>
          <a:bodyPr/>
          <a:lstStyle/>
          <a:p>
            <a:r>
              <a:rPr lang="en-US" dirty="0"/>
              <a:t>©Joe Walsh, - Do not distribute without explicit permission.</a:t>
            </a:r>
          </a:p>
        </p:txBody>
      </p:sp>
    </p:spTree>
    <p:extLst>
      <p:ext uri="{BB962C8B-B14F-4D97-AF65-F5344CB8AC3E}">
        <p14:creationId xmlns:p14="http://schemas.microsoft.com/office/powerpoint/2010/main" val="2479986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 name="Slide Number Placeholder 5"/>
          <p:cNvSpPr>
            <a:spLocks noGrp="1"/>
          </p:cNvSpPr>
          <p:nvPr>
            <p:ph type="sldNum" sz="quarter" idx="4294967295"/>
          </p:nvPr>
        </p:nvSpPr>
        <p:spPr>
          <a:xfrm>
            <a:off x="6553200" y="6245225"/>
            <a:ext cx="2133600" cy="476250"/>
          </a:xfrm>
          <a:prstGeom prst="rect">
            <a:avLst/>
          </a:prstGeom>
        </p:spPr>
        <p:txBody>
          <a:bodyPr/>
          <a:lstStyle/>
          <a:p>
            <a:fld id="{86850B6A-7AB4-4341-BDDC-17101510A1D4}" type="slidenum">
              <a:rPr lang="en-US"/>
              <a:pPr/>
              <a:t>5</a:t>
            </a:fld>
            <a:endParaRPr lang="en-US"/>
          </a:p>
        </p:txBody>
      </p:sp>
      <p:sp>
        <p:nvSpPr>
          <p:cNvPr id="326658" name="Rectangle 2"/>
          <p:cNvSpPr>
            <a:spLocks noGrp="1" noChangeArrowheads="1"/>
          </p:cNvSpPr>
          <p:nvPr>
            <p:ph type="title"/>
          </p:nvPr>
        </p:nvSpPr>
        <p:spPr>
          <a:xfrm>
            <a:off x="990600" y="-571500"/>
            <a:ext cx="7772400" cy="1143000"/>
          </a:xfrm>
        </p:spPr>
        <p:txBody>
          <a:bodyPr/>
          <a:lstStyle/>
          <a:p>
            <a:r>
              <a:rPr lang="en-US" sz="1200">
                <a:cs typeface="Times New Roman" pitchFamily="18" charset="0"/>
              </a:rPr>
              <a:t>Exhibit 2-2: The “Real Estate System”: Interaction of the Space Market, Asset Market, &amp; Development Industry</a:t>
            </a:r>
            <a:r>
              <a:rPr lang="en-US">
                <a:cs typeface="Times New Roman" pitchFamily="18" charset="0"/>
              </a:rPr>
              <a:t> </a:t>
            </a:r>
          </a:p>
        </p:txBody>
      </p:sp>
      <p:sp>
        <p:nvSpPr>
          <p:cNvPr id="326659" name="Rectangle 3"/>
          <p:cNvSpPr>
            <a:spLocks noChangeArrowheads="1"/>
          </p:cNvSpPr>
          <p:nvPr/>
        </p:nvSpPr>
        <p:spPr bwMode="auto">
          <a:xfrm>
            <a:off x="1357313" y="823913"/>
            <a:ext cx="0" cy="0"/>
          </a:xfrm>
          <a:prstGeom prst="rect">
            <a:avLst/>
          </a:prstGeom>
          <a:noFill/>
          <a:ln w="9525">
            <a:noFill/>
            <a:miter lim="800000"/>
            <a:headEnd/>
            <a:tailEnd/>
          </a:ln>
          <a:effectLst/>
        </p:spPr>
        <p:txBody>
          <a:bodyPr>
            <a:spAutoFit/>
          </a:bodyPr>
          <a:lstStyle/>
          <a:p>
            <a:endParaRPr lang="en-US"/>
          </a:p>
        </p:txBody>
      </p:sp>
      <p:sp>
        <p:nvSpPr>
          <p:cNvPr id="326660" name="Rectangle 4"/>
          <p:cNvSpPr>
            <a:spLocks noChangeArrowheads="1"/>
          </p:cNvSpPr>
          <p:nvPr/>
        </p:nvSpPr>
        <p:spPr bwMode="auto">
          <a:xfrm>
            <a:off x="1293813" y="458788"/>
            <a:ext cx="98425" cy="192087"/>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661" name="Rectangle 5"/>
          <p:cNvSpPr>
            <a:spLocks noChangeArrowheads="1"/>
          </p:cNvSpPr>
          <p:nvPr/>
        </p:nvSpPr>
        <p:spPr bwMode="auto">
          <a:xfrm>
            <a:off x="3017838" y="452438"/>
            <a:ext cx="3065462" cy="2143125"/>
          </a:xfrm>
          <a:prstGeom prst="rect">
            <a:avLst/>
          </a:prstGeom>
          <a:noFill/>
          <a:ln w="12700">
            <a:solidFill>
              <a:srgbClr val="000000"/>
            </a:solidFill>
            <a:miter lim="800000"/>
            <a:headEnd/>
            <a:tailEnd/>
          </a:ln>
        </p:spPr>
        <p:txBody>
          <a:bodyPr/>
          <a:lstStyle/>
          <a:p>
            <a:endParaRPr lang="en-US"/>
          </a:p>
        </p:txBody>
      </p:sp>
      <p:sp>
        <p:nvSpPr>
          <p:cNvPr id="326662" name="Rectangle 6"/>
          <p:cNvSpPr>
            <a:spLocks noChangeArrowheads="1"/>
          </p:cNvSpPr>
          <p:nvPr/>
        </p:nvSpPr>
        <p:spPr bwMode="auto">
          <a:xfrm>
            <a:off x="3925888" y="477838"/>
            <a:ext cx="1379537" cy="214312"/>
          </a:xfrm>
          <a:prstGeom prst="rect">
            <a:avLst/>
          </a:prstGeom>
          <a:noFill/>
          <a:ln w="9525">
            <a:noFill/>
            <a:miter lim="800000"/>
            <a:headEnd/>
            <a:tailEnd/>
          </a:ln>
        </p:spPr>
        <p:txBody>
          <a:bodyPr/>
          <a:lstStyle/>
          <a:p>
            <a:endParaRPr lang="en-US"/>
          </a:p>
        </p:txBody>
      </p:sp>
      <p:sp>
        <p:nvSpPr>
          <p:cNvPr id="326663" name="Rectangle 7"/>
          <p:cNvSpPr>
            <a:spLocks noChangeArrowheads="1"/>
          </p:cNvSpPr>
          <p:nvPr/>
        </p:nvSpPr>
        <p:spPr bwMode="auto">
          <a:xfrm>
            <a:off x="3925888" y="481013"/>
            <a:ext cx="1466850"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SPACE MARKET</a:t>
            </a:r>
            <a:endParaRPr lang="en-US" sz="2400" b="0" i="0">
              <a:effectLst/>
            </a:endParaRPr>
          </a:p>
        </p:txBody>
      </p:sp>
      <p:sp>
        <p:nvSpPr>
          <p:cNvPr id="326664" name="Rectangle 8"/>
          <p:cNvSpPr>
            <a:spLocks noChangeArrowheads="1"/>
          </p:cNvSpPr>
          <p:nvPr/>
        </p:nvSpPr>
        <p:spPr bwMode="auto">
          <a:xfrm>
            <a:off x="5211763" y="495300"/>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665" name="Rectangle 9"/>
          <p:cNvSpPr>
            <a:spLocks noChangeArrowheads="1"/>
          </p:cNvSpPr>
          <p:nvPr/>
        </p:nvSpPr>
        <p:spPr bwMode="auto">
          <a:xfrm>
            <a:off x="3209925" y="809625"/>
            <a:ext cx="960438" cy="628650"/>
          </a:xfrm>
          <a:prstGeom prst="rect">
            <a:avLst/>
          </a:prstGeom>
          <a:noFill/>
          <a:ln w="12700">
            <a:solidFill>
              <a:srgbClr val="000000"/>
            </a:solidFill>
            <a:miter lim="800000"/>
            <a:headEnd/>
            <a:tailEnd/>
          </a:ln>
        </p:spPr>
        <p:txBody>
          <a:bodyPr/>
          <a:lstStyle/>
          <a:p>
            <a:endParaRPr lang="en-US"/>
          </a:p>
        </p:txBody>
      </p:sp>
      <p:sp>
        <p:nvSpPr>
          <p:cNvPr id="326666" name="Rectangle 10"/>
          <p:cNvSpPr>
            <a:spLocks noChangeArrowheads="1"/>
          </p:cNvSpPr>
          <p:nvPr/>
        </p:nvSpPr>
        <p:spPr bwMode="auto">
          <a:xfrm>
            <a:off x="3375025" y="833438"/>
            <a:ext cx="733425" cy="215900"/>
          </a:xfrm>
          <a:prstGeom prst="rect">
            <a:avLst/>
          </a:prstGeom>
          <a:noFill/>
          <a:ln w="9525">
            <a:noFill/>
            <a:miter lim="800000"/>
            <a:headEnd/>
            <a:tailEnd/>
          </a:ln>
        </p:spPr>
        <p:txBody>
          <a:bodyPr/>
          <a:lstStyle/>
          <a:p>
            <a:endParaRPr lang="en-US"/>
          </a:p>
        </p:txBody>
      </p:sp>
      <p:sp>
        <p:nvSpPr>
          <p:cNvPr id="326667" name="Rectangle 11"/>
          <p:cNvSpPr>
            <a:spLocks noChangeArrowheads="1"/>
          </p:cNvSpPr>
          <p:nvPr/>
        </p:nvSpPr>
        <p:spPr bwMode="auto">
          <a:xfrm>
            <a:off x="3373438" y="836613"/>
            <a:ext cx="776287"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SUPPLY</a:t>
            </a:r>
            <a:endParaRPr lang="en-US" sz="2400" b="0" i="0">
              <a:effectLst/>
            </a:endParaRPr>
          </a:p>
        </p:txBody>
      </p:sp>
      <p:sp>
        <p:nvSpPr>
          <p:cNvPr id="326668" name="Rectangle 12"/>
          <p:cNvSpPr>
            <a:spLocks noChangeArrowheads="1"/>
          </p:cNvSpPr>
          <p:nvPr/>
        </p:nvSpPr>
        <p:spPr bwMode="auto">
          <a:xfrm>
            <a:off x="4021138" y="850900"/>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669" name="Rectangle 13"/>
          <p:cNvSpPr>
            <a:spLocks noChangeArrowheads="1"/>
          </p:cNvSpPr>
          <p:nvPr/>
        </p:nvSpPr>
        <p:spPr bwMode="auto">
          <a:xfrm>
            <a:off x="3278188" y="1008063"/>
            <a:ext cx="908050" cy="215900"/>
          </a:xfrm>
          <a:prstGeom prst="rect">
            <a:avLst/>
          </a:prstGeom>
          <a:noFill/>
          <a:ln w="9525">
            <a:noFill/>
            <a:miter lim="800000"/>
            <a:headEnd/>
            <a:tailEnd/>
          </a:ln>
        </p:spPr>
        <p:txBody>
          <a:bodyPr/>
          <a:lstStyle/>
          <a:p>
            <a:endParaRPr lang="en-US"/>
          </a:p>
        </p:txBody>
      </p:sp>
      <p:sp>
        <p:nvSpPr>
          <p:cNvPr id="326670" name="Rectangle 14"/>
          <p:cNvSpPr>
            <a:spLocks noChangeArrowheads="1"/>
          </p:cNvSpPr>
          <p:nvPr/>
        </p:nvSpPr>
        <p:spPr bwMode="auto">
          <a:xfrm>
            <a:off x="3278188" y="1009650"/>
            <a:ext cx="977900"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(Landlords)</a:t>
            </a:r>
            <a:endParaRPr lang="en-US" sz="2400" b="0" i="0">
              <a:effectLst/>
            </a:endParaRPr>
          </a:p>
        </p:txBody>
      </p:sp>
      <p:sp>
        <p:nvSpPr>
          <p:cNvPr id="326671" name="Rectangle 15"/>
          <p:cNvSpPr>
            <a:spLocks noChangeArrowheads="1"/>
          </p:cNvSpPr>
          <p:nvPr/>
        </p:nvSpPr>
        <p:spPr bwMode="auto">
          <a:xfrm>
            <a:off x="4113213" y="1025525"/>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672" name="Rectangle 16"/>
          <p:cNvSpPr>
            <a:spLocks noChangeArrowheads="1"/>
          </p:cNvSpPr>
          <p:nvPr/>
        </p:nvSpPr>
        <p:spPr bwMode="auto">
          <a:xfrm>
            <a:off x="4930775" y="809625"/>
            <a:ext cx="960438" cy="628650"/>
          </a:xfrm>
          <a:prstGeom prst="rect">
            <a:avLst/>
          </a:prstGeom>
          <a:noFill/>
          <a:ln w="12700">
            <a:solidFill>
              <a:srgbClr val="000000"/>
            </a:solidFill>
            <a:miter lim="800000"/>
            <a:headEnd/>
            <a:tailEnd/>
          </a:ln>
        </p:spPr>
        <p:txBody>
          <a:bodyPr/>
          <a:lstStyle/>
          <a:p>
            <a:endParaRPr lang="en-US"/>
          </a:p>
        </p:txBody>
      </p:sp>
      <p:sp>
        <p:nvSpPr>
          <p:cNvPr id="326673" name="Rectangle 17"/>
          <p:cNvSpPr>
            <a:spLocks noChangeArrowheads="1"/>
          </p:cNvSpPr>
          <p:nvPr/>
        </p:nvSpPr>
        <p:spPr bwMode="auto">
          <a:xfrm>
            <a:off x="5064125" y="833438"/>
            <a:ext cx="798513" cy="215900"/>
          </a:xfrm>
          <a:prstGeom prst="rect">
            <a:avLst/>
          </a:prstGeom>
          <a:noFill/>
          <a:ln w="9525">
            <a:noFill/>
            <a:miter lim="800000"/>
            <a:headEnd/>
            <a:tailEnd/>
          </a:ln>
        </p:spPr>
        <p:txBody>
          <a:bodyPr/>
          <a:lstStyle/>
          <a:p>
            <a:endParaRPr lang="en-US"/>
          </a:p>
        </p:txBody>
      </p:sp>
      <p:sp>
        <p:nvSpPr>
          <p:cNvPr id="326674" name="Rectangle 18"/>
          <p:cNvSpPr>
            <a:spLocks noChangeArrowheads="1"/>
          </p:cNvSpPr>
          <p:nvPr/>
        </p:nvSpPr>
        <p:spPr bwMode="auto">
          <a:xfrm>
            <a:off x="5064125" y="836613"/>
            <a:ext cx="842963"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DEMAND</a:t>
            </a:r>
            <a:endParaRPr lang="en-US" sz="2400" b="0" i="0">
              <a:effectLst/>
            </a:endParaRPr>
          </a:p>
        </p:txBody>
      </p:sp>
      <p:sp>
        <p:nvSpPr>
          <p:cNvPr id="326675" name="Rectangle 19"/>
          <p:cNvSpPr>
            <a:spLocks noChangeArrowheads="1"/>
          </p:cNvSpPr>
          <p:nvPr/>
        </p:nvSpPr>
        <p:spPr bwMode="auto">
          <a:xfrm>
            <a:off x="5772150" y="850900"/>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676" name="Rectangle 20"/>
          <p:cNvSpPr>
            <a:spLocks noChangeArrowheads="1"/>
          </p:cNvSpPr>
          <p:nvPr/>
        </p:nvSpPr>
        <p:spPr bwMode="auto">
          <a:xfrm>
            <a:off x="5064125" y="1008063"/>
            <a:ext cx="773113" cy="215900"/>
          </a:xfrm>
          <a:prstGeom prst="rect">
            <a:avLst/>
          </a:prstGeom>
          <a:noFill/>
          <a:ln w="9525">
            <a:noFill/>
            <a:miter lim="800000"/>
            <a:headEnd/>
            <a:tailEnd/>
          </a:ln>
        </p:spPr>
        <p:txBody>
          <a:bodyPr/>
          <a:lstStyle/>
          <a:p>
            <a:endParaRPr lang="en-US"/>
          </a:p>
        </p:txBody>
      </p:sp>
      <p:sp>
        <p:nvSpPr>
          <p:cNvPr id="326677" name="Rectangle 21"/>
          <p:cNvSpPr>
            <a:spLocks noChangeArrowheads="1"/>
          </p:cNvSpPr>
          <p:nvPr/>
        </p:nvSpPr>
        <p:spPr bwMode="auto">
          <a:xfrm>
            <a:off x="5064125" y="1009650"/>
            <a:ext cx="841375"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(Tenants)</a:t>
            </a:r>
            <a:endParaRPr lang="en-US" sz="2400" b="0" i="0">
              <a:effectLst/>
            </a:endParaRPr>
          </a:p>
        </p:txBody>
      </p:sp>
      <p:sp>
        <p:nvSpPr>
          <p:cNvPr id="326678" name="Rectangle 22"/>
          <p:cNvSpPr>
            <a:spLocks noChangeArrowheads="1"/>
          </p:cNvSpPr>
          <p:nvPr/>
        </p:nvSpPr>
        <p:spPr bwMode="auto">
          <a:xfrm>
            <a:off x="5772150" y="1025525"/>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679" name="Rectangle 23"/>
          <p:cNvSpPr>
            <a:spLocks noChangeArrowheads="1"/>
          </p:cNvSpPr>
          <p:nvPr/>
        </p:nvSpPr>
        <p:spPr bwMode="auto">
          <a:xfrm>
            <a:off x="3975100" y="1790700"/>
            <a:ext cx="1247775" cy="715963"/>
          </a:xfrm>
          <a:prstGeom prst="rect">
            <a:avLst/>
          </a:prstGeom>
          <a:noFill/>
          <a:ln w="12700">
            <a:solidFill>
              <a:srgbClr val="000000"/>
            </a:solidFill>
            <a:miter lim="800000"/>
            <a:headEnd/>
            <a:tailEnd/>
          </a:ln>
        </p:spPr>
        <p:txBody>
          <a:bodyPr/>
          <a:lstStyle/>
          <a:p>
            <a:endParaRPr lang="en-US"/>
          </a:p>
        </p:txBody>
      </p:sp>
      <p:sp>
        <p:nvSpPr>
          <p:cNvPr id="326680" name="Rectangle 24"/>
          <p:cNvSpPr>
            <a:spLocks noChangeArrowheads="1"/>
          </p:cNvSpPr>
          <p:nvPr/>
        </p:nvSpPr>
        <p:spPr bwMode="auto">
          <a:xfrm>
            <a:off x="4324350" y="1812925"/>
            <a:ext cx="639763" cy="215900"/>
          </a:xfrm>
          <a:prstGeom prst="rect">
            <a:avLst/>
          </a:prstGeom>
          <a:noFill/>
          <a:ln w="9525">
            <a:noFill/>
            <a:miter lim="800000"/>
            <a:headEnd/>
            <a:tailEnd/>
          </a:ln>
        </p:spPr>
        <p:txBody>
          <a:bodyPr/>
          <a:lstStyle/>
          <a:p>
            <a:endParaRPr lang="en-US"/>
          </a:p>
        </p:txBody>
      </p:sp>
      <p:sp>
        <p:nvSpPr>
          <p:cNvPr id="326681" name="Rectangle 25"/>
          <p:cNvSpPr>
            <a:spLocks noChangeArrowheads="1"/>
          </p:cNvSpPr>
          <p:nvPr/>
        </p:nvSpPr>
        <p:spPr bwMode="auto">
          <a:xfrm>
            <a:off x="4324350" y="1817688"/>
            <a:ext cx="679450"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RENTS</a:t>
            </a:r>
            <a:endParaRPr lang="en-US" sz="2400" b="0" i="0">
              <a:effectLst/>
            </a:endParaRPr>
          </a:p>
        </p:txBody>
      </p:sp>
      <p:sp>
        <p:nvSpPr>
          <p:cNvPr id="326682" name="Rectangle 26"/>
          <p:cNvSpPr>
            <a:spLocks noChangeArrowheads="1"/>
          </p:cNvSpPr>
          <p:nvPr/>
        </p:nvSpPr>
        <p:spPr bwMode="auto">
          <a:xfrm>
            <a:off x="4881563" y="1831975"/>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683" name="Rectangle 27"/>
          <p:cNvSpPr>
            <a:spLocks noChangeArrowheads="1"/>
          </p:cNvSpPr>
          <p:nvPr/>
        </p:nvSpPr>
        <p:spPr bwMode="auto">
          <a:xfrm>
            <a:off x="4540250" y="1987550"/>
            <a:ext cx="187325" cy="215900"/>
          </a:xfrm>
          <a:prstGeom prst="rect">
            <a:avLst/>
          </a:prstGeom>
          <a:noFill/>
          <a:ln w="9525">
            <a:noFill/>
            <a:miter lim="800000"/>
            <a:headEnd/>
            <a:tailEnd/>
          </a:ln>
        </p:spPr>
        <p:txBody>
          <a:bodyPr/>
          <a:lstStyle/>
          <a:p>
            <a:endParaRPr lang="en-US"/>
          </a:p>
        </p:txBody>
      </p:sp>
      <p:sp>
        <p:nvSpPr>
          <p:cNvPr id="326684" name="Rectangle 28"/>
          <p:cNvSpPr>
            <a:spLocks noChangeArrowheads="1"/>
          </p:cNvSpPr>
          <p:nvPr/>
        </p:nvSpPr>
        <p:spPr bwMode="auto">
          <a:xfrm>
            <a:off x="4540250" y="1990725"/>
            <a:ext cx="196850"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&amp;</a:t>
            </a:r>
            <a:endParaRPr lang="en-US" sz="2400" b="0" i="0">
              <a:effectLst/>
            </a:endParaRPr>
          </a:p>
        </p:txBody>
      </p:sp>
      <p:sp>
        <p:nvSpPr>
          <p:cNvPr id="326685" name="Rectangle 29"/>
          <p:cNvSpPr>
            <a:spLocks noChangeArrowheads="1"/>
          </p:cNvSpPr>
          <p:nvPr/>
        </p:nvSpPr>
        <p:spPr bwMode="auto">
          <a:xfrm>
            <a:off x="4649788" y="2005013"/>
            <a:ext cx="98425" cy="192087"/>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686" name="Rectangle 30"/>
          <p:cNvSpPr>
            <a:spLocks noChangeArrowheads="1"/>
          </p:cNvSpPr>
          <p:nvPr/>
        </p:nvSpPr>
        <p:spPr bwMode="auto">
          <a:xfrm>
            <a:off x="4068763" y="2162175"/>
            <a:ext cx="1077912" cy="174625"/>
          </a:xfrm>
          <a:prstGeom prst="rect">
            <a:avLst/>
          </a:prstGeom>
          <a:noFill/>
          <a:ln w="9525">
            <a:noFill/>
            <a:miter lim="800000"/>
            <a:headEnd/>
            <a:tailEnd/>
          </a:ln>
        </p:spPr>
        <p:txBody>
          <a:bodyPr/>
          <a:lstStyle/>
          <a:p>
            <a:endParaRPr lang="en-US"/>
          </a:p>
        </p:txBody>
      </p:sp>
      <p:sp>
        <p:nvSpPr>
          <p:cNvPr id="326687" name="Rectangle 31"/>
          <p:cNvSpPr>
            <a:spLocks noChangeArrowheads="1"/>
          </p:cNvSpPr>
          <p:nvPr/>
        </p:nvSpPr>
        <p:spPr bwMode="auto">
          <a:xfrm>
            <a:off x="4068763" y="2165350"/>
            <a:ext cx="1206500"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OCCUPANCY</a:t>
            </a:r>
            <a:endParaRPr lang="en-US" sz="2400" b="0" i="0">
              <a:effectLst/>
            </a:endParaRPr>
          </a:p>
        </p:txBody>
      </p:sp>
      <p:sp>
        <p:nvSpPr>
          <p:cNvPr id="326688" name="Rectangle 32"/>
          <p:cNvSpPr>
            <a:spLocks noChangeArrowheads="1"/>
          </p:cNvSpPr>
          <p:nvPr/>
        </p:nvSpPr>
        <p:spPr bwMode="auto">
          <a:xfrm>
            <a:off x="5118100" y="2181225"/>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689" name="Rectangle 33"/>
          <p:cNvSpPr>
            <a:spLocks noChangeArrowheads="1"/>
          </p:cNvSpPr>
          <p:nvPr/>
        </p:nvSpPr>
        <p:spPr bwMode="auto">
          <a:xfrm>
            <a:off x="6364288" y="630238"/>
            <a:ext cx="1247775" cy="895350"/>
          </a:xfrm>
          <a:prstGeom prst="rect">
            <a:avLst/>
          </a:prstGeom>
          <a:noFill/>
          <a:ln w="12700">
            <a:solidFill>
              <a:srgbClr val="000000"/>
            </a:solidFill>
            <a:miter lim="800000"/>
            <a:headEnd/>
            <a:tailEnd/>
          </a:ln>
        </p:spPr>
        <p:txBody>
          <a:bodyPr/>
          <a:lstStyle/>
          <a:p>
            <a:endParaRPr lang="en-US"/>
          </a:p>
        </p:txBody>
      </p:sp>
      <p:sp>
        <p:nvSpPr>
          <p:cNvPr id="326690" name="Rectangle 34"/>
          <p:cNvSpPr>
            <a:spLocks noChangeArrowheads="1"/>
          </p:cNvSpPr>
          <p:nvPr/>
        </p:nvSpPr>
        <p:spPr bwMode="auto">
          <a:xfrm>
            <a:off x="6724650" y="654050"/>
            <a:ext cx="619125" cy="215900"/>
          </a:xfrm>
          <a:prstGeom prst="rect">
            <a:avLst/>
          </a:prstGeom>
          <a:noFill/>
          <a:ln w="9525">
            <a:noFill/>
            <a:miter lim="800000"/>
            <a:headEnd/>
            <a:tailEnd/>
          </a:ln>
        </p:spPr>
        <p:txBody>
          <a:bodyPr/>
          <a:lstStyle/>
          <a:p>
            <a:endParaRPr lang="en-US"/>
          </a:p>
        </p:txBody>
      </p:sp>
      <p:sp>
        <p:nvSpPr>
          <p:cNvPr id="326691" name="Rectangle 35"/>
          <p:cNvSpPr>
            <a:spLocks noChangeArrowheads="1"/>
          </p:cNvSpPr>
          <p:nvPr/>
        </p:nvSpPr>
        <p:spPr bwMode="auto">
          <a:xfrm>
            <a:off x="6723063" y="657225"/>
            <a:ext cx="660400"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LOCAL</a:t>
            </a:r>
            <a:endParaRPr lang="en-US" sz="2400" b="0" i="0">
              <a:effectLst/>
            </a:endParaRPr>
          </a:p>
        </p:txBody>
      </p:sp>
      <p:sp>
        <p:nvSpPr>
          <p:cNvPr id="326692" name="Rectangle 36"/>
          <p:cNvSpPr>
            <a:spLocks noChangeArrowheads="1"/>
          </p:cNvSpPr>
          <p:nvPr/>
        </p:nvSpPr>
        <p:spPr bwMode="auto">
          <a:xfrm>
            <a:off x="7262813" y="673100"/>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693" name="Rectangle 37"/>
          <p:cNvSpPr>
            <a:spLocks noChangeArrowheads="1"/>
          </p:cNvSpPr>
          <p:nvPr/>
        </p:nvSpPr>
        <p:spPr bwMode="auto">
          <a:xfrm>
            <a:off x="6931025" y="830263"/>
            <a:ext cx="187325" cy="214312"/>
          </a:xfrm>
          <a:prstGeom prst="rect">
            <a:avLst/>
          </a:prstGeom>
          <a:noFill/>
          <a:ln w="9525">
            <a:noFill/>
            <a:miter lim="800000"/>
            <a:headEnd/>
            <a:tailEnd/>
          </a:ln>
        </p:spPr>
        <p:txBody>
          <a:bodyPr/>
          <a:lstStyle/>
          <a:p>
            <a:endParaRPr lang="en-US"/>
          </a:p>
        </p:txBody>
      </p:sp>
      <p:sp>
        <p:nvSpPr>
          <p:cNvPr id="326694" name="Rectangle 38"/>
          <p:cNvSpPr>
            <a:spLocks noChangeArrowheads="1"/>
          </p:cNvSpPr>
          <p:nvPr/>
        </p:nvSpPr>
        <p:spPr bwMode="auto">
          <a:xfrm>
            <a:off x="6931025" y="833438"/>
            <a:ext cx="196850"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&amp;</a:t>
            </a:r>
            <a:endParaRPr lang="en-US" sz="2400" b="0" i="0">
              <a:effectLst/>
            </a:endParaRPr>
          </a:p>
        </p:txBody>
      </p:sp>
      <p:sp>
        <p:nvSpPr>
          <p:cNvPr id="326695" name="Rectangle 39"/>
          <p:cNvSpPr>
            <a:spLocks noChangeArrowheads="1"/>
          </p:cNvSpPr>
          <p:nvPr/>
        </p:nvSpPr>
        <p:spPr bwMode="auto">
          <a:xfrm>
            <a:off x="7040563" y="847725"/>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696" name="Rectangle 40"/>
          <p:cNvSpPr>
            <a:spLocks noChangeArrowheads="1"/>
          </p:cNvSpPr>
          <p:nvPr/>
        </p:nvSpPr>
        <p:spPr bwMode="auto">
          <a:xfrm>
            <a:off x="6586538" y="1004888"/>
            <a:ext cx="901700" cy="215900"/>
          </a:xfrm>
          <a:prstGeom prst="rect">
            <a:avLst/>
          </a:prstGeom>
          <a:noFill/>
          <a:ln w="9525">
            <a:noFill/>
            <a:miter lim="800000"/>
            <a:headEnd/>
            <a:tailEnd/>
          </a:ln>
        </p:spPr>
        <p:txBody>
          <a:bodyPr/>
          <a:lstStyle/>
          <a:p>
            <a:endParaRPr lang="en-US"/>
          </a:p>
        </p:txBody>
      </p:sp>
      <p:sp>
        <p:nvSpPr>
          <p:cNvPr id="326697" name="Rectangle 41"/>
          <p:cNvSpPr>
            <a:spLocks noChangeArrowheads="1"/>
          </p:cNvSpPr>
          <p:nvPr/>
        </p:nvSpPr>
        <p:spPr bwMode="auto">
          <a:xfrm>
            <a:off x="6586538" y="1008063"/>
            <a:ext cx="966787"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NATIONAL</a:t>
            </a:r>
            <a:endParaRPr lang="en-US" sz="2400" b="0" i="0">
              <a:effectLst/>
            </a:endParaRPr>
          </a:p>
        </p:txBody>
      </p:sp>
      <p:sp>
        <p:nvSpPr>
          <p:cNvPr id="326698" name="Rectangle 42"/>
          <p:cNvSpPr>
            <a:spLocks noChangeArrowheads="1"/>
          </p:cNvSpPr>
          <p:nvPr/>
        </p:nvSpPr>
        <p:spPr bwMode="auto">
          <a:xfrm>
            <a:off x="7412038" y="1023938"/>
            <a:ext cx="98425" cy="192087"/>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699" name="Rectangle 43"/>
          <p:cNvSpPr>
            <a:spLocks noChangeArrowheads="1"/>
          </p:cNvSpPr>
          <p:nvPr/>
        </p:nvSpPr>
        <p:spPr bwMode="auto">
          <a:xfrm>
            <a:off x="6573838" y="1181100"/>
            <a:ext cx="933450" cy="214313"/>
          </a:xfrm>
          <a:prstGeom prst="rect">
            <a:avLst/>
          </a:prstGeom>
          <a:noFill/>
          <a:ln w="9525">
            <a:noFill/>
            <a:miter lim="800000"/>
            <a:headEnd/>
            <a:tailEnd/>
          </a:ln>
        </p:spPr>
        <p:txBody>
          <a:bodyPr/>
          <a:lstStyle/>
          <a:p>
            <a:endParaRPr lang="en-US"/>
          </a:p>
        </p:txBody>
      </p:sp>
      <p:sp>
        <p:nvSpPr>
          <p:cNvPr id="326700" name="Rectangle 44"/>
          <p:cNvSpPr>
            <a:spLocks noChangeArrowheads="1"/>
          </p:cNvSpPr>
          <p:nvPr/>
        </p:nvSpPr>
        <p:spPr bwMode="auto">
          <a:xfrm>
            <a:off x="6573838" y="1184275"/>
            <a:ext cx="990600"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ECONOMY</a:t>
            </a:r>
            <a:endParaRPr lang="en-US" sz="2400" b="0" i="0">
              <a:effectLst/>
            </a:endParaRPr>
          </a:p>
        </p:txBody>
      </p:sp>
      <p:sp>
        <p:nvSpPr>
          <p:cNvPr id="326701" name="Rectangle 45"/>
          <p:cNvSpPr>
            <a:spLocks noChangeArrowheads="1"/>
          </p:cNvSpPr>
          <p:nvPr/>
        </p:nvSpPr>
        <p:spPr bwMode="auto">
          <a:xfrm>
            <a:off x="7423150" y="1198563"/>
            <a:ext cx="98425" cy="192087"/>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grpSp>
        <p:nvGrpSpPr>
          <p:cNvPr id="2" name="Group 46"/>
          <p:cNvGrpSpPr>
            <a:grpSpLocks/>
          </p:cNvGrpSpPr>
          <p:nvPr/>
        </p:nvGrpSpPr>
        <p:grpSpPr bwMode="auto">
          <a:xfrm>
            <a:off x="6646863" y="2141538"/>
            <a:ext cx="1066800" cy="458787"/>
            <a:chOff x="4187" y="1349"/>
            <a:chExt cx="672" cy="289"/>
          </a:xfrm>
        </p:grpSpPr>
        <p:sp>
          <p:nvSpPr>
            <p:cNvPr id="326703" name="Freeform 47"/>
            <p:cNvSpPr>
              <a:spLocks/>
            </p:cNvSpPr>
            <p:nvPr/>
          </p:nvSpPr>
          <p:spPr bwMode="auto">
            <a:xfrm>
              <a:off x="4187" y="1349"/>
              <a:ext cx="7" cy="10"/>
            </a:xfrm>
            <a:custGeom>
              <a:avLst/>
              <a:gdLst/>
              <a:ahLst/>
              <a:cxnLst>
                <a:cxn ang="0">
                  <a:pos x="7" y="3"/>
                </a:cxn>
                <a:cxn ang="0">
                  <a:pos x="3" y="3"/>
                </a:cxn>
                <a:cxn ang="0">
                  <a:pos x="3" y="7"/>
                </a:cxn>
                <a:cxn ang="0">
                  <a:pos x="7" y="7"/>
                </a:cxn>
                <a:cxn ang="0">
                  <a:pos x="7" y="0"/>
                </a:cxn>
                <a:cxn ang="0">
                  <a:pos x="3" y="0"/>
                </a:cxn>
                <a:cxn ang="0">
                  <a:pos x="0" y="0"/>
                </a:cxn>
                <a:cxn ang="0">
                  <a:pos x="0" y="3"/>
                </a:cxn>
                <a:cxn ang="0">
                  <a:pos x="0" y="10"/>
                </a:cxn>
                <a:cxn ang="0">
                  <a:pos x="7" y="10"/>
                </a:cxn>
                <a:cxn ang="0">
                  <a:pos x="7" y="3"/>
                </a:cxn>
              </a:cxnLst>
              <a:rect l="0" t="0" r="r" b="b"/>
              <a:pathLst>
                <a:path w="7" h="10">
                  <a:moveTo>
                    <a:pt x="7" y="3"/>
                  </a:moveTo>
                  <a:lnTo>
                    <a:pt x="3" y="3"/>
                  </a:lnTo>
                  <a:lnTo>
                    <a:pt x="3" y="7"/>
                  </a:lnTo>
                  <a:lnTo>
                    <a:pt x="7" y="7"/>
                  </a:lnTo>
                  <a:lnTo>
                    <a:pt x="7" y="0"/>
                  </a:lnTo>
                  <a:lnTo>
                    <a:pt x="3" y="0"/>
                  </a:lnTo>
                  <a:lnTo>
                    <a:pt x="0" y="0"/>
                  </a:lnTo>
                  <a:lnTo>
                    <a:pt x="0" y="3"/>
                  </a:lnTo>
                  <a:lnTo>
                    <a:pt x="0" y="10"/>
                  </a:lnTo>
                  <a:lnTo>
                    <a:pt x="7" y="10"/>
                  </a:lnTo>
                  <a:lnTo>
                    <a:pt x="7" y="3"/>
                  </a:lnTo>
                  <a:close/>
                </a:path>
              </a:pathLst>
            </a:custGeom>
            <a:solidFill>
              <a:srgbClr val="000000"/>
            </a:solidFill>
            <a:ln w="9525">
              <a:noFill/>
              <a:round/>
              <a:headEnd/>
              <a:tailEnd/>
            </a:ln>
          </p:spPr>
          <p:txBody>
            <a:bodyPr/>
            <a:lstStyle/>
            <a:p>
              <a:endParaRPr lang="en-US"/>
            </a:p>
          </p:txBody>
        </p:sp>
        <p:sp>
          <p:nvSpPr>
            <p:cNvPr id="326704" name="Rectangle 48"/>
            <p:cNvSpPr>
              <a:spLocks noChangeArrowheads="1"/>
            </p:cNvSpPr>
            <p:nvPr/>
          </p:nvSpPr>
          <p:spPr bwMode="auto">
            <a:xfrm>
              <a:off x="4187" y="1367"/>
              <a:ext cx="7" cy="7"/>
            </a:xfrm>
            <a:prstGeom prst="rect">
              <a:avLst/>
            </a:prstGeom>
            <a:solidFill>
              <a:srgbClr val="000000"/>
            </a:solidFill>
            <a:ln w="9525">
              <a:noFill/>
              <a:miter lim="800000"/>
              <a:headEnd/>
              <a:tailEnd/>
            </a:ln>
          </p:spPr>
          <p:txBody>
            <a:bodyPr/>
            <a:lstStyle/>
            <a:p>
              <a:endParaRPr lang="en-US"/>
            </a:p>
          </p:txBody>
        </p:sp>
        <p:sp>
          <p:nvSpPr>
            <p:cNvPr id="326705" name="Rectangle 49"/>
            <p:cNvSpPr>
              <a:spLocks noChangeArrowheads="1"/>
            </p:cNvSpPr>
            <p:nvPr/>
          </p:nvSpPr>
          <p:spPr bwMode="auto">
            <a:xfrm>
              <a:off x="4187" y="1381"/>
              <a:ext cx="7" cy="8"/>
            </a:xfrm>
            <a:prstGeom prst="rect">
              <a:avLst/>
            </a:prstGeom>
            <a:solidFill>
              <a:srgbClr val="000000"/>
            </a:solidFill>
            <a:ln w="9525">
              <a:noFill/>
              <a:miter lim="800000"/>
              <a:headEnd/>
              <a:tailEnd/>
            </a:ln>
          </p:spPr>
          <p:txBody>
            <a:bodyPr/>
            <a:lstStyle/>
            <a:p>
              <a:endParaRPr lang="en-US"/>
            </a:p>
          </p:txBody>
        </p:sp>
        <p:sp>
          <p:nvSpPr>
            <p:cNvPr id="326706" name="Rectangle 50"/>
            <p:cNvSpPr>
              <a:spLocks noChangeArrowheads="1"/>
            </p:cNvSpPr>
            <p:nvPr/>
          </p:nvSpPr>
          <p:spPr bwMode="auto">
            <a:xfrm>
              <a:off x="4187" y="1396"/>
              <a:ext cx="7" cy="7"/>
            </a:xfrm>
            <a:prstGeom prst="rect">
              <a:avLst/>
            </a:prstGeom>
            <a:solidFill>
              <a:srgbClr val="000000"/>
            </a:solidFill>
            <a:ln w="9525">
              <a:noFill/>
              <a:miter lim="800000"/>
              <a:headEnd/>
              <a:tailEnd/>
            </a:ln>
          </p:spPr>
          <p:txBody>
            <a:bodyPr/>
            <a:lstStyle/>
            <a:p>
              <a:endParaRPr lang="en-US"/>
            </a:p>
          </p:txBody>
        </p:sp>
        <p:sp>
          <p:nvSpPr>
            <p:cNvPr id="326707" name="Rectangle 51"/>
            <p:cNvSpPr>
              <a:spLocks noChangeArrowheads="1"/>
            </p:cNvSpPr>
            <p:nvPr/>
          </p:nvSpPr>
          <p:spPr bwMode="auto">
            <a:xfrm>
              <a:off x="4187" y="1411"/>
              <a:ext cx="7" cy="7"/>
            </a:xfrm>
            <a:prstGeom prst="rect">
              <a:avLst/>
            </a:prstGeom>
            <a:solidFill>
              <a:srgbClr val="000000"/>
            </a:solidFill>
            <a:ln w="9525">
              <a:noFill/>
              <a:miter lim="800000"/>
              <a:headEnd/>
              <a:tailEnd/>
            </a:ln>
          </p:spPr>
          <p:txBody>
            <a:bodyPr/>
            <a:lstStyle/>
            <a:p>
              <a:endParaRPr lang="en-US"/>
            </a:p>
          </p:txBody>
        </p:sp>
        <p:sp>
          <p:nvSpPr>
            <p:cNvPr id="326708" name="Rectangle 52"/>
            <p:cNvSpPr>
              <a:spLocks noChangeArrowheads="1"/>
            </p:cNvSpPr>
            <p:nvPr/>
          </p:nvSpPr>
          <p:spPr bwMode="auto">
            <a:xfrm>
              <a:off x="4187" y="1425"/>
              <a:ext cx="7" cy="8"/>
            </a:xfrm>
            <a:prstGeom prst="rect">
              <a:avLst/>
            </a:prstGeom>
            <a:solidFill>
              <a:srgbClr val="000000"/>
            </a:solidFill>
            <a:ln w="9525">
              <a:noFill/>
              <a:miter lim="800000"/>
              <a:headEnd/>
              <a:tailEnd/>
            </a:ln>
          </p:spPr>
          <p:txBody>
            <a:bodyPr/>
            <a:lstStyle/>
            <a:p>
              <a:endParaRPr lang="en-US"/>
            </a:p>
          </p:txBody>
        </p:sp>
        <p:sp>
          <p:nvSpPr>
            <p:cNvPr id="326709" name="Rectangle 53"/>
            <p:cNvSpPr>
              <a:spLocks noChangeArrowheads="1"/>
            </p:cNvSpPr>
            <p:nvPr/>
          </p:nvSpPr>
          <p:spPr bwMode="auto">
            <a:xfrm>
              <a:off x="4187" y="1440"/>
              <a:ext cx="7" cy="8"/>
            </a:xfrm>
            <a:prstGeom prst="rect">
              <a:avLst/>
            </a:prstGeom>
            <a:solidFill>
              <a:srgbClr val="000000"/>
            </a:solidFill>
            <a:ln w="9525">
              <a:noFill/>
              <a:miter lim="800000"/>
              <a:headEnd/>
              <a:tailEnd/>
            </a:ln>
          </p:spPr>
          <p:txBody>
            <a:bodyPr/>
            <a:lstStyle/>
            <a:p>
              <a:endParaRPr lang="en-US"/>
            </a:p>
          </p:txBody>
        </p:sp>
        <p:sp>
          <p:nvSpPr>
            <p:cNvPr id="326710" name="Rectangle 54"/>
            <p:cNvSpPr>
              <a:spLocks noChangeArrowheads="1"/>
            </p:cNvSpPr>
            <p:nvPr/>
          </p:nvSpPr>
          <p:spPr bwMode="auto">
            <a:xfrm>
              <a:off x="4187" y="1455"/>
              <a:ext cx="7" cy="7"/>
            </a:xfrm>
            <a:prstGeom prst="rect">
              <a:avLst/>
            </a:prstGeom>
            <a:solidFill>
              <a:srgbClr val="000000"/>
            </a:solidFill>
            <a:ln w="9525">
              <a:noFill/>
              <a:miter lim="800000"/>
              <a:headEnd/>
              <a:tailEnd/>
            </a:ln>
          </p:spPr>
          <p:txBody>
            <a:bodyPr/>
            <a:lstStyle/>
            <a:p>
              <a:endParaRPr lang="en-US"/>
            </a:p>
          </p:txBody>
        </p:sp>
        <p:sp>
          <p:nvSpPr>
            <p:cNvPr id="326711" name="Rectangle 55"/>
            <p:cNvSpPr>
              <a:spLocks noChangeArrowheads="1"/>
            </p:cNvSpPr>
            <p:nvPr/>
          </p:nvSpPr>
          <p:spPr bwMode="auto">
            <a:xfrm>
              <a:off x="4187" y="1470"/>
              <a:ext cx="7" cy="7"/>
            </a:xfrm>
            <a:prstGeom prst="rect">
              <a:avLst/>
            </a:prstGeom>
            <a:solidFill>
              <a:srgbClr val="000000"/>
            </a:solidFill>
            <a:ln w="9525">
              <a:noFill/>
              <a:miter lim="800000"/>
              <a:headEnd/>
              <a:tailEnd/>
            </a:ln>
          </p:spPr>
          <p:txBody>
            <a:bodyPr/>
            <a:lstStyle/>
            <a:p>
              <a:endParaRPr lang="en-US"/>
            </a:p>
          </p:txBody>
        </p:sp>
        <p:sp>
          <p:nvSpPr>
            <p:cNvPr id="326712" name="Rectangle 56"/>
            <p:cNvSpPr>
              <a:spLocks noChangeArrowheads="1"/>
            </p:cNvSpPr>
            <p:nvPr/>
          </p:nvSpPr>
          <p:spPr bwMode="auto">
            <a:xfrm>
              <a:off x="4187" y="1484"/>
              <a:ext cx="7" cy="8"/>
            </a:xfrm>
            <a:prstGeom prst="rect">
              <a:avLst/>
            </a:prstGeom>
            <a:solidFill>
              <a:srgbClr val="000000"/>
            </a:solidFill>
            <a:ln w="9525">
              <a:noFill/>
              <a:miter lim="800000"/>
              <a:headEnd/>
              <a:tailEnd/>
            </a:ln>
          </p:spPr>
          <p:txBody>
            <a:bodyPr/>
            <a:lstStyle/>
            <a:p>
              <a:endParaRPr lang="en-US"/>
            </a:p>
          </p:txBody>
        </p:sp>
        <p:sp>
          <p:nvSpPr>
            <p:cNvPr id="326713" name="Rectangle 57"/>
            <p:cNvSpPr>
              <a:spLocks noChangeArrowheads="1"/>
            </p:cNvSpPr>
            <p:nvPr/>
          </p:nvSpPr>
          <p:spPr bwMode="auto">
            <a:xfrm>
              <a:off x="4187" y="1499"/>
              <a:ext cx="7" cy="8"/>
            </a:xfrm>
            <a:prstGeom prst="rect">
              <a:avLst/>
            </a:prstGeom>
            <a:solidFill>
              <a:srgbClr val="000000"/>
            </a:solidFill>
            <a:ln w="9525">
              <a:noFill/>
              <a:miter lim="800000"/>
              <a:headEnd/>
              <a:tailEnd/>
            </a:ln>
          </p:spPr>
          <p:txBody>
            <a:bodyPr/>
            <a:lstStyle/>
            <a:p>
              <a:endParaRPr lang="en-US"/>
            </a:p>
          </p:txBody>
        </p:sp>
        <p:sp>
          <p:nvSpPr>
            <p:cNvPr id="326714" name="Rectangle 58"/>
            <p:cNvSpPr>
              <a:spLocks noChangeArrowheads="1"/>
            </p:cNvSpPr>
            <p:nvPr/>
          </p:nvSpPr>
          <p:spPr bwMode="auto">
            <a:xfrm>
              <a:off x="4187" y="1514"/>
              <a:ext cx="7" cy="7"/>
            </a:xfrm>
            <a:prstGeom prst="rect">
              <a:avLst/>
            </a:prstGeom>
            <a:solidFill>
              <a:srgbClr val="000000"/>
            </a:solidFill>
            <a:ln w="9525">
              <a:noFill/>
              <a:miter lim="800000"/>
              <a:headEnd/>
              <a:tailEnd/>
            </a:ln>
          </p:spPr>
          <p:txBody>
            <a:bodyPr/>
            <a:lstStyle/>
            <a:p>
              <a:endParaRPr lang="en-US"/>
            </a:p>
          </p:txBody>
        </p:sp>
        <p:sp>
          <p:nvSpPr>
            <p:cNvPr id="326715" name="Rectangle 59"/>
            <p:cNvSpPr>
              <a:spLocks noChangeArrowheads="1"/>
            </p:cNvSpPr>
            <p:nvPr/>
          </p:nvSpPr>
          <p:spPr bwMode="auto">
            <a:xfrm>
              <a:off x="4187" y="1529"/>
              <a:ext cx="7" cy="7"/>
            </a:xfrm>
            <a:prstGeom prst="rect">
              <a:avLst/>
            </a:prstGeom>
            <a:solidFill>
              <a:srgbClr val="000000"/>
            </a:solidFill>
            <a:ln w="9525">
              <a:noFill/>
              <a:miter lim="800000"/>
              <a:headEnd/>
              <a:tailEnd/>
            </a:ln>
          </p:spPr>
          <p:txBody>
            <a:bodyPr/>
            <a:lstStyle/>
            <a:p>
              <a:endParaRPr lang="en-US"/>
            </a:p>
          </p:txBody>
        </p:sp>
        <p:sp>
          <p:nvSpPr>
            <p:cNvPr id="326716" name="Rectangle 60"/>
            <p:cNvSpPr>
              <a:spLocks noChangeArrowheads="1"/>
            </p:cNvSpPr>
            <p:nvPr/>
          </p:nvSpPr>
          <p:spPr bwMode="auto">
            <a:xfrm>
              <a:off x="4187" y="1543"/>
              <a:ext cx="7" cy="8"/>
            </a:xfrm>
            <a:prstGeom prst="rect">
              <a:avLst/>
            </a:prstGeom>
            <a:solidFill>
              <a:srgbClr val="000000"/>
            </a:solidFill>
            <a:ln w="9525">
              <a:noFill/>
              <a:miter lim="800000"/>
              <a:headEnd/>
              <a:tailEnd/>
            </a:ln>
          </p:spPr>
          <p:txBody>
            <a:bodyPr/>
            <a:lstStyle/>
            <a:p>
              <a:endParaRPr lang="en-US"/>
            </a:p>
          </p:txBody>
        </p:sp>
        <p:sp>
          <p:nvSpPr>
            <p:cNvPr id="326717" name="Rectangle 61"/>
            <p:cNvSpPr>
              <a:spLocks noChangeArrowheads="1"/>
            </p:cNvSpPr>
            <p:nvPr/>
          </p:nvSpPr>
          <p:spPr bwMode="auto">
            <a:xfrm>
              <a:off x="4187" y="1558"/>
              <a:ext cx="7" cy="7"/>
            </a:xfrm>
            <a:prstGeom prst="rect">
              <a:avLst/>
            </a:prstGeom>
            <a:solidFill>
              <a:srgbClr val="000000"/>
            </a:solidFill>
            <a:ln w="9525">
              <a:noFill/>
              <a:miter lim="800000"/>
              <a:headEnd/>
              <a:tailEnd/>
            </a:ln>
          </p:spPr>
          <p:txBody>
            <a:bodyPr/>
            <a:lstStyle/>
            <a:p>
              <a:endParaRPr lang="en-US"/>
            </a:p>
          </p:txBody>
        </p:sp>
        <p:sp>
          <p:nvSpPr>
            <p:cNvPr id="326718" name="Rectangle 62"/>
            <p:cNvSpPr>
              <a:spLocks noChangeArrowheads="1"/>
            </p:cNvSpPr>
            <p:nvPr/>
          </p:nvSpPr>
          <p:spPr bwMode="auto">
            <a:xfrm>
              <a:off x="4187" y="1573"/>
              <a:ext cx="7" cy="7"/>
            </a:xfrm>
            <a:prstGeom prst="rect">
              <a:avLst/>
            </a:prstGeom>
            <a:solidFill>
              <a:srgbClr val="000000"/>
            </a:solidFill>
            <a:ln w="9525">
              <a:noFill/>
              <a:miter lim="800000"/>
              <a:headEnd/>
              <a:tailEnd/>
            </a:ln>
          </p:spPr>
          <p:txBody>
            <a:bodyPr/>
            <a:lstStyle/>
            <a:p>
              <a:endParaRPr lang="en-US"/>
            </a:p>
          </p:txBody>
        </p:sp>
        <p:sp>
          <p:nvSpPr>
            <p:cNvPr id="326719" name="Rectangle 63"/>
            <p:cNvSpPr>
              <a:spLocks noChangeArrowheads="1"/>
            </p:cNvSpPr>
            <p:nvPr/>
          </p:nvSpPr>
          <p:spPr bwMode="auto">
            <a:xfrm>
              <a:off x="4187" y="1588"/>
              <a:ext cx="7" cy="7"/>
            </a:xfrm>
            <a:prstGeom prst="rect">
              <a:avLst/>
            </a:prstGeom>
            <a:solidFill>
              <a:srgbClr val="000000"/>
            </a:solidFill>
            <a:ln w="9525">
              <a:noFill/>
              <a:miter lim="800000"/>
              <a:headEnd/>
              <a:tailEnd/>
            </a:ln>
          </p:spPr>
          <p:txBody>
            <a:bodyPr/>
            <a:lstStyle/>
            <a:p>
              <a:endParaRPr lang="en-US"/>
            </a:p>
          </p:txBody>
        </p:sp>
        <p:sp>
          <p:nvSpPr>
            <p:cNvPr id="326720" name="Rectangle 64"/>
            <p:cNvSpPr>
              <a:spLocks noChangeArrowheads="1"/>
            </p:cNvSpPr>
            <p:nvPr/>
          </p:nvSpPr>
          <p:spPr bwMode="auto">
            <a:xfrm>
              <a:off x="4187" y="1602"/>
              <a:ext cx="7" cy="8"/>
            </a:xfrm>
            <a:prstGeom prst="rect">
              <a:avLst/>
            </a:prstGeom>
            <a:solidFill>
              <a:srgbClr val="000000"/>
            </a:solidFill>
            <a:ln w="9525">
              <a:noFill/>
              <a:miter lim="800000"/>
              <a:headEnd/>
              <a:tailEnd/>
            </a:ln>
          </p:spPr>
          <p:txBody>
            <a:bodyPr/>
            <a:lstStyle/>
            <a:p>
              <a:endParaRPr lang="en-US"/>
            </a:p>
          </p:txBody>
        </p:sp>
        <p:sp>
          <p:nvSpPr>
            <p:cNvPr id="326721" name="Rectangle 65"/>
            <p:cNvSpPr>
              <a:spLocks noChangeArrowheads="1"/>
            </p:cNvSpPr>
            <p:nvPr/>
          </p:nvSpPr>
          <p:spPr bwMode="auto">
            <a:xfrm>
              <a:off x="4187" y="1617"/>
              <a:ext cx="7" cy="7"/>
            </a:xfrm>
            <a:prstGeom prst="rect">
              <a:avLst/>
            </a:prstGeom>
            <a:solidFill>
              <a:srgbClr val="000000"/>
            </a:solidFill>
            <a:ln w="9525">
              <a:noFill/>
              <a:miter lim="800000"/>
              <a:headEnd/>
              <a:tailEnd/>
            </a:ln>
          </p:spPr>
          <p:txBody>
            <a:bodyPr/>
            <a:lstStyle/>
            <a:p>
              <a:endParaRPr lang="en-US"/>
            </a:p>
          </p:txBody>
        </p:sp>
        <p:sp>
          <p:nvSpPr>
            <p:cNvPr id="326722" name="Freeform 66"/>
            <p:cNvSpPr>
              <a:spLocks/>
            </p:cNvSpPr>
            <p:nvPr/>
          </p:nvSpPr>
          <p:spPr bwMode="auto">
            <a:xfrm>
              <a:off x="4187" y="1631"/>
              <a:ext cx="9" cy="7"/>
            </a:xfrm>
            <a:custGeom>
              <a:avLst/>
              <a:gdLst/>
              <a:ahLst/>
              <a:cxnLst>
                <a:cxn ang="0">
                  <a:pos x="7" y="1"/>
                </a:cxn>
                <a:cxn ang="0">
                  <a:pos x="0" y="1"/>
                </a:cxn>
                <a:cxn ang="0">
                  <a:pos x="0" y="3"/>
                </a:cxn>
                <a:cxn ang="0">
                  <a:pos x="0" y="6"/>
                </a:cxn>
                <a:cxn ang="0">
                  <a:pos x="3" y="7"/>
                </a:cxn>
                <a:cxn ang="0">
                  <a:pos x="9" y="7"/>
                </a:cxn>
                <a:cxn ang="0">
                  <a:pos x="9" y="0"/>
                </a:cxn>
                <a:cxn ang="0">
                  <a:pos x="3" y="0"/>
                </a:cxn>
                <a:cxn ang="0">
                  <a:pos x="3" y="3"/>
                </a:cxn>
                <a:cxn ang="0">
                  <a:pos x="7" y="3"/>
                </a:cxn>
                <a:cxn ang="0">
                  <a:pos x="7" y="1"/>
                </a:cxn>
              </a:cxnLst>
              <a:rect l="0" t="0" r="r" b="b"/>
              <a:pathLst>
                <a:path w="9" h="7">
                  <a:moveTo>
                    <a:pt x="7" y="1"/>
                  </a:moveTo>
                  <a:lnTo>
                    <a:pt x="0" y="1"/>
                  </a:lnTo>
                  <a:lnTo>
                    <a:pt x="0" y="3"/>
                  </a:lnTo>
                  <a:lnTo>
                    <a:pt x="0" y="6"/>
                  </a:lnTo>
                  <a:lnTo>
                    <a:pt x="3" y="7"/>
                  </a:lnTo>
                  <a:lnTo>
                    <a:pt x="9" y="7"/>
                  </a:lnTo>
                  <a:lnTo>
                    <a:pt x="9" y="0"/>
                  </a:lnTo>
                  <a:lnTo>
                    <a:pt x="3" y="0"/>
                  </a:lnTo>
                  <a:lnTo>
                    <a:pt x="3" y="3"/>
                  </a:lnTo>
                  <a:lnTo>
                    <a:pt x="7" y="3"/>
                  </a:lnTo>
                  <a:lnTo>
                    <a:pt x="7" y="1"/>
                  </a:lnTo>
                  <a:close/>
                </a:path>
              </a:pathLst>
            </a:custGeom>
            <a:solidFill>
              <a:srgbClr val="000000"/>
            </a:solidFill>
            <a:ln w="9525">
              <a:noFill/>
              <a:round/>
              <a:headEnd/>
              <a:tailEnd/>
            </a:ln>
          </p:spPr>
          <p:txBody>
            <a:bodyPr/>
            <a:lstStyle/>
            <a:p>
              <a:endParaRPr lang="en-US"/>
            </a:p>
          </p:txBody>
        </p:sp>
        <p:sp>
          <p:nvSpPr>
            <p:cNvPr id="326723" name="Rectangle 67"/>
            <p:cNvSpPr>
              <a:spLocks noChangeArrowheads="1"/>
            </p:cNvSpPr>
            <p:nvPr/>
          </p:nvSpPr>
          <p:spPr bwMode="auto">
            <a:xfrm>
              <a:off x="4204" y="1631"/>
              <a:ext cx="7" cy="7"/>
            </a:xfrm>
            <a:prstGeom prst="rect">
              <a:avLst/>
            </a:prstGeom>
            <a:solidFill>
              <a:srgbClr val="000000"/>
            </a:solidFill>
            <a:ln w="9525">
              <a:noFill/>
              <a:miter lim="800000"/>
              <a:headEnd/>
              <a:tailEnd/>
            </a:ln>
          </p:spPr>
          <p:txBody>
            <a:bodyPr/>
            <a:lstStyle/>
            <a:p>
              <a:endParaRPr lang="en-US"/>
            </a:p>
          </p:txBody>
        </p:sp>
        <p:sp>
          <p:nvSpPr>
            <p:cNvPr id="326724" name="Rectangle 68"/>
            <p:cNvSpPr>
              <a:spLocks noChangeArrowheads="1"/>
            </p:cNvSpPr>
            <p:nvPr/>
          </p:nvSpPr>
          <p:spPr bwMode="auto">
            <a:xfrm>
              <a:off x="4219" y="1631"/>
              <a:ext cx="8" cy="7"/>
            </a:xfrm>
            <a:prstGeom prst="rect">
              <a:avLst/>
            </a:prstGeom>
            <a:solidFill>
              <a:srgbClr val="000000"/>
            </a:solidFill>
            <a:ln w="9525">
              <a:noFill/>
              <a:miter lim="800000"/>
              <a:headEnd/>
              <a:tailEnd/>
            </a:ln>
          </p:spPr>
          <p:txBody>
            <a:bodyPr/>
            <a:lstStyle/>
            <a:p>
              <a:endParaRPr lang="en-US"/>
            </a:p>
          </p:txBody>
        </p:sp>
        <p:sp>
          <p:nvSpPr>
            <p:cNvPr id="326725" name="Rectangle 69"/>
            <p:cNvSpPr>
              <a:spLocks noChangeArrowheads="1"/>
            </p:cNvSpPr>
            <p:nvPr/>
          </p:nvSpPr>
          <p:spPr bwMode="auto">
            <a:xfrm>
              <a:off x="4235" y="1631"/>
              <a:ext cx="8" cy="7"/>
            </a:xfrm>
            <a:prstGeom prst="rect">
              <a:avLst/>
            </a:prstGeom>
            <a:solidFill>
              <a:srgbClr val="000000"/>
            </a:solidFill>
            <a:ln w="9525">
              <a:noFill/>
              <a:miter lim="800000"/>
              <a:headEnd/>
              <a:tailEnd/>
            </a:ln>
          </p:spPr>
          <p:txBody>
            <a:bodyPr/>
            <a:lstStyle/>
            <a:p>
              <a:endParaRPr lang="en-US"/>
            </a:p>
          </p:txBody>
        </p:sp>
        <p:sp>
          <p:nvSpPr>
            <p:cNvPr id="326726" name="Rectangle 70"/>
            <p:cNvSpPr>
              <a:spLocks noChangeArrowheads="1"/>
            </p:cNvSpPr>
            <p:nvPr/>
          </p:nvSpPr>
          <p:spPr bwMode="auto">
            <a:xfrm>
              <a:off x="4251" y="1631"/>
              <a:ext cx="8" cy="7"/>
            </a:xfrm>
            <a:prstGeom prst="rect">
              <a:avLst/>
            </a:prstGeom>
            <a:solidFill>
              <a:srgbClr val="000000"/>
            </a:solidFill>
            <a:ln w="9525">
              <a:noFill/>
              <a:miter lim="800000"/>
              <a:headEnd/>
              <a:tailEnd/>
            </a:ln>
          </p:spPr>
          <p:txBody>
            <a:bodyPr/>
            <a:lstStyle/>
            <a:p>
              <a:endParaRPr lang="en-US"/>
            </a:p>
          </p:txBody>
        </p:sp>
        <p:sp>
          <p:nvSpPr>
            <p:cNvPr id="326727" name="Rectangle 71"/>
            <p:cNvSpPr>
              <a:spLocks noChangeArrowheads="1"/>
            </p:cNvSpPr>
            <p:nvPr/>
          </p:nvSpPr>
          <p:spPr bwMode="auto">
            <a:xfrm>
              <a:off x="4267" y="1631"/>
              <a:ext cx="8" cy="7"/>
            </a:xfrm>
            <a:prstGeom prst="rect">
              <a:avLst/>
            </a:prstGeom>
            <a:solidFill>
              <a:srgbClr val="000000"/>
            </a:solidFill>
            <a:ln w="9525">
              <a:noFill/>
              <a:miter lim="800000"/>
              <a:headEnd/>
              <a:tailEnd/>
            </a:ln>
          </p:spPr>
          <p:txBody>
            <a:bodyPr/>
            <a:lstStyle/>
            <a:p>
              <a:endParaRPr lang="en-US"/>
            </a:p>
          </p:txBody>
        </p:sp>
        <p:sp>
          <p:nvSpPr>
            <p:cNvPr id="326728" name="Rectangle 72"/>
            <p:cNvSpPr>
              <a:spLocks noChangeArrowheads="1"/>
            </p:cNvSpPr>
            <p:nvPr/>
          </p:nvSpPr>
          <p:spPr bwMode="auto">
            <a:xfrm>
              <a:off x="4283" y="1631"/>
              <a:ext cx="7" cy="7"/>
            </a:xfrm>
            <a:prstGeom prst="rect">
              <a:avLst/>
            </a:prstGeom>
            <a:solidFill>
              <a:srgbClr val="000000"/>
            </a:solidFill>
            <a:ln w="9525">
              <a:noFill/>
              <a:miter lim="800000"/>
              <a:headEnd/>
              <a:tailEnd/>
            </a:ln>
          </p:spPr>
          <p:txBody>
            <a:bodyPr/>
            <a:lstStyle/>
            <a:p>
              <a:endParaRPr lang="en-US"/>
            </a:p>
          </p:txBody>
        </p:sp>
        <p:sp>
          <p:nvSpPr>
            <p:cNvPr id="326729" name="Rectangle 73"/>
            <p:cNvSpPr>
              <a:spLocks noChangeArrowheads="1"/>
            </p:cNvSpPr>
            <p:nvPr/>
          </p:nvSpPr>
          <p:spPr bwMode="auto">
            <a:xfrm>
              <a:off x="4298" y="1631"/>
              <a:ext cx="8" cy="7"/>
            </a:xfrm>
            <a:prstGeom prst="rect">
              <a:avLst/>
            </a:prstGeom>
            <a:solidFill>
              <a:srgbClr val="000000"/>
            </a:solidFill>
            <a:ln w="9525">
              <a:noFill/>
              <a:miter lim="800000"/>
              <a:headEnd/>
              <a:tailEnd/>
            </a:ln>
          </p:spPr>
          <p:txBody>
            <a:bodyPr/>
            <a:lstStyle/>
            <a:p>
              <a:endParaRPr lang="en-US"/>
            </a:p>
          </p:txBody>
        </p:sp>
        <p:sp>
          <p:nvSpPr>
            <p:cNvPr id="326730" name="Rectangle 74"/>
            <p:cNvSpPr>
              <a:spLocks noChangeArrowheads="1"/>
            </p:cNvSpPr>
            <p:nvPr/>
          </p:nvSpPr>
          <p:spPr bwMode="auto">
            <a:xfrm>
              <a:off x="4314" y="1631"/>
              <a:ext cx="8" cy="7"/>
            </a:xfrm>
            <a:prstGeom prst="rect">
              <a:avLst/>
            </a:prstGeom>
            <a:solidFill>
              <a:srgbClr val="000000"/>
            </a:solidFill>
            <a:ln w="9525">
              <a:noFill/>
              <a:miter lim="800000"/>
              <a:headEnd/>
              <a:tailEnd/>
            </a:ln>
          </p:spPr>
          <p:txBody>
            <a:bodyPr/>
            <a:lstStyle/>
            <a:p>
              <a:endParaRPr lang="en-US"/>
            </a:p>
          </p:txBody>
        </p:sp>
        <p:sp>
          <p:nvSpPr>
            <p:cNvPr id="326731" name="Rectangle 75"/>
            <p:cNvSpPr>
              <a:spLocks noChangeArrowheads="1"/>
            </p:cNvSpPr>
            <p:nvPr/>
          </p:nvSpPr>
          <p:spPr bwMode="auto">
            <a:xfrm>
              <a:off x="4330" y="1631"/>
              <a:ext cx="8" cy="7"/>
            </a:xfrm>
            <a:prstGeom prst="rect">
              <a:avLst/>
            </a:prstGeom>
            <a:solidFill>
              <a:srgbClr val="000000"/>
            </a:solidFill>
            <a:ln w="9525">
              <a:noFill/>
              <a:miter lim="800000"/>
              <a:headEnd/>
              <a:tailEnd/>
            </a:ln>
          </p:spPr>
          <p:txBody>
            <a:bodyPr/>
            <a:lstStyle/>
            <a:p>
              <a:endParaRPr lang="en-US"/>
            </a:p>
          </p:txBody>
        </p:sp>
        <p:sp>
          <p:nvSpPr>
            <p:cNvPr id="326732" name="Rectangle 76"/>
            <p:cNvSpPr>
              <a:spLocks noChangeArrowheads="1"/>
            </p:cNvSpPr>
            <p:nvPr/>
          </p:nvSpPr>
          <p:spPr bwMode="auto">
            <a:xfrm>
              <a:off x="4346" y="1631"/>
              <a:ext cx="8" cy="7"/>
            </a:xfrm>
            <a:prstGeom prst="rect">
              <a:avLst/>
            </a:prstGeom>
            <a:solidFill>
              <a:srgbClr val="000000"/>
            </a:solidFill>
            <a:ln w="9525">
              <a:noFill/>
              <a:miter lim="800000"/>
              <a:headEnd/>
              <a:tailEnd/>
            </a:ln>
          </p:spPr>
          <p:txBody>
            <a:bodyPr/>
            <a:lstStyle/>
            <a:p>
              <a:endParaRPr lang="en-US"/>
            </a:p>
          </p:txBody>
        </p:sp>
        <p:sp>
          <p:nvSpPr>
            <p:cNvPr id="326733" name="Rectangle 77"/>
            <p:cNvSpPr>
              <a:spLocks noChangeArrowheads="1"/>
            </p:cNvSpPr>
            <p:nvPr/>
          </p:nvSpPr>
          <p:spPr bwMode="auto">
            <a:xfrm>
              <a:off x="4362" y="1631"/>
              <a:ext cx="8" cy="7"/>
            </a:xfrm>
            <a:prstGeom prst="rect">
              <a:avLst/>
            </a:prstGeom>
            <a:solidFill>
              <a:srgbClr val="000000"/>
            </a:solidFill>
            <a:ln w="9525">
              <a:noFill/>
              <a:miter lim="800000"/>
              <a:headEnd/>
              <a:tailEnd/>
            </a:ln>
          </p:spPr>
          <p:txBody>
            <a:bodyPr/>
            <a:lstStyle/>
            <a:p>
              <a:endParaRPr lang="en-US"/>
            </a:p>
          </p:txBody>
        </p:sp>
        <p:sp>
          <p:nvSpPr>
            <p:cNvPr id="326734" name="Rectangle 78"/>
            <p:cNvSpPr>
              <a:spLocks noChangeArrowheads="1"/>
            </p:cNvSpPr>
            <p:nvPr/>
          </p:nvSpPr>
          <p:spPr bwMode="auto">
            <a:xfrm>
              <a:off x="4377" y="1631"/>
              <a:ext cx="8" cy="7"/>
            </a:xfrm>
            <a:prstGeom prst="rect">
              <a:avLst/>
            </a:prstGeom>
            <a:solidFill>
              <a:srgbClr val="000000"/>
            </a:solidFill>
            <a:ln w="9525">
              <a:noFill/>
              <a:miter lim="800000"/>
              <a:headEnd/>
              <a:tailEnd/>
            </a:ln>
          </p:spPr>
          <p:txBody>
            <a:bodyPr/>
            <a:lstStyle/>
            <a:p>
              <a:endParaRPr lang="en-US"/>
            </a:p>
          </p:txBody>
        </p:sp>
        <p:sp>
          <p:nvSpPr>
            <p:cNvPr id="326735" name="Rectangle 79"/>
            <p:cNvSpPr>
              <a:spLocks noChangeArrowheads="1"/>
            </p:cNvSpPr>
            <p:nvPr/>
          </p:nvSpPr>
          <p:spPr bwMode="auto">
            <a:xfrm>
              <a:off x="4393" y="1631"/>
              <a:ext cx="8" cy="7"/>
            </a:xfrm>
            <a:prstGeom prst="rect">
              <a:avLst/>
            </a:prstGeom>
            <a:solidFill>
              <a:srgbClr val="000000"/>
            </a:solidFill>
            <a:ln w="9525">
              <a:noFill/>
              <a:miter lim="800000"/>
              <a:headEnd/>
              <a:tailEnd/>
            </a:ln>
          </p:spPr>
          <p:txBody>
            <a:bodyPr/>
            <a:lstStyle/>
            <a:p>
              <a:endParaRPr lang="en-US"/>
            </a:p>
          </p:txBody>
        </p:sp>
        <p:sp>
          <p:nvSpPr>
            <p:cNvPr id="326736" name="Rectangle 80"/>
            <p:cNvSpPr>
              <a:spLocks noChangeArrowheads="1"/>
            </p:cNvSpPr>
            <p:nvPr/>
          </p:nvSpPr>
          <p:spPr bwMode="auto">
            <a:xfrm>
              <a:off x="4409" y="1631"/>
              <a:ext cx="8" cy="7"/>
            </a:xfrm>
            <a:prstGeom prst="rect">
              <a:avLst/>
            </a:prstGeom>
            <a:solidFill>
              <a:srgbClr val="000000"/>
            </a:solidFill>
            <a:ln w="9525">
              <a:noFill/>
              <a:miter lim="800000"/>
              <a:headEnd/>
              <a:tailEnd/>
            </a:ln>
          </p:spPr>
          <p:txBody>
            <a:bodyPr/>
            <a:lstStyle/>
            <a:p>
              <a:endParaRPr lang="en-US"/>
            </a:p>
          </p:txBody>
        </p:sp>
        <p:sp>
          <p:nvSpPr>
            <p:cNvPr id="326737" name="Rectangle 81"/>
            <p:cNvSpPr>
              <a:spLocks noChangeArrowheads="1"/>
            </p:cNvSpPr>
            <p:nvPr/>
          </p:nvSpPr>
          <p:spPr bwMode="auto">
            <a:xfrm>
              <a:off x="4425" y="1631"/>
              <a:ext cx="8" cy="7"/>
            </a:xfrm>
            <a:prstGeom prst="rect">
              <a:avLst/>
            </a:prstGeom>
            <a:solidFill>
              <a:srgbClr val="000000"/>
            </a:solidFill>
            <a:ln w="9525">
              <a:noFill/>
              <a:miter lim="800000"/>
              <a:headEnd/>
              <a:tailEnd/>
            </a:ln>
          </p:spPr>
          <p:txBody>
            <a:bodyPr/>
            <a:lstStyle/>
            <a:p>
              <a:endParaRPr lang="en-US"/>
            </a:p>
          </p:txBody>
        </p:sp>
        <p:sp>
          <p:nvSpPr>
            <p:cNvPr id="326738" name="Rectangle 82"/>
            <p:cNvSpPr>
              <a:spLocks noChangeArrowheads="1"/>
            </p:cNvSpPr>
            <p:nvPr/>
          </p:nvSpPr>
          <p:spPr bwMode="auto">
            <a:xfrm>
              <a:off x="4441" y="1631"/>
              <a:ext cx="8" cy="7"/>
            </a:xfrm>
            <a:prstGeom prst="rect">
              <a:avLst/>
            </a:prstGeom>
            <a:solidFill>
              <a:srgbClr val="000000"/>
            </a:solidFill>
            <a:ln w="9525">
              <a:noFill/>
              <a:miter lim="800000"/>
              <a:headEnd/>
              <a:tailEnd/>
            </a:ln>
          </p:spPr>
          <p:txBody>
            <a:bodyPr/>
            <a:lstStyle/>
            <a:p>
              <a:endParaRPr lang="en-US"/>
            </a:p>
          </p:txBody>
        </p:sp>
        <p:sp>
          <p:nvSpPr>
            <p:cNvPr id="326739" name="Rectangle 83"/>
            <p:cNvSpPr>
              <a:spLocks noChangeArrowheads="1"/>
            </p:cNvSpPr>
            <p:nvPr/>
          </p:nvSpPr>
          <p:spPr bwMode="auto">
            <a:xfrm>
              <a:off x="4457" y="1631"/>
              <a:ext cx="7" cy="7"/>
            </a:xfrm>
            <a:prstGeom prst="rect">
              <a:avLst/>
            </a:prstGeom>
            <a:solidFill>
              <a:srgbClr val="000000"/>
            </a:solidFill>
            <a:ln w="9525">
              <a:noFill/>
              <a:miter lim="800000"/>
              <a:headEnd/>
              <a:tailEnd/>
            </a:ln>
          </p:spPr>
          <p:txBody>
            <a:bodyPr/>
            <a:lstStyle/>
            <a:p>
              <a:endParaRPr lang="en-US"/>
            </a:p>
          </p:txBody>
        </p:sp>
        <p:sp>
          <p:nvSpPr>
            <p:cNvPr id="326740" name="Rectangle 84"/>
            <p:cNvSpPr>
              <a:spLocks noChangeArrowheads="1"/>
            </p:cNvSpPr>
            <p:nvPr/>
          </p:nvSpPr>
          <p:spPr bwMode="auto">
            <a:xfrm>
              <a:off x="4472" y="1631"/>
              <a:ext cx="8" cy="7"/>
            </a:xfrm>
            <a:prstGeom prst="rect">
              <a:avLst/>
            </a:prstGeom>
            <a:solidFill>
              <a:srgbClr val="000000"/>
            </a:solidFill>
            <a:ln w="9525">
              <a:noFill/>
              <a:miter lim="800000"/>
              <a:headEnd/>
              <a:tailEnd/>
            </a:ln>
          </p:spPr>
          <p:txBody>
            <a:bodyPr/>
            <a:lstStyle/>
            <a:p>
              <a:endParaRPr lang="en-US"/>
            </a:p>
          </p:txBody>
        </p:sp>
        <p:sp>
          <p:nvSpPr>
            <p:cNvPr id="326741" name="Rectangle 85"/>
            <p:cNvSpPr>
              <a:spLocks noChangeArrowheads="1"/>
            </p:cNvSpPr>
            <p:nvPr/>
          </p:nvSpPr>
          <p:spPr bwMode="auto">
            <a:xfrm>
              <a:off x="4488" y="1631"/>
              <a:ext cx="8" cy="7"/>
            </a:xfrm>
            <a:prstGeom prst="rect">
              <a:avLst/>
            </a:prstGeom>
            <a:solidFill>
              <a:srgbClr val="000000"/>
            </a:solidFill>
            <a:ln w="9525">
              <a:noFill/>
              <a:miter lim="800000"/>
              <a:headEnd/>
              <a:tailEnd/>
            </a:ln>
          </p:spPr>
          <p:txBody>
            <a:bodyPr/>
            <a:lstStyle/>
            <a:p>
              <a:endParaRPr lang="en-US"/>
            </a:p>
          </p:txBody>
        </p:sp>
        <p:sp>
          <p:nvSpPr>
            <p:cNvPr id="326742" name="Rectangle 86"/>
            <p:cNvSpPr>
              <a:spLocks noChangeArrowheads="1"/>
            </p:cNvSpPr>
            <p:nvPr/>
          </p:nvSpPr>
          <p:spPr bwMode="auto">
            <a:xfrm>
              <a:off x="4504" y="1631"/>
              <a:ext cx="8" cy="7"/>
            </a:xfrm>
            <a:prstGeom prst="rect">
              <a:avLst/>
            </a:prstGeom>
            <a:solidFill>
              <a:srgbClr val="000000"/>
            </a:solidFill>
            <a:ln w="9525">
              <a:noFill/>
              <a:miter lim="800000"/>
              <a:headEnd/>
              <a:tailEnd/>
            </a:ln>
          </p:spPr>
          <p:txBody>
            <a:bodyPr/>
            <a:lstStyle/>
            <a:p>
              <a:endParaRPr lang="en-US"/>
            </a:p>
          </p:txBody>
        </p:sp>
        <p:sp>
          <p:nvSpPr>
            <p:cNvPr id="326743" name="Rectangle 87"/>
            <p:cNvSpPr>
              <a:spLocks noChangeArrowheads="1"/>
            </p:cNvSpPr>
            <p:nvPr/>
          </p:nvSpPr>
          <p:spPr bwMode="auto">
            <a:xfrm>
              <a:off x="4520" y="1631"/>
              <a:ext cx="8" cy="7"/>
            </a:xfrm>
            <a:prstGeom prst="rect">
              <a:avLst/>
            </a:prstGeom>
            <a:solidFill>
              <a:srgbClr val="000000"/>
            </a:solidFill>
            <a:ln w="9525">
              <a:noFill/>
              <a:miter lim="800000"/>
              <a:headEnd/>
              <a:tailEnd/>
            </a:ln>
          </p:spPr>
          <p:txBody>
            <a:bodyPr/>
            <a:lstStyle/>
            <a:p>
              <a:endParaRPr lang="en-US"/>
            </a:p>
          </p:txBody>
        </p:sp>
        <p:sp>
          <p:nvSpPr>
            <p:cNvPr id="326744" name="Rectangle 88"/>
            <p:cNvSpPr>
              <a:spLocks noChangeArrowheads="1"/>
            </p:cNvSpPr>
            <p:nvPr/>
          </p:nvSpPr>
          <p:spPr bwMode="auto">
            <a:xfrm>
              <a:off x="4536" y="1631"/>
              <a:ext cx="7" cy="7"/>
            </a:xfrm>
            <a:prstGeom prst="rect">
              <a:avLst/>
            </a:prstGeom>
            <a:solidFill>
              <a:srgbClr val="000000"/>
            </a:solidFill>
            <a:ln w="9525">
              <a:noFill/>
              <a:miter lim="800000"/>
              <a:headEnd/>
              <a:tailEnd/>
            </a:ln>
          </p:spPr>
          <p:txBody>
            <a:bodyPr/>
            <a:lstStyle/>
            <a:p>
              <a:endParaRPr lang="en-US"/>
            </a:p>
          </p:txBody>
        </p:sp>
        <p:sp>
          <p:nvSpPr>
            <p:cNvPr id="326745" name="Rectangle 89"/>
            <p:cNvSpPr>
              <a:spLocks noChangeArrowheads="1"/>
            </p:cNvSpPr>
            <p:nvPr/>
          </p:nvSpPr>
          <p:spPr bwMode="auto">
            <a:xfrm>
              <a:off x="4551" y="1631"/>
              <a:ext cx="8" cy="7"/>
            </a:xfrm>
            <a:prstGeom prst="rect">
              <a:avLst/>
            </a:prstGeom>
            <a:solidFill>
              <a:srgbClr val="000000"/>
            </a:solidFill>
            <a:ln w="9525">
              <a:noFill/>
              <a:miter lim="800000"/>
              <a:headEnd/>
              <a:tailEnd/>
            </a:ln>
          </p:spPr>
          <p:txBody>
            <a:bodyPr/>
            <a:lstStyle/>
            <a:p>
              <a:endParaRPr lang="en-US"/>
            </a:p>
          </p:txBody>
        </p:sp>
        <p:sp>
          <p:nvSpPr>
            <p:cNvPr id="326746" name="Rectangle 90"/>
            <p:cNvSpPr>
              <a:spLocks noChangeArrowheads="1"/>
            </p:cNvSpPr>
            <p:nvPr/>
          </p:nvSpPr>
          <p:spPr bwMode="auto">
            <a:xfrm>
              <a:off x="4567" y="1631"/>
              <a:ext cx="8" cy="7"/>
            </a:xfrm>
            <a:prstGeom prst="rect">
              <a:avLst/>
            </a:prstGeom>
            <a:solidFill>
              <a:srgbClr val="000000"/>
            </a:solidFill>
            <a:ln w="9525">
              <a:noFill/>
              <a:miter lim="800000"/>
              <a:headEnd/>
              <a:tailEnd/>
            </a:ln>
          </p:spPr>
          <p:txBody>
            <a:bodyPr/>
            <a:lstStyle/>
            <a:p>
              <a:endParaRPr lang="en-US"/>
            </a:p>
          </p:txBody>
        </p:sp>
        <p:sp>
          <p:nvSpPr>
            <p:cNvPr id="326747" name="Rectangle 91"/>
            <p:cNvSpPr>
              <a:spLocks noChangeArrowheads="1"/>
            </p:cNvSpPr>
            <p:nvPr/>
          </p:nvSpPr>
          <p:spPr bwMode="auto">
            <a:xfrm>
              <a:off x="4583" y="1631"/>
              <a:ext cx="8" cy="7"/>
            </a:xfrm>
            <a:prstGeom prst="rect">
              <a:avLst/>
            </a:prstGeom>
            <a:solidFill>
              <a:srgbClr val="000000"/>
            </a:solidFill>
            <a:ln w="9525">
              <a:noFill/>
              <a:miter lim="800000"/>
              <a:headEnd/>
              <a:tailEnd/>
            </a:ln>
          </p:spPr>
          <p:txBody>
            <a:bodyPr/>
            <a:lstStyle/>
            <a:p>
              <a:endParaRPr lang="en-US"/>
            </a:p>
          </p:txBody>
        </p:sp>
        <p:sp>
          <p:nvSpPr>
            <p:cNvPr id="326748" name="Rectangle 92"/>
            <p:cNvSpPr>
              <a:spLocks noChangeArrowheads="1"/>
            </p:cNvSpPr>
            <p:nvPr/>
          </p:nvSpPr>
          <p:spPr bwMode="auto">
            <a:xfrm>
              <a:off x="4599" y="1631"/>
              <a:ext cx="8" cy="7"/>
            </a:xfrm>
            <a:prstGeom prst="rect">
              <a:avLst/>
            </a:prstGeom>
            <a:solidFill>
              <a:srgbClr val="000000"/>
            </a:solidFill>
            <a:ln w="9525">
              <a:noFill/>
              <a:miter lim="800000"/>
              <a:headEnd/>
              <a:tailEnd/>
            </a:ln>
          </p:spPr>
          <p:txBody>
            <a:bodyPr/>
            <a:lstStyle/>
            <a:p>
              <a:endParaRPr lang="en-US"/>
            </a:p>
          </p:txBody>
        </p:sp>
        <p:sp>
          <p:nvSpPr>
            <p:cNvPr id="326749" name="Rectangle 93"/>
            <p:cNvSpPr>
              <a:spLocks noChangeArrowheads="1"/>
            </p:cNvSpPr>
            <p:nvPr/>
          </p:nvSpPr>
          <p:spPr bwMode="auto">
            <a:xfrm>
              <a:off x="4615" y="1631"/>
              <a:ext cx="8" cy="7"/>
            </a:xfrm>
            <a:prstGeom prst="rect">
              <a:avLst/>
            </a:prstGeom>
            <a:solidFill>
              <a:srgbClr val="000000"/>
            </a:solidFill>
            <a:ln w="9525">
              <a:noFill/>
              <a:miter lim="800000"/>
              <a:headEnd/>
              <a:tailEnd/>
            </a:ln>
          </p:spPr>
          <p:txBody>
            <a:bodyPr/>
            <a:lstStyle/>
            <a:p>
              <a:endParaRPr lang="en-US"/>
            </a:p>
          </p:txBody>
        </p:sp>
        <p:sp>
          <p:nvSpPr>
            <p:cNvPr id="326750" name="Rectangle 94"/>
            <p:cNvSpPr>
              <a:spLocks noChangeArrowheads="1"/>
            </p:cNvSpPr>
            <p:nvPr/>
          </p:nvSpPr>
          <p:spPr bwMode="auto">
            <a:xfrm>
              <a:off x="4630" y="1631"/>
              <a:ext cx="8" cy="7"/>
            </a:xfrm>
            <a:prstGeom prst="rect">
              <a:avLst/>
            </a:prstGeom>
            <a:solidFill>
              <a:srgbClr val="000000"/>
            </a:solidFill>
            <a:ln w="9525">
              <a:noFill/>
              <a:miter lim="800000"/>
              <a:headEnd/>
              <a:tailEnd/>
            </a:ln>
          </p:spPr>
          <p:txBody>
            <a:bodyPr/>
            <a:lstStyle/>
            <a:p>
              <a:endParaRPr lang="en-US"/>
            </a:p>
          </p:txBody>
        </p:sp>
        <p:sp>
          <p:nvSpPr>
            <p:cNvPr id="326751" name="Rectangle 95"/>
            <p:cNvSpPr>
              <a:spLocks noChangeArrowheads="1"/>
            </p:cNvSpPr>
            <p:nvPr/>
          </p:nvSpPr>
          <p:spPr bwMode="auto">
            <a:xfrm>
              <a:off x="4646" y="1631"/>
              <a:ext cx="8" cy="7"/>
            </a:xfrm>
            <a:prstGeom prst="rect">
              <a:avLst/>
            </a:prstGeom>
            <a:solidFill>
              <a:srgbClr val="000000"/>
            </a:solidFill>
            <a:ln w="9525">
              <a:noFill/>
              <a:miter lim="800000"/>
              <a:headEnd/>
              <a:tailEnd/>
            </a:ln>
          </p:spPr>
          <p:txBody>
            <a:bodyPr/>
            <a:lstStyle/>
            <a:p>
              <a:endParaRPr lang="en-US"/>
            </a:p>
          </p:txBody>
        </p:sp>
        <p:sp>
          <p:nvSpPr>
            <p:cNvPr id="326752" name="Rectangle 96"/>
            <p:cNvSpPr>
              <a:spLocks noChangeArrowheads="1"/>
            </p:cNvSpPr>
            <p:nvPr/>
          </p:nvSpPr>
          <p:spPr bwMode="auto">
            <a:xfrm>
              <a:off x="4662" y="1631"/>
              <a:ext cx="8" cy="7"/>
            </a:xfrm>
            <a:prstGeom prst="rect">
              <a:avLst/>
            </a:prstGeom>
            <a:solidFill>
              <a:srgbClr val="000000"/>
            </a:solidFill>
            <a:ln w="9525">
              <a:noFill/>
              <a:miter lim="800000"/>
              <a:headEnd/>
              <a:tailEnd/>
            </a:ln>
          </p:spPr>
          <p:txBody>
            <a:bodyPr/>
            <a:lstStyle/>
            <a:p>
              <a:endParaRPr lang="en-US"/>
            </a:p>
          </p:txBody>
        </p:sp>
        <p:sp>
          <p:nvSpPr>
            <p:cNvPr id="326753" name="Rectangle 97"/>
            <p:cNvSpPr>
              <a:spLocks noChangeArrowheads="1"/>
            </p:cNvSpPr>
            <p:nvPr/>
          </p:nvSpPr>
          <p:spPr bwMode="auto">
            <a:xfrm>
              <a:off x="4678" y="1631"/>
              <a:ext cx="8" cy="7"/>
            </a:xfrm>
            <a:prstGeom prst="rect">
              <a:avLst/>
            </a:prstGeom>
            <a:solidFill>
              <a:srgbClr val="000000"/>
            </a:solidFill>
            <a:ln w="9525">
              <a:noFill/>
              <a:miter lim="800000"/>
              <a:headEnd/>
              <a:tailEnd/>
            </a:ln>
          </p:spPr>
          <p:txBody>
            <a:bodyPr/>
            <a:lstStyle/>
            <a:p>
              <a:endParaRPr lang="en-US"/>
            </a:p>
          </p:txBody>
        </p:sp>
        <p:sp>
          <p:nvSpPr>
            <p:cNvPr id="326754" name="Rectangle 98"/>
            <p:cNvSpPr>
              <a:spLocks noChangeArrowheads="1"/>
            </p:cNvSpPr>
            <p:nvPr/>
          </p:nvSpPr>
          <p:spPr bwMode="auto">
            <a:xfrm>
              <a:off x="4694" y="1631"/>
              <a:ext cx="8" cy="7"/>
            </a:xfrm>
            <a:prstGeom prst="rect">
              <a:avLst/>
            </a:prstGeom>
            <a:solidFill>
              <a:srgbClr val="000000"/>
            </a:solidFill>
            <a:ln w="9525">
              <a:noFill/>
              <a:miter lim="800000"/>
              <a:headEnd/>
              <a:tailEnd/>
            </a:ln>
          </p:spPr>
          <p:txBody>
            <a:bodyPr/>
            <a:lstStyle/>
            <a:p>
              <a:endParaRPr lang="en-US"/>
            </a:p>
          </p:txBody>
        </p:sp>
        <p:sp>
          <p:nvSpPr>
            <p:cNvPr id="326755" name="Rectangle 99"/>
            <p:cNvSpPr>
              <a:spLocks noChangeArrowheads="1"/>
            </p:cNvSpPr>
            <p:nvPr/>
          </p:nvSpPr>
          <p:spPr bwMode="auto">
            <a:xfrm>
              <a:off x="4710" y="1631"/>
              <a:ext cx="7" cy="7"/>
            </a:xfrm>
            <a:prstGeom prst="rect">
              <a:avLst/>
            </a:prstGeom>
            <a:solidFill>
              <a:srgbClr val="000000"/>
            </a:solidFill>
            <a:ln w="9525">
              <a:noFill/>
              <a:miter lim="800000"/>
              <a:headEnd/>
              <a:tailEnd/>
            </a:ln>
          </p:spPr>
          <p:txBody>
            <a:bodyPr/>
            <a:lstStyle/>
            <a:p>
              <a:endParaRPr lang="en-US"/>
            </a:p>
          </p:txBody>
        </p:sp>
        <p:sp>
          <p:nvSpPr>
            <p:cNvPr id="326756" name="Rectangle 100"/>
            <p:cNvSpPr>
              <a:spLocks noChangeArrowheads="1"/>
            </p:cNvSpPr>
            <p:nvPr/>
          </p:nvSpPr>
          <p:spPr bwMode="auto">
            <a:xfrm>
              <a:off x="4725" y="1631"/>
              <a:ext cx="8" cy="7"/>
            </a:xfrm>
            <a:prstGeom prst="rect">
              <a:avLst/>
            </a:prstGeom>
            <a:solidFill>
              <a:srgbClr val="000000"/>
            </a:solidFill>
            <a:ln w="9525">
              <a:noFill/>
              <a:miter lim="800000"/>
              <a:headEnd/>
              <a:tailEnd/>
            </a:ln>
          </p:spPr>
          <p:txBody>
            <a:bodyPr/>
            <a:lstStyle/>
            <a:p>
              <a:endParaRPr lang="en-US"/>
            </a:p>
          </p:txBody>
        </p:sp>
        <p:sp>
          <p:nvSpPr>
            <p:cNvPr id="326757" name="Rectangle 101"/>
            <p:cNvSpPr>
              <a:spLocks noChangeArrowheads="1"/>
            </p:cNvSpPr>
            <p:nvPr/>
          </p:nvSpPr>
          <p:spPr bwMode="auto">
            <a:xfrm>
              <a:off x="4741" y="1631"/>
              <a:ext cx="8" cy="7"/>
            </a:xfrm>
            <a:prstGeom prst="rect">
              <a:avLst/>
            </a:prstGeom>
            <a:solidFill>
              <a:srgbClr val="000000"/>
            </a:solidFill>
            <a:ln w="9525">
              <a:noFill/>
              <a:miter lim="800000"/>
              <a:headEnd/>
              <a:tailEnd/>
            </a:ln>
          </p:spPr>
          <p:txBody>
            <a:bodyPr/>
            <a:lstStyle/>
            <a:p>
              <a:endParaRPr lang="en-US"/>
            </a:p>
          </p:txBody>
        </p:sp>
        <p:sp>
          <p:nvSpPr>
            <p:cNvPr id="326758" name="Rectangle 102"/>
            <p:cNvSpPr>
              <a:spLocks noChangeArrowheads="1"/>
            </p:cNvSpPr>
            <p:nvPr/>
          </p:nvSpPr>
          <p:spPr bwMode="auto">
            <a:xfrm>
              <a:off x="4757" y="1631"/>
              <a:ext cx="8" cy="7"/>
            </a:xfrm>
            <a:prstGeom prst="rect">
              <a:avLst/>
            </a:prstGeom>
            <a:solidFill>
              <a:srgbClr val="000000"/>
            </a:solidFill>
            <a:ln w="9525">
              <a:noFill/>
              <a:miter lim="800000"/>
              <a:headEnd/>
              <a:tailEnd/>
            </a:ln>
          </p:spPr>
          <p:txBody>
            <a:bodyPr/>
            <a:lstStyle/>
            <a:p>
              <a:endParaRPr lang="en-US"/>
            </a:p>
          </p:txBody>
        </p:sp>
        <p:sp>
          <p:nvSpPr>
            <p:cNvPr id="326759" name="Rectangle 103"/>
            <p:cNvSpPr>
              <a:spLocks noChangeArrowheads="1"/>
            </p:cNvSpPr>
            <p:nvPr/>
          </p:nvSpPr>
          <p:spPr bwMode="auto">
            <a:xfrm>
              <a:off x="4773" y="1631"/>
              <a:ext cx="8" cy="7"/>
            </a:xfrm>
            <a:prstGeom prst="rect">
              <a:avLst/>
            </a:prstGeom>
            <a:solidFill>
              <a:srgbClr val="000000"/>
            </a:solidFill>
            <a:ln w="9525">
              <a:noFill/>
              <a:miter lim="800000"/>
              <a:headEnd/>
              <a:tailEnd/>
            </a:ln>
          </p:spPr>
          <p:txBody>
            <a:bodyPr/>
            <a:lstStyle/>
            <a:p>
              <a:endParaRPr lang="en-US"/>
            </a:p>
          </p:txBody>
        </p:sp>
        <p:sp>
          <p:nvSpPr>
            <p:cNvPr id="326760" name="Rectangle 104"/>
            <p:cNvSpPr>
              <a:spLocks noChangeArrowheads="1"/>
            </p:cNvSpPr>
            <p:nvPr/>
          </p:nvSpPr>
          <p:spPr bwMode="auto">
            <a:xfrm>
              <a:off x="4789" y="1631"/>
              <a:ext cx="8" cy="7"/>
            </a:xfrm>
            <a:prstGeom prst="rect">
              <a:avLst/>
            </a:prstGeom>
            <a:solidFill>
              <a:srgbClr val="000000"/>
            </a:solidFill>
            <a:ln w="9525">
              <a:noFill/>
              <a:miter lim="800000"/>
              <a:headEnd/>
              <a:tailEnd/>
            </a:ln>
          </p:spPr>
          <p:txBody>
            <a:bodyPr/>
            <a:lstStyle/>
            <a:p>
              <a:endParaRPr lang="en-US"/>
            </a:p>
          </p:txBody>
        </p:sp>
        <p:sp>
          <p:nvSpPr>
            <p:cNvPr id="326761" name="Rectangle 105"/>
            <p:cNvSpPr>
              <a:spLocks noChangeArrowheads="1"/>
            </p:cNvSpPr>
            <p:nvPr/>
          </p:nvSpPr>
          <p:spPr bwMode="auto">
            <a:xfrm>
              <a:off x="4804" y="1631"/>
              <a:ext cx="8" cy="7"/>
            </a:xfrm>
            <a:prstGeom prst="rect">
              <a:avLst/>
            </a:prstGeom>
            <a:solidFill>
              <a:srgbClr val="000000"/>
            </a:solidFill>
            <a:ln w="9525">
              <a:noFill/>
              <a:miter lim="800000"/>
              <a:headEnd/>
              <a:tailEnd/>
            </a:ln>
          </p:spPr>
          <p:txBody>
            <a:bodyPr/>
            <a:lstStyle/>
            <a:p>
              <a:endParaRPr lang="en-US"/>
            </a:p>
          </p:txBody>
        </p:sp>
        <p:sp>
          <p:nvSpPr>
            <p:cNvPr id="326762" name="Rectangle 106"/>
            <p:cNvSpPr>
              <a:spLocks noChangeArrowheads="1"/>
            </p:cNvSpPr>
            <p:nvPr/>
          </p:nvSpPr>
          <p:spPr bwMode="auto">
            <a:xfrm>
              <a:off x="4820" y="1631"/>
              <a:ext cx="8" cy="7"/>
            </a:xfrm>
            <a:prstGeom prst="rect">
              <a:avLst/>
            </a:prstGeom>
            <a:solidFill>
              <a:srgbClr val="000000"/>
            </a:solidFill>
            <a:ln w="9525">
              <a:noFill/>
              <a:miter lim="800000"/>
              <a:headEnd/>
              <a:tailEnd/>
            </a:ln>
          </p:spPr>
          <p:txBody>
            <a:bodyPr/>
            <a:lstStyle/>
            <a:p>
              <a:endParaRPr lang="en-US"/>
            </a:p>
          </p:txBody>
        </p:sp>
        <p:sp>
          <p:nvSpPr>
            <p:cNvPr id="326763" name="Rectangle 107"/>
            <p:cNvSpPr>
              <a:spLocks noChangeArrowheads="1"/>
            </p:cNvSpPr>
            <p:nvPr/>
          </p:nvSpPr>
          <p:spPr bwMode="auto">
            <a:xfrm>
              <a:off x="4836" y="1631"/>
              <a:ext cx="8" cy="7"/>
            </a:xfrm>
            <a:prstGeom prst="rect">
              <a:avLst/>
            </a:prstGeom>
            <a:solidFill>
              <a:srgbClr val="000000"/>
            </a:solidFill>
            <a:ln w="9525">
              <a:noFill/>
              <a:miter lim="800000"/>
              <a:headEnd/>
              <a:tailEnd/>
            </a:ln>
          </p:spPr>
          <p:txBody>
            <a:bodyPr/>
            <a:lstStyle/>
            <a:p>
              <a:endParaRPr lang="en-US"/>
            </a:p>
          </p:txBody>
        </p:sp>
        <p:sp>
          <p:nvSpPr>
            <p:cNvPr id="326764" name="Freeform 108"/>
            <p:cNvSpPr>
              <a:spLocks/>
            </p:cNvSpPr>
            <p:nvPr/>
          </p:nvSpPr>
          <p:spPr bwMode="auto">
            <a:xfrm>
              <a:off x="4851" y="1629"/>
              <a:ext cx="8" cy="9"/>
            </a:xfrm>
            <a:custGeom>
              <a:avLst/>
              <a:gdLst/>
              <a:ahLst/>
              <a:cxnLst>
                <a:cxn ang="0">
                  <a:pos x="1" y="2"/>
                </a:cxn>
                <a:cxn ang="0">
                  <a:pos x="1" y="9"/>
                </a:cxn>
                <a:cxn ang="0">
                  <a:pos x="3" y="9"/>
                </a:cxn>
                <a:cxn ang="0">
                  <a:pos x="7" y="9"/>
                </a:cxn>
                <a:cxn ang="0">
                  <a:pos x="8" y="5"/>
                </a:cxn>
                <a:cxn ang="0">
                  <a:pos x="8" y="0"/>
                </a:cxn>
                <a:cxn ang="0">
                  <a:pos x="0" y="0"/>
                </a:cxn>
                <a:cxn ang="0">
                  <a:pos x="0" y="5"/>
                </a:cxn>
                <a:cxn ang="0">
                  <a:pos x="3" y="5"/>
                </a:cxn>
                <a:cxn ang="0">
                  <a:pos x="3" y="2"/>
                </a:cxn>
                <a:cxn ang="0">
                  <a:pos x="1" y="2"/>
                </a:cxn>
              </a:cxnLst>
              <a:rect l="0" t="0" r="r" b="b"/>
              <a:pathLst>
                <a:path w="8" h="9">
                  <a:moveTo>
                    <a:pt x="1" y="2"/>
                  </a:moveTo>
                  <a:lnTo>
                    <a:pt x="1" y="9"/>
                  </a:lnTo>
                  <a:lnTo>
                    <a:pt x="3" y="9"/>
                  </a:lnTo>
                  <a:lnTo>
                    <a:pt x="7" y="9"/>
                  </a:lnTo>
                  <a:lnTo>
                    <a:pt x="8" y="5"/>
                  </a:lnTo>
                  <a:lnTo>
                    <a:pt x="8" y="0"/>
                  </a:lnTo>
                  <a:lnTo>
                    <a:pt x="0" y="0"/>
                  </a:lnTo>
                  <a:lnTo>
                    <a:pt x="0" y="5"/>
                  </a:lnTo>
                  <a:lnTo>
                    <a:pt x="3" y="5"/>
                  </a:lnTo>
                  <a:lnTo>
                    <a:pt x="3" y="2"/>
                  </a:lnTo>
                  <a:lnTo>
                    <a:pt x="1" y="2"/>
                  </a:lnTo>
                  <a:close/>
                </a:path>
              </a:pathLst>
            </a:custGeom>
            <a:solidFill>
              <a:srgbClr val="000000"/>
            </a:solidFill>
            <a:ln w="9525">
              <a:noFill/>
              <a:round/>
              <a:headEnd/>
              <a:tailEnd/>
            </a:ln>
          </p:spPr>
          <p:txBody>
            <a:bodyPr/>
            <a:lstStyle/>
            <a:p>
              <a:endParaRPr lang="en-US"/>
            </a:p>
          </p:txBody>
        </p:sp>
        <p:sp>
          <p:nvSpPr>
            <p:cNvPr id="326765" name="Rectangle 109"/>
            <p:cNvSpPr>
              <a:spLocks noChangeArrowheads="1"/>
            </p:cNvSpPr>
            <p:nvPr/>
          </p:nvSpPr>
          <p:spPr bwMode="auto">
            <a:xfrm>
              <a:off x="4851" y="1614"/>
              <a:ext cx="8" cy="7"/>
            </a:xfrm>
            <a:prstGeom prst="rect">
              <a:avLst/>
            </a:prstGeom>
            <a:solidFill>
              <a:srgbClr val="000000"/>
            </a:solidFill>
            <a:ln w="9525">
              <a:noFill/>
              <a:miter lim="800000"/>
              <a:headEnd/>
              <a:tailEnd/>
            </a:ln>
          </p:spPr>
          <p:txBody>
            <a:bodyPr/>
            <a:lstStyle/>
            <a:p>
              <a:endParaRPr lang="en-US"/>
            </a:p>
          </p:txBody>
        </p:sp>
        <p:sp>
          <p:nvSpPr>
            <p:cNvPr id="326766" name="Rectangle 110"/>
            <p:cNvSpPr>
              <a:spLocks noChangeArrowheads="1"/>
            </p:cNvSpPr>
            <p:nvPr/>
          </p:nvSpPr>
          <p:spPr bwMode="auto">
            <a:xfrm>
              <a:off x="4851" y="1599"/>
              <a:ext cx="8" cy="7"/>
            </a:xfrm>
            <a:prstGeom prst="rect">
              <a:avLst/>
            </a:prstGeom>
            <a:solidFill>
              <a:srgbClr val="000000"/>
            </a:solidFill>
            <a:ln w="9525">
              <a:noFill/>
              <a:miter lim="800000"/>
              <a:headEnd/>
              <a:tailEnd/>
            </a:ln>
          </p:spPr>
          <p:txBody>
            <a:bodyPr/>
            <a:lstStyle/>
            <a:p>
              <a:endParaRPr lang="en-US"/>
            </a:p>
          </p:txBody>
        </p:sp>
        <p:sp>
          <p:nvSpPr>
            <p:cNvPr id="326767" name="Rectangle 111"/>
            <p:cNvSpPr>
              <a:spLocks noChangeArrowheads="1"/>
            </p:cNvSpPr>
            <p:nvPr/>
          </p:nvSpPr>
          <p:spPr bwMode="auto">
            <a:xfrm>
              <a:off x="4851" y="1584"/>
              <a:ext cx="8" cy="8"/>
            </a:xfrm>
            <a:prstGeom prst="rect">
              <a:avLst/>
            </a:prstGeom>
            <a:solidFill>
              <a:srgbClr val="000000"/>
            </a:solidFill>
            <a:ln w="9525">
              <a:noFill/>
              <a:miter lim="800000"/>
              <a:headEnd/>
              <a:tailEnd/>
            </a:ln>
          </p:spPr>
          <p:txBody>
            <a:bodyPr/>
            <a:lstStyle/>
            <a:p>
              <a:endParaRPr lang="en-US"/>
            </a:p>
          </p:txBody>
        </p:sp>
        <p:sp>
          <p:nvSpPr>
            <p:cNvPr id="326768" name="Rectangle 112"/>
            <p:cNvSpPr>
              <a:spLocks noChangeArrowheads="1"/>
            </p:cNvSpPr>
            <p:nvPr/>
          </p:nvSpPr>
          <p:spPr bwMode="auto">
            <a:xfrm>
              <a:off x="4851" y="1570"/>
              <a:ext cx="8" cy="7"/>
            </a:xfrm>
            <a:prstGeom prst="rect">
              <a:avLst/>
            </a:prstGeom>
            <a:solidFill>
              <a:srgbClr val="000000"/>
            </a:solidFill>
            <a:ln w="9525">
              <a:noFill/>
              <a:miter lim="800000"/>
              <a:headEnd/>
              <a:tailEnd/>
            </a:ln>
          </p:spPr>
          <p:txBody>
            <a:bodyPr/>
            <a:lstStyle/>
            <a:p>
              <a:endParaRPr lang="en-US"/>
            </a:p>
          </p:txBody>
        </p:sp>
        <p:sp>
          <p:nvSpPr>
            <p:cNvPr id="326769" name="Rectangle 113"/>
            <p:cNvSpPr>
              <a:spLocks noChangeArrowheads="1"/>
            </p:cNvSpPr>
            <p:nvPr/>
          </p:nvSpPr>
          <p:spPr bwMode="auto">
            <a:xfrm>
              <a:off x="4851" y="1555"/>
              <a:ext cx="8" cy="7"/>
            </a:xfrm>
            <a:prstGeom prst="rect">
              <a:avLst/>
            </a:prstGeom>
            <a:solidFill>
              <a:srgbClr val="000000"/>
            </a:solidFill>
            <a:ln w="9525">
              <a:noFill/>
              <a:miter lim="800000"/>
              <a:headEnd/>
              <a:tailEnd/>
            </a:ln>
          </p:spPr>
          <p:txBody>
            <a:bodyPr/>
            <a:lstStyle/>
            <a:p>
              <a:endParaRPr lang="en-US"/>
            </a:p>
          </p:txBody>
        </p:sp>
        <p:sp>
          <p:nvSpPr>
            <p:cNvPr id="326770" name="Rectangle 114"/>
            <p:cNvSpPr>
              <a:spLocks noChangeArrowheads="1"/>
            </p:cNvSpPr>
            <p:nvPr/>
          </p:nvSpPr>
          <p:spPr bwMode="auto">
            <a:xfrm>
              <a:off x="4851" y="1540"/>
              <a:ext cx="8" cy="8"/>
            </a:xfrm>
            <a:prstGeom prst="rect">
              <a:avLst/>
            </a:prstGeom>
            <a:solidFill>
              <a:srgbClr val="000000"/>
            </a:solidFill>
            <a:ln w="9525">
              <a:noFill/>
              <a:miter lim="800000"/>
              <a:headEnd/>
              <a:tailEnd/>
            </a:ln>
          </p:spPr>
          <p:txBody>
            <a:bodyPr/>
            <a:lstStyle/>
            <a:p>
              <a:endParaRPr lang="en-US"/>
            </a:p>
          </p:txBody>
        </p:sp>
        <p:sp>
          <p:nvSpPr>
            <p:cNvPr id="326771" name="Rectangle 115"/>
            <p:cNvSpPr>
              <a:spLocks noChangeArrowheads="1"/>
            </p:cNvSpPr>
            <p:nvPr/>
          </p:nvSpPr>
          <p:spPr bwMode="auto">
            <a:xfrm>
              <a:off x="4851" y="1525"/>
              <a:ext cx="8" cy="8"/>
            </a:xfrm>
            <a:prstGeom prst="rect">
              <a:avLst/>
            </a:prstGeom>
            <a:solidFill>
              <a:srgbClr val="000000"/>
            </a:solidFill>
            <a:ln w="9525">
              <a:noFill/>
              <a:miter lim="800000"/>
              <a:headEnd/>
              <a:tailEnd/>
            </a:ln>
          </p:spPr>
          <p:txBody>
            <a:bodyPr/>
            <a:lstStyle/>
            <a:p>
              <a:endParaRPr lang="en-US"/>
            </a:p>
          </p:txBody>
        </p:sp>
        <p:sp>
          <p:nvSpPr>
            <p:cNvPr id="326772" name="Rectangle 116"/>
            <p:cNvSpPr>
              <a:spLocks noChangeArrowheads="1"/>
            </p:cNvSpPr>
            <p:nvPr/>
          </p:nvSpPr>
          <p:spPr bwMode="auto">
            <a:xfrm>
              <a:off x="4851" y="1511"/>
              <a:ext cx="8" cy="7"/>
            </a:xfrm>
            <a:prstGeom prst="rect">
              <a:avLst/>
            </a:prstGeom>
            <a:solidFill>
              <a:srgbClr val="000000"/>
            </a:solidFill>
            <a:ln w="9525">
              <a:noFill/>
              <a:miter lim="800000"/>
              <a:headEnd/>
              <a:tailEnd/>
            </a:ln>
          </p:spPr>
          <p:txBody>
            <a:bodyPr/>
            <a:lstStyle/>
            <a:p>
              <a:endParaRPr lang="en-US"/>
            </a:p>
          </p:txBody>
        </p:sp>
        <p:sp>
          <p:nvSpPr>
            <p:cNvPr id="326773" name="Rectangle 117"/>
            <p:cNvSpPr>
              <a:spLocks noChangeArrowheads="1"/>
            </p:cNvSpPr>
            <p:nvPr/>
          </p:nvSpPr>
          <p:spPr bwMode="auto">
            <a:xfrm>
              <a:off x="4851" y="1496"/>
              <a:ext cx="8" cy="7"/>
            </a:xfrm>
            <a:prstGeom prst="rect">
              <a:avLst/>
            </a:prstGeom>
            <a:solidFill>
              <a:srgbClr val="000000"/>
            </a:solidFill>
            <a:ln w="9525">
              <a:noFill/>
              <a:miter lim="800000"/>
              <a:headEnd/>
              <a:tailEnd/>
            </a:ln>
          </p:spPr>
          <p:txBody>
            <a:bodyPr/>
            <a:lstStyle/>
            <a:p>
              <a:endParaRPr lang="en-US"/>
            </a:p>
          </p:txBody>
        </p:sp>
        <p:sp>
          <p:nvSpPr>
            <p:cNvPr id="326774" name="Rectangle 118"/>
            <p:cNvSpPr>
              <a:spLocks noChangeArrowheads="1"/>
            </p:cNvSpPr>
            <p:nvPr/>
          </p:nvSpPr>
          <p:spPr bwMode="auto">
            <a:xfrm>
              <a:off x="4851" y="1481"/>
              <a:ext cx="8" cy="8"/>
            </a:xfrm>
            <a:prstGeom prst="rect">
              <a:avLst/>
            </a:prstGeom>
            <a:solidFill>
              <a:srgbClr val="000000"/>
            </a:solidFill>
            <a:ln w="9525">
              <a:noFill/>
              <a:miter lim="800000"/>
              <a:headEnd/>
              <a:tailEnd/>
            </a:ln>
          </p:spPr>
          <p:txBody>
            <a:bodyPr/>
            <a:lstStyle/>
            <a:p>
              <a:endParaRPr lang="en-US"/>
            </a:p>
          </p:txBody>
        </p:sp>
        <p:sp>
          <p:nvSpPr>
            <p:cNvPr id="326775" name="Rectangle 119"/>
            <p:cNvSpPr>
              <a:spLocks noChangeArrowheads="1"/>
            </p:cNvSpPr>
            <p:nvPr/>
          </p:nvSpPr>
          <p:spPr bwMode="auto">
            <a:xfrm>
              <a:off x="4851" y="1467"/>
              <a:ext cx="8" cy="7"/>
            </a:xfrm>
            <a:prstGeom prst="rect">
              <a:avLst/>
            </a:prstGeom>
            <a:solidFill>
              <a:srgbClr val="000000"/>
            </a:solidFill>
            <a:ln w="9525">
              <a:noFill/>
              <a:miter lim="800000"/>
              <a:headEnd/>
              <a:tailEnd/>
            </a:ln>
          </p:spPr>
          <p:txBody>
            <a:bodyPr/>
            <a:lstStyle/>
            <a:p>
              <a:endParaRPr lang="en-US"/>
            </a:p>
          </p:txBody>
        </p:sp>
        <p:sp>
          <p:nvSpPr>
            <p:cNvPr id="326776" name="Rectangle 120"/>
            <p:cNvSpPr>
              <a:spLocks noChangeArrowheads="1"/>
            </p:cNvSpPr>
            <p:nvPr/>
          </p:nvSpPr>
          <p:spPr bwMode="auto">
            <a:xfrm>
              <a:off x="4851" y="1452"/>
              <a:ext cx="8" cy="7"/>
            </a:xfrm>
            <a:prstGeom prst="rect">
              <a:avLst/>
            </a:prstGeom>
            <a:solidFill>
              <a:srgbClr val="000000"/>
            </a:solidFill>
            <a:ln w="9525">
              <a:noFill/>
              <a:miter lim="800000"/>
              <a:headEnd/>
              <a:tailEnd/>
            </a:ln>
          </p:spPr>
          <p:txBody>
            <a:bodyPr/>
            <a:lstStyle/>
            <a:p>
              <a:endParaRPr lang="en-US"/>
            </a:p>
          </p:txBody>
        </p:sp>
        <p:sp>
          <p:nvSpPr>
            <p:cNvPr id="326777" name="Rectangle 121"/>
            <p:cNvSpPr>
              <a:spLocks noChangeArrowheads="1"/>
            </p:cNvSpPr>
            <p:nvPr/>
          </p:nvSpPr>
          <p:spPr bwMode="auto">
            <a:xfrm>
              <a:off x="4851" y="1437"/>
              <a:ext cx="8" cy="7"/>
            </a:xfrm>
            <a:prstGeom prst="rect">
              <a:avLst/>
            </a:prstGeom>
            <a:solidFill>
              <a:srgbClr val="000000"/>
            </a:solidFill>
            <a:ln w="9525">
              <a:noFill/>
              <a:miter lim="800000"/>
              <a:headEnd/>
              <a:tailEnd/>
            </a:ln>
          </p:spPr>
          <p:txBody>
            <a:bodyPr/>
            <a:lstStyle/>
            <a:p>
              <a:endParaRPr lang="en-US"/>
            </a:p>
          </p:txBody>
        </p:sp>
        <p:sp>
          <p:nvSpPr>
            <p:cNvPr id="326778" name="Rectangle 122"/>
            <p:cNvSpPr>
              <a:spLocks noChangeArrowheads="1"/>
            </p:cNvSpPr>
            <p:nvPr/>
          </p:nvSpPr>
          <p:spPr bwMode="auto">
            <a:xfrm>
              <a:off x="4851" y="1422"/>
              <a:ext cx="8" cy="8"/>
            </a:xfrm>
            <a:prstGeom prst="rect">
              <a:avLst/>
            </a:prstGeom>
            <a:solidFill>
              <a:srgbClr val="000000"/>
            </a:solidFill>
            <a:ln w="9525">
              <a:noFill/>
              <a:miter lim="800000"/>
              <a:headEnd/>
              <a:tailEnd/>
            </a:ln>
          </p:spPr>
          <p:txBody>
            <a:bodyPr/>
            <a:lstStyle/>
            <a:p>
              <a:endParaRPr lang="en-US"/>
            </a:p>
          </p:txBody>
        </p:sp>
        <p:sp>
          <p:nvSpPr>
            <p:cNvPr id="326779" name="Rectangle 123"/>
            <p:cNvSpPr>
              <a:spLocks noChangeArrowheads="1"/>
            </p:cNvSpPr>
            <p:nvPr/>
          </p:nvSpPr>
          <p:spPr bwMode="auto">
            <a:xfrm>
              <a:off x="4851" y="1408"/>
              <a:ext cx="8" cy="7"/>
            </a:xfrm>
            <a:prstGeom prst="rect">
              <a:avLst/>
            </a:prstGeom>
            <a:solidFill>
              <a:srgbClr val="000000"/>
            </a:solidFill>
            <a:ln w="9525">
              <a:noFill/>
              <a:miter lim="800000"/>
              <a:headEnd/>
              <a:tailEnd/>
            </a:ln>
          </p:spPr>
          <p:txBody>
            <a:bodyPr/>
            <a:lstStyle/>
            <a:p>
              <a:endParaRPr lang="en-US"/>
            </a:p>
          </p:txBody>
        </p:sp>
        <p:sp>
          <p:nvSpPr>
            <p:cNvPr id="326780" name="Rectangle 124"/>
            <p:cNvSpPr>
              <a:spLocks noChangeArrowheads="1"/>
            </p:cNvSpPr>
            <p:nvPr/>
          </p:nvSpPr>
          <p:spPr bwMode="auto">
            <a:xfrm>
              <a:off x="4851" y="1393"/>
              <a:ext cx="8" cy="7"/>
            </a:xfrm>
            <a:prstGeom prst="rect">
              <a:avLst/>
            </a:prstGeom>
            <a:solidFill>
              <a:srgbClr val="000000"/>
            </a:solidFill>
            <a:ln w="9525">
              <a:noFill/>
              <a:miter lim="800000"/>
              <a:headEnd/>
              <a:tailEnd/>
            </a:ln>
          </p:spPr>
          <p:txBody>
            <a:bodyPr/>
            <a:lstStyle/>
            <a:p>
              <a:endParaRPr lang="en-US"/>
            </a:p>
          </p:txBody>
        </p:sp>
        <p:sp>
          <p:nvSpPr>
            <p:cNvPr id="326781" name="Rectangle 125"/>
            <p:cNvSpPr>
              <a:spLocks noChangeArrowheads="1"/>
            </p:cNvSpPr>
            <p:nvPr/>
          </p:nvSpPr>
          <p:spPr bwMode="auto">
            <a:xfrm>
              <a:off x="4851" y="1378"/>
              <a:ext cx="8" cy="8"/>
            </a:xfrm>
            <a:prstGeom prst="rect">
              <a:avLst/>
            </a:prstGeom>
            <a:solidFill>
              <a:srgbClr val="000000"/>
            </a:solidFill>
            <a:ln w="9525">
              <a:noFill/>
              <a:miter lim="800000"/>
              <a:headEnd/>
              <a:tailEnd/>
            </a:ln>
          </p:spPr>
          <p:txBody>
            <a:bodyPr/>
            <a:lstStyle/>
            <a:p>
              <a:endParaRPr lang="en-US"/>
            </a:p>
          </p:txBody>
        </p:sp>
        <p:sp>
          <p:nvSpPr>
            <p:cNvPr id="326782" name="Rectangle 126"/>
            <p:cNvSpPr>
              <a:spLocks noChangeArrowheads="1"/>
            </p:cNvSpPr>
            <p:nvPr/>
          </p:nvSpPr>
          <p:spPr bwMode="auto">
            <a:xfrm>
              <a:off x="4851" y="1363"/>
              <a:ext cx="8" cy="8"/>
            </a:xfrm>
            <a:prstGeom prst="rect">
              <a:avLst/>
            </a:prstGeom>
            <a:solidFill>
              <a:srgbClr val="000000"/>
            </a:solidFill>
            <a:ln w="9525">
              <a:noFill/>
              <a:miter lim="800000"/>
              <a:headEnd/>
              <a:tailEnd/>
            </a:ln>
          </p:spPr>
          <p:txBody>
            <a:bodyPr/>
            <a:lstStyle/>
            <a:p>
              <a:endParaRPr lang="en-US"/>
            </a:p>
          </p:txBody>
        </p:sp>
        <p:sp>
          <p:nvSpPr>
            <p:cNvPr id="326783" name="Freeform 127"/>
            <p:cNvSpPr>
              <a:spLocks/>
            </p:cNvSpPr>
            <p:nvPr/>
          </p:nvSpPr>
          <p:spPr bwMode="auto">
            <a:xfrm>
              <a:off x="4851" y="1349"/>
              <a:ext cx="8" cy="7"/>
            </a:xfrm>
            <a:custGeom>
              <a:avLst/>
              <a:gdLst/>
              <a:ahLst/>
              <a:cxnLst>
                <a:cxn ang="0">
                  <a:pos x="0" y="7"/>
                </a:cxn>
                <a:cxn ang="0">
                  <a:pos x="8" y="7"/>
                </a:cxn>
                <a:cxn ang="0">
                  <a:pos x="8" y="3"/>
                </a:cxn>
                <a:cxn ang="0">
                  <a:pos x="8" y="0"/>
                </a:cxn>
                <a:cxn ang="0">
                  <a:pos x="3" y="0"/>
                </a:cxn>
                <a:cxn ang="0">
                  <a:pos x="0" y="0"/>
                </a:cxn>
                <a:cxn ang="0">
                  <a:pos x="0" y="7"/>
                </a:cxn>
                <a:cxn ang="0">
                  <a:pos x="3" y="7"/>
                </a:cxn>
                <a:cxn ang="0">
                  <a:pos x="3" y="3"/>
                </a:cxn>
                <a:cxn ang="0">
                  <a:pos x="0" y="3"/>
                </a:cxn>
                <a:cxn ang="0">
                  <a:pos x="0" y="7"/>
                </a:cxn>
              </a:cxnLst>
              <a:rect l="0" t="0" r="r" b="b"/>
              <a:pathLst>
                <a:path w="8" h="7">
                  <a:moveTo>
                    <a:pt x="0" y="7"/>
                  </a:moveTo>
                  <a:lnTo>
                    <a:pt x="8" y="7"/>
                  </a:lnTo>
                  <a:lnTo>
                    <a:pt x="8" y="3"/>
                  </a:lnTo>
                  <a:lnTo>
                    <a:pt x="8" y="0"/>
                  </a:lnTo>
                  <a:lnTo>
                    <a:pt x="3" y="0"/>
                  </a:lnTo>
                  <a:lnTo>
                    <a:pt x="0" y="0"/>
                  </a:lnTo>
                  <a:lnTo>
                    <a:pt x="0" y="7"/>
                  </a:lnTo>
                  <a:lnTo>
                    <a:pt x="3" y="7"/>
                  </a:lnTo>
                  <a:lnTo>
                    <a:pt x="3" y="3"/>
                  </a:lnTo>
                  <a:lnTo>
                    <a:pt x="0" y="3"/>
                  </a:lnTo>
                  <a:lnTo>
                    <a:pt x="0" y="7"/>
                  </a:lnTo>
                  <a:close/>
                </a:path>
              </a:pathLst>
            </a:custGeom>
            <a:solidFill>
              <a:srgbClr val="000000"/>
            </a:solidFill>
            <a:ln w="9525">
              <a:noFill/>
              <a:round/>
              <a:headEnd/>
              <a:tailEnd/>
            </a:ln>
          </p:spPr>
          <p:txBody>
            <a:bodyPr/>
            <a:lstStyle/>
            <a:p>
              <a:endParaRPr lang="en-US"/>
            </a:p>
          </p:txBody>
        </p:sp>
        <p:sp>
          <p:nvSpPr>
            <p:cNvPr id="326784" name="Rectangle 128"/>
            <p:cNvSpPr>
              <a:spLocks noChangeArrowheads="1"/>
            </p:cNvSpPr>
            <p:nvPr/>
          </p:nvSpPr>
          <p:spPr bwMode="auto">
            <a:xfrm>
              <a:off x="4835" y="1349"/>
              <a:ext cx="8" cy="7"/>
            </a:xfrm>
            <a:prstGeom prst="rect">
              <a:avLst/>
            </a:prstGeom>
            <a:solidFill>
              <a:srgbClr val="000000"/>
            </a:solidFill>
            <a:ln w="9525">
              <a:noFill/>
              <a:miter lim="800000"/>
              <a:headEnd/>
              <a:tailEnd/>
            </a:ln>
          </p:spPr>
          <p:txBody>
            <a:bodyPr/>
            <a:lstStyle/>
            <a:p>
              <a:endParaRPr lang="en-US"/>
            </a:p>
          </p:txBody>
        </p:sp>
        <p:sp>
          <p:nvSpPr>
            <p:cNvPr id="326785" name="Rectangle 129"/>
            <p:cNvSpPr>
              <a:spLocks noChangeArrowheads="1"/>
            </p:cNvSpPr>
            <p:nvPr/>
          </p:nvSpPr>
          <p:spPr bwMode="auto">
            <a:xfrm>
              <a:off x="4819" y="1349"/>
              <a:ext cx="8" cy="7"/>
            </a:xfrm>
            <a:prstGeom prst="rect">
              <a:avLst/>
            </a:prstGeom>
            <a:solidFill>
              <a:srgbClr val="000000"/>
            </a:solidFill>
            <a:ln w="9525">
              <a:noFill/>
              <a:miter lim="800000"/>
              <a:headEnd/>
              <a:tailEnd/>
            </a:ln>
          </p:spPr>
          <p:txBody>
            <a:bodyPr/>
            <a:lstStyle/>
            <a:p>
              <a:endParaRPr lang="en-US"/>
            </a:p>
          </p:txBody>
        </p:sp>
        <p:sp>
          <p:nvSpPr>
            <p:cNvPr id="326786" name="Rectangle 130"/>
            <p:cNvSpPr>
              <a:spLocks noChangeArrowheads="1"/>
            </p:cNvSpPr>
            <p:nvPr/>
          </p:nvSpPr>
          <p:spPr bwMode="auto">
            <a:xfrm>
              <a:off x="4803" y="1349"/>
              <a:ext cx="8" cy="7"/>
            </a:xfrm>
            <a:prstGeom prst="rect">
              <a:avLst/>
            </a:prstGeom>
            <a:solidFill>
              <a:srgbClr val="000000"/>
            </a:solidFill>
            <a:ln w="9525">
              <a:noFill/>
              <a:miter lim="800000"/>
              <a:headEnd/>
              <a:tailEnd/>
            </a:ln>
          </p:spPr>
          <p:txBody>
            <a:bodyPr/>
            <a:lstStyle/>
            <a:p>
              <a:endParaRPr lang="en-US"/>
            </a:p>
          </p:txBody>
        </p:sp>
        <p:sp>
          <p:nvSpPr>
            <p:cNvPr id="326787" name="Rectangle 131"/>
            <p:cNvSpPr>
              <a:spLocks noChangeArrowheads="1"/>
            </p:cNvSpPr>
            <p:nvPr/>
          </p:nvSpPr>
          <p:spPr bwMode="auto">
            <a:xfrm>
              <a:off x="4787" y="1349"/>
              <a:ext cx="8" cy="7"/>
            </a:xfrm>
            <a:prstGeom prst="rect">
              <a:avLst/>
            </a:prstGeom>
            <a:solidFill>
              <a:srgbClr val="000000"/>
            </a:solidFill>
            <a:ln w="9525">
              <a:noFill/>
              <a:miter lim="800000"/>
              <a:headEnd/>
              <a:tailEnd/>
            </a:ln>
          </p:spPr>
          <p:txBody>
            <a:bodyPr/>
            <a:lstStyle/>
            <a:p>
              <a:endParaRPr lang="en-US"/>
            </a:p>
          </p:txBody>
        </p:sp>
        <p:sp>
          <p:nvSpPr>
            <p:cNvPr id="326788" name="Rectangle 132"/>
            <p:cNvSpPr>
              <a:spLocks noChangeArrowheads="1"/>
            </p:cNvSpPr>
            <p:nvPr/>
          </p:nvSpPr>
          <p:spPr bwMode="auto">
            <a:xfrm>
              <a:off x="4772" y="1349"/>
              <a:ext cx="8" cy="7"/>
            </a:xfrm>
            <a:prstGeom prst="rect">
              <a:avLst/>
            </a:prstGeom>
            <a:solidFill>
              <a:srgbClr val="000000"/>
            </a:solidFill>
            <a:ln w="9525">
              <a:noFill/>
              <a:miter lim="800000"/>
              <a:headEnd/>
              <a:tailEnd/>
            </a:ln>
          </p:spPr>
          <p:txBody>
            <a:bodyPr/>
            <a:lstStyle/>
            <a:p>
              <a:endParaRPr lang="en-US"/>
            </a:p>
          </p:txBody>
        </p:sp>
        <p:sp>
          <p:nvSpPr>
            <p:cNvPr id="326789" name="Rectangle 133"/>
            <p:cNvSpPr>
              <a:spLocks noChangeArrowheads="1"/>
            </p:cNvSpPr>
            <p:nvPr/>
          </p:nvSpPr>
          <p:spPr bwMode="auto">
            <a:xfrm>
              <a:off x="4756" y="1349"/>
              <a:ext cx="8" cy="7"/>
            </a:xfrm>
            <a:prstGeom prst="rect">
              <a:avLst/>
            </a:prstGeom>
            <a:solidFill>
              <a:srgbClr val="000000"/>
            </a:solidFill>
            <a:ln w="9525">
              <a:noFill/>
              <a:miter lim="800000"/>
              <a:headEnd/>
              <a:tailEnd/>
            </a:ln>
          </p:spPr>
          <p:txBody>
            <a:bodyPr/>
            <a:lstStyle/>
            <a:p>
              <a:endParaRPr lang="en-US"/>
            </a:p>
          </p:txBody>
        </p:sp>
        <p:sp>
          <p:nvSpPr>
            <p:cNvPr id="326790" name="Rectangle 134"/>
            <p:cNvSpPr>
              <a:spLocks noChangeArrowheads="1"/>
            </p:cNvSpPr>
            <p:nvPr/>
          </p:nvSpPr>
          <p:spPr bwMode="auto">
            <a:xfrm>
              <a:off x="4740" y="1349"/>
              <a:ext cx="8" cy="7"/>
            </a:xfrm>
            <a:prstGeom prst="rect">
              <a:avLst/>
            </a:prstGeom>
            <a:solidFill>
              <a:srgbClr val="000000"/>
            </a:solidFill>
            <a:ln w="9525">
              <a:noFill/>
              <a:miter lim="800000"/>
              <a:headEnd/>
              <a:tailEnd/>
            </a:ln>
          </p:spPr>
          <p:txBody>
            <a:bodyPr/>
            <a:lstStyle/>
            <a:p>
              <a:endParaRPr lang="en-US"/>
            </a:p>
          </p:txBody>
        </p:sp>
        <p:sp>
          <p:nvSpPr>
            <p:cNvPr id="326791" name="Rectangle 135"/>
            <p:cNvSpPr>
              <a:spLocks noChangeArrowheads="1"/>
            </p:cNvSpPr>
            <p:nvPr/>
          </p:nvSpPr>
          <p:spPr bwMode="auto">
            <a:xfrm>
              <a:off x="4724" y="1349"/>
              <a:ext cx="8" cy="7"/>
            </a:xfrm>
            <a:prstGeom prst="rect">
              <a:avLst/>
            </a:prstGeom>
            <a:solidFill>
              <a:srgbClr val="000000"/>
            </a:solidFill>
            <a:ln w="9525">
              <a:noFill/>
              <a:miter lim="800000"/>
              <a:headEnd/>
              <a:tailEnd/>
            </a:ln>
          </p:spPr>
          <p:txBody>
            <a:bodyPr/>
            <a:lstStyle/>
            <a:p>
              <a:endParaRPr lang="en-US"/>
            </a:p>
          </p:txBody>
        </p:sp>
        <p:sp>
          <p:nvSpPr>
            <p:cNvPr id="326792" name="Rectangle 136"/>
            <p:cNvSpPr>
              <a:spLocks noChangeArrowheads="1"/>
            </p:cNvSpPr>
            <p:nvPr/>
          </p:nvSpPr>
          <p:spPr bwMode="auto">
            <a:xfrm>
              <a:off x="4708" y="1349"/>
              <a:ext cx="8" cy="7"/>
            </a:xfrm>
            <a:prstGeom prst="rect">
              <a:avLst/>
            </a:prstGeom>
            <a:solidFill>
              <a:srgbClr val="000000"/>
            </a:solidFill>
            <a:ln w="9525">
              <a:noFill/>
              <a:miter lim="800000"/>
              <a:headEnd/>
              <a:tailEnd/>
            </a:ln>
          </p:spPr>
          <p:txBody>
            <a:bodyPr/>
            <a:lstStyle/>
            <a:p>
              <a:endParaRPr lang="en-US"/>
            </a:p>
          </p:txBody>
        </p:sp>
        <p:sp>
          <p:nvSpPr>
            <p:cNvPr id="326793" name="Rectangle 137"/>
            <p:cNvSpPr>
              <a:spLocks noChangeArrowheads="1"/>
            </p:cNvSpPr>
            <p:nvPr/>
          </p:nvSpPr>
          <p:spPr bwMode="auto">
            <a:xfrm>
              <a:off x="4693" y="1349"/>
              <a:ext cx="8" cy="7"/>
            </a:xfrm>
            <a:prstGeom prst="rect">
              <a:avLst/>
            </a:prstGeom>
            <a:solidFill>
              <a:srgbClr val="000000"/>
            </a:solidFill>
            <a:ln w="9525">
              <a:noFill/>
              <a:miter lim="800000"/>
              <a:headEnd/>
              <a:tailEnd/>
            </a:ln>
          </p:spPr>
          <p:txBody>
            <a:bodyPr/>
            <a:lstStyle/>
            <a:p>
              <a:endParaRPr lang="en-US"/>
            </a:p>
          </p:txBody>
        </p:sp>
        <p:sp>
          <p:nvSpPr>
            <p:cNvPr id="326794" name="Rectangle 138"/>
            <p:cNvSpPr>
              <a:spLocks noChangeArrowheads="1"/>
            </p:cNvSpPr>
            <p:nvPr/>
          </p:nvSpPr>
          <p:spPr bwMode="auto">
            <a:xfrm>
              <a:off x="4677" y="1349"/>
              <a:ext cx="8" cy="7"/>
            </a:xfrm>
            <a:prstGeom prst="rect">
              <a:avLst/>
            </a:prstGeom>
            <a:solidFill>
              <a:srgbClr val="000000"/>
            </a:solidFill>
            <a:ln w="9525">
              <a:noFill/>
              <a:miter lim="800000"/>
              <a:headEnd/>
              <a:tailEnd/>
            </a:ln>
          </p:spPr>
          <p:txBody>
            <a:bodyPr/>
            <a:lstStyle/>
            <a:p>
              <a:endParaRPr lang="en-US"/>
            </a:p>
          </p:txBody>
        </p:sp>
        <p:sp>
          <p:nvSpPr>
            <p:cNvPr id="326795" name="Rectangle 139"/>
            <p:cNvSpPr>
              <a:spLocks noChangeArrowheads="1"/>
            </p:cNvSpPr>
            <p:nvPr/>
          </p:nvSpPr>
          <p:spPr bwMode="auto">
            <a:xfrm>
              <a:off x="4661" y="1349"/>
              <a:ext cx="8" cy="7"/>
            </a:xfrm>
            <a:prstGeom prst="rect">
              <a:avLst/>
            </a:prstGeom>
            <a:solidFill>
              <a:srgbClr val="000000"/>
            </a:solidFill>
            <a:ln w="9525">
              <a:noFill/>
              <a:miter lim="800000"/>
              <a:headEnd/>
              <a:tailEnd/>
            </a:ln>
          </p:spPr>
          <p:txBody>
            <a:bodyPr/>
            <a:lstStyle/>
            <a:p>
              <a:endParaRPr lang="en-US"/>
            </a:p>
          </p:txBody>
        </p:sp>
        <p:sp>
          <p:nvSpPr>
            <p:cNvPr id="326796" name="Rectangle 140"/>
            <p:cNvSpPr>
              <a:spLocks noChangeArrowheads="1"/>
            </p:cNvSpPr>
            <p:nvPr/>
          </p:nvSpPr>
          <p:spPr bwMode="auto">
            <a:xfrm>
              <a:off x="4645" y="1349"/>
              <a:ext cx="8" cy="7"/>
            </a:xfrm>
            <a:prstGeom prst="rect">
              <a:avLst/>
            </a:prstGeom>
            <a:solidFill>
              <a:srgbClr val="000000"/>
            </a:solidFill>
            <a:ln w="9525">
              <a:noFill/>
              <a:miter lim="800000"/>
              <a:headEnd/>
              <a:tailEnd/>
            </a:ln>
          </p:spPr>
          <p:txBody>
            <a:bodyPr/>
            <a:lstStyle/>
            <a:p>
              <a:endParaRPr lang="en-US"/>
            </a:p>
          </p:txBody>
        </p:sp>
        <p:sp>
          <p:nvSpPr>
            <p:cNvPr id="326797" name="Rectangle 141"/>
            <p:cNvSpPr>
              <a:spLocks noChangeArrowheads="1"/>
            </p:cNvSpPr>
            <p:nvPr/>
          </p:nvSpPr>
          <p:spPr bwMode="auto">
            <a:xfrm>
              <a:off x="4629" y="1349"/>
              <a:ext cx="8" cy="7"/>
            </a:xfrm>
            <a:prstGeom prst="rect">
              <a:avLst/>
            </a:prstGeom>
            <a:solidFill>
              <a:srgbClr val="000000"/>
            </a:solidFill>
            <a:ln w="9525">
              <a:noFill/>
              <a:miter lim="800000"/>
              <a:headEnd/>
              <a:tailEnd/>
            </a:ln>
          </p:spPr>
          <p:txBody>
            <a:bodyPr/>
            <a:lstStyle/>
            <a:p>
              <a:endParaRPr lang="en-US"/>
            </a:p>
          </p:txBody>
        </p:sp>
        <p:sp>
          <p:nvSpPr>
            <p:cNvPr id="326798" name="Rectangle 142"/>
            <p:cNvSpPr>
              <a:spLocks noChangeArrowheads="1"/>
            </p:cNvSpPr>
            <p:nvPr/>
          </p:nvSpPr>
          <p:spPr bwMode="auto">
            <a:xfrm>
              <a:off x="4614" y="1349"/>
              <a:ext cx="7" cy="7"/>
            </a:xfrm>
            <a:prstGeom prst="rect">
              <a:avLst/>
            </a:prstGeom>
            <a:solidFill>
              <a:srgbClr val="000000"/>
            </a:solidFill>
            <a:ln w="9525">
              <a:noFill/>
              <a:miter lim="800000"/>
              <a:headEnd/>
              <a:tailEnd/>
            </a:ln>
          </p:spPr>
          <p:txBody>
            <a:bodyPr/>
            <a:lstStyle/>
            <a:p>
              <a:endParaRPr lang="en-US"/>
            </a:p>
          </p:txBody>
        </p:sp>
        <p:sp>
          <p:nvSpPr>
            <p:cNvPr id="326799" name="Rectangle 143"/>
            <p:cNvSpPr>
              <a:spLocks noChangeArrowheads="1"/>
            </p:cNvSpPr>
            <p:nvPr/>
          </p:nvSpPr>
          <p:spPr bwMode="auto">
            <a:xfrm>
              <a:off x="4598" y="1349"/>
              <a:ext cx="8" cy="7"/>
            </a:xfrm>
            <a:prstGeom prst="rect">
              <a:avLst/>
            </a:prstGeom>
            <a:solidFill>
              <a:srgbClr val="000000"/>
            </a:solidFill>
            <a:ln w="9525">
              <a:noFill/>
              <a:miter lim="800000"/>
              <a:headEnd/>
              <a:tailEnd/>
            </a:ln>
          </p:spPr>
          <p:txBody>
            <a:bodyPr/>
            <a:lstStyle/>
            <a:p>
              <a:endParaRPr lang="en-US"/>
            </a:p>
          </p:txBody>
        </p:sp>
        <p:sp>
          <p:nvSpPr>
            <p:cNvPr id="326800" name="Rectangle 144"/>
            <p:cNvSpPr>
              <a:spLocks noChangeArrowheads="1"/>
            </p:cNvSpPr>
            <p:nvPr/>
          </p:nvSpPr>
          <p:spPr bwMode="auto">
            <a:xfrm>
              <a:off x="4582" y="1349"/>
              <a:ext cx="8" cy="7"/>
            </a:xfrm>
            <a:prstGeom prst="rect">
              <a:avLst/>
            </a:prstGeom>
            <a:solidFill>
              <a:srgbClr val="000000"/>
            </a:solidFill>
            <a:ln w="9525">
              <a:noFill/>
              <a:miter lim="800000"/>
              <a:headEnd/>
              <a:tailEnd/>
            </a:ln>
          </p:spPr>
          <p:txBody>
            <a:bodyPr/>
            <a:lstStyle/>
            <a:p>
              <a:endParaRPr lang="en-US"/>
            </a:p>
          </p:txBody>
        </p:sp>
        <p:sp>
          <p:nvSpPr>
            <p:cNvPr id="326801" name="Rectangle 145"/>
            <p:cNvSpPr>
              <a:spLocks noChangeArrowheads="1"/>
            </p:cNvSpPr>
            <p:nvPr/>
          </p:nvSpPr>
          <p:spPr bwMode="auto">
            <a:xfrm>
              <a:off x="4566" y="1349"/>
              <a:ext cx="8" cy="7"/>
            </a:xfrm>
            <a:prstGeom prst="rect">
              <a:avLst/>
            </a:prstGeom>
            <a:solidFill>
              <a:srgbClr val="000000"/>
            </a:solidFill>
            <a:ln w="9525">
              <a:noFill/>
              <a:miter lim="800000"/>
              <a:headEnd/>
              <a:tailEnd/>
            </a:ln>
          </p:spPr>
          <p:txBody>
            <a:bodyPr/>
            <a:lstStyle/>
            <a:p>
              <a:endParaRPr lang="en-US"/>
            </a:p>
          </p:txBody>
        </p:sp>
        <p:sp>
          <p:nvSpPr>
            <p:cNvPr id="326802" name="Rectangle 146"/>
            <p:cNvSpPr>
              <a:spLocks noChangeArrowheads="1"/>
            </p:cNvSpPr>
            <p:nvPr/>
          </p:nvSpPr>
          <p:spPr bwMode="auto">
            <a:xfrm>
              <a:off x="4550" y="1349"/>
              <a:ext cx="8" cy="7"/>
            </a:xfrm>
            <a:prstGeom prst="rect">
              <a:avLst/>
            </a:prstGeom>
            <a:solidFill>
              <a:srgbClr val="000000"/>
            </a:solidFill>
            <a:ln w="9525">
              <a:noFill/>
              <a:miter lim="800000"/>
              <a:headEnd/>
              <a:tailEnd/>
            </a:ln>
          </p:spPr>
          <p:txBody>
            <a:bodyPr/>
            <a:lstStyle/>
            <a:p>
              <a:endParaRPr lang="en-US"/>
            </a:p>
          </p:txBody>
        </p:sp>
        <p:sp>
          <p:nvSpPr>
            <p:cNvPr id="326803" name="Rectangle 147"/>
            <p:cNvSpPr>
              <a:spLocks noChangeArrowheads="1"/>
            </p:cNvSpPr>
            <p:nvPr/>
          </p:nvSpPr>
          <p:spPr bwMode="auto">
            <a:xfrm>
              <a:off x="4534" y="1349"/>
              <a:ext cx="8" cy="7"/>
            </a:xfrm>
            <a:prstGeom prst="rect">
              <a:avLst/>
            </a:prstGeom>
            <a:solidFill>
              <a:srgbClr val="000000"/>
            </a:solidFill>
            <a:ln w="9525">
              <a:noFill/>
              <a:miter lim="800000"/>
              <a:headEnd/>
              <a:tailEnd/>
            </a:ln>
          </p:spPr>
          <p:txBody>
            <a:bodyPr/>
            <a:lstStyle/>
            <a:p>
              <a:endParaRPr lang="en-US"/>
            </a:p>
          </p:txBody>
        </p:sp>
        <p:sp>
          <p:nvSpPr>
            <p:cNvPr id="326804" name="Rectangle 148"/>
            <p:cNvSpPr>
              <a:spLocks noChangeArrowheads="1"/>
            </p:cNvSpPr>
            <p:nvPr/>
          </p:nvSpPr>
          <p:spPr bwMode="auto">
            <a:xfrm>
              <a:off x="4519" y="1349"/>
              <a:ext cx="8" cy="7"/>
            </a:xfrm>
            <a:prstGeom prst="rect">
              <a:avLst/>
            </a:prstGeom>
            <a:solidFill>
              <a:srgbClr val="000000"/>
            </a:solidFill>
            <a:ln w="9525">
              <a:noFill/>
              <a:miter lim="800000"/>
              <a:headEnd/>
              <a:tailEnd/>
            </a:ln>
          </p:spPr>
          <p:txBody>
            <a:bodyPr/>
            <a:lstStyle/>
            <a:p>
              <a:endParaRPr lang="en-US"/>
            </a:p>
          </p:txBody>
        </p:sp>
        <p:sp>
          <p:nvSpPr>
            <p:cNvPr id="326805" name="Rectangle 149"/>
            <p:cNvSpPr>
              <a:spLocks noChangeArrowheads="1"/>
            </p:cNvSpPr>
            <p:nvPr/>
          </p:nvSpPr>
          <p:spPr bwMode="auto">
            <a:xfrm>
              <a:off x="4503" y="1349"/>
              <a:ext cx="8" cy="7"/>
            </a:xfrm>
            <a:prstGeom prst="rect">
              <a:avLst/>
            </a:prstGeom>
            <a:solidFill>
              <a:srgbClr val="000000"/>
            </a:solidFill>
            <a:ln w="9525">
              <a:noFill/>
              <a:miter lim="800000"/>
              <a:headEnd/>
              <a:tailEnd/>
            </a:ln>
          </p:spPr>
          <p:txBody>
            <a:bodyPr/>
            <a:lstStyle/>
            <a:p>
              <a:endParaRPr lang="en-US"/>
            </a:p>
          </p:txBody>
        </p:sp>
        <p:sp>
          <p:nvSpPr>
            <p:cNvPr id="326806" name="Rectangle 150"/>
            <p:cNvSpPr>
              <a:spLocks noChangeArrowheads="1"/>
            </p:cNvSpPr>
            <p:nvPr/>
          </p:nvSpPr>
          <p:spPr bwMode="auto">
            <a:xfrm>
              <a:off x="4487" y="1349"/>
              <a:ext cx="8" cy="7"/>
            </a:xfrm>
            <a:prstGeom prst="rect">
              <a:avLst/>
            </a:prstGeom>
            <a:solidFill>
              <a:srgbClr val="000000"/>
            </a:solidFill>
            <a:ln w="9525">
              <a:noFill/>
              <a:miter lim="800000"/>
              <a:headEnd/>
              <a:tailEnd/>
            </a:ln>
          </p:spPr>
          <p:txBody>
            <a:bodyPr/>
            <a:lstStyle/>
            <a:p>
              <a:endParaRPr lang="en-US"/>
            </a:p>
          </p:txBody>
        </p:sp>
        <p:sp>
          <p:nvSpPr>
            <p:cNvPr id="326807" name="Rectangle 151"/>
            <p:cNvSpPr>
              <a:spLocks noChangeArrowheads="1"/>
            </p:cNvSpPr>
            <p:nvPr/>
          </p:nvSpPr>
          <p:spPr bwMode="auto">
            <a:xfrm>
              <a:off x="4471" y="1349"/>
              <a:ext cx="8" cy="7"/>
            </a:xfrm>
            <a:prstGeom prst="rect">
              <a:avLst/>
            </a:prstGeom>
            <a:solidFill>
              <a:srgbClr val="000000"/>
            </a:solidFill>
            <a:ln w="9525">
              <a:noFill/>
              <a:miter lim="800000"/>
              <a:headEnd/>
              <a:tailEnd/>
            </a:ln>
          </p:spPr>
          <p:txBody>
            <a:bodyPr/>
            <a:lstStyle/>
            <a:p>
              <a:endParaRPr lang="en-US"/>
            </a:p>
          </p:txBody>
        </p:sp>
        <p:sp>
          <p:nvSpPr>
            <p:cNvPr id="326808" name="Rectangle 152"/>
            <p:cNvSpPr>
              <a:spLocks noChangeArrowheads="1"/>
            </p:cNvSpPr>
            <p:nvPr/>
          </p:nvSpPr>
          <p:spPr bwMode="auto">
            <a:xfrm>
              <a:off x="4455" y="1349"/>
              <a:ext cx="8" cy="7"/>
            </a:xfrm>
            <a:prstGeom prst="rect">
              <a:avLst/>
            </a:prstGeom>
            <a:solidFill>
              <a:srgbClr val="000000"/>
            </a:solidFill>
            <a:ln w="9525">
              <a:noFill/>
              <a:miter lim="800000"/>
              <a:headEnd/>
              <a:tailEnd/>
            </a:ln>
          </p:spPr>
          <p:txBody>
            <a:bodyPr/>
            <a:lstStyle/>
            <a:p>
              <a:endParaRPr lang="en-US"/>
            </a:p>
          </p:txBody>
        </p:sp>
        <p:sp>
          <p:nvSpPr>
            <p:cNvPr id="326809" name="Rectangle 153"/>
            <p:cNvSpPr>
              <a:spLocks noChangeArrowheads="1"/>
            </p:cNvSpPr>
            <p:nvPr/>
          </p:nvSpPr>
          <p:spPr bwMode="auto">
            <a:xfrm>
              <a:off x="4440" y="1349"/>
              <a:ext cx="7" cy="7"/>
            </a:xfrm>
            <a:prstGeom prst="rect">
              <a:avLst/>
            </a:prstGeom>
            <a:solidFill>
              <a:srgbClr val="000000"/>
            </a:solidFill>
            <a:ln w="9525">
              <a:noFill/>
              <a:miter lim="800000"/>
              <a:headEnd/>
              <a:tailEnd/>
            </a:ln>
          </p:spPr>
          <p:txBody>
            <a:bodyPr/>
            <a:lstStyle/>
            <a:p>
              <a:endParaRPr lang="en-US"/>
            </a:p>
          </p:txBody>
        </p:sp>
        <p:sp>
          <p:nvSpPr>
            <p:cNvPr id="326810" name="Rectangle 154"/>
            <p:cNvSpPr>
              <a:spLocks noChangeArrowheads="1"/>
            </p:cNvSpPr>
            <p:nvPr/>
          </p:nvSpPr>
          <p:spPr bwMode="auto">
            <a:xfrm>
              <a:off x="4424" y="1349"/>
              <a:ext cx="8" cy="7"/>
            </a:xfrm>
            <a:prstGeom prst="rect">
              <a:avLst/>
            </a:prstGeom>
            <a:solidFill>
              <a:srgbClr val="000000"/>
            </a:solidFill>
            <a:ln w="9525">
              <a:noFill/>
              <a:miter lim="800000"/>
              <a:headEnd/>
              <a:tailEnd/>
            </a:ln>
          </p:spPr>
          <p:txBody>
            <a:bodyPr/>
            <a:lstStyle/>
            <a:p>
              <a:endParaRPr lang="en-US"/>
            </a:p>
          </p:txBody>
        </p:sp>
        <p:sp>
          <p:nvSpPr>
            <p:cNvPr id="326811" name="Rectangle 155"/>
            <p:cNvSpPr>
              <a:spLocks noChangeArrowheads="1"/>
            </p:cNvSpPr>
            <p:nvPr/>
          </p:nvSpPr>
          <p:spPr bwMode="auto">
            <a:xfrm>
              <a:off x="4408" y="1349"/>
              <a:ext cx="8" cy="7"/>
            </a:xfrm>
            <a:prstGeom prst="rect">
              <a:avLst/>
            </a:prstGeom>
            <a:solidFill>
              <a:srgbClr val="000000"/>
            </a:solidFill>
            <a:ln w="9525">
              <a:noFill/>
              <a:miter lim="800000"/>
              <a:headEnd/>
              <a:tailEnd/>
            </a:ln>
          </p:spPr>
          <p:txBody>
            <a:bodyPr/>
            <a:lstStyle/>
            <a:p>
              <a:endParaRPr lang="en-US"/>
            </a:p>
          </p:txBody>
        </p:sp>
        <p:sp>
          <p:nvSpPr>
            <p:cNvPr id="326812" name="Rectangle 156"/>
            <p:cNvSpPr>
              <a:spLocks noChangeArrowheads="1"/>
            </p:cNvSpPr>
            <p:nvPr/>
          </p:nvSpPr>
          <p:spPr bwMode="auto">
            <a:xfrm>
              <a:off x="4392" y="1349"/>
              <a:ext cx="8" cy="7"/>
            </a:xfrm>
            <a:prstGeom prst="rect">
              <a:avLst/>
            </a:prstGeom>
            <a:solidFill>
              <a:srgbClr val="000000"/>
            </a:solidFill>
            <a:ln w="9525">
              <a:noFill/>
              <a:miter lim="800000"/>
              <a:headEnd/>
              <a:tailEnd/>
            </a:ln>
          </p:spPr>
          <p:txBody>
            <a:bodyPr/>
            <a:lstStyle/>
            <a:p>
              <a:endParaRPr lang="en-US"/>
            </a:p>
          </p:txBody>
        </p:sp>
        <p:sp>
          <p:nvSpPr>
            <p:cNvPr id="326813" name="Rectangle 157"/>
            <p:cNvSpPr>
              <a:spLocks noChangeArrowheads="1"/>
            </p:cNvSpPr>
            <p:nvPr/>
          </p:nvSpPr>
          <p:spPr bwMode="auto">
            <a:xfrm>
              <a:off x="4376" y="1349"/>
              <a:ext cx="8" cy="7"/>
            </a:xfrm>
            <a:prstGeom prst="rect">
              <a:avLst/>
            </a:prstGeom>
            <a:solidFill>
              <a:srgbClr val="000000"/>
            </a:solidFill>
            <a:ln w="9525">
              <a:noFill/>
              <a:miter lim="800000"/>
              <a:headEnd/>
              <a:tailEnd/>
            </a:ln>
          </p:spPr>
          <p:txBody>
            <a:bodyPr/>
            <a:lstStyle/>
            <a:p>
              <a:endParaRPr lang="en-US"/>
            </a:p>
          </p:txBody>
        </p:sp>
        <p:sp>
          <p:nvSpPr>
            <p:cNvPr id="326814" name="Rectangle 158"/>
            <p:cNvSpPr>
              <a:spLocks noChangeArrowheads="1"/>
            </p:cNvSpPr>
            <p:nvPr/>
          </p:nvSpPr>
          <p:spPr bwMode="auto">
            <a:xfrm>
              <a:off x="4361" y="1349"/>
              <a:ext cx="7" cy="7"/>
            </a:xfrm>
            <a:prstGeom prst="rect">
              <a:avLst/>
            </a:prstGeom>
            <a:solidFill>
              <a:srgbClr val="000000"/>
            </a:solidFill>
            <a:ln w="9525">
              <a:noFill/>
              <a:miter lim="800000"/>
              <a:headEnd/>
              <a:tailEnd/>
            </a:ln>
          </p:spPr>
          <p:txBody>
            <a:bodyPr/>
            <a:lstStyle/>
            <a:p>
              <a:endParaRPr lang="en-US"/>
            </a:p>
          </p:txBody>
        </p:sp>
        <p:sp>
          <p:nvSpPr>
            <p:cNvPr id="326815" name="Rectangle 159"/>
            <p:cNvSpPr>
              <a:spLocks noChangeArrowheads="1"/>
            </p:cNvSpPr>
            <p:nvPr/>
          </p:nvSpPr>
          <p:spPr bwMode="auto">
            <a:xfrm>
              <a:off x="4345" y="1349"/>
              <a:ext cx="8" cy="7"/>
            </a:xfrm>
            <a:prstGeom prst="rect">
              <a:avLst/>
            </a:prstGeom>
            <a:solidFill>
              <a:srgbClr val="000000"/>
            </a:solidFill>
            <a:ln w="9525">
              <a:noFill/>
              <a:miter lim="800000"/>
              <a:headEnd/>
              <a:tailEnd/>
            </a:ln>
          </p:spPr>
          <p:txBody>
            <a:bodyPr/>
            <a:lstStyle/>
            <a:p>
              <a:endParaRPr lang="en-US"/>
            </a:p>
          </p:txBody>
        </p:sp>
        <p:sp>
          <p:nvSpPr>
            <p:cNvPr id="326816" name="Rectangle 160"/>
            <p:cNvSpPr>
              <a:spLocks noChangeArrowheads="1"/>
            </p:cNvSpPr>
            <p:nvPr/>
          </p:nvSpPr>
          <p:spPr bwMode="auto">
            <a:xfrm>
              <a:off x="4329" y="1349"/>
              <a:ext cx="8" cy="7"/>
            </a:xfrm>
            <a:prstGeom prst="rect">
              <a:avLst/>
            </a:prstGeom>
            <a:solidFill>
              <a:srgbClr val="000000"/>
            </a:solidFill>
            <a:ln w="9525">
              <a:noFill/>
              <a:miter lim="800000"/>
              <a:headEnd/>
              <a:tailEnd/>
            </a:ln>
          </p:spPr>
          <p:txBody>
            <a:bodyPr/>
            <a:lstStyle/>
            <a:p>
              <a:endParaRPr lang="en-US"/>
            </a:p>
          </p:txBody>
        </p:sp>
        <p:sp>
          <p:nvSpPr>
            <p:cNvPr id="326817" name="Rectangle 161"/>
            <p:cNvSpPr>
              <a:spLocks noChangeArrowheads="1"/>
            </p:cNvSpPr>
            <p:nvPr/>
          </p:nvSpPr>
          <p:spPr bwMode="auto">
            <a:xfrm>
              <a:off x="4313" y="1349"/>
              <a:ext cx="8" cy="7"/>
            </a:xfrm>
            <a:prstGeom prst="rect">
              <a:avLst/>
            </a:prstGeom>
            <a:solidFill>
              <a:srgbClr val="000000"/>
            </a:solidFill>
            <a:ln w="9525">
              <a:noFill/>
              <a:miter lim="800000"/>
              <a:headEnd/>
              <a:tailEnd/>
            </a:ln>
          </p:spPr>
          <p:txBody>
            <a:bodyPr/>
            <a:lstStyle/>
            <a:p>
              <a:endParaRPr lang="en-US"/>
            </a:p>
          </p:txBody>
        </p:sp>
        <p:sp>
          <p:nvSpPr>
            <p:cNvPr id="326818" name="Rectangle 162"/>
            <p:cNvSpPr>
              <a:spLocks noChangeArrowheads="1"/>
            </p:cNvSpPr>
            <p:nvPr/>
          </p:nvSpPr>
          <p:spPr bwMode="auto">
            <a:xfrm>
              <a:off x="4297" y="1349"/>
              <a:ext cx="8" cy="7"/>
            </a:xfrm>
            <a:prstGeom prst="rect">
              <a:avLst/>
            </a:prstGeom>
            <a:solidFill>
              <a:srgbClr val="000000"/>
            </a:solidFill>
            <a:ln w="9525">
              <a:noFill/>
              <a:miter lim="800000"/>
              <a:headEnd/>
              <a:tailEnd/>
            </a:ln>
          </p:spPr>
          <p:txBody>
            <a:bodyPr/>
            <a:lstStyle/>
            <a:p>
              <a:endParaRPr lang="en-US"/>
            </a:p>
          </p:txBody>
        </p:sp>
        <p:sp>
          <p:nvSpPr>
            <p:cNvPr id="326819" name="Rectangle 163"/>
            <p:cNvSpPr>
              <a:spLocks noChangeArrowheads="1"/>
            </p:cNvSpPr>
            <p:nvPr/>
          </p:nvSpPr>
          <p:spPr bwMode="auto">
            <a:xfrm>
              <a:off x="4281" y="1349"/>
              <a:ext cx="8" cy="7"/>
            </a:xfrm>
            <a:prstGeom prst="rect">
              <a:avLst/>
            </a:prstGeom>
            <a:solidFill>
              <a:srgbClr val="000000"/>
            </a:solidFill>
            <a:ln w="9525">
              <a:noFill/>
              <a:miter lim="800000"/>
              <a:headEnd/>
              <a:tailEnd/>
            </a:ln>
          </p:spPr>
          <p:txBody>
            <a:bodyPr/>
            <a:lstStyle/>
            <a:p>
              <a:endParaRPr lang="en-US"/>
            </a:p>
          </p:txBody>
        </p:sp>
        <p:sp>
          <p:nvSpPr>
            <p:cNvPr id="326820" name="Rectangle 164"/>
            <p:cNvSpPr>
              <a:spLocks noChangeArrowheads="1"/>
            </p:cNvSpPr>
            <p:nvPr/>
          </p:nvSpPr>
          <p:spPr bwMode="auto">
            <a:xfrm>
              <a:off x="4266" y="1349"/>
              <a:ext cx="8" cy="7"/>
            </a:xfrm>
            <a:prstGeom prst="rect">
              <a:avLst/>
            </a:prstGeom>
            <a:solidFill>
              <a:srgbClr val="000000"/>
            </a:solidFill>
            <a:ln w="9525">
              <a:noFill/>
              <a:miter lim="800000"/>
              <a:headEnd/>
              <a:tailEnd/>
            </a:ln>
          </p:spPr>
          <p:txBody>
            <a:bodyPr/>
            <a:lstStyle/>
            <a:p>
              <a:endParaRPr lang="en-US"/>
            </a:p>
          </p:txBody>
        </p:sp>
        <p:sp>
          <p:nvSpPr>
            <p:cNvPr id="326821" name="Rectangle 165"/>
            <p:cNvSpPr>
              <a:spLocks noChangeArrowheads="1"/>
            </p:cNvSpPr>
            <p:nvPr/>
          </p:nvSpPr>
          <p:spPr bwMode="auto">
            <a:xfrm>
              <a:off x="4250" y="1349"/>
              <a:ext cx="8" cy="7"/>
            </a:xfrm>
            <a:prstGeom prst="rect">
              <a:avLst/>
            </a:prstGeom>
            <a:solidFill>
              <a:srgbClr val="000000"/>
            </a:solidFill>
            <a:ln w="9525">
              <a:noFill/>
              <a:miter lim="800000"/>
              <a:headEnd/>
              <a:tailEnd/>
            </a:ln>
          </p:spPr>
          <p:txBody>
            <a:bodyPr/>
            <a:lstStyle/>
            <a:p>
              <a:endParaRPr lang="en-US"/>
            </a:p>
          </p:txBody>
        </p:sp>
        <p:sp>
          <p:nvSpPr>
            <p:cNvPr id="326822" name="Rectangle 166"/>
            <p:cNvSpPr>
              <a:spLocks noChangeArrowheads="1"/>
            </p:cNvSpPr>
            <p:nvPr/>
          </p:nvSpPr>
          <p:spPr bwMode="auto">
            <a:xfrm>
              <a:off x="4234" y="1349"/>
              <a:ext cx="8" cy="7"/>
            </a:xfrm>
            <a:prstGeom prst="rect">
              <a:avLst/>
            </a:prstGeom>
            <a:solidFill>
              <a:srgbClr val="000000"/>
            </a:solidFill>
            <a:ln w="9525">
              <a:noFill/>
              <a:miter lim="800000"/>
              <a:headEnd/>
              <a:tailEnd/>
            </a:ln>
          </p:spPr>
          <p:txBody>
            <a:bodyPr/>
            <a:lstStyle/>
            <a:p>
              <a:endParaRPr lang="en-US"/>
            </a:p>
          </p:txBody>
        </p:sp>
        <p:sp>
          <p:nvSpPr>
            <p:cNvPr id="326823" name="Rectangle 167"/>
            <p:cNvSpPr>
              <a:spLocks noChangeArrowheads="1"/>
            </p:cNvSpPr>
            <p:nvPr/>
          </p:nvSpPr>
          <p:spPr bwMode="auto">
            <a:xfrm>
              <a:off x="4218" y="1349"/>
              <a:ext cx="8" cy="7"/>
            </a:xfrm>
            <a:prstGeom prst="rect">
              <a:avLst/>
            </a:prstGeom>
            <a:solidFill>
              <a:srgbClr val="000000"/>
            </a:solidFill>
            <a:ln w="9525">
              <a:noFill/>
              <a:miter lim="800000"/>
              <a:headEnd/>
              <a:tailEnd/>
            </a:ln>
          </p:spPr>
          <p:txBody>
            <a:bodyPr/>
            <a:lstStyle/>
            <a:p>
              <a:endParaRPr lang="en-US"/>
            </a:p>
          </p:txBody>
        </p:sp>
        <p:sp>
          <p:nvSpPr>
            <p:cNvPr id="326824" name="Rectangle 168"/>
            <p:cNvSpPr>
              <a:spLocks noChangeArrowheads="1"/>
            </p:cNvSpPr>
            <p:nvPr/>
          </p:nvSpPr>
          <p:spPr bwMode="auto">
            <a:xfrm>
              <a:off x="4202" y="1349"/>
              <a:ext cx="8" cy="7"/>
            </a:xfrm>
            <a:prstGeom prst="rect">
              <a:avLst/>
            </a:prstGeom>
            <a:solidFill>
              <a:srgbClr val="000000"/>
            </a:solidFill>
            <a:ln w="9525">
              <a:noFill/>
              <a:miter lim="800000"/>
              <a:headEnd/>
              <a:tailEnd/>
            </a:ln>
          </p:spPr>
          <p:txBody>
            <a:bodyPr/>
            <a:lstStyle/>
            <a:p>
              <a:endParaRPr lang="en-US"/>
            </a:p>
          </p:txBody>
        </p:sp>
      </p:grpSp>
      <p:sp>
        <p:nvSpPr>
          <p:cNvPr id="326825" name="Rectangle 169"/>
          <p:cNvSpPr>
            <a:spLocks noChangeArrowheads="1"/>
          </p:cNvSpPr>
          <p:nvPr/>
        </p:nvSpPr>
        <p:spPr bwMode="auto">
          <a:xfrm>
            <a:off x="6743700" y="2170113"/>
            <a:ext cx="979488" cy="214312"/>
          </a:xfrm>
          <a:prstGeom prst="rect">
            <a:avLst/>
          </a:prstGeom>
          <a:noFill/>
          <a:ln w="9525">
            <a:noFill/>
            <a:miter lim="800000"/>
            <a:headEnd/>
            <a:tailEnd/>
          </a:ln>
        </p:spPr>
        <p:txBody>
          <a:bodyPr/>
          <a:lstStyle/>
          <a:p>
            <a:endParaRPr lang="en-US"/>
          </a:p>
        </p:txBody>
      </p:sp>
      <p:sp>
        <p:nvSpPr>
          <p:cNvPr id="326826" name="Rectangle 170"/>
          <p:cNvSpPr>
            <a:spLocks noChangeArrowheads="1"/>
          </p:cNvSpPr>
          <p:nvPr/>
        </p:nvSpPr>
        <p:spPr bwMode="auto">
          <a:xfrm>
            <a:off x="6743700" y="2173288"/>
            <a:ext cx="1042988"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FORECAST</a:t>
            </a:r>
            <a:endParaRPr lang="en-US" sz="2400" b="0" i="0">
              <a:effectLst/>
            </a:endParaRPr>
          </a:p>
        </p:txBody>
      </p:sp>
      <p:sp>
        <p:nvSpPr>
          <p:cNvPr id="326827" name="Rectangle 171"/>
          <p:cNvSpPr>
            <a:spLocks noChangeArrowheads="1"/>
          </p:cNvSpPr>
          <p:nvPr/>
        </p:nvSpPr>
        <p:spPr bwMode="auto">
          <a:xfrm>
            <a:off x="7639050" y="2187575"/>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828" name="Rectangle 172"/>
          <p:cNvSpPr>
            <a:spLocks noChangeArrowheads="1"/>
          </p:cNvSpPr>
          <p:nvPr/>
        </p:nvSpPr>
        <p:spPr bwMode="auto">
          <a:xfrm>
            <a:off x="6851650" y="2344738"/>
            <a:ext cx="750888" cy="215900"/>
          </a:xfrm>
          <a:prstGeom prst="rect">
            <a:avLst/>
          </a:prstGeom>
          <a:noFill/>
          <a:ln w="9525">
            <a:noFill/>
            <a:miter lim="800000"/>
            <a:headEnd/>
            <a:tailEnd/>
          </a:ln>
        </p:spPr>
        <p:txBody>
          <a:bodyPr/>
          <a:lstStyle/>
          <a:p>
            <a:endParaRPr lang="en-US"/>
          </a:p>
        </p:txBody>
      </p:sp>
      <p:sp>
        <p:nvSpPr>
          <p:cNvPr id="326829" name="Rectangle 173"/>
          <p:cNvSpPr>
            <a:spLocks noChangeArrowheads="1"/>
          </p:cNvSpPr>
          <p:nvPr/>
        </p:nvSpPr>
        <p:spPr bwMode="auto">
          <a:xfrm>
            <a:off x="6851650" y="2346325"/>
            <a:ext cx="796925"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FUTURE</a:t>
            </a:r>
            <a:endParaRPr lang="en-US" sz="2400" b="0" i="0">
              <a:effectLst/>
            </a:endParaRPr>
          </a:p>
        </p:txBody>
      </p:sp>
      <p:sp>
        <p:nvSpPr>
          <p:cNvPr id="326830" name="Rectangle 174"/>
          <p:cNvSpPr>
            <a:spLocks noChangeArrowheads="1"/>
          </p:cNvSpPr>
          <p:nvPr/>
        </p:nvSpPr>
        <p:spPr bwMode="auto">
          <a:xfrm>
            <a:off x="7519988" y="2362200"/>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831" name="Rectangle 175"/>
          <p:cNvSpPr>
            <a:spLocks noChangeArrowheads="1"/>
          </p:cNvSpPr>
          <p:nvPr/>
        </p:nvSpPr>
        <p:spPr bwMode="auto">
          <a:xfrm>
            <a:off x="3532188" y="3336925"/>
            <a:ext cx="3543300" cy="2322513"/>
          </a:xfrm>
          <a:prstGeom prst="rect">
            <a:avLst/>
          </a:prstGeom>
          <a:noFill/>
          <a:ln w="12700">
            <a:solidFill>
              <a:srgbClr val="000000"/>
            </a:solidFill>
            <a:miter lim="800000"/>
            <a:headEnd/>
            <a:tailEnd/>
          </a:ln>
        </p:spPr>
        <p:txBody>
          <a:bodyPr/>
          <a:lstStyle/>
          <a:p>
            <a:endParaRPr lang="en-US"/>
          </a:p>
        </p:txBody>
      </p:sp>
      <p:sp>
        <p:nvSpPr>
          <p:cNvPr id="326832" name="Rectangle 176"/>
          <p:cNvSpPr>
            <a:spLocks noChangeArrowheads="1"/>
          </p:cNvSpPr>
          <p:nvPr/>
        </p:nvSpPr>
        <p:spPr bwMode="auto">
          <a:xfrm>
            <a:off x="4714875" y="3336925"/>
            <a:ext cx="1357313" cy="215900"/>
          </a:xfrm>
          <a:prstGeom prst="rect">
            <a:avLst/>
          </a:prstGeom>
          <a:noFill/>
          <a:ln w="9525">
            <a:noFill/>
            <a:miter lim="800000"/>
            <a:headEnd/>
            <a:tailEnd/>
          </a:ln>
        </p:spPr>
        <p:txBody>
          <a:bodyPr/>
          <a:lstStyle/>
          <a:p>
            <a:endParaRPr lang="en-US"/>
          </a:p>
        </p:txBody>
      </p:sp>
      <p:sp>
        <p:nvSpPr>
          <p:cNvPr id="326833" name="Rectangle 177"/>
          <p:cNvSpPr>
            <a:spLocks noChangeArrowheads="1"/>
          </p:cNvSpPr>
          <p:nvPr/>
        </p:nvSpPr>
        <p:spPr bwMode="auto">
          <a:xfrm>
            <a:off x="4714875" y="3340100"/>
            <a:ext cx="1449388"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ASSET MARKET</a:t>
            </a:r>
            <a:endParaRPr lang="en-US" sz="2400" b="0" i="0">
              <a:effectLst/>
            </a:endParaRPr>
          </a:p>
        </p:txBody>
      </p:sp>
      <p:sp>
        <p:nvSpPr>
          <p:cNvPr id="326834" name="Rectangle 178"/>
          <p:cNvSpPr>
            <a:spLocks noChangeArrowheads="1"/>
          </p:cNvSpPr>
          <p:nvPr/>
        </p:nvSpPr>
        <p:spPr bwMode="auto">
          <a:xfrm>
            <a:off x="5984875" y="3355975"/>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835" name="Rectangle 179"/>
          <p:cNvSpPr>
            <a:spLocks noChangeArrowheads="1"/>
          </p:cNvSpPr>
          <p:nvPr/>
        </p:nvSpPr>
        <p:spPr bwMode="auto">
          <a:xfrm>
            <a:off x="5899150" y="3638550"/>
            <a:ext cx="865188" cy="703263"/>
          </a:xfrm>
          <a:prstGeom prst="rect">
            <a:avLst/>
          </a:prstGeom>
          <a:noFill/>
          <a:ln w="12700">
            <a:solidFill>
              <a:srgbClr val="000000"/>
            </a:solidFill>
            <a:miter lim="800000"/>
            <a:headEnd/>
            <a:tailEnd/>
          </a:ln>
        </p:spPr>
        <p:txBody>
          <a:bodyPr/>
          <a:lstStyle/>
          <a:p>
            <a:endParaRPr lang="en-US"/>
          </a:p>
        </p:txBody>
      </p:sp>
      <p:sp>
        <p:nvSpPr>
          <p:cNvPr id="326836" name="Rectangle 180"/>
          <p:cNvSpPr>
            <a:spLocks noChangeArrowheads="1"/>
          </p:cNvSpPr>
          <p:nvPr/>
        </p:nvSpPr>
        <p:spPr bwMode="auto">
          <a:xfrm>
            <a:off x="6005513" y="3638550"/>
            <a:ext cx="735012" cy="214313"/>
          </a:xfrm>
          <a:prstGeom prst="rect">
            <a:avLst/>
          </a:prstGeom>
          <a:noFill/>
          <a:ln w="9525">
            <a:noFill/>
            <a:miter lim="800000"/>
            <a:headEnd/>
            <a:tailEnd/>
          </a:ln>
        </p:spPr>
        <p:txBody>
          <a:bodyPr/>
          <a:lstStyle/>
          <a:p>
            <a:endParaRPr lang="en-US"/>
          </a:p>
        </p:txBody>
      </p:sp>
      <p:sp>
        <p:nvSpPr>
          <p:cNvPr id="326837" name="Rectangle 181"/>
          <p:cNvSpPr>
            <a:spLocks noChangeArrowheads="1"/>
          </p:cNvSpPr>
          <p:nvPr/>
        </p:nvSpPr>
        <p:spPr bwMode="auto">
          <a:xfrm>
            <a:off x="6005513" y="3641725"/>
            <a:ext cx="776287"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SUPPLY</a:t>
            </a:r>
            <a:endParaRPr lang="en-US" sz="2400" b="0" i="0">
              <a:effectLst/>
            </a:endParaRPr>
          </a:p>
        </p:txBody>
      </p:sp>
      <p:sp>
        <p:nvSpPr>
          <p:cNvPr id="326838" name="Rectangle 182"/>
          <p:cNvSpPr>
            <a:spLocks noChangeArrowheads="1"/>
          </p:cNvSpPr>
          <p:nvPr/>
        </p:nvSpPr>
        <p:spPr bwMode="auto">
          <a:xfrm>
            <a:off x="6653213" y="3656013"/>
            <a:ext cx="98425" cy="192087"/>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839" name="Rectangle 183"/>
          <p:cNvSpPr>
            <a:spLocks noChangeArrowheads="1"/>
          </p:cNvSpPr>
          <p:nvPr/>
        </p:nvSpPr>
        <p:spPr bwMode="auto">
          <a:xfrm>
            <a:off x="6005513" y="3838575"/>
            <a:ext cx="693737" cy="215900"/>
          </a:xfrm>
          <a:prstGeom prst="rect">
            <a:avLst/>
          </a:prstGeom>
          <a:noFill/>
          <a:ln w="9525">
            <a:noFill/>
            <a:miter lim="800000"/>
            <a:headEnd/>
            <a:tailEnd/>
          </a:ln>
        </p:spPr>
        <p:txBody>
          <a:bodyPr/>
          <a:lstStyle/>
          <a:p>
            <a:endParaRPr lang="en-US"/>
          </a:p>
        </p:txBody>
      </p:sp>
      <p:sp>
        <p:nvSpPr>
          <p:cNvPr id="326840" name="Rectangle 184"/>
          <p:cNvSpPr>
            <a:spLocks noChangeArrowheads="1"/>
          </p:cNvSpPr>
          <p:nvPr/>
        </p:nvSpPr>
        <p:spPr bwMode="auto">
          <a:xfrm>
            <a:off x="6005513" y="3841750"/>
            <a:ext cx="749300"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(Owners</a:t>
            </a:r>
            <a:endParaRPr lang="en-US" sz="2400" b="0" i="0">
              <a:effectLst/>
            </a:endParaRPr>
          </a:p>
        </p:txBody>
      </p:sp>
      <p:sp>
        <p:nvSpPr>
          <p:cNvPr id="326841" name="Rectangle 185"/>
          <p:cNvSpPr>
            <a:spLocks noChangeArrowheads="1"/>
          </p:cNvSpPr>
          <p:nvPr/>
        </p:nvSpPr>
        <p:spPr bwMode="auto">
          <a:xfrm>
            <a:off x="6627813" y="3856038"/>
            <a:ext cx="98425" cy="192087"/>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842" name="Rectangle 186"/>
          <p:cNvSpPr>
            <a:spLocks noChangeArrowheads="1"/>
          </p:cNvSpPr>
          <p:nvPr/>
        </p:nvSpPr>
        <p:spPr bwMode="auto">
          <a:xfrm>
            <a:off x="6113463" y="4038600"/>
            <a:ext cx="617537" cy="215900"/>
          </a:xfrm>
          <a:prstGeom prst="rect">
            <a:avLst/>
          </a:prstGeom>
          <a:noFill/>
          <a:ln w="9525">
            <a:noFill/>
            <a:miter lim="800000"/>
            <a:headEnd/>
            <a:tailEnd/>
          </a:ln>
        </p:spPr>
        <p:txBody>
          <a:bodyPr/>
          <a:lstStyle/>
          <a:p>
            <a:endParaRPr lang="en-US"/>
          </a:p>
        </p:txBody>
      </p:sp>
      <p:sp>
        <p:nvSpPr>
          <p:cNvPr id="326843" name="Rectangle 187"/>
          <p:cNvSpPr>
            <a:spLocks noChangeArrowheads="1"/>
          </p:cNvSpPr>
          <p:nvPr/>
        </p:nvSpPr>
        <p:spPr bwMode="auto">
          <a:xfrm>
            <a:off x="6113463" y="4041775"/>
            <a:ext cx="669925"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Selling)</a:t>
            </a:r>
            <a:endParaRPr lang="en-US" sz="2400" b="0" i="0">
              <a:effectLst/>
            </a:endParaRPr>
          </a:p>
        </p:txBody>
      </p:sp>
      <p:sp>
        <p:nvSpPr>
          <p:cNvPr id="326844" name="Rectangle 188"/>
          <p:cNvSpPr>
            <a:spLocks noChangeArrowheads="1"/>
          </p:cNvSpPr>
          <p:nvPr/>
        </p:nvSpPr>
        <p:spPr bwMode="auto">
          <a:xfrm>
            <a:off x="6662738" y="4057650"/>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845" name="Rectangle 189"/>
          <p:cNvSpPr>
            <a:spLocks noChangeArrowheads="1"/>
          </p:cNvSpPr>
          <p:nvPr/>
        </p:nvSpPr>
        <p:spPr bwMode="auto">
          <a:xfrm>
            <a:off x="6005513" y="4740275"/>
            <a:ext cx="866775" cy="603250"/>
          </a:xfrm>
          <a:prstGeom prst="rect">
            <a:avLst/>
          </a:prstGeom>
          <a:noFill/>
          <a:ln w="12700">
            <a:solidFill>
              <a:srgbClr val="000000"/>
            </a:solidFill>
            <a:miter lim="800000"/>
            <a:headEnd/>
            <a:tailEnd/>
          </a:ln>
        </p:spPr>
        <p:txBody>
          <a:bodyPr/>
          <a:lstStyle/>
          <a:p>
            <a:endParaRPr lang="en-US"/>
          </a:p>
        </p:txBody>
      </p:sp>
      <p:sp>
        <p:nvSpPr>
          <p:cNvPr id="326846" name="Rectangle 190"/>
          <p:cNvSpPr>
            <a:spLocks noChangeArrowheads="1"/>
          </p:cNvSpPr>
          <p:nvPr/>
        </p:nvSpPr>
        <p:spPr bwMode="auto">
          <a:xfrm>
            <a:off x="6113463" y="4740275"/>
            <a:ext cx="798512" cy="215900"/>
          </a:xfrm>
          <a:prstGeom prst="rect">
            <a:avLst/>
          </a:prstGeom>
          <a:noFill/>
          <a:ln w="9525">
            <a:noFill/>
            <a:miter lim="800000"/>
            <a:headEnd/>
            <a:tailEnd/>
          </a:ln>
        </p:spPr>
        <p:txBody>
          <a:bodyPr/>
          <a:lstStyle/>
          <a:p>
            <a:endParaRPr lang="en-US"/>
          </a:p>
        </p:txBody>
      </p:sp>
      <p:sp>
        <p:nvSpPr>
          <p:cNvPr id="326847" name="Rectangle 191"/>
          <p:cNvSpPr>
            <a:spLocks noChangeArrowheads="1"/>
          </p:cNvSpPr>
          <p:nvPr/>
        </p:nvSpPr>
        <p:spPr bwMode="auto">
          <a:xfrm>
            <a:off x="6113463" y="4743450"/>
            <a:ext cx="206375"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D</a:t>
            </a:r>
            <a:endParaRPr lang="en-US" sz="2400" b="0" i="0">
              <a:effectLst/>
            </a:endParaRPr>
          </a:p>
        </p:txBody>
      </p:sp>
      <p:sp>
        <p:nvSpPr>
          <p:cNvPr id="326848" name="Rectangle 192"/>
          <p:cNvSpPr>
            <a:spLocks noChangeArrowheads="1"/>
          </p:cNvSpPr>
          <p:nvPr/>
        </p:nvSpPr>
        <p:spPr bwMode="auto">
          <a:xfrm>
            <a:off x="6232525" y="4743450"/>
            <a:ext cx="715963"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EMAND</a:t>
            </a:r>
            <a:endParaRPr lang="en-US" sz="2400" b="0" i="0">
              <a:effectLst/>
            </a:endParaRPr>
          </a:p>
        </p:txBody>
      </p:sp>
      <p:sp>
        <p:nvSpPr>
          <p:cNvPr id="326849" name="Rectangle 193"/>
          <p:cNvSpPr>
            <a:spLocks noChangeArrowheads="1"/>
          </p:cNvSpPr>
          <p:nvPr/>
        </p:nvSpPr>
        <p:spPr bwMode="auto">
          <a:xfrm>
            <a:off x="6821488" y="4759325"/>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850" name="Rectangle 194"/>
          <p:cNvSpPr>
            <a:spLocks noChangeArrowheads="1"/>
          </p:cNvSpPr>
          <p:nvPr/>
        </p:nvSpPr>
        <p:spPr bwMode="auto">
          <a:xfrm>
            <a:off x="6113463" y="4940300"/>
            <a:ext cx="796925" cy="215900"/>
          </a:xfrm>
          <a:prstGeom prst="rect">
            <a:avLst/>
          </a:prstGeom>
          <a:noFill/>
          <a:ln w="9525">
            <a:noFill/>
            <a:miter lim="800000"/>
            <a:headEnd/>
            <a:tailEnd/>
          </a:ln>
        </p:spPr>
        <p:txBody>
          <a:bodyPr/>
          <a:lstStyle/>
          <a:p>
            <a:endParaRPr lang="en-US"/>
          </a:p>
        </p:txBody>
      </p:sp>
      <p:sp>
        <p:nvSpPr>
          <p:cNvPr id="326851" name="Rectangle 195"/>
          <p:cNvSpPr>
            <a:spLocks noChangeArrowheads="1"/>
          </p:cNvSpPr>
          <p:nvPr/>
        </p:nvSpPr>
        <p:spPr bwMode="auto">
          <a:xfrm>
            <a:off x="6113463" y="4943475"/>
            <a:ext cx="860425"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(Investors</a:t>
            </a:r>
            <a:endParaRPr lang="en-US" sz="2400" b="0" i="0">
              <a:effectLst/>
            </a:endParaRPr>
          </a:p>
        </p:txBody>
      </p:sp>
      <p:sp>
        <p:nvSpPr>
          <p:cNvPr id="326852" name="Rectangle 196"/>
          <p:cNvSpPr>
            <a:spLocks noChangeArrowheads="1"/>
          </p:cNvSpPr>
          <p:nvPr/>
        </p:nvSpPr>
        <p:spPr bwMode="auto">
          <a:xfrm>
            <a:off x="6837363" y="4959350"/>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853" name="Rectangle 197"/>
          <p:cNvSpPr>
            <a:spLocks noChangeArrowheads="1"/>
          </p:cNvSpPr>
          <p:nvPr/>
        </p:nvSpPr>
        <p:spPr bwMode="auto">
          <a:xfrm>
            <a:off x="6113463" y="5141913"/>
            <a:ext cx="623887" cy="214312"/>
          </a:xfrm>
          <a:prstGeom prst="rect">
            <a:avLst/>
          </a:prstGeom>
          <a:noFill/>
          <a:ln w="9525">
            <a:noFill/>
            <a:miter lim="800000"/>
            <a:headEnd/>
            <a:tailEnd/>
          </a:ln>
        </p:spPr>
        <p:txBody>
          <a:bodyPr/>
          <a:lstStyle/>
          <a:p>
            <a:endParaRPr lang="en-US"/>
          </a:p>
        </p:txBody>
      </p:sp>
      <p:sp>
        <p:nvSpPr>
          <p:cNvPr id="326854" name="Rectangle 198"/>
          <p:cNvSpPr>
            <a:spLocks noChangeArrowheads="1"/>
          </p:cNvSpPr>
          <p:nvPr/>
        </p:nvSpPr>
        <p:spPr bwMode="auto">
          <a:xfrm>
            <a:off x="6113463" y="5145088"/>
            <a:ext cx="676275"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Buying)</a:t>
            </a:r>
            <a:endParaRPr lang="en-US" sz="2400" b="0" i="0">
              <a:effectLst/>
            </a:endParaRPr>
          </a:p>
        </p:txBody>
      </p:sp>
      <p:sp>
        <p:nvSpPr>
          <p:cNvPr id="326855" name="Rectangle 199"/>
          <p:cNvSpPr>
            <a:spLocks noChangeArrowheads="1"/>
          </p:cNvSpPr>
          <p:nvPr/>
        </p:nvSpPr>
        <p:spPr bwMode="auto">
          <a:xfrm>
            <a:off x="6670675" y="5159375"/>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856" name="Rectangle 200"/>
          <p:cNvSpPr>
            <a:spLocks noChangeArrowheads="1"/>
          </p:cNvSpPr>
          <p:nvPr/>
        </p:nvSpPr>
        <p:spPr bwMode="auto">
          <a:xfrm>
            <a:off x="4176713" y="3738563"/>
            <a:ext cx="962025" cy="450850"/>
          </a:xfrm>
          <a:prstGeom prst="rect">
            <a:avLst/>
          </a:prstGeom>
          <a:noFill/>
          <a:ln w="12700">
            <a:solidFill>
              <a:srgbClr val="000000"/>
            </a:solidFill>
            <a:miter lim="800000"/>
            <a:headEnd/>
            <a:tailEnd/>
          </a:ln>
        </p:spPr>
        <p:txBody>
          <a:bodyPr/>
          <a:lstStyle/>
          <a:p>
            <a:endParaRPr lang="en-US"/>
          </a:p>
        </p:txBody>
      </p:sp>
      <p:sp>
        <p:nvSpPr>
          <p:cNvPr id="326857" name="Rectangle 201"/>
          <p:cNvSpPr>
            <a:spLocks noChangeArrowheads="1"/>
          </p:cNvSpPr>
          <p:nvPr/>
        </p:nvSpPr>
        <p:spPr bwMode="auto">
          <a:xfrm>
            <a:off x="4392613" y="3738563"/>
            <a:ext cx="541337" cy="214312"/>
          </a:xfrm>
          <a:prstGeom prst="rect">
            <a:avLst/>
          </a:prstGeom>
          <a:noFill/>
          <a:ln w="9525">
            <a:noFill/>
            <a:miter lim="800000"/>
            <a:headEnd/>
            <a:tailEnd/>
          </a:ln>
        </p:spPr>
        <p:txBody>
          <a:bodyPr/>
          <a:lstStyle/>
          <a:p>
            <a:endParaRPr lang="en-US"/>
          </a:p>
        </p:txBody>
      </p:sp>
      <p:sp>
        <p:nvSpPr>
          <p:cNvPr id="326858" name="Rectangle 202"/>
          <p:cNvSpPr>
            <a:spLocks noChangeArrowheads="1"/>
          </p:cNvSpPr>
          <p:nvPr/>
        </p:nvSpPr>
        <p:spPr bwMode="auto">
          <a:xfrm>
            <a:off x="4392613" y="3741738"/>
            <a:ext cx="569912"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CASH</a:t>
            </a:r>
            <a:endParaRPr lang="en-US" sz="2400" b="0" i="0">
              <a:effectLst/>
            </a:endParaRPr>
          </a:p>
        </p:txBody>
      </p:sp>
      <p:sp>
        <p:nvSpPr>
          <p:cNvPr id="326859" name="Rectangle 203"/>
          <p:cNvSpPr>
            <a:spLocks noChangeArrowheads="1"/>
          </p:cNvSpPr>
          <p:nvPr/>
        </p:nvSpPr>
        <p:spPr bwMode="auto">
          <a:xfrm>
            <a:off x="4848225" y="3756025"/>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860" name="Rectangle 204"/>
          <p:cNvSpPr>
            <a:spLocks noChangeArrowheads="1"/>
          </p:cNvSpPr>
          <p:nvPr/>
        </p:nvSpPr>
        <p:spPr bwMode="auto">
          <a:xfrm>
            <a:off x="4392613" y="3938588"/>
            <a:ext cx="561975" cy="215900"/>
          </a:xfrm>
          <a:prstGeom prst="rect">
            <a:avLst/>
          </a:prstGeom>
          <a:noFill/>
          <a:ln w="9525">
            <a:noFill/>
            <a:miter lim="800000"/>
            <a:headEnd/>
            <a:tailEnd/>
          </a:ln>
        </p:spPr>
        <p:txBody>
          <a:bodyPr/>
          <a:lstStyle/>
          <a:p>
            <a:endParaRPr lang="en-US"/>
          </a:p>
        </p:txBody>
      </p:sp>
      <p:sp>
        <p:nvSpPr>
          <p:cNvPr id="326861" name="Rectangle 205"/>
          <p:cNvSpPr>
            <a:spLocks noChangeArrowheads="1"/>
          </p:cNvSpPr>
          <p:nvPr/>
        </p:nvSpPr>
        <p:spPr bwMode="auto">
          <a:xfrm>
            <a:off x="4392613" y="3941763"/>
            <a:ext cx="600075"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FLOW</a:t>
            </a:r>
            <a:endParaRPr lang="en-US" sz="2400" b="0" i="0">
              <a:effectLst/>
            </a:endParaRPr>
          </a:p>
        </p:txBody>
      </p:sp>
      <p:sp>
        <p:nvSpPr>
          <p:cNvPr id="326862" name="Rectangle 206"/>
          <p:cNvSpPr>
            <a:spLocks noChangeArrowheads="1"/>
          </p:cNvSpPr>
          <p:nvPr/>
        </p:nvSpPr>
        <p:spPr bwMode="auto">
          <a:xfrm>
            <a:off x="4876800" y="3956050"/>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863" name="Rectangle 207"/>
          <p:cNvSpPr>
            <a:spLocks noChangeArrowheads="1"/>
          </p:cNvSpPr>
          <p:nvPr/>
        </p:nvSpPr>
        <p:spPr bwMode="auto">
          <a:xfrm>
            <a:off x="5037138" y="4440238"/>
            <a:ext cx="769937" cy="803275"/>
          </a:xfrm>
          <a:prstGeom prst="rect">
            <a:avLst/>
          </a:prstGeom>
          <a:noFill/>
          <a:ln w="12700">
            <a:solidFill>
              <a:srgbClr val="000000"/>
            </a:solidFill>
            <a:miter lim="800000"/>
            <a:headEnd/>
            <a:tailEnd/>
          </a:ln>
        </p:spPr>
        <p:txBody>
          <a:bodyPr/>
          <a:lstStyle/>
          <a:p>
            <a:endParaRPr lang="en-US"/>
          </a:p>
        </p:txBody>
      </p:sp>
      <p:sp>
        <p:nvSpPr>
          <p:cNvPr id="326864" name="Rectangle 208"/>
          <p:cNvSpPr>
            <a:spLocks noChangeArrowheads="1"/>
          </p:cNvSpPr>
          <p:nvPr/>
        </p:nvSpPr>
        <p:spPr bwMode="auto">
          <a:xfrm>
            <a:off x="5253038" y="4440238"/>
            <a:ext cx="431800" cy="201612"/>
          </a:xfrm>
          <a:prstGeom prst="rect">
            <a:avLst/>
          </a:prstGeom>
          <a:noFill/>
          <a:ln w="9525">
            <a:noFill/>
            <a:miter lim="800000"/>
            <a:headEnd/>
            <a:tailEnd/>
          </a:ln>
        </p:spPr>
        <p:txBody>
          <a:bodyPr/>
          <a:lstStyle/>
          <a:p>
            <a:endParaRPr lang="en-US"/>
          </a:p>
        </p:txBody>
      </p:sp>
      <p:sp>
        <p:nvSpPr>
          <p:cNvPr id="326865" name="Rectangle 209"/>
          <p:cNvSpPr>
            <a:spLocks noChangeArrowheads="1"/>
          </p:cNvSpPr>
          <p:nvPr/>
        </p:nvSpPr>
        <p:spPr bwMode="auto">
          <a:xfrm>
            <a:off x="5253038" y="4443413"/>
            <a:ext cx="452437"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MKT</a:t>
            </a:r>
            <a:endParaRPr lang="en-US" sz="2400" b="0" i="0">
              <a:effectLst/>
            </a:endParaRPr>
          </a:p>
        </p:txBody>
      </p:sp>
      <p:sp>
        <p:nvSpPr>
          <p:cNvPr id="326866" name="Rectangle 210"/>
          <p:cNvSpPr>
            <a:spLocks noChangeArrowheads="1"/>
          </p:cNvSpPr>
          <p:nvPr/>
        </p:nvSpPr>
        <p:spPr bwMode="auto">
          <a:xfrm>
            <a:off x="5599113" y="4457700"/>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867" name="Rectangle 211"/>
          <p:cNvSpPr>
            <a:spLocks noChangeArrowheads="1"/>
          </p:cNvSpPr>
          <p:nvPr/>
        </p:nvSpPr>
        <p:spPr bwMode="auto">
          <a:xfrm>
            <a:off x="5145088" y="4640263"/>
            <a:ext cx="595312" cy="215900"/>
          </a:xfrm>
          <a:prstGeom prst="rect">
            <a:avLst/>
          </a:prstGeom>
          <a:noFill/>
          <a:ln w="9525">
            <a:noFill/>
            <a:miter lim="800000"/>
            <a:headEnd/>
            <a:tailEnd/>
          </a:ln>
        </p:spPr>
        <p:txBody>
          <a:bodyPr/>
          <a:lstStyle/>
          <a:p>
            <a:endParaRPr lang="en-US"/>
          </a:p>
        </p:txBody>
      </p:sp>
      <p:sp>
        <p:nvSpPr>
          <p:cNvPr id="326868" name="Rectangle 212"/>
          <p:cNvSpPr>
            <a:spLocks noChangeArrowheads="1"/>
          </p:cNvSpPr>
          <p:nvPr/>
        </p:nvSpPr>
        <p:spPr bwMode="auto">
          <a:xfrm>
            <a:off x="5145088" y="4643438"/>
            <a:ext cx="628650"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REQ’D</a:t>
            </a:r>
            <a:endParaRPr lang="en-US" sz="2400" b="0" i="0">
              <a:effectLst/>
            </a:endParaRPr>
          </a:p>
        </p:txBody>
      </p:sp>
      <p:sp>
        <p:nvSpPr>
          <p:cNvPr id="326869" name="Rectangle 213"/>
          <p:cNvSpPr>
            <a:spLocks noChangeArrowheads="1"/>
          </p:cNvSpPr>
          <p:nvPr/>
        </p:nvSpPr>
        <p:spPr bwMode="auto">
          <a:xfrm>
            <a:off x="5656263" y="4657725"/>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870" name="Rectangle 214"/>
          <p:cNvSpPr>
            <a:spLocks noChangeArrowheads="1"/>
          </p:cNvSpPr>
          <p:nvPr/>
        </p:nvSpPr>
        <p:spPr bwMode="auto">
          <a:xfrm>
            <a:off x="5253038" y="4840288"/>
            <a:ext cx="376237" cy="222250"/>
          </a:xfrm>
          <a:prstGeom prst="rect">
            <a:avLst/>
          </a:prstGeom>
          <a:noFill/>
          <a:ln w="9525">
            <a:noFill/>
            <a:miter lim="800000"/>
            <a:headEnd/>
            <a:tailEnd/>
          </a:ln>
        </p:spPr>
        <p:txBody>
          <a:bodyPr/>
          <a:lstStyle/>
          <a:p>
            <a:endParaRPr lang="en-US"/>
          </a:p>
        </p:txBody>
      </p:sp>
      <p:sp>
        <p:nvSpPr>
          <p:cNvPr id="326871" name="Rectangle 215"/>
          <p:cNvSpPr>
            <a:spLocks noChangeArrowheads="1"/>
          </p:cNvSpPr>
          <p:nvPr/>
        </p:nvSpPr>
        <p:spPr bwMode="auto">
          <a:xfrm>
            <a:off x="5253038" y="4843463"/>
            <a:ext cx="442912"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CAP</a:t>
            </a:r>
            <a:endParaRPr lang="en-US" sz="2400" b="0" i="0">
              <a:effectLst/>
            </a:endParaRPr>
          </a:p>
        </p:txBody>
      </p:sp>
      <p:sp>
        <p:nvSpPr>
          <p:cNvPr id="326872" name="Rectangle 216"/>
          <p:cNvSpPr>
            <a:spLocks noChangeArrowheads="1"/>
          </p:cNvSpPr>
          <p:nvPr/>
        </p:nvSpPr>
        <p:spPr bwMode="auto">
          <a:xfrm>
            <a:off x="5589588" y="4859338"/>
            <a:ext cx="98425" cy="192087"/>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873" name="Rectangle 217"/>
          <p:cNvSpPr>
            <a:spLocks noChangeArrowheads="1"/>
          </p:cNvSpPr>
          <p:nvPr/>
        </p:nvSpPr>
        <p:spPr bwMode="auto">
          <a:xfrm>
            <a:off x="5145088" y="5040313"/>
            <a:ext cx="519112" cy="203200"/>
          </a:xfrm>
          <a:prstGeom prst="rect">
            <a:avLst/>
          </a:prstGeom>
          <a:noFill/>
          <a:ln w="9525">
            <a:noFill/>
            <a:miter lim="800000"/>
            <a:headEnd/>
            <a:tailEnd/>
          </a:ln>
        </p:spPr>
        <p:txBody>
          <a:bodyPr/>
          <a:lstStyle/>
          <a:p>
            <a:endParaRPr lang="en-US"/>
          </a:p>
        </p:txBody>
      </p:sp>
      <p:sp>
        <p:nvSpPr>
          <p:cNvPr id="326874" name="Rectangle 218"/>
          <p:cNvSpPr>
            <a:spLocks noChangeArrowheads="1"/>
          </p:cNvSpPr>
          <p:nvPr/>
        </p:nvSpPr>
        <p:spPr bwMode="auto">
          <a:xfrm>
            <a:off x="5145088" y="5045075"/>
            <a:ext cx="552450"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RATE</a:t>
            </a:r>
            <a:endParaRPr lang="en-US" sz="2400" b="0" i="0">
              <a:effectLst/>
            </a:endParaRPr>
          </a:p>
        </p:txBody>
      </p:sp>
      <p:sp>
        <p:nvSpPr>
          <p:cNvPr id="326875" name="Rectangle 219"/>
          <p:cNvSpPr>
            <a:spLocks noChangeArrowheads="1"/>
          </p:cNvSpPr>
          <p:nvPr/>
        </p:nvSpPr>
        <p:spPr bwMode="auto">
          <a:xfrm>
            <a:off x="5584825" y="5059363"/>
            <a:ext cx="98425" cy="192087"/>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876" name="Rectangle 220"/>
          <p:cNvSpPr>
            <a:spLocks noChangeArrowheads="1"/>
          </p:cNvSpPr>
          <p:nvPr/>
        </p:nvSpPr>
        <p:spPr bwMode="auto">
          <a:xfrm>
            <a:off x="3854450" y="4440238"/>
            <a:ext cx="960438" cy="717550"/>
          </a:xfrm>
          <a:prstGeom prst="rect">
            <a:avLst/>
          </a:prstGeom>
          <a:noFill/>
          <a:ln w="12700">
            <a:solidFill>
              <a:srgbClr val="000000"/>
            </a:solidFill>
            <a:miter lim="800000"/>
            <a:headEnd/>
            <a:tailEnd/>
          </a:ln>
        </p:spPr>
        <p:txBody>
          <a:bodyPr/>
          <a:lstStyle/>
          <a:p>
            <a:endParaRPr lang="en-US"/>
          </a:p>
        </p:txBody>
      </p:sp>
      <p:sp>
        <p:nvSpPr>
          <p:cNvPr id="326877" name="Rectangle 221"/>
          <p:cNvSpPr>
            <a:spLocks noChangeArrowheads="1"/>
          </p:cNvSpPr>
          <p:nvPr/>
        </p:nvSpPr>
        <p:spPr bwMode="auto">
          <a:xfrm>
            <a:off x="3854450" y="4440238"/>
            <a:ext cx="989013" cy="214312"/>
          </a:xfrm>
          <a:prstGeom prst="rect">
            <a:avLst/>
          </a:prstGeom>
          <a:noFill/>
          <a:ln w="9525">
            <a:noFill/>
            <a:miter lim="800000"/>
            <a:headEnd/>
            <a:tailEnd/>
          </a:ln>
        </p:spPr>
        <p:txBody>
          <a:bodyPr/>
          <a:lstStyle/>
          <a:p>
            <a:endParaRPr lang="en-US"/>
          </a:p>
        </p:txBody>
      </p:sp>
      <p:sp>
        <p:nvSpPr>
          <p:cNvPr id="326878" name="Rectangle 222"/>
          <p:cNvSpPr>
            <a:spLocks noChangeArrowheads="1"/>
          </p:cNvSpPr>
          <p:nvPr/>
        </p:nvSpPr>
        <p:spPr bwMode="auto">
          <a:xfrm>
            <a:off x="3854450" y="4443413"/>
            <a:ext cx="1052513"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PROPERTY</a:t>
            </a:r>
            <a:endParaRPr lang="en-US" sz="2400" b="0" i="0">
              <a:effectLst/>
            </a:endParaRPr>
          </a:p>
        </p:txBody>
      </p:sp>
      <p:sp>
        <p:nvSpPr>
          <p:cNvPr id="326879" name="Rectangle 223"/>
          <p:cNvSpPr>
            <a:spLocks noChangeArrowheads="1"/>
          </p:cNvSpPr>
          <p:nvPr/>
        </p:nvSpPr>
        <p:spPr bwMode="auto">
          <a:xfrm>
            <a:off x="4759325" y="4457700"/>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880" name="Rectangle 224"/>
          <p:cNvSpPr>
            <a:spLocks noChangeArrowheads="1"/>
          </p:cNvSpPr>
          <p:nvPr/>
        </p:nvSpPr>
        <p:spPr bwMode="auto">
          <a:xfrm>
            <a:off x="3962400" y="4640263"/>
            <a:ext cx="766763" cy="215900"/>
          </a:xfrm>
          <a:prstGeom prst="rect">
            <a:avLst/>
          </a:prstGeom>
          <a:noFill/>
          <a:ln w="9525">
            <a:noFill/>
            <a:miter lim="800000"/>
            <a:headEnd/>
            <a:tailEnd/>
          </a:ln>
        </p:spPr>
        <p:txBody>
          <a:bodyPr/>
          <a:lstStyle/>
          <a:p>
            <a:endParaRPr lang="en-US"/>
          </a:p>
        </p:txBody>
      </p:sp>
      <p:sp>
        <p:nvSpPr>
          <p:cNvPr id="326881" name="Rectangle 225"/>
          <p:cNvSpPr>
            <a:spLocks noChangeArrowheads="1"/>
          </p:cNvSpPr>
          <p:nvPr/>
        </p:nvSpPr>
        <p:spPr bwMode="auto">
          <a:xfrm>
            <a:off x="3962400" y="4643438"/>
            <a:ext cx="815975"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MARKET</a:t>
            </a:r>
            <a:endParaRPr lang="en-US" sz="2400" b="0" i="0">
              <a:effectLst/>
            </a:endParaRPr>
          </a:p>
        </p:txBody>
      </p:sp>
      <p:sp>
        <p:nvSpPr>
          <p:cNvPr id="326882" name="Rectangle 226"/>
          <p:cNvSpPr>
            <a:spLocks noChangeArrowheads="1"/>
          </p:cNvSpPr>
          <p:nvPr/>
        </p:nvSpPr>
        <p:spPr bwMode="auto">
          <a:xfrm>
            <a:off x="4645025" y="4657725"/>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883" name="Rectangle 227"/>
          <p:cNvSpPr>
            <a:spLocks noChangeArrowheads="1"/>
          </p:cNvSpPr>
          <p:nvPr/>
        </p:nvSpPr>
        <p:spPr bwMode="auto">
          <a:xfrm>
            <a:off x="3962400" y="4840288"/>
            <a:ext cx="623888" cy="215900"/>
          </a:xfrm>
          <a:prstGeom prst="rect">
            <a:avLst/>
          </a:prstGeom>
          <a:noFill/>
          <a:ln w="9525">
            <a:noFill/>
            <a:miter lim="800000"/>
            <a:headEnd/>
            <a:tailEnd/>
          </a:ln>
        </p:spPr>
        <p:txBody>
          <a:bodyPr/>
          <a:lstStyle/>
          <a:p>
            <a:endParaRPr lang="en-US"/>
          </a:p>
        </p:txBody>
      </p:sp>
      <p:sp>
        <p:nvSpPr>
          <p:cNvPr id="326884" name="Rectangle 228"/>
          <p:cNvSpPr>
            <a:spLocks noChangeArrowheads="1"/>
          </p:cNvSpPr>
          <p:nvPr/>
        </p:nvSpPr>
        <p:spPr bwMode="auto">
          <a:xfrm>
            <a:off x="3962400" y="4843463"/>
            <a:ext cx="660400"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VALUE</a:t>
            </a:r>
            <a:endParaRPr lang="en-US" sz="2400" b="0" i="0">
              <a:effectLst/>
            </a:endParaRPr>
          </a:p>
        </p:txBody>
      </p:sp>
      <p:sp>
        <p:nvSpPr>
          <p:cNvPr id="326885" name="Rectangle 229"/>
          <p:cNvSpPr>
            <a:spLocks noChangeArrowheads="1"/>
          </p:cNvSpPr>
          <p:nvPr/>
        </p:nvSpPr>
        <p:spPr bwMode="auto">
          <a:xfrm>
            <a:off x="4498975" y="4859338"/>
            <a:ext cx="98425" cy="192087"/>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886" name="Rectangle 230"/>
          <p:cNvSpPr>
            <a:spLocks noChangeArrowheads="1"/>
          </p:cNvSpPr>
          <p:nvPr/>
        </p:nvSpPr>
        <p:spPr bwMode="auto">
          <a:xfrm>
            <a:off x="1296988" y="2859088"/>
            <a:ext cx="2014537" cy="2767012"/>
          </a:xfrm>
          <a:prstGeom prst="rect">
            <a:avLst/>
          </a:prstGeom>
          <a:noFill/>
          <a:ln w="28575">
            <a:solidFill>
              <a:srgbClr val="FF0000"/>
            </a:solidFill>
            <a:miter lim="800000"/>
            <a:headEnd/>
            <a:tailEnd/>
          </a:ln>
        </p:spPr>
        <p:txBody>
          <a:bodyPr/>
          <a:lstStyle/>
          <a:p>
            <a:endParaRPr lang="en-US"/>
          </a:p>
        </p:txBody>
      </p:sp>
      <p:sp>
        <p:nvSpPr>
          <p:cNvPr id="326887" name="Rectangle 231"/>
          <p:cNvSpPr>
            <a:spLocks noChangeArrowheads="1"/>
          </p:cNvSpPr>
          <p:nvPr/>
        </p:nvSpPr>
        <p:spPr bwMode="auto">
          <a:xfrm>
            <a:off x="1701800" y="2882900"/>
            <a:ext cx="1331913" cy="215900"/>
          </a:xfrm>
          <a:prstGeom prst="rect">
            <a:avLst/>
          </a:prstGeom>
          <a:noFill/>
          <a:ln w="9525">
            <a:noFill/>
            <a:miter lim="800000"/>
            <a:headEnd/>
            <a:tailEnd/>
          </a:ln>
        </p:spPr>
        <p:txBody>
          <a:bodyPr/>
          <a:lstStyle/>
          <a:p>
            <a:endParaRPr lang="en-US"/>
          </a:p>
        </p:txBody>
      </p:sp>
      <p:sp>
        <p:nvSpPr>
          <p:cNvPr id="326888" name="Rectangle 232"/>
          <p:cNvSpPr>
            <a:spLocks noChangeArrowheads="1"/>
          </p:cNvSpPr>
          <p:nvPr/>
        </p:nvSpPr>
        <p:spPr bwMode="auto">
          <a:xfrm>
            <a:off x="1701800" y="2884488"/>
            <a:ext cx="1160463" cy="182562"/>
          </a:xfrm>
          <a:prstGeom prst="rect">
            <a:avLst/>
          </a:prstGeom>
          <a:noFill/>
          <a:ln w="9525">
            <a:noFill/>
            <a:miter lim="800000"/>
            <a:headEnd/>
            <a:tailEnd/>
          </a:ln>
        </p:spPr>
        <p:txBody>
          <a:bodyPr wrap="none" lIns="0" tIns="0" rIns="0" bIns="0">
            <a:spAutoFit/>
          </a:bodyPr>
          <a:lstStyle/>
          <a:p>
            <a:r>
              <a:rPr lang="en-US" sz="1200" i="0">
                <a:solidFill>
                  <a:srgbClr val="FF0000"/>
                </a:solidFill>
                <a:effectLst/>
                <a:latin typeface="Arial" charset="0"/>
              </a:rPr>
              <a:t>DEVELOPMENT</a:t>
            </a:r>
            <a:endParaRPr lang="en-US" sz="2400" i="0">
              <a:solidFill>
                <a:srgbClr val="FF0000"/>
              </a:solidFill>
              <a:effectLst/>
            </a:endParaRPr>
          </a:p>
        </p:txBody>
      </p:sp>
      <p:sp>
        <p:nvSpPr>
          <p:cNvPr id="326889" name="Rectangle 233"/>
          <p:cNvSpPr>
            <a:spLocks noChangeArrowheads="1"/>
          </p:cNvSpPr>
          <p:nvPr/>
        </p:nvSpPr>
        <p:spPr bwMode="auto">
          <a:xfrm>
            <a:off x="2943225" y="2898775"/>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6890" name="Rectangle 234"/>
          <p:cNvSpPr>
            <a:spLocks noChangeArrowheads="1"/>
          </p:cNvSpPr>
          <p:nvPr/>
        </p:nvSpPr>
        <p:spPr bwMode="auto">
          <a:xfrm>
            <a:off x="1892300" y="3055938"/>
            <a:ext cx="923925" cy="215900"/>
          </a:xfrm>
          <a:prstGeom prst="rect">
            <a:avLst/>
          </a:prstGeom>
          <a:noFill/>
          <a:ln w="9525">
            <a:noFill/>
            <a:miter lim="800000"/>
            <a:headEnd/>
            <a:tailEnd/>
          </a:ln>
        </p:spPr>
        <p:txBody>
          <a:bodyPr/>
          <a:lstStyle/>
          <a:p>
            <a:endParaRPr lang="en-US"/>
          </a:p>
        </p:txBody>
      </p:sp>
      <p:sp>
        <p:nvSpPr>
          <p:cNvPr id="326891" name="Rectangle 235"/>
          <p:cNvSpPr>
            <a:spLocks noChangeArrowheads="1"/>
          </p:cNvSpPr>
          <p:nvPr/>
        </p:nvSpPr>
        <p:spPr bwMode="auto">
          <a:xfrm>
            <a:off x="1892300" y="3059113"/>
            <a:ext cx="777875" cy="182562"/>
          </a:xfrm>
          <a:prstGeom prst="rect">
            <a:avLst/>
          </a:prstGeom>
          <a:noFill/>
          <a:ln w="9525">
            <a:noFill/>
            <a:miter lim="800000"/>
            <a:headEnd/>
            <a:tailEnd/>
          </a:ln>
        </p:spPr>
        <p:txBody>
          <a:bodyPr wrap="none" lIns="0" tIns="0" rIns="0" bIns="0">
            <a:spAutoFit/>
          </a:bodyPr>
          <a:lstStyle/>
          <a:p>
            <a:r>
              <a:rPr lang="en-US" sz="1200" i="0">
                <a:solidFill>
                  <a:srgbClr val="FF0000"/>
                </a:solidFill>
                <a:effectLst/>
                <a:latin typeface="Arial" charset="0"/>
              </a:rPr>
              <a:t>INDUSTRY</a:t>
            </a:r>
            <a:endParaRPr lang="en-US" sz="2400" i="0">
              <a:solidFill>
                <a:srgbClr val="FF0000"/>
              </a:solidFill>
              <a:effectLst/>
            </a:endParaRPr>
          </a:p>
        </p:txBody>
      </p:sp>
      <p:sp>
        <p:nvSpPr>
          <p:cNvPr id="326892" name="Rectangle 236"/>
          <p:cNvSpPr>
            <a:spLocks noChangeArrowheads="1"/>
          </p:cNvSpPr>
          <p:nvPr/>
        </p:nvSpPr>
        <p:spPr bwMode="auto">
          <a:xfrm>
            <a:off x="2733675" y="3074988"/>
            <a:ext cx="98425" cy="192087"/>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grpSp>
        <p:nvGrpSpPr>
          <p:cNvPr id="3" name="Group 237"/>
          <p:cNvGrpSpPr>
            <a:grpSpLocks/>
          </p:cNvGrpSpPr>
          <p:nvPr/>
        </p:nvGrpSpPr>
        <p:grpSpPr bwMode="auto">
          <a:xfrm>
            <a:off x="2152650" y="3565525"/>
            <a:ext cx="1066800" cy="817563"/>
            <a:chOff x="1356" y="2246"/>
            <a:chExt cx="672" cy="515"/>
          </a:xfrm>
        </p:grpSpPr>
        <p:sp>
          <p:nvSpPr>
            <p:cNvPr id="326894" name="Rectangle 238"/>
            <p:cNvSpPr>
              <a:spLocks noChangeArrowheads="1"/>
            </p:cNvSpPr>
            <p:nvPr/>
          </p:nvSpPr>
          <p:spPr bwMode="auto">
            <a:xfrm>
              <a:off x="1356" y="2249"/>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895" name="Rectangle 239"/>
            <p:cNvSpPr>
              <a:spLocks noChangeArrowheads="1"/>
            </p:cNvSpPr>
            <p:nvPr/>
          </p:nvSpPr>
          <p:spPr bwMode="auto">
            <a:xfrm>
              <a:off x="1356" y="2264"/>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896" name="Rectangle 240"/>
            <p:cNvSpPr>
              <a:spLocks noChangeArrowheads="1"/>
            </p:cNvSpPr>
            <p:nvPr/>
          </p:nvSpPr>
          <p:spPr bwMode="auto">
            <a:xfrm>
              <a:off x="1356" y="2279"/>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897" name="Rectangle 241"/>
            <p:cNvSpPr>
              <a:spLocks noChangeArrowheads="1"/>
            </p:cNvSpPr>
            <p:nvPr/>
          </p:nvSpPr>
          <p:spPr bwMode="auto">
            <a:xfrm>
              <a:off x="1356" y="2294"/>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898" name="Rectangle 242"/>
            <p:cNvSpPr>
              <a:spLocks noChangeArrowheads="1"/>
            </p:cNvSpPr>
            <p:nvPr/>
          </p:nvSpPr>
          <p:spPr bwMode="auto">
            <a:xfrm>
              <a:off x="1356" y="2308"/>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899" name="Rectangle 243"/>
            <p:cNvSpPr>
              <a:spLocks noChangeArrowheads="1"/>
            </p:cNvSpPr>
            <p:nvPr/>
          </p:nvSpPr>
          <p:spPr bwMode="auto">
            <a:xfrm>
              <a:off x="1356" y="2323"/>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00" name="Rectangle 244"/>
            <p:cNvSpPr>
              <a:spLocks noChangeArrowheads="1"/>
            </p:cNvSpPr>
            <p:nvPr/>
          </p:nvSpPr>
          <p:spPr bwMode="auto">
            <a:xfrm>
              <a:off x="1356" y="2338"/>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01" name="Rectangle 245"/>
            <p:cNvSpPr>
              <a:spLocks noChangeArrowheads="1"/>
            </p:cNvSpPr>
            <p:nvPr/>
          </p:nvSpPr>
          <p:spPr bwMode="auto">
            <a:xfrm>
              <a:off x="1356" y="2353"/>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02" name="Rectangle 246"/>
            <p:cNvSpPr>
              <a:spLocks noChangeArrowheads="1"/>
            </p:cNvSpPr>
            <p:nvPr/>
          </p:nvSpPr>
          <p:spPr bwMode="auto">
            <a:xfrm>
              <a:off x="1356" y="2367"/>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03" name="Rectangle 247"/>
            <p:cNvSpPr>
              <a:spLocks noChangeArrowheads="1"/>
            </p:cNvSpPr>
            <p:nvPr/>
          </p:nvSpPr>
          <p:spPr bwMode="auto">
            <a:xfrm>
              <a:off x="1356" y="2382"/>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04" name="Rectangle 248"/>
            <p:cNvSpPr>
              <a:spLocks noChangeArrowheads="1"/>
            </p:cNvSpPr>
            <p:nvPr/>
          </p:nvSpPr>
          <p:spPr bwMode="auto">
            <a:xfrm>
              <a:off x="1356" y="2397"/>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05" name="Rectangle 249"/>
            <p:cNvSpPr>
              <a:spLocks noChangeArrowheads="1"/>
            </p:cNvSpPr>
            <p:nvPr/>
          </p:nvSpPr>
          <p:spPr bwMode="auto">
            <a:xfrm>
              <a:off x="1356" y="2411"/>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06" name="Rectangle 250"/>
            <p:cNvSpPr>
              <a:spLocks noChangeArrowheads="1"/>
            </p:cNvSpPr>
            <p:nvPr/>
          </p:nvSpPr>
          <p:spPr bwMode="auto">
            <a:xfrm>
              <a:off x="1356" y="242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07" name="Rectangle 251"/>
            <p:cNvSpPr>
              <a:spLocks noChangeArrowheads="1"/>
            </p:cNvSpPr>
            <p:nvPr/>
          </p:nvSpPr>
          <p:spPr bwMode="auto">
            <a:xfrm>
              <a:off x="1356" y="2441"/>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08" name="Rectangle 252"/>
            <p:cNvSpPr>
              <a:spLocks noChangeArrowheads="1"/>
            </p:cNvSpPr>
            <p:nvPr/>
          </p:nvSpPr>
          <p:spPr bwMode="auto">
            <a:xfrm>
              <a:off x="1356" y="2456"/>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09" name="Rectangle 253"/>
            <p:cNvSpPr>
              <a:spLocks noChangeArrowheads="1"/>
            </p:cNvSpPr>
            <p:nvPr/>
          </p:nvSpPr>
          <p:spPr bwMode="auto">
            <a:xfrm>
              <a:off x="1356" y="2470"/>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10" name="Rectangle 254"/>
            <p:cNvSpPr>
              <a:spLocks noChangeArrowheads="1"/>
            </p:cNvSpPr>
            <p:nvPr/>
          </p:nvSpPr>
          <p:spPr bwMode="auto">
            <a:xfrm>
              <a:off x="1356" y="2485"/>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11" name="Rectangle 255"/>
            <p:cNvSpPr>
              <a:spLocks noChangeArrowheads="1"/>
            </p:cNvSpPr>
            <p:nvPr/>
          </p:nvSpPr>
          <p:spPr bwMode="auto">
            <a:xfrm>
              <a:off x="1356" y="2500"/>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12" name="Rectangle 256"/>
            <p:cNvSpPr>
              <a:spLocks noChangeArrowheads="1"/>
            </p:cNvSpPr>
            <p:nvPr/>
          </p:nvSpPr>
          <p:spPr bwMode="auto">
            <a:xfrm>
              <a:off x="1356" y="2515"/>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13" name="Rectangle 257"/>
            <p:cNvSpPr>
              <a:spLocks noChangeArrowheads="1"/>
            </p:cNvSpPr>
            <p:nvPr/>
          </p:nvSpPr>
          <p:spPr bwMode="auto">
            <a:xfrm>
              <a:off x="1356" y="2529"/>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14" name="Rectangle 258"/>
            <p:cNvSpPr>
              <a:spLocks noChangeArrowheads="1"/>
            </p:cNvSpPr>
            <p:nvPr/>
          </p:nvSpPr>
          <p:spPr bwMode="auto">
            <a:xfrm>
              <a:off x="1356" y="2544"/>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15" name="Rectangle 259"/>
            <p:cNvSpPr>
              <a:spLocks noChangeArrowheads="1"/>
            </p:cNvSpPr>
            <p:nvPr/>
          </p:nvSpPr>
          <p:spPr bwMode="auto">
            <a:xfrm>
              <a:off x="1356" y="2559"/>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16" name="Rectangle 260"/>
            <p:cNvSpPr>
              <a:spLocks noChangeArrowheads="1"/>
            </p:cNvSpPr>
            <p:nvPr/>
          </p:nvSpPr>
          <p:spPr bwMode="auto">
            <a:xfrm>
              <a:off x="1356" y="2574"/>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17" name="Rectangle 261"/>
            <p:cNvSpPr>
              <a:spLocks noChangeArrowheads="1"/>
            </p:cNvSpPr>
            <p:nvPr/>
          </p:nvSpPr>
          <p:spPr bwMode="auto">
            <a:xfrm>
              <a:off x="1356" y="2588"/>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18" name="Rectangle 262"/>
            <p:cNvSpPr>
              <a:spLocks noChangeArrowheads="1"/>
            </p:cNvSpPr>
            <p:nvPr/>
          </p:nvSpPr>
          <p:spPr bwMode="auto">
            <a:xfrm>
              <a:off x="1356" y="2603"/>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19" name="Rectangle 263"/>
            <p:cNvSpPr>
              <a:spLocks noChangeArrowheads="1"/>
            </p:cNvSpPr>
            <p:nvPr/>
          </p:nvSpPr>
          <p:spPr bwMode="auto">
            <a:xfrm>
              <a:off x="1356" y="2618"/>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20" name="Rectangle 264"/>
            <p:cNvSpPr>
              <a:spLocks noChangeArrowheads="1"/>
            </p:cNvSpPr>
            <p:nvPr/>
          </p:nvSpPr>
          <p:spPr bwMode="auto">
            <a:xfrm>
              <a:off x="1356" y="2632"/>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21" name="Rectangle 265"/>
            <p:cNvSpPr>
              <a:spLocks noChangeArrowheads="1"/>
            </p:cNvSpPr>
            <p:nvPr/>
          </p:nvSpPr>
          <p:spPr bwMode="auto">
            <a:xfrm>
              <a:off x="1356" y="2647"/>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22" name="Rectangle 266"/>
            <p:cNvSpPr>
              <a:spLocks noChangeArrowheads="1"/>
            </p:cNvSpPr>
            <p:nvPr/>
          </p:nvSpPr>
          <p:spPr bwMode="auto">
            <a:xfrm>
              <a:off x="1356" y="2662"/>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23" name="Rectangle 267"/>
            <p:cNvSpPr>
              <a:spLocks noChangeArrowheads="1"/>
            </p:cNvSpPr>
            <p:nvPr/>
          </p:nvSpPr>
          <p:spPr bwMode="auto">
            <a:xfrm>
              <a:off x="1356" y="2677"/>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24" name="Rectangle 268"/>
            <p:cNvSpPr>
              <a:spLocks noChangeArrowheads="1"/>
            </p:cNvSpPr>
            <p:nvPr/>
          </p:nvSpPr>
          <p:spPr bwMode="auto">
            <a:xfrm>
              <a:off x="1356" y="2691"/>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25" name="Rectangle 269"/>
            <p:cNvSpPr>
              <a:spLocks noChangeArrowheads="1"/>
            </p:cNvSpPr>
            <p:nvPr/>
          </p:nvSpPr>
          <p:spPr bwMode="auto">
            <a:xfrm>
              <a:off x="1356" y="2706"/>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26" name="Rectangle 270"/>
            <p:cNvSpPr>
              <a:spLocks noChangeArrowheads="1"/>
            </p:cNvSpPr>
            <p:nvPr/>
          </p:nvSpPr>
          <p:spPr bwMode="auto">
            <a:xfrm>
              <a:off x="1356" y="2721"/>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27" name="Rectangle 271"/>
            <p:cNvSpPr>
              <a:spLocks noChangeArrowheads="1"/>
            </p:cNvSpPr>
            <p:nvPr/>
          </p:nvSpPr>
          <p:spPr bwMode="auto">
            <a:xfrm>
              <a:off x="1356" y="2736"/>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28" name="Freeform 272"/>
            <p:cNvSpPr>
              <a:spLocks/>
            </p:cNvSpPr>
            <p:nvPr/>
          </p:nvSpPr>
          <p:spPr bwMode="auto">
            <a:xfrm>
              <a:off x="1356" y="2750"/>
              <a:ext cx="8" cy="11"/>
            </a:xfrm>
            <a:custGeom>
              <a:avLst/>
              <a:gdLst/>
              <a:ahLst/>
              <a:cxnLst>
                <a:cxn ang="0">
                  <a:pos x="8" y="0"/>
                </a:cxn>
                <a:cxn ang="0">
                  <a:pos x="0" y="0"/>
                </a:cxn>
                <a:cxn ang="0">
                  <a:pos x="0" y="7"/>
                </a:cxn>
                <a:cxn ang="0">
                  <a:pos x="0" y="10"/>
                </a:cxn>
                <a:cxn ang="0">
                  <a:pos x="3" y="11"/>
                </a:cxn>
                <a:cxn ang="0">
                  <a:pos x="4" y="11"/>
                </a:cxn>
                <a:cxn ang="0">
                  <a:pos x="4" y="3"/>
                </a:cxn>
                <a:cxn ang="0">
                  <a:pos x="3" y="3"/>
                </a:cxn>
                <a:cxn ang="0">
                  <a:pos x="3" y="7"/>
                </a:cxn>
                <a:cxn ang="0">
                  <a:pos x="8" y="7"/>
                </a:cxn>
                <a:cxn ang="0">
                  <a:pos x="8" y="0"/>
                </a:cxn>
              </a:cxnLst>
              <a:rect l="0" t="0" r="r" b="b"/>
              <a:pathLst>
                <a:path w="8" h="11">
                  <a:moveTo>
                    <a:pt x="8" y="0"/>
                  </a:moveTo>
                  <a:lnTo>
                    <a:pt x="0" y="0"/>
                  </a:lnTo>
                  <a:lnTo>
                    <a:pt x="0" y="7"/>
                  </a:lnTo>
                  <a:lnTo>
                    <a:pt x="0" y="10"/>
                  </a:lnTo>
                  <a:lnTo>
                    <a:pt x="3" y="11"/>
                  </a:lnTo>
                  <a:lnTo>
                    <a:pt x="4" y="11"/>
                  </a:lnTo>
                  <a:lnTo>
                    <a:pt x="4" y="3"/>
                  </a:lnTo>
                  <a:lnTo>
                    <a:pt x="3" y="3"/>
                  </a:lnTo>
                  <a:lnTo>
                    <a:pt x="3" y="7"/>
                  </a:lnTo>
                  <a:lnTo>
                    <a:pt x="8" y="7"/>
                  </a:lnTo>
                  <a:lnTo>
                    <a:pt x="8" y="0"/>
                  </a:lnTo>
                  <a:close/>
                </a:path>
              </a:pathLst>
            </a:custGeom>
            <a:solidFill>
              <a:srgbClr val="000000"/>
            </a:solidFill>
            <a:ln w="9525">
              <a:solidFill>
                <a:srgbClr val="FF0000"/>
              </a:solidFill>
              <a:round/>
              <a:headEnd/>
              <a:tailEnd/>
            </a:ln>
          </p:spPr>
          <p:txBody>
            <a:bodyPr/>
            <a:lstStyle/>
            <a:p>
              <a:endParaRPr lang="en-US"/>
            </a:p>
          </p:txBody>
        </p:sp>
        <p:sp>
          <p:nvSpPr>
            <p:cNvPr id="326929" name="Rectangle 273"/>
            <p:cNvSpPr>
              <a:spLocks noChangeArrowheads="1"/>
            </p:cNvSpPr>
            <p:nvPr/>
          </p:nvSpPr>
          <p:spPr bwMode="auto">
            <a:xfrm>
              <a:off x="1368"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30" name="Rectangle 274"/>
            <p:cNvSpPr>
              <a:spLocks noChangeArrowheads="1"/>
            </p:cNvSpPr>
            <p:nvPr/>
          </p:nvSpPr>
          <p:spPr bwMode="auto">
            <a:xfrm>
              <a:off x="1384"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31" name="Rectangle 275"/>
            <p:cNvSpPr>
              <a:spLocks noChangeArrowheads="1"/>
            </p:cNvSpPr>
            <p:nvPr/>
          </p:nvSpPr>
          <p:spPr bwMode="auto">
            <a:xfrm>
              <a:off x="1400"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32" name="Rectangle 276"/>
            <p:cNvSpPr>
              <a:spLocks noChangeArrowheads="1"/>
            </p:cNvSpPr>
            <p:nvPr/>
          </p:nvSpPr>
          <p:spPr bwMode="auto">
            <a:xfrm>
              <a:off x="1416"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33" name="Rectangle 277"/>
            <p:cNvSpPr>
              <a:spLocks noChangeArrowheads="1"/>
            </p:cNvSpPr>
            <p:nvPr/>
          </p:nvSpPr>
          <p:spPr bwMode="auto">
            <a:xfrm>
              <a:off x="1432"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34" name="Rectangle 278"/>
            <p:cNvSpPr>
              <a:spLocks noChangeArrowheads="1"/>
            </p:cNvSpPr>
            <p:nvPr/>
          </p:nvSpPr>
          <p:spPr bwMode="auto">
            <a:xfrm>
              <a:off x="1447"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35" name="Rectangle 279"/>
            <p:cNvSpPr>
              <a:spLocks noChangeArrowheads="1"/>
            </p:cNvSpPr>
            <p:nvPr/>
          </p:nvSpPr>
          <p:spPr bwMode="auto">
            <a:xfrm>
              <a:off x="1463"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36" name="Rectangle 280"/>
            <p:cNvSpPr>
              <a:spLocks noChangeArrowheads="1"/>
            </p:cNvSpPr>
            <p:nvPr/>
          </p:nvSpPr>
          <p:spPr bwMode="auto">
            <a:xfrm>
              <a:off x="1479"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37" name="Rectangle 281"/>
            <p:cNvSpPr>
              <a:spLocks noChangeArrowheads="1"/>
            </p:cNvSpPr>
            <p:nvPr/>
          </p:nvSpPr>
          <p:spPr bwMode="auto">
            <a:xfrm>
              <a:off x="1495"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38" name="Rectangle 282"/>
            <p:cNvSpPr>
              <a:spLocks noChangeArrowheads="1"/>
            </p:cNvSpPr>
            <p:nvPr/>
          </p:nvSpPr>
          <p:spPr bwMode="auto">
            <a:xfrm>
              <a:off x="1511"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39" name="Rectangle 283"/>
            <p:cNvSpPr>
              <a:spLocks noChangeArrowheads="1"/>
            </p:cNvSpPr>
            <p:nvPr/>
          </p:nvSpPr>
          <p:spPr bwMode="auto">
            <a:xfrm>
              <a:off x="1526"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40" name="Rectangle 284"/>
            <p:cNvSpPr>
              <a:spLocks noChangeArrowheads="1"/>
            </p:cNvSpPr>
            <p:nvPr/>
          </p:nvSpPr>
          <p:spPr bwMode="auto">
            <a:xfrm>
              <a:off x="1542"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41" name="Rectangle 285"/>
            <p:cNvSpPr>
              <a:spLocks noChangeArrowheads="1"/>
            </p:cNvSpPr>
            <p:nvPr/>
          </p:nvSpPr>
          <p:spPr bwMode="auto">
            <a:xfrm>
              <a:off x="1558"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42" name="Rectangle 286"/>
            <p:cNvSpPr>
              <a:spLocks noChangeArrowheads="1"/>
            </p:cNvSpPr>
            <p:nvPr/>
          </p:nvSpPr>
          <p:spPr bwMode="auto">
            <a:xfrm>
              <a:off x="1574"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43" name="Rectangle 287"/>
            <p:cNvSpPr>
              <a:spLocks noChangeArrowheads="1"/>
            </p:cNvSpPr>
            <p:nvPr/>
          </p:nvSpPr>
          <p:spPr bwMode="auto">
            <a:xfrm>
              <a:off x="1590"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44" name="Rectangle 288"/>
            <p:cNvSpPr>
              <a:spLocks noChangeArrowheads="1"/>
            </p:cNvSpPr>
            <p:nvPr/>
          </p:nvSpPr>
          <p:spPr bwMode="auto">
            <a:xfrm>
              <a:off x="1606" y="2753"/>
              <a:ext cx="7" cy="8"/>
            </a:xfrm>
            <a:prstGeom prst="rect">
              <a:avLst/>
            </a:prstGeom>
            <a:solidFill>
              <a:srgbClr val="000000"/>
            </a:solidFill>
            <a:ln w="9525">
              <a:solidFill>
                <a:srgbClr val="FF0000"/>
              </a:solidFill>
              <a:miter lim="800000"/>
              <a:headEnd/>
              <a:tailEnd/>
            </a:ln>
          </p:spPr>
          <p:txBody>
            <a:bodyPr/>
            <a:lstStyle/>
            <a:p>
              <a:endParaRPr lang="en-US"/>
            </a:p>
          </p:txBody>
        </p:sp>
        <p:sp>
          <p:nvSpPr>
            <p:cNvPr id="326945" name="Rectangle 289"/>
            <p:cNvSpPr>
              <a:spLocks noChangeArrowheads="1"/>
            </p:cNvSpPr>
            <p:nvPr/>
          </p:nvSpPr>
          <p:spPr bwMode="auto">
            <a:xfrm>
              <a:off x="1621"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46" name="Rectangle 290"/>
            <p:cNvSpPr>
              <a:spLocks noChangeArrowheads="1"/>
            </p:cNvSpPr>
            <p:nvPr/>
          </p:nvSpPr>
          <p:spPr bwMode="auto">
            <a:xfrm>
              <a:off x="1637"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47" name="Rectangle 291"/>
            <p:cNvSpPr>
              <a:spLocks noChangeArrowheads="1"/>
            </p:cNvSpPr>
            <p:nvPr/>
          </p:nvSpPr>
          <p:spPr bwMode="auto">
            <a:xfrm>
              <a:off x="1653"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48" name="Rectangle 292"/>
            <p:cNvSpPr>
              <a:spLocks noChangeArrowheads="1"/>
            </p:cNvSpPr>
            <p:nvPr/>
          </p:nvSpPr>
          <p:spPr bwMode="auto">
            <a:xfrm>
              <a:off x="1669"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49" name="Rectangle 293"/>
            <p:cNvSpPr>
              <a:spLocks noChangeArrowheads="1"/>
            </p:cNvSpPr>
            <p:nvPr/>
          </p:nvSpPr>
          <p:spPr bwMode="auto">
            <a:xfrm>
              <a:off x="1685"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50" name="Rectangle 294"/>
            <p:cNvSpPr>
              <a:spLocks noChangeArrowheads="1"/>
            </p:cNvSpPr>
            <p:nvPr/>
          </p:nvSpPr>
          <p:spPr bwMode="auto">
            <a:xfrm>
              <a:off x="1700"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51" name="Rectangle 295"/>
            <p:cNvSpPr>
              <a:spLocks noChangeArrowheads="1"/>
            </p:cNvSpPr>
            <p:nvPr/>
          </p:nvSpPr>
          <p:spPr bwMode="auto">
            <a:xfrm>
              <a:off x="1716"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52" name="Rectangle 296"/>
            <p:cNvSpPr>
              <a:spLocks noChangeArrowheads="1"/>
            </p:cNvSpPr>
            <p:nvPr/>
          </p:nvSpPr>
          <p:spPr bwMode="auto">
            <a:xfrm>
              <a:off x="1732"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53" name="Rectangle 297"/>
            <p:cNvSpPr>
              <a:spLocks noChangeArrowheads="1"/>
            </p:cNvSpPr>
            <p:nvPr/>
          </p:nvSpPr>
          <p:spPr bwMode="auto">
            <a:xfrm>
              <a:off x="1748"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54" name="Rectangle 298"/>
            <p:cNvSpPr>
              <a:spLocks noChangeArrowheads="1"/>
            </p:cNvSpPr>
            <p:nvPr/>
          </p:nvSpPr>
          <p:spPr bwMode="auto">
            <a:xfrm>
              <a:off x="1764"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55" name="Rectangle 299"/>
            <p:cNvSpPr>
              <a:spLocks noChangeArrowheads="1"/>
            </p:cNvSpPr>
            <p:nvPr/>
          </p:nvSpPr>
          <p:spPr bwMode="auto">
            <a:xfrm>
              <a:off x="1780" y="2753"/>
              <a:ext cx="7" cy="8"/>
            </a:xfrm>
            <a:prstGeom prst="rect">
              <a:avLst/>
            </a:prstGeom>
            <a:solidFill>
              <a:srgbClr val="000000"/>
            </a:solidFill>
            <a:ln w="9525">
              <a:solidFill>
                <a:srgbClr val="FF0000"/>
              </a:solidFill>
              <a:miter lim="800000"/>
              <a:headEnd/>
              <a:tailEnd/>
            </a:ln>
          </p:spPr>
          <p:txBody>
            <a:bodyPr/>
            <a:lstStyle/>
            <a:p>
              <a:endParaRPr lang="en-US"/>
            </a:p>
          </p:txBody>
        </p:sp>
        <p:sp>
          <p:nvSpPr>
            <p:cNvPr id="326956" name="Rectangle 300"/>
            <p:cNvSpPr>
              <a:spLocks noChangeArrowheads="1"/>
            </p:cNvSpPr>
            <p:nvPr/>
          </p:nvSpPr>
          <p:spPr bwMode="auto">
            <a:xfrm>
              <a:off x="1795"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57" name="Rectangle 301"/>
            <p:cNvSpPr>
              <a:spLocks noChangeArrowheads="1"/>
            </p:cNvSpPr>
            <p:nvPr/>
          </p:nvSpPr>
          <p:spPr bwMode="auto">
            <a:xfrm>
              <a:off x="1811"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58" name="Rectangle 302"/>
            <p:cNvSpPr>
              <a:spLocks noChangeArrowheads="1"/>
            </p:cNvSpPr>
            <p:nvPr/>
          </p:nvSpPr>
          <p:spPr bwMode="auto">
            <a:xfrm>
              <a:off x="1827"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59" name="Rectangle 303"/>
            <p:cNvSpPr>
              <a:spLocks noChangeArrowheads="1"/>
            </p:cNvSpPr>
            <p:nvPr/>
          </p:nvSpPr>
          <p:spPr bwMode="auto">
            <a:xfrm>
              <a:off x="1843"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60" name="Rectangle 304"/>
            <p:cNvSpPr>
              <a:spLocks noChangeArrowheads="1"/>
            </p:cNvSpPr>
            <p:nvPr/>
          </p:nvSpPr>
          <p:spPr bwMode="auto">
            <a:xfrm>
              <a:off x="1859" y="2753"/>
              <a:ext cx="7" cy="8"/>
            </a:xfrm>
            <a:prstGeom prst="rect">
              <a:avLst/>
            </a:prstGeom>
            <a:solidFill>
              <a:srgbClr val="000000"/>
            </a:solidFill>
            <a:ln w="9525">
              <a:solidFill>
                <a:srgbClr val="FF0000"/>
              </a:solidFill>
              <a:miter lim="800000"/>
              <a:headEnd/>
              <a:tailEnd/>
            </a:ln>
          </p:spPr>
          <p:txBody>
            <a:bodyPr/>
            <a:lstStyle/>
            <a:p>
              <a:endParaRPr lang="en-US"/>
            </a:p>
          </p:txBody>
        </p:sp>
        <p:sp>
          <p:nvSpPr>
            <p:cNvPr id="326961" name="Rectangle 305"/>
            <p:cNvSpPr>
              <a:spLocks noChangeArrowheads="1"/>
            </p:cNvSpPr>
            <p:nvPr/>
          </p:nvSpPr>
          <p:spPr bwMode="auto">
            <a:xfrm>
              <a:off x="1874"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62" name="Rectangle 306"/>
            <p:cNvSpPr>
              <a:spLocks noChangeArrowheads="1"/>
            </p:cNvSpPr>
            <p:nvPr/>
          </p:nvSpPr>
          <p:spPr bwMode="auto">
            <a:xfrm>
              <a:off x="1890"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63" name="Rectangle 307"/>
            <p:cNvSpPr>
              <a:spLocks noChangeArrowheads="1"/>
            </p:cNvSpPr>
            <p:nvPr/>
          </p:nvSpPr>
          <p:spPr bwMode="auto">
            <a:xfrm>
              <a:off x="1906"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64" name="Rectangle 308"/>
            <p:cNvSpPr>
              <a:spLocks noChangeArrowheads="1"/>
            </p:cNvSpPr>
            <p:nvPr/>
          </p:nvSpPr>
          <p:spPr bwMode="auto">
            <a:xfrm>
              <a:off x="1922"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65" name="Rectangle 309"/>
            <p:cNvSpPr>
              <a:spLocks noChangeArrowheads="1"/>
            </p:cNvSpPr>
            <p:nvPr/>
          </p:nvSpPr>
          <p:spPr bwMode="auto">
            <a:xfrm>
              <a:off x="1938"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66" name="Rectangle 310"/>
            <p:cNvSpPr>
              <a:spLocks noChangeArrowheads="1"/>
            </p:cNvSpPr>
            <p:nvPr/>
          </p:nvSpPr>
          <p:spPr bwMode="auto">
            <a:xfrm>
              <a:off x="1953"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67" name="Rectangle 311"/>
            <p:cNvSpPr>
              <a:spLocks noChangeArrowheads="1"/>
            </p:cNvSpPr>
            <p:nvPr/>
          </p:nvSpPr>
          <p:spPr bwMode="auto">
            <a:xfrm>
              <a:off x="1969"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68" name="Rectangle 312"/>
            <p:cNvSpPr>
              <a:spLocks noChangeArrowheads="1"/>
            </p:cNvSpPr>
            <p:nvPr/>
          </p:nvSpPr>
          <p:spPr bwMode="auto">
            <a:xfrm>
              <a:off x="1985"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69" name="Rectangle 313"/>
            <p:cNvSpPr>
              <a:spLocks noChangeArrowheads="1"/>
            </p:cNvSpPr>
            <p:nvPr/>
          </p:nvSpPr>
          <p:spPr bwMode="auto">
            <a:xfrm>
              <a:off x="2001" y="2753"/>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70" name="Freeform 314"/>
            <p:cNvSpPr>
              <a:spLocks/>
            </p:cNvSpPr>
            <p:nvPr/>
          </p:nvSpPr>
          <p:spPr bwMode="auto">
            <a:xfrm>
              <a:off x="2017" y="2753"/>
              <a:ext cx="11" cy="8"/>
            </a:xfrm>
            <a:custGeom>
              <a:avLst/>
              <a:gdLst/>
              <a:ahLst/>
              <a:cxnLst>
                <a:cxn ang="0">
                  <a:pos x="0" y="0"/>
                </a:cxn>
                <a:cxn ang="0">
                  <a:pos x="0" y="8"/>
                </a:cxn>
                <a:cxn ang="0">
                  <a:pos x="6" y="8"/>
                </a:cxn>
                <a:cxn ang="0">
                  <a:pos x="10" y="8"/>
                </a:cxn>
                <a:cxn ang="0">
                  <a:pos x="11" y="4"/>
                </a:cxn>
                <a:cxn ang="0">
                  <a:pos x="11" y="3"/>
                </a:cxn>
                <a:cxn ang="0">
                  <a:pos x="3" y="3"/>
                </a:cxn>
                <a:cxn ang="0">
                  <a:pos x="3" y="4"/>
                </a:cxn>
                <a:cxn ang="0">
                  <a:pos x="6" y="4"/>
                </a:cxn>
                <a:cxn ang="0">
                  <a:pos x="6" y="0"/>
                </a:cxn>
                <a:cxn ang="0">
                  <a:pos x="0" y="0"/>
                </a:cxn>
              </a:cxnLst>
              <a:rect l="0" t="0" r="r" b="b"/>
              <a:pathLst>
                <a:path w="11" h="8">
                  <a:moveTo>
                    <a:pt x="0" y="0"/>
                  </a:moveTo>
                  <a:lnTo>
                    <a:pt x="0" y="8"/>
                  </a:lnTo>
                  <a:lnTo>
                    <a:pt x="6" y="8"/>
                  </a:lnTo>
                  <a:lnTo>
                    <a:pt x="10" y="8"/>
                  </a:lnTo>
                  <a:lnTo>
                    <a:pt x="11" y="4"/>
                  </a:lnTo>
                  <a:lnTo>
                    <a:pt x="11" y="3"/>
                  </a:lnTo>
                  <a:lnTo>
                    <a:pt x="3" y="3"/>
                  </a:lnTo>
                  <a:lnTo>
                    <a:pt x="3" y="4"/>
                  </a:lnTo>
                  <a:lnTo>
                    <a:pt x="6" y="4"/>
                  </a:lnTo>
                  <a:lnTo>
                    <a:pt x="6" y="0"/>
                  </a:lnTo>
                  <a:lnTo>
                    <a:pt x="0" y="0"/>
                  </a:lnTo>
                  <a:close/>
                </a:path>
              </a:pathLst>
            </a:custGeom>
            <a:solidFill>
              <a:srgbClr val="000000"/>
            </a:solidFill>
            <a:ln w="9525">
              <a:solidFill>
                <a:srgbClr val="FF0000"/>
              </a:solidFill>
              <a:round/>
              <a:headEnd/>
              <a:tailEnd/>
            </a:ln>
          </p:spPr>
          <p:txBody>
            <a:bodyPr/>
            <a:lstStyle/>
            <a:p>
              <a:endParaRPr lang="en-US"/>
            </a:p>
          </p:txBody>
        </p:sp>
        <p:sp>
          <p:nvSpPr>
            <p:cNvPr id="326971" name="Rectangle 315"/>
            <p:cNvSpPr>
              <a:spLocks noChangeArrowheads="1"/>
            </p:cNvSpPr>
            <p:nvPr/>
          </p:nvSpPr>
          <p:spPr bwMode="auto">
            <a:xfrm>
              <a:off x="2020" y="2741"/>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72" name="Rectangle 316"/>
            <p:cNvSpPr>
              <a:spLocks noChangeArrowheads="1"/>
            </p:cNvSpPr>
            <p:nvPr/>
          </p:nvSpPr>
          <p:spPr bwMode="auto">
            <a:xfrm>
              <a:off x="2020" y="2726"/>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73" name="Rectangle 317"/>
            <p:cNvSpPr>
              <a:spLocks noChangeArrowheads="1"/>
            </p:cNvSpPr>
            <p:nvPr/>
          </p:nvSpPr>
          <p:spPr bwMode="auto">
            <a:xfrm>
              <a:off x="2020" y="2711"/>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74" name="Rectangle 318"/>
            <p:cNvSpPr>
              <a:spLocks noChangeArrowheads="1"/>
            </p:cNvSpPr>
            <p:nvPr/>
          </p:nvSpPr>
          <p:spPr bwMode="auto">
            <a:xfrm>
              <a:off x="2020" y="2697"/>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75" name="Rectangle 319"/>
            <p:cNvSpPr>
              <a:spLocks noChangeArrowheads="1"/>
            </p:cNvSpPr>
            <p:nvPr/>
          </p:nvSpPr>
          <p:spPr bwMode="auto">
            <a:xfrm>
              <a:off x="2020" y="2682"/>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76" name="Rectangle 320"/>
            <p:cNvSpPr>
              <a:spLocks noChangeArrowheads="1"/>
            </p:cNvSpPr>
            <p:nvPr/>
          </p:nvSpPr>
          <p:spPr bwMode="auto">
            <a:xfrm>
              <a:off x="2020" y="2667"/>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77" name="Rectangle 321"/>
            <p:cNvSpPr>
              <a:spLocks noChangeArrowheads="1"/>
            </p:cNvSpPr>
            <p:nvPr/>
          </p:nvSpPr>
          <p:spPr bwMode="auto">
            <a:xfrm>
              <a:off x="2020" y="2652"/>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78" name="Rectangle 322"/>
            <p:cNvSpPr>
              <a:spLocks noChangeArrowheads="1"/>
            </p:cNvSpPr>
            <p:nvPr/>
          </p:nvSpPr>
          <p:spPr bwMode="auto">
            <a:xfrm>
              <a:off x="2020" y="2638"/>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79" name="Rectangle 323"/>
            <p:cNvSpPr>
              <a:spLocks noChangeArrowheads="1"/>
            </p:cNvSpPr>
            <p:nvPr/>
          </p:nvSpPr>
          <p:spPr bwMode="auto">
            <a:xfrm>
              <a:off x="2020" y="2623"/>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80" name="Rectangle 324"/>
            <p:cNvSpPr>
              <a:spLocks noChangeArrowheads="1"/>
            </p:cNvSpPr>
            <p:nvPr/>
          </p:nvSpPr>
          <p:spPr bwMode="auto">
            <a:xfrm>
              <a:off x="2020" y="2608"/>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81" name="Rectangle 325"/>
            <p:cNvSpPr>
              <a:spLocks noChangeArrowheads="1"/>
            </p:cNvSpPr>
            <p:nvPr/>
          </p:nvSpPr>
          <p:spPr bwMode="auto">
            <a:xfrm>
              <a:off x="2020" y="2594"/>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82" name="Rectangle 326"/>
            <p:cNvSpPr>
              <a:spLocks noChangeArrowheads="1"/>
            </p:cNvSpPr>
            <p:nvPr/>
          </p:nvSpPr>
          <p:spPr bwMode="auto">
            <a:xfrm>
              <a:off x="2020" y="2579"/>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83" name="Rectangle 327"/>
            <p:cNvSpPr>
              <a:spLocks noChangeArrowheads="1"/>
            </p:cNvSpPr>
            <p:nvPr/>
          </p:nvSpPr>
          <p:spPr bwMode="auto">
            <a:xfrm>
              <a:off x="2020" y="2564"/>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84" name="Rectangle 328"/>
            <p:cNvSpPr>
              <a:spLocks noChangeArrowheads="1"/>
            </p:cNvSpPr>
            <p:nvPr/>
          </p:nvSpPr>
          <p:spPr bwMode="auto">
            <a:xfrm>
              <a:off x="2020" y="2549"/>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85" name="Rectangle 329"/>
            <p:cNvSpPr>
              <a:spLocks noChangeArrowheads="1"/>
            </p:cNvSpPr>
            <p:nvPr/>
          </p:nvSpPr>
          <p:spPr bwMode="auto">
            <a:xfrm>
              <a:off x="2020" y="2535"/>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86" name="Rectangle 330"/>
            <p:cNvSpPr>
              <a:spLocks noChangeArrowheads="1"/>
            </p:cNvSpPr>
            <p:nvPr/>
          </p:nvSpPr>
          <p:spPr bwMode="auto">
            <a:xfrm>
              <a:off x="2020" y="2520"/>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87" name="Rectangle 331"/>
            <p:cNvSpPr>
              <a:spLocks noChangeArrowheads="1"/>
            </p:cNvSpPr>
            <p:nvPr/>
          </p:nvSpPr>
          <p:spPr bwMode="auto">
            <a:xfrm>
              <a:off x="2020" y="2505"/>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88" name="Rectangle 332"/>
            <p:cNvSpPr>
              <a:spLocks noChangeArrowheads="1"/>
            </p:cNvSpPr>
            <p:nvPr/>
          </p:nvSpPr>
          <p:spPr bwMode="auto">
            <a:xfrm>
              <a:off x="2020" y="2490"/>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89" name="Rectangle 333"/>
            <p:cNvSpPr>
              <a:spLocks noChangeArrowheads="1"/>
            </p:cNvSpPr>
            <p:nvPr/>
          </p:nvSpPr>
          <p:spPr bwMode="auto">
            <a:xfrm>
              <a:off x="2020" y="2476"/>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90" name="Rectangle 334"/>
            <p:cNvSpPr>
              <a:spLocks noChangeArrowheads="1"/>
            </p:cNvSpPr>
            <p:nvPr/>
          </p:nvSpPr>
          <p:spPr bwMode="auto">
            <a:xfrm>
              <a:off x="2020" y="2461"/>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91" name="Rectangle 335"/>
            <p:cNvSpPr>
              <a:spLocks noChangeArrowheads="1"/>
            </p:cNvSpPr>
            <p:nvPr/>
          </p:nvSpPr>
          <p:spPr bwMode="auto">
            <a:xfrm>
              <a:off x="2020" y="24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92" name="Rectangle 336"/>
            <p:cNvSpPr>
              <a:spLocks noChangeArrowheads="1"/>
            </p:cNvSpPr>
            <p:nvPr/>
          </p:nvSpPr>
          <p:spPr bwMode="auto">
            <a:xfrm>
              <a:off x="2020" y="2431"/>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93" name="Rectangle 337"/>
            <p:cNvSpPr>
              <a:spLocks noChangeArrowheads="1"/>
            </p:cNvSpPr>
            <p:nvPr/>
          </p:nvSpPr>
          <p:spPr bwMode="auto">
            <a:xfrm>
              <a:off x="2020" y="2417"/>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94" name="Rectangle 338"/>
            <p:cNvSpPr>
              <a:spLocks noChangeArrowheads="1"/>
            </p:cNvSpPr>
            <p:nvPr/>
          </p:nvSpPr>
          <p:spPr bwMode="auto">
            <a:xfrm>
              <a:off x="2020" y="2402"/>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95" name="Rectangle 339"/>
            <p:cNvSpPr>
              <a:spLocks noChangeArrowheads="1"/>
            </p:cNvSpPr>
            <p:nvPr/>
          </p:nvSpPr>
          <p:spPr bwMode="auto">
            <a:xfrm>
              <a:off x="2020" y="2387"/>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6996" name="Rectangle 340"/>
            <p:cNvSpPr>
              <a:spLocks noChangeArrowheads="1"/>
            </p:cNvSpPr>
            <p:nvPr/>
          </p:nvSpPr>
          <p:spPr bwMode="auto">
            <a:xfrm>
              <a:off x="2020" y="2373"/>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97" name="Rectangle 341"/>
            <p:cNvSpPr>
              <a:spLocks noChangeArrowheads="1"/>
            </p:cNvSpPr>
            <p:nvPr/>
          </p:nvSpPr>
          <p:spPr bwMode="auto">
            <a:xfrm>
              <a:off x="2020" y="2358"/>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98" name="Rectangle 342"/>
            <p:cNvSpPr>
              <a:spLocks noChangeArrowheads="1"/>
            </p:cNvSpPr>
            <p:nvPr/>
          </p:nvSpPr>
          <p:spPr bwMode="auto">
            <a:xfrm>
              <a:off x="2020" y="2343"/>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6999" name="Rectangle 343"/>
            <p:cNvSpPr>
              <a:spLocks noChangeArrowheads="1"/>
            </p:cNvSpPr>
            <p:nvPr/>
          </p:nvSpPr>
          <p:spPr bwMode="auto">
            <a:xfrm>
              <a:off x="2020" y="2328"/>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00" name="Rectangle 344"/>
            <p:cNvSpPr>
              <a:spLocks noChangeArrowheads="1"/>
            </p:cNvSpPr>
            <p:nvPr/>
          </p:nvSpPr>
          <p:spPr bwMode="auto">
            <a:xfrm>
              <a:off x="2020" y="2314"/>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7001" name="Rectangle 345"/>
            <p:cNvSpPr>
              <a:spLocks noChangeArrowheads="1"/>
            </p:cNvSpPr>
            <p:nvPr/>
          </p:nvSpPr>
          <p:spPr bwMode="auto">
            <a:xfrm>
              <a:off x="2020" y="2299"/>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7002" name="Rectangle 346"/>
            <p:cNvSpPr>
              <a:spLocks noChangeArrowheads="1"/>
            </p:cNvSpPr>
            <p:nvPr/>
          </p:nvSpPr>
          <p:spPr bwMode="auto">
            <a:xfrm>
              <a:off x="2020" y="2284"/>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03" name="Rectangle 347"/>
            <p:cNvSpPr>
              <a:spLocks noChangeArrowheads="1"/>
            </p:cNvSpPr>
            <p:nvPr/>
          </p:nvSpPr>
          <p:spPr bwMode="auto">
            <a:xfrm>
              <a:off x="2020" y="2269"/>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04" name="Rectangle 348"/>
            <p:cNvSpPr>
              <a:spLocks noChangeArrowheads="1"/>
            </p:cNvSpPr>
            <p:nvPr/>
          </p:nvSpPr>
          <p:spPr bwMode="auto">
            <a:xfrm>
              <a:off x="2020" y="2255"/>
              <a:ext cx="8" cy="7"/>
            </a:xfrm>
            <a:prstGeom prst="rect">
              <a:avLst/>
            </a:prstGeom>
            <a:solidFill>
              <a:srgbClr val="000000"/>
            </a:solidFill>
            <a:ln w="9525">
              <a:solidFill>
                <a:srgbClr val="FF0000"/>
              </a:solidFill>
              <a:miter lim="800000"/>
              <a:headEnd/>
              <a:tailEnd/>
            </a:ln>
          </p:spPr>
          <p:txBody>
            <a:bodyPr/>
            <a:lstStyle/>
            <a:p>
              <a:endParaRPr lang="en-US"/>
            </a:p>
          </p:txBody>
        </p:sp>
        <p:sp>
          <p:nvSpPr>
            <p:cNvPr id="327005" name="Rectangle 349"/>
            <p:cNvSpPr>
              <a:spLocks noChangeArrowheads="1"/>
            </p:cNvSpPr>
            <p:nvPr/>
          </p:nvSpPr>
          <p:spPr bwMode="auto">
            <a:xfrm>
              <a:off x="2013"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06" name="Rectangle 350"/>
            <p:cNvSpPr>
              <a:spLocks noChangeArrowheads="1"/>
            </p:cNvSpPr>
            <p:nvPr/>
          </p:nvSpPr>
          <p:spPr bwMode="auto">
            <a:xfrm>
              <a:off x="1998" y="2246"/>
              <a:ext cx="7" cy="8"/>
            </a:xfrm>
            <a:prstGeom prst="rect">
              <a:avLst/>
            </a:prstGeom>
            <a:solidFill>
              <a:srgbClr val="000000"/>
            </a:solidFill>
            <a:ln w="9525">
              <a:solidFill>
                <a:srgbClr val="FF0000"/>
              </a:solidFill>
              <a:miter lim="800000"/>
              <a:headEnd/>
              <a:tailEnd/>
            </a:ln>
          </p:spPr>
          <p:txBody>
            <a:bodyPr/>
            <a:lstStyle/>
            <a:p>
              <a:endParaRPr lang="en-US"/>
            </a:p>
          </p:txBody>
        </p:sp>
        <p:sp>
          <p:nvSpPr>
            <p:cNvPr id="327007" name="Rectangle 351"/>
            <p:cNvSpPr>
              <a:spLocks noChangeArrowheads="1"/>
            </p:cNvSpPr>
            <p:nvPr/>
          </p:nvSpPr>
          <p:spPr bwMode="auto">
            <a:xfrm>
              <a:off x="1982"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08" name="Rectangle 352"/>
            <p:cNvSpPr>
              <a:spLocks noChangeArrowheads="1"/>
            </p:cNvSpPr>
            <p:nvPr/>
          </p:nvSpPr>
          <p:spPr bwMode="auto">
            <a:xfrm>
              <a:off x="1966"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09" name="Rectangle 353"/>
            <p:cNvSpPr>
              <a:spLocks noChangeArrowheads="1"/>
            </p:cNvSpPr>
            <p:nvPr/>
          </p:nvSpPr>
          <p:spPr bwMode="auto">
            <a:xfrm>
              <a:off x="1950"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10" name="Rectangle 354"/>
            <p:cNvSpPr>
              <a:spLocks noChangeArrowheads="1"/>
            </p:cNvSpPr>
            <p:nvPr/>
          </p:nvSpPr>
          <p:spPr bwMode="auto">
            <a:xfrm>
              <a:off x="1934"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11" name="Rectangle 355"/>
            <p:cNvSpPr>
              <a:spLocks noChangeArrowheads="1"/>
            </p:cNvSpPr>
            <p:nvPr/>
          </p:nvSpPr>
          <p:spPr bwMode="auto">
            <a:xfrm>
              <a:off x="1918"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12" name="Rectangle 356"/>
            <p:cNvSpPr>
              <a:spLocks noChangeArrowheads="1"/>
            </p:cNvSpPr>
            <p:nvPr/>
          </p:nvSpPr>
          <p:spPr bwMode="auto">
            <a:xfrm>
              <a:off x="1903"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13" name="Rectangle 357"/>
            <p:cNvSpPr>
              <a:spLocks noChangeArrowheads="1"/>
            </p:cNvSpPr>
            <p:nvPr/>
          </p:nvSpPr>
          <p:spPr bwMode="auto">
            <a:xfrm>
              <a:off x="1887"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14" name="Rectangle 358"/>
            <p:cNvSpPr>
              <a:spLocks noChangeArrowheads="1"/>
            </p:cNvSpPr>
            <p:nvPr/>
          </p:nvSpPr>
          <p:spPr bwMode="auto">
            <a:xfrm>
              <a:off x="1871"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15" name="Rectangle 359"/>
            <p:cNvSpPr>
              <a:spLocks noChangeArrowheads="1"/>
            </p:cNvSpPr>
            <p:nvPr/>
          </p:nvSpPr>
          <p:spPr bwMode="auto">
            <a:xfrm>
              <a:off x="1855"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16" name="Rectangle 360"/>
            <p:cNvSpPr>
              <a:spLocks noChangeArrowheads="1"/>
            </p:cNvSpPr>
            <p:nvPr/>
          </p:nvSpPr>
          <p:spPr bwMode="auto">
            <a:xfrm>
              <a:off x="1839"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17" name="Rectangle 361"/>
            <p:cNvSpPr>
              <a:spLocks noChangeArrowheads="1"/>
            </p:cNvSpPr>
            <p:nvPr/>
          </p:nvSpPr>
          <p:spPr bwMode="auto">
            <a:xfrm>
              <a:off x="1824" y="2246"/>
              <a:ext cx="7" cy="8"/>
            </a:xfrm>
            <a:prstGeom prst="rect">
              <a:avLst/>
            </a:prstGeom>
            <a:solidFill>
              <a:srgbClr val="000000"/>
            </a:solidFill>
            <a:ln w="9525">
              <a:solidFill>
                <a:srgbClr val="FF0000"/>
              </a:solidFill>
              <a:miter lim="800000"/>
              <a:headEnd/>
              <a:tailEnd/>
            </a:ln>
          </p:spPr>
          <p:txBody>
            <a:bodyPr/>
            <a:lstStyle/>
            <a:p>
              <a:endParaRPr lang="en-US"/>
            </a:p>
          </p:txBody>
        </p:sp>
        <p:sp>
          <p:nvSpPr>
            <p:cNvPr id="327018" name="Rectangle 362"/>
            <p:cNvSpPr>
              <a:spLocks noChangeArrowheads="1"/>
            </p:cNvSpPr>
            <p:nvPr/>
          </p:nvSpPr>
          <p:spPr bwMode="auto">
            <a:xfrm>
              <a:off x="1808"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19" name="Rectangle 363"/>
            <p:cNvSpPr>
              <a:spLocks noChangeArrowheads="1"/>
            </p:cNvSpPr>
            <p:nvPr/>
          </p:nvSpPr>
          <p:spPr bwMode="auto">
            <a:xfrm>
              <a:off x="1792"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20" name="Rectangle 364"/>
            <p:cNvSpPr>
              <a:spLocks noChangeArrowheads="1"/>
            </p:cNvSpPr>
            <p:nvPr/>
          </p:nvSpPr>
          <p:spPr bwMode="auto">
            <a:xfrm>
              <a:off x="1776"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21" name="Rectangle 365"/>
            <p:cNvSpPr>
              <a:spLocks noChangeArrowheads="1"/>
            </p:cNvSpPr>
            <p:nvPr/>
          </p:nvSpPr>
          <p:spPr bwMode="auto">
            <a:xfrm>
              <a:off x="1760"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22" name="Rectangle 366"/>
            <p:cNvSpPr>
              <a:spLocks noChangeArrowheads="1"/>
            </p:cNvSpPr>
            <p:nvPr/>
          </p:nvSpPr>
          <p:spPr bwMode="auto">
            <a:xfrm>
              <a:off x="1744"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23" name="Rectangle 367"/>
            <p:cNvSpPr>
              <a:spLocks noChangeArrowheads="1"/>
            </p:cNvSpPr>
            <p:nvPr/>
          </p:nvSpPr>
          <p:spPr bwMode="auto">
            <a:xfrm>
              <a:off x="1729"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24" name="Rectangle 368"/>
            <p:cNvSpPr>
              <a:spLocks noChangeArrowheads="1"/>
            </p:cNvSpPr>
            <p:nvPr/>
          </p:nvSpPr>
          <p:spPr bwMode="auto">
            <a:xfrm>
              <a:off x="1713"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25" name="Rectangle 369"/>
            <p:cNvSpPr>
              <a:spLocks noChangeArrowheads="1"/>
            </p:cNvSpPr>
            <p:nvPr/>
          </p:nvSpPr>
          <p:spPr bwMode="auto">
            <a:xfrm>
              <a:off x="1697"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26" name="Rectangle 370"/>
            <p:cNvSpPr>
              <a:spLocks noChangeArrowheads="1"/>
            </p:cNvSpPr>
            <p:nvPr/>
          </p:nvSpPr>
          <p:spPr bwMode="auto">
            <a:xfrm>
              <a:off x="1681"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27" name="Rectangle 371"/>
            <p:cNvSpPr>
              <a:spLocks noChangeArrowheads="1"/>
            </p:cNvSpPr>
            <p:nvPr/>
          </p:nvSpPr>
          <p:spPr bwMode="auto">
            <a:xfrm>
              <a:off x="1665"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28" name="Rectangle 372"/>
            <p:cNvSpPr>
              <a:spLocks noChangeArrowheads="1"/>
            </p:cNvSpPr>
            <p:nvPr/>
          </p:nvSpPr>
          <p:spPr bwMode="auto">
            <a:xfrm>
              <a:off x="1650"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29" name="Rectangle 373"/>
            <p:cNvSpPr>
              <a:spLocks noChangeArrowheads="1"/>
            </p:cNvSpPr>
            <p:nvPr/>
          </p:nvSpPr>
          <p:spPr bwMode="auto">
            <a:xfrm>
              <a:off x="1634"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30" name="Rectangle 374"/>
            <p:cNvSpPr>
              <a:spLocks noChangeArrowheads="1"/>
            </p:cNvSpPr>
            <p:nvPr/>
          </p:nvSpPr>
          <p:spPr bwMode="auto">
            <a:xfrm>
              <a:off x="1618"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31" name="Rectangle 375"/>
            <p:cNvSpPr>
              <a:spLocks noChangeArrowheads="1"/>
            </p:cNvSpPr>
            <p:nvPr/>
          </p:nvSpPr>
          <p:spPr bwMode="auto">
            <a:xfrm>
              <a:off x="1602"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32" name="Rectangle 376"/>
            <p:cNvSpPr>
              <a:spLocks noChangeArrowheads="1"/>
            </p:cNvSpPr>
            <p:nvPr/>
          </p:nvSpPr>
          <p:spPr bwMode="auto">
            <a:xfrm>
              <a:off x="1586"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33" name="Rectangle 377"/>
            <p:cNvSpPr>
              <a:spLocks noChangeArrowheads="1"/>
            </p:cNvSpPr>
            <p:nvPr/>
          </p:nvSpPr>
          <p:spPr bwMode="auto">
            <a:xfrm>
              <a:off x="1571" y="2246"/>
              <a:ext cx="7" cy="8"/>
            </a:xfrm>
            <a:prstGeom prst="rect">
              <a:avLst/>
            </a:prstGeom>
            <a:solidFill>
              <a:srgbClr val="000000"/>
            </a:solidFill>
            <a:ln w="9525">
              <a:solidFill>
                <a:srgbClr val="FF0000"/>
              </a:solidFill>
              <a:miter lim="800000"/>
              <a:headEnd/>
              <a:tailEnd/>
            </a:ln>
          </p:spPr>
          <p:txBody>
            <a:bodyPr/>
            <a:lstStyle/>
            <a:p>
              <a:endParaRPr lang="en-US"/>
            </a:p>
          </p:txBody>
        </p:sp>
        <p:sp>
          <p:nvSpPr>
            <p:cNvPr id="327034" name="Rectangle 378"/>
            <p:cNvSpPr>
              <a:spLocks noChangeArrowheads="1"/>
            </p:cNvSpPr>
            <p:nvPr/>
          </p:nvSpPr>
          <p:spPr bwMode="auto">
            <a:xfrm>
              <a:off x="1555"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35" name="Rectangle 379"/>
            <p:cNvSpPr>
              <a:spLocks noChangeArrowheads="1"/>
            </p:cNvSpPr>
            <p:nvPr/>
          </p:nvSpPr>
          <p:spPr bwMode="auto">
            <a:xfrm>
              <a:off x="1539"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36" name="Rectangle 380"/>
            <p:cNvSpPr>
              <a:spLocks noChangeArrowheads="1"/>
            </p:cNvSpPr>
            <p:nvPr/>
          </p:nvSpPr>
          <p:spPr bwMode="auto">
            <a:xfrm>
              <a:off x="1523"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37" name="Rectangle 381"/>
            <p:cNvSpPr>
              <a:spLocks noChangeArrowheads="1"/>
            </p:cNvSpPr>
            <p:nvPr/>
          </p:nvSpPr>
          <p:spPr bwMode="auto">
            <a:xfrm>
              <a:off x="1507"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38" name="Rectangle 382"/>
            <p:cNvSpPr>
              <a:spLocks noChangeArrowheads="1"/>
            </p:cNvSpPr>
            <p:nvPr/>
          </p:nvSpPr>
          <p:spPr bwMode="auto">
            <a:xfrm>
              <a:off x="1491"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39" name="Rectangle 383"/>
            <p:cNvSpPr>
              <a:spLocks noChangeArrowheads="1"/>
            </p:cNvSpPr>
            <p:nvPr/>
          </p:nvSpPr>
          <p:spPr bwMode="auto">
            <a:xfrm>
              <a:off x="1476"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40" name="Rectangle 384"/>
            <p:cNvSpPr>
              <a:spLocks noChangeArrowheads="1"/>
            </p:cNvSpPr>
            <p:nvPr/>
          </p:nvSpPr>
          <p:spPr bwMode="auto">
            <a:xfrm>
              <a:off x="1460"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41" name="Rectangle 385"/>
            <p:cNvSpPr>
              <a:spLocks noChangeArrowheads="1"/>
            </p:cNvSpPr>
            <p:nvPr/>
          </p:nvSpPr>
          <p:spPr bwMode="auto">
            <a:xfrm>
              <a:off x="1444"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42" name="Rectangle 386"/>
            <p:cNvSpPr>
              <a:spLocks noChangeArrowheads="1"/>
            </p:cNvSpPr>
            <p:nvPr/>
          </p:nvSpPr>
          <p:spPr bwMode="auto">
            <a:xfrm>
              <a:off x="1428"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43" name="Rectangle 387"/>
            <p:cNvSpPr>
              <a:spLocks noChangeArrowheads="1"/>
            </p:cNvSpPr>
            <p:nvPr/>
          </p:nvSpPr>
          <p:spPr bwMode="auto">
            <a:xfrm>
              <a:off x="1412"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44" name="Rectangle 388"/>
            <p:cNvSpPr>
              <a:spLocks noChangeArrowheads="1"/>
            </p:cNvSpPr>
            <p:nvPr/>
          </p:nvSpPr>
          <p:spPr bwMode="auto">
            <a:xfrm>
              <a:off x="1397" y="2246"/>
              <a:ext cx="7" cy="8"/>
            </a:xfrm>
            <a:prstGeom prst="rect">
              <a:avLst/>
            </a:prstGeom>
            <a:solidFill>
              <a:srgbClr val="000000"/>
            </a:solidFill>
            <a:ln w="9525">
              <a:solidFill>
                <a:srgbClr val="FF0000"/>
              </a:solidFill>
              <a:miter lim="800000"/>
              <a:headEnd/>
              <a:tailEnd/>
            </a:ln>
          </p:spPr>
          <p:txBody>
            <a:bodyPr/>
            <a:lstStyle/>
            <a:p>
              <a:endParaRPr lang="en-US"/>
            </a:p>
          </p:txBody>
        </p:sp>
        <p:sp>
          <p:nvSpPr>
            <p:cNvPr id="327045" name="Rectangle 389"/>
            <p:cNvSpPr>
              <a:spLocks noChangeArrowheads="1"/>
            </p:cNvSpPr>
            <p:nvPr/>
          </p:nvSpPr>
          <p:spPr bwMode="auto">
            <a:xfrm>
              <a:off x="1381" y="2246"/>
              <a:ext cx="8" cy="8"/>
            </a:xfrm>
            <a:prstGeom prst="rect">
              <a:avLst/>
            </a:prstGeom>
            <a:solidFill>
              <a:srgbClr val="000000"/>
            </a:solidFill>
            <a:ln w="9525">
              <a:solidFill>
                <a:srgbClr val="FF0000"/>
              </a:solidFill>
              <a:miter lim="800000"/>
              <a:headEnd/>
              <a:tailEnd/>
            </a:ln>
          </p:spPr>
          <p:txBody>
            <a:bodyPr/>
            <a:lstStyle/>
            <a:p>
              <a:endParaRPr lang="en-US"/>
            </a:p>
          </p:txBody>
        </p:sp>
        <p:sp>
          <p:nvSpPr>
            <p:cNvPr id="327046" name="Rectangle 390"/>
            <p:cNvSpPr>
              <a:spLocks noChangeArrowheads="1"/>
            </p:cNvSpPr>
            <p:nvPr/>
          </p:nvSpPr>
          <p:spPr bwMode="auto">
            <a:xfrm>
              <a:off x="1365" y="2246"/>
              <a:ext cx="8" cy="8"/>
            </a:xfrm>
            <a:prstGeom prst="rect">
              <a:avLst/>
            </a:prstGeom>
            <a:solidFill>
              <a:srgbClr val="000000"/>
            </a:solidFill>
            <a:ln w="9525">
              <a:solidFill>
                <a:srgbClr val="FF0000"/>
              </a:solidFill>
              <a:miter lim="800000"/>
              <a:headEnd/>
              <a:tailEnd/>
            </a:ln>
          </p:spPr>
          <p:txBody>
            <a:bodyPr/>
            <a:lstStyle/>
            <a:p>
              <a:endParaRPr lang="en-US"/>
            </a:p>
          </p:txBody>
        </p:sp>
      </p:grpSp>
      <p:sp>
        <p:nvSpPr>
          <p:cNvPr id="327047" name="Rectangle 391"/>
          <p:cNvSpPr>
            <a:spLocks noChangeArrowheads="1"/>
          </p:cNvSpPr>
          <p:nvPr/>
        </p:nvSpPr>
        <p:spPr bwMode="auto">
          <a:xfrm>
            <a:off x="2608263" y="3594100"/>
            <a:ext cx="227012" cy="215900"/>
          </a:xfrm>
          <a:prstGeom prst="rect">
            <a:avLst/>
          </a:prstGeom>
          <a:noFill/>
          <a:ln w="9525">
            <a:noFill/>
            <a:miter lim="800000"/>
            <a:headEnd/>
            <a:tailEnd/>
          </a:ln>
        </p:spPr>
        <p:txBody>
          <a:bodyPr/>
          <a:lstStyle/>
          <a:p>
            <a:endParaRPr lang="en-US"/>
          </a:p>
        </p:txBody>
      </p:sp>
      <p:sp>
        <p:nvSpPr>
          <p:cNvPr id="327048" name="Rectangle 392"/>
          <p:cNvSpPr>
            <a:spLocks noChangeArrowheads="1"/>
          </p:cNvSpPr>
          <p:nvPr/>
        </p:nvSpPr>
        <p:spPr bwMode="auto">
          <a:xfrm>
            <a:off x="2608263" y="3597275"/>
            <a:ext cx="144462" cy="182563"/>
          </a:xfrm>
          <a:prstGeom prst="rect">
            <a:avLst/>
          </a:prstGeom>
          <a:noFill/>
          <a:ln w="9525">
            <a:noFill/>
            <a:miter lim="800000"/>
            <a:headEnd/>
            <a:tailEnd/>
          </a:ln>
        </p:spPr>
        <p:txBody>
          <a:bodyPr wrap="none" lIns="0" tIns="0" rIns="0" bIns="0">
            <a:spAutoFit/>
          </a:bodyPr>
          <a:lstStyle/>
          <a:p>
            <a:r>
              <a:rPr lang="en-US" sz="1200" b="0" i="0">
                <a:solidFill>
                  <a:srgbClr val="FF0000"/>
                </a:solidFill>
                <a:effectLst/>
                <a:latin typeface="Arial" charset="0"/>
              </a:rPr>
              <a:t>IS</a:t>
            </a:r>
            <a:endParaRPr lang="en-US" sz="2400" b="0" i="0">
              <a:solidFill>
                <a:srgbClr val="FF0000"/>
              </a:solidFill>
              <a:effectLst/>
            </a:endParaRPr>
          </a:p>
        </p:txBody>
      </p:sp>
      <p:sp>
        <p:nvSpPr>
          <p:cNvPr id="327049" name="Rectangle 393"/>
          <p:cNvSpPr>
            <a:spLocks noChangeArrowheads="1"/>
          </p:cNvSpPr>
          <p:nvPr/>
        </p:nvSpPr>
        <p:spPr bwMode="auto">
          <a:xfrm>
            <a:off x="2763838" y="3613150"/>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7050" name="Rectangle 394"/>
          <p:cNvSpPr>
            <a:spLocks noChangeArrowheads="1"/>
          </p:cNvSpPr>
          <p:nvPr/>
        </p:nvSpPr>
        <p:spPr bwMode="auto">
          <a:xfrm>
            <a:off x="2320925" y="3770313"/>
            <a:ext cx="831850" cy="214312"/>
          </a:xfrm>
          <a:prstGeom prst="rect">
            <a:avLst/>
          </a:prstGeom>
          <a:noFill/>
          <a:ln w="9525">
            <a:noFill/>
            <a:miter lim="800000"/>
            <a:headEnd/>
            <a:tailEnd/>
          </a:ln>
        </p:spPr>
        <p:txBody>
          <a:bodyPr/>
          <a:lstStyle/>
          <a:p>
            <a:endParaRPr lang="en-US"/>
          </a:p>
        </p:txBody>
      </p:sp>
      <p:sp>
        <p:nvSpPr>
          <p:cNvPr id="327051" name="Rectangle 395"/>
          <p:cNvSpPr>
            <a:spLocks noChangeArrowheads="1"/>
          </p:cNvSpPr>
          <p:nvPr/>
        </p:nvSpPr>
        <p:spPr bwMode="auto">
          <a:xfrm>
            <a:off x="2320925" y="3773488"/>
            <a:ext cx="693738" cy="182562"/>
          </a:xfrm>
          <a:prstGeom prst="rect">
            <a:avLst/>
          </a:prstGeom>
          <a:noFill/>
          <a:ln w="9525">
            <a:noFill/>
            <a:miter lim="800000"/>
            <a:headEnd/>
            <a:tailEnd/>
          </a:ln>
        </p:spPr>
        <p:txBody>
          <a:bodyPr wrap="none" lIns="0" tIns="0" rIns="0" bIns="0">
            <a:spAutoFit/>
          </a:bodyPr>
          <a:lstStyle/>
          <a:p>
            <a:r>
              <a:rPr lang="en-US" sz="1200" b="0" i="0">
                <a:solidFill>
                  <a:srgbClr val="FF0000"/>
                </a:solidFill>
                <a:effectLst/>
                <a:latin typeface="Arial" charset="0"/>
              </a:rPr>
              <a:t>DEVELPT</a:t>
            </a:r>
            <a:endParaRPr lang="en-US" sz="2400" b="0" i="0">
              <a:solidFill>
                <a:srgbClr val="FF0000"/>
              </a:solidFill>
              <a:effectLst/>
            </a:endParaRPr>
          </a:p>
        </p:txBody>
      </p:sp>
      <p:sp>
        <p:nvSpPr>
          <p:cNvPr id="327052" name="Rectangle 396"/>
          <p:cNvSpPr>
            <a:spLocks noChangeArrowheads="1"/>
          </p:cNvSpPr>
          <p:nvPr/>
        </p:nvSpPr>
        <p:spPr bwMode="auto">
          <a:xfrm>
            <a:off x="3070225" y="3787775"/>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7053" name="Rectangle 397"/>
          <p:cNvSpPr>
            <a:spLocks noChangeArrowheads="1"/>
          </p:cNvSpPr>
          <p:nvPr/>
        </p:nvSpPr>
        <p:spPr bwMode="auto">
          <a:xfrm>
            <a:off x="2185988" y="3944938"/>
            <a:ext cx="1104900" cy="215900"/>
          </a:xfrm>
          <a:prstGeom prst="rect">
            <a:avLst/>
          </a:prstGeom>
          <a:noFill/>
          <a:ln w="9525">
            <a:noFill/>
            <a:miter lim="800000"/>
            <a:headEnd/>
            <a:tailEnd/>
          </a:ln>
        </p:spPr>
        <p:txBody>
          <a:bodyPr/>
          <a:lstStyle/>
          <a:p>
            <a:endParaRPr lang="en-US"/>
          </a:p>
        </p:txBody>
      </p:sp>
      <p:sp>
        <p:nvSpPr>
          <p:cNvPr id="327054" name="Rectangle 398"/>
          <p:cNvSpPr>
            <a:spLocks noChangeArrowheads="1"/>
          </p:cNvSpPr>
          <p:nvPr/>
        </p:nvSpPr>
        <p:spPr bwMode="auto">
          <a:xfrm>
            <a:off x="2185988" y="3948113"/>
            <a:ext cx="949325" cy="182562"/>
          </a:xfrm>
          <a:prstGeom prst="rect">
            <a:avLst/>
          </a:prstGeom>
          <a:noFill/>
          <a:ln w="9525">
            <a:noFill/>
            <a:miter lim="800000"/>
            <a:headEnd/>
            <a:tailEnd/>
          </a:ln>
        </p:spPr>
        <p:txBody>
          <a:bodyPr wrap="none" lIns="0" tIns="0" rIns="0" bIns="0">
            <a:spAutoFit/>
          </a:bodyPr>
          <a:lstStyle/>
          <a:p>
            <a:r>
              <a:rPr lang="en-US" sz="1200" b="0" i="0">
                <a:solidFill>
                  <a:srgbClr val="FF0000"/>
                </a:solidFill>
                <a:effectLst/>
                <a:latin typeface="Arial" charset="0"/>
              </a:rPr>
              <a:t>PROFITABLE</a:t>
            </a:r>
            <a:endParaRPr lang="en-US" sz="2400" b="0" i="0">
              <a:solidFill>
                <a:srgbClr val="FF0000"/>
              </a:solidFill>
              <a:effectLst/>
            </a:endParaRPr>
          </a:p>
        </p:txBody>
      </p:sp>
      <p:sp>
        <p:nvSpPr>
          <p:cNvPr id="327055" name="Rectangle 399"/>
          <p:cNvSpPr>
            <a:spLocks noChangeArrowheads="1"/>
          </p:cNvSpPr>
          <p:nvPr/>
        </p:nvSpPr>
        <p:spPr bwMode="auto">
          <a:xfrm>
            <a:off x="3211513" y="3963988"/>
            <a:ext cx="98425" cy="192087"/>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7056" name="Rectangle 400"/>
          <p:cNvSpPr>
            <a:spLocks noChangeArrowheads="1"/>
          </p:cNvSpPr>
          <p:nvPr/>
        </p:nvSpPr>
        <p:spPr bwMode="auto">
          <a:xfrm>
            <a:off x="2638425" y="4121150"/>
            <a:ext cx="168275" cy="214313"/>
          </a:xfrm>
          <a:prstGeom prst="rect">
            <a:avLst/>
          </a:prstGeom>
          <a:noFill/>
          <a:ln w="9525">
            <a:noFill/>
            <a:miter lim="800000"/>
            <a:headEnd/>
            <a:tailEnd/>
          </a:ln>
        </p:spPr>
        <p:txBody>
          <a:bodyPr/>
          <a:lstStyle/>
          <a:p>
            <a:endParaRPr lang="en-US"/>
          </a:p>
        </p:txBody>
      </p:sp>
      <p:sp>
        <p:nvSpPr>
          <p:cNvPr id="327057" name="Rectangle 401"/>
          <p:cNvSpPr>
            <a:spLocks noChangeArrowheads="1"/>
          </p:cNvSpPr>
          <p:nvPr/>
        </p:nvSpPr>
        <p:spPr bwMode="auto">
          <a:xfrm>
            <a:off x="2638425" y="4124325"/>
            <a:ext cx="84138" cy="182563"/>
          </a:xfrm>
          <a:prstGeom prst="rect">
            <a:avLst/>
          </a:prstGeom>
          <a:noFill/>
          <a:ln w="9525">
            <a:noFill/>
            <a:miter lim="800000"/>
            <a:headEnd/>
            <a:tailEnd/>
          </a:ln>
        </p:spPr>
        <p:txBody>
          <a:bodyPr wrap="none" lIns="0" tIns="0" rIns="0" bIns="0">
            <a:spAutoFit/>
          </a:bodyPr>
          <a:lstStyle/>
          <a:p>
            <a:r>
              <a:rPr lang="en-US" sz="1200" b="0" i="0">
                <a:solidFill>
                  <a:srgbClr val="FF0000"/>
                </a:solidFill>
                <a:effectLst/>
                <a:latin typeface="Arial" charset="0"/>
              </a:rPr>
              <a:t>?</a:t>
            </a:r>
            <a:endParaRPr lang="en-US" sz="2400" b="0" i="0">
              <a:solidFill>
                <a:srgbClr val="FF0000"/>
              </a:solidFill>
              <a:effectLst/>
            </a:endParaRPr>
          </a:p>
        </p:txBody>
      </p:sp>
      <p:sp>
        <p:nvSpPr>
          <p:cNvPr id="327058" name="Rectangle 402"/>
          <p:cNvSpPr>
            <a:spLocks noChangeArrowheads="1"/>
          </p:cNvSpPr>
          <p:nvPr/>
        </p:nvSpPr>
        <p:spPr bwMode="auto">
          <a:xfrm>
            <a:off x="2025650" y="4640263"/>
            <a:ext cx="1077913" cy="903287"/>
          </a:xfrm>
          <a:prstGeom prst="rect">
            <a:avLst/>
          </a:prstGeom>
          <a:noFill/>
          <a:ln w="12700">
            <a:solidFill>
              <a:srgbClr val="000000"/>
            </a:solidFill>
            <a:miter lim="800000"/>
            <a:headEnd/>
            <a:tailEnd/>
          </a:ln>
        </p:spPr>
        <p:txBody>
          <a:bodyPr/>
          <a:lstStyle/>
          <a:p>
            <a:endParaRPr lang="en-US"/>
          </a:p>
        </p:txBody>
      </p:sp>
      <p:sp>
        <p:nvSpPr>
          <p:cNvPr id="327059" name="Rectangle 403"/>
          <p:cNvSpPr>
            <a:spLocks noChangeArrowheads="1"/>
          </p:cNvSpPr>
          <p:nvPr/>
        </p:nvSpPr>
        <p:spPr bwMode="auto">
          <a:xfrm>
            <a:off x="2132013" y="4640263"/>
            <a:ext cx="971550" cy="200025"/>
          </a:xfrm>
          <a:prstGeom prst="rect">
            <a:avLst/>
          </a:prstGeom>
          <a:noFill/>
          <a:ln w="9525">
            <a:noFill/>
            <a:miter lim="800000"/>
            <a:headEnd/>
            <a:tailEnd/>
          </a:ln>
        </p:spPr>
        <p:txBody>
          <a:bodyPr/>
          <a:lstStyle/>
          <a:p>
            <a:endParaRPr lang="en-US"/>
          </a:p>
        </p:txBody>
      </p:sp>
      <p:sp>
        <p:nvSpPr>
          <p:cNvPr id="327060" name="Rectangle 404"/>
          <p:cNvSpPr>
            <a:spLocks noChangeArrowheads="1"/>
          </p:cNvSpPr>
          <p:nvPr/>
        </p:nvSpPr>
        <p:spPr bwMode="auto">
          <a:xfrm>
            <a:off x="2268538" y="4643438"/>
            <a:ext cx="827087"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CONSTR</a:t>
            </a:r>
            <a:endParaRPr lang="en-US" sz="2400" b="0" i="0">
              <a:effectLst/>
            </a:endParaRPr>
          </a:p>
        </p:txBody>
      </p:sp>
      <p:sp>
        <p:nvSpPr>
          <p:cNvPr id="327061" name="Rectangle 405"/>
          <p:cNvSpPr>
            <a:spLocks noChangeArrowheads="1"/>
          </p:cNvSpPr>
          <p:nvPr/>
        </p:nvSpPr>
        <p:spPr bwMode="auto">
          <a:xfrm>
            <a:off x="2965450" y="4657725"/>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7062" name="Rectangle 406"/>
          <p:cNvSpPr>
            <a:spLocks noChangeArrowheads="1"/>
          </p:cNvSpPr>
          <p:nvPr/>
        </p:nvSpPr>
        <p:spPr bwMode="auto">
          <a:xfrm>
            <a:off x="2132013" y="4840288"/>
            <a:ext cx="750887" cy="603250"/>
          </a:xfrm>
          <a:prstGeom prst="rect">
            <a:avLst/>
          </a:prstGeom>
          <a:noFill/>
          <a:ln w="9525">
            <a:noFill/>
            <a:miter lim="800000"/>
            <a:headEnd/>
            <a:tailEnd/>
          </a:ln>
        </p:spPr>
        <p:txBody>
          <a:bodyPr/>
          <a:lstStyle/>
          <a:p>
            <a:endParaRPr lang="en-US"/>
          </a:p>
        </p:txBody>
      </p:sp>
      <p:sp>
        <p:nvSpPr>
          <p:cNvPr id="327063" name="Rectangle 407"/>
          <p:cNvSpPr>
            <a:spLocks noChangeArrowheads="1"/>
          </p:cNvSpPr>
          <p:nvPr/>
        </p:nvSpPr>
        <p:spPr bwMode="auto">
          <a:xfrm>
            <a:off x="2276475" y="4843463"/>
            <a:ext cx="571500"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COST</a:t>
            </a:r>
            <a:endParaRPr lang="en-US" sz="2400" b="0" i="0">
              <a:effectLst/>
            </a:endParaRPr>
          </a:p>
        </p:txBody>
      </p:sp>
      <p:sp>
        <p:nvSpPr>
          <p:cNvPr id="327064" name="Rectangle 408"/>
          <p:cNvSpPr>
            <a:spLocks noChangeArrowheads="1"/>
          </p:cNvSpPr>
          <p:nvPr/>
        </p:nvSpPr>
        <p:spPr bwMode="auto">
          <a:xfrm>
            <a:off x="2735263" y="4843463"/>
            <a:ext cx="128587"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 </a:t>
            </a:r>
            <a:endParaRPr lang="en-US" sz="2400" b="0" i="0">
              <a:effectLst/>
            </a:endParaRPr>
          </a:p>
        </p:txBody>
      </p:sp>
      <p:sp>
        <p:nvSpPr>
          <p:cNvPr id="327065" name="Rectangle 409"/>
          <p:cNvSpPr>
            <a:spLocks noChangeArrowheads="1"/>
          </p:cNvSpPr>
          <p:nvPr/>
        </p:nvSpPr>
        <p:spPr bwMode="auto">
          <a:xfrm>
            <a:off x="2236788" y="5019675"/>
            <a:ext cx="655637" cy="236538"/>
          </a:xfrm>
          <a:prstGeom prst="rect">
            <a:avLst/>
          </a:prstGeom>
          <a:noFill/>
          <a:ln w="9525">
            <a:noFill/>
            <a:miter lim="800000"/>
            <a:headEnd/>
            <a:tailEnd/>
          </a:ln>
        </p:spPr>
        <p:txBody>
          <a:bodyPr wrap="none" lIns="0" tIns="0" rIns="0" bIns="0">
            <a:spAutoFit/>
          </a:bodyPr>
          <a:lstStyle/>
          <a:p>
            <a:r>
              <a:rPr lang="en-US" sz="1300" b="0" i="0">
                <a:solidFill>
                  <a:srgbClr val="000000"/>
                </a:solidFill>
                <a:effectLst/>
                <a:latin typeface="Arial" charset="0"/>
              </a:rPr>
              <a:t>INCLU</a:t>
            </a:r>
            <a:endParaRPr lang="en-US" sz="2400" b="0" i="0">
              <a:effectLst/>
            </a:endParaRPr>
          </a:p>
        </p:txBody>
      </p:sp>
      <p:sp>
        <p:nvSpPr>
          <p:cNvPr id="327066" name="Rectangle 410"/>
          <p:cNvSpPr>
            <a:spLocks noChangeArrowheads="1"/>
          </p:cNvSpPr>
          <p:nvPr/>
        </p:nvSpPr>
        <p:spPr bwMode="auto">
          <a:xfrm>
            <a:off x="2774950" y="5019675"/>
            <a:ext cx="136525" cy="236538"/>
          </a:xfrm>
          <a:prstGeom prst="rect">
            <a:avLst/>
          </a:prstGeom>
          <a:noFill/>
          <a:ln w="9525">
            <a:noFill/>
            <a:miter lim="800000"/>
            <a:headEnd/>
            <a:tailEnd/>
          </a:ln>
        </p:spPr>
        <p:txBody>
          <a:bodyPr wrap="none" lIns="0" tIns="0" rIns="0" bIns="0">
            <a:spAutoFit/>
          </a:bodyPr>
          <a:lstStyle/>
          <a:p>
            <a:r>
              <a:rPr lang="en-US" sz="1300" b="0" i="0">
                <a:solidFill>
                  <a:srgbClr val="000000"/>
                </a:solidFill>
                <a:effectLst/>
                <a:latin typeface="Arial" charset="0"/>
              </a:rPr>
              <a:t> </a:t>
            </a:r>
            <a:endParaRPr lang="en-US" sz="2400" b="0" i="0">
              <a:effectLst/>
            </a:endParaRPr>
          </a:p>
        </p:txBody>
      </p:sp>
      <p:sp>
        <p:nvSpPr>
          <p:cNvPr id="327067" name="Rectangle 411"/>
          <p:cNvSpPr>
            <a:spLocks noChangeArrowheads="1"/>
          </p:cNvSpPr>
          <p:nvPr/>
        </p:nvSpPr>
        <p:spPr bwMode="auto">
          <a:xfrm>
            <a:off x="2266950" y="5211763"/>
            <a:ext cx="593725" cy="236537"/>
          </a:xfrm>
          <a:prstGeom prst="rect">
            <a:avLst/>
          </a:prstGeom>
          <a:noFill/>
          <a:ln w="9525">
            <a:noFill/>
            <a:miter lim="800000"/>
            <a:headEnd/>
            <a:tailEnd/>
          </a:ln>
        </p:spPr>
        <p:txBody>
          <a:bodyPr wrap="none" lIns="0" tIns="0" rIns="0" bIns="0">
            <a:spAutoFit/>
          </a:bodyPr>
          <a:lstStyle/>
          <a:p>
            <a:r>
              <a:rPr lang="en-US" sz="1300" b="0" i="0">
                <a:solidFill>
                  <a:srgbClr val="000000"/>
                </a:solidFill>
                <a:effectLst/>
                <a:latin typeface="Arial" charset="0"/>
              </a:rPr>
              <a:t>LAND</a:t>
            </a:r>
            <a:endParaRPr lang="en-US" sz="2400" b="0" i="0">
              <a:effectLst/>
            </a:endParaRPr>
          </a:p>
        </p:txBody>
      </p:sp>
      <p:sp>
        <p:nvSpPr>
          <p:cNvPr id="327068" name="Rectangle 412"/>
          <p:cNvSpPr>
            <a:spLocks noChangeArrowheads="1"/>
          </p:cNvSpPr>
          <p:nvPr/>
        </p:nvSpPr>
        <p:spPr bwMode="auto">
          <a:xfrm>
            <a:off x="2746375" y="5211763"/>
            <a:ext cx="136525" cy="236537"/>
          </a:xfrm>
          <a:prstGeom prst="rect">
            <a:avLst/>
          </a:prstGeom>
          <a:noFill/>
          <a:ln w="9525">
            <a:noFill/>
            <a:miter lim="800000"/>
            <a:headEnd/>
            <a:tailEnd/>
          </a:ln>
        </p:spPr>
        <p:txBody>
          <a:bodyPr wrap="none" lIns="0" tIns="0" rIns="0" bIns="0">
            <a:spAutoFit/>
          </a:bodyPr>
          <a:lstStyle/>
          <a:p>
            <a:r>
              <a:rPr lang="en-US" sz="1300" b="0" i="0">
                <a:solidFill>
                  <a:srgbClr val="000000"/>
                </a:solidFill>
                <a:effectLst/>
                <a:latin typeface="Arial" charset="0"/>
              </a:rPr>
              <a:t> </a:t>
            </a:r>
            <a:endParaRPr lang="en-US" sz="2400" b="0" i="0">
              <a:effectLst/>
            </a:endParaRPr>
          </a:p>
        </p:txBody>
      </p:sp>
      <p:sp>
        <p:nvSpPr>
          <p:cNvPr id="327069" name="Rectangle 413"/>
          <p:cNvSpPr>
            <a:spLocks noChangeArrowheads="1"/>
          </p:cNvSpPr>
          <p:nvPr/>
        </p:nvSpPr>
        <p:spPr bwMode="auto">
          <a:xfrm>
            <a:off x="1392238" y="3570288"/>
            <a:ext cx="579437" cy="452437"/>
          </a:xfrm>
          <a:prstGeom prst="rect">
            <a:avLst/>
          </a:prstGeom>
          <a:noFill/>
          <a:ln w="12700">
            <a:solidFill>
              <a:srgbClr val="000000"/>
            </a:solidFill>
            <a:miter lim="800000"/>
            <a:headEnd/>
            <a:tailEnd/>
          </a:ln>
        </p:spPr>
        <p:txBody>
          <a:bodyPr/>
          <a:lstStyle/>
          <a:p>
            <a:endParaRPr lang="en-US"/>
          </a:p>
        </p:txBody>
      </p:sp>
      <p:sp>
        <p:nvSpPr>
          <p:cNvPr id="327070" name="Rectangle 414"/>
          <p:cNvSpPr>
            <a:spLocks noChangeArrowheads="1"/>
          </p:cNvSpPr>
          <p:nvPr/>
        </p:nvSpPr>
        <p:spPr bwMode="auto">
          <a:xfrm>
            <a:off x="1604963" y="3594100"/>
            <a:ext cx="219075" cy="215900"/>
          </a:xfrm>
          <a:prstGeom prst="rect">
            <a:avLst/>
          </a:prstGeom>
          <a:noFill/>
          <a:ln w="9525">
            <a:noFill/>
            <a:miter lim="800000"/>
            <a:headEnd/>
            <a:tailEnd/>
          </a:ln>
        </p:spPr>
        <p:txBody>
          <a:bodyPr/>
          <a:lstStyle/>
          <a:p>
            <a:endParaRPr lang="en-US"/>
          </a:p>
        </p:txBody>
      </p:sp>
      <p:sp>
        <p:nvSpPr>
          <p:cNvPr id="327071" name="Rectangle 415"/>
          <p:cNvSpPr>
            <a:spLocks noChangeArrowheads="1"/>
          </p:cNvSpPr>
          <p:nvPr/>
        </p:nvSpPr>
        <p:spPr bwMode="auto">
          <a:xfrm>
            <a:off x="1604963" y="3597275"/>
            <a:ext cx="236537"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IF</a:t>
            </a:r>
            <a:endParaRPr lang="en-US" sz="2400" b="0" i="0">
              <a:effectLst/>
            </a:endParaRPr>
          </a:p>
        </p:txBody>
      </p:sp>
      <p:sp>
        <p:nvSpPr>
          <p:cNvPr id="327072" name="Rectangle 416"/>
          <p:cNvSpPr>
            <a:spLocks noChangeArrowheads="1"/>
          </p:cNvSpPr>
          <p:nvPr/>
        </p:nvSpPr>
        <p:spPr bwMode="auto">
          <a:xfrm>
            <a:off x="1752600" y="3613150"/>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7073" name="Rectangle 417"/>
          <p:cNvSpPr>
            <a:spLocks noChangeArrowheads="1"/>
          </p:cNvSpPr>
          <p:nvPr/>
        </p:nvSpPr>
        <p:spPr bwMode="auto">
          <a:xfrm>
            <a:off x="1519238" y="3770313"/>
            <a:ext cx="411162" cy="214312"/>
          </a:xfrm>
          <a:prstGeom prst="rect">
            <a:avLst/>
          </a:prstGeom>
          <a:noFill/>
          <a:ln w="9525">
            <a:noFill/>
            <a:miter lim="800000"/>
            <a:headEnd/>
            <a:tailEnd/>
          </a:ln>
        </p:spPr>
        <p:txBody>
          <a:bodyPr/>
          <a:lstStyle/>
          <a:p>
            <a:endParaRPr lang="en-US"/>
          </a:p>
        </p:txBody>
      </p:sp>
      <p:sp>
        <p:nvSpPr>
          <p:cNvPr id="327074" name="Rectangle 418"/>
          <p:cNvSpPr>
            <a:spLocks noChangeArrowheads="1"/>
          </p:cNvSpPr>
          <p:nvPr/>
        </p:nvSpPr>
        <p:spPr bwMode="auto">
          <a:xfrm>
            <a:off x="1519238" y="3773488"/>
            <a:ext cx="431800"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YES</a:t>
            </a:r>
            <a:endParaRPr lang="en-US" sz="2400" b="0" i="0">
              <a:effectLst/>
            </a:endParaRPr>
          </a:p>
        </p:txBody>
      </p:sp>
      <p:sp>
        <p:nvSpPr>
          <p:cNvPr id="327075" name="Rectangle 419"/>
          <p:cNvSpPr>
            <a:spLocks noChangeArrowheads="1"/>
          </p:cNvSpPr>
          <p:nvPr/>
        </p:nvSpPr>
        <p:spPr bwMode="auto">
          <a:xfrm>
            <a:off x="1847850" y="3787775"/>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7076" name="Rectangle 420"/>
          <p:cNvSpPr>
            <a:spLocks noChangeArrowheads="1"/>
          </p:cNvSpPr>
          <p:nvPr/>
        </p:nvSpPr>
        <p:spPr bwMode="auto">
          <a:xfrm>
            <a:off x="1489075" y="989013"/>
            <a:ext cx="577850" cy="449262"/>
          </a:xfrm>
          <a:prstGeom prst="rect">
            <a:avLst/>
          </a:prstGeom>
          <a:noFill/>
          <a:ln w="12700">
            <a:solidFill>
              <a:srgbClr val="000000"/>
            </a:solidFill>
            <a:miter lim="800000"/>
            <a:headEnd/>
            <a:tailEnd/>
          </a:ln>
        </p:spPr>
        <p:txBody>
          <a:bodyPr/>
          <a:lstStyle/>
          <a:p>
            <a:endParaRPr lang="en-US"/>
          </a:p>
        </p:txBody>
      </p:sp>
      <p:sp>
        <p:nvSpPr>
          <p:cNvPr id="327077" name="Rectangle 421"/>
          <p:cNvSpPr>
            <a:spLocks noChangeArrowheads="1"/>
          </p:cNvSpPr>
          <p:nvPr/>
        </p:nvSpPr>
        <p:spPr bwMode="auto">
          <a:xfrm>
            <a:off x="1555750" y="1011238"/>
            <a:ext cx="539750" cy="215900"/>
          </a:xfrm>
          <a:prstGeom prst="rect">
            <a:avLst/>
          </a:prstGeom>
          <a:noFill/>
          <a:ln w="9525">
            <a:noFill/>
            <a:miter lim="800000"/>
            <a:headEnd/>
            <a:tailEnd/>
          </a:ln>
        </p:spPr>
        <p:txBody>
          <a:bodyPr/>
          <a:lstStyle/>
          <a:p>
            <a:endParaRPr lang="en-US"/>
          </a:p>
        </p:txBody>
      </p:sp>
      <p:sp>
        <p:nvSpPr>
          <p:cNvPr id="327078" name="Rectangle 422"/>
          <p:cNvSpPr>
            <a:spLocks noChangeArrowheads="1"/>
          </p:cNvSpPr>
          <p:nvPr/>
        </p:nvSpPr>
        <p:spPr bwMode="auto">
          <a:xfrm>
            <a:off x="1555750" y="1014413"/>
            <a:ext cx="569913"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ADDS</a:t>
            </a:r>
            <a:endParaRPr lang="en-US" sz="2400" b="0" i="0">
              <a:effectLst/>
            </a:endParaRPr>
          </a:p>
        </p:txBody>
      </p:sp>
      <p:sp>
        <p:nvSpPr>
          <p:cNvPr id="327079" name="Rectangle 423"/>
          <p:cNvSpPr>
            <a:spLocks noChangeArrowheads="1"/>
          </p:cNvSpPr>
          <p:nvPr/>
        </p:nvSpPr>
        <p:spPr bwMode="auto">
          <a:xfrm>
            <a:off x="2011363" y="1030288"/>
            <a:ext cx="98425" cy="192087"/>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7080" name="Rectangle 424"/>
          <p:cNvSpPr>
            <a:spLocks noChangeArrowheads="1"/>
          </p:cNvSpPr>
          <p:nvPr/>
        </p:nvSpPr>
        <p:spPr bwMode="auto">
          <a:xfrm>
            <a:off x="1584325" y="1185863"/>
            <a:ext cx="473075" cy="215900"/>
          </a:xfrm>
          <a:prstGeom prst="rect">
            <a:avLst/>
          </a:prstGeom>
          <a:noFill/>
          <a:ln w="9525">
            <a:noFill/>
            <a:miter lim="800000"/>
            <a:headEnd/>
            <a:tailEnd/>
          </a:ln>
        </p:spPr>
        <p:txBody>
          <a:bodyPr/>
          <a:lstStyle/>
          <a:p>
            <a:endParaRPr lang="en-US"/>
          </a:p>
        </p:txBody>
      </p:sp>
      <p:sp>
        <p:nvSpPr>
          <p:cNvPr id="327081" name="Rectangle 425"/>
          <p:cNvSpPr>
            <a:spLocks noChangeArrowheads="1"/>
          </p:cNvSpPr>
          <p:nvPr/>
        </p:nvSpPr>
        <p:spPr bwMode="auto">
          <a:xfrm>
            <a:off x="1584325" y="1189038"/>
            <a:ext cx="501650" cy="222250"/>
          </a:xfrm>
          <a:prstGeom prst="rect">
            <a:avLst/>
          </a:prstGeom>
          <a:noFill/>
          <a:ln w="9525">
            <a:noFill/>
            <a:miter lim="800000"/>
            <a:headEnd/>
            <a:tailEnd/>
          </a:ln>
        </p:spPr>
        <p:txBody>
          <a:bodyPr wrap="none" lIns="0" tIns="0" rIns="0" bIns="0">
            <a:spAutoFit/>
          </a:bodyPr>
          <a:lstStyle/>
          <a:p>
            <a:r>
              <a:rPr lang="en-US" sz="1200" b="0" i="0">
                <a:solidFill>
                  <a:srgbClr val="000000"/>
                </a:solidFill>
                <a:effectLst/>
                <a:latin typeface="Arial" charset="0"/>
              </a:rPr>
              <a:t>NEW</a:t>
            </a:r>
            <a:endParaRPr lang="en-US" sz="2400" b="0" i="0">
              <a:effectLst/>
            </a:endParaRPr>
          </a:p>
        </p:txBody>
      </p:sp>
      <p:sp>
        <p:nvSpPr>
          <p:cNvPr id="327082" name="Rectangle 426"/>
          <p:cNvSpPr>
            <a:spLocks noChangeArrowheads="1"/>
          </p:cNvSpPr>
          <p:nvPr/>
        </p:nvSpPr>
        <p:spPr bwMode="auto">
          <a:xfrm>
            <a:off x="1974850" y="1203325"/>
            <a:ext cx="98425" cy="192088"/>
          </a:xfrm>
          <a:prstGeom prst="rect">
            <a:avLst/>
          </a:prstGeom>
          <a:noFill/>
          <a:ln w="9525">
            <a:noFill/>
            <a:miter lim="800000"/>
            <a:headEnd/>
            <a:tailEnd/>
          </a:ln>
        </p:spPr>
        <p:txBody>
          <a:bodyPr wrap="none" lIns="0" tIns="0" rIns="0" bIns="0">
            <a:spAutoFit/>
          </a:bodyPr>
          <a:lstStyle/>
          <a:p>
            <a:r>
              <a:rPr lang="en-US" sz="1100" b="0" i="0">
                <a:solidFill>
                  <a:srgbClr val="000000"/>
                </a:solidFill>
                <a:effectLst/>
              </a:rPr>
              <a:t> </a:t>
            </a:r>
            <a:endParaRPr lang="en-US" sz="2400" b="0" i="0">
              <a:effectLst/>
            </a:endParaRPr>
          </a:p>
        </p:txBody>
      </p:sp>
      <p:sp>
        <p:nvSpPr>
          <p:cNvPr id="327083" name="Line 427"/>
          <p:cNvSpPr>
            <a:spLocks noChangeShapeType="1"/>
          </p:cNvSpPr>
          <p:nvPr/>
        </p:nvSpPr>
        <p:spPr bwMode="auto">
          <a:xfrm flipH="1">
            <a:off x="5921375" y="1076325"/>
            <a:ext cx="442913" cy="1588"/>
          </a:xfrm>
          <a:prstGeom prst="line">
            <a:avLst/>
          </a:prstGeom>
          <a:noFill/>
          <a:ln w="9525">
            <a:solidFill>
              <a:srgbClr val="000000"/>
            </a:solidFill>
            <a:round/>
            <a:headEnd/>
            <a:tailEnd/>
          </a:ln>
        </p:spPr>
        <p:txBody>
          <a:bodyPr/>
          <a:lstStyle/>
          <a:p>
            <a:endParaRPr lang="en-US"/>
          </a:p>
        </p:txBody>
      </p:sp>
      <p:sp>
        <p:nvSpPr>
          <p:cNvPr id="327084" name="Freeform 428"/>
          <p:cNvSpPr>
            <a:spLocks/>
          </p:cNvSpPr>
          <p:nvPr/>
        </p:nvSpPr>
        <p:spPr bwMode="auto">
          <a:xfrm>
            <a:off x="5886450" y="1046163"/>
            <a:ext cx="47625" cy="58737"/>
          </a:xfrm>
          <a:custGeom>
            <a:avLst/>
            <a:gdLst/>
            <a:ahLst/>
            <a:cxnLst>
              <a:cxn ang="0">
                <a:pos x="30" y="37"/>
              </a:cxn>
              <a:cxn ang="0">
                <a:pos x="30" y="0"/>
              </a:cxn>
              <a:cxn ang="0">
                <a:pos x="0" y="19"/>
              </a:cxn>
              <a:cxn ang="0">
                <a:pos x="30" y="37"/>
              </a:cxn>
            </a:cxnLst>
            <a:rect l="0" t="0" r="r" b="b"/>
            <a:pathLst>
              <a:path w="30" h="37">
                <a:moveTo>
                  <a:pt x="30" y="37"/>
                </a:moveTo>
                <a:lnTo>
                  <a:pt x="30" y="0"/>
                </a:lnTo>
                <a:lnTo>
                  <a:pt x="0" y="19"/>
                </a:lnTo>
                <a:lnTo>
                  <a:pt x="30" y="37"/>
                </a:lnTo>
                <a:close/>
              </a:path>
            </a:pathLst>
          </a:custGeom>
          <a:solidFill>
            <a:srgbClr val="000000"/>
          </a:solidFill>
          <a:ln w="3175">
            <a:solidFill>
              <a:srgbClr val="000000"/>
            </a:solidFill>
            <a:prstDash val="solid"/>
            <a:round/>
            <a:headEnd/>
            <a:tailEnd/>
          </a:ln>
        </p:spPr>
        <p:txBody>
          <a:bodyPr/>
          <a:lstStyle/>
          <a:p>
            <a:endParaRPr lang="en-US"/>
          </a:p>
        </p:txBody>
      </p:sp>
      <p:sp>
        <p:nvSpPr>
          <p:cNvPr id="327085" name="Line 429"/>
          <p:cNvSpPr>
            <a:spLocks noChangeShapeType="1"/>
          </p:cNvSpPr>
          <p:nvPr/>
        </p:nvSpPr>
        <p:spPr bwMode="auto">
          <a:xfrm>
            <a:off x="2060575" y="1165225"/>
            <a:ext cx="1114425" cy="1588"/>
          </a:xfrm>
          <a:prstGeom prst="line">
            <a:avLst/>
          </a:prstGeom>
          <a:noFill/>
          <a:ln w="9525">
            <a:solidFill>
              <a:srgbClr val="000000"/>
            </a:solidFill>
            <a:round/>
            <a:headEnd/>
            <a:tailEnd/>
          </a:ln>
        </p:spPr>
        <p:txBody>
          <a:bodyPr/>
          <a:lstStyle/>
          <a:p>
            <a:endParaRPr lang="en-US"/>
          </a:p>
        </p:txBody>
      </p:sp>
      <p:sp>
        <p:nvSpPr>
          <p:cNvPr id="327086" name="Freeform 430"/>
          <p:cNvSpPr>
            <a:spLocks/>
          </p:cNvSpPr>
          <p:nvPr/>
        </p:nvSpPr>
        <p:spPr bwMode="auto">
          <a:xfrm>
            <a:off x="3162300" y="1135063"/>
            <a:ext cx="46038" cy="60325"/>
          </a:xfrm>
          <a:custGeom>
            <a:avLst/>
            <a:gdLst/>
            <a:ahLst/>
            <a:cxnLst>
              <a:cxn ang="0">
                <a:pos x="0" y="0"/>
              </a:cxn>
              <a:cxn ang="0">
                <a:pos x="0" y="38"/>
              </a:cxn>
              <a:cxn ang="0">
                <a:pos x="29" y="19"/>
              </a:cxn>
              <a:cxn ang="0">
                <a:pos x="0" y="0"/>
              </a:cxn>
            </a:cxnLst>
            <a:rect l="0" t="0" r="r" b="b"/>
            <a:pathLst>
              <a:path w="29" h="38">
                <a:moveTo>
                  <a:pt x="0" y="0"/>
                </a:moveTo>
                <a:lnTo>
                  <a:pt x="0" y="38"/>
                </a:lnTo>
                <a:lnTo>
                  <a:pt x="29" y="19"/>
                </a:lnTo>
                <a:lnTo>
                  <a:pt x="0" y="0"/>
                </a:lnTo>
                <a:close/>
              </a:path>
            </a:pathLst>
          </a:custGeom>
          <a:solidFill>
            <a:srgbClr val="000000"/>
          </a:solidFill>
          <a:ln w="3175">
            <a:solidFill>
              <a:srgbClr val="000000"/>
            </a:solidFill>
            <a:prstDash val="solid"/>
            <a:round/>
            <a:headEnd/>
            <a:tailEnd/>
          </a:ln>
        </p:spPr>
        <p:txBody>
          <a:bodyPr/>
          <a:lstStyle/>
          <a:p>
            <a:endParaRPr lang="en-US"/>
          </a:p>
        </p:txBody>
      </p:sp>
      <p:sp>
        <p:nvSpPr>
          <p:cNvPr id="327087" name="Line 431"/>
          <p:cNvSpPr>
            <a:spLocks noChangeShapeType="1"/>
          </p:cNvSpPr>
          <p:nvPr/>
        </p:nvSpPr>
        <p:spPr bwMode="auto">
          <a:xfrm>
            <a:off x="5121275" y="1433513"/>
            <a:ext cx="1588" cy="323850"/>
          </a:xfrm>
          <a:prstGeom prst="line">
            <a:avLst/>
          </a:prstGeom>
          <a:noFill/>
          <a:ln w="9525">
            <a:solidFill>
              <a:srgbClr val="000000"/>
            </a:solidFill>
            <a:round/>
            <a:headEnd/>
            <a:tailEnd/>
          </a:ln>
        </p:spPr>
        <p:txBody>
          <a:bodyPr/>
          <a:lstStyle/>
          <a:p>
            <a:endParaRPr lang="en-US"/>
          </a:p>
        </p:txBody>
      </p:sp>
      <p:sp>
        <p:nvSpPr>
          <p:cNvPr id="327088" name="Freeform 432"/>
          <p:cNvSpPr>
            <a:spLocks/>
          </p:cNvSpPr>
          <p:nvPr/>
        </p:nvSpPr>
        <p:spPr bwMode="auto">
          <a:xfrm>
            <a:off x="5089525" y="1744663"/>
            <a:ext cx="63500" cy="44450"/>
          </a:xfrm>
          <a:custGeom>
            <a:avLst/>
            <a:gdLst/>
            <a:ahLst/>
            <a:cxnLst>
              <a:cxn ang="0">
                <a:pos x="40" y="0"/>
              </a:cxn>
              <a:cxn ang="0">
                <a:pos x="0" y="0"/>
              </a:cxn>
              <a:cxn ang="0">
                <a:pos x="20" y="28"/>
              </a:cxn>
              <a:cxn ang="0">
                <a:pos x="40" y="0"/>
              </a:cxn>
            </a:cxnLst>
            <a:rect l="0" t="0" r="r" b="b"/>
            <a:pathLst>
              <a:path w="40" h="28">
                <a:moveTo>
                  <a:pt x="40" y="0"/>
                </a:moveTo>
                <a:lnTo>
                  <a:pt x="0" y="0"/>
                </a:lnTo>
                <a:lnTo>
                  <a:pt x="20" y="28"/>
                </a:lnTo>
                <a:lnTo>
                  <a:pt x="40" y="0"/>
                </a:lnTo>
                <a:close/>
              </a:path>
            </a:pathLst>
          </a:custGeom>
          <a:solidFill>
            <a:srgbClr val="000000"/>
          </a:solidFill>
          <a:ln w="3175">
            <a:solidFill>
              <a:srgbClr val="000000"/>
            </a:solidFill>
            <a:prstDash val="solid"/>
            <a:round/>
            <a:headEnd/>
            <a:tailEnd/>
          </a:ln>
        </p:spPr>
        <p:txBody>
          <a:bodyPr/>
          <a:lstStyle/>
          <a:p>
            <a:endParaRPr lang="en-US"/>
          </a:p>
        </p:txBody>
      </p:sp>
      <p:sp>
        <p:nvSpPr>
          <p:cNvPr id="327089" name="Line 433"/>
          <p:cNvSpPr>
            <a:spLocks noChangeShapeType="1"/>
          </p:cNvSpPr>
          <p:nvPr/>
        </p:nvSpPr>
        <p:spPr bwMode="auto">
          <a:xfrm>
            <a:off x="4068763" y="1433513"/>
            <a:ext cx="1587" cy="323850"/>
          </a:xfrm>
          <a:prstGeom prst="line">
            <a:avLst/>
          </a:prstGeom>
          <a:noFill/>
          <a:ln w="9525">
            <a:solidFill>
              <a:srgbClr val="000000"/>
            </a:solidFill>
            <a:round/>
            <a:headEnd/>
            <a:tailEnd/>
          </a:ln>
        </p:spPr>
        <p:txBody>
          <a:bodyPr/>
          <a:lstStyle/>
          <a:p>
            <a:endParaRPr lang="en-US"/>
          </a:p>
        </p:txBody>
      </p:sp>
      <p:sp>
        <p:nvSpPr>
          <p:cNvPr id="327090" name="Freeform 434"/>
          <p:cNvSpPr>
            <a:spLocks/>
          </p:cNvSpPr>
          <p:nvPr/>
        </p:nvSpPr>
        <p:spPr bwMode="auto">
          <a:xfrm>
            <a:off x="4038600" y="1744663"/>
            <a:ext cx="63500" cy="44450"/>
          </a:xfrm>
          <a:custGeom>
            <a:avLst/>
            <a:gdLst/>
            <a:ahLst/>
            <a:cxnLst>
              <a:cxn ang="0">
                <a:pos x="40" y="0"/>
              </a:cxn>
              <a:cxn ang="0">
                <a:pos x="0" y="0"/>
              </a:cxn>
              <a:cxn ang="0">
                <a:pos x="19" y="28"/>
              </a:cxn>
              <a:cxn ang="0">
                <a:pos x="40" y="0"/>
              </a:cxn>
            </a:cxnLst>
            <a:rect l="0" t="0" r="r" b="b"/>
            <a:pathLst>
              <a:path w="40" h="28">
                <a:moveTo>
                  <a:pt x="40" y="0"/>
                </a:moveTo>
                <a:lnTo>
                  <a:pt x="0" y="0"/>
                </a:lnTo>
                <a:lnTo>
                  <a:pt x="19" y="28"/>
                </a:lnTo>
                <a:lnTo>
                  <a:pt x="40" y="0"/>
                </a:lnTo>
                <a:close/>
              </a:path>
            </a:pathLst>
          </a:custGeom>
          <a:solidFill>
            <a:srgbClr val="000000"/>
          </a:solidFill>
          <a:ln w="3175">
            <a:solidFill>
              <a:srgbClr val="000000"/>
            </a:solidFill>
            <a:prstDash val="solid"/>
            <a:round/>
            <a:headEnd/>
            <a:tailEnd/>
          </a:ln>
        </p:spPr>
        <p:txBody>
          <a:bodyPr/>
          <a:lstStyle/>
          <a:p>
            <a:endParaRPr lang="en-US"/>
          </a:p>
        </p:txBody>
      </p:sp>
      <p:sp>
        <p:nvSpPr>
          <p:cNvPr id="327091" name="Line 435"/>
          <p:cNvSpPr>
            <a:spLocks noChangeShapeType="1"/>
          </p:cNvSpPr>
          <p:nvPr/>
        </p:nvSpPr>
        <p:spPr bwMode="auto">
          <a:xfrm flipV="1">
            <a:off x="1584325" y="1465263"/>
            <a:ext cx="1588" cy="2105025"/>
          </a:xfrm>
          <a:prstGeom prst="line">
            <a:avLst/>
          </a:prstGeom>
          <a:noFill/>
          <a:ln w="9525">
            <a:solidFill>
              <a:srgbClr val="000000"/>
            </a:solidFill>
            <a:round/>
            <a:headEnd/>
            <a:tailEnd/>
          </a:ln>
        </p:spPr>
        <p:txBody>
          <a:bodyPr/>
          <a:lstStyle/>
          <a:p>
            <a:endParaRPr lang="en-US"/>
          </a:p>
        </p:txBody>
      </p:sp>
      <p:sp>
        <p:nvSpPr>
          <p:cNvPr id="327092" name="Freeform 436"/>
          <p:cNvSpPr>
            <a:spLocks/>
          </p:cNvSpPr>
          <p:nvPr/>
        </p:nvSpPr>
        <p:spPr bwMode="auto">
          <a:xfrm>
            <a:off x="1552575" y="1433513"/>
            <a:ext cx="63500" cy="44450"/>
          </a:xfrm>
          <a:custGeom>
            <a:avLst/>
            <a:gdLst/>
            <a:ahLst/>
            <a:cxnLst>
              <a:cxn ang="0">
                <a:pos x="0" y="28"/>
              </a:cxn>
              <a:cxn ang="0">
                <a:pos x="40" y="28"/>
              </a:cxn>
              <a:cxn ang="0">
                <a:pos x="20" y="0"/>
              </a:cxn>
              <a:cxn ang="0">
                <a:pos x="0" y="28"/>
              </a:cxn>
            </a:cxnLst>
            <a:rect l="0" t="0" r="r" b="b"/>
            <a:pathLst>
              <a:path w="40" h="28">
                <a:moveTo>
                  <a:pt x="0" y="28"/>
                </a:moveTo>
                <a:lnTo>
                  <a:pt x="40" y="28"/>
                </a:lnTo>
                <a:lnTo>
                  <a:pt x="20" y="0"/>
                </a:lnTo>
                <a:lnTo>
                  <a:pt x="0" y="28"/>
                </a:lnTo>
                <a:close/>
              </a:path>
            </a:pathLst>
          </a:custGeom>
          <a:solidFill>
            <a:srgbClr val="000000"/>
          </a:solidFill>
          <a:ln w="3175">
            <a:solidFill>
              <a:srgbClr val="000000"/>
            </a:solidFill>
            <a:prstDash val="solid"/>
            <a:round/>
            <a:headEnd/>
            <a:tailEnd/>
          </a:ln>
        </p:spPr>
        <p:txBody>
          <a:bodyPr/>
          <a:lstStyle/>
          <a:p>
            <a:endParaRPr lang="en-US"/>
          </a:p>
        </p:txBody>
      </p:sp>
      <p:sp>
        <p:nvSpPr>
          <p:cNvPr id="327093" name="Line 437"/>
          <p:cNvSpPr>
            <a:spLocks noChangeShapeType="1"/>
          </p:cNvSpPr>
          <p:nvPr/>
        </p:nvSpPr>
        <p:spPr bwMode="auto">
          <a:xfrm>
            <a:off x="4643438" y="2501900"/>
            <a:ext cx="1587" cy="1214438"/>
          </a:xfrm>
          <a:prstGeom prst="line">
            <a:avLst/>
          </a:prstGeom>
          <a:noFill/>
          <a:ln w="9525">
            <a:solidFill>
              <a:srgbClr val="000000"/>
            </a:solidFill>
            <a:round/>
            <a:headEnd/>
            <a:tailEnd/>
          </a:ln>
        </p:spPr>
        <p:txBody>
          <a:bodyPr/>
          <a:lstStyle/>
          <a:p>
            <a:endParaRPr lang="en-US"/>
          </a:p>
        </p:txBody>
      </p:sp>
      <p:sp>
        <p:nvSpPr>
          <p:cNvPr id="327094" name="Freeform 438"/>
          <p:cNvSpPr>
            <a:spLocks/>
          </p:cNvSpPr>
          <p:nvPr/>
        </p:nvSpPr>
        <p:spPr bwMode="auto">
          <a:xfrm>
            <a:off x="4611688" y="3705225"/>
            <a:ext cx="63500" cy="42863"/>
          </a:xfrm>
          <a:custGeom>
            <a:avLst/>
            <a:gdLst/>
            <a:ahLst/>
            <a:cxnLst>
              <a:cxn ang="0">
                <a:pos x="40" y="0"/>
              </a:cxn>
              <a:cxn ang="0">
                <a:pos x="0" y="0"/>
              </a:cxn>
              <a:cxn ang="0">
                <a:pos x="20" y="27"/>
              </a:cxn>
              <a:cxn ang="0">
                <a:pos x="40" y="0"/>
              </a:cxn>
            </a:cxnLst>
            <a:rect l="0" t="0" r="r" b="b"/>
            <a:pathLst>
              <a:path w="40" h="27">
                <a:moveTo>
                  <a:pt x="40" y="0"/>
                </a:moveTo>
                <a:lnTo>
                  <a:pt x="0" y="0"/>
                </a:lnTo>
                <a:lnTo>
                  <a:pt x="20" y="27"/>
                </a:lnTo>
                <a:lnTo>
                  <a:pt x="40" y="0"/>
                </a:lnTo>
                <a:close/>
              </a:path>
            </a:pathLst>
          </a:custGeom>
          <a:solidFill>
            <a:srgbClr val="000000"/>
          </a:solidFill>
          <a:ln w="3175">
            <a:solidFill>
              <a:srgbClr val="000000"/>
            </a:solidFill>
            <a:prstDash val="solid"/>
            <a:round/>
            <a:headEnd/>
            <a:tailEnd/>
          </a:ln>
        </p:spPr>
        <p:txBody>
          <a:bodyPr/>
          <a:lstStyle/>
          <a:p>
            <a:endParaRPr lang="en-US"/>
          </a:p>
        </p:txBody>
      </p:sp>
      <p:grpSp>
        <p:nvGrpSpPr>
          <p:cNvPr id="4" name="Group 439"/>
          <p:cNvGrpSpPr>
            <a:grpSpLocks/>
          </p:cNvGrpSpPr>
          <p:nvPr/>
        </p:nvGrpSpPr>
        <p:grpSpPr bwMode="auto">
          <a:xfrm>
            <a:off x="4824413" y="4789488"/>
            <a:ext cx="249237" cy="107950"/>
            <a:chOff x="3039" y="3017"/>
            <a:chExt cx="157" cy="68"/>
          </a:xfrm>
        </p:grpSpPr>
        <p:sp>
          <p:nvSpPr>
            <p:cNvPr id="327096" name="Line 440"/>
            <p:cNvSpPr>
              <a:spLocks noChangeShapeType="1"/>
            </p:cNvSpPr>
            <p:nvPr/>
          </p:nvSpPr>
          <p:spPr bwMode="auto">
            <a:xfrm flipH="1">
              <a:off x="3109" y="3049"/>
              <a:ext cx="87" cy="1"/>
            </a:xfrm>
            <a:prstGeom prst="line">
              <a:avLst/>
            </a:prstGeom>
            <a:noFill/>
            <a:ln w="9525">
              <a:solidFill>
                <a:srgbClr val="000000"/>
              </a:solidFill>
              <a:round/>
              <a:headEnd/>
              <a:tailEnd/>
            </a:ln>
          </p:spPr>
          <p:txBody>
            <a:bodyPr/>
            <a:lstStyle/>
            <a:p>
              <a:endParaRPr lang="en-US"/>
            </a:p>
          </p:txBody>
        </p:sp>
        <p:sp>
          <p:nvSpPr>
            <p:cNvPr id="327097" name="Freeform 441"/>
            <p:cNvSpPr>
              <a:spLocks/>
            </p:cNvSpPr>
            <p:nvPr/>
          </p:nvSpPr>
          <p:spPr bwMode="auto">
            <a:xfrm>
              <a:off x="3039" y="3017"/>
              <a:ext cx="73" cy="68"/>
            </a:xfrm>
            <a:custGeom>
              <a:avLst/>
              <a:gdLst/>
              <a:ahLst/>
              <a:cxnLst>
                <a:cxn ang="0">
                  <a:pos x="73" y="0"/>
                </a:cxn>
                <a:cxn ang="0">
                  <a:pos x="0" y="34"/>
                </a:cxn>
                <a:cxn ang="0">
                  <a:pos x="73" y="68"/>
                </a:cxn>
                <a:cxn ang="0">
                  <a:pos x="73" y="0"/>
                </a:cxn>
              </a:cxnLst>
              <a:rect l="0" t="0" r="r" b="b"/>
              <a:pathLst>
                <a:path w="73" h="68">
                  <a:moveTo>
                    <a:pt x="73" y="0"/>
                  </a:moveTo>
                  <a:lnTo>
                    <a:pt x="0" y="34"/>
                  </a:lnTo>
                  <a:lnTo>
                    <a:pt x="73" y="68"/>
                  </a:lnTo>
                  <a:lnTo>
                    <a:pt x="73" y="0"/>
                  </a:lnTo>
                  <a:close/>
                </a:path>
              </a:pathLst>
            </a:custGeom>
            <a:solidFill>
              <a:srgbClr val="000000"/>
            </a:solidFill>
            <a:ln w="9525">
              <a:noFill/>
              <a:round/>
              <a:headEnd/>
              <a:tailEnd/>
            </a:ln>
          </p:spPr>
          <p:txBody>
            <a:bodyPr/>
            <a:lstStyle/>
            <a:p>
              <a:endParaRPr lang="en-US"/>
            </a:p>
          </p:txBody>
        </p:sp>
      </p:grpSp>
      <p:grpSp>
        <p:nvGrpSpPr>
          <p:cNvPr id="5" name="Group 442"/>
          <p:cNvGrpSpPr>
            <a:grpSpLocks/>
          </p:cNvGrpSpPr>
          <p:nvPr/>
        </p:nvGrpSpPr>
        <p:grpSpPr bwMode="auto">
          <a:xfrm>
            <a:off x="3246438" y="4376738"/>
            <a:ext cx="611187" cy="366712"/>
            <a:chOff x="2045" y="2757"/>
            <a:chExt cx="385" cy="231"/>
          </a:xfrm>
        </p:grpSpPr>
        <p:sp>
          <p:nvSpPr>
            <p:cNvPr id="327099" name="Freeform 443"/>
            <p:cNvSpPr>
              <a:spLocks/>
            </p:cNvSpPr>
            <p:nvPr/>
          </p:nvSpPr>
          <p:spPr bwMode="auto">
            <a:xfrm>
              <a:off x="2424" y="2983"/>
              <a:ext cx="6" cy="5"/>
            </a:xfrm>
            <a:custGeom>
              <a:avLst/>
              <a:gdLst/>
              <a:ahLst/>
              <a:cxnLst>
                <a:cxn ang="0">
                  <a:pos x="3" y="5"/>
                </a:cxn>
                <a:cxn ang="0">
                  <a:pos x="4" y="5"/>
                </a:cxn>
                <a:cxn ang="0">
                  <a:pos x="4" y="5"/>
                </a:cxn>
                <a:cxn ang="0">
                  <a:pos x="5" y="5"/>
                </a:cxn>
                <a:cxn ang="0">
                  <a:pos x="6" y="4"/>
                </a:cxn>
                <a:cxn ang="0">
                  <a:pos x="6" y="3"/>
                </a:cxn>
                <a:cxn ang="0">
                  <a:pos x="6" y="3"/>
                </a:cxn>
                <a:cxn ang="0">
                  <a:pos x="6" y="2"/>
                </a:cxn>
                <a:cxn ang="0">
                  <a:pos x="6" y="1"/>
                </a:cxn>
                <a:cxn ang="0">
                  <a:pos x="5" y="1"/>
                </a:cxn>
                <a:cxn ang="0">
                  <a:pos x="4" y="0"/>
                </a:cxn>
                <a:cxn ang="0">
                  <a:pos x="3" y="0"/>
                </a:cxn>
                <a:cxn ang="0">
                  <a:pos x="2" y="1"/>
                </a:cxn>
                <a:cxn ang="0">
                  <a:pos x="2" y="1"/>
                </a:cxn>
                <a:cxn ang="0">
                  <a:pos x="0" y="2"/>
                </a:cxn>
                <a:cxn ang="0">
                  <a:pos x="0" y="3"/>
                </a:cxn>
                <a:cxn ang="0">
                  <a:pos x="2" y="4"/>
                </a:cxn>
                <a:cxn ang="0">
                  <a:pos x="2" y="5"/>
                </a:cxn>
                <a:cxn ang="0">
                  <a:pos x="3" y="5"/>
                </a:cxn>
              </a:cxnLst>
              <a:rect l="0" t="0" r="r" b="b"/>
              <a:pathLst>
                <a:path w="6" h="5">
                  <a:moveTo>
                    <a:pt x="3" y="5"/>
                  </a:moveTo>
                  <a:lnTo>
                    <a:pt x="4" y="5"/>
                  </a:lnTo>
                  <a:lnTo>
                    <a:pt x="4" y="5"/>
                  </a:lnTo>
                  <a:lnTo>
                    <a:pt x="5" y="5"/>
                  </a:lnTo>
                  <a:lnTo>
                    <a:pt x="6" y="4"/>
                  </a:lnTo>
                  <a:lnTo>
                    <a:pt x="6" y="3"/>
                  </a:lnTo>
                  <a:lnTo>
                    <a:pt x="6" y="3"/>
                  </a:lnTo>
                  <a:lnTo>
                    <a:pt x="6" y="2"/>
                  </a:lnTo>
                  <a:lnTo>
                    <a:pt x="6" y="1"/>
                  </a:lnTo>
                  <a:lnTo>
                    <a:pt x="5" y="1"/>
                  </a:lnTo>
                  <a:lnTo>
                    <a:pt x="4" y="0"/>
                  </a:lnTo>
                  <a:lnTo>
                    <a:pt x="3" y="0"/>
                  </a:lnTo>
                  <a:lnTo>
                    <a:pt x="2" y="1"/>
                  </a:lnTo>
                  <a:lnTo>
                    <a:pt x="2" y="1"/>
                  </a:lnTo>
                  <a:lnTo>
                    <a:pt x="0" y="2"/>
                  </a:lnTo>
                  <a:lnTo>
                    <a:pt x="0" y="3"/>
                  </a:lnTo>
                  <a:lnTo>
                    <a:pt x="2" y="4"/>
                  </a:lnTo>
                  <a:lnTo>
                    <a:pt x="2" y="5"/>
                  </a:lnTo>
                  <a:lnTo>
                    <a:pt x="3" y="5"/>
                  </a:lnTo>
                  <a:close/>
                </a:path>
              </a:pathLst>
            </a:custGeom>
            <a:solidFill>
              <a:srgbClr val="000000"/>
            </a:solidFill>
            <a:ln w="9525">
              <a:noFill/>
              <a:round/>
              <a:headEnd/>
              <a:tailEnd/>
            </a:ln>
          </p:spPr>
          <p:txBody>
            <a:bodyPr/>
            <a:lstStyle/>
            <a:p>
              <a:endParaRPr lang="en-US"/>
            </a:p>
          </p:txBody>
        </p:sp>
        <p:sp>
          <p:nvSpPr>
            <p:cNvPr id="327100" name="Freeform 444"/>
            <p:cNvSpPr>
              <a:spLocks/>
            </p:cNvSpPr>
            <p:nvPr/>
          </p:nvSpPr>
          <p:spPr bwMode="auto">
            <a:xfrm>
              <a:off x="2415" y="2978"/>
              <a:ext cx="6" cy="5"/>
            </a:xfrm>
            <a:custGeom>
              <a:avLst/>
              <a:gdLst/>
              <a:ahLst/>
              <a:cxnLst>
                <a:cxn ang="0">
                  <a:pos x="2" y="5"/>
                </a:cxn>
                <a:cxn ang="0">
                  <a:pos x="3" y="5"/>
                </a:cxn>
                <a:cxn ang="0">
                  <a:pos x="4" y="5"/>
                </a:cxn>
                <a:cxn ang="0">
                  <a:pos x="5" y="5"/>
                </a:cxn>
                <a:cxn ang="0">
                  <a:pos x="6" y="4"/>
                </a:cxn>
                <a:cxn ang="0">
                  <a:pos x="6" y="3"/>
                </a:cxn>
                <a:cxn ang="0">
                  <a:pos x="6" y="2"/>
                </a:cxn>
                <a:cxn ang="0">
                  <a:pos x="6" y="1"/>
                </a:cxn>
                <a:cxn ang="0">
                  <a:pos x="5" y="1"/>
                </a:cxn>
                <a:cxn ang="0">
                  <a:pos x="5" y="1"/>
                </a:cxn>
                <a:cxn ang="0">
                  <a:pos x="4" y="0"/>
                </a:cxn>
                <a:cxn ang="0">
                  <a:pos x="3" y="0"/>
                </a:cxn>
                <a:cxn ang="0">
                  <a:pos x="2" y="1"/>
                </a:cxn>
                <a:cxn ang="0">
                  <a:pos x="2" y="1"/>
                </a:cxn>
                <a:cxn ang="0">
                  <a:pos x="0" y="2"/>
                </a:cxn>
                <a:cxn ang="0">
                  <a:pos x="0" y="3"/>
                </a:cxn>
                <a:cxn ang="0">
                  <a:pos x="2" y="4"/>
                </a:cxn>
                <a:cxn ang="0">
                  <a:pos x="2" y="5"/>
                </a:cxn>
              </a:cxnLst>
              <a:rect l="0" t="0" r="r" b="b"/>
              <a:pathLst>
                <a:path w="6" h="5">
                  <a:moveTo>
                    <a:pt x="2" y="5"/>
                  </a:moveTo>
                  <a:lnTo>
                    <a:pt x="3" y="5"/>
                  </a:lnTo>
                  <a:lnTo>
                    <a:pt x="4" y="5"/>
                  </a:lnTo>
                  <a:lnTo>
                    <a:pt x="5" y="5"/>
                  </a:lnTo>
                  <a:lnTo>
                    <a:pt x="6" y="4"/>
                  </a:lnTo>
                  <a:lnTo>
                    <a:pt x="6" y="3"/>
                  </a:lnTo>
                  <a:lnTo>
                    <a:pt x="6" y="2"/>
                  </a:lnTo>
                  <a:lnTo>
                    <a:pt x="6" y="1"/>
                  </a:lnTo>
                  <a:lnTo>
                    <a:pt x="5" y="1"/>
                  </a:lnTo>
                  <a:lnTo>
                    <a:pt x="5" y="1"/>
                  </a:lnTo>
                  <a:lnTo>
                    <a:pt x="4" y="0"/>
                  </a:lnTo>
                  <a:lnTo>
                    <a:pt x="3" y="0"/>
                  </a:lnTo>
                  <a:lnTo>
                    <a:pt x="2" y="1"/>
                  </a:lnTo>
                  <a:lnTo>
                    <a:pt x="2" y="1"/>
                  </a:lnTo>
                  <a:lnTo>
                    <a:pt x="0" y="2"/>
                  </a:lnTo>
                  <a:lnTo>
                    <a:pt x="0" y="3"/>
                  </a:lnTo>
                  <a:lnTo>
                    <a:pt x="2" y="4"/>
                  </a:lnTo>
                  <a:lnTo>
                    <a:pt x="2" y="5"/>
                  </a:lnTo>
                  <a:close/>
                </a:path>
              </a:pathLst>
            </a:custGeom>
            <a:solidFill>
              <a:srgbClr val="000000"/>
            </a:solidFill>
            <a:ln w="9525">
              <a:noFill/>
              <a:round/>
              <a:headEnd/>
              <a:tailEnd/>
            </a:ln>
          </p:spPr>
          <p:txBody>
            <a:bodyPr/>
            <a:lstStyle/>
            <a:p>
              <a:endParaRPr lang="en-US"/>
            </a:p>
          </p:txBody>
        </p:sp>
        <p:sp>
          <p:nvSpPr>
            <p:cNvPr id="327101" name="Freeform 445"/>
            <p:cNvSpPr>
              <a:spLocks/>
            </p:cNvSpPr>
            <p:nvPr/>
          </p:nvSpPr>
          <p:spPr bwMode="auto">
            <a:xfrm>
              <a:off x="2406" y="2972"/>
              <a:ext cx="6" cy="6"/>
            </a:xfrm>
            <a:custGeom>
              <a:avLst/>
              <a:gdLst/>
              <a:ahLst/>
              <a:cxnLst>
                <a:cxn ang="0">
                  <a:pos x="2" y="5"/>
                </a:cxn>
                <a:cxn ang="0">
                  <a:pos x="3" y="6"/>
                </a:cxn>
                <a:cxn ang="0">
                  <a:pos x="4" y="6"/>
                </a:cxn>
                <a:cxn ang="0">
                  <a:pos x="5" y="5"/>
                </a:cxn>
                <a:cxn ang="0">
                  <a:pos x="5" y="5"/>
                </a:cxn>
                <a:cxn ang="0">
                  <a:pos x="6" y="3"/>
                </a:cxn>
                <a:cxn ang="0">
                  <a:pos x="6" y="2"/>
                </a:cxn>
                <a:cxn ang="0">
                  <a:pos x="5" y="1"/>
                </a:cxn>
                <a:cxn ang="0">
                  <a:pos x="5" y="0"/>
                </a:cxn>
                <a:cxn ang="0">
                  <a:pos x="5" y="0"/>
                </a:cxn>
                <a:cxn ang="0">
                  <a:pos x="4" y="0"/>
                </a:cxn>
                <a:cxn ang="0">
                  <a:pos x="3" y="0"/>
                </a:cxn>
                <a:cxn ang="0">
                  <a:pos x="2" y="0"/>
                </a:cxn>
                <a:cxn ang="0">
                  <a:pos x="0" y="1"/>
                </a:cxn>
                <a:cxn ang="0">
                  <a:pos x="0" y="2"/>
                </a:cxn>
                <a:cxn ang="0">
                  <a:pos x="0" y="3"/>
                </a:cxn>
                <a:cxn ang="0">
                  <a:pos x="0" y="5"/>
                </a:cxn>
                <a:cxn ang="0">
                  <a:pos x="2" y="5"/>
                </a:cxn>
              </a:cxnLst>
              <a:rect l="0" t="0" r="r" b="b"/>
              <a:pathLst>
                <a:path w="6" h="6">
                  <a:moveTo>
                    <a:pt x="2" y="5"/>
                  </a:moveTo>
                  <a:lnTo>
                    <a:pt x="3" y="6"/>
                  </a:lnTo>
                  <a:lnTo>
                    <a:pt x="4" y="6"/>
                  </a:lnTo>
                  <a:lnTo>
                    <a:pt x="5" y="5"/>
                  </a:lnTo>
                  <a:lnTo>
                    <a:pt x="5" y="5"/>
                  </a:lnTo>
                  <a:lnTo>
                    <a:pt x="6" y="3"/>
                  </a:lnTo>
                  <a:lnTo>
                    <a:pt x="6" y="2"/>
                  </a:lnTo>
                  <a:lnTo>
                    <a:pt x="5" y="1"/>
                  </a:lnTo>
                  <a:lnTo>
                    <a:pt x="5" y="0"/>
                  </a:lnTo>
                  <a:lnTo>
                    <a:pt x="5" y="0"/>
                  </a:lnTo>
                  <a:lnTo>
                    <a:pt x="4" y="0"/>
                  </a:lnTo>
                  <a:lnTo>
                    <a:pt x="3" y="0"/>
                  </a:lnTo>
                  <a:lnTo>
                    <a:pt x="2" y="0"/>
                  </a:lnTo>
                  <a:lnTo>
                    <a:pt x="0" y="1"/>
                  </a:lnTo>
                  <a:lnTo>
                    <a:pt x="0" y="2"/>
                  </a:lnTo>
                  <a:lnTo>
                    <a:pt x="0" y="3"/>
                  </a:lnTo>
                  <a:lnTo>
                    <a:pt x="0" y="5"/>
                  </a:lnTo>
                  <a:lnTo>
                    <a:pt x="2" y="5"/>
                  </a:lnTo>
                  <a:close/>
                </a:path>
              </a:pathLst>
            </a:custGeom>
            <a:solidFill>
              <a:srgbClr val="000000"/>
            </a:solidFill>
            <a:ln w="9525">
              <a:noFill/>
              <a:round/>
              <a:headEnd/>
              <a:tailEnd/>
            </a:ln>
          </p:spPr>
          <p:txBody>
            <a:bodyPr/>
            <a:lstStyle/>
            <a:p>
              <a:endParaRPr lang="en-US"/>
            </a:p>
          </p:txBody>
        </p:sp>
        <p:sp>
          <p:nvSpPr>
            <p:cNvPr id="327102" name="Freeform 446"/>
            <p:cNvSpPr>
              <a:spLocks/>
            </p:cNvSpPr>
            <p:nvPr/>
          </p:nvSpPr>
          <p:spPr bwMode="auto">
            <a:xfrm>
              <a:off x="2396" y="2966"/>
              <a:ext cx="6" cy="5"/>
            </a:xfrm>
            <a:custGeom>
              <a:avLst/>
              <a:gdLst/>
              <a:ahLst/>
              <a:cxnLst>
                <a:cxn ang="0">
                  <a:pos x="1" y="5"/>
                </a:cxn>
                <a:cxn ang="0">
                  <a:pos x="2" y="5"/>
                </a:cxn>
                <a:cxn ang="0">
                  <a:pos x="4" y="5"/>
                </a:cxn>
                <a:cxn ang="0">
                  <a:pos x="5" y="5"/>
                </a:cxn>
                <a:cxn ang="0">
                  <a:pos x="6" y="4"/>
                </a:cxn>
                <a:cxn ang="0">
                  <a:pos x="6" y="3"/>
                </a:cxn>
                <a:cxn ang="0">
                  <a:pos x="6" y="2"/>
                </a:cxn>
                <a:cxn ang="0">
                  <a:pos x="6" y="1"/>
                </a:cxn>
                <a:cxn ang="0">
                  <a:pos x="5" y="1"/>
                </a:cxn>
                <a:cxn ang="0">
                  <a:pos x="5" y="1"/>
                </a:cxn>
                <a:cxn ang="0">
                  <a:pos x="4" y="0"/>
                </a:cxn>
                <a:cxn ang="0">
                  <a:pos x="2" y="0"/>
                </a:cxn>
                <a:cxn ang="0">
                  <a:pos x="1" y="1"/>
                </a:cxn>
                <a:cxn ang="0">
                  <a:pos x="1" y="1"/>
                </a:cxn>
                <a:cxn ang="0">
                  <a:pos x="0" y="2"/>
                </a:cxn>
                <a:cxn ang="0">
                  <a:pos x="0" y="3"/>
                </a:cxn>
                <a:cxn ang="0">
                  <a:pos x="1" y="4"/>
                </a:cxn>
                <a:cxn ang="0">
                  <a:pos x="1" y="5"/>
                </a:cxn>
              </a:cxnLst>
              <a:rect l="0" t="0" r="r" b="b"/>
              <a:pathLst>
                <a:path w="6" h="5">
                  <a:moveTo>
                    <a:pt x="1" y="5"/>
                  </a:moveTo>
                  <a:lnTo>
                    <a:pt x="2" y="5"/>
                  </a:lnTo>
                  <a:lnTo>
                    <a:pt x="4" y="5"/>
                  </a:lnTo>
                  <a:lnTo>
                    <a:pt x="5" y="5"/>
                  </a:lnTo>
                  <a:lnTo>
                    <a:pt x="6" y="4"/>
                  </a:lnTo>
                  <a:lnTo>
                    <a:pt x="6" y="3"/>
                  </a:lnTo>
                  <a:lnTo>
                    <a:pt x="6" y="2"/>
                  </a:lnTo>
                  <a:lnTo>
                    <a:pt x="6" y="1"/>
                  </a:lnTo>
                  <a:lnTo>
                    <a:pt x="5" y="1"/>
                  </a:lnTo>
                  <a:lnTo>
                    <a:pt x="5" y="1"/>
                  </a:lnTo>
                  <a:lnTo>
                    <a:pt x="4" y="0"/>
                  </a:lnTo>
                  <a:lnTo>
                    <a:pt x="2" y="0"/>
                  </a:lnTo>
                  <a:lnTo>
                    <a:pt x="1" y="1"/>
                  </a:lnTo>
                  <a:lnTo>
                    <a:pt x="1" y="1"/>
                  </a:lnTo>
                  <a:lnTo>
                    <a:pt x="0" y="2"/>
                  </a:lnTo>
                  <a:lnTo>
                    <a:pt x="0" y="3"/>
                  </a:lnTo>
                  <a:lnTo>
                    <a:pt x="1" y="4"/>
                  </a:lnTo>
                  <a:lnTo>
                    <a:pt x="1" y="5"/>
                  </a:lnTo>
                  <a:close/>
                </a:path>
              </a:pathLst>
            </a:custGeom>
            <a:solidFill>
              <a:srgbClr val="000000"/>
            </a:solidFill>
            <a:ln w="9525">
              <a:noFill/>
              <a:round/>
              <a:headEnd/>
              <a:tailEnd/>
            </a:ln>
          </p:spPr>
          <p:txBody>
            <a:bodyPr/>
            <a:lstStyle/>
            <a:p>
              <a:endParaRPr lang="en-US"/>
            </a:p>
          </p:txBody>
        </p:sp>
        <p:sp>
          <p:nvSpPr>
            <p:cNvPr id="327103" name="Freeform 447"/>
            <p:cNvSpPr>
              <a:spLocks/>
            </p:cNvSpPr>
            <p:nvPr/>
          </p:nvSpPr>
          <p:spPr bwMode="auto">
            <a:xfrm>
              <a:off x="2387" y="2961"/>
              <a:ext cx="6" cy="5"/>
            </a:xfrm>
            <a:custGeom>
              <a:avLst/>
              <a:gdLst/>
              <a:ahLst/>
              <a:cxnLst>
                <a:cxn ang="0">
                  <a:pos x="1" y="4"/>
                </a:cxn>
                <a:cxn ang="0">
                  <a:pos x="2" y="5"/>
                </a:cxn>
                <a:cxn ang="0">
                  <a:pos x="4" y="5"/>
                </a:cxn>
                <a:cxn ang="0">
                  <a:pos x="5" y="4"/>
                </a:cxn>
                <a:cxn ang="0">
                  <a:pos x="5" y="4"/>
                </a:cxn>
                <a:cxn ang="0">
                  <a:pos x="6" y="3"/>
                </a:cxn>
                <a:cxn ang="0">
                  <a:pos x="6" y="2"/>
                </a:cxn>
                <a:cxn ang="0">
                  <a:pos x="5" y="1"/>
                </a:cxn>
                <a:cxn ang="0">
                  <a:pos x="5" y="0"/>
                </a:cxn>
                <a:cxn ang="0">
                  <a:pos x="5" y="0"/>
                </a:cxn>
                <a:cxn ang="0">
                  <a:pos x="4" y="0"/>
                </a:cxn>
                <a:cxn ang="0">
                  <a:pos x="2" y="0"/>
                </a:cxn>
                <a:cxn ang="0">
                  <a:pos x="1" y="0"/>
                </a:cxn>
                <a:cxn ang="0">
                  <a:pos x="0" y="1"/>
                </a:cxn>
                <a:cxn ang="0">
                  <a:pos x="0" y="2"/>
                </a:cxn>
                <a:cxn ang="0">
                  <a:pos x="0" y="3"/>
                </a:cxn>
                <a:cxn ang="0">
                  <a:pos x="0" y="4"/>
                </a:cxn>
                <a:cxn ang="0">
                  <a:pos x="1" y="4"/>
                </a:cxn>
              </a:cxnLst>
              <a:rect l="0" t="0" r="r" b="b"/>
              <a:pathLst>
                <a:path w="6" h="5">
                  <a:moveTo>
                    <a:pt x="1" y="4"/>
                  </a:moveTo>
                  <a:lnTo>
                    <a:pt x="2" y="5"/>
                  </a:lnTo>
                  <a:lnTo>
                    <a:pt x="4" y="5"/>
                  </a:lnTo>
                  <a:lnTo>
                    <a:pt x="5" y="4"/>
                  </a:lnTo>
                  <a:lnTo>
                    <a:pt x="5" y="4"/>
                  </a:lnTo>
                  <a:lnTo>
                    <a:pt x="6" y="3"/>
                  </a:lnTo>
                  <a:lnTo>
                    <a:pt x="6" y="2"/>
                  </a:lnTo>
                  <a:lnTo>
                    <a:pt x="5" y="1"/>
                  </a:lnTo>
                  <a:lnTo>
                    <a:pt x="5" y="0"/>
                  </a:lnTo>
                  <a:lnTo>
                    <a:pt x="5" y="0"/>
                  </a:lnTo>
                  <a:lnTo>
                    <a:pt x="4" y="0"/>
                  </a:lnTo>
                  <a:lnTo>
                    <a:pt x="2" y="0"/>
                  </a:lnTo>
                  <a:lnTo>
                    <a:pt x="1" y="0"/>
                  </a:lnTo>
                  <a:lnTo>
                    <a:pt x="0" y="1"/>
                  </a:lnTo>
                  <a:lnTo>
                    <a:pt x="0" y="2"/>
                  </a:lnTo>
                  <a:lnTo>
                    <a:pt x="0" y="3"/>
                  </a:lnTo>
                  <a:lnTo>
                    <a:pt x="0" y="4"/>
                  </a:lnTo>
                  <a:lnTo>
                    <a:pt x="1" y="4"/>
                  </a:lnTo>
                  <a:close/>
                </a:path>
              </a:pathLst>
            </a:custGeom>
            <a:solidFill>
              <a:srgbClr val="000000"/>
            </a:solidFill>
            <a:ln w="9525">
              <a:noFill/>
              <a:round/>
              <a:headEnd/>
              <a:tailEnd/>
            </a:ln>
          </p:spPr>
          <p:txBody>
            <a:bodyPr/>
            <a:lstStyle/>
            <a:p>
              <a:endParaRPr lang="en-US"/>
            </a:p>
          </p:txBody>
        </p:sp>
        <p:sp>
          <p:nvSpPr>
            <p:cNvPr id="327104" name="Freeform 448"/>
            <p:cNvSpPr>
              <a:spLocks/>
            </p:cNvSpPr>
            <p:nvPr/>
          </p:nvSpPr>
          <p:spPr bwMode="auto">
            <a:xfrm>
              <a:off x="2377" y="2955"/>
              <a:ext cx="6" cy="6"/>
            </a:xfrm>
            <a:custGeom>
              <a:avLst/>
              <a:gdLst/>
              <a:ahLst/>
              <a:cxnLst>
                <a:cxn ang="0">
                  <a:pos x="1" y="5"/>
                </a:cxn>
                <a:cxn ang="0">
                  <a:pos x="2" y="6"/>
                </a:cxn>
                <a:cxn ang="0">
                  <a:pos x="3" y="6"/>
                </a:cxn>
                <a:cxn ang="0">
                  <a:pos x="5" y="5"/>
                </a:cxn>
                <a:cxn ang="0">
                  <a:pos x="6" y="5"/>
                </a:cxn>
                <a:cxn ang="0">
                  <a:pos x="6" y="4"/>
                </a:cxn>
                <a:cxn ang="0">
                  <a:pos x="6" y="3"/>
                </a:cxn>
                <a:cxn ang="0">
                  <a:pos x="6" y="2"/>
                </a:cxn>
                <a:cxn ang="0">
                  <a:pos x="5" y="0"/>
                </a:cxn>
                <a:cxn ang="0">
                  <a:pos x="5" y="0"/>
                </a:cxn>
                <a:cxn ang="0">
                  <a:pos x="3" y="0"/>
                </a:cxn>
                <a:cxn ang="0">
                  <a:pos x="2" y="0"/>
                </a:cxn>
                <a:cxn ang="0">
                  <a:pos x="1" y="0"/>
                </a:cxn>
                <a:cxn ang="0">
                  <a:pos x="1" y="2"/>
                </a:cxn>
                <a:cxn ang="0">
                  <a:pos x="0" y="3"/>
                </a:cxn>
                <a:cxn ang="0">
                  <a:pos x="0" y="4"/>
                </a:cxn>
                <a:cxn ang="0">
                  <a:pos x="1" y="5"/>
                </a:cxn>
                <a:cxn ang="0">
                  <a:pos x="1" y="5"/>
                </a:cxn>
              </a:cxnLst>
              <a:rect l="0" t="0" r="r" b="b"/>
              <a:pathLst>
                <a:path w="6" h="6">
                  <a:moveTo>
                    <a:pt x="1" y="5"/>
                  </a:moveTo>
                  <a:lnTo>
                    <a:pt x="2" y="6"/>
                  </a:lnTo>
                  <a:lnTo>
                    <a:pt x="3" y="6"/>
                  </a:lnTo>
                  <a:lnTo>
                    <a:pt x="5" y="5"/>
                  </a:lnTo>
                  <a:lnTo>
                    <a:pt x="6" y="5"/>
                  </a:lnTo>
                  <a:lnTo>
                    <a:pt x="6" y="4"/>
                  </a:lnTo>
                  <a:lnTo>
                    <a:pt x="6" y="3"/>
                  </a:lnTo>
                  <a:lnTo>
                    <a:pt x="6" y="2"/>
                  </a:lnTo>
                  <a:lnTo>
                    <a:pt x="5" y="0"/>
                  </a:lnTo>
                  <a:lnTo>
                    <a:pt x="5" y="0"/>
                  </a:lnTo>
                  <a:lnTo>
                    <a:pt x="3" y="0"/>
                  </a:lnTo>
                  <a:lnTo>
                    <a:pt x="2" y="0"/>
                  </a:lnTo>
                  <a:lnTo>
                    <a:pt x="1" y="0"/>
                  </a:lnTo>
                  <a:lnTo>
                    <a:pt x="1" y="2"/>
                  </a:lnTo>
                  <a:lnTo>
                    <a:pt x="0" y="3"/>
                  </a:lnTo>
                  <a:lnTo>
                    <a:pt x="0" y="4"/>
                  </a:lnTo>
                  <a:lnTo>
                    <a:pt x="1" y="5"/>
                  </a:lnTo>
                  <a:lnTo>
                    <a:pt x="1" y="5"/>
                  </a:lnTo>
                  <a:close/>
                </a:path>
              </a:pathLst>
            </a:custGeom>
            <a:solidFill>
              <a:srgbClr val="000000"/>
            </a:solidFill>
            <a:ln w="9525">
              <a:noFill/>
              <a:round/>
              <a:headEnd/>
              <a:tailEnd/>
            </a:ln>
          </p:spPr>
          <p:txBody>
            <a:bodyPr/>
            <a:lstStyle/>
            <a:p>
              <a:endParaRPr lang="en-US"/>
            </a:p>
          </p:txBody>
        </p:sp>
        <p:sp>
          <p:nvSpPr>
            <p:cNvPr id="327105" name="Freeform 449"/>
            <p:cNvSpPr>
              <a:spLocks/>
            </p:cNvSpPr>
            <p:nvPr/>
          </p:nvSpPr>
          <p:spPr bwMode="auto">
            <a:xfrm>
              <a:off x="2368" y="2949"/>
              <a:ext cx="6" cy="5"/>
            </a:xfrm>
            <a:custGeom>
              <a:avLst/>
              <a:gdLst/>
              <a:ahLst/>
              <a:cxnLst>
                <a:cxn ang="0">
                  <a:pos x="1" y="5"/>
                </a:cxn>
                <a:cxn ang="0">
                  <a:pos x="2" y="5"/>
                </a:cxn>
                <a:cxn ang="0">
                  <a:pos x="3" y="5"/>
                </a:cxn>
                <a:cxn ang="0">
                  <a:pos x="5" y="5"/>
                </a:cxn>
                <a:cxn ang="0">
                  <a:pos x="5" y="4"/>
                </a:cxn>
                <a:cxn ang="0">
                  <a:pos x="6" y="3"/>
                </a:cxn>
                <a:cxn ang="0">
                  <a:pos x="6" y="2"/>
                </a:cxn>
                <a:cxn ang="0">
                  <a:pos x="5" y="1"/>
                </a:cxn>
                <a:cxn ang="0">
                  <a:pos x="5" y="1"/>
                </a:cxn>
                <a:cxn ang="0">
                  <a:pos x="5" y="1"/>
                </a:cxn>
                <a:cxn ang="0">
                  <a:pos x="3" y="0"/>
                </a:cxn>
                <a:cxn ang="0">
                  <a:pos x="2" y="0"/>
                </a:cxn>
                <a:cxn ang="0">
                  <a:pos x="1" y="1"/>
                </a:cxn>
                <a:cxn ang="0">
                  <a:pos x="0" y="1"/>
                </a:cxn>
                <a:cxn ang="0">
                  <a:pos x="0" y="2"/>
                </a:cxn>
                <a:cxn ang="0">
                  <a:pos x="0" y="3"/>
                </a:cxn>
                <a:cxn ang="0">
                  <a:pos x="0" y="4"/>
                </a:cxn>
                <a:cxn ang="0">
                  <a:pos x="1" y="5"/>
                </a:cxn>
              </a:cxnLst>
              <a:rect l="0" t="0" r="r" b="b"/>
              <a:pathLst>
                <a:path w="6" h="5">
                  <a:moveTo>
                    <a:pt x="1" y="5"/>
                  </a:moveTo>
                  <a:lnTo>
                    <a:pt x="2" y="5"/>
                  </a:lnTo>
                  <a:lnTo>
                    <a:pt x="3" y="5"/>
                  </a:lnTo>
                  <a:lnTo>
                    <a:pt x="5" y="5"/>
                  </a:lnTo>
                  <a:lnTo>
                    <a:pt x="5" y="4"/>
                  </a:lnTo>
                  <a:lnTo>
                    <a:pt x="6" y="3"/>
                  </a:lnTo>
                  <a:lnTo>
                    <a:pt x="6" y="2"/>
                  </a:lnTo>
                  <a:lnTo>
                    <a:pt x="5" y="1"/>
                  </a:lnTo>
                  <a:lnTo>
                    <a:pt x="5" y="1"/>
                  </a:lnTo>
                  <a:lnTo>
                    <a:pt x="5" y="1"/>
                  </a:lnTo>
                  <a:lnTo>
                    <a:pt x="3" y="0"/>
                  </a:lnTo>
                  <a:lnTo>
                    <a:pt x="2" y="0"/>
                  </a:lnTo>
                  <a:lnTo>
                    <a:pt x="1" y="1"/>
                  </a:lnTo>
                  <a:lnTo>
                    <a:pt x="0" y="1"/>
                  </a:lnTo>
                  <a:lnTo>
                    <a:pt x="0" y="2"/>
                  </a:lnTo>
                  <a:lnTo>
                    <a:pt x="0" y="3"/>
                  </a:lnTo>
                  <a:lnTo>
                    <a:pt x="0" y="4"/>
                  </a:lnTo>
                  <a:lnTo>
                    <a:pt x="1" y="5"/>
                  </a:lnTo>
                  <a:close/>
                </a:path>
              </a:pathLst>
            </a:custGeom>
            <a:solidFill>
              <a:srgbClr val="000000"/>
            </a:solidFill>
            <a:ln w="9525">
              <a:noFill/>
              <a:round/>
              <a:headEnd/>
              <a:tailEnd/>
            </a:ln>
          </p:spPr>
          <p:txBody>
            <a:bodyPr/>
            <a:lstStyle/>
            <a:p>
              <a:endParaRPr lang="en-US"/>
            </a:p>
          </p:txBody>
        </p:sp>
        <p:sp>
          <p:nvSpPr>
            <p:cNvPr id="327106" name="Freeform 450"/>
            <p:cNvSpPr>
              <a:spLocks/>
            </p:cNvSpPr>
            <p:nvPr/>
          </p:nvSpPr>
          <p:spPr bwMode="auto">
            <a:xfrm>
              <a:off x="2359" y="2944"/>
              <a:ext cx="6" cy="5"/>
            </a:xfrm>
            <a:custGeom>
              <a:avLst/>
              <a:gdLst/>
              <a:ahLst/>
              <a:cxnLst>
                <a:cxn ang="0">
                  <a:pos x="1" y="4"/>
                </a:cxn>
                <a:cxn ang="0">
                  <a:pos x="2" y="5"/>
                </a:cxn>
                <a:cxn ang="0">
                  <a:pos x="3" y="5"/>
                </a:cxn>
                <a:cxn ang="0">
                  <a:pos x="4" y="4"/>
                </a:cxn>
                <a:cxn ang="0">
                  <a:pos x="4" y="4"/>
                </a:cxn>
                <a:cxn ang="0">
                  <a:pos x="6" y="3"/>
                </a:cxn>
                <a:cxn ang="0">
                  <a:pos x="6" y="2"/>
                </a:cxn>
                <a:cxn ang="0">
                  <a:pos x="4" y="1"/>
                </a:cxn>
                <a:cxn ang="0">
                  <a:pos x="4" y="0"/>
                </a:cxn>
                <a:cxn ang="0">
                  <a:pos x="4" y="0"/>
                </a:cxn>
                <a:cxn ang="0">
                  <a:pos x="3" y="0"/>
                </a:cxn>
                <a:cxn ang="0">
                  <a:pos x="2" y="0"/>
                </a:cxn>
                <a:cxn ang="0">
                  <a:pos x="1" y="0"/>
                </a:cxn>
                <a:cxn ang="0">
                  <a:pos x="0" y="1"/>
                </a:cxn>
                <a:cxn ang="0">
                  <a:pos x="0" y="2"/>
                </a:cxn>
                <a:cxn ang="0">
                  <a:pos x="0" y="3"/>
                </a:cxn>
                <a:cxn ang="0">
                  <a:pos x="0" y="4"/>
                </a:cxn>
                <a:cxn ang="0">
                  <a:pos x="1" y="4"/>
                </a:cxn>
              </a:cxnLst>
              <a:rect l="0" t="0" r="r" b="b"/>
              <a:pathLst>
                <a:path w="6" h="5">
                  <a:moveTo>
                    <a:pt x="1" y="4"/>
                  </a:moveTo>
                  <a:lnTo>
                    <a:pt x="2" y="5"/>
                  </a:lnTo>
                  <a:lnTo>
                    <a:pt x="3" y="5"/>
                  </a:lnTo>
                  <a:lnTo>
                    <a:pt x="4" y="4"/>
                  </a:lnTo>
                  <a:lnTo>
                    <a:pt x="4" y="4"/>
                  </a:lnTo>
                  <a:lnTo>
                    <a:pt x="6" y="3"/>
                  </a:lnTo>
                  <a:lnTo>
                    <a:pt x="6" y="2"/>
                  </a:lnTo>
                  <a:lnTo>
                    <a:pt x="4" y="1"/>
                  </a:lnTo>
                  <a:lnTo>
                    <a:pt x="4" y="0"/>
                  </a:lnTo>
                  <a:lnTo>
                    <a:pt x="4" y="0"/>
                  </a:lnTo>
                  <a:lnTo>
                    <a:pt x="3" y="0"/>
                  </a:lnTo>
                  <a:lnTo>
                    <a:pt x="2" y="0"/>
                  </a:lnTo>
                  <a:lnTo>
                    <a:pt x="1" y="0"/>
                  </a:lnTo>
                  <a:lnTo>
                    <a:pt x="0" y="1"/>
                  </a:lnTo>
                  <a:lnTo>
                    <a:pt x="0" y="2"/>
                  </a:lnTo>
                  <a:lnTo>
                    <a:pt x="0" y="3"/>
                  </a:lnTo>
                  <a:lnTo>
                    <a:pt x="0" y="4"/>
                  </a:lnTo>
                  <a:lnTo>
                    <a:pt x="1" y="4"/>
                  </a:lnTo>
                  <a:close/>
                </a:path>
              </a:pathLst>
            </a:custGeom>
            <a:solidFill>
              <a:srgbClr val="000000"/>
            </a:solidFill>
            <a:ln w="9525">
              <a:noFill/>
              <a:round/>
              <a:headEnd/>
              <a:tailEnd/>
            </a:ln>
          </p:spPr>
          <p:txBody>
            <a:bodyPr/>
            <a:lstStyle/>
            <a:p>
              <a:endParaRPr lang="en-US"/>
            </a:p>
          </p:txBody>
        </p:sp>
        <p:sp>
          <p:nvSpPr>
            <p:cNvPr id="327107" name="Freeform 451"/>
            <p:cNvSpPr>
              <a:spLocks/>
            </p:cNvSpPr>
            <p:nvPr/>
          </p:nvSpPr>
          <p:spPr bwMode="auto">
            <a:xfrm>
              <a:off x="2349" y="2938"/>
              <a:ext cx="5" cy="5"/>
            </a:xfrm>
            <a:custGeom>
              <a:avLst/>
              <a:gdLst/>
              <a:ahLst/>
              <a:cxnLst>
                <a:cxn ang="0">
                  <a:pos x="1" y="5"/>
                </a:cxn>
                <a:cxn ang="0">
                  <a:pos x="2" y="5"/>
                </a:cxn>
                <a:cxn ang="0">
                  <a:pos x="3" y="5"/>
                </a:cxn>
                <a:cxn ang="0">
                  <a:pos x="4" y="5"/>
                </a:cxn>
                <a:cxn ang="0">
                  <a:pos x="5" y="4"/>
                </a:cxn>
                <a:cxn ang="0">
                  <a:pos x="5" y="3"/>
                </a:cxn>
                <a:cxn ang="0">
                  <a:pos x="5" y="2"/>
                </a:cxn>
                <a:cxn ang="0">
                  <a:pos x="5" y="1"/>
                </a:cxn>
                <a:cxn ang="0">
                  <a:pos x="4" y="1"/>
                </a:cxn>
                <a:cxn ang="0">
                  <a:pos x="4" y="1"/>
                </a:cxn>
                <a:cxn ang="0">
                  <a:pos x="3" y="0"/>
                </a:cxn>
                <a:cxn ang="0">
                  <a:pos x="2" y="0"/>
                </a:cxn>
                <a:cxn ang="0">
                  <a:pos x="1" y="1"/>
                </a:cxn>
                <a:cxn ang="0">
                  <a:pos x="1" y="1"/>
                </a:cxn>
                <a:cxn ang="0">
                  <a:pos x="0" y="2"/>
                </a:cxn>
                <a:cxn ang="0">
                  <a:pos x="0" y="3"/>
                </a:cxn>
                <a:cxn ang="0">
                  <a:pos x="1" y="4"/>
                </a:cxn>
                <a:cxn ang="0">
                  <a:pos x="1" y="5"/>
                </a:cxn>
              </a:cxnLst>
              <a:rect l="0" t="0" r="r" b="b"/>
              <a:pathLst>
                <a:path w="5" h="5">
                  <a:moveTo>
                    <a:pt x="1" y="5"/>
                  </a:moveTo>
                  <a:lnTo>
                    <a:pt x="2" y="5"/>
                  </a:lnTo>
                  <a:lnTo>
                    <a:pt x="3" y="5"/>
                  </a:lnTo>
                  <a:lnTo>
                    <a:pt x="4" y="5"/>
                  </a:lnTo>
                  <a:lnTo>
                    <a:pt x="5" y="4"/>
                  </a:lnTo>
                  <a:lnTo>
                    <a:pt x="5" y="3"/>
                  </a:lnTo>
                  <a:lnTo>
                    <a:pt x="5" y="2"/>
                  </a:lnTo>
                  <a:lnTo>
                    <a:pt x="5" y="1"/>
                  </a:lnTo>
                  <a:lnTo>
                    <a:pt x="4" y="1"/>
                  </a:lnTo>
                  <a:lnTo>
                    <a:pt x="4" y="1"/>
                  </a:lnTo>
                  <a:lnTo>
                    <a:pt x="3" y="0"/>
                  </a:lnTo>
                  <a:lnTo>
                    <a:pt x="2" y="0"/>
                  </a:lnTo>
                  <a:lnTo>
                    <a:pt x="1" y="1"/>
                  </a:lnTo>
                  <a:lnTo>
                    <a:pt x="1" y="1"/>
                  </a:lnTo>
                  <a:lnTo>
                    <a:pt x="0" y="2"/>
                  </a:lnTo>
                  <a:lnTo>
                    <a:pt x="0" y="3"/>
                  </a:lnTo>
                  <a:lnTo>
                    <a:pt x="1" y="4"/>
                  </a:lnTo>
                  <a:lnTo>
                    <a:pt x="1" y="5"/>
                  </a:lnTo>
                  <a:close/>
                </a:path>
              </a:pathLst>
            </a:custGeom>
            <a:solidFill>
              <a:srgbClr val="000000"/>
            </a:solidFill>
            <a:ln w="9525">
              <a:noFill/>
              <a:round/>
              <a:headEnd/>
              <a:tailEnd/>
            </a:ln>
          </p:spPr>
          <p:txBody>
            <a:bodyPr/>
            <a:lstStyle/>
            <a:p>
              <a:endParaRPr lang="en-US"/>
            </a:p>
          </p:txBody>
        </p:sp>
        <p:sp>
          <p:nvSpPr>
            <p:cNvPr id="327108" name="Freeform 452"/>
            <p:cNvSpPr>
              <a:spLocks/>
            </p:cNvSpPr>
            <p:nvPr/>
          </p:nvSpPr>
          <p:spPr bwMode="auto">
            <a:xfrm>
              <a:off x="2340" y="2932"/>
              <a:ext cx="5" cy="6"/>
            </a:xfrm>
            <a:custGeom>
              <a:avLst/>
              <a:gdLst/>
              <a:ahLst/>
              <a:cxnLst>
                <a:cxn ang="0">
                  <a:pos x="1" y="6"/>
                </a:cxn>
                <a:cxn ang="0">
                  <a:pos x="2" y="6"/>
                </a:cxn>
                <a:cxn ang="0">
                  <a:pos x="3" y="6"/>
                </a:cxn>
                <a:cxn ang="0">
                  <a:pos x="4" y="6"/>
                </a:cxn>
                <a:cxn ang="0">
                  <a:pos x="4" y="5"/>
                </a:cxn>
                <a:cxn ang="0">
                  <a:pos x="5" y="3"/>
                </a:cxn>
                <a:cxn ang="0">
                  <a:pos x="5" y="2"/>
                </a:cxn>
                <a:cxn ang="0">
                  <a:pos x="4" y="1"/>
                </a:cxn>
                <a:cxn ang="0">
                  <a:pos x="4" y="1"/>
                </a:cxn>
                <a:cxn ang="0">
                  <a:pos x="4" y="1"/>
                </a:cxn>
                <a:cxn ang="0">
                  <a:pos x="3" y="0"/>
                </a:cxn>
                <a:cxn ang="0">
                  <a:pos x="2" y="0"/>
                </a:cxn>
                <a:cxn ang="0">
                  <a:pos x="1" y="1"/>
                </a:cxn>
                <a:cxn ang="0">
                  <a:pos x="0" y="1"/>
                </a:cxn>
                <a:cxn ang="0">
                  <a:pos x="0" y="2"/>
                </a:cxn>
                <a:cxn ang="0">
                  <a:pos x="0" y="3"/>
                </a:cxn>
                <a:cxn ang="0">
                  <a:pos x="0" y="5"/>
                </a:cxn>
                <a:cxn ang="0">
                  <a:pos x="1" y="6"/>
                </a:cxn>
              </a:cxnLst>
              <a:rect l="0" t="0" r="r" b="b"/>
              <a:pathLst>
                <a:path w="5" h="6">
                  <a:moveTo>
                    <a:pt x="1" y="6"/>
                  </a:moveTo>
                  <a:lnTo>
                    <a:pt x="2" y="6"/>
                  </a:lnTo>
                  <a:lnTo>
                    <a:pt x="3" y="6"/>
                  </a:lnTo>
                  <a:lnTo>
                    <a:pt x="4" y="6"/>
                  </a:lnTo>
                  <a:lnTo>
                    <a:pt x="4" y="5"/>
                  </a:lnTo>
                  <a:lnTo>
                    <a:pt x="5" y="3"/>
                  </a:lnTo>
                  <a:lnTo>
                    <a:pt x="5" y="2"/>
                  </a:lnTo>
                  <a:lnTo>
                    <a:pt x="4" y="1"/>
                  </a:lnTo>
                  <a:lnTo>
                    <a:pt x="4" y="1"/>
                  </a:lnTo>
                  <a:lnTo>
                    <a:pt x="4" y="1"/>
                  </a:lnTo>
                  <a:lnTo>
                    <a:pt x="3" y="0"/>
                  </a:lnTo>
                  <a:lnTo>
                    <a:pt x="2" y="0"/>
                  </a:lnTo>
                  <a:lnTo>
                    <a:pt x="1" y="1"/>
                  </a:lnTo>
                  <a:lnTo>
                    <a:pt x="0" y="1"/>
                  </a:lnTo>
                  <a:lnTo>
                    <a:pt x="0" y="2"/>
                  </a:lnTo>
                  <a:lnTo>
                    <a:pt x="0" y="3"/>
                  </a:lnTo>
                  <a:lnTo>
                    <a:pt x="0" y="5"/>
                  </a:lnTo>
                  <a:lnTo>
                    <a:pt x="1" y="6"/>
                  </a:lnTo>
                  <a:close/>
                </a:path>
              </a:pathLst>
            </a:custGeom>
            <a:solidFill>
              <a:srgbClr val="000000"/>
            </a:solidFill>
            <a:ln w="9525">
              <a:noFill/>
              <a:round/>
              <a:headEnd/>
              <a:tailEnd/>
            </a:ln>
          </p:spPr>
          <p:txBody>
            <a:bodyPr/>
            <a:lstStyle/>
            <a:p>
              <a:endParaRPr lang="en-US"/>
            </a:p>
          </p:txBody>
        </p:sp>
        <p:sp>
          <p:nvSpPr>
            <p:cNvPr id="327109" name="Freeform 453"/>
            <p:cNvSpPr>
              <a:spLocks/>
            </p:cNvSpPr>
            <p:nvPr/>
          </p:nvSpPr>
          <p:spPr bwMode="auto">
            <a:xfrm>
              <a:off x="2330" y="2927"/>
              <a:ext cx="5" cy="5"/>
            </a:xfrm>
            <a:custGeom>
              <a:avLst/>
              <a:gdLst/>
              <a:ahLst/>
              <a:cxnLst>
                <a:cxn ang="0">
                  <a:pos x="1" y="4"/>
                </a:cxn>
                <a:cxn ang="0">
                  <a:pos x="2" y="5"/>
                </a:cxn>
                <a:cxn ang="0">
                  <a:pos x="3" y="5"/>
                </a:cxn>
                <a:cxn ang="0">
                  <a:pos x="4" y="4"/>
                </a:cxn>
                <a:cxn ang="0">
                  <a:pos x="5" y="4"/>
                </a:cxn>
                <a:cxn ang="0">
                  <a:pos x="5" y="3"/>
                </a:cxn>
                <a:cxn ang="0">
                  <a:pos x="5" y="2"/>
                </a:cxn>
                <a:cxn ang="0">
                  <a:pos x="5" y="1"/>
                </a:cxn>
                <a:cxn ang="0">
                  <a:pos x="4" y="0"/>
                </a:cxn>
                <a:cxn ang="0">
                  <a:pos x="4" y="0"/>
                </a:cxn>
                <a:cxn ang="0">
                  <a:pos x="3" y="0"/>
                </a:cxn>
                <a:cxn ang="0">
                  <a:pos x="2" y="0"/>
                </a:cxn>
                <a:cxn ang="0">
                  <a:pos x="1" y="0"/>
                </a:cxn>
                <a:cxn ang="0">
                  <a:pos x="1" y="1"/>
                </a:cxn>
                <a:cxn ang="0">
                  <a:pos x="0" y="2"/>
                </a:cxn>
                <a:cxn ang="0">
                  <a:pos x="0" y="3"/>
                </a:cxn>
                <a:cxn ang="0">
                  <a:pos x="1" y="4"/>
                </a:cxn>
                <a:cxn ang="0">
                  <a:pos x="1" y="4"/>
                </a:cxn>
              </a:cxnLst>
              <a:rect l="0" t="0" r="r" b="b"/>
              <a:pathLst>
                <a:path w="5" h="5">
                  <a:moveTo>
                    <a:pt x="1" y="4"/>
                  </a:moveTo>
                  <a:lnTo>
                    <a:pt x="2" y="5"/>
                  </a:lnTo>
                  <a:lnTo>
                    <a:pt x="3" y="5"/>
                  </a:lnTo>
                  <a:lnTo>
                    <a:pt x="4" y="4"/>
                  </a:lnTo>
                  <a:lnTo>
                    <a:pt x="5" y="4"/>
                  </a:lnTo>
                  <a:lnTo>
                    <a:pt x="5" y="3"/>
                  </a:lnTo>
                  <a:lnTo>
                    <a:pt x="5" y="2"/>
                  </a:lnTo>
                  <a:lnTo>
                    <a:pt x="5" y="1"/>
                  </a:lnTo>
                  <a:lnTo>
                    <a:pt x="4" y="0"/>
                  </a:lnTo>
                  <a:lnTo>
                    <a:pt x="4" y="0"/>
                  </a:lnTo>
                  <a:lnTo>
                    <a:pt x="3" y="0"/>
                  </a:lnTo>
                  <a:lnTo>
                    <a:pt x="2" y="0"/>
                  </a:lnTo>
                  <a:lnTo>
                    <a:pt x="1" y="0"/>
                  </a:lnTo>
                  <a:lnTo>
                    <a:pt x="1" y="1"/>
                  </a:lnTo>
                  <a:lnTo>
                    <a:pt x="0" y="2"/>
                  </a:lnTo>
                  <a:lnTo>
                    <a:pt x="0" y="3"/>
                  </a:lnTo>
                  <a:lnTo>
                    <a:pt x="1" y="4"/>
                  </a:lnTo>
                  <a:lnTo>
                    <a:pt x="1" y="4"/>
                  </a:lnTo>
                  <a:close/>
                </a:path>
              </a:pathLst>
            </a:custGeom>
            <a:solidFill>
              <a:srgbClr val="000000"/>
            </a:solidFill>
            <a:ln w="9525">
              <a:noFill/>
              <a:round/>
              <a:headEnd/>
              <a:tailEnd/>
            </a:ln>
          </p:spPr>
          <p:txBody>
            <a:bodyPr/>
            <a:lstStyle/>
            <a:p>
              <a:endParaRPr lang="en-US"/>
            </a:p>
          </p:txBody>
        </p:sp>
        <p:sp>
          <p:nvSpPr>
            <p:cNvPr id="327110" name="Freeform 454"/>
            <p:cNvSpPr>
              <a:spLocks/>
            </p:cNvSpPr>
            <p:nvPr/>
          </p:nvSpPr>
          <p:spPr bwMode="auto">
            <a:xfrm>
              <a:off x="2321" y="2921"/>
              <a:ext cx="5" cy="5"/>
            </a:xfrm>
            <a:custGeom>
              <a:avLst/>
              <a:gdLst/>
              <a:ahLst/>
              <a:cxnLst>
                <a:cxn ang="0">
                  <a:pos x="1" y="5"/>
                </a:cxn>
                <a:cxn ang="0">
                  <a:pos x="2" y="5"/>
                </a:cxn>
                <a:cxn ang="0">
                  <a:pos x="3" y="5"/>
                </a:cxn>
                <a:cxn ang="0">
                  <a:pos x="4" y="5"/>
                </a:cxn>
                <a:cxn ang="0">
                  <a:pos x="4" y="4"/>
                </a:cxn>
                <a:cxn ang="0">
                  <a:pos x="5" y="3"/>
                </a:cxn>
                <a:cxn ang="0">
                  <a:pos x="5" y="2"/>
                </a:cxn>
                <a:cxn ang="0">
                  <a:pos x="4" y="1"/>
                </a:cxn>
                <a:cxn ang="0">
                  <a:pos x="4" y="1"/>
                </a:cxn>
                <a:cxn ang="0">
                  <a:pos x="4" y="1"/>
                </a:cxn>
                <a:cxn ang="0">
                  <a:pos x="3" y="0"/>
                </a:cxn>
                <a:cxn ang="0">
                  <a:pos x="2" y="0"/>
                </a:cxn>
                <a:cxn ang="0">
                  <a:pos x="1" y="1"/>
                </a:cxn>
                <a:cxn ang="0">
                  <a:pos x="0" y="1"/>
                </a:cxn>
                <a:cxn ang="0">
                  <a:pos x="0" y="2"/>
                </a:cxn>
                <a:cxn ang="0">
                  <a:pos x="0" y="3"/>
                </a:cxn>
                <a:cxn ang="0">
                  <a:pos x="0" y="4"/>
                </a:cxn>
                <a:cxn ang="0">
                  <a:pos x="1" y="5"/>
                </a:cxn>
              </a:cxnLst>
              <a:rect l="0" t="0" r="r" b="b"/>
              <a:pathLst>
                <a:path w="5" h="5">
                  <a:moveTo>
                    <a:pt x="1" y="5"/>
                  </a:moveTo>
                  <a:lnTo>
                    <a:pt x="2" y="5"/>
                  </a:lnTo>
                  <a:lnTo>
                    <a:pt x="3" y="5"/>
                  </a:lnTo>
                  <a:lnTo>
                    <a:pt x="4" y="5"/>
                  </a:lnTo>
                  <a:lnTo>
                    <a:pt x="4" y="4"/>
                  </a:lnTo>
                  <a:lnTo>
                    <a:pt x="5" y="3"/>
                  </a:lnTo>
                  <a:lnTo>
                    <a:pt x="5" y="2"/>
                  </a:lnTo>
                  <a:lnTo>
                    <a:pt x="4" y="1"/>
                  </a:lnTo>
                  <a:lnTo>
                    <a:pt x="4" y="1"/>
                  </a:lnTo>
                  <a:lnTo>
                    <a:pt x="4" y="1"/>
                  </a:lnTo>
                  <a:lnTo>
                    <a:pt x="3" y="0"/>
                  </a:lnTo>
                  <a:lnTo>
                    <a:pt x="2" y="0"/>
                  </a:lnTo>
                  <a:lnTo>
                    <a:pt x="1" y="1"/>
                  </a:lnTo>
                  <a:lnTo>
                    <a:pt x="0" y="1"/>
                  </a:lnTo>
                  <a:lnTo>
                    <a:pt x="0" y="2"/>
                  </a:lnTo>
                  <a:lnTo>
                    <a:pt x="0" y="3"/>
                  </a:lnTo>
                  <a:lnTo>
                    <a:pt x="0" y="4"/>
                  </a:lnTo>
                  <a:lnTo>
                    <a:pt x="1" y="5"/>
                  </a:lnTo>
                  <a:close/>
                </a:path>
              </a:pathLst>
            </a:custGeom>
            <a:solidFill>
              <a:srgbClr val="000000"/>
            </a:solidFill>
            <a:ln w="9525">
              <a:noFill/>
              <a:round/>
              <a:headEnd/>
              <a:tailEnd/>
            </a:ln>
          </p:spPr>
          <p:txBody>
            <a:bodyPr/>
            <a:lstStyle/>
            <a:p>
              <a:endParaRPr lang="en-US"/>
            </a:p>
          </p:txBody>
        </p:sp>
        <p:sp>
          <p:nvSpPr>
            <p:cNvPr id="327111" name="Freeform 455"/>
            <p:cNvSpPr>
              <a:spLocks/>
            </p:cNvSpPr>
            <p:nvPr/>
          </p:nvSpPr>
          <p:spPr bwMode="auto">
            <a:xfrm>
              <a:off x="2310" y="2915"/>
              <a:ext cx="6" cy="6"/>
            </a:xfrm>
            <a:custGeom>
              <a:avLst/>
              <a:gdLst/>
              <a:ahLst/>
              <a:cxnLst>
                <a:cxn ang="0">
                  <a:pos x="2" y="5"/>
                </a:cxn>
                <a:cxn ang="0">
                  <a:pos x="3" y="6"/>
                </a:cxn>
                <a:cxn ang="0">
                  <a:pos x="4" y="6"/>
                </a:cxn>
                <a:cxn ang="0">
                  <a:pos x="5" y="5"/>
                </a:cxn>
                <a:cxn ang="0">
                  <a:pos x="6" y="5"/>
                </a:cxn>
                <a:cxn ang="0">
                  <a:pos x="6" y="4"/>
                </a:cxn>
                <a:cxn ang="0">
                  <a:pos x="6" y="3"/>
                </a:cxn>
                <a:cxn ang="0">
                  <a:pos x="6" y="2"/>
                </a:cxn>
                <a:cxn ang="0">
                  <a:pos x="5" y="0"/>
                </a:cxn>
                <a:cxn ang="0">
                  <a:pos x="5" y="0"/>
                </a:cxn>
                <a:cxn ang="0">
                  <a:pos x="4" y="0"/>
                </a:cxn>
                <a:cxn ang="0">
                  <a:pos x="3" y="0"/>
                </a:cxn>
                <a:cxn ang="0">
                  <a:pos x="2" y="0"/>
                </a:cxn>
                <a:cxn ang="0">
                  <a:pos x="2" y="2"/>
                </a:cxn>
                <a:cxn ang="0">
                  <a:pos x="0" y="3"/>
                </a:cxn>
                <a:cxn ang="0">
                  <a:pos x="0" y="4"/>
                </a:cxn>
                <a:cxn ang="0">
                  <a:pos x="2" y="5"/>
                </a:cxn>
                <a:cxn ang="0">
                  <a:pos x="2" y="5"/>
                </a:cxn>
              </a:cxnLst>
              <a:rect l="0" t="0" r="r" b="b"/>
              <a:pathLst>
                <a:path w="6" h="6">
                  <a:moveTo>
                    <a:pt x="2" y="5"/>
                  </a:moveTo>
                  <a:lnTo>
                    <a:pt x="3" y="6"/>
                  </a:lnTo>
                  <a:lnTo>
                    <a:pt x="4" y="6"/>
                  </a:lnTo>
                  <a:lnTo>
                    <a:pt x="5" y="5"/>
                  </a:lnTo>
                  <a:lnTo>
                    <a:pt x="6" y="5"/>
                  </a:lnTo>
                  <a:lnTo>
                    <a:pt x="6" y="4"/>
                  </a:lnTo>
                  <a:lnTo>
                    <a:pt x="6" y="3"/>
                  </a:lnTo>
                  <a:lnTo>
                    <a:pt x="6" y="2"/>
                  </a:lnTo>
                  <a:lnTo>
                    <a:pt x="5" y="0"/>
                  </a:lnTo>
                  <a:lnTo>
                    <a:pt x="5" y="0"/>
                  </a:lnTo>
                  <a:lnTo>
                    <a:pt x="4" y="0"/>
                  </a:lnTo>
                  <a:lnTo>
                    <a:pt x="3" y="0"/>
                  </a:lnTo>
                  <a:lnTo>
                    <a:pt x="2" y="0"/>
                  </a:lnTo>
                  <a:lnTo>
                    <a:pt x="2" y="2"/>
                  </a:lnTo>
                  <a:lnTo>
                    <a:pt x="0" y="3"/>
                  </a:lnTo>
                  <a:lnTo>
                    <a:pt x="0" y="4"/>
                  </a:lnTo>
                  <a:lnTo>
                    <a:pt x="2" y="5"/>
                  </a:lnTo>
                  <a:lnTo>
                    <a:pt x="2" y="5"/>
                  </a:lnTo>
                  <a:close/>
                </a:path>
              </a:pathLst>
            </a:custGeom>
            <a:solidFill>
              <a:srgbClr val="000000"/>
            </a:solidFill>
            <a:ln w="9525">
              <a:noFill/>
              <a:round/>
              <a:headEnd/>
              <a:tailEnd/>
            </a:ln>
          </p:spPr>
          <p:txBody>
            <a:bodyPr/>
            <a:lstStyle/>
            <a:p>
              <a:endParaRPr lang="en-US"/>
            </a:p>
          </p:txBody>
        </p:sp>
        <p:sp>
          <p:nvSpPr>
            <p:cNvPr id="327112" name="Freeform 456"/>
            <p:cNvSpPr>
              <a:spLocks/>
            </p:cNvSpPr>
            <p:nvPr/>
          </p:nvSpPr>
          <p:spPr bwMode="auto">
            <a:xfrm>
              <a:off x="2301" y="2909"/>
              <a:ext cx="6" cy="5"/>
            </a:xfrm>
            <a:custGeom>
              <a:avLst/>
              <a:gdLst/>
              <a:ahLst/>
              <a:cxnLst>
                <a:cxn ang="0">
                  <a:pos x="1" y="5"/>
                </a:cxn>
                <a:cxn ang="0">
                  <a:pos x="3" y="5"/>
                </a:cxn>
                <a:cxn ang="0">
                  <a:pos x="4" y="5"/>
                </a:cxn>
                <a:cxn ang="0">
                  <a:pos x="5" y="5"/>
                </a:cxn>
                <a:cxn ang="0">
                  <a:pos x="5" y="4"/>
                </a:cxn>
                <a:cxn ang="0">
                  <a:pos x="6" y="3"/>
                </a:cxn>
                <a:cxn ang="0">
                  <a:pos x="6" y="2"/>
                </a:cxn>
                <a:cxn ang="0">
                  <a:pos x="5" y="1"/>
                </a:cxn>
                <a:cxn ang="0">
                  <a:pos x="5" y="1"/>
                </a:cxn>
                <a:cxn ang="0">
                  <a:pos x="5" y="1"/>
                </a:cxn>
                <a:cxn ang="0">
                  <a:pos x="4" y="0"/>
                </a:cxn>
                <a:cxn ang="0">
                  <a:pos x="3" y="0"/>
                </a:cxn>
                <a:cxn ang="0">
                  <a:pos x="1" y="1"/>
                </a:cxn>
                <a:cxn ang="0">
                  <a:pos x="0" y="1"/>
                </a:cxn>
                <a:cxn ang="0">
                  <a:pos x="0" y="2"/>
                </a:cxn>
                <a:cxn ang="0">
                  <a:pos x="0" y="3"/>
                </a:cxn>
                <a:cxn ang="0">
                  <a:pos x="0" y="4"/>
                </a:cxn>
                <a:cxn ang="0">
                  <a:pos x="1" y="5"/>
                </a:cxn>
              </a:cxnLst>
              <a:rect l="0" t="0" r="r" b="b"/>
              <a:pathLst>
                <a:path w="6" h="5">
                  <a:moveTo>
                    <a:pt x="1" y="5"/>
                  </a:moveTo>
                  <a:lnTo>
                    <a:pt x="3" y="5"/>
                  </a:lnTo>
                  <a:lnTo>
                    <a:pt x="4" y="5"/>
                  </a:lnTo>
                  <a:lnTo>
                    <a:pt x="5" y="5"/>
                  </a:lnTo>
                  <a:lnTo>
                    <a:pt x="5" y="4"/>
                  </a:lnTo>
                  <a:lnTo>
                    <a:pt x="6" y="3"/>
                  </a:lnTo>
                  <a:lnTo>
                    <a:pt x="6" y="2"/>
                  </a:lnTo>
                  <a:lnTo>
                    <a:pt x="5" y="1"/>
                  </a:lnTo>
                  <a:lnTo>
                    <a:pt x="5" y="1"/>
                  </a:lnTo>
                  <a:lnTo>
                    <a:pt x="5" y="1"/>
                  </a:lnTo>
                  <a:lnTo>
                    <a:pt x="4" y="0"/>
                  </a:lnTo>
                  <a:lnTo>
                    <a:pt x="3" y="0"/>
                  </a:lnTo>
                  <a:lnTo>
                    <a:pt x="1" y="1"/>
                  </a:lnTo>
                  <a:lnTo>
                    <a:pt x="0" y="1"/>
                  </a:lnTo>
                  <a:lnTo>
                    <a:pt x="0" y="2"/>
                  </a:lnTo>
                  <a:lnTo>
                    <a:pt x="0" y="3"/>
                  </a:lnTo>
                  <a:lnTo>
                    <a:pt x="0" y="4"/>
                  </a:lnTo>
                  <a:lnTo>
                    <a:pt x="1" y="5"/>
                  </a:lnTo>
                  <a:close/>
                </a:path>
              </a:pathLst>
            </a:custGeom>
            <a:solidFill>
              <a:srgbClr val="000000"/>
            </a:solidFill>
            <a:ln w="9525">
              <a:noFill/>
              <a:round/>
              <a:headEnd/>
              <a:tailEnd/>
            </a:ln>
          </p:spPr>
          <p:txBody>
            <a:bodyPr/>
            <a:lstStyle/>
            <a:p>
              <a:endParaRPr lang="en-US"/>
            </a:p>
          </p:txBody>
        </p:sp>
        <p:sp>
          <p:nvSpPr>
            <p:cNvPr id="327113" name="Freeform 457"/>
            <p:cNvSpPr>
              <a:spLocks/>
            </p:cNvSpPr>
            <p:nvPr/>
          </p:nvSpPr>
          <p:spPr bwMode="auto">
            <a:xfrm>
              <a:off x="2292" y="2904"/>
              <a:ext cx="6" cy="5"/>
            </a:xfrm>
            <a:custGeom>
              <a:avLst/>
              <a:gdLst/>
              <a:ahLst/>
              <a:cxnLst>
                <a:cxn ang="0">
                  <a:pos x="1" y="5"/>
                </a:cxn>
                <a:cxn ang="0">
                  <a:pos x="3" y="5"/>
                </a:cxn>
                <a:cxn ang="0">
                  <a:pos x="4" y="5"/>
                </a:cxn>
                <a:cxn ang="0">
                  <a:pos x="5" y="5"/>
                </a:cxn>
                <a:cxn ang="0">
                  <a:pos x="5" y="4"/>
                </a:cxn>
                <a:cxn ang="0">
                  <a:pos x="6" y="3"/>
                </a:cxn>
                <a:cxn ang="0">
                  <a:pos x="6" y="2"/>
                </a:cxn>
                <a:cxn ang="0">
                  <a:pos x="5" y="1"/>
                </a:cxn>
                <a:cxn ang="0">
                  <a:pos x="5" y="1"/>
                </a:cxn>
                <a:cxn ang="0">
                  <a:pos x="5" y="1"/>
                </a:cxn>
                <a:cxn ang="0">
                  <a:pos x="4" y="0"/>
                </a:cxn>
                <a:cxn ang="0">
                  <a:pos x="3" y="0"/>
                </a:cxn>
                <a:cxn ang="0">
                  <a:pos x="1" y="1"/>
                </a:cxn>
                <a:cxn ang="0">
                  <a:pos x="0" y="1"/>
                </a:cxn>
                <a:cxn ang="0">
                  <a:pos x="0" y="2"/>
                </a:cxn>
                <a:cxn ang="0">
                  <a:pos x="0" y="3"/>
                </a:cxn>
                <a:cxn ang="0">
                  <a:pos x="0" y="4"/>
                </a:cxn>
                <a:cxn ang="0">
                  <a:pos x="1" y="5"/>
                </a:cxn>
              </a:cxnLst>
              <a:rect l="0" t="0" r="r" b="b"/>
              <a:pathLst>
                <a:path w="6" h="5">
                  <a:moveTo>
                    <a:pt x="1" y="5"/>
                  </a:moveTo>
                  <a:lnTo>
                    <a:pt x="3" y="5"/>
                  </a:lnTo>
                  <a:lnTo>
                    <a:pt x="4" y="5"/>
                  </a:lnTo>
                  <a:lnTo>
                    <a:pt x="5" y="5"/>
                  </a:lnTo>
                  <a:lnTo>
                    <a:pt x="5" y="4"/>
                  </a:lnTo>
                  <a:lnTo>
                    <a:pt x="6" y="3"/>
                  </a:lnTo>
                  <a:lnTo>
                    <a:pt x="6" y="2"/>
                  </a:lnTo>
                  <a:lnTo>
                    <a:pt x="5" y="1"/>
                  </a:lnTo>
                  <a:lnTo>
                    <a:pt x="5" y="1"/>
                  </a:lnTo>
                  <a:lnTo>
                    <a:pt x="5" y="1"/>
                  </a:lnTo>
                  <a:lnTo>
                    <a:pt x="4" y="0"/>
                  </a:lnTo>
                  <a:lnTo>
                    <a:pt x="3" y="0"/>
                  </a:lnTo>
                  <a:lnTo>
                    <a:pt x="1" y="1"/>
                  </a:lnTo>
                  <a:lnTo>
                    <a:pt x="0" y="1"/>
                  </a:lnTo>
                  <a:lnTo>
                    <a:pt x="0" y="2"/>
                  </a:lnTo>
                  <a:lnTo>
                    <a:pt x="0" y="3"/>
                  </a:lnTo>
                  <a:lnTo>
                    <a:pt x="0" y="4"/>
                  </a:lnTo>
                  <a:lnTo>
                    <a:pt x="1" y="5"/>
                  </a:lnTo>
                  <a:close/>
                </a:path>
              </a:pathLst>
            </a:custGeom>
            <a:solidFill>
              <a:srgbClr val="000000"/>
            </a:solidFill>
            <a:ln w="9525">
              <a:noFill/>
              <a:round/>
              <a:headEnd/>
              <a:tailEnd/>
            </a:ln>
          </p:spPr>
          <p:txBody>
            <a:bodyPr/>
            <a:lstStyle/>
            <a:p>
              <a:endParaRPr lang="en-US"/>
            </a:p>
          </p:txBody>
        </p:sp>
        <p:sp>
          <p:nvSpPr>
            <p:cNvPr id="327114" name="Freeform 458"/>
            <p:cNvSpPr>
              <a:spLocks/>
            </p:cNvSpPr>
            <p:nvPr/>
          </p:nvSpPr>
          <p:spPr bwMode="auto">
            <a:xfrm>
              <a:off x="2282" y="2899"/>
              <a:ext cx="6" cy="5"/>
            </a:xfrm>
            <a:custGeom>
              <a:avLst/>
              <a:gdLst/>
              <a:ahLst/>
              <a:cxnLst>
                <a:cxn ang="0">
                  <a:pos x="1" y="4"/>
                </a:cxn>
                <a:cxn ang="0">
                  <a:pos x="2" y="5"/>
                </a:cxn>
                <a:cxn ang="0">
                  <a:pos x="4" y="5"/>
                </a:cxn>
                <a:cxn ang="0">
                  <a:pos x="5" y="4"/>
                </a:cxn>
                <a:cxn ang="0">
                  <a:pos x="6" y="4"/>
                </a:cxn>
                <a:cxn ang="0">
                  <a:pos x="6" y="3"/>
                </a:cxn>
                <a:cxn ang="0">
                  <a:pos x="6" y="2"/>
                </a:cxn>
                <a:cxn ang="0">
                  <a:pos x="6" y="1"/>
                </a:cxn>
                <a:cxn ang="0">
                  <a:pos x="5" y="0"/>
                </a:cxn>
                <a:cxn ang="0">
                  <a:pos x="5" y="0"/>
                </a:cxn>
                <a:cxn ang="0">
                  <a:pos x="4" y="0"/>
                </a:cxn>
                <a:cxn ang="0">
                  <a:pos x="2" y="0"/>
                </a:cxn>
                <a:cxn ang="0">
                  <a:pos x="1" y="0"/>
                </a:cxn>
                <a:cxn ang="0">
                  <a:pos x="1" y="1"/>
                </a:cxn>
                <a:cxn ang="0">
                  <a:pos x="0" y="2"/>
                </a:cxn>
                <a:cxn ang="0">
                  <a:pos x="0" y="3"/>
                </a:cxn>
                <a:cxn ang="0">
                  <a:pos x="1" y="4"/>
                </a:cxn>
                <a:cxn ang="0">
                  <a:pos x="1" y="4"/>
                </a:cxn>
              </a:cxnLst>
              <a:rect l="0" t="0" r="r" b="b"/>
              <a:pathLst>
                <a:path w="6" h="5">
                  <a:moveTo>
                    <a:pt x="1" y="4"/>
                  </a:moveTo>
                  <a:lnTo>
                    <a:pt x="2" y="5"/>
                  </a:lnTo>
                  <a:lnTo>
                    <a:pt x="4" y="5"/>
                  </a:lnTo>
                  <a:lnTo>
                    <a:pt x="5" y="4"/>
                  </a:lnTo>
                  <a:lnTo>
                    <a:pt x="6" y="4"/>
                  </a:lnTo>
                  <a:lnTo>
                    <a:pt x="6" y="3"/>
                  </a:lnTo>
                  <a:lnTo>
                    <a:pt x="6" y="2"/>
                  </a:lnTo>
                  <a:lnTo>
                    <a:pt x="6" y="1"/>
                  </a:lnTo>
                  <a:lnTo>
                    <a:pt x="5" y="0"/>
                  </a:lnTo>
                  <a:lnTo>
                    <a:pt x="5" y="0"/>
                  </a:lnTo>
                  <a:lnTo>
                    <a:pt x="4" y="0"/>
                  </a:lnTo>
                  <a:lnTo>
                    <a:pt x="2" y="0"/>
                  </a:lnTo>
                  <a:lnTo>
                    <a:pt x="1" y="0"/>
                  </a:lnTo>
                  <a:lnTo>
                    <a:pt x="1" y="1"/>
                  </a:lnTo>
                  <a:lnTo>
                    <a:pt x="0" y="2"/>
                  </a:lnTo>
                  <a:lnTo>
                    <a:pt x="0" y="3"/>
                  </a:lnTo>
                  <a:lnTo>
                    <a:pt x="1" y="4"/>
                  </a:lnTo>
                  <a:lnTo>
                    <a:pt x="1" y="4"/>
                  </a:lnTo>
                  <a:close/>
                </a:path>
              </a:pathLst>
            </a:custGeom>
            <a:solidFill>
              <a:srgbClr val="000000"/>
            </a:solidFill>
            <a:ln w="9525">
              <a:noFill/>
              <a:round/>
              <a:headEnd/>
              <a:tailEnd/>
            </a:ln>
          </p:spPr>
          <p:txBody>
            <a:bodyPr/>
            <a:lstStyle/>
            <a:p>
              <a:endParaRPr lang="en-US"/>
            </a:p>
          </p:txBody>
        </p:sp>
        <p:sp>
          <p:nvSpPr>
            <p:cNvPr id="327115" name="Freeform 459"/>
            <p:cNvSpPr>
              <a:spLocks/>
            </p:cNvSpPr>
            <p:nvPr/>
          </p:nvSpPr>
          <p:spPr bwMode="auto">
            <a:xfrm>
              <a:off x="2273" y="2892"/>
              <a:ext cx="6" cy="6"/>
            </a:xfrm>
            <a:custGeom>
              <a:avLst/>
              <a:gdLst/>
              <a:ahLst/>
              <a:cxnLst>
                <a:cxn ang="0">
                  <a:pos x="1" y="6"/>
                </a:cxn>
                <a:cxn ang="0">
                  <a:pos x="2" y="6"/>
                </a:cxn>
                <a:cxn ang="0">
                  <a:pos x="4" y="6"/>
                </a:cxn>
                <a:cxn ang="0">
                  <a:pos x="5" y="6"/>
                </a:cxn>
                <a:cxn ang="0">
                  <a:pos x="5" y="5"/>
                </a:cxn>
                <a:cxn ang="0">
                  <a:pos x="6" y="4"/>
                </a:cxn>
                <a:cxn ang="0">
                  <a:pos x="6" y="2"/>
                </a:cxn>
                <a:cxn ang="0">
                  <a:pos x="5" y="1"/>
                </a:cxn>
                <a:cxn ang="0">
                  <a:pos x="5" y="1"/>
                </a:cxn>
                <a:cxn ang="0">
                  <a:pos x="5" y="1"/>
                </a:cxn>
                <a:cxn ang="0">
                  <a:pos x="4" y="0"/>
                </a:cxn>
                <a:cxn ang="0">
                  <a:pos x="2" y="0"/>
                </a:cxn>
                <a:cxn ang="0">
                  <a:pos x="1" y="1"/>
                </a:cxn>
                <a:cxn ang="0">
                  <a:pos x="0" y="1"/>
                </a:cxn>
                <a:cxn ang="0">
                  <a:pos x="0" y="2"/>
                </a:cxn>
                <a:cxn ang="0">
                  <a:pos x="0" y="4"/>
                </a:cxn>
                <a:cxn ang="0">
                  <a:pos x="0" y="5"/>
                </a:cxn>
                <a:cxn ang="0">
                  <a:pos x="1" y="6"/>
                </a:cxn>
              </a:cxnLst>
              <a:rect l="0" t="0" r="r" b="b"/>
              <a:pathLst>
                <a:path w="6" h="6">
                  <a:moveTo>
                    <a:pt x="1" y="6"/>
                  </a:moveTo>
                  <a:lnTo>
                    <a:pt x="2" y="6"/>
                  </a:lnTo>
                  <a:lnTo>
                    <a:pt x="4" y="6"/>
                  </a:lnTo>
                  <a:lnTo>
                    <a:pt x="5" y="6"/>
                  </a:lnTo>
                  <a:lnTo>
                    <a:pt x="5" y="5"/>
                  </a:lnTo>
                  <a:lnTo>
                    <a:pt x="6" y="4"/>
                  </a:lnTo>
                  <a:lnTo>
                    <a:pt x="6" y="2"/>
                  </a:lnTo>
                  <a:lnTo>
                    <a:pt x="5" y="1"/>
                  </a:lnTo>
                  <a:lnTo>
                    <a:pt x="5" y="1"/>
                  </a:lnTo>
                  <a:lnTo>
                    <a:pt x="5" y="1"/>
                  </a:lnTo>
                  <a:lnTo>
                    <a:pt x="4" y="0"/>
                  </a:lnTo>
                  <a:lnTo>
                    <a:pt x="2" y="0"/>
                  </a:lnTo>
                  <a:lnTo>
                    <a:pt x="1" y="1"/>
                  </a:lnTo>
                  <a:lnTo>
                    <a:pt x="0" y="1"/>
                  </a:lnTo>
                  <a:lnTo>
                    <a:pt x="0" y="2"/>
                  </a:lnTo>
                  <a:lnTo>
                    <a:pt x="0" y="4"/>
                  </a:lnTo>
                  <a:lnTo>
                    <a:pt x="0" y="5"/>
                  </a:lnTo>
                  <a:lnTo>
                    <a:pt x="1" y="6"/>
                  </a:lnTo>
                  <a:close/>
                </a:path>
              </a:pathLst>
            </a:custGeom>
            <a:solidFill>
              <a:srgbClr val="000000"/>
            </a:solidFill>
            <a:ln w="9525">
              <a:noFill/>
              <a:round/>
              <a:headEnd/>
              <a:tailEnd/>
            </a:ln>
          </p:spPr>
          <p:txBody>
            <a:bodyPr/>
            <a:lstStyle/>
            <a:p>
              <a:endParaRPr lang="en-US"/>
            </a:p>
          </p:txBody>
        </p:sp>
        <p:sp>
          <p:nvSpPr>
            <p:cNvPr id="327116" name="Freeform 460"/>
            <p:cNvSpPr>
              <a:spLocks/>
            </p:cNvSpPr>
            <p:nvPr/>
          </p:nvSpPr>
          <p:spPr bwMode="auto">
            <a:xfrm>
              <a:off x="2263" y="2887"/>
              <a:ext cx="6" cy="5"/>
            </a:xfrm>
            <a:custGeom>
              <a:avLst/>
              <a:gdLst/>
              <a:ahLst/>
              <a:cxnLst>
                <a:cxn ang="0">
                  <a:pos x="1" y="4"/>
                </a:cxn>
                <a:cxn ang="0">
                  <a:pos x="2" y="5"/>
                </a:cxn>
                <a:cxn ang="0">
                  <a:pos x="3" y="5"/>
                </a:cxn>
                <a:cxn ang="0">
                  <a:pos x="4" y="4"/>
                </a:cxn>
                <a:cxn ang="0">
                  <a:pos x="6" y="4"/>
                </a:cxn>
                <a:cxn ang="0">
                  <a:pos x="6" y="3"/>
                </a:cxn>
                <a:cxn ang="0">
                  <a:pos x="6" y="2"/>
                </a:cxn>
                <a:cxn ang="0">
                  <a:pos x="6" y="1"/>
                </a:cxn>
                <a:cxn ang="0">
                  <a:pos x="4" y="0"/>
                </a:cxn>
                <a:cxn ang="0">
                  <a:pos x="4" y="0"/>
                </a:cxn>
                <a:cxn ang="0">
                  <a:pos x="3" y="0"/>
                </a:cxn>
                <a:cxn ang="0">
                  <a:pos x="2" y="0"/>
                </a:cxn>
                <a:cxn ang="0">
                  <a:pos x="1" y="0"/>
                </a:cxn>
                <a:cxn ang="0">
                  <a:pos x="1" y="1"/>
                </a:cxn>
                <a:cxn ang="0">
                  <a:pos x="0" y="2"/>
                </a:cxn>
                <a:cxn ang="0">
                  <a:pos x="0" y="3"/>
                </a:cxn>
                <a:cxn ang="0">
                  <a:pos x="1" y="4"/>
                </a:cxn>
                <a:cxn ang="0">
                  <a:pos x="1" y="4"/>
                </a:cxn>
              </a:cxnLst>
              <a:rect l="0" t="0" r="r" b="b"/>
              <a:pathLst>
                <a:path w="6" h="5">
                  <a:moveTo>
                    <a:pt x="1" y="4"/>
                  </a:moveTo>
                  <a:lnTo>
                    <a:pt x="2" y="5"/>
                  </a:lnTo>
                  <a:lnTo>
                    <a:pt x="3" y="5"/>
                  </a:lnTo>
                  <a:lnTo>
                    <a:pt x="4" y="4"/>
                  </a:lnTo>
                  <a:lnTo>
                    <a:pt x="6" y="4"/>
                  </a:lnTo>
                  <a:lnTo>
                    <a:pt x="6" y="3"/>
                  </a:lnTo>
                  <a:lnTo>
                    <a:pt x="6" y="2"/>
                  </a:lnTo>
                  <a:lnTo>
                    <a:pt x="6" y="1"/>
                  </a:lnTo>
                  <a:lnTo>
                    <a:pt x="4" y="0"/>
                  </a:lnTo>
                  <a:lnTo>
                    <a:pt x="4" y="0"/>
                  </a:lnTo>
                  <a:lnTo>
                    <a:pt x="3" y="0"/>
                  </a:lnTo>
                  <a:lnTo>
                    <a:pt x="2" y="0"/>
                  </a:lnTo>
                  <a:lnTo>
                    <a:pt x="1" y="0"/>
                  </a:lnTo>
                  <a:lnTo>
                    <a:pt x="1" y="1"/>
                  </a:lnTo>
                  <a:lnTo>
                    <a:pt x="0" y="2"/>
                  </a:lnTo>
                  <a:lnTo>
                    <a:pt x="0" y="3"/>
                  </a:lnTo>
                  <a:lnTo>
                    <a:pt x="1" y="4"/>
                  </a:lnTo>
                  <a:lnTo>
                    <a:pt x="1" y="4"/>
                  </a:lnTo>
                  <a:close/>
                </a:path>
              </a:pathLst>
            </a:custGeom>
            <a:solidFill>
              <a:srgbClr val="000000"/>
            </a:solidFill>
            <a:ln w="9525">
              <a:noFill/>
              <a:round/>
              <a:headEnd/>
              <a:tailEnd/>
            </a:ln>
          </p:spPr>
          <p:txBody>
            <a:bodyPr/>
            <a:lstStyle/>
            <a:p>
              <a:endParaRPr lang="en-US"/>
            </a:p>
          </p:txBody>
        </p:sp>
        <p:sp>
          <p:nvSpPr>
            <p:cNvPr id="327117" name="Freeform 461"/>
            <p:cNvSpPr>
              <a:spLocks/>
            </p:cNvSpPr>
            <p:nvPr/>
          </p:nvSpPr>
          <p:spPr bwMode="auto">
            <a:xfrm>
              <a:off x="2254" y="2882"/>
              <a:ext cx="6" cy="5"/>
            </a:xfrm>
            <a:custGeom>
              <a:avLst/>
              <a:gdLst/>
              <a:ahLst/>
              <a:cxnLst>
                <a:cxn ang="0">
                  <a:pos x="1" y="4"/>
                </a:cxn>
                <a:cxn ang="0">
                  <a:pos x="2" y="5"/>
                </a:cxn>
                <a:cxn ang="0">
                  <a:pos x="3" y="5"/>
                </a:cxn>
                <a:cxn ang="0">
                  <a:pos x="4" y="4"/>
                </a:cxn>
                <a:cxn ang="0">
                  <a:pos x="4" y="4"/>
                </a:cxn>
                <a:cxn ang="0">
                  <a:pos x="6" y="3"/>
                </a:cxn>
                <a:cxn ang="0">
                  <a:pos x="6" y="2"/>
                </a:cxn>
                <a:cxn ang="0">
                  <a:pos x="4" y="1"/>
                </a:cxn>
                <a:cxn ang="0">
                  <a:pos x="4" y="0"/>
                </a:cxn>
                <a:cxn ang="0">
                  <a:pos x="4" y="0"/>
                </a:cxn>
                <a:cxn ang="0">
                  <a:pos x="3" y="0"/>
                </a:cxn>
                <a:cxn ang="0">
                  <a:pos x="2" y="0"/>
                </a:cxn>
                <a:cxn ang="0">
                  <a:pos x="1" y="0"/>
                </a:cxn>
                <a:cxn ang="0">
                  <a:pos x="0" y="1"/>
                </a:cxn>
                <a:cxn ang="0">
                  <a:pos x="0" y="2"/>
                </a:cxn>
                <a:cxn ang="0">
                  <a:pos x="0" y="3"/>
                </a:cxn>
                <a:cxn ang="0">
                  <a:pos x="0" y="4"/>
                </a:cxn>
                <a:cxn ang="0">
                  <a:pos x="1" y="4"/>
                </a:cxn>
              </a:cxnLst>
              <a:rect l="0" t="0" r="r" b="b"/>
              <a:pathLst>
                <a:path w="6" h="5">
                  <a:moveTo>
                    <a:pt x="1" y="4"/>
                  </a:moveTo>
                  <a:lnTo>
                    <a:pt x="2" y="5"/>
                  </a:lnTo>
                  <a:lnTo>
                    <a:pt x="3" y="5"/>
                  </a:lnTo>
                  <a:lnTo>
                    <a:pt x="4" y="4"/>
                  </a:lnTo>
                  <a:lnTo>
                    <a:pt x="4" y="4"/>
                  </a:lnTo>
                  <a:lnTo>
                    <a:pt x="6" y="3"/>
                  </a:lnTo>
                  <a:lnTo>
                    <a:pt x="6" y="2"/>
                  </a:lnTo>
                  <a:lnTo>
                    <a:pt x="4" y="1"/>
                  </a:lnTo>
                  <a:lnTo>
                    <a:pt x="4" y="0"/>
                  </a:lnTo>
                  <a:lnTo>
                    <a:pt x="4" y="0"/>
                  </a:lnTo>
                  <a:lnTo>
                    <a:pt x="3" y="0"/>
                  </a:lnTo>
                  <a:lnTo>
                    <a:pt x="2" y="0"/>
                  </a:lnTo>
                  <a:lnTo>
                    <a:pt x="1" y="0"/>
                  </a:lnTo>
                  <a:lnTo>
                    <a:pt x="0" y="1"/>
                  </a:lnTo>
                  <a:lnTo>
                    <a:pt x="0" y="2"/>
                  </a:lnTo>
                  <a:lnTo>
                    <a:pt x="0" y="3"/>
                  </a:lnTo>
                  <a:lnTo>
                    <a:pt x="0" y="4"/>
                  </a:lnTo>
                  <a:lnTo>
                    <a:pt x="1" y="4"/>
                  </a:lnTo>
                  <a:close/>
                </a:path>
              </a:pathLst>
            </a:custGeom>
            <a:solidFill>
              <a:srgbClr val="000000"/>
            </a:solidFill>
            <a:ln w="9525">
              <a:noFill/>
              <a:round/>
              <a:headEnd/>
              <a:tailEnd/>
            </a:ln>
          </p:spPr>
          <p:txBody>
            <a:bodyPr/>
            <a:lstStyle/>
            <a:p>
              <a:endParaRPr lang="en-US"/>
            </a:p>
          </p:txBody>
        </p:sp>
        <p:sp>
          <p:nvSpPr>
            <p:cNvPr id="327118" name="Freeform 462"/>
            <p:cNvSpPr>
              <a:spLocks/>
            </p:cNvSpPr>
            <p:nvPr/>
          </p:nvSpPr>
          <p:spPr bwMode="auto">
            <a:xfrm>
              <a:off x="2244" y="2876"/>
              <a:ext cx="5" cy="5"/>
            </a:xfrm>
            <a:custGeom>
              <a:avLst/>
              <a:gdLst/>
              <a:ahLst/>
              <a:cxnLst>
                <a:cxn ang="0">
                  <a:pos x="1" y="5"/>
                </a:cxn>
                <a:cxn ang="0">
                  <a:pos x="2" y="5"/>
                </a:cxn>
                <a:cxn ang="0">
                  <a:pos x="3" y="5"/>
                </a:cxn>
                <a:cxn ang="0">
                  <a:pos x="4" y="5"/>
                </a:cxn>
                <a:cxn ang="0">
                  <a:pos x="5" y="4"/>
                </a:cxn>
                <a:cxn ang="0">
                  <a:pos x="5" y="3"/>
                </a:cxn>
                <a:cxn ang="0">
                  <a:pos x="5" y="2"/>
                </a:cxn>
                <a:cxn ang="0">
                  <a:pos x="5" y="1"/>
                </a:cxn>
                <a:cxn ang="0">
                  <a:pos x="4" y="1"/>
                </a:cxn>
                <a:cxn ang="0">
                  <a:pos x="4" y="1"/>
                </a:cxn>
                <a:cxn ang="0">
                  <a:pos x="3" y="0"/>
                </a:cxn>
                <a:cxn ang="0">
                  <a:pos x="2" y="0"/>
                </a:cxn>
                <a:cxn ang="0">
                  <a:pos x="1" y="1"/>
                </a:cxn>
                <a:cxn ang="0">
                  <a:pos x="1" y="1"/>
                </a:cxn>
                <a:cxn ang="0">
                  <a:pos x="0" y="2"/>
                </a:cxn>
                <a:cxn ang="0">
                  <a:pos x="0" y="3"/>
                </a:cxn>
                <a:cxn ang="0">
                  <a:pos x="1" y="4"/>
                </a:cxn>
                <a:cxn ang="0">
                  <a:pos x="1" y="5"/>
                </a:cxn>
              </a:cxnLst>
              <a:rect l="0" t="0" r="r" b="b"/>
              <a:pathLst>
                <a:path w="5" h="5">
                  <a:moveTo>
                    <a:pt x="1" y="5"/>
                  </a:moveTo>
                  <a:lnTo>
                    <a:pt x="2" y="5"/>
                  </a:lnTo>
                  <a:lnTo>
                    <a:pt x="3" y="5"/>
                  </a:lnTo>
                  <a:lnTo>
                    <a:pt x="4" y="5"/>
                  </a:lnTo>
                  <a:lnTo>
                    <a:pt x="5" y="4"/>
                  </a:lnTo>
                  <a:lnTo>
                    <a:pt x="5" y="3"/>
                  </a:lnTo>
                  <a:lnTo>
                    <a:pt x="5" y="2"/>
                  </a:lnTo>
                  <a:lnTo>
                    <a:pt x="5" y="1"/>
                  </a:lnTo>
                  <a:lnTo>
                    <a:pt x="4" y="1"/>
                  </a:lnTo>
                  <a:lnTo>
                    <a:pt x="4" y="1"/>
                  </a:lnTo>
                  <a:lnTo>
                    <a:pt x="3" y="0"/>
                  </a:lnTo>
                  <a:lnTo>
                    <a:pt x="2" y="0"/>
                  </a:lnTo>
                  <a:lnTo>
                    <a:pt x="1" y="1"/>
                  </a:lnTo>
                  <a:lnTo>
                    <a:pt x="1" y="1"/>
                  </a:lnTo>
                  <a:lnTo>
                    <a:pt x="0" y="2"/>
                  </a:lnTo>
                  <a:lnTo>
                    <a:pt x="0" y="3"/>
                  </a:lnTo>
                  <a:lnTo>
                    <a:pt x="1" y="4"/>
                  </a:lnTo>
                  <a:lnTo>
                    <a:pt x="1" y="5"/>
                  </a:lnTo>
                  <a:close/>
                </a:path>
              </a:pathLst>
            </a:custGeom>
            <a:solidFill>
              <a:srgbClr val="000000"/>
            </a:solidFill>
            <a:ln w="9525">
              <a:noFill/>
              <a:round/>
              <a:headEnd/>
              <a:tailEnd/>
            </a:ln>
          </p:spPr>
          <p:txBody>
            <a:bodyPr/>
            <a:lstStyle/>
            <a:p>
              <a:endParaRPr lang="en-US"/>
            </a:p>
          </p:txBody>
        </p:sp>
        <p:sp>
          <p:nvSpPr>
            <p:cNvPr id="327119" name="Freeform 463"/>
            <p:cNvSpPr>
              <a:spLocks/>
            </p:cNvSpPr>
            <p:nvPr/>
          </p:nvSpPr>
          <p:spPr bwMode="auto">
            <a:xfrm>
              <a:off x="2235" y="2870"/>
              <a:ext cx="5" cy="6"/>
            </a:xfrm>
            <a:custGeom>
              <a:avLst/>
              <a:gdLst/>
              <a:ahLst/>
              <a:cxnLst>
                <a:cxn ang="0">
                  <a:pos x="1" y="4"/>
                </a:cxn>
                <a:cxn ang="0">
                  <a:pos x="2" y="6"/>
                </a:cxn>
                <a:cxn ang="0">
                  <a:pos x="3" y="6"/>
                </a:cxn>
                <a:cxn ang="0">
                  <a:pos x="4" y="4"/>
                </a:cxn>
                <a:cxn ang="0">
                  <a:pos x="5" y="4"/>
                </a:cxn>
                <a:cxn ang="0">
                  <a:pos x="5" y="3"/>
                </a:cxn>
                <a:cxn ang="0">
                  <a:pos x="5" y="2"/>
                </a:cxn>
                <a:cxn ang="0">
                  <a:pos x="5" y="1"/>
                </a:cxn>
                <a:cxn ang="0">
                  <a:pos x="4" y="0"/>
                </a:cxn>
                <a:cxn ang="0">
                  <a:pos x="4" y="0"/>
                </a:cxn>
                <a:cxn ang="0">
                  <a:pos x="3" y="0"/>
                </a:cxn>
                <a:cxn ang="0">
                  <a:pos x="2" y="0"/>
                </a:cxn>
                <a:cxn ang="0">
                  <a:pos x="1" y="0"/>
                </a:cxn>
                <a:cxn ang="0">
                  <a:pos x="1" y="1"/>
                </a:cxn>
                <a:cxn ang="0">
                  <a:pos x="0" y="2"/>
                </a:cxn>
                <a:cxn ang="0">
                  <a:pos x="0" y="3"/>
                </a:cxn>
                <a:cxn ang="0">
                  <a:pos x="1" y="4"/>
                </a:cxn>
                <a:cxn ang="0">
                  <a:pos x="1" y="4"/>
                </a:cxn>
              </a:cxnLst>
              <a:rect l="0" t="0" r="r" b="b"/>
              <a:pathLst>
                <a:path w="5" h="6">
                  <a:moveTo>
                    <a:pt x="1" y="4"/>
                  </a:moveTo>
                  <a:lnTo>
                    <a:pt x="2" y="6"/>
                  </a:lnTo>
                  <a:lnTo>
                    <a:pt x="3" y="6"/>
                  </a:lnTo>
                  <a:lnTo>
                    <a:pt x="4" y="4"/>
                  </a:lnTo>
                  <a:lnTo>
                    <a:pt x="5" y="4"/>
                  </a:lnTo>
                  <a:lnTo>
                    <a:pt x="5" y="3"/>
                  </a:lnTo>
                  <a:lnTo>
                    <a:pt x="5" y="2"/>
                  </a:lnTo>
                  <a:lnTo>
                    <a:pt x="5" y="1"/>
                  </a:lnTo>
                  <a:lnTo>
                    <a:pt x="4" y="0"/>
                  </a:lnTo>
                  <a:lnTo>
                    <a:pt x="4" y="0"/>
                  </a:lnTo>
                  <a:lnTo>
                    <a:pt x="3" y="0"/>
                  </a:lnTo>
                  <a:lnTo>
                    <a:pt x="2" y="0"/>
                  </a:lnTo>
                  <a:lnTo>
                    <a:pt x="1" y="0"/>
                  </a:lnTo>
                  <a:lnTo>
                    <a:pt x="1" y="1"/>
                  </a:lnTo>
                  <a:lnTo>
                    <a:pt x="0" y="2"/>
                  </a:lnTo>
                  <a:lnTo>
                    <a:pt x="0" y="3"/>
                  </a:lnTo>
                  <a:lnTo>
                    <a:pt x="1" y="4"/>
                  </a:lnTo>
                  <a:lnTo>
                    <a:pt x="1" y="4"/>
                  </a:lnTo>
                  <a:close/>
                </a:path>
              </a:pathLst>
            </a:custGeom>
            <a:solidFill>
              <a:srgbClr val="000000"/>
            </a:solidFill>
            <a:ln w="9525">
              <a:noFill/>
              <a:round/>
              <a:headEnd/>
              <a:tailEnd/>
            </a:ln>
          </p:spPr>
          <p:txBody>
            <a:bodyPr/>
            <a:lstStyle/>
            <a:p>
              <a:endParaRPr lang="en-US"/>
            </a:p>
          </p:txBody>
        </p:sp>
        <p:sp>
          <p:nvSpPr>
            <p:cNvPr id="327120" name="Freeform 464"/>
            <p:cNvSpPr>
              <a:spLocks/>
            </p:cNvSpPr>
            <p:nvPr/>
          </p:nvSpPr>
          <p:spPr bwMode="auto">
            <a:xfrm>
              <a:off x="2226" y="2864"/>
              <a:ext cx="5" cy="5"/>
            </a:xfrm>
            <a:custGeom>
              <a:avLst/>
              <a:gdLst/>
              <a:ahLst/>
              <a:cxnLst>
                <a:cxn ang="0">
                  <a:pos x="1" y="5"/>
                </a:cxn>
                <a:cxn ang="0">
                  <a:pos x="2" y="5"/>
                </a:cxn>
                <a:cxn ang="0">
                  <a:pos x="3" y="5"/>
                </a:cxn>
                <a:cxn ang="0">
                  <a:pos x="4" y="5"/>
                </a:cxn>
                <a:cxn ang="0">
                  <a:pos x="4" y="4"/>
                </a:cxn>
                <a:cxn ang="0">
                  <a:pos x="5" y="3"/>
                </a:cxn>
                <a:cxn ang="0">
                  <a:pos x="5" y="2"/>
                </a:cxn>
                <a:cxn ang="0">
                  <a:pos x="4" y="1"/>
                </a:cxn>
                <a:cxn ang="0">
                  <a:pos x="4" y="1"/>
                </a:cxn>
                <a:cxn ang="0">
                  <a:pos x="4" y="1"/>
                </a:cxn>
                <a:cxn ang="0">
                  <a:pos x="3" y="0"/>
                </a:cxn>
                <a:cxn ang="0">
                  <a:pos x="2" y="0"/>
                </a:cxn>
                <a:cxn ang="0">
                  <a:pos x="1" y="1"/>
                </a:cxn>
                <a:cxn ang="0">
                  <a:pos x="0" y="1"/>
                </a:cxn>
                <a:cxn ang="0">
                  <a:pos x="0" y="2"/>
                </a:cxn>
                <a:cxn ang="0">
                  <a:pos x="0" y="3"/>
                </a:cxn>
                <a:cxn ang="0">
                  <a:pos x="0" y="4"/>
                </a:cxn>
                <a:cxn ang="0">
                  <a:pos x="1" y="5"/>
                </a:cxn>
              </a:cxnLst>
              <a:rect l="0" t="0" r="r" b="b"/>
              <a:pathLst>
                <a:path w="5" h="5">
                  <a:moveTo>
                    <a:pt x="1" y="5"/>
                  </a:moveTo>
                  <a:lnTo>
                    <a:pt x="2" y="5"/>
                  </a:lnTo>
                  <a:lnTo>
                    <a:pt x="3" y="5"/>
                  </a:lnTo>
                  <a:lnTo>
                    <a:pt x="4" y="5"/>
                  </a:lnTo>
                  <a:lnTo>
                    <a:pt x="4" y="4"/>
                  </a:lnTo>
                  <a:lnTo>
                    <a:pt x="5" y="3"/>
                  </a:lnTo>
                  <a:lnTo>
                    <a:pt x="5" y="2"/>
                  </a:lnTo>
                  <a:lnTo>
                    <a:pt x="4" y="1"/>
                  </a:lnTo>
                  <a:lnTo>
                    <a:pt x="4" y="1"/>
                  </a:lnTo>
                  <a:lnTo>
                    <a:pt x="4" y="1"/>
                  </a:lnTo>
                  <a:lnTo>
                    <a:pt x="3" y="0"/>
                  </a:lnTo>
                  <a:lnTo>
                    <a:pt x="2" y="0"/>
                  </a:lnTo>
                  <a:lnTo>
                    <a:pt x="1" y="1"/>
                  </a:lnTo>
                  <a:lnTo>
                    <a:pt x="0" y="1"/>
                  </a:lnTo>
                  <a:lnTo>
                    <a:pt x="0" y="2"/>
                  </a:lnTo>
                  <a:lnTo>
                    <a:pt x="0" y="3"/>
                  </a:lnTo>
                  <a:lnTo>
                    <a:pt x="0" y="4"/>
                  </a:lnTo>
                  <a:lnTo>
                    <a:pt x="1" y="5"/>
                  </a:lnTo>
                  <a:close/>
                </a:path>
              </a:pathLst>
            </a:custGeom>
            <a:solidFill>
              <a:srgbClr val="000000"/>
            </a:solidFill>
            <a:ln w="9525">
              <a:noFill/>
              <a:round/>
              <a:headEnd/>
              <a:tailEnd/>
            </a:ln>
          </p:spPr>
          <p:txBody>
            <a:bodyPr/>
            <a:lstStyle/>
            <a:p>
              <a:endParaRPr lang="en-US"/>
            </a:p>
          </p:txBody>
        </p:sp>
        <p:sp>
          <p:nvSpPr>
            <p:cNvPr id="327121" name="Freeform 465"/>
            <p:cNvSpPr>
              <a:spLocks/>
            </p:cNvSpPr>
            <p:nvPr/>
          </p:nvSpPr>
          <p:spPr bwMode="auto">
            <a:xfrm>
              <a:off x="2216" y="2859"/>
              <a:ext cx="5" cy="5"/>
            </a:xfrm>
            <a:custGeom>
              <a:avLst/>
              <a:gdLst/>
              <a:ahLst/>
              <a:cxnLst>
                <a:cxn ang="0">
                  <a:pos x="1" y="4"/>
                </a:cxn>
                <a:cxn ang="0">
                  <a:pos x="2" y="5"/>
                </a:cxn>
                <a:cxn ang="0">
                  <a:pos x="3" y="5"/>
                </a:cxn>
                <a:cxn ang="0">
                  <a:pos x="4" y="4"/>
                </a:cxn>
                <a:cxn ang="0">
                  <a:pos x="5" y="4"/>
                </a:cxn>
                <a:cxn ang="0">
                  <a:pos x="5" y="3"/>
                </a:cxn>
                <a:cxn ang="0">
                  <a:pos x="5" y="2"/>
                </a:cxn>
                <a:cxn ang="0">
                  <a:pos x="5" y="1"/>
                </a:cxn>
                <a:cxn ang="0">
                  <a:pos x="4" y="0"/>
                </a:cxn>
                <a:cxn ang="0">
                  <a:pos x="4" y="0"/>
                </a:cxn>
                <a:cxn ang="0">
                  <a:pos x="3" y="0"/>
                </a:cxn>
                <a:cxn ang="0">
                  <a:pos x="2" y="0"/>
                </a:cxn>
                <a:cxn ang="0">
                  <a:pos x="1" y="0"/>
                </a:cxn>
                <a:cxn ang="0">
                  <a:pos x="1" y="1"/>
                </a:cxn>
                <a:cxn ang="0">
                  <a:pos x="0" y="2"/>
                </a:cxn>
                <a:cxn ang="0">
                  <a:pos x="0" y="3"/>
                </a:cxn>
                <a:cxn ang="0">
                  <a:pos x="1" y="4"/>
                </a:cxn>
                <a:cxn ang="0">
                  <a:pos x="1" y="4"/>
                </a:cxn>
              </a:cxnLst>
              <a:rect l="0" t="0" r="r" b="b"/>
              <a:pathLst>
                <a:path w="5" h="5">
                  <a:moveTo>
                    <a:pt x="1" y="4"/>
                  </a:moveTo>
                  <a:lnTo>
                    <a:pt x="2" y="5"/>
                  </a:lnTo>
                  <a:lnTo>
                    <a:pt x="3" y="5"/>
                  </a:lnTo>
                  <a:lnTo>
                    <a:pt x="4" y="4"/>
                  </a:lnTo>
                  <a:lnTo>
                    <a:pt x="5" y="4"/>
                  </a:lnTo>
                  <a:lnTo>
                    <a:pt x="5" y="3"/>
                  </a:lnTo>
                  <a:lnTo>
                    <a:pt x="5" y="2"/>
                  </a:lnTo>
                  <a:lnTo>
                    <a:pt x="5" y="1"/>
                  </a:lnTo>
                  <a:lnTo>
                    <a:pt x="4" y="0"/>
                  </a:lnTo>
                  <a:lnTo>
                    <a:pt x="4" y="0"/>
                  </a:lnTo>
                  <a:lnTo>
                    <a:pt x="3" y="0"/>
                  </a:lnTo>
                  <a:lnTo>
                    <a:pt x="2" y="0"/>
                  </a:lnTo>
                  <a:lnTo>
                    <a:pt x="1" y="0"/>
                  </a:lnTo>
                  <a:lnTo>
                    <a:pt x="1" y="1"/>
                  </a:lnTo>
                  <a:lnTo>
                    <a:pt x="0" y="2"/>
                  </a:lnTo>
                  <a:lnTo>
                    <a:pt x="0" y="3"/>
                  </a:lnTo>
                  <a:lnTo>
                    <a:pt x="1" y="4"/>
                  </a:lnTo>
                  <a:lnTo>
                    <a:pt x="1" y="4"/>
                  </a:lnTo>
                  <a:close/>
                </a:path>
              </a:pathLst>
            </a:custGeom>
            <a:solidFill>
              <a:srgbClr val="000000"/>
            </a:solidFill>
            <a:ln w="9525">
              <a:noFill/>
              <a:round/>
              <a:headEnd/>
              <a:tailEnd/>
            </a:ln>
          </p:spPr>
          <p:txBody>
            <a:bodyPr/>
            <a:lstStyle/>
            <a:p>
              <a:endParaRPr lang="en-US"/>
            </a:p>
          </p:txBody>
        </p:sp>
        <p:sp>
          <p:nvSpPr>
            <p:cNvPr id="327122" name="Freeform 466"/>
            <p:cNvSpPr>
              <a:spLocks/>
            </p:cNvSpPr>
            <p:nvPr/>
          </p:nvSpPr>
          <p:spPr bwMode="auto">
            <a:xfrm>
              <a:off x="2206" y="2853"/>
              <a:ext cx="6" cy="6"/>
            </a:xfrm>
            <a:custGeom>
              <a:avLst/>
              <a:gdLst/>
              <a:ahLst/>
              <a:cxnLst>
                <a:cxn ang="0">
                  <a:pos x="2" y="5"/>
                </a:cxn>
                <a:cxn ang="0">
                  <a:pos x="3" y="6"/>
                </a:cxn>
                <a:cxn ang="0">
                  <a:pos x="4" y="6"/>
                </a:cxn>
                <a:cxn ang="0">
                  <a:pos x="5" y="5"/>
                </a:cxn>
                <a:cxn ang="0">
                  <a:pos x="5" y="5"/>
                </a:cxn>
                <a:cxn ang="0">
                  <a:pos x="6" y="4"/>
                </a:cxn>
                <a:cxn ang="0">
                  <a:pos x="6" y="3"/>
                </a:cxn>
                <a:cxn ang="0">
                  <a:pos x="5" y="1"/>
                </a:cxn>
                <a:cxn ang="0">
                  <a:pos x="5" y="0"/>
                </a:cxn>
                <a:cxn ang="0">
                  <a:pos x="5" y="0"/>
                </a:cxn>
                <a:cxn ang="0">
                  <a:pos x="4" y="0"/>
                </a:cxn>
                <a:cxn ang="0">
                  <a:pos x="3" y="0"/>
                </a:cxn>
                <a:cxn ang="0">
                  <a:pos x="2" y="0"/>
                </a:cxn>
                <a:cxn ang="0">
                  <a:pos x="0" y="1"/>
                </a:cxn>
                <a:cxn ang="0">
                  <a:pos x="0" y="3"/>
                </a:cxn>
                <a:cxn ang="0">
                  <a:pos x="0" y="4"/>
                </a:cxn>
                <a:cxn ang="0">
                  <a:pos x="0" y="5"/>
                </a:cxn>
                <a:cxn ang="0">
                  <a:pos x="2" y="5"/>
                </a:cxn>
              </a:cxnLst>
              <a:rect l="0" t="0" r="r" b="b"/>
              <a:pathLst>
                <a:path w="6" h="6">
                  <a:moveTo>
                    <a:pt x="2" y="5"/>
                  </a:moveTo>
                  <a:lnTo>
                    <a:pt x="3" y="6"/>
                  </a:lnTo>
                  <a:lnTo>
                    <a:pt x="4" y="6"/>
                  </a:lnTo>
                  <a:lnTo>
                    <a:pt x="5" y="5"/>
                  </a:lnTo>
                  <a:lnTo>
                    <a:pt x="5" y="5"/>
                  </a:lnTo>
                  <a:lnTo>
                    <a:pt x="6" y="4"/>
                  </a:lnTo>
                  <a:lnTo>
                    <a:pt x="6" y="3"/>
                  </a:lnTo>
                  <a:lnTo>
                    <a:pt x="5" y="1"/>
                  </a:lnTo>
                  <a:lnTo>
                    <a:pt x="5" y="0"/>
                  </a:lnTo>
                  <a:lnTo>
                    <a:pt x="5" y="0"/>
                  </a:lnTo>
                  <a:lnTo>
                    <a:pt x="4" y="0"/>
                  </a:lnTo>
                  <a:lnTo>
                    <a:pt x="3" y="0"/>
                  </a:lnTo>
                  <a:lnTo>
                    <a:pt x="2" y="0"/>
                  </a:lnTo>
                  <a:lnTo>
                    <a:pt x="0" y="1"/>
                  </a:lnTo>
                  <a:lnTo>
                    <a:pt x="0" y="3"/>
                  </a:lnTo>
                  <a:lnTo>
                    <a:pt x="0" y="4"/>
                  </a:lnTo>
                  <a:lnTo>
                    <a:pt x="0" y="5"/>
                  </a:lnTo>
                  <a:lnTo>
                    <a:pt x="2" y="5"/>
                  </a:lnTo>
                  <a:close/>
                </a:path>
              </a:pathLst>
            </a:custGeom>
            <a:solidFill>
              <a:srgbClr val="000000"/>
            </a:solidFill>
            <a:ln w="9525">
              <a:noFill/>
              <a:round/>
              <a:headEnd/>
              <a:tailEnd/>
            </a:ln>
          </p:spPr>
          <p:txBody>
            <a:bodyPr/>
            <a:lstStyle/>
            <a:p>
              <a:endParaRPr lang="en-US"/>
            </a:p>
          </p:txBody>
        </p:sp>
        <p:sp>
          <p:nvSpPr>
            <p:cNvPr id="327123" name="Freeform 467"/>
            <p:cNvSpPr>
              <a:spLocks/>
            </p:cNvSpPr>
            <p:nvPr/>
          </p:nvSpPr>
          <p:spPr bwMode="auto">
            <a:xfrm>
              <a:off x="2196" y="2847"/>
              <a:ext cx="6" cy="5"/>
            </a:xfrm>
            <a:custGeom>
              <a:avLst/>
              <a:gdLst/>
              <a:ahLst/>
              <a:cxnLst>
                <a:cxn ang="0">
                  <a:pos x="1" y="5"/>
                </a:cxn>
                <a:cxn ang="0">
                  <a:pos x="3" y="5"/>
                </a:cxn>
                <a:cxn ang="0">
                  <a:pos x="4" y="5"/>
                </a:cxn>
                <a:cxn ang="0">
                  <a:pos x="5" y="5"/>
                </a:cxn>
                <a:cxn ang="0">
                  <a:pos x="6" y="4"/>
                </a:cxn>
                <a:cxn ang="0">
                  <a:pos x="6" y="3"/>
                </a:cxn>
                <a:cxn ang="0">
                  <a:pos x="6" y="2"/>
                </a:cxn>
                <a:cxn ang="0">
                  <a:pos x="6" y="1"/>
                </a:cxn>
                <a:cxn ang="0">
                  <a:pos x="5" y="1"/>
                </a:cxn>
                <a:cxn ang="0">
                  <a:pos x="5" y="1"/>
                </a:cxn>
                <a:cxn ang="0">
                  <a:pos x="4" y="0"/>
                </a:cxn>
                <a:cxn ang="0">
                  <a:pos x="3" y="0"/>
                </a:cxn>
                <a:cxn ang="0">
                  <a:pos x="1" y="1"/>
                </a:cxn>
                <a:cxn ang="0">
                  <a:pos x="1" y="1"/>
                </a:cxn>
                <a:cxn ang="0">
                  <a:pos x="0" y="2"/>
                </a:cxn>
                <a:cxn ang="0">
                  <a:pos x="0" y="3"/>
                </a:cxn>
                <a:cxn ang="0">
                  <a:pos x="1" y="4"/>
                </a:cxn>
                <a:cxn ang="0">
                  <a:pos x="1" y="5"/>
                </a:cxn>
              </a:cxnLst>
              <a:rect l="0" t="0" r="r" b="b"/>
              <a:pathLst>
                <a:path w="6" h="5">
                  <a:moveTo>
                    <a:pt x="1" y="5"/>
                  </a:moveTo>
                  <a:lnTo>
                    <a:pt x="3" y="5"/>
                  </a:lnTo>
                  <a:lnTo>
                    <a:pt x="4" y="5"/>
                  </a:lnTo>
                  <a:lnTo>
                    <a:pt x="5" y="5"/>
                  </a:lnTo>
                  <a:lnTo>
                    <a:pt x="6" y="4"/>
                  </a:lnTo>
                  <a:lnTo>
                    <a:pt x="6" y="3"/>
                  </a:lnTo>
                  <a:lnTo>
                    <a:pt x="6" y="2"/>
                  </a:lnTo>
                  <a:lnTo>
                    <a:pt x="6" y="1"/>
                  </a:lnTo>
                  <a:lnTo>
                    <a:pt x="5" y="1"/>
                  </a:lnTo>
                  <a:lnTo>
                    <a:pt x="5" y="1"/>
                  </a:lnTo>
                  <a:lnTo>
                    <a:pt x="4" y="0"/>
                  </a:lnTo>
                  <a:lnTo>
                    <a:pt x="3" y="0"/>
                  </a:lnTo>
                  <a:lnTo>
                    <a:pt x="1" y="1"/>
                  </a:lnTo>
                  <a:lnTo>
                    <a:pt x="1" y="1"/>
                  </a:lnTo>
                  <a:lnTo>
                    <a:pt x="0" y="2"/>
                  </a:lnTo>
                  <a:lnTo>
                    <a:pt x="0" y="3"/>
                  </a:lnTo>
                  <a:lnTo>
                    <a:pt x="1" y="4"/>
                  </a:lnTo>
                  <a:lnTo>
                    <a:pt x="1" y="5"/>
                  </a:lnTo>
                  <a:close/>
                </a:path>
              </a:pathLst>
            </a:custGeom>
            <a:solidFill>
              <a:srgbClr val="000000"/>
            </a:solidFill>
            <a:ln w="9525">
              <a:noFill/>
              <a:round/>
              <a:headEnd/>
              <a:tailEnd/>
            </a:ln>
          </p:spPr>
          <p:txBody>
            <a:bodyPr/>
            <a:lstStyle/>
            <a:p>
              <a:endParaRPr lang="en-US"/>
            </a:p>
          </p:txBody>
        </p:sp>
        <p:sp>
          <p:nvSpPr>
            <p:cNvPr id="327124" name="Freeform 468"/>
            <p:cNvSpPr>
              <a:spLocks/>
            </p:cNvSpPr>
            <p:nvPr/>
          </p:nvSpPr>
          <p:spPr bwMode="auto">
            <a:xfrm>
              <a:off x="2187" y="2842"/>
              <a:ext cx="6" cy="5"/>
            </a:xfrm>
            <a:custGeom>
              <a:avLst/>
              <a:gdLst/>
              <a:ahLst/>
              <a:cxnLst>
                <a:cxn ang="0">
                  <a:pos x="1" y="4"/>
                </a:cxn>
                <a:cxn ang="0">
                  <a:pos x="3" y="5"/>
                </a:cxn>
                <a:cxn ang="0">
                  <a:pos x="4" y="5"/>
                </a:cxn>
                <a:cxn ang="0">
                  <a:pos x="5" y="4"/>
                </a:cxn>
                <a:cxn ang="0">
                  <a:pos x="5" y="4"/>
                </a:cxn>
                <a:cxn ang="0">
                  <a:pos x="6" y="3"/>
                </a:cxn>
                <a:cxn ang="0">
                  <a:pos x="6" y="2"/>
                </a:cxn>
                <a:cxn ang="0">
                  <a:pos x="5" y="1"/>
                </a:cxn>
                <a:cxn ang="0">
                  <a:pos x="5" y="0"/>
                </a:cxn>
                <a:cxn ang="0">
                  <a:pos x="5" y="0"/>
                </a:cxn>
                <a:cxn ang="0">
                  <a:pos x="4" y="0"/>
                </a:cxn>
                <a:cxn ang="0">
                  <a:pos x="3" y="0"/>
                </a:cxn>
                <a:cxn ang="0">
                  <a:pos x="1" y="0"/>
                </a:cxn>
                <a:cxn ang="0">
                  <a:pos x="0" y="1"/>
                </a:cxn>
                <a:cxn ang="0">
                  <a:pos x="0" y="2"/>
                </a:cxn>
                <a:cxn ang="0">
                  <a:pos x="0" y="3"/>
                </a:cxn>
                <a:cxn ang="0">
                  <a:pos x="0" y="4"/>
                </a:cxn>
                <a:cxn ang="0">
                  <a:pos x="1" y="4"/>
                </a:cxn>
              </a:cxnLst>
              <a:rect l="0" t="0" r="r" b="b"/>
              <a:pathLst>
                <a:path w="6" h="5">
                  <a:moveTo>
                    <a:pt x="1" y="4"/>
                  </a:moveTo>
                  <a:lnTo>
                    <a:pt x="3" y="5"/>
                  </a:lnTo>
                  <a:lnTo>
                    <a:pt x="4" y="5"/>
                  </a:lnTo>
                  <a:lnTo>
                    <a:pt x="5" y="4"/>
                  </a:lnTo>
                  <a:lnTo>
                    <a:pt x="5" y="4"/>
                  </a:lnTo>
                  <a:lnTo>
                    <a:pt x="6" y="3"/>
                  </a:lnTo>
                  <a:lnTo>
                    <a:pt x="6" y="2"/>
                  </a:lnTo>
                  <a:lnTo>
                    <a:pt x="5" y="1"/>
                  </a:lnTo>
                  <a:lnTo>
                    <a:pt x="5" y="0"/>
                  </a:lnTo>
                  <a:lnTo>
                    <a:pt x="5" y="0"/>
                  </a:lnTo>
                  <a:lnTo>
                    <a:pt x="4" y="0"/>
                  </a:lnTo>
                  <a:lnTo>
                    <a:pt x="3" y="0"/>
                  </a:lnTo>
                  <a:lnTo>
                    <a:pt x="1" y="0"/>
                  </a:lnTo>
                  <a:lnTo>
                    <a:pt x="0" y="1"/>
                  </a:lnTo>
                  <a:lnTo>
                    <a:pt x="0" y="2"/>
                  </a:lnTo>
                  <a:lnTo>
                    <a:pt x="0" y="3"/>
                  </a:lnTo>
                  <a:lnTo>
                    <a:pt x="0" y="4"/>
                  </a:lnTo>
                  <a:lnTo>
                    <a:pt x="1" y="4"/>
                  </a:lnTo>
                  <a:close/>
                </a:path>
              </a:pathLst>
            </a:custGeom>
            <a:solidFill>
              <a:srgbClr val="000000"/>
            </a:solidFill>
            <a:ln w="9525">
              <a:noFill/>
              <a:round/>
              <a:headEnd/>
              <a:tailEnd/>
            </a:ln>
          </p:spPr>
          <p:txBody>
            <a:bodyPr/>
            <a:lstStyle/>
            <a:p>
              <a:endParaRPr lang="en-US"/>
            </a:p>
          </p:txBody>
        </p:sp>
        <p:sp>
          <p:nvSpPr>
            <p:cNvPr id="327125" name="Freeform 469"/>
            <p:cNvSpPr>
              <a:spLocks/>
            </p:cNvSpPr>
            <p:nvPr/>
          </p:nvSpPr>
          <p:spPr bwMode="auto">
            <a:xfrm>
              <a:off x="2177" y="2836"/>
              <a:ext cx="6" cy="5"/>
            </a:xfrm>
            <a:custGeom>
              <a:avLst/>
              <a:gdLst/>
              <a:ahLst/>
              <a:cxnLst>
                <a:cxn ang="0">
                  <a:pos x="1" y="5"/>
                </a:cxn>
                <a:cxn ang="0">
                  <a:pos x="2" y="5"/>
                </a:cxn>
                <a:cxn ang="0">
                  <a:pos x="3" y="5"/>
                </a:cxn>
                <a:cxn ang="0">
                  <a:pos x="5" y="5"/>
                </a:cxn>
                <a:cxn ang="0">
                  <a:pos x="6" y="4"/>
                </a:cxn>
                <a:cxn ang="0">
                  <a:pos x="6" y="3"/>
                </a:cxn>
                <a:cxn ang="0">
                  <a:pos x="6" y="2"/>
                </a:cxn>
                <a:cxn ang="0">
                  <a:pos x="6" y="1"/>
                </a:cxn>
                <a:cxn ang="0">
                  <a:pos x="5" y="1"/>
                </a:cxn>
                <a:cxn ang="0">
                  <a:pos x="5" y="1"/>
                </a:cxn>
                <a:cxn ang="0">
                  <a:pos x="3" y="0"/>
                </a:cxn>
                <a:cxn ang="0">
                  <a:pos x="2" y="0"/>
                </a:cxn>
                <a:cxn ang="0">
                  <a:pos x="1" y="1"/>
                </a:cxn>
                <a:cxn ang="0">
                  <a:pos x="1" y="1"/>
                </a:cxn>
                <a:cxn ang="0">
                  <a:pos x="0" y="2"/>
                </a:cxn>
                <a:cxn ang="0">
                  <a:pos x="0" y="3"/>
                </a:cxn>
                <a:cxn ang="0">
                  <a:pos x="1" y="4"/>
                </a:cxn>
                <a:cxn ang="0">
                  <a:pos x="1" y="5"/>
                </a:cxn>
              </a:cxnLst>
              <a:rect l="0" t="0" r="r" b="b"/>
              <a:pathLst>
                <a:path w="6" h="5">
                  <a:moveTo>
                    <a:pt x="1" y="5"/>
                  </a:moveTo>
                  <a:lnTo>
                    <a:pt x="2" y="5"/>
                  </a:lnTo>
                  <a:lnTo>
                    <a:pt x="3" y="5"/>
                  </a:lnTo>
                  <a:lnTo>
                    <a:pt x="5" y="5"/>
                  </a:lnTo>
                  <a:lnTo>
                    <a:pt x="6" y="4"/>
                  </a:lnTo>
                  <a:lnTo>
                    <a:pt x="6" y="3"/>
                  </a:lnTo>
                  <a:lnTo>
                    <a:pt x="6" y="2"/>
                  </a:lnTo>
                  <a:lnTo>
                    <a:pt x="6" y="1"/>
                  </a:lnTo>
                  <a:lnTo>
                    <a:pt x="5" y="1"/>
                  </a:lnTo>
                  <a:lnTo>
                    <a:pt x="5" y="1"/>
                  </a:lnTo>
                  <a:lnTo>
                    <a:pt x="3" y="0"/>
                  </a:lnTo>
                  <a:lnTo>
                    <a:pt x="2" y="0"/>
                  </a:lnTo>
                  <a:lnTo>
                    <a:pt x="1" y="1"/>
                  </a:lnTo>
                  <a:lnTo>
                    <a:pt x="1" y="1"/>
                  </a:lnTo>
                  <a:lnTo>
                    <a:pt x="0" y="2"/>
                  </a:lnTo>
                  <a:lnTo>
                    <a:pt x="0" y="3"/>
                  </a:lnTo>
                  <a:lnTo>
                    <a:pt x="1" y="4"/>
                  </a:lnTo>
                  <a:lnTo>
                    <a:pt x="1" y="5"/>
                  </a:lnTo>
                  <a:close/>
                </a:path>
              </a:pathLst>
            </a:custGeom>
            <a:solidFill>
              <a:srgbClr val="000000"/>
            </a:solidFill>
            <a:ln w="9525">
              <a:noFill/>
              <a:round/>
              <a:headEnd/>
              <a:tailEnd/>
            </a:ln>
          </p:spPr>
          <p:txBody>
            <a:bodyPr/>
            <a:lstStyle/>
            <a:p>
              <a:endParaRPr lang="en-US"/>
            </a:p>
          </p:txBody>
        </p:sp>
        <p:sp>
          <p:nvSpPr>
            <p:cNvPr id="327126" name="Freeform 470"/>
            <p:cNvSpPr>
              <a:spLocks/>
            </p:cNvSpPr>
            <p:nvPr/>
          </p:nvSpPr>
          <p:spPr bwMode="auto">
            <a:xfrm>
              <a:off x="2168" y="2830"/>
              <a:ext cx="6" cy="6"/>
            </a:xfrm>
            <a:custGeom>
              <a:avLst/>
              <a:gdLst/>
              <a:ahLst/>
              <a:cxnLst>
                <a:cxn ang="0">
                  <a:pos x="1" y="6"/>
                </a:cxn>
                <a:cxn ang="0">
                  <a:pos x="2" y="6"/>
                </a:cxn>
                <a:cxn ang="0">
                  <a:pos x="3" y="6"/>
                </a:cxn>
                <a:cxn ang="0">
                  <a:pos x="5" y="6"/>
                </a:cxn>
                <a:cxn ang="0">
                  <a:pos x="6" y="4"/>
                </a:cxn>
                <a:cxn ang="0">
                  <a:pos x="6" y="3"/>
                </a:cxn>
                <a:cxn ang="0">
                  <a:pos x="6" y="2"/>
                </a:cxn>
                <a:cxn ang="0">
                  <a:pos x="6" y="1"/>
                </a:cxn>
                <a:cxn ang="0">
                  <a:pos x="5" y="1"/>
                </a:cxn>
                <a:cxn ang="0">
                  <a:pos x="5" y="1"/>
                </a:cxn>
                <a:cxn ang="0">
                  <a:pos x="3" y="0"/>
                </a:cxn>
                <a:cxn ang="0">
                  <a:pos x="2" y="0"/>
                </a:cxn>
                <a:cxn ang="0">
                  <a:pos x="1" y="1"/>
                </a:cxn>
                <a:cxn ang="0">
                  <a:pos x="1" y="1"/>
                </a:cxn>
                <a:cxn ang="0">
                  <a:pos x="0" y="2"/>
                </a:cxn>
                <a:cxn ang="0">
                  <a:pos x="0" y="3"/>
                </a:cxn>
                <a:cxn ang="0">
                  <a:pos x="1" y="4"/>
                </a:cxn>
                <a:cxn ang="0">
                  <a:pos x="1" y="6"/>
                </a:cxn>
              </a:cxnLst>
              <a:rect l="0" t="0" r="r" b="b"/>
              <a:pathLst>
                <a:path w="6" h="6">
                  <a:moveTo>
                    <a:pt x="1" y="6"/>
                  </a:moveTo>
                  <a:lnTo>
                    <a:pt x="2" y="6"/>
                  </a:lnTo>
                  <a:lnTo>
                    <a:pt x="3" y="6"/>
                  </a:lnTo>
                  <a:lnTo>
                    <a:pt x="5" y="6"/>
                  </a:lnTo>
                  <a:lnTo>
                    <a:pt x="6" y="4"/>
                  </a:lnTo>
                  <a:lnTo>
                    <a:pt x="6" y="3"/>
                  </a:lnTo>
                  <a:lnTo>
                    <a:pt x="6" y="2"/>
                  </a:lnTo>
                  <a:lnTo>
                    <a:pt x="6" y="1"/>
                  </a:lnTo>
                  <a:lnTo>
                    <a:pt x="5" y="1"/>
                  </a:lnTo>
                  <a:lnTo>
                    <a:pt x="5" y="1"/>
                  </a:lnTo>
                  <a:lnTo>
                    <a:pt x="3" y="0"/>
                  </a:lnTo>
                  <a:lnTo>
                    <a:pt x="2" y="0"/>
                  </a:lnTo>
                  <a:lnTo>
                    <a:pt x="1" y="1"/>
                  </a:lnTo>
                  <a:lnTo>
                    <a:pt x="1" y="1"/>
                  </a:lnTo>
                  <a:lnTo>
                    <a:pt x="0" y="2"/>
                  </a:lnTo>
                  <a:lnTo>
                    <a:pt x="0" y="3"/>
                  </a:lnTo>
                  <a:lnTo>
                    <a:pt x="1" y="4"/>
                  </a:lnTo>
                  <a:lnTo>
                    <a:pt x="1" y="6"/>
                  </a:lnTo>
                  <a:close/>
                </a:path>
              </a:pathLst>
            </a:custGeom>
            <a:solidFill>
              <a:srgbClr val="000000"/>
            </a:solidFill>
            <a:ln w="9525">
              <a:noFill/>
              <a:round/>
              <a:headEnd/>
              <a:tailEnd/>
            </a:ln>
          </p:spPr>
          <p:txBody>
            <a:bodyPr/>
            <a:lstStyle/>
            <a:p>
              <a:endParaRPr lang="en-US"/>
            </a:p>
          </p:txBody>
        </p:sp>
        <p:sp>
          <p:nvSpPr>
            <p:cNvPr id="327127" name="Freeform 471"/>
            <p:cNvSpPr>
              <a:spLocks/>
            </p:cNvSpPr>
            <p:nvPr/>
          </p:nvSpPr>
          <p:spPr bwMode="auto">
            <a:xfrm>
              <a:off x="2159" y="2825"/>
              <a:ext cx="6" cy="5"/>
            </a:xfrm>
            <a:custGeom>
              <a:avLst/>
              <a:gdLst/>
              <a:ahLst/>
              <a:cxnLst>
                <a:cxn ang="0">
                  <a:pos x="1" y="4"/>
                </a:cxn>
                <a:cxn ang="0">
                  <a:pos x="2" y="5"/>
                </a:cxn>
                <a:cxn ang="0">
                  <a:pos x="3" y="5"/>
                </a:cxn>
                <a:cxn ang="0">
                  <a:pos x="5" y="4"/>
                </a:cxn>
                <a:cxn ang="0">
                  <a:pos x="5" y="4"/>
                </a:cxn>
                <a:cxn ang="0">
                  <a:pos x="6" y="3"/>
                </a:cxn>
                <a:cxn ang="0">
                  <a:pos x="6" y="2"/>
                </a:cxn>
                <a:cxn ang="0">
                  <a:pos x="5" y="1"/>
                </a:cxn>
                <a:cxn ang="0">
                  <a:pos x="5" y="0"/>
                </a:cxn>
                <a:cxn ang="0">
                  <a:pos x="5" y="0"/>
                </a:cxn>
                <a:cxn ang="0">
                  <a:pos x="3" y="0"/>
                </a:cxn>
                <a:cxn ang="0">
                  <a:pos x="2" y="0"/>
                </a:cxn>
                <a:cxn ang="0">
                  <a:pos x="1" y="0"/>
                </a:cxn>
                <a:cxn ang="0">
                  <a:pos x="0" y="1"/>
                </a:cxn>
                <a:cxn ang="0">
                  <a:pos x="0" y="2"/>
                </a:cxn>
                <a:cxn ang="0">
                  <a:pos x="0" y="3"/>
                </a:cxn>
                <a:cxn ang="0">
                  <a:pos x="0" y="4"/>
                </a:cxn>
                <a:cxn ang="0">
                  <a:pos x="1" y="4"/>
                </a:cxn>
              </a:cxnLst>
              <a:rect l="0" t="0" r="r" b="b"/>
              <a:pathLst>
                <a:path w="6" h="5">
                  <a:moveTo>
                    <a:pt x="1" y="4"/>
                  </a:moveTo>
                  <a:lnTo>
                    <a:pt x="2" y="5"/>
                  </a:lnTo>
                  <a:lnTo>
                    <a:pt x="3" y="5"/>
                  </a:lnTo>
                  <a:lnTo>
                    <a:pt x="5" y="4"/>
                  </a:lnTo>
                  <a:lnTo>
                    <a:pt x="5" y="4"/>
                  </a:lnTo>
                  <a:lnTo>
                    <a:pt x="6" y="3"/>
                  </a:lnTo>
                  <a:lnTo>
                    <a:pt x="6" y="2"/>
                  </a:lnTo>
                  <a:lnTo>
                    <a:pt x="5" y="1"/>
                  </a:lnTo>
                  <a:lnTo>
                    <a:pt x="5" y="0"/>
                  </a:lnTo>
                  <a:lnTo>
                    <a:pt x="5" y="0"/>
                  </a:lnTo>
                  <a:lnTo>
                    <a:pt x="3" y="0"/>
                  </a:lnTo>
                  <a:lnTo>
                    <a:pt x="2" y="0"/>
                  </a:lnTo>
                  <a:lnTo>
                    <a:pt x="1" y="0"/>
                  </a:lnTo>
                  <a:lnTo>
                    <a:pt x="0" y="1"/>
                  </a:lnTo>
                  <a:lnTo>
                    <a:pt x="0" y="2"/>
                  </a:lnTo>
                  <a:lnTo>
                    <a:pt x="0" y="3"/>
                  </a:lnTo>
                  <a:lnTo>
                    <a:pt x="0" y="4"/>
                  </a:lnTo>
                  <a:lnTo>
                    <a:pt x="1" y="4"/>
                  </a:lnTo>
                  <a:close/>
                </a:path>
              </a:pathLst>
            </a:custGeom>
            <a:solidFill>
              <a:srgbClr val="000000"/>
            </a:solidFill>
            <a:ln w="9525">
              <a:noFill/>
              <a:round/>
              <a:headEnd/>
              <a:tailEnd/>
            </a:ln>
          </p:spPr>
          <p:txBody>
            <a:bodyPr/>
            <a:lstStyle/>
            <a:p>
              <a:endParaRPr lang="en-US"/>
            </a:p>
          </p:txBody>
        </p:sp>
        <p:sp>
          <p:nvSpPr>
            <p:cNvPr id="327128" name="Freeform 472"/>
            <p:cNvSpPr>
              <a:spLocks/>
            </p:cNvSpPr>
            <p:nvPr/>
          </p:nvSpPr>
          <p:spPr bwMode="auto">
            <a:xfrm>
              <a:off x="2149" y="2819"/>
              <a:ext cx="6" cy="5"/>
            </a:xfrm>
            <a:custGeom>
              <a:avLst/>
              <a:gdLst/>
              <a:ahLst/>
              <a:cxnLst>
                <a:cxn ang="0">
                  <a:pos x="1" y="5"/>
                </a:cxn>
                <a:cxn ang="0">
                  <a:pos x="2" y="5"/>
                </a:cxn>
                <a:cxn ang="0">
                  <a:pos x="3" y="5"/>
                </a:cxn>
                <a:cxn ang="0">
                  <a:pos x="4" y="5"/>
                </a:cxn>
                <a:cxn ang="0">
                  <a:pos x="6" y="4"/>
                </a:cxn>
                <a:cxn ang="0">
                  <a:pos x="6" y="3"/>
                </a:cxn>
                <a:cxn ang="0">
                  <a:pos x="6" y="2"/>
                </a:cxn>
                <a:cxn ang="0">
                  <a:pos x="6" y="1"/>
                </a:cxn>
                <a:cxn ang="0">
                  <a:pos x="4" y="1"/>
                </a:cxn>
                <a:cxn ang="0">
                  <a:pos x="4" y="1"/>
                </a:cxn>
                <a:cxn ang="0">
                  <a:pos x="3" y="0"/>
                </a:cxn>
                <a:cxn ang="0">
                  <a:pos x="2" y="0"/>
                </a:cxn>
                <a:cxn ang="0">
                  <a:pos x="1" y="1"/>
                </a:cxn>
                <a:cxn ang="0">
                  <a:pos x="1" y="1"/>
                </a:cxn>
                <a:cxn ang="0">
                  <a:pos x="0" y="2"/>
                </a:cxn>
                <a:cxn ang="0">
                  <a:pos x="0" y="3"/>
                </a:cxn>
                <a:cxn ang="0">
                  <a:pos x="1" y="4"/>
                </a:cxn>
                <a:cxn ang="0">
                  <a:pos x="1" y="5"/>
                </a:cxn>
              </a:cxnLst>
              <a:rect l="0" t="0" r="r" b="b"/>
              <a:pathLst>
                <a:path w="6" h="5">
                  <a:moveTo>
                    <a:pt x="1" y="5"/>
                  </a:moveTo>
                  <a:lnTo>
                    <a:pt x="2" y="5"/>
                  </a:lnTo>
                  <a:lnTo>
                    <a:pt x="3" y="5"/>
                  </a:lnTo>
                  <a:lnTo>
                    <a:pt x="4" y="5"/>
                  </a:lnTo>
                  <a:lnTo>
                    <a:pt x="6" y="4"/>
                  </a:lnTo>
                  <a:lnTo>
                    <a:pt x="6" y="3"/>
                  </a:lnTo>
                  <a:lnTo>
                    <a:pt x="6" y="2"/>
                  </a:lnTo>
                  <a:lnTo>
                    <a:pt x="6" y="1"/>
                  </a:lnTo>
                  <a:lnTo>
                    <a:pt x="4" y="1"/>
                  </a:lnTo>
                  <a:lnTo>
                    <a:pt x="4" y="1"/>
                  </a:lnTo>
                  <a:lnTo>
                    <a:pt x="3" y="0"/>
                  </a:lnTo>
                  <a:lnTo>
                    <a:pt x="2" y="0"/>
                  </a:lnTo>
                  <a:lnTo>
                    <a:pt x="1" y="1"/>
                  </a:lnTo>
                  <a:lnTo>
                    <a:pt x="1" y="1"/>
                  </a:lnTo>
                  <a:lnTo>
                    <a:pt x="0" y="2"/>
                  </a:lnTo>
                  <a:lnTo>
                    <a:pt x="0" y="3"/>
                  </a:lnTo>
                  <a:lnTo>
                    <a:pt x="1" y="4"/>
                  </a:lnTo>
                  <a:lnTo>
                    <a:pt x="1" y="5"/>
                  </a:lnTo>
                  <a:close/>
                </a:path>
              </a:pathLst>
            </a:custGeom>
            <a:solidFill>
              <a:srgbClr val="000000"/>
            </a:solidFill>
            <a:ln w="9525">
              <a:noFill/>
              <a:round/>
              <a:headEnd/>
              <a:tailEnd/>
            </a:ln>
          </p:spPr>
          <p:txBody>
            <a:bodyPr/>
            <a:lstStyle/>
            <a:p>
              <a:endParaRPr lang="en-US"/>
            </a:p>
          </p:txBody>
        </p:sp>
        <p:sp>
          <p:nvSpPr>
            <p:cNvPr id="327129" name="Freeform 473"/>
            <p:cNvSpPr>
              <a:spLocks/>
            </p:cNvSpPr>
            <p:nvPr/>
          </p:nvSpPr>
          <p:spPr bwMode="auto">
            <a:xfrm>
              <a:off x="2140" y="2813"/>
              <a:ext cx="5" cy="6"/>
            </a:xfrm>
            <a:custGeom>
              <a:avLst/>
              <a:gdLst/>
              <a:ahLst/>
              <a:cxnLst>
                <a:cxn ang="0">
                  <a:pos x="1" y="5"/>
                </a:cxn>
                <a:cxn ang="0">
                  <a:pos x="2" y="6"/>
                </a:cxn>
                <a:cxn ang="0">
                  <a:pos x="3" y="6"/>
                </a:cxn>
                <a:cxn ang="0">
                  <a:pos x="4" y="5"/>
                </a:cxn>
                <a:cxn ang="0">
                  <a:pos x="4" y="5"/>
                </a:cxn>
                <a:cxn ang="0">
                  <a:pos x="5" y="4"/>
                </a:cxn>
                <a:cxn ang="0">
                  <a:pos x="5" y="3"/>
                </a:cxn>
                <a:cxn ang="0">
                  <a:pos x="4" y="1"/>
                </a:cxn>
                <a:cxn ang="0">
                  <a:pos x="4" y="0"/>
                </a:cxn>
                <a:cxn ang="0">
                  <a:pos x="4" y="0"/>
                </a:cxn>
                <a:cxn ang="0">
                  <a:pos x="3" y="0"/>
                </a:cxn>
                <a:cxn ang="0">
                  <a:pos x="2" y="0"/>
                </a:cxn>
                <a:cxn ang="0">
                  <a:pos x="1" y="0"/>
                </a:cxn>
                <a:cxn ang="0">
                  <a:pos x="0" y="1"/>
                </a:cxn>
                <a:cxn ang="0">
                  <a:pos x="0" y="3"/>
                </a:cxn>
                <a:cxn ang="0">
                  <a:pos x="0" y="4"/>
                </a:cxn>
                <a:cxn ang="0">
                  <a:pos x="0" y="5"/>
                </a:cxn>
                <a:cxn ang="0">
                  <a:pos x="1" y="5"/>
                </a:cxn>
              </a:cxnLst>
              <a:rect l="0" t="0" r="r" b="b"/>
              <a:pathLst>
                <a:path w="5" h="6">
                  <a:moveTo>
                    <a:pt x="1" y="5"/>
                  </a:moveTo>
                  <a:lnTo>
                    <a:pt x="2" y="6"/>
                  </a:lnTo>
                  <a:lnTo>
                    <a:pt x="3" y="6"/>
                  </a:lnTo>
                  <a:lnTo>
                    <a:pt x="4" y="5"/>
                  </a:lnTo>
                  <a:lnTo>
                    <a:pt x="4" y="5"/>
                  </a:lnTo>
                  <a:lnTo>
                    <a:pt x="5" y="4"/>
                  </a:lnTo>
                  <a:lnTo>
                    <a:pt x="5" y="3"/>
                  </a:lnTo>
                  <a:lnTo>
                    <a:pt x="4" y="1"/>
                  </a:lnTo>
                  <a:lnTo>
                    <a:pt x="4" y="0"/>
                  </a:lnTo>
                  <a:lnTo>
                    <a:pt x="4" y="0"/>
                  </a:lnTo>
                  <a:lnTo>
                    <a:pt x="3" y="0"/>
                  </a:lnTo>
                  <a:lnTo>
                    <a:pt x="2" y="0"/>
                  </a:lnTo>
                  <a:lnTo>
                    <a:pt x="1" y="0"/>
                  </a:lnTo>
                  <a:lnTo>
                    <a:pt x="0" y="1"/>
                  </a:lnTo>
                  <a:lnTo>
                    <a:pt x="0" y="3"/>
                  </a:lnTo>
                  <a:lnTo>
                    <a:pt x="0" y="4"/>
                  </a:lnTo>
                  <a:lnTo>
                    <a:pt x="0" y="5"/>
                  </a:lnTo>
                  <a:lnTo>
                    <a:pt x="1" y="5"/>
                  </a:lnTo>
                  <a:close/>
                </a:path>
              </a:pathLst>
            </a:custGeom>
            <a:solidFill>
              <a:srgbClr val="000000"/>
            </a:solidFill>
            <a:ln w="9525">
              <a:noFill/>
              <a:round/>
              <a:headEnd/>
              <a:tailEnd/>
            </a:ln>
          </p:spPr>
          <p:txBody>
            <a:bodyPr/>
            <a:lstStyle/>
            <a:p>
              <a:endParaRPr lang="en-US"/>
            </a:p>
          </p:txBody>
        </p:sp>
        <p:sp>
          <p:nvSpPr>
            <p:cNvPr id="327130" name="Freeform 474"/>
            <p:cNvSpPr>
              <a:spLocks/>
            </p:cNvSpPr>
            <p:nvPr/>
          </p:nvSpPr>
          <p:spPr bwMode="auto">
            <a:xfrm>
              <a:off x="2130" y="2807"/>
              <a:ext cx="5" cy="5"/>
            </a:xfrm>
            <a:custGeom>
              <a:avLst/>
              <a:gdLst/>
              <a:ahLst/>
              <a:cxnLst>
                <a:cxn ang="0">
                  <a:pos x="1" y="5"/>
                </a:cxn>
                <a:cxn ang="0">
                  <a:pos x="2" y="5"/>
                </a:cxn>
                <a:cxn ang="0">
                  <a:pos x="3" y="5"/>
                </a:cxn>
                <a:cxn ang="0">
                  <a:pos x="4" y="5"/>
                </a:cxn>
                <a:cxn ang="0">
                  <a:pos x="5" y="4"/>
                </a:cxn>
                <a:cxn ang="0">
                  <a:pos x="5" y="3"/>
                </a:cxn>
                <a:cxn ang="0">
                  <a:pos x="5" y="2"/>
                </a:cxn>
                <a:cxn ang="0">
                  <a:pos x="5" y="1"/>
                </a:cxn>
                <a:cxn ang="0">
                  <a:pos x="4" y="1"/>
                </a:cxn>
                <a:cxn ang="0">
                  <a:pos x="4" y="1"/>
                </a:cxn>
                <a:cxn ang="0">
                  <a:pos x="3" y="0"/>
                </a:cxn>
                <a:cxn ang="0">
                  <a:pos x="2" y="0"/>
                </a:cxn>
                <a:cxn ang="0">
                  <a:pos x="1" y="1"/>
                </a:cxn>
                <a:cxn ang="0">
                  <a:pos x="1" y="1"/>
                </a:cxn>
                <a:cxn ang="0">
                  <a:pos x="0" y="2"/>
                </a:cxn>
                <a:cxn ang="0">
                  <a:pos x="0" y="3"/>
                </a:cxn>
                <a:cxn ang="0">
                  <a:pos x="1" y="4"/>
                </a:cxn>
                <a:cxn ang="0">
                  <a:pos x="1" y="5"/>
                </a:cxn>
              </a:cxnLst>
              <a:rect l="0" t="0" r="r" b="b"/>
              <a:pathLst>
                <a:path w="5" h="5">
                  <a:moveTo>
                    <a:pt x="1" y="5"/>
                  </a:moveTo>
                  <a:lnTo>
                    <a:pt x="2" y="5"/>
                  </a:lnTo>
                  <a:lnTo>
                    <a:pt x="3" y="5"/>
                  </a:lnTo>
                  <a:lnTo>
                    <a:pt x="4" y="5"/>
                  </a:lnTo>
                  <a:lnTo>
                    <a:pt x="5" y="4"/>
                  </a:lnTo>
                  <a:lnTo>
                    <a:pt x="5" y="3"/>
                  </a:lnTo>
                  <a:lnTo>
                    <a:pt x="5" y="2"/>
                  </a:lnTo>
                  <a:lnTo>
                    <a:pt x="5" y="1"/>
                  </a:lnTo>
                  <a:lnTo>
                    <a:pt x="4" y="1"/>
                  </a:lnTo>
                  <a:lnTo>
                    <a:pt x="4" y="1"/>
                  </a:lnTo>
                  <a:lnTo>
                    <a:pt x="3" y="0"/>
                  </a:lnTo>
                  <a:lnTo>
                    <a:pt x="2" y="0"/>
                  </a:lnTo>
                  <a:lnTo>
                    <a:pt x="1" y="1"/>
                  </a:lnTo>
                  <a:lnTo>
                    <a:pt x="1" y="1"/>
                  </a:lnTo>
                  <a:lnTo>
                    <a:pt x="0" y="2"/>
                  </a:lnTo>
                  <a:lnTo>
                    <a:pt x="0" y="3"/>
                  </a:lnTo>
                  <a:lnTo>
                    <a:pt x="1" y="4"/>
                  </a:lnTo>
                  <a:lnTo>
                    <a:pt x="1" y="5"/>
                  </a:lnTo>
                  <a:close/>
                </a:path>
              </a:pathLst>
            </a:custGeom>
            <a:solidFill>
              <a:srgbClr val="000000"/>
            </a:solidFill>
            <a:ln w="9525">
              <a:noFill/>
              <a:round/>
              <a:headEnd/>
              <a:tailEnd/>
            </a:ln>
          </p:spPr>
          <p:txBody>
            <a:bodyPr/>
            <a:lstStyle/>
            <a:p>
              <a:endParaRPr lang="en-US"/>
            </a:p>
          </p:txBody>
        </p:sp>
        <p:sp>
          <p:nvSpPr>
            <p:cNvPr id="327131" name="Freeform 475"/>
            <p:cNvSpPr>
              <a:spLocks/>
            </p:cNvSpPr>
            <p:nvPr/>
          </p:nvSpPr>
          <p:spPr bwMode="auto">
            <a:xfrm>
              <a:off x="2121" y="2802"/>
              <a:ext cx="5" cy="5"/>
            </a:xfrm>
            <a:custGeom>
              <a:avLst/>
              <a:gdLst/>
              <a:ahLst/>
              <a:cxnLst>
                <a:cxn ang="0">
                  <a:pos x="1" y="5"/>
                </a:cxn>
                <a:cxn ang="0">
                  <a:pos x="2" y="5"/>
                </a:cxn>
                <a:cxn ang="0">
                  <a:pos x="3" y="5"/>
                </a:cxn>
                <a:cxn ang="0">
                  <a:pos x="4" y="5"/>
                </a:cxn>
                <a:cxn ang="0">
                  <a:pos x="4" y="4"/>
                </a:cxn>
                <a:cxn ang="0">
                  <a:pos x="5" y="3"/>
                </a:cxn>
                <a:cxn ang="0">
                  <a:pos x="5" y="2"/>
                </a:cxn>
                <a:cxn ang="0">
                  <a:pos x="4" y="1"/>
                </a:cxn>
                <a:cxn ang="0">
                  <a:pos x="4" y="1"/>
                </a:cxn>
                <a:cxn ang="0">
                  <a:pos x="4" y="1"/>
                </a:cxn>
                <a:cxn ang="0">
                  <a:pos x="3" y="0"/>
                </a:cxn>
                <a:cxn ang="0">
                  <a:pos x="2" y="0"/>
                </a:cxn>
                <a:cxn ang="0">
                  <a:pos x="1" y="1"/>
                </a:cxn>
                <a:cxn ang="0">
                  <a:pos x="0" y="1"/>
                </a:cxn>
                <a:cxn ang="0">
                  <a:pos x="0" y="2"/>
                </a:cxn>
                <a:cxn ang="0">
                  <a:pos x="0" y="3"/>
                </a:cxn>
                <a:cxn ang="0">
                  <a:pos x="0" y="4"/>
                </a:cxn>
                <a:cxn ang="0">
                  <a:pos x="1" y="5"/>
                </a:cxn>
              </a:cxnLst>
              <a:rect l="0" t="0" r="r" b="b"/>
              <a:pathLst>
                <a:path w="5" h="5">
                  <a:moveTo>
                    <a:pt x="1" y="5"/>
                  </a:moveTo>
                  <a:lnTo>
                    <a:pt x="2" y="5"/>
                  </a:lnTo>
                  <a:lnTo>
                    <a:pt x="3" y="5"/>
                  </a:lnTo>
                  <a:lnTo>
                    <a:pt x="4" y="5"/>
                  </a:lnTo>
                  <a:lnTo>
                    <a:pt x="4" y="4"/>
                  </a:lnTo>
                  <a:lnTo>
                    <a:pt x="5" y="3"/>
                  </a:lnTo>
                  <a:lnTo>
                    <a:pt x="5" y="2"/>
                  </a:lnTo>
                  <a:lnTo>
                    <a:pt x="4" y="1"/>
                  </a:lnTo>
                  <a:lnTo>
                    <a:pt x="4" y="1"/>
                  </a:lnTo>
                  <a:lnTo>
                    <a:pt x="4" y="1"/>
                  </a:lnTo>
                  <a:lnTo>
                    <a:pt x="3" y="0"/>
                  </a:lnTo>
                  <a:lnTo>
                    <a:pt x="2" y="0"/>
                  </a:lnTo>
                  <a:lnTo>
                    <a:pt x="1" y="1"/>
                  </a:lnTo>
                  <a:lnTo>
                    <a:pt x="0" y="1"/>
                  </a:lnTo>
                  <a:lnTo>
                    <a:pt x="0" y="2"/>
                  </a:lnTo>
                  <a:lnTo>
                    <a:pt x="0" y="3"/>
                  </a:lnTo>
                  <a:lnTo>
                    <a:pt x="0" y="4"/>
                  </a:lnTo>
                  <a:lnTo>
                    <a:pt x="1" y="5"/>
                  </a:lnTo>
                  <a:close/>
                </a:path>
              </a:pathLst>
            </a:custGeom>
            <a:solidFill>
              <a:srgbClr val="000000"/>
            </a:solidFill>
            <a:ln w="9525">
              <a:noFill/>
              <a:round/>
              <a:headEnd/>
              <a:tailEnd/>
            </a:ln>
          </p:spPr>
          <p:txBody>
            <a:bodyPr/>
            <a:lstStyle/>
            <a:p>
              <a:endParaRPr lang="en-US"/>
            </a:p>
          </p:txBody>
        </p:sp>
        <p:sp>
          <p:nvSpPr>
            <p:cNvPr id="327132" name="Freeform 476"/>
            <p:cNvSpPr>
              <a:spLocks/>
            </p:cNvSpPr>
            <p:nvPr/>
          </p:nvSpPr>
          <p:spPr bwMode="auto">
            <a:xfrm>
              <a:off x="2110" y="2797"/>
              <a:ext cx="6" cy="5"/>
            </a:xfrm>
            <a:custGeom>
              <a:avLst/>
              <a:gdLst/>
              <a:ahLst/>
              <a:cxnLst>
                <a:cxn ang="0">
                  <a:pos x="2" y="4"/>
                </a:cxn>
                <a:cxn ang="0">
                  <a:pos x="3" y="5"/>
                </a:cxn>
                <a:cxn ang="0">
                  <a:pos x="4" y="5"/>
                </a:cxn>
                <a:cxn ang="0">
                  <a:pos x="5" y="4"/>
                </a:cxn>
                <a:cxn ang="0">
                  <a:pos x="6" y="4"/>
                </a:cxn>
                <a:cxn ang="0">
                  <a:pos x="6" y="3"/>
                </a:cxn>
                <a:cxn ang="0">
                  <a:pos x="6" y="2"/>
                </a:cxn>
                <a:cxn ang="0">
                  <a:pos x="6" y="1"/>
                </a:cxn>
                <a:cxn ang="0">
                  <a:pos x="5" y="0"/>
                </a:cxn>
                <a:cxn ang="0">
                  <a:pos x="5" y="0"/>
                </a:cxn>
                <a:cxn ang="0">
                  <a:pos x="4" y="0"/>
                </a:cxn>
                <a:cxn ang="0">
                  <a:pos x="3" y="0"/>
                </a:cxn>
                <a:cxn ang="0">
                  <a:pos x="2" y="0"/>
                </a:cxn>
                <a:cxn ang="0">
                  <a:pos x="2" y="1"/>
                </a:cxn>
                <a:cxn ang="0">
                  <a:pos x="0" y="2"/>
                </a:cxn>
                <a:cxn ang="0">
                  <a:pos x="0" y="3"/>
                </a:cxn>
                <a:cxn ang="0">
                  <a:pos x="2" y="4"/>
                </a:cxn>
                <a:cxn ang="0">
                  <a:pos x="2" y="4"/>
                </a:cxn>
              </a:cxnLst>
              <a:rect l="0" t="0" r="r" b="b"/>
              <a:pathLst>
                <a:path w="6" h="5">
                  <a:moveTo>
                    <a:pt x="2" y="4"/>
                  </a:moveTo>
                  <a:lnTo>
                    <a:pt x="3" y="5"/>
                  </a:lnTo>
                  <a:lnTo>
                    <a:pt x="4" y="5"/>
                  </a:lnTo>
                  <a:lnTo>
                    <a:pt x="5" y="4"/>
                  </a:lnTo>
                  <a:lnTo>
                    <a:pt x="6" y="4"/>
                  </a:lnTo>
                  <a:lnTo>
                    <a:pt x="6" y="3"/>
                  </a:lnTo>
                  <a:lnTo>
                    <a:pt x="6" y="2"/>
                  </a:lnTo>
                  <a:lnTo>
                    <a:pt x="6" y="1"/>
                  </a:lnTo>
                  <a:lnTo>
                    <a:pt x="5" y="0"/>
                  </a:lnTo>
                  <a:lnTo>
                    <a:pt x="5" y="0"/>
                  </a:lnTo>
                  <a:lnTo>
                    <a:pt x="4" y="0"/>
                  </a:lnTo>
                  <a:lnTo>
                    <a:pt x="3" y="0"/>
                  </a:lnTo>
                  <a:lnTo>
                    <a:pt x="2" y="0"/>
                  </a:lnTo>
                  <a:lnTo>
                    <a:pt x="2" y="1"/>
                  </a:lnTo>
                  <a:lnTo>
                    <a:pt x="0" y="2"/>
                  </a:lnTo>
                  <a:lnTo>
                    <a:pt x="0" y="3"/>
                  </a:lnTo>
                  <a:lnTo>
                    <a:pt x="2" y="4"/>
                  </a:lnTo>
                  <a:lnTo>
                    <a:pt x="2" y="4"/>
                  </a:lnTo>
                  <a:close/>
                </a:path>
              </a:pathLst>
            </a:custGeom>
            <a:solidFill>
              <a:srgbClr val="000000"/>
            </a:solidFill>
            <a:ln w="9525">
              <a:noFill/>
              <a:round/>
              <a:headEnd/>
              <a:tailEnd/>
            </a:ln>
          </p:spPr>
          <p:txBody>
            <a:bodyPr/>
            <a:lstStyle/>
            <a:p>
              <a:endParaRPr lang="en-US"/>
            </a:p>
          </p:txBody>
        </p:sp>
        <p:sp>
          <p:nvSpPr>
            <p:cNvPr id="327133" name="Freeform 477"/>
            <p:cNvSpPr>
              <a:spLocks/>
            </p:cNvSpPr>
            <p:nvPr/>
          </p:nvSpPr>
          <p:spPr bwMode="auto">
            <a:xfrm>
              <a:off x="2101" y="2790"/>
              <a:ext cx="6" cy="6"/>
            </a:xfrm>
            <a:custGeom>
              <a:avLst/>
              <a:gdLst/>
              <a:ahLst/>
              <a:cxnLst>
                <a:cxn ang="0">
                  <a:pos x="2" y="6"/>
                </a:cxn>
                <a:cxn ang="0">
                  <a:pos x="3" y="6"/>
                </a:cxn>
                <a:cxn ang="0">
                  <a:pos x="4" y="6"/>
                </a:cxn>
                <a:cxn ang="0">
                  <a:pos x="5" y="6"/>
                </a:cxn>
                <a:cxn ang="0">
                  <a:pos x="6" y="4"/>
                </a:cxn>
                <a:cxn ang="0">
                  <a:pos x="6" y="3"/>
                </a:cxn>
                <a:cxn ang="0">
                  <a:pos x="6" y="2"/>
                </a:cxn>
                <a:cxn ang="0">
                  <a:pos x="6" y="1"/>
                </a:cxn>
                <a:cxn ang="0">
                  <a:pos x="5" y="1"/>
                </a:cxn>
                <a:cxn ang="0">
                  <a:pos x="5" y="1"/>
                </a:cxn>
                <a:cxn ang="0">
                  <a:pos x="4" y="0"/>
                </a:cxn>
                <a:cxn ang="0">
                  <a:pos x="3" y="0"/>
                </a:cxn>
                <a:cxn ang="0">
                  <a:pos x="2" y="1"/>
                </a:cxn>
                <a:cxn ang="0">
                  <a:pos x="2" y="1"/>
                </a:cxn>
                <a:cxn ang="0">
                  <a:pos x="0" y="2"/>
                </a:cxn>
                <a:cxn ang="0">
                  <a:pos x="0" y="3"/>
                </a:cxn>
                <a:cxn ang="0">
                  <a:pos x="2" y="4"/>
                </a:cxn>
                <a:cxn ang="0">
                  <a:pos x="2" y="6"/>
                </a:cxn>
              </a:cxnLst>
              <a:rect l="0" t="0" r="r" b="b"/>
              <a:pathLst>
                <a:path w="6" h="6">
                  <a:moveTo>
                    <a:pt x="2" y="6"/>
                  </a:moveTo>
                  <a:lnTo>
                    <a:pt x="3" y="6"/>
                  </a:lnTo>
                  <a:lnTo>
                    <a:pt x="4" y="6"/>
                  </a:lnTo>
                  <a:lnTo>
                    <a:pt x="5" y="6"/>
                  </a:lnTo>
                  <a:lnTo>
                    <a:pt x="6" y="4"/>
                  </a:lnTo>
                  <a:lnTo>
                    <a:pt x="6" y="3"/>
                  </a:lnTo>
                  <a:lnTo>
                    <a:pt x="6" y="2"/>
                  </a:lnTo>
                  <a:lnTo>
                    <a:pt x="6" y="1"/>
                  </a:lnTo>
                  <a:lnTo>
                    <a:pt x="5" y="1"/>
                  </a:lnTo>
                  <a:lnTo>
                    <a:pt x="5" y="1"/>
                  </a:lnTo>
                  <a:lnTo>
                    <a:pt x="4" y="0"/>
                  </a:lnTo>
                  <a:lnTo>
                    <a:pt x="3" y="0"/>
                  </a:lnTo>
                  <a:lnTo>
                    <a:pt x="2" y="1"/>
                  </a:lnTo>
                  <a:lnTo>
                    <a:pt x="2" y="1"/>
                  </a:lnTo>
                  <a:lnTo>
                    <a:pt x="0" y="2"/>
                  </a:lnTo>
                  <a:lnTo>
                    <a:pt x="0" y="3"/>
                  </a:lnTo>
                  <a:lnTo>
                    <a:pt x="2" y="4"/>
                  </a:lnTo>
                  <a:lnTo>
                    <a:pt x="2" y="6"/>
                  </a:lnTo>
                  <a:close/>
                </a:path>
              </a:pathLst>
            </a:custGeom>
            <a:solidFill>
              <a:srgbClr val="000000"/>
            </a:solidFill>
            <a:ln w="9525">
              <a:noFill/>
              <a:round/>
              <a:headEnd/>
              <a:tailEnd/>
            </a:ln>
          </p:spPr>
          <p:txBody>
            <a:bodyPr/>
            <a:lstStyle/>
            <a:p>
              <a:endParaRPr lang="en-US"/>
            </a:p>
          </p:txBody>
        </p:sp>
        <p:sp>
          <p:nvSpPr>
            <p:cNvPr id="327134" name="Freeform 478"/>
            <p:cNvSpPr>
              <a:spLocks/>
            </p:cNvSpPr>
            <p:nvPr/>
          </p:nvSpPr>
          <p:spPr bwMode="auto">
            <a:xfrm>
              <a:off x="2092" y="2785"/>
              <a:ext cx="6" cy="5"/>
            </a:xfrm>
            <a:custGeom>
              <a:avLst/>
              <a:gdLst/>
              <a:ahLst/>
              <a:cxnLst>
                <a:cxn ang="0">
                  <a:pos x="2" y="4"/>
                </a:cxn>
                <a:cxn ang="0">
                  <a:pos x="3" y="5"/>
                </a:cxn>
                <a:cxn ang="0">
                  <a:pos x="4" y="5"/>
                </a:cxn>
                <a:cxn ang="0">
                  <a:pos x="5" y="4"/>
                </a:cxn>
                <a:cxn ang="0">
                  <a:pos x="5" y="4"/>
                </a:cxn>
                <a:cxn ang="0">
                  <a:pos x="6" y="3"/>
                </a:cxn>
                <a:cxn ang="0">
                  <a:pos x="6" y="2"/>
                </a:cxn>
                <a:cxn ang="0">
                  <a:pos x="5" y="1"/>
                </a:cxn>
                <a:cxn ang="0">
                  <a:pos x="5" y="0"/>
                </a:cxn>
                <a:cxn ang="0">
                  <a:pos x="5" y="0"/>
                </a:cxn>
                <a:cxn ang="0">
                  <a:pos x="4" y="0"/>
                </a:cxn>
                <a:cxn ang="0">
                  <a:pos x="3" y="0"/>
                </a:cxn>
                <a:cxn ang="0">
                  <a:pos x="2" y="0"/>
                </a:cxn>
                <a:cxn ang="0">
                  <a:pos x="0" y="1"/>
                </a:cxn>
                <a:cxn ang="0">
                  <a:pos x="0" y="2"/>
                </a:cxn>
                <a:cxn ang="0">
                  <a:pos x="0" y="3"/>
                </a:cxn>
                <a:cxn ang="0">
                  <a:pos x="0" y="4"/>
                </a:cxn>
                <a:cxn ang="0">
                  <a:pos x="2" y="4"/>
                </a:cxn>
              </a:cxnLst>
              <a:rect l="0" t="0" r="r" b="b"/>
              <a:pathLst>
                <a:path w="6" h="5">
                  <a:moveTo>
                    <a:pt x="2" y="4"/>
                  </a:moveTo>
                  <a:lnTo>
                    <a:pt x="3" y="5"/>
                  </a:lnTo>
                  <a:lnTo>
                    <a:pt x="4" y="5"/>
                  </a:lnTo>
                  <a:lnTo>
                    <a:pt x="5" y="4"/>
                  </a:lnTo>
                  <a:lnTo>
                    <a:pt x="5" y="4"/>
                  </a:lnTo>
                  <a:lnTo>
                    <a:pt x="6" y="3"/>
                  </a:lnTo>
                  <a:lnTo>
                    <a:pt x="6" y="2"/>
                  </a:lnTo>
                  <a:lnTo>
                    <a:pt x="5" y="1"/>
                  </a:lnTo>
                  <a:lnTo>
                    <a:pt x="5" y="0"/>
                  </a:lnTo>
                  <a:lnTo>
                    <a:pt x="5" y="0"/>
                  </a:lnTo>
                  <a:lnTo>
                    <a:pt x="4" y="0"/>
                  </a:lnTo>
                  <a:lnTo>
                    <a:pt x="3" y="0"/>
                  </a:lnTo>
                  <a:lnTo>
                    <a:pt x="2" y="0"/>
                  </a:lnTo>
                  <a:lnTo>
                    <a:pt x="0" y="1"/>
                  </a:lnTo>
                  <a:lnTo>
                    <a:pt x="0" y="2"/>
                  </a:lnTo>
                  <a:lnTo>
                    <a:pt x="0" y="3"/>
                  </a:lnTo>
                  <a:lnTo>
                    <a:pt x="0" y="4"/>
                  </a:lnTo>
                  <a:lnTo>
                    <a:pt x="2" y="4"/>
                  </a:lnTo>
                  <a:close/>
                </a:path>
              </a:pathLst>
            </a:custGeom>
            <a:solidFill>
              <a:srgbClr val="000000"/>
            </a:solidFill>
            <a:ln w="9525">
              <a:noFill/>
              <a:round/>
              <a:headEnd/>
              <a:tailEnd/>
            </a:ln>
          </p:spPr>
          <p:txBody>
            <a:bodyPr/>
            <a:lstStyle/>
            <a:p>
              <a:endParaRPr lang="en-US"/>
            </a:p>
          </p:txBody>
        </p:sp>
        <p:sp>
          <p:nvSpPr>
            <p:cNvPr id="327135" name="Freeform 479"/>
            <p:cNvSpPr>
              <a:spLocks/>
            </p:cNvSpPr>
            <p:nvPr/>
          </p:nvSpPr>
          <p:spPr bwMode="auto">
            <a:xfrm>
              <a:off x="2082" y="2780"/>
              <a:ext cx="6" cy="5"/>
            </a:xfrm>
            <a:custGeom>
              <a:avLst/>
              <a:gdLst/>
              <a:ahLst/>
              <a:cxnLst>
                <a:cxn ang="0">
                  <a:pos x="1" y="4"/>
                </a:cxn>
                <a:cxn ang="0">
                  <a:pos x="2" y="5"/>
                </a:cxn>
                <a:cxn ang="0">
                  <a:pos x="4" y="5"/>
                </a:cxn>
                <a:cxn ang="0">
                  <a:pos x="5" y="4"/>
                </a:cxn>
                <a:cxn ang="0">
                  <a:pos x="6" y="4"/>
                </a:cxn>
                <a:cxn ang="0">
                  <a:pos x="6" y="3"/>
                </a:cxn>
                <a:cxn ang="0">
                  <a:pos x="6" y="2"/>
                </a:cxn>
                <a:cxn ang="0">
                  <a:pos x="6" y="1"/>
                </a:cxn>
                <a:cxn ang="0">
                  <a:pos x="5" y="0"/>
                </a:cxn>
                <a:cxn ang="0">
                  <a:pos x="5" y="0"/>
                </a:cxn>
                <a:cxn ang="0">
                  <a:pos x="4" y="0"/>
                </a:cxn>
                <a:cxn ang="0">
                  <a:pos x="2" y="0"/>
                </a:cxn>
                <a:cxn ang="0">
                  <a:pos x="1" y="0"/>
                </a:cxn>
                <a:cxn ang="0">
                  <a:pos x="1" y="1"/>
                </a:cxn>
                <a:cxn ang="0">
                  <a:pos x="0" y="2"/>
                </a:cxn>
                <a:cxn ang="0">
                  <a:pos x="0" y="3"/>
                </a:cxn>
                <a:cxn ang="0">
                  <a:pos x="1" y="4"/>
                </a:cxn>
                <a:cxn ang="0">
                  <a:pos x="1" y="4"/>
                </a:cxn>
              </a:cxnLst>
              <a:rect l="0" t="0" r="r" b="b"/>
              <a:pathLst>
                <a:path w="6" h="5">
                  <a:moveTo>
                    <a:pt x="1" y="4"/>
                  </a:moveTo>
                  <a:lnTo>
                    <a:pt x="2" y="5"/>
                  </a:lnTo>
                  <a:lnTo>
                    <a:pt x="4" y="5"/>
                  </a:lnTo>
                  <a:lnTo>
                    <a:pt x="5" y="4"/>
                  </a:lnTo>
                  <a:lnTo>
                    <a:pt x="6" y="4"/>
                  </a:lnTo>
                  <a:lnTo>
                    <a:pt x="6" y="3"/>
                  </a:lnTo>
                  <a:lnTo>
                    <a:pt x="6" y="2"/>
                  </a:lnTo>
                  <a:lnTo>
                    <a:pt x="6" y="1"/>
                  </a:lnTo>
                  <a:lnTo>
                    <a:pt x="5" y="0"/>
                  </a:lnTo>
                  <a:lnTo>
                    <a:pt x="5" y="0"/>
                  </a:lnTo>
                  <a:lnTo>
                    <a:pt x="4" y="0"/>
                  </a:lnTo>
                  <a:lnTo>
                    <a:pt x="2" y="0"/>
                  </a:lnTo>
                  <a:lnTo>
                    <a:pt x="1" y="0"/>
                  </a:lnTo>
                  <a:lnTo>
                    <a:pt x="1" y="1"/>
                  </a:lnTo>
                  <a:lnTo>
                    <a:pt x="0" y="2"/>
                  </a:lnTo>
                  <a:lnTo>
                    <a:pt x="0" y="3"/>
                  </a:lnTo>
                  <a:lnTo>
                    <a:pt x="1" y="4"/>
                  </a:lnTo>
                  <a:lnTo>
                    <a:pt x="1" y="4"/>
                  </a:lnTo>
                  <a:close/>
                </a:path>
              </a:pathLst>
            </a:custGeom>
            <a:solidFill>
              <a:srgbClr val="000000"/>
            </a:solidFill>
            <a:ln w="9525">
              <a:noFill/>
              <a:round/>
              <a:headEnd/>
              <a:tailEnd/>
            </a:ln>
          </p:spPr>
          <p:txBody>
            <a:bodyPr/>
            <a:lstStyle/>
            <a:p>
              <a:endParaRPr lang="en-US"/>
            </a:p>
          </p:txBody>
        </p:sp>
        <p:sp>
          <p:nvSpPr>
            <p:cNvPr id="327136" name="Freeform 480"/>
            <p:cNvSpPr>
              <a:spLocks/>
            </p:cNvSpPr>
            <p:nvPr/>
          </p:nvSpPr>
          <p:spPr bwMode="auto">
            <a:xfrm>
              <a:off x="2073" y="2773"/>
              <a:ext cx="6" cy="6"/>
            </a:xfrm>
            <a:custGeom>
              <a:avLst/>
              <a:gdLst/>
              <a:ahLst/>
              <a:cxnLst>
                <a:cxn ang="0">
                  <a:pos x="1" y="6"/>
                </a:cxn>
                <a:cxn ang="0">
                  <a:pos x="2" y="6"/>
                </a:cxn>
                <a:cxn ang="0">
                  <a:pos x="4" y="6"/>
                </a:cxn>
                <a:cxn ang="0">
                  <a:pos x="5" y="6"/>
                </a:cxn>
                <a:cxn ang="0">
                  <a:pos x="5" y="5"/>
                </a:cxn>
                <a:cxn ang="0">
                  <a:pos x="6" y="4"/>
                </a:cxn>
                <a:cxn ang="0">
                  <a:pos x="6" y="3"/>
                </a:cxn>
                <a:cxn ang="0">
                  <a:pos x="5" y="1"/>
                </a:cxn>
                <a:cxn ang="0">
                  <a:pos x="5" y="1"/>
                </a:cxn>
                <a:cxn ang="0">
                  <a:pos x="5" y="1"/>
                </a:cxn>
                <a:cxn ang="0">
                  <a:pos x="4" y="0"/>
                </a:cxn>
                <a:cxn ang="0">
                  <a:pos x="2" y="0"/>
                </a:cxn>
                <a:cxn ang="0">
                  <a:pos x="1" y="1"/>
                </a:cxn>
                <a:cxn ang="0">
                  <a:pos x="0" y="1"/>
                </a:cxn>
                <a:cxn ang="0">
                  <a:pos x="0" y="3"/>
                </a:cxn>
                <a:cxn ang="0">
                  <a:pos x="0" y="4"/>
                </a:cxn>
                <a:cxn ang="0">
                  <a:pos x="0" y="5"/>
                </a:cxn>
                <a:cxn ang="0">
                  <a:pos x="1" y="6"/>
                </a:cxn>
              </a:cxnLst>
              <a:rect l="0" t="0" r="r" b="b"/>
              <a:pathLst>
                <a:path w="6" h="6">
                  <a:moveTo>
                    <a:pt x="1" y="6"/>
                  </a:moveTo>
                  <a:lnTo>
                    <a:pt x="2" y="6"/>
                  </a:lnTo>
                  <a:lnTo>
                    <a:pt x="4" y="6"/>
                  </a:lnTo>
                  <a:lnTo>
                    <a:pt x="5" y="6"/>
                  </a:lnTo>
                  <a:lnTo>
                    <a:pt x="5" y="5"/>
                  </a:lnTo>
                  <a:lnTo>
                    <a:pt x="6" y="4"/>
                  </a:lnTo>
                  <a:lnTo>
                    <a:pt x="6" y="3"/>
                  </a:lnTo>
                  <a:lnTo>
                    <a:pt x="5" y="1"/>
                  </a:lnTo>
                  <a:lnTo>
                    <a:pt x="5" y="1"/>
                  </a:lnTo>
                  <a:lnTo>
                    <a:pt x="5" y="1"/>
                  </a:lnTo>
                  <a:lnTo>
                    <a:pt x="4" y="0"/>
                  </a:lnTo>
                  <a:lnTo>
                    <a:pt x="2" y="0"/>
                  </a:lnTo>
                  <a:lnTo>
                    <a:pt x="1" y="1"/>
                  </a:lnTo>
                  <a:lnTo>
                    <a:pt x="0" y="1"/>
                  </a:lnTo>
                  <a:lnTo>
                    <a:pt x="0" y="3"/>
                  </a:lnTo>
                  <a:lnTo>
                    <a:pt x="0" y="4"/>
                  </a:lnTo>
                  <a:lnTo>
                    <a:pt x="0" y="5"/>
                  </a:lnTo>
                  <a:lnTo>
                    <a:pt x="1" y="6"/>
                  </a:lnTo>
                  <a:close/>
                </a:path>
              </a:pathLst>
            </a:custGeom>
            <a:solidFill>
              <a:srgbClr val="000000"/>
            </a:solidFill>
            <a:ln w="9525">
              <a:noFill/>
              <a:round/>
              <a:headEnd/>
              <a:tailEnd/>
            </a:ln>
          </p:spPr>
          <p:txBody>
            <a:bodyPr/>
            <a:lstStyle/>
            <a:p>
              <a:endParaRPr lang="en-US"/>
            </a:p>
          </p:txBody>
        </p:sp>
        <p:sp>
          <p:nvSpPr>
            <p:cNvPr id="327137" name="Freeform 481"/>
            <p:cNvSpPr>
              <a:spLocks/>
            </p:cNvSpPr>
            <p:nvPr/>
          </p:nvSpPr>
          <p:spPr bwMode="auto">
            <a:xfrm>
              <a:off x="2063" y="2768"/>
              <a:ext cx="6" cy="5"/>
            </a:xfrm>
            <a:custGeom>
              <a:avLst/>
              <a:gdLst/>
              <a:ahLst/>
              <a:cxnLst>
                <a:cxn ang="0">
                  <a:pos x="1" y="4"/>
                </a:cxn>
                <a:cxn ang="0">
                  <a:pos x="2" y="5"/>
                </a:cxn>
                <a:cxn ang="0">
                  <a:pos x="3" y="5"/>
                </a:cxn>
                <a:cxn ang="0">
                  <a:pos x="5" y="4"/>
                </a:cxn>
                <a:cxn ang="0">
                  <a:pos x="6" y="4"/>
                </a:cxn>
                <a:cxn ang="0">
                  <a:pos x="6" y="3"/>
                </a:cxn>
                <a:cxn ang="0">
                  <a:pos x="6" y="2"/>
                </a:cxn>
                <a:cxn ang="0">
                  <a:pos x="6" y="1"/>
                </a:cxn>
                <a:cxn ang="0">
                  <a:pos x="5" y="0"/>
                </a:cxn>
                <a:cxn ang="0">
                  <a:pos x="5" y="0"/>
                </a:cxn>
                <a:cxn ang="0">
                  <a:pos x="3" y="0"/>
                </a:cxn>
                <a:cxn ang="0">
                  <a:pos x="2" y="0"/>
                </a:cxn>
                <a:cxn ang="0">
                  <a:pos x="1" y="0"/>
                </a:cxn>
                <a:cxn ang="0">
                  <a:pos x="1" y="1"/>
                </a:cxn>
                <a:cxn ang="0">
                  <a:pos x="0" y="2"/>
                </a:cxn>
                <a:cxn ang="0">
                  <a:pos x="0" y="3"/>
                </a:cxn>
                <a:cxn ang="0">
                  <a:pos x="1" y="4"/>
                </a:cxn>
                <a:cxn ang="0">
                  <a:pos x="1" y="4"/>
                </a:cxn>
              </a:cxnLst>
              <a:rect l="0" t="0" r="r" b="b"/>
              <a:pathLst>
                <a:path w="6" h="5">
                  <a:moveTo>
                    <a:pt x="1" y="4"/>
                  </a:moveTo>
                  <a:lnTo>
                    <a:pt x="2" y="5"/>
                  </a:lnTo>
                  <a:lnTo>
                    <a:pt x="3" y="5"/>
                  </a:lnTo>
                  <a:lnTo>
                    <a:pt x="5" y="4"/>
                  </a:lnTo>
                  <a:lnTo>
                    <a:pt x="6" y="4"/>
                  </a:lnTo>
                  <a:lnTo>
                    <a:pt x="6" y="3"/>
                  </a:lnTo>
                  <a:lnTo>
                    <a:pt x="6" y="2"/>
                  </a:lnTo>
                  <a:lnTo>
                    <a:pt x="6" y="1"/>
                  </a:lnTo>
                  <a:lnTo>
                    <a:pt x="5" y="0"/>
                  </a:lnTo>
                  <a:lnTo>
                    <a:pt x="5" y="0"/>
                  </a:lnTo>
                  <a:lnTo>
                    <a:pt x="3" y="0"/>
                  </a:lnTo>
                  <a:lnTo>
                    <a:pt x="2" y="0"/>
                  </a:lnTo>
                  <a:lnTo>
                    <a:pt x="1" y="0"/>
                  </a:lnTo>
                  <a:lnTo>
                    <a:pt x="1" y="1"/>
                  </a:lnTo>
                  <a:lnTo>
                    <a:pt x="0" y="2"/>
                  </a:lnTo>
                  <a:lnTo>
                    <a:pt x="0" y="3"/>
                  </a:lnTo>
                  <a:lnTo>
                    <a:pt x="1" y="4"/>
                  </a:lnTo>
                  <a:lnTo>
                    <a:pt x="1" y="4"/>
                  </a:lnTo>
                  <a:close/>
                </a:path>
              </a:pathLst>
            </a:custGeom>
            <a:solidFill>
              <a:srgbClr val="000000"/>
            </a:solidFill>
            <a:ln w="9525">
              <a:noFill/>
              <a:round/>
              <a:headEnd/>
              <a:tailEnd/>
            </a:ln>
          </p:spPr>
          <p:txBody>
            <a:bodyPr/>
            <a:lstStyle/>
            <a:p>
              <a:endParaRPr lang="en-US"/>
            </a:p>
          </p:txBody>
        </p:sp>
        <p:sp>
          <p:nvSpPr>
            <p:cNvPr id="327138" name="Freeform 482"/>
            <p:cNvSpPr>
              <a:spLocks/>
            </p:cNvSpPr>
            <p:nvPr/>
          </p:nvSpPr>
          <p:spPr bwMode="auto">
            <a:xfrm>
              <a:off x="2054" y="2762"/>
              <a:ext cx="6" cy="5"/>
            </a:xfrm>
            <a:custGeom>
              <a:avLst/>
              <a:gdLst/>
              <a:ahLst/>
              <a:cxnLst>
                <a:cxn ang="0">
                  <a:pos x="1" y="5"/>
                </a:cxn>
                <a:cxn ang="0">
                  <a:pos x="2" y="5"/>
                </a:cxn>
                <a:cxn ang="0">
                  <a:pos x="3" y="5"/>
                </a:cxn>
                <a:cxn ang="0">
                  <a:pos x="4" y="5"/>
                </a:cxn>
                <a:cxn ang="0">
                  <a:pos x="4" y="4"/>
                </a:cxn>
                <a:cxn ang="0">
                  <a:pos x="6" y="3"/>
                </a:cxn>
                <a:cxn ang="0">
                  <a:pos x="6" y="2"/>
                </a:cxn>
                <a:cxn ang="0">
                  <a:pos x="4" y="1"/>
                </a:cxn>
                <a:cxn ang="0">
                  <a:pos x="4" y="1"/>
                </a:cxn>
                <a:cxn ang="0">
                  <a:pos x="4" y="1"/>
                </a:cxn>
                <a:cxn ang="0">
                  <a:pos x="3" y="0"/>
                </a:cxn>
                <a:cxn ang="0">
                  <a:pos x="2" y="0"/>
                </a:cxn>
                <a:cxn ang="0">
                  <a:pos x="1" y="1"/>
                </a:cxn>
                <a:cxn ang="0">
                  <a:pos x="0" y="1"/>
                </a:cxn>
                <a:cxn ang="0">
                  <a:pos x="0" y="2"/>
                </a:cxn>
                <a:cxn ang="0">
                  <a:pos x="0" y="3"/>
                </a:cxn>
                <a:cxn ang="0">
                  <a:pos x="0" y="4"/>
                </a:cxn>
                <a:cxn ang="0">
                  <a:pos x="1" y="5"/>
                </a:cxn>
              </a:cxnLst>
              <a:rect l="0" t="0" r="r" b="b"/>
              <a:pathLst>
                <a:path w="6" h="5">
                  <a:moveTo>
                    <a:pt x="1" y="5"/>
                  </a:moveTo>
                  <a:lnTo>
                    <a:pt x="2" y="5"/>
                  </a:lnTo>
                  <a:lnTo>
                    <a:pt x="3" y="5"/>
                  </a:lnTo>
                  <a:lnTo>
                    <a:pt x="4" y="5"/>
                  </a:lnTo>
                  <a:lnTo>
                    <a:pt x="4" y="4"/>
                  </a:lnTo>
                  <a:lnTo>
                    <a:pt x="6" y="3"/>
                  </a:lnTo>
                  <a:lnTo>
                    <a:pt x="6" y="2"/>
                  </a:lnTo>
                  <a:lnTo>
                    <a:pt x="4" y="1"/>
                  </a:lnTo>
                  <a:lnTo>
                    <a:pt x="4" y="1"/>
                  </a:lnTo>
                  <a:lnTo>
                    <a:pt x="4" y="1"/>
                  </a:lnTo>
                  <a:lnTo>
                    <a:pt x="3" y="0"/>
                  </a:lnTo>
                  <a:lnTo>
                    <a:pt x="2" y="0"/>
                  </a:lnTo>
                  <a:lnTo>
                    <a:pt x="1" y="1"/>
                  </a:lnTo>
                  <a:lnTo>
                    <a:pt x="0" y="1"/>
                  </a:lnTo>
                  <a:lnTo>
                    <a:pt x="0" y="2"/>
                  </a:lnTo>
                  <a:lnTo>
                    <a:pt x="0" y="3"/>
                  </a:lnTo>
                  <a:lnTo>
                    <a:pt x="0" y="4"/>
                  </a:lnTo>
                  <a:lnTo>
                    <a:pt x="1" y="5"/>
                  </a:lnTo>
                  <a:close/>
                </a:path>
              </a:pathLst>
            </a:custGeom>
            <a:solidFill>
              <a:srgbClr val="000000"/>
            </a:solidFill>
            <a:ln w="9525">
              <a:noFill/>
              <a:round/>
              <a:headEnd/>
              <a:tailEnd/>
            </a:ln>
          </p:spPr>
          <p:txBody>
            <a:bodyPr/>
            <a:lstStyle/>
            <a:p>
              <a:endParaRPr lang="en-US"/>
            </a:p>
          </p:txBody>
        </p:sp>
        <p:sp>
          <p:nvSpPr>
            <p:cNvPr id="327139" name="Freeform 483"/>
            <p:cNvSpPr>
              <a:spLocks/>
            </p:cNvSpPr>
            <p:nvPr/>
          </p:nvSpPr>
          <p:spPr bwMode="auto">
            <a:xfrm>
              <a:off x="2045" y="2757"/>
              <a:ext cx="6" cy="5"/>
            </a:xfrm>
            <a:custGeom>
              <a:avLst/>
              <a:gdLst/>
              <a:ahLst/>
              <a:cxnLst>
                <a:cxn ang="0">
                  <a:pos x="1" y="4"/>
                </a:cxn>
                <a:cxn ang="0">
                  <a:pos x="2" y="5"/>
                </a:cxn>
                <a:cxn ang="0">
                  <a:pos x="3" y="5"/>
                </a:cxn>
                <a:cxn ang="0">
                  <a:pos x="4" y="4"/>
                </a:cxn>
                <a:cxn ang="0">
                  <a:pos x="4" y="4"/>
                </a:cxn>
                <a:cxn ang="0">
                  <a:pos x="6" y="3"/>
                </a:cxn>
                <a:cxn ang="0">
                  <a:pos x="6" y="2"/>
                </a:cxn>
                <a:cxn ang="0">
                  <a:pos x="4" y="1"/>
                </a:cxn>
                <a:cxn ang="0">
                  <a:pos x="4" y="0"/>
                </a:cxn>
                <a:cxn ang="0">
                  <a:pos x="4" y="0"/>
                </a:cxn>
                <a:cxn ang="0">
                  <a:pos x="3" y="0"/>
                </a:cxn>
                <a:cxn ang="0">
                  <a:pos x="2" y="0"/>
                </a:cxn>
                <a:cxn ang="0">
                  <a:pos x="1" y="0"/>
                </a:cxn>
                <a:cxn ang="0">
                  <a:pos x="0" y="1"/>
                </a:cxn>
                <a:cxn ang="0">
                  <a:pos x="0" y="2"/>
                </a:cxn>
                <a:cxn ang="0">
                  <a:pos x="0" y="3"/>
                </a:cxn>
                <a:cxn ang="0">
                  <a:pos x="0" y="4"/>
                </a:cxn>
                <a:cxn ang="0">
                  <a:pos x="1" y="4"/>
                </a:cxn>
              </a:cxnLst>
              <a:rect l="0" t="0" r="r" b="b"/>
              <a:pathLst>
                <a:path w="6" h="5">
                  <a:moveTo>
                    <a:pt x="1" y="4"/>
                  </a:moveTo>
                  <a:lnTo>
                    <a:pt x="2" y="5"/>
                  </a:lnTo>
                  <a:lnTo>
                    <a:pt x="3" y="5"/>
                  </a:lnTo>
                  <a:lnTo>
                    <a:pt x="4" y="4"/>
                  </a:lnTo>
                  <a:lnTo>
                    <a:pt x="4" y="4"/>
                  </a:lnTo>
                  <a:lnTo>
                    <a:pt x="6" y="3"/>
                  </a:lnTo>
                  <a:lnTo>
                    <a:pt x="6" y="2"/>
                  </a:lnTo>
                  <a:lnTo>
                    <a:pt x="4" y="1"/>
                  </a:lnTo>
                  <a:lnTo>
                    <a:pt x="4" y="0"/>
                  </a:lnTo>
                  <a:lnTo>
                    <a:pt x="4" y="0"/>
                  </a:lnTo>
                  <a:lnTo>
                    <a:pt x="3" y="0"/>
                  </a:lnTo>
                  <a:lnTo>
                    <a:pt x="2" y="0"/>
                  </a:lnTo>
                  <a:lnTo>
                    <a:pt x="1" y="0"/>
                  </a:lnTo>
                  <a:lnTo>
                    <a:pt x="0" y="1"/>
                  </a:lnTo>
                  <a:lnTo>
                    <a:pt x="0" y="2"/>
                  </a:lnTo>
                  <a:lnTo>
                    <a:pt x="0" y="3"/>
                  </a:lnTo>
                  <a:lnTo>
                    <a:pt x="0" y="4"/>
                  </a:lnTo>
                  <a:lnTo>
                    <a:pt x="1" y="4"/>
                  </a:lnTo>
                  <a:close/>
                </a:path>
              </a:pathLst>
            </a:custGeom>
            <a:solidFill>
              <a:srgbClr val="000000"/>
            </a:solidFill>
            <a:ln w="9525">
              <a:noFill/>
              <a:round/>
              <a:headEnd/>
              <a:tailEnd/>
            </a:ln>
          </p:spPr>
          <p:txBody>
            <a:bodyPr/>
            <a:lstStyle/>
            <a:p>
              <a:endParaRPr lang="en-US"/>
            </a:p>
          </p:txBody>
        </p:sp>
      </p:grpSp>
      <p:sp>
        <p:nvSpPr>
          <p:cNvPr id="327140" name="Freeform 484"/>
          <p:cNvSpPr>
            <a:spLocks/>
          </p:cNvSpPr>
          <p:nvPr/>
        </p:nvSpPr>
        <p:spPr bwMode="auto">
          <a:xfrm>
            <a:off x="3208338" y="4352925"/>
            <a:ext cx="57150" cy="49213"/>
          </a:xfrm>
          <a:custGeom>
            <a:avLst/>
            <a:gdLst/>
            <a:ahLst/>
            <a:cxnLst>
              <a:cxn ang="0">
                <a:pos x="17" y="31"/>
              </a:cxn>
              <a:cxn ang="0">
                <a:pos x="36" y="0"/>
              </a:cxn>
              <a:cxn ang="0">
                <a:pos x="0" y="1"/>
              </a:cxn>
              <a:cxn ang="0">
                <a:pos x="17" y="31"/>
              </a:cxn>
            </a:cxnLst>
            <a:rect l="0" t="0" r="r" b="b"/>
            <a:pathLst>
              <a:path w="36" h="31">
                <a:moveTo>
                  <a:pt x="17" y="31"/>
                </a:moveTo>
                <a:lnTo>
                  <a:pt x="36" y="0"/>
                </a:lnTo>
                <a:lnTo>
                  <a:pt x="0" y="1"/>
                </a:lnTo>
                <a:lnTo>
                  <a:pt x="17" y="31"/>
                </a:lnTo>
                <a:close/>
              </a:path>
            </a:pathLst>
          </a:custGeom>
          <a:solidFill>
            <a:srgbClr val="000000"/>
          </a:solidFill>
          <a:ln w="3175">
            <a:solidFill>
              <a:srgbClr val="000000"/>
            </a:solidFill>
            <a:prstDash val="solid"/>
            <a:round/>
            <a:headEnd/>
            <a:tailEnd/>
          </a:ln>
        </p:spPr>
        <p:txBody>
          <a:bodyPr/>
          <a:lstStyle/>
          <a:p>
            <a:endParaRPr lang="en-US"/>
          </a:p>
        </p:txBody>
      </p:sp>
      <p:sp>
        <p:nvSpPr>
          <p:cNvPr id="327141" name="Line 485"/>
          <p:cNvSpPr>
            <a:spLocks noChangeShapeType="1"/>
          </p:cNvSpPr>
          <p:nvPr/>
        </p:nvSpPr>
        <p:spPr bwMode="auto">
          <a:xfrm flipH="1" flipV="1">
            <a:off x="2541588" y="4403725"/>
            <a:ext cx="22225" cy="236538"/>
          </a:xfrm>
          <a:prstGeom prst="line">
            <a:avLst/>
          </a:prstGeom>
          <a:noFill/>
          <a:ln w="9525">
            <a:solidFill>
              <a:srgbClr val="000000"/>
            </a:solidFill>
            <a:round/>
            <a:headEnd/>
            <a:tailEnd/>
          </a:ln>
        </p:spPr>
        <p:txBody>
          <a:bodyPr/>
          <a:lstStyle/>
          <a:p>
            <a:endParaRPr lang="en-US"/>
          </a:p>
        </p:txBody>
      </p:sp>
      <p:sp>
        <p:nvSpPr>
          <p:cNvPr id="327142" name="Freeform 486"/>
          <p:cNvSpPr>
            <a:spLocks/>
          </p:cNvSpPr>
          <p:nvPr/>
        </p:nvSpPr>
        <p:spPr bwMode="auto">
          <a:xfrm>
            <a:off x="2508250" y="4371975"/>
            <a:ext cx="63500" cy="44450"/>
          </a:xfrm>
          <a:custGeom>
            <a:avLst/>
            <a:gdLst/>
            <a:ahLst/>
            <a:cxnLst>
              <a:cxn ang="0">
                <a:pos x="0" y="28"/>
              </a:cxn>
              <a:cxn ang="0">
                <a:pos x="40" y="28"/>
              </a:cxn>
              <a:cxn ang="0">
                <a:pos x="20" y="0"/>
              </a:cxn>
              <a:cxn ang="0">
                <a:pos x="0" y="28"/>
              </a:cxn>
            </a:cxnLst>
            <a:rect l="0" t="0" r="r" b="b"/>
            <a:pathLst>
              <a:path w="40" h="28">
                <a:moveTo>
                  <a:pt x="0" y="28"/>
                </a:moveTo>
                <a:lnTo>
                  <a:pt x="40" y="28"/>
                </a:lnTo>
                <a:lnTo>
                  <a:pt x="20" y="0"/>
                </a:lnTo>
                <a:lnTo>
                  <a:pt x="0" y="28"/>
                </a:lnTo>
                <a:close/>
              </a:path>
            </a:pathLst>
          </a:custGeom>
          <a:solidFill>
            <a:srgbClr val="000000"/>
          </a:solidFill>
          <a:ln w="3175">
            <a:solidFill>
              <a:srgbClr val="000000"/>
            </a:solidFill>
            <a:prstDash val="solid"/>
            <a:round/>
            <a:headEnd/>
            <a:tailEnd/>
          </a:ln>
        </p:spPr>
        <p:txBody>
          <a:bodyPr/>
          <a:lstStyle/>
          <a:p>
            <a:endParaRPr lang="en-US"/>
          </a:p>
        </p:txBody>
      </p:sp>
      <p:grpSp>
        <p:nvGrpSpPr>
          <p:cNvPr id="6" name="Group 487"/>
          <p:cNvGrpSpPr>
            <a:grpSpLocks/>
          </p:cNvGrpSpPr>
          <p:nvPr/>
        </p:nvGrpSpPr>
        <p:grpSpPr bwMode="auto">
          <a:xfrm>
            <a:off x="2009775" y="3835400"/>
            <a:ext cx="152400" cy="7938"/>
            <a:chOff x="1266" y="2416"/>
            <a:chExt cx="96" cy="5"/>
          </a:xfrm>
        </p:grpSpPr>
        <p:sp>
          <p:nvSpPr>
            <p:cNvPr id="327144" name="Freeform 488"/>
            <p:cNvSpPr>
              <a:spLocks/>
            </p:cNvSpPr>
            <p:nvPr/>
          </p:nvSpPr>
          <p:spPr bwMode="auto">
            <a:xfrm>
              <a:off x="1356" y="2416"/>
              <a:ext cx="6" cy="5"/>
            </a:xfrm>
            <a:custGeom>
              <a:avLst/>
              <a:gdLst/>
              <a:ahLst/>
              <a:cxnLst>
                <a:cxn ang="0">
                  <a:pos x="4" y="5"/>
                </a:cxn>
                <a:cxn ang="0">
                  <a:pos x="4" y="4"/>
                </a:cxn>
                <a:cxn ang="0">
                  <a:pos x="6" y="3"/>
                </a:cxn>
                <a:cxn ang="0">
                  <a:pos x="6" y="2"/>
                </a:cxn>
                <a:cxn ang="0">
                  <a:pos x="6" y="2"/>
                </a:cxn>
                <a:cxn ang="0">
                  <a:pos x="6" y="1"/>
                </a:cxn>
                <a:cxn ang="0">
                  <a:pos x="4" y="0"/>
                </a:cxn>
                <a:cxn ang="0">
                  <a:pos x="3" y="0"/>
                </a:cxn>
                <a:cxn ang="0">
                  <a:pos x="3" y="0"/>
                </a:cxn>
                <a:cxn ang="0">
                  <a:pos x="2" y="0"/>
                </a:cxn>
                <a:cxn ang="0">
                  <a:pos x="1" y="0"/>
                </a:cxn>
                <a:cxn ang="0">
                  <a:pos x="1" y="1"/>
                </a:cxn>
                <a:cxn ang="0">
                  <a:pos x="0" y="2"/>
                </a:cxn>
                <a:cxn ang="0">
                  <a:pos x="0" y="3"/>
                </a:cxn>
                <a:cxn ang="0">
                  <a:pos x="1" y="4"/>
                </a:cxn>
                <a:cxn ang="0">
                  <a:pos x="1" y="4"/>
                </a:cxn>
                <a:cxn ang="0">
                  <a:pos x="2" y="5"/>
                </a:cxn>
                <a:cxn ang="0">
                  <a:pos x="3" y="5"/>
                </a:cxn>
                <a:cxn ang="0">
                  <a:pos x="4" y="5"/>
                </a:cxn>
              </a:cxnLst>
              <a:rect l="0" t="0" r="r" b="b"/>
              <a:pathLst>
                <a:path w="6" h="5">
                  <a:moveTo>
                    <a:pt x="4" y="5"/>
                  </a:moveTo>
                  <a:lnTo>
                    <a:pt x="4" y="4"/>
                  </a:lnTo>
                  <a:lnTo>
                    <a:pt x="6" y="3"/>
                  </a:lnTo>
                  <a:lnTo>
                    <a:pt x="6" y="2"/>
                  </a:lnTo>
                  <a:lnTo>
                    <a:pt x="6" y="2"/>
                  </a:lnTo>
                  <a:lnTo>
                    <a:pt x="6" y="1"/>
                  </a:lnTo>
                  <a:lnTo>
                    <a:pt x="4" y="0"/>
                  </a:lnTo>
                  <a:lnTo>
                    <a:pt x="3" y="0"/>
                  </a:lnTo>
                  <a:lnTo>
                    <a:pt x="3" y="0"/>
                  </a:lnTo>
                  <a:lnTo>
                    <a:pt x="2" y="0"/>
                  </a:lnTo>
                  <a:lnTo>
                    <a:pt x="1" y="0"/>
                  </a:lnTo>
                  <a:lnTo>
                    <a:pt x="1" y="1"/>
                  </a:lnTo>
                  <a:lnTo>
                    <a:pt x="0" y="2"/>
                  </a:lnTo>
                  <a:lnTo>
                    <a:pt x="0" y="3"/>
                  </a:lnTo>
                  <a:lnTo>
                    <a:pt x="1" y="4"/>
                  </a:lnTo>
                  <a:lnTo>
                    <a:pt x="1" y="4"/>
                  </a:lnTo>
                  <a:lnTo>
                    <a:pt x="2" y="5"/>
                  </a:lnTo>
                  <a:lnTo>
                    <a:pt x="3" y="5"/>
                  </a:lnTo>
                  <a:lnTo>
                    <a:pt x="4" y="5"/>
                  </a:lnTo>
                  <a:close/>
                </a:path>
              </a:pathLst>
            </a:custGeom>
            <a:solidFill>
              <a:srgbClr val="000000"/>
            </a:solidFill>
            <a:ln w="9525">
              <a:noFill/>
              <a:round/>
              <a:headEnd/>
              <a:tailEnd/>
            </a:ln>
          </p:spPr>
          <p:txBody>
            <a:bodyPr/>
            <a:lstStyle/>
            <a:p>
              <a:endParaRPr lang="en-US"/>
            </a:p>
          </p:txBody>
        </p:sp>
        <p:sp>
          <p:nvSpPr>
            <p:cNvPr id="327145" name="Freeform 489"/>
            <p:cNvSpPr>
              <a:spLocks/>
            </p:cNvSpPr>
            <p:nvPr/>
          </p:nvSpPr>
          <p:spPr bwMode="auto">
            <a:xfrm>
              <a:off x="1345" y="2416"/>
              <a:ext cx="5" cy="5"/>
            </a:xfrm>
            <a:custGeom>
              <a:avLst/>
              <a:gdLst/>
              <a:ahLst/>
              <a:cxnLst>
                <a:cxn ang="0">
                  <a:pos x="4" y="5"/>
                </a:cxn>
                <a:cxn ang="0">
                  <a:pos x="4" y="4"/>
                </a:cxn>
                <a:cxn ang="0">
                  <a:pos x="5" y="3"/>
                </a:cxn>
                <a:cxn ang="0">
                  <a:pos x="5" y="2"/>
                </a:cxn>
                <a:cxn ang="0">
                  <a:pos x="5" y="2"/>
                </a:cxn>
                <a:cxn ang="0">
                  <a:pos x="5" y="1"/>
                </a:cxn>
                <a:cxn ang="0">
                  <a:pos x="4" y="0"/>
                </a:cxn>
                <a:cxn ang="0">
                  <a:pos x="3" y="0"/>
                </a:cxn>
                <a:cxn ang="0">
                  <a:pos x="3" y="0"/>
                </a:cxn>
                <a:cxn ang="0">
                  <a:pos x="2" y="0"/>
                </a:cxn>
                <a:cxn ang="0">
                  <a:pos x="1" y="0"/>
                </a:cxn>
                <a:cxn ang="0">
                  <a:pos x="1" y="1"/>
                </a:cxn>
                <a:cxn ang="0">
                  <a:pos x="0" y="2"/>
                </a:cxn>
                <a:cxn ang="0">
                  <a:pos x="0" y="3"/>
                </a:cxn>
                <a:cxn ang="0">
                  <a:pos x="1" y="4"/>
                </a:cxn>
                <a:cxn ang="0">
                  <a:pos x="1" y="4"/>
                </a:cxn>
                <a:cxn ang="0">
                  <a:pos x="2" y="5"/>
                </a:cxn>
                <a:cxn ang="0">
                  <a:pos x="3" y="5"/>
                </a:cxn>
                <a:cxn ang="0">
                  <a:pos x="4" y="5"/>
                </a:cxn>
              </a:cxnLst>
              <a:rect l="0" t="0" r="r" b="b"/>
              <a:pathLst>
                <a:path w="5" h="5">
                  <a:moveTo>
                    <a:pt x="4" y="5"/>
                  </a:moveTo>
                  <a:lnTo>
                    <a:pt x="4" y="4"/>
                  </a:lnTo>
                  <a:lnTo>
                    <a:pt x="5" y="3"/>
                  </a:lnTo>
                  <a:lnTo>
                    <a:pt x="5" y="2"/>
                  </a:lnTo>
                  <a:lnTo>
                    <a:pt x="5" y="2"/>
                  </a:lnTo>
                  <a:lnTo>
                    <a:pt x="5" y="1"/>
                  </a:lnTo>
                  <a:lnTo>
                    <a:pt x="4" y="0"/>
                  </a:lnTo>
                  <a:lnTo>
                    <a:pt x="3" y="0"/>
                  </a:lnTo>
                  <a:lnTo>
                    <a:pt x="3" y="0"/>
                  </a:lnTo>
                  <a:lnTo>
                    <a:pt x="2" y="0"/>
                  </a:lnTo>
                  <a:lnTo>
                    <a:pt x="1" y="0"/>
                  </a:lnTo>
                  <a:lnTo>
                    <a:pt x="1" y="1"/>
                  </a:lnTo>
                  <a:lnTo>
                    <a:pt x="0" y="2"/>
                  </a:lnTo>
                  <a:lnTo>
                    <a:pt x="0" y="3"/>
                  </a:lnTo>
                  <a:lnTo>
                    <a:pt x="1" y="4"/>
                  </a:lnTo>
                  <a:lnTo>
                    <a:pt x="1" y="4"/>
                  </a:lnTo>
                  <a:lnTo>
                    <a:pt x="2" y="5"/>
                  </a:lnTo>
                  <a:lnTo>
                    <a:pt x="3" y="5"/>
                  </a:lnTo>
                  <a:lnTo>
                    <a:pt x="4" y="5"/>
                  </a:lnTo>
                  <a:close/>
                </a:path>
              </a:pathLst>
            </a:custGeom>
            <a:solidFill>
              <a:srgbClr val="000000"/>
            </a:solidFill>
            <a:ln w="9525">
              <a:noFill/>
              <a:round/>
              <a:headEnd/>
              <a:tailEnd/>
            </a:ln>
          </p:spPr>
          <p:txBody>
            <a:bodyPr/>
            <a:lstStyle/>
            <a:p>
              <a:endParaRPr lang="en-US"/>
            </a:p>
          </p:txBody>
        </p:sp>
        <p:sp>
          <p:nvSpPr>
            <p:cNvPr id="327146" name="Freeform 490"/>
            <p:cNvSpPr>
              <a:spLocks/>
            </p:cNvSpPr>
            <p:nvPr/>
          </p:nvSpPr>
          <p:spPr bwMode="auto">
            <a:xfrm>
              <a:off x="1333" y="2416"/>
              <a:ext cx="6" cy="5"/>
            </a:xfrm>
            <a:custGeom>
              <a:avLst/>
              <a:gdLst/>
              <a:ahLst/>
              <a:cxnLst>
                <a:cxn ang="0">
                  <a:pos x="5" y="5"/>
                </a:cxn>
                <a:cxn ang="0">
                  <a:pos x="5" y="4"/>
                </a:cxn>
                <a:cxn ang="0">
                  <a:pos x="6" y="3"/>
                </a:cxn>
                <a:cxn ang="0">
                  <a:pos x="6" y="2"/>
                </a:cxn>
                <a:cxn ang="0">
                  <a:pos x="6" y="2"/>
                </a:cxn>
                <a:cxn ang="0">
                  <a:pos x="6" y="1"/>
                </a:cxn>
                <a:cxn ang="0">
                  <a:pos x="5" y="0"/>
                </a:cxn>
                <a:cxn ang="0">
                  <a:pos x="4" y="0"/>
                </a:cxn>
                <a:cxn ang="0">
                  <a:pos x="4" y="0"/>
                </a:cxn>
                <a:cxn ang="0">
                  <a:pos x="3" y="0"/>
                </a:cxn>
                <a:cxn ang="0">
                  <a:pos x="1" y="0"/>
                </a:cxn>
                <a:cxn ang="0">
                  <a:pos x="1" y="1"/>
                </a:cxn>
                <a:cxn ang="0">
                  <a:pos x="0" y="2"/>
                </a:cxn>
                <a:cxn ang="0">
                  <a:pos x="0" y="3"/>
                </a:cxn>
                <a:cxn ang="0">
                  <a:pos x="1" y="4"/>
                </a:cxn>
                <a:cxn ang="0">
                  <a:pos x="1" y="4"/>
                </a:cxn>
                <a:cxn ang="0">
                  <a:pos x="3" y="5"/>
                </a:cxn>
                <a:cxn ang="0">
                  <a:pos x="4" y="5"/>
                </a:cxn>
                <a:cxn ang="0">
                  <a:pos x="5" y="5"/>
                </a:cxn>
              </a:cxnLst>
              <a:rect l="0" t="0" r="r" b="b"/>
              <a:pathLst>
                <a:path w="6" h="5">
                  <a:moveTo>
                    <a:pt x="5" y="5"/>
                  </a:moveTo>
                  <a:lnTo>
                    <a:pt x="5" y="4"/>
                  </a:lnTo>
                  <a:lnTo>
                    <a:pt x="6" y="3"/>
                  </a:lnTo>
                  <a:lnTo>
                    <a:pt x="6" y="2"/>
                  </a:lnTo>
                  <a:lnTo>
                    <a:pt x="6" y="2"/>
                  </a:lnTo>
                  <a:lnTo>
                    <a:pt x="6" y="1"/>
                  </a:lnTo>
                  <a:lnTo>
                    <a:pt x="5" y="0"/>
                  </a:lnTo>
                  <a:lnTo>
                    <a:pt x="4" y="0"/>
                  </a:lnTo>
                  <a:lnTo>
                    <a:pt x="4" y="0"/>
                  </a:lnTo>
                  <a:lnTo>
                    <a:pt x="3" y="0"/>
                  </a:lnTo>
                  <a:lnTo>
                    <a:pt x="1" y="0"/>
                  </a:lnTo>
                  <a:lnTo>
                    <a:pt x="1" y="1"/>
                  </a:lnTo>
                  <a:lnTo>
                    <a:pt x="0" y="2"/>
                  </a:lnTo>
                  <a:lnTo>
                    <a:pt x="0" y="3"/>
                  </a:lnTo>
                  <a:lnTo>
                    <a:pt x="1" y="4"/>
                  </a:lnTo>
                  <a:lnTo>
                    <a:pt x="1" y="4"/>
                  </a:lnTo>
                  <a:lnTo>
                    <a:pt x="3" y="5"/>
                  </a:lnTo>
                  <a:lnTo>
                    <a:pt x="4" y="5"/>
                  </a:lnTo>
                  <a:lnTo>
                    <a:pt x="5" y="5"/>
                  </a:lnTo>
                  <a:close/>
                </a:path>
              </a:pathLst>
            </a:custGeom>
            <a:solidFill>
              <a:srgbClr val="000000"/>
            </a:solidFill>
            <a:ln w="9525">
              <a:noFill/>
              <a:round/>
              <a:headEnd/>
              <a:tailEnd/>
            </a:ln>
          </p:spPr>
          <p:txBody>
            <a:bodyPr/>
            <a:lstStyle/>
            <a:p>
              <a:endParaRPr lang="en-US"/>
            </a:p>
          </p:txBody>
        </p:sp>
        <p:sp>
          <p:nvSpPr>
            <p:cNvPr id="327147" name="Freeform 491"/>
            <p:cNvSpPr>
              <a:spLocks/>
            </p:cNvSpPr>
            <p:nvPr/>
          </p:nvSpPr>
          <p:spPr bwMode="auto">
            <a:xfrm>
              <a:off x="1322" y="2416"/>
              <a:ext cx="6" cy="5"/>
            </a:xfrm>
            <a:custGeom>
              <a:avLst/>
              <a:gdLst/>
              <a:ahLst/>
              <a:cxnLst>
                <a:cxn ang="0">
                  <a:pos x="5" y="5"/>
                </a:cxn>
                <a:cxn ang="0">
                  <a:pos x="5" y="4"/>
                </a:cxn>
                <a:cxn ang="0">
                  <a:pos x="6" y="3"/>
                </a:cxn>
                <a:cxn ang="0">
                  <a:pos x="6" y="2"/>
                </a:cxn>
                <a:cxn ang="0">
                  <a:pos x="6" y="2"/>
                </a:cxn>
                <a:cxn ang="0">
                  <a:pos x="6" y="1"/>
                </a:cxn>
                <a:cxn ang="0">
                  <a:pos x="5" y="0"/>
                </a:cxn>
                <a:cxn ang="0">
                  <a:pos x="3" y="0"/>
                </a:cxn>
                <a:cxn ang="0">
                  <a:pos x="3" y="0"/>
                </a:cxn>
                <a:cxn ang="0">
                  <a:pos x="2" y="0"/>
                </a:cxn>
                <a:cxn ang="0">
                  <a:pos x="1" y="0"/>
                </a:cxn>
                <a:cxn ang="0">
                  <a:pos x="1" y="1"/>
                </a:cxn>
                <a:cxn ang="0">
                  <a:pos x="0" y="2"/>
                </a:cxn>
                <a:cxn ang="0">
                  <a:pos x="0" y="3"/>
                </a:cxn>
                <a:cxn ang="0">
                  <a:pos x="1" y="4"/>
                </a:cxn>
                <a:cxn ang="0">
                  <a:pos x="1" y="4"/>
                </a:cxn>
                <a:cxn ang="0">
                  <a:pos x="2" y="5"/>
                </a:cxn>
                <a:cxn ang="0">
                  <a:pos x="3" y="5"/>
                </a:cxn>
                <a:cxn ang="0">
                  <a:pos x="5" y="5"/>
                </a:cxn>
              </a:cxnLst>
              <a:rect l="0" t="0" r="r" b="b"/>
              <a:pathLst>
                <a:path w="6" h="5">
                  <a:moveTo>
                    <a:pt x="5" y="5"/>
                  </a:moveTo>
                  <a:lnTo>
                    <a:pt x="5" y="4"/>
                  </a:lnTo>
                  <a:lnTo>
                    <a:pt x="6" y="3"/>
                  </a:lnTo>
                  <a:lnTo>
                    <a:pt x="6" y="2"/>
                  </a:lnTo>
                  <a:lnTo>
                    <a:pt x="6" y="2"/>
                  </a:lnTo>
                  <a:lnTo>
                    <a:pt x="6" y="1"/>
                  </a:lnTo>
                  <a:lnTo>
                    <a:pt x="5" y="0"/>
                  </a:lnTo>
                  <a:lnTo>
                    <a:pt x="3" y="0"/>
                  </a:lnTo>
                  <a:lnTo>
                    <a:pt x="3" y="0"/>
                  </a:lnTo>
                  <a:lnTo>
                    <a:pt x="2" y="0"/>
                  </a:lnTo>
                  <a:lnTo>
                    <a:pt x="1" y="0"/>
                  </a:lnTo>
                  <a:lnTo>
                    <a:pt x="1" y="1"/>
                  </a:lnTo>
                  <a:lnTo>
                    <a:pt x="0" y="2"/>
                  </a:lnTo>
                  <a:lnTo>
                    <a:pt x="0" y="3"/>
                  </a:lnTo>
                  <a:lnTo>
                    <a:pt x="1" y="4"/>
                  </a:lnTo>
                  <a:lnTo>
                    <a:pt x="1" y="4"/>
                  </a:lnTo>
                  <a:lnTo>
                    <a:pt x="2" y="5"/>
                  </a:lnTo>
                  <a:lnTo>
                    <a:pt x="3" y="5"/>
                  </a:lnTo>
                  <a:lnTo>
                    <a:pt x="5" y="5"/>
                  </a:lnTo>
                  <a:close/>
                </a:path>
              </a:pathLst>
            </a:custGeom>
            <a:solidFill>
              <a:srgbClr val="000000"/>
            </a:solidFill>
            <a:ln w="9525">
              <a:noFill/>
              <a:round/>
              <a:headEnd/>
              <a:tailEnd/>
            </a:ln>
          </p:spPr>
          <p:txBody>
            <a:bodyPr/>
            <a:lstStyle/>
            <a:p>
              <a:endParaRPr lang="en-US"/>
            </a:p>
          </p:txBody>
        </p:sp>
        <p:sp>
          <p:nvSpPr>
            <p:cNvPr id="327148" name="Freeform 492"/>
            <p:cNvSpPr>
              <a:spLocks/>
            </p:cNvSpPr>
            <p:nvPr/>
          </p:nvSpPr>
          <p:spPr bwMode="auto">
            <a:xfrm>
              <a:off x="1311" y="2416"/>
              <a:ext cx="5" cy="5"/>
            </a:xfrm>
            <a:custGeom>
              <a:avLst/>
              <a:gdLst/>
              <a:ahLst/>
              <a:cxnLst>
                <a:cxn ang="0">
                  <a:pos x="4" y="5"/>
                </a:cxn>
                <a:cxn ang="0">
                  <a:pos x="4" y="4"/>
                </a:cxn>
                <a:cxn ang="0">
                  <a:pos x="5" y="3"/>
                </a:cxn>
                <a:cxn ang="0">
                  <a:pos x="5" y="2"/>
                </a:cxn>
                <a:cxn ang="0">
                  <a:pos x="5" y="2"/>
                </a:cxn>
                <a:cxn ang="0">
                  <a:pos x="5" y="1"/>
                </a:cxn>
                <a:cxn ang="0">
                  <a:pos x="4" y="0"/>
                </a:cxn>
                <a:cxn ang="0">
                  <a:pos x="3" y="0"/>
                </a:cxn>
                <a:cxn ang="0">
                  <a:pos x="3" y="0"/>
                </a:cxn>
                <a:cxn ang="0">
                  <a:pos x="2" y="0"/>
                </a:cxn>
                <a:cxn ang="0">
                  <a:pos x="1" y="0"/>
                </a:cxn>
                <a:cxn ang="0">
                  <a:pos x="1" y="1"/>
                </a:cxn>
                <a:cxn ang="0">
                  <a:pos x="0" y="2"/>
                </a:cxn>
                <a:cxn ang="0">
                  <a:pos x="0" y="3"/>
                </a:cxn>
                <a:cxn ang="0">
                  <a:pos x="1" y="4"/>
                </a:cxn>
                <a:cxn ang="0">
                  <a:pos x="1" y="4"/>
                </a:cxn>
                <a:cxn ang="0">
                  <a:pos x="2" y="5"/>
                </a:cxn>
                <a:cxn ang="0">
                  <a:pos x="3" y="5"/>
                </a:cxn>
                <a:cxn ang="0">
                  <a:pos x="4" y="5"/>
                </a:cxn>
              </a:cxnLst>
              <a:rect l="0" t="0" r="r" b="b"/>
              <a:pathLst>
                <a:path w="5" h="5">
                  <a:moveTo>
                    <a:pt x="4" y="5"/>
                  </a:moveTo>
                  <a:lnTo>
                    <a:pt x="4" y="4"/>
                  </a:lnTo>
                  <a:lnTo>
                    <a:pt x="5" y="3"/>
                  </a:lnTo>
                  <a:lnTo>
                    <a:pt x="5" y="2"/>
                  </a:lnTo>
                  <a:lnTo>
                    <a:pt x="5" y="2"/>
                  </a:lnTo>
                  <a:lnTo>
                    <a:pt x="5" y="1"/>
                  </a:lnTo>
                  <a:lnTo>
                    <a:pt x="4" y="0"/>
                  </a:lnTo>
                  <a:lnTo>
                    <a:pt x="3" y="0"/>
                  </a:lnTo>
                  <a:lnTo>
                    <a:pt x="3" y="0"/>
                  </a:lnTo>
                  <a:lnTo>
                    <a:pt x="2" y="0"/>
                  </a:lnTo>
                  <a:lnTo>
                    <a:pt x="1" y="0"/>
                  </a:lnTo>
                  <a:lnTo>
                    <a:pt x="1" y="1"/>
                  </a:lnTo>
                  <a:lnTo>
                    <a:pt x="0" y="2"/>
                  </a:lnTo>
                  <a:lnTo>
                    <a:pt x="0" y="3"/>
                  </a:lnTo>
                  <a:lnTo>
                    <a:pt x="1" y="4"/>
                  </a:lnTo>
                  <a:lnTo>
                    <a:pt x="1" y="4"/>
                  </a:lnTo>
                  <a:lnTo>
                    <a:pt x="2" y="5"/>
                  </a:lnTo>
                  <a:lnTo>
                    <a:pt x="3" y="5"/>
                  </a:lnTo>
                  <a:lnTo>
                    <a:pt x="4" y="5"/>
                  </a:lnTo>
                  <a:close/>
                </a:path>
              </a:pathLst>
            </a:custGeom>
            <a:solidFill>
              <a:srgbClr val="000000"/>
            </a:solidFill>
            <a:ln w="9525">
              <a:noFill/>
              <a:round/>
              <a:headEnd/>
              <a:tailEnd/>
            </a:ln>
          </p:spPr>
          <p:txBody>
            <a:bodyPr/>
            <a:lstStyle/>
            <a:p>
              <a:endParaRPr lang="en-US"/>
            </a:p>
          </p:txBody>
        </p:sp>
        <p:sp>
          <p:nvSpPr>
            <p:cNvPr id="327149" name="Freeform 493"/>
            <p:cNvSpPr>
              <a:spLocks/>
            </p:cNvSpPr>
            <p:nvPr/>
          </p:nvSpPr>
          <p:spPr bwMode="auto">
            <a:xfrm>
              <a:off x="1299" y="2416"/>
              <a:ext cx="6" cy="5"/>
            </a:xfrm>
            <a:custGeom>
              <a:avLst/>
              <a:gdLst/>
              <a:ahLst/>
              <a:cxnLst>
                <a:cxn ang="0">
                  <a:pos x="5" y="5"/>
                </a:cxn>
                <a:cxn ang="0">
                  <a:pos x="5" y="4"/>
                </a:cxn>
                <a:cxn ang="0">
                  <a:pos x="6" y="3"/>
                </a:cxn>
                <a:cxn ang="0">
                  <a:pos x="6" y="2"/>
                </a:cxn>
                <a:cxn ang="0">
                  <a:pos x="6" y="2"/>
                </a:cxn>
                <a:cxn ang="0">
                  <a:pos x="6" y="1"/>
                </a:cxn>
                <a:cxn ang="0">
                  <a:pos x="5" y="0"/>
                </a:cxn>
                <a:cxn ang="0">
                  <a:pos x="4" y="0"/>
                </a:cxn>
                <a:cxn ang="0">
                  <a:pos x="4" y="0"/>
                </a:cxn>
                <a:cxn ang="0">
                  <a:pos x="3" y="0"/>
                </a:cxn>
                <a:cxn ang="0">
                  <a:pos x="2" y="0"/>
                </a:cxn>
                <a:cxn ang="0">
                  <a:pos x="2" y="1"/>
                </a:cxn>
                <a:cxn ang="0">
                  <a:pos x="0" y="2"/>
                </a:cxn>
                <a:cxn ang="0">
                  <a:pos x="0" y="3"/>
                </a:cxn>
                <a:cxn ang="0">
                  <a:pos x="2" y="4"/>
                </a:cxn>
                <a:cxn ang="0">
                  <a:pos x="2" y="4"/>
                </a:cxn>
                <a:cxn ang="0">
                  <a:pos x="3" y="5"/>
                </a:cxn>
                <a:cxn ang="0">
                  <a:pos x="4" y="5"/>
                </a:cxn>
                <a:cxn ang="0">
                  <a:pos x="5" y="5"/>
                </a:cxn>
              </a:cxnLst>
              <a:rect l="0" t="0" r="r" b="b"/>
              <a:pathLst>
                <a:path w="6" h="5">
                  <a:moveTo>
                    <a:pt x="5" y="5"/>
                  </a:moveTo>
                  <a:lnTo>
                    <a:pt x="5" y="4"/>
                  </a:lnTo>
                  <a:lnTo>
                    <a:pt x="6" y="3"/>
                  </a:lnTo>
                  <a:lnTo>
                    <a:pt x="6" y="2"/>
                  </a:lnTo>
                  <a:lnTo>
                    <a:pt x="6" y="2"/>
                  </a:lnTo>
                  <a:lnTo>
                    <a:pt x="6" y="1"/>
                  </a:lnTo>
                  <a:lnTo>
                    <a:pt x="5" y="0"/>
                  </a:lnTo>
                  <a:lnTo>
                    <a:pt x="4" y="0"/>
                  </a:lnTo>
                  <a:lnTo>
                    <a:pt x="4" y="0"/>
                  </a:lnTo>
                  <a:lnTo>
                    <a:pt x="3" y="0"/>
                  </a:lnTo>
                  <a:lnTo>
                    <a:pt x="2" y="0"/>
                  </a:lnTo>
                  <a:lnTo>
                    <a:pt x="2" y="1"/>
                  </a:lnTo>
                  <a:lnTo>
                    <a:pt x="0" y="2"/>
                  </a:lnTo>
                  <a:lnTo>
                    <a:pt x="0" y="3"/>
                  </a:lnTo>
                  <a:lnTo>
                    <a:pt x="2" y="4"/>
                  </a:lnTo>
                  <a:lnTo>
                    <a:pt x="2" y="4"/>
                  </a:lnTo>
                  <a:lnTo>
                    <a:pt x="3" y="5"/>
                  </a:lnTo>
                  <a:lnTo>
                    <a:pt x="4" y="5"/>
                  </a:lnTo>
                  <a:lnTo>
                    <a:pt x="5" y="5"/>
                  </a:lnTo>
                  <a:close/>
                </a:path>
              </a:pathLst>
            </a:custGeom>
            <a:solidFill>
              <a:srgbClr val="000000"/>
            </a:solidFill>
            <a:ln w="9525">
              <a:noFill/>
              <a:round/>
              <a:headEnd/>
              <a:tailEnd/>
            </a:ln>
          </p:spPr>
          <p:txBody>
            <a:bodyPr/>
            <a:lstStyle/>
            <a:p>
              <a:endParaRPr lang="en-US"/>
            </a:p>
          </p:txBody>
        </p:sp>
        <p:sp>
          <p:nvSpPr>
            <p:cNvPr id="327150" name="Freeform 494"/>
            <p:cNvSpPr>
              <a:spLocks/>
            </p:cNvSpPr>
            <p:nvPr/>
          </p:nvSpPr>
          <p:spPr bwMode="auto">
            <a:xfrm>
              <a:off x="1288" y="2416"/>
              <a:ext cx="6" cy="5"/>
            </a:xfrm>
            <a:custGeom>
              <a:avLst/>
              <a:gdLst/>
              <a:ahLst/>
              <a:cxnLst>
                <a:cxn ang="0">
                  <a:pos x="5" y="5"/>
                </a:cxn>
                <a:cxn ang="0">
                  <a:pos x="5" y="4"/>
                </a:cxn>
                <a:cxn ang="0">
                  <a:pos x="6" y="3"/>
                </a:cxn>
                <a:cxn ang="0">
                  <a:pos x="6" y="2"/>
                </a:cxn>
                <a:cxn ang="0">
                  <a:pos x="6" y="2"/>
                </a:cxn>
                <a:cxn ang="0">
                  <a:pos x="6" y="1"/>
                </a:cxn>
                <a:cxn ang="0">
                  <a:pos x="5" y="0"/>
                </a:cxn>
                <a:cxn ang="0">
                  <a:pos x="4" y="0"/>
                </a:cxn>
                <a:cxn ang="0">
                  <a:pos x="4" y="0"/>
                </a:cxn>
                <a:cxn ang="0">
                  <a:pos x="2" y="0"/>
                </a:cxn>
                <a:cxn ang="0">
                  <a:pos x="1" y="0"/>
                </a:cxn>
                <a:cxn ang="0">
                  <a:pos x="1" y="1"/>
                </a:cxn>
                <a:cxn ang="0">
                  <a:pos x="0" y="2"/>
                </a:cxn>
                <a:cxn ang="0">
                  <a:pos x="0" y="3"/>
                </a:cxn>
                <a:cxn ang="0">
                  <a:pos x="1" y="4"/>
                </a:cxn>
                <a:cxn ang="0">
                  <a:pos x="1" y="4"/>
                </a:cxn>
                <a:cxn ang="0">
                  <a:pos x="2" y="5"/>
                </a:cxn>
                <a:cxn ang="0">
                  <a:pos x="4" y="5"/>
                </a:cxn>
                <a:cxn ang="0">
                  <a:pos x="5" y="5"/>
                </a:cxn>
              </a:cxnLst>
              <a:rect l="0" t="0" r="r" b="b"/>
              <a:pathLst>
                <a:path w="6" h="5">
                  <a:moveTo>
                    <a:pt x="5" y="5"/>
                  </a:moveTo>
                  <a:lnTo>
                    <a:pt x="5" y="4"/>
                  </a:lnTo>
                  <a:lnTo>
                    <a:pt x="6" y="3"/>
                  </a:lnTo>
                  <a:lnTo>
                    <a:pt x="6" y="2"/>
                  </a:lnTo>
                  <a:lnTo>
                    <a:pt x="6" y="2"/>
                  </a:lnTo>
                  <a:lnTo>
                    <a:pt x="6" y="1"/>
                  </a:lnTo>
                  <a:lnTo>
                    <a:pt x="5" y="0"/>
                  </a:lnTo>
                  <a:lnTo>
                    <a:pt x="4" y="0"/>
                  </a:lnTo>
                  <a:lnTo>
                    <a:pt x="4" y="0"/>
                  </a:lnTo>
                  <a:lnTo>
                    <a:pt x="2" y="0"/>
                  </a:lnTo>
                  <a:lnTo>
                    <a:pt x="1" y="0"/>
                  </a:lnTo>
                  <a:lnTo>
                    <a:pt x="1" y="1"/>
                  </a:lnTo>
                  <a:lnTo>
                    <a:pt x="0" y="2"/>
                  </a:lnTo>
                  <a:lnTo>
                    <a:pt x="0" y="3"/>
                  </a:lnTo>
                  <a:lnTo>
                    <a:pt x="1" y="4"/>
                  </a:lnTo>
                  <a:lnTo>
                    <a:pt x="1" y="4"/>
                  </a:lnTo>
                  <a:lnTo>
                    <a:pt x="2" y="5"/>
                  </a:lnTo>
                  <a:lnTo>
                    <a:pt x="4" y="5"/>
                  </a:lnTo>
                  <a:lnTo>
                    <a:pt x="5" y="5"/>
                  </a:lnTo>
                  <a:close/>
                </a:path>
              </a:pathLst>
            </a:custGeom>
            <a:solidFill>
              <a:srgbClr val="000000"/>
            </a:solidFill>
            <a:ln w="9525">
              <a:noFill/>
              <a:round/>
              <a:headEnd/>
              <a:tailEnd/>
            </a:ln>
          </p:spPr>
          <p:txBody>
            <a:bodyPr/>
            <a:lstStyle/>
            <a:p>
              <a:endParaRPr lang="en-US"/>
            </a:p>
          </p:txBody>
        </p:sp>
        <p:sp>
          <p:nvSpPr>
            <p:cNvPr id="327151" name="Freeform 495"/>
            <p:cNvSpPr>
              <a:spLocks/>
            </p:cNvSpPr>
            <p:nvPr/>
          </p:nvSpPr>
          <p:spPr bwMode="auto">
            <a:xfrm>
              <a:off x="1277" y="2416"/>
              <a:ext cx="6" cy="5"/>
            </a:xfrm>
            <a:custGeom>
              <a:avLst/>
              <a:gdLst/>
              <a:ahLst/>
              <a:cxnLst>
                <a:cxn ang="0">
                  <a:pos x="4" y="5"/>
                </a:cxn>
                <a:cxn ang="0">
                  <a:pos x="4" y="4"/>
                </a:cxn>
                <a:cxn ang="0">
                  <a:pos x="6" y="3"/>
                </a:cxn>
                <a:cxn ang="0">
                  <a:pos x="6" y="2"/>
                </a:cxn>
                <a:cxn ang="0">
                  <a:pos x="6" y="2"/>
                </a:cxn>
                <a:cxn ang="0">
                  <a:pos x="6" y="1"/>
                </a:cxn>
                <a:cxn ang="0">
                  <a:pos x="4" y="0"/>
                </a:cxn>
                <a:cxn ang="0">
                  <a:pos x="3" y="0"/>
                </a:cxn>
                <a:cxn ang="0">
                  <a:pos x="3" y="0"/>
                </a:cxn>
                <a:cxn ang="0">
                  <a:pos x="2" y="0"/>
                </a:cxn>
                <a:cxn ang="0">
                  <a:pos x="1" y="0"/>
                </a:cxn>
                <a:cxn ang="0">
                  <a:pos x="1" y="1"/>
                </a:cxn>
                <a:cxn ang="0">
                  <a:pos x="0" y="2"/>
                </a:cxn>
                <a:cxn ang="0">
                  <a:pos x="0" y="3"/>
                </a:cxn>
                <a:cxn ang="0">
                  <a:pos x="1" y="4"/>
                </a:cxn>
                <a:cxn ang="0">
                  <a:pos x="1" y="4"/>
                </a:cxn>
                <a:cxn ang="0">
                  <a:pos x="2" y="5"/>
                </a:cxn>
                <a:cxn ang="0">
                  <a:pos x="3" y="5"/>
                </a:cxn>
                <a:cxn ang="0">
                  <a:pos x="4" y="5"/>
                </a:cxn>
              </a:cxnLst>
              <a:rect l="0" t="0" r="r" b="b"/>
              <a:pathLst>
                <a:path w="6" h="5">
                  <a:moveTo>
                    <a:pt x="4" y="5"/>
                  </a:moveTo>
                  <a:lnTo>
                    <a:pt x="4" y="4"/>
                  </a:lnTo>
                  <a:lnTo>
                    <a:pt x="6" y="3"/>
                  </a:lnTo>
                  <a:lnTo>
                    <a:pt x="6" y="2"/>
                  </a:lnTo>
                  <a:lnTo>
                    <a:pt x="6" y="2"/>
                  </a:lnTo>
                  <a:lnTo>
                    <a:pt x="6" y="1"/>
                  </a:lnTo>
                  <a:lnTo>
                    <a:pt x="4" y="0"/>
                  </a:lnTo>
                  <a:lnTo>
                    <a:pt x="3" y="0"/>
                  </a:lnTo>
                  <a:lnTo>
                    <a:pt x="3" y="0"/>
                  </a:lnTo>
                  <a:lnTo>
                    <a:pt x="2" y="0"/>
                  </a:lnTo>
                  <a:lnTo>
                    <a:pt x="1" y="0"/>
                  </a:lnTo>
                  <a:lnTo>
                    <a:pt x="1" y="1"/>
                  </a:lnTo>
                  <a:lnTo>
                    <a:pt x="0" y="2"/>
                  </a:lnTo>
                  <a:lnTo>
                    <a:pt x="0" y="3"/>
                  </a:lnTo>
                  <a:lnTo>
                    <a:pt x="1" y="4"/>
                  </a:lnTo>
                  <a:lnTo>
                    <a:pt x="1" y="4"/>
                  </a:lnTo>
                  <a:lnTo>
                    <a:pt x="2" y="5"/>
                  </a:lnTo>
                  <a:lnTo>
                    <a:pt x="3" y="5"/>
                  </a:lnTo>
                  <a:lnTo>
                    <a:pt x="4" y="5"/>
                  </a:lnTo>
                  <a:close/>
                </a:path>
              </a:pathLst>
            </a:custGeom>
            <a:solidFill>
              <a:srgbClr val="000000"/>
            </a:solidFill>
            <a:ln w="9525">
              <a:noFill/>
              <a:round/>
              <a:headEnd/>
              <a:tailEnd/>
            </a:ln>
          </p:spPr>
          <p:txBody>
            <a:bodyPr/>
            <a:lstStyle/>
            <a:p>
              <a:endParaRPr lang="en-US"/>
            </a:p>
          </p:txBody>
        </p:sp>
        <p:sp>
          <p:nvSpPr>
            <p:cNvPr id="327152" name="Freeform 496"/>
            <p:cNvSpPr>
              <a:spLocks/>
            </p:cNvSpPr>
            <p:nvPr/>
          </p:nvSpPr>
          <p:spPr bwMode="auto">
            <a:xfrm>
              <a:off x="1266" y="2416"/>
              <a:ext cx="5" cy="5"/>
            </a:xfrm>
            <a:custGeom>
              <a:avLst/>
              <a:gdLst/>
              <a:ahLst/>
              <a:cxnLst>
                <a:cxn ang="0">
                  <a:pos x="4" y="5"/>
                </a:cxn>
                <a:cxn ang="0">
                  <a:pos x="4" y="4"/>
                </a:cxn>
                <a:cxn ang="0">
                  <a:pos x="5" y="3"/>
                </a:cxn>
                <a:cxn ang="0">
                  <a:pos x="5" y="2"/>
                </a:cxn>
                <a:cxn ang="0">
                  <a:pos x="5" y="2"/>
                </a:cxn>
                <a:cxn ang="0">
                  <a:pos x="5" y="1"/>
                </a:cxn>
                <a:cxn ang="0">
                  <a:pos x="4" y="0"/>
                </a:cxn>
                <a:cxn ang="0">
                  <a:pos x="3" y="0"/>
                </a:cxn>
                <a:cxn ang="0">
                  <a:pos x="3" y="0"/>
                </a:cxn>
                <a:cxn ang="0">
                  <a:pos x="2" y="0"/>
                </a:cxn>
                <a:cxn ang="0">
                  <a:pos x="1" y="0"/>
                </a:cxn>
                <a:cxn ang="0">
                  <a:pos x="1" y="1"/>
                </a:cxn>
                <a:cxn ang="0">
                  <a:pos x="0" y="2"/>
                </a:cxn>
                <a:cxn ang="0">
                  <a:pos x="0" y="3"/>
                </a:cxn>
                <a:cxn ang="0">
                  <a:pos x="1" y="4"/>
                </a:cxn>
                <a:cxn ang="0">
                  <a:pos x="1" y="4"/>
                </a:cxn>
                <a:cxn ang="0">
                  <a:pos x="2" y="5"/>
                </a:cxn>
                <a:cxn ang="0">
                  <a:pos x="3" y="5"/>
                </a:cxn>
                <a:cxn ang="0">
                  <a:pos x="4" y="5"/>
                </a:cxn>
              </a:cxnLst>
              <a:rect l="0" t="0" r="r" b="b"/>
              <a:pathLst>
                <a:path w="5" h="5">
                  <a:moveTo>
                    <a:pt x="4" y="5"/>
                  </a:moveTo>
                  <a:lnTo>
                    <a:pt x="4" y="4"/>
                  </a:lnTo>
                  <a:lnTo>
                    <a:pt x="5" y="3"/>
                  </a:lnTo>
                  <a:lnTo>
                    <a:pt x="5" y="2"/>
                  </a:lnTo>
                  <a:lnTo>
                    <a:pt x="5" y="2"/>
                  </a:lnTo>
                  <a:lnTo>
                    <a:pt x="5" y="1"/>
                  </a:lnTo>
                  <a:lnTo>
                    <a:pt x="4" y="0"/>
                  </a:lnTo>
                  <a:lnTo>
                    <a:pt x="3" y="0"/>
                  </a:lnTo>
                  <a:lnTo>
                    <a:pt x="3" y="0"/>
                  </a:lnTo>
                  <a:lnTo>
                    <a:pt x="2" y="0"/>
                  </a:lnTo>
                  <a:lnTo>
                    <a:pt x="1" y="0"/>
                  </a:lnTo>
                  <a:lnTo>
                    <a:pt x="1" y="1"/>
                  </a:lnTo>
                  <a:lnTo>
                    <a:pt x="0" y="2"/>
                  </a:lnTo>
                  <a:lnTo>
                    <a:pt x="0" y="3"/>
                  </a:lnTo>
                  <a:lnTo>
                    <a:pt x="1" y="4"/>
                  </a:lnTo>
                  <a:lnTo>
                    <a:pt x="1" y="4"/>
                  </a:lnTo>
                  <a:lnTo>
                    <a:pt x="2" y="5"/>
                  </a:lnTo>
                  <a:lnTo>
                    <a:pt x="3" y="5"/>
                  </a:lnTo>
                  <a:lnTo>
                    <a:pt x="4" y="5"/>
                  </a:lnTo>
                  <a:close/>
                </a:path>
              </a:pathLst>
            </a:custGeom>
            <a:solidFill>
              <a:srgbClr val="000000"/>
            </a:solidFill>
            <a:ln w="9525">
              <a:noFill/>
              <a:round/>
              <a:headEnd/>
              <a:tailEnd/>
            </a:ln>
          </p:spPr>
          <p:txBody>
            <a:bodyPr/>
            <a:lstStyle/>
            <a:p>
              <a:endParaRPr lang="en-US"/>
            </a:p>
          </p:txBody>
        </p:sp>
      </p:grpSp>
      <p:sp>
        <p:nvSpPr>
          <p:cNvPr id="327153" name="Freeform 497"/>
          <p:cNvSpPr>
            <a:spLocks/>
          </p:cNvSpPr>
          <p:nvPr/>
        </p:nvSpPr>
        <p:spPr bwMode="auto">
          <a:xfrm>
            <a:off x="1965325" y="3808413"/>
            <a:ext cx="49213" cy="60325"/>
          </a:xfrm>
          <a:custGeom>
            <a:avLst/>
            <a:gdLst/>
            <a:ahLst/>
            <a:cxnLst>
              <a:cxn ang="0">
                <a:pos x="31" y="38"/>
              </a:cxn>
              <a:cxn ang="0">
                <a:pos x="31" y="0"/>
              </a:cxn>
              <a:cxn ang="0">
                <a:pos x="0" y="19"/>
              </a:cxn>
              <a:cxn ang="0">
                <a:pos x="31" y="38"/>
              </a:cxn>
            </a:cxnLst>
            <a:rect l="0" t="0" r="r" b="b"/>
            <a:pathLst>
              <a:path w="31" h="38">
                <a:moveTo>
                  <a:pt x="31" y="38"/>
                </a:moveTo>
                <a:lnTo>
                  <a:pt x="31" y="0"/>
                </a:lnTo>
                <a:lnTo>
                  <a:pt x="0" y="19"/>
                </a:lnTo>
                <a:lnTo>
                  <a:pt x="31" y="38"/>
                </a:lnTo>
                <a:close/>
              </a:path>
            </a:pathLst>
          </a:custGeom>
          <a:solidFill>
            <a:srgbClr val="000000"/>
          </a:solidFill>
          <a:ln w="3175">
            <a:solidFill>
              <a:srgbClr val="000000"/>
            </a:solidFill>
            <a:prstDash val="solid"/>
            <a:round/>
            <a:headEnd/>
            <a:tailEnd/>
          </a:ln>
        </p:spPr>
        <p:txBody>
          <a:bodyPr/>
          <a:lstStyle/>
          <a:p>
            <a:endParaRPr lang="en-US"/>
          </a:p>
        </p:txBody>
      </p:sp>
      <p:grpSp>
        <p:nvGrpSpPr>
          <p:cNvPr id="7" name="Group 498"/>
          <p:cNvGrpSpPr>
            <a:grpSpLocks/>
          </p:cNvGrpSpPr>
          <p:nvPr/>
        </p:nvGrpSpPr>
        <p:grpSpPr bwMode="auto">
          <a:xfrm>
            <a:off x="6108700" y="2319338"/>
            <a:ext cx="546100" cy="9525"/>
            <a:chOff x="3848" y="1461"/>
            <a:chExt cx="344" cy="6"/>
          </a:xfrm>
        </p:grpSpPr>
        <p:sp>
          <p:nvSpPr>
            <p:cNvPr id="327155" name="Freeform 499"/>
            <p:cNvSpPr>
              <a:spLocks/>
            </p:cNvSpPr>
            <p:nvPr/>
          </p:nvSpPr>
          <p:spPr bwMode="auto">
            <a:xfrm>
              <a:off x="4187" y="1461"/>
              <a:ext cx="5" cy="6"/>
            </a:xfrm>
            <a:custGeom>
              <a:avLst/>
              <a:gdLst/>
              <a:ahLst/>
              <a:cxnLst>
                <a:cxn ang="0">
                  <a:pos x="4" y="6"/>
                </a:cxn>
                <a:cxn ang="0">
                  <a:pos x="4" y="4"/>
                </a:cxn>
                <a:cxn ang="0">
                  <a:pos x="5" y="3"/>
                </a:cxn>
                <a:cxn ang="0">
                  <a:pos x="5" y="2"/>
                </a:cxn>
                <a:cxn ang="0">
                  <a:pos x="5" y="2"/>
                </a:cxn>
                <a:cxn ang="0">
                  <a:pos x="5" y="1"/>
                </a:cxn>
                <a:cxn ang="0">
                  <a:pos x="4" y="0"/>
                </a:cxn>
                <a:cxn ang="0">
                  <a:pos x="3" y="0"/>
                </a:cxn>
                <a:cxn ang="0">
                  <a:pos x="3" y="0"/>
                </a:cxn>
                <a:cxn ang="0">
                  <a:pos x="2" y="0"/>
                </a:cxn>
                <a:cxn ang="0">
                  <a:pos x="1" y="0"/>
                </a:cxn>
                <a:cxn ang="0">
                  <a:pos x="1" y="1"/>
                </a:cxn>
                <a:cxn ang="0">
                  <a:pos x="0" y="2"/>
                </a:cxn>
                <a:cxn ang="0">
                  <a:pos x="0" y="3"/>
                </a:cxn>
                <a:cxn ang="0">
                  <a:pos x="1" y="4"/>
                </a:cxn>
                <a:cxn ang="0">
                  <a:pos x="1" y="4"/>
                </a:cxn>
                <a:cxn ang="0">
                  <a:pos x="2" y="6"/>
                </a:cxn>
                <a:cxn ang="0">
                  <a:pos x="3" y="6"/>
                </a:cxn>
                <a:cxn ang="0">
                  <a:pos x="4" y="6"/>
                </a:cxn>
              </a:cxnLst>
              <a:rect l="0" t="0" r="r" b="b"/>
              <a:pathLst>
                <a:path w="5" h="6">
                  <a:moveTo>
                    <a:pt x="4" y="6"/>
                  </a:moveTo>
                  <a:lnTo>
                    <a:pt x="4" y="4"/>
                  </a:lnTo>
                  <a:lnTo>
                    <a:pt x="5" y="3"/>
                  </a:lnTo>
                  <a:lnTo>
                    <a:pt x="5" y="2"/>
                  </a:lnTo>
                  <a:lnTo>
                    <a:pt x="5" y="2"/>
                  </a:lnTo>
                  <a:lnTo>
                    <a:pt x="5" y="1"/>
                  </a:lnTo>
                  <a:lnTo>
                    <a:pt x="4" y="0"/>
                  </a:lnTo>
                  <a:lnTo>
                    <a:pt x="3" y="0"/>
                  </a:lnTo>
                  <a:lnTo>
                    <a:pt x="3" y="0"/>
                  </a:lnTo>
                  <a:lnTo>
                    <a:pt x="2" y="0"/>
                  </a:lnTo>
                  <a:lnTo>
                    <a:pt x="1" y="0"/>
                  </a:lnTo>
                  <a:lnTo>
                    <a:pt x="1" y="1"/>
                  </a:lnTo>
                  <a:lnTo>
                    <a:pt x="0" y="2"/>
                  </a:lnTo>
                  <a:lnTo>
                    <a:pt x="0" y="3"/>
                  </a:lnTo>
                  <a:lnTo>
                    <a:pt x="1" y="4"/>
                  </a:lnTo>
                  <a:lnTo>
                    <a:pt x="1" y="4"/>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156" name="Freeform 500"/>
            <p:cNvSpPr>
              <a:spLocks/>
            </p:cNvSpPr>
            <p:nvPr/>
          </p:nvSpPr>
          <p:spPr bwMode="auto">
            <a:xfrm>
              <a:off x="4175" y="1461"/>
              <a:ext cx="6" cy="6"/>
            </a:xfrm>
            <a:custGeom>
              <a:avLst/>
              <a:gdLst/>
              <a:ahLst/>
              <a:cxnLst>
                <a:cxn ang="0">
                  <a:pos x="5" y="6"/>
                </a:cxn>
                <a:cxn ang="0">
                  <a:pos x="5" y="4"/>
                </a:cxn>
                <a:cxn ang="0">
                  <a:pos x="6" y="3"/>
                </a:cxn>
                <a:cxn ang="0">
                  <a:pos x="6" y="2"/>
                </a:cxn>
                <a:cxn ang="0">
                  <a:pos x="6" y="2"/>
                </a:cxn>
                <a:cxn ang="0">
                  <a:pos x="6" y="1"/>
                </a:cxn>
                <a:cxn ang="0">
                  <a:pos x="5" y="0"/>
                </a:cxn>
                <a:cxn ang="0">
                  <a:pos x="4" y="0"/>
                </a:cxn>
                <a:cxn ang="0">
                  <a:pos x="4" y="0"/>
                </a:cxn>
                <a:cxn ang="0">
                  <a:pos x="3" y="0"/>
                </a:cxn>
                <a:cxn ang="0">
                  <a:pos x="1" y="0"/>
                </a:cxn>
                <a:cxn ang="0">
                  <a:pos x="1" y="1"/>
                </a:cxn>
                <a:cxn ang="0">
                  <a:pos x="0" y="2"/>
                </a:cxn>
                <a:cxn ang="0">
                  <a:pos x="0" y="3"/>
                </a:cxn>
                <a:cxn ang="0">
                  <a:pos x="1" y="4"/>
                </a:cxn>
                <a:cxn ang="0">
                  <a:pos x="1" y="4"/>
                </a:cxn>
                <a:cxn ang="0">
                  <a:pos x="3" y="6"/>
                </a:cxn>
                <a:cxn ang="0">
                  <a:pos x="4" y="6"/>
                </a:cxn>
                <a:cxn ang="0">
                  <a:pos x="5" y="6"/>
                </a:cxn>
              </a:cxnLst>
              <a:rect l="0" t="0" r="r" b="b"/>
              <a:pathLst>
                <a:path w="6" h="6">
                  <a:moveTo>
                    <a:pt x="5" y="6"/>
                  </a:moveTo>
                  <a:lnTo>
                    <a:pt x="5" y="4"/>
                  </a:lnTo>
                  <a:lnTo>
                    <a:pt x="6" y="3"/>
                  </a:lnTo>
                  <a:lnTo>
                    <a:pt x="6" y="2"/>
                  </a:lnTo>
                  <a:lnTo>
                    <a:pt x="6" y="2"/>
                  </a:lnTo>
                  <a:lnTo>
                    <a:pt x="6" y="1"/>
                  </a:lnTo>
                  <a:lnTo>
                    <a:pt x="5" y="0"/>
                  </a:lnTo>
                  <a:lnTo>
                    <a:pt x="4" y="0"/>
                  </a:lnTo>
                  <a:lnTo>
                    <a:pt x="4" y="0"/>
                  </a:lnTo>
                  <a:lnTo>
                    <a:pt x="3" y="0"/>
                  </a:lnTo>
                  <a:lnTo>
                    <a:pt x="1" y="0"/>
                  </a:lnTo>
                  <a:lnTo>
                    <a:pt x="1" y="1"/>
                  </a:lnTo>
                  <a:lnTo>
                    <a:pt x="0" y="2"/>
                  </a:lnTo>
                  <a:lnTo>
                    <a:pt x="0" y="3"/>
                  </a:lnTo>
                  <a:lnTo>
                    <a:pt x="1" y="4"/>
                  </a:lnTo>
                  <a:lnTo>
                    <a:pt x="1" y="4"/>
                  </a:lnTo>
                  <a:lnTo>
                    <a:pt x="3" y="6"/>
                  </a:lnTo>
                  <a:lnTo>
                    <a:pt x="4" y="6"/>
                  </a:lnTo>
                  <a:lnTo>
                    <a:pt x="5" y="6"/>
                  </a:lnTo>
                  <a:close/>
                </a:path>
              </a:pathLst>
            </a:custGeom>
            <a:solidFill>
              <a:srgbClr val="000000"/>
            </a:solidFill>
            <a:ln w="9525">
              <a:noFill/>
              <a:round/>
              <a:headEnd/>
              <a:tailEnd/>
            </a:ln>
          </p:spPr>
          <p:txBody>
            <a:bodyPr/>
            <a:lstStyle/>
            <a:p>
              <a:endParaRPr lang="en-US"/>
            </a:p>
          </p:txBody>
        </p:sp>
        <p:sp>
          <p:nvSpPr>
            <p:cNvPr id="327157" name="Freeform 501"/>
            <p:cNvSpPr>
              <a:spLocks/>
            </p:cNvSpPr>
            <p:nvPr/>
          </p:nvSpPr>
          <p:spPr bwMode="auto">
            <a:xfrm>
              <a:off x="4164" y="1461"/>
              <a:ext cx="7" cy="6"/>
            </a:xfrm>
            <a:custGeom>
              <a:avLst/>
              <a:gdLst/>
              <a:ahLst/>
              <a:cxnLst>
                <a:cxn ang="0">
                  <a:pos x="4" y="6"/>
                </a:cxn>
                <a:cxn ang="0">
                  <a:pos x="6" y="4"/>
                </a:cxn>
                <a:cxn ang="0">
                  <a:pos x="6" y="4"/>
                </a:cxn>
                <a:cxn ang="0">
                  <a:pos x="7" y="3"/>
                </a:cxn>
                <a:cxn ang="0">
                  <a:pos x="7" y="2"/>
                </a:cxn>
                <a:cxn ang="0">
                  <a:pos x="6" y="1"/>
                </a:cxn>
                <a:cxn ang="0">
                  <a:pos x="6" y="0"/>
                </a:cxn>
                <a:cxn ang="0">
                  <a:pos x="4" y="0"/>
                </a:cxn>
                <a:cxn ang="0">
                  <a:pos x="3" y="0"/>
                </a:cxn>
                <a:cxn ang="0">
                  <a:pos x="2" y="0"/>
                </a:cxn>
                <a:cxn ang="0">
                  <a:pos x="1" y="0"/>
                </a:cxn>
                <a:cxn ang="0">
                  <a:pos x="1" y="1"/>
                </a:cxn>
                <a:cxn ang="0">
                  <a:pos x="0" y="2"/>
                </a:cxn>
                <a:cxn ang="0">
                  <a:pos x="0" y="3"/>
                </a:cxn>
                <a:cxn ang="0">
                  <a:pos x="1" y="4"/>
                </a:cxn>
                <a:cxn ang="0">
                  <a:pos x="1" y="4"/>
                </a:cxn>
                <a:cxn ang="0">
                  <a:pos x="2" y="6"/>
                </a:cxn>
                <a:cxn ang="0">
                  <a:pos x="3" y="6"/>
                </a:cxn>
                <a:cxn ang="0">
                  <a:pos x="4" y="6"/>
                </a:cxn>
              </a:cxnLst>
              <a:rect l="0" t="0" r="r" b="b"/>
              <a:pathLst>
                <a:path w="7" h="6">
                  <a:moveTo>
                    <a:pt x="4" y="6"/>
                  </a:moveTo>
                  <a:lnTo>
                    <a:pt x="6" y="4"/>
                  </a:lnTo>
                  <a:lnTo>
                    <a:pt x="6" y="4"/>
                  </a:lnTo>
                  <a:lnTo>
                    <a:pt x="7" y="3"/>
                  </a:lnTo>
                  <a:lnTo>
                    <a:pt x="7" y="2"/>
                  </a:lnTo>
                  <a:lnTo>
                    <a:pt x="6" y="1"/>
                  </a:lnTo>
                  <a:lnTo>
                    <a:pt x="6" y="0"/>
                  </a:lnTo>
                  <a:lnTo>
                    <a:pt x="4" y="0"/>
                  </a:lnTo>
                  <a:lnTo>
                    <a:pt x="3" y="0"/>
                  </a:lnTo>
                  <a:lnTo>
                    <a:pt x="2" y="0"/>
                  </a:lnTo>
                  <a:lnTo>
                    <a:pt x="1" y="0"/>
                  </a:lnTo>
                  <a:lnTo>
                    <a:pt x="1" y="1"/>
                  </a:lnTo>
                  <a:lnTo>
                    <a:pt x="0" y="2"/>
                  </a:lnTo>
                  <a:lnTo>
                    <a:pt x="0" y="3"/>
                  </a:lnTo>
                  <a:lnTo>
                    <a:pt x="1" y="4"/>
                  </a:lnTo>
                  <a:lnTo>
                    <a:pt x="1" y="4"/>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158" name="Freeform 502"/>
            <p:cNvSpPr>
              <a:spLocks/>
            </p:cNvSpPr>
            <p:nvPr/>
          </p:nvSpPr>
          <p:spPr bwMode="auto">
            <a:xfrm>
              <a:off x="4153" y="1461"/>
              <a:ext cx="6" cy="6"/>
            </a:xfrm>
            <a:custGeom>
              <a:avLst/>
              <a:gdLst/>
              <a:ahLst/>
              <a:cxnLst>
                <a:cxn ang="0">
                  <a:pos x="4" y="6"/>
                </a:cxn>
                <a:cxn ang="0">
                  <a:pos x="5" y="4"/>
                </a:cxn>
                <a:cxn ang="0">
                  <a:pos x="5" y="4"/>
                </a:cxn>
                <a:cxn ang="0">
                  <a:pos x="6" y="3"/>
                </a:cxn>
                <a:cxn ang="0">
                  <a:pos x="6" y="2"/>
                </a:cxn>
                <a:cxn ang="0">
                  <a:pos x="5" y="1"/>
                </a:cxn>
                <a:cxn ang="0">
                  <a:pos x="5" y="0"/>
                </a:cxn>
                <a:cxn ang="0">
                  <a:pos x="4" y="0"/>
                </a:cxn>
                <a:cxn ang="0">
                  <a:pos x="3" y="0"/>
                </a:cxn>
                <a:cxn ang="0">
                  <a:pos x="2" y="0"/>
                </a:cxn>
                <a:cxn ang="0">
                  <a:pos x="1" y="0"/>
                </a:cxn>
                <a:cxn ang="0">
                  <a:pos x="1" y="1"/>
                </a:cxn>
                <a:cxn ang="0">
                  <a:pos x="0" y="2"/>
                </a:cxn>
                <a:cxn ang="0">
                  <a:pos x="0" y="3"/>
                </a:cxn>
                <a:cxn ang="0">
                  <a:pos x="1" y="4"/>
                </a:cxn>
                <a:cxn ang="0">
                  <a:pos x="1" y="4"/>
                </a:cxn>
                <a:cxn ang="0">
                  <a:pos x="2" y="6"/>
                </a:cxn>
                <a:cxn ang="0">
                  <a:pos x="3" y="6"/>
                </a:cxn>
                <a:cxn ang="0">
                  <a:pos x="4" y="6"/>
                </a:cxn>
              </a:cxnLst>
              <a:rect l="0" t="0" r="r" b="b"/>
              <a:pathLst>
                <a:path w="6" h="6">
                  <a:moveTo>
                    <a:pt x="4" y="6"/>
                  </a:moveTo>
                  <a:lnTo>
                    <a:pt x="5" y="4"/>
                  </a:lnTo>
                  <a:lnTo>
                    <a:pt x="5" y="4"/>
                  </a:lnTo>
                  <a:lnTo>
                    <a:pt x="6" y="3"/>
                  </a:lnTo>
                  <a:lnTo>
                    <a:pt x="6" y="2"/>
                  </a:lnTo>
                  <a:lnTo>
                    <a:pt x="5" y="1"/>
                  </a:lnTo>
                  <a:lnTo>
                    <a:pt x="5" y="0"/>
                  </a:lnTo>
                  <a:lnTo>
                    <a:pt x="4" y="0"/>
                  </a:lnTo>
                  <a:lnTo>
                    <a:pt x="3" y="0"/>
                  </a:lnTo>
                  <a:lnTo>
                    <a:pt x="2" y="0"/>
                  </a:lnTo>
                  <a:lnTo>
                    <a:pt x="1" y="0"/>
                  </a:lnTo>
                  <a:lnTo>
                    <a:pt x="1" y="1"/>
                  </a:lnTo>
                  <a:lnTo>
                    <a:pt x="0" y="2"/>
                  </a:lnTo>
                  <a:lnTo>
                    <a:pt x="0" y="3"/>
                  </a:lnTo>
                  <a:lnTo>
                    <a:pt x="1" y="4"/>
                  </a:lnTo>
                  <a:lnTo>
                    <a:pt x="1" y="4"/>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159" name="Freeform 503"/>
            <p:cNvSpPr>
              <a:spLocks/>
            </p:cNvSpPr>
            <p:nvPr/>
          </p:nvSpPr>
          <p:spPr bwMode="auto">
            <a:xfrm>
              <a:off x="4141" y="1461"/>
              <a:ext cx="7" cy="6"/>
            </a:xfrm>
            <a:custGeom>
              <a:avLst/>
              <a:gdLst/>
              <a:ahLst/>
              <a:cxnLst>
                <a:cxn ang="0">
                  <a:pos x="5" y="6"/>
                </a:cxn>
                <a:cxn ang="0">
                  <a:pos x="6" y="4"/>
                </a:cxn>
                <a:cxn ang="0">
                  <a:pos x="6" y="4"/>
                </a:cxn>
                <a:cxn ang="0">
                  <a:pos x="7" y="3"/>
                </a:cxn>
                <a:cxn ang="0">
                  <a:pos x="7" y="2"/>
                </a:cxn>
                <a:cxn ang="0">
                  <a:pos x="6" y="1"/>
                </a:cxn>
                <a:cxn ang="0">
                  <a:pos x="6" y="0"/>
                </a:cxn>
                <a:cxn ang="0">
                  <a:pos x="5" y="0"/>
                </a:cxn>
                <a:cxn ang="0">
                  <a:pos x="4" y="0"/>
                </a:cxn>
                <a:cxn ang="0">
                  <a:pos x="3" y="0"/>
                </a:cxn>
                <a:cxn ang="0">
                  <a:pos x="2" y="0"/>
                </a:cxn>
                <a:cxn ang="0">
                  <a:pos x="2" y="1"/>
                </a:cxn>
                <a:cxn ang="0">
                  <a:pos x="0" y="2"/>
                </a:cxn>
                <a:cxn ang="0">
                  <a:pos x="0" y="3"/>
                </a:cxn>
                <a:cxn ang="0">
                  <a:pos x="2" y="4"/>
                </a:cxn>
                <a:cxn ang="0">
                  <a:pos x="2" y="4"/>
                </a:cxn>
                <a:cxn ang="0">
                  <a:pos x="3" y="6"/>
                </a:cxn>
                <a:cxn ang="0">
                  <a:pos x="4" y="6"/>
                </a:cxn>
                <a:cxn ang="0">
                  <a:pos x="5" y="6"/>
                </a:cxn>
              </a:cxnLst>
              <a:rect l="0" t="0" r="r" b="b"/>
              <a:pathLst>
                <a:path w="7" h="6">
                  <a:moveTo>
                    <a:pt x="5" y="6"/>
                  </a:moveTo>
                  <a:lnTo>
                    <a:pt x="6" y="4"/>
                  </a:lnTo>
                  <a:lnTo>
                    <a:pt x="6" y="4"/>
                  </a:lnTo>
                  <a:lnTo>
                    <a:pt x="7" y="3"/>
                  </a:lnTo>
                  <a:lnTo>
                    <a:pt x="7" y="2"/>
                  </a:lnTo>
                  <a:lnTo>
                    <a:pt x="6" y="1"/>
                  </a:lnTo>
                  <a:lnTo>
                    <a:pt x="6" y="0"/>
                  </a:lnTo>
                  <a:lnTo>
                    <a:pt x="5" y="0"/>
                  </a:lnTo>
                  <a:lnTo>
                    <a:pt x="4" y="0"/>
                  </a:lnTo>
                  <a:lnTo>
                    <a:pt x="3" y="0"/>
                  </a:lnTo>
                  <a:lnTo>
                    <a:pt x="2" y="0"/>
                  </a:lnTo>
                  <a:lnTo>
                    <a:pt x="2" y="1"/>
                  </a:lnTo>
                  <a:lnTo>
                    <a:pt x="0" y="2"/>
                  </a:lnTo>
                  <a:lnTo>
                    <a:pt x="0" y="3"/>
                  </a:lnTo>
                  <a:lnTo>
                    <a:pt x="2" y="4"/>
                  </a:lnTo>
                  <a:lnTo>
                    <a:pt x="2" y="4"/>
                  </a:lnTo>
                  <a:lnTo>
                    <a:pt x="3" y="6"/>
                  </a:lnTo>
                  <a:lnTo>
                    <a:pt x="4" y="6"/>
                  </a:lnTo>
                  <a:lnTo>
                    <a:pt x="5" y="6"/>
                  </a:lnTo>
                  <a:close/>
                </a:path>
              </a:pathLst>
            </a:custGeom>
            <a:solidFill>
              <a:srgbClr val="000000"/>
            </a:solidFill>
            <a:ln w="9525">
              <a:noFill/>
              <a:round/>
              <a:headEnd/>
              <a:tailEnd/>
            </a:ln>
          </p:spPr>
          <p:txBody>
            <a:bodyPr/>
            <a:lstStyle/>
            <a:p>
              <a:endParaRPr lang="en-US"/>
            </a:p>
          </p:txBody>
        </p:sp>
        <p:sp>
          <p:nvSpPr>
            <p:cNvPr id="327160" name="Freeform 504"/>
            <p:cNvSpPr>
              <a:spLocks/>
            </p:cNvSpPr>
            <p:nvPr/>
          </p:nvSpPr>
          <p:spPr bwMode="auto">
            <a:xfrm>
              <a:off x="4130" y="1461"/>
              <a:ext cx="7" cy="6"/>
            </a:xfrm>
            <a:custGeom>
              <a:avLst/>
              <a:gdLst/>
              <a:ahLst/>
              <a:cxnLst>
                <a:cxn ang="0">
                  <a:pos x="5" y="6"/>
                </a:cxn>
                <a:cxn ang="0">
                  <a:pos x="6" y="4"/>
                </a:cxn>
                <a:cxn ang="0">
                  <a:pos x="6" y="4"/>
                </a:cxn>
                <a:cxn ang="0">
                  <a:pos x="7" y="3"/>
                </a:cxn>
                <a:cxn ang="0">
                  <a:pos x="7" y="2"/>
                </a:cxn>
                <a:cxn ang="0">
                  <a:pos x="6" y="1"/>
                </a:cxn>
                <a:cxn ang="0">
                  <a:pos x="6" y="0"/>
                </a:cxn>
                <a:cxn ang="0">
                  <a:pos x="5" y="0"/>
                </a:cxn>
                <a:cxn ang="0">
                  <a:pos x="3" y="0"/>
                </a:cxn>
                <a:cxn ang="0">
                  <a:pos x="2" y="0"/>
                </a:cxn>
                <a:cxn ang="0">
                  <a:pos x="1" y="0"/>
                </a:cxn>
                <a:cxn ang="0">
                  <a:pos x="1" y="1"/>
                </a:cxn>
                <a:cxn ang="0">
                  <a:pos x="0" y="2"/>
                </a:cxn>
                <a:cxn ang="0">
                  <a:pos x="0" y="3"/>
                </a:cxn>
                <a:cxn ang="0">
                  <a:pos x="1" y="4"/>
                </a:cxn>
                <a:cxn ang="0">
                  <a:pos x="1" y="4"/>
                </a:cxn>
                <a:cxn ang="0">
                  <a:pos x="2" y="6"/>
                </a:cxn>
                <a:cxn ang="0">
                  <a:pos x="3" y="6"/>
                </a:cxn>
                <a:cxn ang="0">
                  <a:pos x="5" y="6"/>
                </a:cxn>
              </a:cxnLst>
              <a:rect l="0" t="0" r="r" b="b"/>
              <a:pathLst>
                <a:path w="7" h="6">
                  <a:moveTo>
                    <a:pt x="5" y="6"/>
                  </a:moveTo>
                  <a:lnTo>
                    <a:pt x="6" y="4"/>
                  </a:lnTo>
                  <a:lnTo>
                    <a:pt x="6" y="4"/>
                  </a:lnTo>
                  <a:lnTo>
                    <a:pt x="7" y="3"/>
                  </a:lnTo>
                  <a:lnTo>
                    <a:pt x="7" y="2"/>
                  </a:lnTo>
                  <a:lnTo>
                    <a:pt x="6" y="1"/>
                  </a:lnTo>
                  <a:lnTo>
                    <a:pt x="6" y="0"/>
                  </a:lnTo>
                  <a:lnTo>
                    <a:pt x="5" y="0"/>
                  </a:lnTo>
                  <a:lnTo>
                    <a:pt x="3" y="0"/>
                  </a:lnTo>
                  <a:lnTo>
                    <a:pt x="2" y="0"/>
                  </a:lnTo>
                  <a:lnTo>
                    <a:pt x="1" y="0"/>
                  </a:lnTo>
                  <a:lnTo>
                    <a:pt x="1" y="1"/>
                  </a:lnTo>
                  <a:lnTo>
                    <a:pt x="0" y="2"/>
                  </a:lnTo>
                  <a:lnTo>
                    <a:pt x="0" y="3"/>
                  </a:lnTo>
                  <a:lnTo>
                    <a:pt x="1" y="4"/>
                  </a:lnTo>
                  <a:lnTo>
                    <a:pt x="1" y="4"/>
                  </a:lnTo>
                  <a:lnTo>
                    <a:pt x="2" y="6"/>
                  </a:lnTo>
                  <a:lnTo>
                    <a:pt x="3" y="6"/>
                  </a:lnTo>
                  <a:lnTo>
                    <a:pt x="5" y="6"/>
                  </a:lnTo>
                  <a:close/>
                </a:path>
              </a:pathLst>
            </a:custGeom>
            <a:solidFill>
              <a:srgbClr val="000000"/>
            </a:solidFill>
            <a:ln w="9525">
              <a:noFill/>
              <a:round/>
              <a:headEnd/>
              <a:tailEnd/>
            </a:ln>
          </p:spPr>
          <p:txBody>
            <a:bodyPr/>
            <a:lstStyle/>
            <a:p>
              <a:endParaRPr lang="en-US"/>
            </a:p>
          </p:txBody>
        </p:sp>
        <p:sp>
          <p:nvSpPr>
            <p:cNvPr id="327161" name="Freeform 505"/>
            <p:cNvSpPr>
              <a:spLocks/>
            </p:cNvSpPr>
            <p:nvPr/>
          </p:nvSpPr>
          <p:spPr bwMode="auto">
            <a:xfrm>
              <a:off x="4119" y="1461"/>
              <a:ext cx="7" cy="6"/>
            </a:xfrm>
            <a:custGeom>
              <a:avLst/>
              <a:gdLst/>
              <a:ahLst/>
              <a:cxnLst>
                <a:cxn ang="0">
                  <a:pos x="4" y="6"/>
                </a:cxn>
                <a:cxn ang="0">
                  <a:pos x="5" y="4"/>
                </a:cxn>
                <a:cxn ang="0">
                  <a:pos x="5" y="4"/>
                </a:cxn>
                <a:cxn ang="0">
                  <a:pos x="7" y="3"/>
                </a:cxn>
                <a:cxn ang="0">
                  <a:pos x="7" y="2"/>
                </a:cxn>
                <a:cxn ang="0">
                  <a:pos x="5" y="1"/>
                </a:cxn>
                <a:cxn ang="0">
                  <a:pos x="5" y="0"/>
                </a:cxn>
                <a:cxn ang="0">
                  <a:pos x="4" y="0"/>
                </a:cxn>
                <a:cxn ang="0">
                  <a:pos x="3" y="0"/>
                </a:cxn>
                <a:cxn ang="0">
                  <a:pos x="2" y="0"/>
                </a:cxn>
                <a:cxn ang="0">
                  <a:pos x="1" y="0"/>
                </a:cxn>
                <a:cxn ang="0">
                  <a:pos x="1" y="1"/>
                </a:cxn>
                <a:cxn ang="0">
                  <a:pos x="0" y="2"/>
                </a:cxn>
                <a:cxn ang="0">
                  <a:pos x="0" y="3"/>
                </a:cxn>
                <a:cxn ang="0">
                  <a:pos x="1" y="4"/>
                </a:cxn>
                <a:cxn ang="0">
                  <a:pos x="1" y="4"/>
                </a:cxn>
                <a:cxn ang="0">
                  <a:pos x="2" y="6"/>
                </a:cxn>
                <a:cxn ang="0">
                  <a:pos x="3" y="6"/>
                </a:cxn>
                <a:cxn ang="0">
                  <a:pos x="4" y="6"/>
                </a:cxn>
              </a:cxnLst>
              <a:rect l="0" t="0" r="r" b="b"/>
              <a:pathLst>
                <a:path w="7" h="6">
                  <a:moveTo>
                    <a:pt x="4" y="6"/>
                  </a:moveTo>
                  <a:lnTo>
                    <a:pt x="5" y="4"/>
                  </a:lnTo>
                  <a:lnTo>
                    <a:pt x="5" y="4"/>
                  </a:lnTo>
                  <a:lnTo>
                    <a:pt x="7" y="3"/>
                  </a:lnTo>
                  <a:lnTo>
                    <a:pt x="7" y="2"/>
                  </a:lnTo>
                  <a:lnTo>
                    <a:pt x="5" y="1"/>
                  </a:lnTo>
                  <a:lnTo>
                    <a:pt x="5" y="0"/>
                  </a:lnTo>
                  <a:lnTo>
                    <a:pt x="4" y="0"/>
                  </a:lnTo>
                  <a:lnTo>
                    <a:pt x="3" y="0"/>
                  </a:lnTo>
                  <a:lnTo>
                    <a:pt x="2" y="0"/>
                  </a:lnTo>
                  <a:lnTo>
                    <a:pt x="1" y="0"/>
                  </a:lnTo>
                  <a:lnTo>
                    <a:pt x="1" y="1"/>
                  </a:lnTo>
                  <a:lnTo>
                    <a:pt x="0" y="2"/>
                  </a:lnTo>
                  <a:lnTo>
                    <a:pt x="0" y="3"/>
                  </a:lnTo>
                  <a:lnTo>
                    <a:pt x="1" y="4"/>
                  </a:lnTo>
                  <a:lnTo>
                    <a:pt x="1" y="4"/>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162" name="Freeform 506"/>
            <p:cNvSpPr>
              <a:spLocks/>
            </p:cNvSpPr>
            <p:nvPr/>
          </p:nvSpPr>
          <p:spPr bwMode="auto">
            <a:xfrm>
              <a:off x="4107" y="1461"/>
              <a:ext cx="7" cy="6"/>
            </a:xfrm>
            <a:custGeom>
              <a:avLst/>
              <a:gdLst/>
              <a:ahLst/>
              <a:cxnLst>
                <a:cxn ang="0">
                  <a:pos x="5" y="6"/>
                </a:cxn>
                <a:cxn ang="0">
                  <a:pos x="6" y="4"/>
                </a:cxn>
                <a:cxn ang="0">
                  <a:pos x="6" y="4"/>
                </a:cxn>
                <a:cxn ang="0">
                  <a:pos x="7" y="3"/>
                </a:cxn>
                <a:cxn ang="0">
                  <a:pos x="7" y="2"/>
                </a:cxn>
                <a:cxn ang="0">
                  <a:pos x="6" y="1"/>
                </a:cxn>
                <a:cxn ang="0">
                  <a:pos x="6" y="0"/>
                </a:cxn>
                <a:cxn ang="0">
                  <a:pos x="5" y="0"/>
                </a:cxn>
                <a:cxn ang="0">
                  <a:pos x="4" y="0"/>
                </a:cxn>
                <a:cxn ang="0">
                  <a:pos x="3" y="0"/>
                </a:cxn>
                <a:cxn ang="0">
                  <a:pos x="2" y="0"/>
                </a:cxn>
                <a:cxn ang="0">
                  <a:pos x="2" y="1"/>
                </a:cxn>
                <a:cxn ang="0">
                  <a:pos x="0" y="2"/>
                </a:cxn>
                <a:cxn ang="0">
                  <a:pos x="0" y="3"/>
                </a:cxn>
                <a:cxn ang="0">
                  <a:pos x="2" y="4"/>
                </a:cxn>
                <a:cxn ang="0">
                  <a:pos x="2" y="4"/>
                </a:cxn>
                <a:cxn ang="0">
                  <a:pos x="3" y="6"/>
                </a:cxn>
                <a:cxn ang="0">
                  <a:pos x="4" y="6"/>
                </a:cxn>
                <a:cxn ang="0">
                  <a:pos x="5" y="6"/>
                </a:cxn>
              </a:cxnLst>
              <a:rect l="0" t="0" r="r" b="b"/>
              <a:pathLst>
                <a:path w="7" h="6">
                  <a:moveTo>
                    <a:pt x="5" y="6"/>
                  </a:moveTo>
                  <a:lnTo>
                    <a:pt x="6" y="4"/>
                  </a:lnTo>
                  <a:lnTo>
                    <a:pt x="6" y="4"/>
                  </a:lnTo>
                  <a:lnTo>
                    <a:pt x="7" y="3"/>
                  </a:lnTo>
                  <a:lnTo>
                    <a:pt x="7" y="2"/>
                  </a:lnTo>
                  <a:lnTo>
                    <a:pt x="6" y="1"/>
                  </a:lnTo>
                  <a:lnTo>
                    <a:pt x="6" y="0"/>
                  </a:lnTo>
                  <a:lnTo>
                    <a:pt x="5" y="0"/>
                  </a:lnTo>
                  <a:lnTo>
                    <a:pt x="4" y="0"/>
                  </a:lnTo>
                  <a:lnTo>
                    <a:pt x="3" y="0"/>
                  </a:lnTo>
                  <a:lnTo>
                    <a:pt x="2" y="0"/>
                  </a:lnTo>
                  <a:lnTo>
                    <a:pt x="2" y="1"/>
                  </a:lnTo>
                  <a:lnTo>
                    <a:pt x="0" y="2"/>
                  </a:lnTo>
                  <a:lnTo>
                    <a:pt x="0" y="3"/>
                  </a:lnTo>
                  <a:lnTo>
                    <a:pt x="2" y="4"/>
                  </a:lnTo>
                  <a:lnTo>
                    <a:pt x="2" y="4"/>
                  </a:lnTo>
                  <a:lnTo>
                    <a:pt x="3" y="6"/>
                  </a:lnTo>
                  <a:lnTo>
                    <a:pt x="4" y="6"/>
                  </a:lnTo>
                  <a:lnTo>
                    <a:pt x="5" y="6"/>
                  </a:lnTo>
                  <a:close/>
                </a:path>
              </a:pathLst>
            </a:custGeom>
            <a:solidFill>
              <a:srgbClr val="000000"/>
            </a:solidFill>
            <a:ln w="9525">
              <a:noFill/>
              <a:round/>
              <a:headEnd/>
              <a:tailEnd/>
            </a:ln>
          </p:spPr>
          <p:txBody>
            <a:bodyPr/>
            <a:lstStyle/>
            <a:p>
              <a:endParaRPr lang="en-US"/>
            </a:p>
          </p:txBody>
        </p:sp>
        <p:sp>
          <p:nvSpPr>
            <p:cNvPr id="327163" name="Freeform 507"/>
            <p:cNvSpPr>
              <a:spLocks/>
            </p:cNvSpPr>
            <p:nvPr/>
          </p:nvSpPr>
          <p:spPr bwMode="auto">
            <a:xfrm>
              <a:off x="4096" y="1461"/>
              <a:ext cx="7" cy="6"/>
            </a:xfrm>
            <a:custGeom>
              <a:avLst/>
              <a:gdLst/>
              <a:ahLst/>
              <a:cxnLst>
                <a:cxn ang="0">
                  <a:pos x="5" y="6"/>
                </a:cxn>
                <a:cxn ang="0">
                  <a:pos x="6" y="4"/>
                </a:cxn>
                <a:cxn ang="0">
                  <a:pos x="6" y="4"/>
                </a:cxn>
                <a:cxn ang="0">
                  <a:pos x="7" y="3"/>
                </a:cxn>
                <a:cxn ang="0">
                  <a:pos x="7" y="2"/>
                </a:cxn>
                <a:cxn ang="0">
                  <a:pos x="6" y="1"/>
                </a:cxn>
                <a:cxn ang="0">
                  <a:pos x="6" y="0"/>
                </a:cxn>
                <a:cxn ang="0">
                  <a:pos x="5" y="0"/>
                </a:cxn>
                <a:cxn ang="0">
                  <a:pos x="4" y="0"/>
                </a:cxn>
                <a:cxn ang="0">
                  <a:pos x="2" y="0"/>
                </a:cxn>
                <a:cxn ang="0">
                  <a:pos x="1" y="0"/>
                </a:cxn>
                <a:cxn ang="0">
                  <a:pos x="1" y="1"/>
                </a:cxn>
                <a:cxn ang="0">
                  <a:pos x="0" y="2"/>
                </a:cxn>
                <a:cxn ang="0">
                  <a:pos x="0" y="3"/>
                </a:cxn>
                <a:cxn ang="0">
                  <a:pos x="1" y="4"/>
                </a:cxn>
                <a:cxn ang="0">
                  <a:pos x="1" y="4"/>
                </a:cxn>
                <a:cxn ang="0">
                  <a:pos x="2" y="6"/>
                </a:cxn>
                <a:cxn ang="0">
                  <a:pos x="4" y="6"/>
                </a:cxn>
                <a:cxn ang="0">
                  <a:pos x="5" y="6"/>
                </a:cxn>
              </a:cxnLst>
              <a:rect l="0" t="0" r="r" b="b"/>
              <a:pathLst>
                <a:path w="7" h="6">
                  <a:moveTo>
                    <a:pt x="5" y="6"/>
                  </a:moveTo>
                  <a:lnTo>
                    <a:pt x="6" y="4"/>
                  </a:lnTo>
                  <a:lnTo>
                    <a:pt x="6" y="4"/>
                  </a:lnTo>
                  <a:lnTo>
                    <a:pt x="7" y="3"/>
                  </a:lnTo>
                  <a:lnTo>
                    <a:pt x="7" y="2"/>
                  </a:lnTo>
                  <a:lnTo>
                    <a:pt x="6" y="1"/>
                  </a:lnTo>
                  <a:lnTo>
                    <a:pt x="6" y="0"/>
                  </a:lnTo>
                  <a:lnTo>
                    <a:pt x="5" y="0"/>
                  </a:lnTo>
                  <a:lnTo>
                    <a:pt x="4" y="0"/>
                  </a:lnTo>
                  <a:lnTo>
                    <a:pt x="2" y="0"/>
                  </a:lnTo>
                  <a:lnTo>
                    <a:pt x="1" y="0"/>
                  </a:lnTo>
                  <a:lnTo>
                    <a:pt x="1" y="1"/>
                  </a:lnTo>
                  <a:lnTo>
                    <a:pt x="0" y="2"/>
                  </a:lnTo>
                  <a:lnTo>
                    <a:pt x="0" y="3"/>
                  </a:lnTo>
                  <a:lnTo>
                    <a:pt x="1" y="4"/>
                  </a:lnTo>
                  <a:lnTo>
                    <a:pt x="1" y="4"/>
                  </a:lnTo>
                  <a:lnTo>
                    <a:pt x="2" y="6"/>
                  </a:lnTo>
                  <a:lnTo>
                    <a:pt x="4" y="6"/>
                  </a:lnTo>
                  <a:lnTo>
                    <a:pt x="5" y="6"/>
                  </a:lnTo>
                  <a:close/>
                </a:path>
              </a:pathLst>
            </a:custGeom>
            <a:solidFill>
              <a:srgbClr val="000000"/>
            </a:solidFill>
            <a:ln w="9525">
              <a:noFill/>
              <a:round/>
              <a:headEnd/>
              <a:tailEnd/>
            </a:ln>
          </p:spPr>
          <p:txBody>
            <a:bodyPr/>
            <a:lstStyle/>
            <a:p>
              <a:endParaRPr lang="en-US"/>
            </a:p>
          </p:txBody>
        </p:sp>
        <p:sp>
          <p:nvSpPr>
            <p:cNvPr id="327164" name="Freeform 508"/>
            <p:cNvSpPr>
              <a:spLocks/>
            </p:cNvSpPr>
            <p:nvPr/>
          </p:nvSpPr>
          <p:spPr bwMode="auto">
            <a:xfrm>
              <a:off x="4085" y="1461"/>
              <a:ext cx="7" cy="6"/>
            </a:xfrm>
            <a:custGeom>
              <a:avLst/>
              <a:gdLst/>
              <a:ahLst/>
              <a:cxnLst>
                <a:cxn ang="0">
                  <a:pos x="4" y="6"/>
                </a:cxn>
                <a:cxn ang="0">
                  <a:pos x="6" y="4"/>
                </a:cxn>
                <a:cxn ang="0">
                  <a:pos x="6" y="4"/>
                </a:cxn>
                <a:cxn ang="0">
                  <a:pos x="7" y="3"/>
                </a:cxn>
                <a:cxn ang="0">
                  <a:pos x="7" y="2"/>
                </a:cxn>
                <a:cxn ang="0">
                  <a:pos x="6" y="1"/>
                </a:cxn>
                <a:cxn ang="0">
                  <a:pos x="6" y="0"/>
                </a:cxn>
                <a:cxn ang="0">
                  <a:pos x="4" y="0"/>
                </a:cxn>
                <a:cxn ang="0">
                  <a:pos x="3" y="0"/>
                </a:cxn>
                <a:cxn ang="0">
                  <a:pos x="2" y="0"/>
                </a:cxn>
                <a:cxn ang="0">
                  <a:pos x="1" y="0"/>
                </a:cxn>
                <a:cxn ang="0">
                  <a:pos x="1" y="1"/>
                </a:cxn>
                <a:cxn ang="0">
                  <a:pos x="0" y="2"/>
                </a:cxn>
                <a:cxn ang="0">
                  <a:pos x="0" y="3"/>
                </a:cxn>
                <a:cxn ang="0">
                  <a:pos x="1" y="4"/>
                </a:cxn>
                <a:cxn ang="0">
                  <a:pos x="1" y="4"/>
                </a:cxn>
                <a:cxn ang="0">
                  <a:pos x="2" y="6"/>
                </a:cxn>
                <a:cxn ang="0">
                  <a:pos x="3" y="6"/>
                </a:cxn>
                <a:cxn ang="0">
                  <a:pos x="4" y="6"/>
                </a:cxn>
              </a:cxnLst>
              <a:rect l="0" t="0" r="r" b="b"/>
              <a:pathLst>
                <a:path w="7" h="6">
                  <a:moveTo>
                    <a:pt x="4" y="6"/>
                  </a:moveTo>
                  <a:lnTo>
                    <a:pt x="6" y="4"/>
                  </a:lnTo>
                  <a:lnTo>
                    <a:pt x="6" y="4"/>
                  </a:lnTo>
                  <a:lnTo>
                    <a:pt x="7" y="3"/>
                  </a:lnTo>
                  <a:lnTo>
                    <a:pt x="7" y="2"/>
                  </a:lnTo>
                  <a:lnTo>
                    <a:pt x="6" y="1"/>
                  </a:lnTo>
                  <a:lnTo>
                    <a:pt x="6" y="0"/>
                  </a:lnTo>
                  <a:lnTo>
                    <a:pt x="4" y="0"/>
                  </a:lnTo>
                  <a:lnTo>
                    <a:pt x="3" y="0"/>
                  </a:lnTo>
                  <a:lnTo>
                    <a:pt x="2" y="0"/>
                  </a:lnTo>
                  <a:lnTo>
                    <a:pt x="1" y="0"/>
                  </a:lnTo>
                  <a:lnTo>
                    <a:pt x="1" y="1"/>
                  </a:lnTo>
                  <a:lnTo>
                    <a:pt x="0" y="2"/>
                  </a:lnTo>
                  <a:lnTo>
                    <a:pt x="0" y="3"/>
                  </a:lnTo>
                  <a:lnTo>
                    <a:pt x="1" y="4"/>
                  </a:lnTo>
                  <a:lnTo>
                    <a:pt x="1" y="4"/>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165" name="Freeform 509"/>
            <p:cNvSpPr>
              <a:spLocks/>
            </p:cNvSpPr>
            <p:nvPr/>
          </p:nvSpPr>
          <p:spPr bwMode="auto">
            <a:xfrm>
              <a:off x="4074" y="1461"/>
              <a:ext cx="6" cy="6"/>
            </a:xfrm>
            <a:custGeom>
              <a:avLst/>
              <a:gdLst/>
              <a:ahLst/>
              <a:cxnLst>
                <a:cxn ang="0">
                  <a:pos x="4" y="6"/>
                </a:cxn>
                <a:cxn ang="0">
                  <a:pos x="5" y="4"/>
                </a:cxn>
                <a:cxn ang="0">
                  <a:pos x="5" y="4"/>
                </a:cxn>
                <a:cxn ang="0">
                  <a:pos x="6" y="3"/>
                </a:cxn>
                <a:cxn ang="0">
                  <a:pos x="6" y="2"/>
                </a:cxn>
                <a:cxn ang="0">
                  <a:pos x="5" y="1"/>
                </a:cxn>
                <a:cxn ang="0">
                  <a:pos x="5" y="0"/>
                </a:cxn>
                <a:cxn ang="0">
                  <a:pos x="4" y="0"/>
                </a:cxn>
                <a:cxn ang="0">
                  <a:pos x="3" y="0"/>
                </a:cxn>
                <a:cxn ang="0">
                  <a:pos x="2" y="0"/>
                </a:cxn>
                <a:cxn ang="0">
                  <a:pos x="1" y="0"/>
                </a:cxn>
                <a:cxn ang="0">
                  <a:pos x="1" y="1"/>
                </a:cxn>
                <a:cxn ang="0">
                  <a:pos x="0" y="2"/>
                </a:cxn>
                <a:cxn ang="0">
                  <a:pos x="0" y="3"/>
                </a:cxn>
                <a:cxn ang="0">
                  <a:pos x="1" y="4"/>
                </a:cxn>
                <a:cxn ang="0">
                  <a:pos x="1" y="4"/>
                </a:cxn>
                <a:cxn ang="0">
                  <a:pos x="2" y="6"/>
                </a:cxn>
                <a:cxn ang="0">
                  <a:pos x="3" y="6"/>
                </a:cxn>
                <a:cxn ang="0">
                  <a:pos x="4" y="6"/>
                </a:cxn>
              </a:cxnLst>
              <a:rect l="0" t="0" r="r" b="b"/>
              <a:pathLst>
                <a:path w="6" h="6">
                  <a:moveTo>
                    <a:pt x="4" y="6"/>
                  </a:moveTo>
                  <a:lnTo>
                    <a:pt x="5" y="4"/>
                  </a:lnTo>
                  <a:lnTo>
                    <a:pt x="5" y="4"/>
                  </a:lnTo>
                  <a:lnTo>
                    <a:pt x="6" y="3"/>
                  </a:lnTo>
                  <a:lnTo>
                    <a:pt x="6" y="2"/>
                  </a:lnTo>
                  <a:lnTo>
                    <a:pt x="5" y="1"/>
                  </a:lnTo>
                  <a:lnTo>
                    <a:pt x="5" y="0"/>
                  </a:lnTo>
                  <a:lnTo>
                    <a:pt x="4" y="0"/>
                  </a:lnTo>
                  <a:lnTo>
                    <a:pt x="3" y="0"/>
                  </a:lnTo>
                  <a:lnTo>
                    <a:pt x="2" y="0"/>
                  </a:lnTo>
                  <a:lnTo>
                    <a:pt x="1" y="0"/>
                  </a:lnTo>
                  <a:lnTo>
                    <a:pt x="1" y="1"/>
                  </a:lnTo>
                  <a:lnTo>
                    <a:pt x="0" y="2"/>
                  </a:lnTo>
                  <a:lnTo>
                    <a:pt x="0" y="3"/>
                  </a:lnTo>
                  <a:lnTo>
                    <a:pt x="1" y="4"/>
                  </a:lnTo>
                  <a:lnTo>
                    <a:pt x="1" y="4"/>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166" name="Freeform 510"/>
            <p:cNvSpPr>
              <a:spLocks/>
            </p:cNvSpPr>
            <p:nvPr/>
          </p:nvSpPr>
          <p:spPr bwMode="auto">
            <a:xfrm>
              <a:off x="4062" y="1461"/>
              <a:ext cx="7" cy="6"/>
            </a:xfrm>
            <a:custGeom>
              <a:avLst/>
              <a:gdLst/>
              <a:ahLst/>
              <a:cxnLst>
                <a:cxn ang="0">
                  <a:pos x="5" y="6"/>
                </a:cxn>
                <a:cxn ang="0">
                  <a:pos x="6" y="4"/>
                </a:cxn>
                <a:cxn ang="0">
                  <a:pos x="6" y="4"/>
                </a:cxn>
                <a:cxn ang="0">
                  <a:pos x="7" y="3"/>
                </a:cxn>
                <a:cxn ang="0">
                  <a:pos x="7" y="2"/>
                </a:cxn>
                <a:cxn ang="0">
                  <a:pos x="6" y="1"/>
                </a:cxn>
                <a:cxn ang="0">
                  <a:pos x="6" y="0"/>
                </a:cxn>
                <a:cxn ang="0">
                  <a:pos x="5" y="0"/>
                </a:cxn>
                <a:cxn ang="0">
                  <a:pos x="4" y="0"/>
                </a:cxn>
                <a:cxn ang="0">
                  <a:pos x="3" y="0"/>
                </a:cxn>
                <a:cxn ang="0">
                  <a:pos x="1" y="0"/>
                </a:cxn>
                <a:cxn ang="0">
                  <a:pos x="1" y="1"/>
                </a:cxn>
                <a:cxn ang="0">
                  <a:pos x="0" y="2"/>
                </a:cxn>
                <a:cxn ang="0">
                  <a:pos x="0" y="3"/>
                </a:cxn>
                <a:cxn ang="0">
                  <a:pos x="1" y="4"/>
                </a:cxn>
                <a:cxn ang="0">
                  <a:pos x="1" y="4"/>
                </a:cxn>
                <a:cxn ang="0">
                  <a:pos x="3" y="6"/>
                </a:cxn>
                <a:cxn ang="0">
                  <a:pos x="4" y="6"/>
                </a:cxn>
                <a:cxn ang="0">
                  <a:pos x="5" y="6"/>
                </a:cxn>
              </a:cxnLst>
              <a:rect l="0" t="0" r="r" b="b"/>
              <a:pathLst>
                <a:path w="7" h="6">
                  <a:moveTo>
                    <a:pt x="5" y="6"/>
                  </a:moveTo>
                  <a:lnTo>
                    <a:pt x="6" y="4"/>
                  </a:lnTo>
                  <a:lnTo>
                    <a:pt x="6" y="4"/>
                  </a:lnTo>
                  <a:lnTo>
                    <a:pt x="7" y="3"/>
                  </a:lnTo>
                  <a:lnTo>
                    <a:pt x="7" y="2"/>
                  </a:lnTo>
                  <a:lnTo>
                    <a:pt x="6" y="1"/>
                  </a:lnTo>
                  <a:lnTo>
                    <a:pt x="6" y="0"/>
                  </a:lnTo>
                  <a:lnTo>
                    <a:pt x="5" y="0"/>
                  </a:lnTo>
                  <a:lnTo>
                    <a:pt x="4" y="0"/>
                  </a:lnTo>
                  <a:lnTo>
                    <a:pt x="3" y="0"/>
                  </a:lnTo>
                  <a:lnTo>
                    <a:pt x="1" y="0"/>
                  </a:lnTo>
                  <a:lnTo>
                    <a:pt x="1" y="1"/>
                  </a:lnTo>
                  <a:lnTo>
                    <a:pt x="0" y="2"/>
                  </a:lnTo>
                  <a:lnTo>
                    <a:pt x="0" y="3"/>
                  </a:lnTo>
                  <a:lnTo>
                    <a:pt x="1" y="4"/>
                  </a:lnTo>
                  <a:lnTo>
                    <a:pt x="1" y="4"/>
                  </a:lnTo>
                  <a:lnTo>
                    <a:pt x="3" y="6"/>
                  </a:lnTo>
                  <a:lnTo>
                    <a:pt x="4" y="6"/>
                  </a:lnTo>
                  <a:lnTo>
                    <a:pt x="5" y="6"/>
                  </a:lnTo>
                  <a:close/>
                </a:path>
              </a:pathLst>
            </a:custGeom>
            <a:solidFill>
              <a:srgbClr val="000000"/>
            </a:solidFill>
            <a:ln w="9525">
              <a:noFill/>
              <a:round/>
              <a:headEnd/>
              <a:tailEnd/>
            </a:ln>
          </p:spPr>
          <p:txBody>
            <a:bodyPr/>
            <a:lstStyle/>
            <a:p>
              <a:endParaRPr lang="en-US"/>
            </a:p>
          </p:txBody>
        </p:sp>
        <p:sp>
          <p:nvSpPr>
            <p:cNvPr id="327167" name="Freeform 511"/>
            <p:cNvSpPr>
              <a:spLocks/>
            </p:cNvSpPr>
            <p:nvPr/>
          </p:nvSpPr>
          <p:spPr bwMode="auto">
            <a:xfrm>
              <a:off x="4051" y="1461"/>
              <a:ext cx="7" cy="6"/>
            </a:xfrm>
            <a:custGeom>
              <a:avLst/>
              <a:gdLst/>
              <a:ahLst/>
              <a:cxnLst>
                <a:cxn ang="0">
                  <a:pos x="5" y="6"/>
                </a:cxn>
                <a:cxn ang="0">
                  <a:pos x="6" y="4"/>
                </a:cxn>
                <a:cxn ang="0">
                  <a:pos x="6" y="4"/>
                </a:cxn>
                <a:cxn ang="0">
                  <a:pos x="7" y="3"/>
                </a:cxn>
                <a:cxn ang="0">
                  <a:pos x="7" y="2"/>
                </a:cxn>
                <a:cxn ang="0">
                  <a:pos x="6" y="1"/>
                </a:cxn>
                <a:cxn ang="0">
                  <a:pos x="6" y="0"/>
                </a:cxn>
                <a:cxn ang="0">
                  <a:pos x="5" y="0"/>
                </a:cxn>
                <a:cxn ang="0">
                  <a:pos x="3" y="0"/>
                </a:cxn>
                <a:cxn ang="0">
                  <a:pos x="2" y="0"/>
                </a:cxn>
                <a:cxn ang="0">
                  <a:pos x="1" y="0"/>
                </a:cxn>
                <a:cxn ang="0">
                  <a:pos x="1" y="1"/>
                </a:cxn>
                <a:cxn ang="0">
                  <a:pos x="0" y="2"/>
                </a:cxn>
                <a:cxn ang="0">
                  <a:pos x="0" y="3"/>
                </a:cxn>
                <a:cxn ang="0">
                  <a:pos x="1" y="4"/>
                </a:cxn>
                <a:cxn ang="0">
                  <a:pos x="1" y="4"/>
                </a:cxn>
                <a:cxn ang="0">
                  <a:pos x="2" y="6"/>
                </a:cxn>
                <a:cxn ang="0">
                  <a:pos x="3" y="6"/>
                </a:cxn>
                <a:cxn ang="0">
                  <a:pos x="5" y="6"/>
                </a:cxn>
              </a:cxnLst>
              <a:rect l="0" t="0" r="r" b="b"/>
              <a:pathLst>
                <a:path w="7" h="6">
                  <a:moveTo>
                    <a:pt x="5" y="6"/>
                  </a:moveTo>
                  <a:lnTo>
                    <a:pt x="6" y="4"/>
                  </a:lnTo>
                  <a:lnTo>
                    <a:pt x="6" y="4"/>
                  </a:lnTo>
                  <a:lnTo>
                    <a:pt x="7" y="3"/>
                  </a:lnTo>
                  <a:lnTo>
                    <a:pt x="7" y="2"/>
                  </a:lnTo>
                  <a:lnTo>
                    <a:pt x="6" y="1"/>
                  </a:lnTo>
                  <a:lnTo>
                    <a:pt x="6" y="0"/>
                  </a:lnTo>
                  <a:lnTo>
                    <a:pt x="5" y="0"/>
                  </a:lnTo>
                  <a:lnTo>
                    <a:pt x="3" y="0"/>
                  </a:lnTo>
                  <a:lnTo>
                    <a:pt x="2" y="0"/>
                  </a:lnTo>
                  <a:lnTo>
                    <a:pt x="1" y="0"/>
                  </a:lnTo>
                  <a:lnTo>
                    <a:pt x="1" y="1"/>
                  </a:lnTo>
                  <a:lnTo>
                    <a:pt x="0" y="2"/>
                  </a:lnTo>
                  <a:lnTo>
                    <a:pt x="0" y="3"/>
                  </a:lnTo>
                  <a:lnTo>
                    <a:pt x="1" y="4"/>
                  </a:lnTo>
                  <a:lnTo>
                    <a:pt x="1" y="4"/>
                  </a:lnTo>
                  <a:lnTo>
                    <a:pt x="2" y="6"/>
                  </a:lnTo>
                  <a:lnTo>
                    <a:pt x="3" y="6"/>
                  </a:lnTo>
                  <a:lnTo>
                    <a:pt x="5" y="6"/>
                  </a:lnTo>
                  <a:close/>
                </a:path>
              </a:pathLst>
            </a:custGeom>
            <a:solidFill>
              <a:srgbClr val="000000"/>
            </a:solidFill>
            <a:ln w="9525">
              <a:noFill/>
              <a:round/>
              <a:headEnd/>
              <a:tailEnd/>
            </a:ln>
          </p:spPr>
          <p:txBody>
            <a:bodyPr/>
            <a:lstStyle/>
            <a:p>
              <a:endParaRPr lang="en-US"/>
            </a:p>
          </p:txBody>
        </p:sp>
        <p:sp>
          <p:nvSpPr>
            <p:cNvPr id="327168" name="Freeform 512"/>
            <p:cNvSpPr>
              <a:spLocks/>
            </p:cNvSpPr>
            <p:nvPr/>
          </p:nvSpPr>
          <p:spPr bwMode="auto">
            <a:xfrm>
              <a:off x="4040" y="1461"/>
              <a:ext cx="6" cy="6"/>
            </a:xfrm>
            <a:custGeom>
              <a:avLst/>
              <a:gdLst/>
              <a:ahLst/>
              <a:cxnLst>
                <a:cxn ang="0">
                  <a:pos x="4" y="6"/>
                </a:cxn>
                <a:cxn ang="0">
                  <a:pos x="5" y="4"/>
                </a:cxn>
                <a:cxn ang="0">
                  <a:pos x="5" y="4"/>
                </a:cxn>
                <a:cxn ang="0">
                  <a:pos x="6" y="3"/>
                </a:cxn>
                <a:cxn ang="0">
                  <a:pos x="6" y="2"/>
                </a:cxn>
                <a:cxn ang="0">
                  <a:pos x="5" y="1"/>
                </a:cxn>
                <a:cxn ang="0">
                  <a:pos x="5" y="0"/>
                </a:cxn>
                <a:cxn ang="0">
                  <a:pos x="4" y="0"/>
                </a:cxn>
                <a:cxn ang="0">
                  <a:pos x="3" y="0"/>
                </a:cxn>
                <a:cxn ang="0">
                  <a:pos x="2" y="0"/>
                </a:cxn>
                <a:cxn ang="0">
                  <a:pos x="1" y="0"/>
                </a:cxn>
                <a:cxn ang="0">
                  <a:pos x="1" y="1"/>
                </a:cxn>
                <a:cxn ang="0">
                  <a:pos x="0" y="2"/>
                </a:cxn>
                <a:cxn ang="0">
                  <a:pos x="0" y="3"/>
                </a:cxn>
                <a:cxn ang="0">
                  <a:pos x="1" y="4"/>
                </a:cxn>
                <a:cxn ang="0">
                  <a:pos x="1" y="4"/>
                </a:cxn>
                <a:cxn ang="0">
                  <a:pos x="2" y="6"/>
                </a:cxn>
                <a:cxn ang="0">
                  <a:pos x="3" y="6"/>
                </a:cxn>
                <a:cxn ang="0">
                  <a:pos x="4" y="6"/>
                </a:cxn>
              </a:cxnLst>
              <a:rect l="0" t="0" r="r" b="b"/>
              <a:pathLst>
                <a:path w="6" h="6">
                  <a:moveTo>
                    <a:pt x="4" y="6"/>
                  </a:moveTo>
                  <a:lnTo>
                    <a:pt x="5" y="4"/>
                  </a:lnTo>
                  <a:lnTo>
                    <a:pt x="5" y="4"/>
                  </a:lnTo>
                  <a:lnTo>
                    <a:pt x="6" y="3"/>
                  </a:lnTo>
                  <a:lnTo>
                    <a:pt x="6" y="2"/>
                  </a:lnTo>
                  <a:lnTo>
                    <a:pt x="5" y="1"/>
                  </a:lnTo>
                  <a:lnTo>
                    <a:pt x="5" y="0"/>
                  </a:lnTo>
                  <a:lnTo>
                    <a:pt x="4" y="0"/>
                  </a:lnTo>
                  <a:lnTo>
                    <a:pt x="3" y="0"/>
                  </a:lnTo>
                  <a:lnTo>
                    <a:pt x="2" y="0"/>
                  </a:lnTo>
                  <a:lnTo>
                    <a:pt x="1" y="0"/>
                  </a:lnTo>
                  <a:lnTo>
                    <a:pt x="1" y="1"/>
                  </a:lnTo>
                  <a:lnTo>
                    <a:pt x="0" y="2"/>
                  </a:lnTo>
                  <a:lnTo>
                    <a:pt x="0" y="3"/>
                  </a:lnTo>
                  <a:lnTo>
                    <a:pt x="1" y="4"/>
                  </a:lnTo>
                  <a:lnTo>
                    <a:pt x="1" y="4"/>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169" name="Freeform 513"/>
            <p:cNvSpPr>
              <a:spLocks/>
            </p:cNvSpPr>
            <p:nvPr/>
          </p:nvSpPr>
          <p:spPr bwMode="auto">
            <a:xfrm>
              <a:off x="4028" y="1461"/>
              <a:ext cx="7" cy="6"/>
            </a:xfrm>
            <a:custGeom>
              <a:avLst/>
              <a:gdLst/>
              <a:ahLst/>
              <a:cxnLst>
                <a:cxn ang="0">
                  <a:pos x="5" y="6"/>
                </a:cxn>
                <a:cxn ang="0">
                  <a:pos x="6" y="4"/>
                </a:cxn>
                <a:cxn ang="0">
                  <a:pos x="6" y="4"/>
                </a:cxn>
                <a:cxn ang="0">
                  <a:pos x="7" y="3"/>
                </a:cxn>
                <a:cxn ang="0">
                  <a:pos x="7" y="2"/>
                </a:cxn>
                <a:cxn ang="0">
                  <a:pos x="6" y="1"/>
                </a:cxn>
                <a:cxn ang="0">
                  <a:pos x="6" y="0"/>
                </a:cxn>
                <a:cxn ang="0">
                  <a:pos x="5" y="0"/>
                </a:cxn>
                <a:cxn ang="0">
                  <a:pos x="4" y="0"/>
                </a:cxn>
                <a:cxn ang="0">
                  <a:pos x="3" y="0"/>
                </a:cxn>
                <a:cxn ang="0">
                  <a:pos x="2" y="0"/>
                </a:cxn>
                <a:cxn ang="0">
                  <a:pos x="2" y="1"/>
                </a:cxn>
                <a:cxn ang="0">
                  <a:pos x="0" y="2"/>
                </a:cxn>
                <a:cxn ang="0">
                  <a:pos x="0" y="3"/>
                </a:cxn>
                <a:cxn ang="0">
                  <a:pos x="2" y="4"/>
                </a:cxn>
                <a:cxn ang="0">
                  <a:pos x="2" y="4"/>
                </a:cxn>
                <a:cxn ang="0">
                  <a:pos x="3" y="6"/>
                </a:cxn>
                <a:cxn ang="0">
                  <a:pos x="4" y="6"/>
                </a:cxn>
                <a:cxn ang="0">
                  <a:pos x="5" y="6"/>
                </a:cxn>
              </a:cxnLst>
              <a:rect l="0" t="0" r="r" b="b"/>
              <a:pathLst>
                <a:path w="7" h="6">
                  <a:moveTo>
                    <a:pt x="5" y="6"/>
                  </a:moveTo>
                  <a:lnTo>
                    <a:pt x="6" y="4"/>
                  </a:lnTo>
                  <a:lnTo>
                    <a:pt x="6" y="4"/>
                  </a:lnTo>
                  <a:lnTo>
                    <a:pt x="7" y="3"/>
                  </a:lnTo>
                  <a:lnTo>
                    <a:pt x="7" y="2"/>
                  </a:lnTo>
                  <a:lnTo>
                    <a:pt x="6" y="1"/>
                  </a:lnTo>
                  <a:lnTo>
                    <a:pt x="6" y="0"/>
                  </a:lnTo>
                  <a:lnTo>
                    <a:pt x="5" y="0"/>
                  </a:lnTo>
                  <a:lnTo>
                    <a:pt x="4" y="0"/>
                  </a:lnTo>
                  <a:lnTo>
                    <a:pt x="3" y="0"/>
                  </a:lnTo>
                  <a:lnTo>
                    <a:pt x="2" y="0"/>
                  </a:lnTo>
                  <a:lnTo>
                    <a:pt x="2" y="1"/>
                  </a:lnTo>
                  <a:lnTo>
                    <a:pt x="0" y="2"/>
                  </a:lnTo>
                  <a:lnTo>
                    <a:pt x="0" y="3"/>
                  </a:lnTo>
                  <a:lnTo>
                    <a:pt x="2" y="4"/>
                  </a:lnTo>
                  <a:lnTo>
                    <a:pt x="2" y="4"/>
                  </a:lnTo>
                  <a:lnTo>
                    <a:pt x="3" y="6"/>
                  </a:lnTo>
                  <a:lnTo>
                    <a:pt x="4" y="6"/>
                  </a:lnTo>
                  <a:lnTo>
                    <a:pt x="5" y="6"/>
                  </a:lnTo>
                  <a:close/>
                </a:path>
              </a:pathLst>
            </a:custGeom>
            <a:solidFill>
              <a:srgbClr val="000000"/>
            </a:solidFill>
            <a:ln w="9525">
              <a:noFill/>
              <a:round/>
              <a:headEnd/>
              <a:tailEnd/>
            </a:ln>
          </p:spPr>
          <p:txBody>
            <a:bodyPr/>
            <a:lstStyle/>
            <a:p>
              <a:endParaRPr lang="en-US"/>
            </a:p>
          </p:txBody>
        </p:sp>
        <p:sp>
          <p:nvSpPr>
            <p:cNvPr id="327170" name="Freeform 514"/>
            <p:cNvSpPr>
              <a:spLocks/>
            </p:cNvSpPr>
            <p:nvPr/>
          </p:nvSpPr>
          <p:spPr bwMode="auto">
            <a:xfrm>
              <a:off x="4017" y="1461"/>
              <a:ext cx="7" cy="6"/>
            </a:xfrm>
            <a:custGeom>
              <a:avLst/>
              <a:gdLst/>
              <a:ahLst/>
              <a:cxnLst>
                <a:cxn ang="0">
                  <a:pos x="5" y="6"/>
                </a:cxn>
                <a:cxn ang="0">
                  <a:pos x="6" y="4"/>
                </a:cxn>
                <a:cxn ang="0">
                  <a:pos x="6" y="4"/>
                </a:cxn>
                <a:cxn ang="0">
                  <a:pos x="7" y="3"/>
                </a:cxn>
                <a:cxn ang="0">
                  <a:pos x="7" y="2"/>
                </a:cxn>
                <a:cxn ang="0">
                  <a:pos x="6" y="1"/>
                </a:cxn>
                <a:cxn ang="0">
                  <a:pos x="6" y="0"/>
                </a:cxn>
                <a:cxn ang="0">
                  <a:pos x="5" y="0"/>
                </a:cxn>
                <a:cxn ang="0">
                  <a:pos x="4" y="0"/>
                </a:cxn>
                <a:cxn ang="0">
                  <a:pos x="2" y="0"/>
                </a:cxn>
                <a:cxn ang="0">
                  <a:pos x="1" y="0"/>
                </a:cxn>
                <a:cxn ang="0">
                  <a:pos x="1" y="1"/>
                </a:cxn>
                <a:cxn ang="0">
                  <a:pos x="0" y="2"/>
                </a:cxn>
                <a:cxn ang="0">
                  <a:pos x="0" y="3"/>
                </a:cxn>
                <a:cxn ang="0">
                  <a:pos x="1" y="4"/>
                </a:cxn>
                <a:cxn ang="0">
                  <a:pos x="1" y="4"/>
                </a:cxn>
                <a:cxn ang="0">
                  <a:pos x="2" y="6"/>
                </a:cxn>
                <a:cxn ang="0">
                  <a:pos x="4" y="6"/>
                </a:cxn>
                <a:cxn ang="0">
                  <a:pos x="5" y="6"/>
                </a:cxn>
              </a:cxnLst>
              <a:rect l="0" t="0" r="r" b="b"/>
              <a:pathLst>
                <a:path w="7" h="6">
                  <a:moveTo>
                    <a:pt x="5" y="6"/>
                  </a:moveTo>
                  <a:lnTo>
                    <a:pt x="6" y="4"/>
                  </a:lnTo>
                  <a:lnTo>
                    <a:pt x="6" y="4"/>
                  </a:lnTo>
                  <a:lnTo>
                    <a:pt x="7" y="3"/>
                  </a:lnTo>
                  <a:lnTo>
                    <a:pt x="7" y="2"/>
                  </a:lnTo>
                  <a:lnTo>
                    <a:pt x="6" y="1"/>
                  </a:lnTo>
                  <a:lnTo>
                    <a:pt x="6" y="0"/>
                  </a:lnTo>
                  <a:lnTo>
                    <a:pt x="5" y="0"/>
                  </a:lnTo>
                  <a:lnTo>
                    <a:pt x="4" y="0"/>
                  </a:lnTo>
                  <a:lnTo>
                    <a:pt x="2" y="0"/>
                  </a:lnTo>
                  <a:lnTo>
                    <a:pt x="1" y="0"/>
                  </a:lnTo>
                  <a:lnTo>
                    <a:pt x="1" y="1"/>
                  </a:lnTo>
                  <a:lnTo>
                    <a:pt x="0" y="2"/>
                  </a:lnTo>
                  <a:lnTo>
                    <a:pt x="0" y="3"/>
                  </a:lnTo>
                  <a:lnTo>
                    <a:pt x="1" y="4"/>
                  </a:lnTo>
                  <a:lnTo>
                    <a:pt x="1" y="4"/>
                  </a:lnTo>
                  <a:lnTo>
                    <a:pt x="2" y="6"/>
                  </a:lnTo>
                  <a:lnTo>
                    <a:pt x="4" y="6"/>
                  </a:lnTo>
                  <a:lnTo>
                    <a:pt x="5" y="6"/>
                  </a:lnTo>
                  <a:close/>
                </a:path>
              </a:pathLst>
            </a:custGeom>
            <a:solidFill>
              <a:srgbClr val="000000"/>
            </a:solidFill>
            <a:ln w="9525">
              <a:noFill/>
              <a:round/>
              <a:headEnd/>
              <a:tailEnd/>
            </a:ln>
          </p:spPr>
          <p:txBody>
            <a:bodyPr/>
            <a:lstStyle/>
            <a:p>
              <a:endParaRPr lang="en-US"/>
            </a:p>
          </p:txBody>
        </p:sp>
        <p:sp>
          <p:nvSpPr>
            <p:cNvPr id="327171" name="Freeform 515"/>
            <p:cNvSpPr>
              <a:spLocks/>
            </p:cNvSpPr>
            <p:nvPr/>
          </p:nvSpPr>
          <p:spPr bwMode="auto">
            <a:xfrm>
              <a:off x="4006" y="1461"/>
              <a:ext cx="7" cy="6"/>
            </a:xfrm>
            <a:custGeom>
              <a:avLst/>
              <a:gdLst/>
              <a:ahLst/>
              <a:cxnLst>
                <a:cxn ang="0">
                  <a:pos x="4" y="6"/>
                </a:cxn>
                <a:cxn ang="0">
                  <a:pos x="5" y="6"/>
                </a:cxn>
                <a:cxn ang="0">
                  <a:pos x="5" y="4"/>
                </a:cxn>
                <a:cxn ang="0">
                  <a:pos x="7" y="3"/>
                </a:cxn>
                <a:cxn ang="0">
                  <a:pos x="7" y="2"/>
                </a:cxn>
                <a:cxn ang="0">
                  <a:pos x="5" y="1"/>
                </a:cxn>
                <a:cxn ang="0">
                  <a:pos x="5" y="1"/>
                </a:cxn>
                <a:cxn ang="0">
                  <a:pos x="4" y="0"/>
                </a:cxn>
                <a:cxn ang="0">
                  <a:pos x="3" y="0"/>
                </a:cxn>
                <a:cxn ang="0">
                  <a:pos x="2" y="0"/>
                </a:cxn>
                <a:cxn ang="0">
                  <a:pos x="1" y="1"/>
                </a:cxn>
                <a:cxn ang="0">
                  <a:pos x="1" y="1"/>
                </a:cxn>
                <a:cxn ang="0">
                  <a:pos x="0" y="2"/>
                </a:cxn>
                <a:cxn ang="0">
                  <a:pos x="0" y="3"/>
                </a:cxn>
                <a:cxn ang="0">
                  <a:pos x="1" y="4"/>
                </a:cxn>
                <a:cxn ang="0">
                  <a:pos x="1" y="6"/>
                </a:cxn>
                <a:cxn ang="0">
                  <a:pos x="2" y="6"/>
                </a:cxn>
                <a:cxn ang="0">
                  <a:pos x="3" y="6"/>
                </a:cxn>
                <a:cxn ang="0">
                  <a:pos x="4" y="6"/>
                </a:cxn>
              </a:cxnLst>
              <a:rect l="0" t="0" r="r" b="b"/>
              <a:pathLst>
                <a:path w="7" h="6">
                  <a:moveTo>
                    <a:pt x="4" y="6"/>
                  </a:moveTo>
                  <a:lnTo>
                    <a:pt x="5" y="6"/>
                  </a:lnTo>
                  <a:lnTo>
                    <a:pt x="5" y="4"/>
                  </a:lnTo>
                  <a:lnTo>
                    <a:pt x="7" y="3"/>
                  </a:lnTo>
                  <a:lnTo>
                    <a:pt x="7" y="2"/>
                  </a:lnTo>
                  <a:lnTo>
                    <a:pt x="5" y="1"/>
                  </a:lnTo>
                  <a:lnTo>
                    <a:pt x="5" y="1"/>
                  </a:lnTo>
                  <a:lnTo>
                    <a:pt x="4" y="0"/>
                  </a:lnTo>
                  <a:lnTo>
                    <a:pt x="3" y="0"/>
                  </a:lnTo>
                  <a:lnTo>
                    <a:pt x="2" y="0"/>
                  </a:lnTo>
                  <a:lnTo>
                    <a:pt x="1" y="1"/>
                  </a:lnTo>
                  <a:lnTo>
                    <a:pt x="1" y="1"/>
                  </a:lnTo>
                  <a:lnTo>
                    <a:pt x="0" y="2"/>
                  </a:lnTo>
                  <a:lnTo>
                    <a:pt x="0" y="3"/>
                  </a:lnTo>
                  <a:lnTo>
                    <a:pt x="1" y="4"/>
                  </a:lnTo>
                  <a:lnTo>
                    <a:pt x="1" y="6"/>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172" name="Freeform 516"/>
            <p:cNvSpPr>
              <a:spLocks/>
            </p:cNvSpPr>
            <p:nvPr/>
          </p:nvSpPr>
          <p:spPr bwMode="auto">
            <a:xfrm>
              <a:off x="3995" y="1461"/>
              <a:ext cx="6" cy="6"/>
            </a:xfrm>
            <a:custGeom>
              <a:avLst/>
              <a:gdLst/>
              <a:ahLst/>
              <a:cxnLst>
                <a:cxn ang="0">
                  <a:pos x="4" y="6"/>
                </a:cxn>
                <a:cxn ang="0">
                  <a:pos x="5" y="6"/>
                </a:cxn>
                <a:cxn ang="0">
                  <a:pos x="5" y="4"/>
                </a:cxn>
                <a:cxn ang="0">
                  <a:pos x="6" y="3"/>
                </a:cxn>
                <a:cxn ang="0">
                  <a:pos x="6" y="2"/>
                </a:cxn>
                <a:cxn ang="0">
                  <a:pos x="5" y="1"/>
                </a:cxn>
                <a:cxn ang="0">
                  <a:pos x="5" y="1"/>
                </a:cxn>
                <a:cxn ang="0">
                  <a:pos x="4" y="0"/>
                </a:cxn>
                <a:cxn ang="0">
                  <a:pos x="3" y="0"/>
                </a:cxn>
                <a:cxn ang="0">
                  <a:pos x="2" y="0"/>
                </a:cxn>
                <a:cxn ang="0">
                  <a:pos x="1" y="1"/>
                </a:cxn>
                <a:cxn ang="0">
                  <a:pos x="1" y="1"/>
                </a:cxn>
                <a:cxn ang="0">
                  <a:pos x="0" y="2"/>
                </a:cxn>
                <a:cxn ang="0">
                  <a:pos x="0" y="3"/>
                </a:cxn>
                <a:cxn ang="0">
                  <a:pos x="1" y="4"/>
                </a:cxn>
                <a:cxn ang="0">
                  <a:pos x="1" y="6"/>
                </a:cxn>
                <a:cxn ang="0">
                  <a:pos x="2" y="6"/>
                </a:cxn>
                <a:cxn ang="0">
                  <a:pos x="3" y="6"/>
                </a:cxn>
                <a:cxn ang="0">
                  <a:pos x="4" y="6"/>
                </a:cxn>
              </a:cxnLst>
              <a:rect l="0" t="0" r="r" b="b"/>
              <a:pathLst>
                <a:path w="6" h="6">
                  <a:moveTo>
                    <a:pt x="4" y="6"/>
                  </a:moveTo>
                  <a:lnTo>
                    <a:pt x="5" y="6"/>
                  </a:lnTo>
                  <a:lnTo>
                    <a:pt x="5" y="4"/>
                  </a:lnTo>
                  <a:lnTo>
                    <a:pt x="6" y="3"/>
                  </a:lnTo>
                  <a:lnTo>
                    <a:pt x="6" y="2"/>
                  </a:lnTo>
                  <a:lnTo>
                    <a:pt x="5" y="1"/>
                  </a:lnTo>
                  <a:lnTo>
                    <a:pt x="5" y="1"/>
                  </a:lnTo>
                  <a:lnTo>
                    <a:pt x="4" y="0"/>
                  </a:lnTo>
                  <a:lnTo>
                    <a:pt x="3" y="0"/>
                  </a:lnTo>
                  <a:lnTo>
                    <a:pt x="2" y="0"/>
                  </a:lnTo>
                  <a:lnTo>
                    <a:pt x="1" y="1"/>
                  </a:lnTo>
                  <a:lnTo>
                    <a:pt x="1" y="1"/>
                  </a:lnTo>
                  <a:lnTo>
                    <a:pt x="0" y="2"/>
                  </a:lnTo>
                  <a:lnTo>
                    <a:pt x="0" y="3"/>
                  </a:lnTo>
                  <a:lnTo>
                    <a:pt x="1" y="4"/>
                  </a:lnTo>
                  <a:lnTo>
                    <a:pt x="1" y="6"/>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173" name="Freeform 517"/>
            <p:cNvSpPr>
              <a:spLocks/>
            </p:cNvSpPr>
            <p:nvPr/>
          </p:nvSpPr>
          <p:spPr bwMode="auto">
            <a:xfrm>
              <a:off x="3983" y="1461"/>
              <a:ext cx="7" cy="6"/>
            </a:xfrm>
            <a:custGeom>
              <a:avLst/>
              <a:gdLst/>
              <a:ahLst/>
              <a:cxnLst>
                <a:cxn ang="0">
                  <a:pos x="5" y="6"/>
                </a:cxn>
                <a:cxn ang="0">
                  <a:pos x="6" y="6"/>
                </a:cxn>
                <a:cxn ang="0">
                  <a:pos x="6" y="4"/>
                </a:cxn>
                <a:cxn ang="0">
                  <a:pos x="7" y="3"/>
                </a:cxn>
                <a:cxn ang="0">
                  <a:pos x="7" y="2"/>
                </a:cxn>
                <a:cxn ang="0">
                  <a:pos x="6" y="1"/>
                </a:cxn>
                <a:cxn ang="0">
                  <a:pos x="6" y="1"/>
                </a:cxn>
                <a:cxn ang="0">
                  <a:pos x="5" y="0"/>
                </a:cxn>
                <a:cxn ang="0">
                  <a:pos x="4" y="0"/>
                </a:cxn>
                <a:cxn ang="0">
                  <a:pos x="3" y="0"/>
                </a:cxn>
                <a:cxn ang="0">
                  <a:pos x="1" y="1"/>
                </a:cxn>
                <a:cxn ang="0">
                  <a:pos x="1" y="1"/>
                </a:cxn>
                <a:cxn ang="0">
                  <a:pos x="0" y="2"/>
                </a:cxn>
                <a:cxn ang="0">
                  <a:pos x="0" y="3"/>
                </a:cxn>
                <a:cxn ang="0">
                  <a:pos x="1" y="4"/>
                </a:cxn>
                <a:cxn ang="0">
                  <a:pos x="1" y="6"/>
                </a:cxn>
                <a:cxn ang="0">
                  <a:pos x="3" y="6"/>
                </a:cxn>
                <a:cxn ang="0">
                  <a:pos x="4" y="6"/>
                </a:cxn>
                <a:cxn ang="0">
                  <a:pos x="5" y="6"/>
                </a:cxn>
              </a:cxnLst>
              <a:rect l="0" t="0" r="r" b="b"/>
              <a:pathLst>
                <a:path w="7" h="6">
                  <a:moveTo>
                    <a:pt x="5" y="6"/>
                  </a:moveTo>
                  <a:lnTo>
                    <a:pt x="6" y="6"/>
                  </a:lnTo>
                  <a:lnTo>
                    <a:pt x="6" y="4"/>
                  </a:lnTo>
                  <a:lnTo>
                    <a:pt x="7" y="3"/>
                  </a:lnTo>
                  <a:lnTo>
                    <a:pt x="7" y="2"/>
                  </a:lnTo>
                  <a:lnTo>
                    <a:pt x="6" y="1"/>
                  </a:lnTo>
                  <a:lnTo>
                    <a:pt x="6" y="1"/>
                  </a:lnTo>
                  <a:lnTo>
                    <a:pt x="5" y="0"/>
                  </a:lnTo>
                  <a:lnTo>
                    <a:pt x="4" y="0"/>
                  </a:lnTo>
                  <a:lnTo>
                    <a:pt x="3" y="0"/>
                  </a:lnTo>
                  <a:lnTo>
                    <a:pt x="1" y="1"/>
                  </a:lnTo>
                  <a:lnTo>
                    <a:pt x="1" y="1"/>
                  </a:lnTo>
                  <a:lnTo>
                    <a:pt x="0" y="2"/>
                  </a:lnTo>
                  <a:lnTo>
                    <a:pt x="0" y="3"/>
                  </a:lnTo>
                  <a:lnTo>
                    <a:pt x="1" y="4"/>
                  </a:lnTo>
                  <a:lnTo>
                    <a:pt x="1" y="6"/>
                  </a:lnTo>
                  <a:lnTo>
                    <a:pt x="3" y="6"/>
                  </a:lnTo>
                  <a:lnTo>
                    <a:pt x="4" y="6"/>
                  </a:lnTo>
                  <a:lnTo>
                    <a:pt x="5" y="6"/>
                  </a:lnTo>
                  <a:close/>
                </a:path>
              </a:pathLst>
            </a:custGeom>
            <a:solidFill>
              <a:srgbClr val="000000"/>
            </a:solidFill>
            <a:ln w="9525">
              <a:noFill/>
              <a:round/>
              <a:headEnd/>
              <a:tailEnd/>
            </a:ln>
          </p:spPr>
          <p:txBody>
            <a:bodyPr/>
            <a:lstStyle/>
            <a:p>
              <a:endParaRPr lang="en-US"/>
            </a:p>
          </p:txBody>
        </p:sp>
        <p:sp>
          <p:nvSpPr>
            <p:cNvPr id="327174" name="Freeform 518"/>
            <p:cNvSpPr>
              <a:spLocks/>
            </p:cNvSpPr>
            <p:nvPr/>
          </p:nvSpPr>
          <p:spPr bwMode="auto">
            <a:xfrm>
              <a:off x="3972" y="1461"/>
              <a:ext cx="7" cy="6"/>
            </a:xfrm>
            <a:custGeom>
              <a:avLst/>
              <a:gdLst/>
              <a:ahLst/>
              <a:cxnLst>
                <a:cxn ang="0">
                  <a:pos x="4" y="6"/>
                </a:cxn>
                <a:cxn ang="0">
                  <a:pos x="6" y="6"/>
                </a:cxn>
                <a:cxn ang="0">
                  <a:pos x="6" y="4"/>
                </a:cxn>
                <a:cxn ang="0">
                  <a:pos x="7" y="3"/>
                </a:cxn>
                <a:cxn ang="0">
                  <a:pos x="7" y="2"/>
                </a:cxn>
                <a:cxn ang="0">
                  <a:pos x="6" y="1"/>
                </a:cxn>
                <a:cxn ang="0">
                  <a:pos x="6" y="1"/>
                </a:cxn>
                <a:cxn ang="0">
                  <a:pos x="4" y="0"/>
                </a:cxn>
                <a:cxn ang="0">
                  <a:pos x="3" y="0"/>
                </a:cxn>
                <a:cxn ang="0">
                  <a:pos x="2" y="0"/>
                </a:cxn>
                <a:cxn ang="0">
                  <a:pos x="1" y="1"/>
                </a:cxn>
                <a:cxn ang="0">
                  <a:pos x="1" y="1"/>
                </a:cxn>
                <a:cxn ang="0">
                  <a:pos x="0" y="2"/>
                </a:cxn>
                <a:cxn ang="0">
                  <a:pos x="0" y="3"/>
                </a:cxn>
                <a:cxn ang="0">
                  <a:pos x="1" y="4"/>
                </a:cxn>
                <a:cxn ang="0">
                  <a:pos x="1" y="6"/>
                </a:cxn>
                <a:cxn ang="0">
                  <a:pos x="2" y="6"/>
                </a:cxn>
                <a:cxn ang="0">
                  <a:pos x="3" y="6"/>
                </a:cxn>
                <a:cxn ang="0">
                  <a:pos x="4" y="6"/>
                </a:cxn>
              </a:cxnLst>
              <a:rect l="0" t="0" r="r" b="b"/>
              <a:pathLst>
                <a:path w="7" h="6">
                  <a:moveTo>
                    <a:pt x="4" y="6"/>
                  </a:moveTo>
                  <a:lnTo>
                    <a:pt x="6" y="6"/>
                  </a:lnTo>
                  <a:lnTo>
                    <a:pt x="6" y="4"/>
                  </a:lnTo>
                  <a:lnTo>
                    <a:pt x="7" y="3"/>
                  </a:lnTo>
                  <a:lnTo>
                    <a:pt x="7" y="2"/>
                  </a:lnTo>
                  <a:lnTo>
                    <a:pt x="6" y="1"/>
                  </a:lnTo>
                  <a:lnTo>
                    <a:pt x="6" y="1"/>
                  </a:lnTo>
                  <a:lnTo>
                    <a:pt x="4" y="0"/>
                  </a:lnTo>
                  <a:lnTo>
                    <a:pt x="3" y="0"/>
                  </a:lnTo>
                  <a:lnTo>
                    <a:pt x="2" y="0"/>
                  </a:lnTo>
                  <a:lnTo>
                    <a:pt x="1" y="1"/>
                  </a:lnTo>
                  <a:lnTo>
                    <a:pt x="1" y="1"/>
                  </a:lnTo>
                  <a:lnTo>
                    <a:pt x="0" y="2"/>
                  </a:lnTo>
                  <a:lnTo>
                    <a:pt x="0" y="3"/>
                  </a:lnTo>
                  <a:lnTo>
                    <a:pt x="1" y="4"/>
                  </a:lnTo>
                  <a:lnTo>
                    <a:pt x="1" y="6"/>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175" name="Freeform 519"/>
            <p:cNvSpPr>
              <a:spLocks/>
            </p:cNvSpPr>
            <p:nvPr/>
          </p:nvSpPr>
          <p:spPr bwMode="auto">
            <a:xfrm>
              <a:off x="3961" y="1461"/>
              <a:ext cx="6" cy="6"/>
            </a:xfrm>
            <a:custGeom>
              <a:avLst/>
              <a:gdLst/>
              <a:ahLst/>
              <a:cxnLst>
                <a:cxn ang="0">
                  <a:pos x="4" y="6"/>
                </a:cxn>
                <a:cxn ang="0">
                  <a:pos x="5" y="6"/>
                </a:cxn>
                <a:cxn ang="0">
                  <a:pos x="5" y="4"/>
                </a:cxn>
                <a:cxn ang="0">
                  <a:pos x="6" y="3"/>
                </a:cxn>
                <a:cxn ang="0">
                  <a:pos x="6" y="2"/>
                </a:cxn>
                <a:cxn ang="0">
                  <a:pos x="5" y="1"/>
                </a:cxn>
                <a:cxn ang="0">
                  <a:pos x="5" y="1"/>
                </a:cxn>
                <a:cxn ang="0">
                  <a:pos x="4" y="0"/>
                </a:cxn>
                <a:cxn ang="0">
                  <a:pos x="3" y="0"/>
                </a:cxn>
                <a:cxn ang="0">
                  <a:pos x="2" y="0"/>
                </a:cxn>
                <a:cxn ang="0">
                  <a:pos x="1" y="1"/>
                </a:cxn>
                <a:cxn ang="0">
                  <a:pos x="1" y="1"/>
                </a:cxn>
                <a:cxn ang="0">
                  <a:pos x="0" y="2"/>
                </a:cxn>
                <a:cxn ang="0">
                  <a:pos x="0" y="3"/>
                </a:cxn>
                <a:cxn ang="0">
                  <a:pos x="1" y="4"/>
                </a:cxn>
                <a:cxn ang="0">
                  <a:pos x="1" y="6"/>
                </a:cxn>
                <a:cxn ang="0">
                  <a:pos x="2" y="6"/>
                </a:cxn>
                <a:cxn ang="0">
                  <a:pos x="3" y="6"/>
                </a:cxn>
                <a:cxn ang="0">
                  <a:pos x="4" y="6"/>
                </a:cxn>
              </a:cxnLst>
              <a:rect l="0" t="0" r="r" b="b"/>
              <a:pathLst>
                <a:path w="6" h="6">
                  <a:moveTo>
                    <a:pt x="4" y="6"/>
                  </a:moveTo>
                  <a:lnTo>
                    <a:pt x="5" y="6"/>
                  </a:lnTo>
                  <a:lnTo>
                    <a:pt x="5" y="4"/>
                  </a:lnTo>
                  <a:lnTo>
                    <a:pt x="6" y="3"/>
                  </a:lnTo>
                  <a:lnTo>
                    <a:pt x="6" y="2"/>
                  </a:lnTo>
                  <a:lnTo>
                    <a:pt x="5" y="1"/>
                  </a:lnTo>
                  <a:lnTo>
                    <a:pt x="5" y="1"/>
                  </a:lnTo>
                  <a:lnTo>
                    <a:pt x="4" y="0"/>
                  </a:lnTo>
                  <a:lnTo>
                    <a:pt x="3" y="0"/>
                  </a:lnTo>
                  <a:lnTo>
                    <a:pt x="2" y="0"/>
                  </a:lnTo>
                  <a:lnTo>
                    <a:pt x="1" y="1"/>
                  </a:lnTo>
                  <a:lnTo>
                    <a:pt x="1" y="1"/>
                  </a:lnTo>
                  <a:lnTo>
                    <a:pt x="0" y="2"/>
                  </a:lnTo>
                  <a:lnTo>
                    <a:pt x="0" y="3"/>
                  </a:lnTo>
                  <a:lnTo>
                    <a:pt x="1" y="4"/>
                  </a:lnTo>
                  <a:lnTo>
                    <a:pt x="1" y="6"/>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176" name="Freeform 520"/>
            <p:cNvSpPr>
              <a:spLocks/>
            </p:cNvSpPr>
            <p:nvPr/>
          </p:nvSpPr>
          <p:spPr bwMode="auto">
            <a:xfrm>
              <a:off x="3949" y="1461"/>
              <a:ext cx="7" cy="6"/>
            </a:xfrm>
            <a:custGeom>
              <a:avLst/>
              <a:gdLst/>
              <a:ahLst/>
              <a:cxnLst>
                <a:cxn ang="0">
                  <a:pos x="5" y="6"/>
                </a:cxn>
                <a:cxn ang="0">
                  <a:pos x="6" y="6"/>
                </a:cxn>
                <a:cxn ang="0">
                  <a:pos x="6" y="4"/>
                </a:cxn>
                <a:cxn ang="0">
                  <a:pos x="7" y="3"/>
                </a:cxn>
                <a:cxn ang="0">
                  <a:pos x="7" y="2"/>
                </a:cxn>
                <a:cxn ang="0">
                  <a:pos x="6" y="1"/>
                </a:cxn>
                <a:cxn ang="0">
                  <a:pos x="6" y="1"/>
                </a:cxn>
                <a:cxn ang="0">
                  <a:pos x="5" y="0"/>
                </a:cxn>
                <a:cxn ang="0">
                  <a:pos x="4" y="0"/>
                </a:cxn>
                <a:cxn ang="0">
                  <a:pos x="3" y="0"/>
                </a:cxn>
                <a:cxn ang="0">
                  <a:pos x="1" y="1"/>
                </a:cxn>
                <a:cxn ang="0">
                  <a:pos x="1" y="1"/>
                </a:cxn>
                <a:cxn ang="0">
                  <a:pos x="0" y="2"/>
                </a:cxn>
                <a:cxn ang="0">
                  <a:pos x="0" y="3"/>
                </a:cxn>
                <a:cxn ang="0">
                  <a:pos x="1" y="4"/>
                </a:cxn>
                <a:cxn ang="0">
                  <a:pos x="1" y="6"/>
                </a:cxn>
                <a:cxn ang="0">
                  <a:pos x="3" y="6"/>
                </a:cxn>
                <a:cxn ang="0">
                  <a:pos x="4" y="6"/>
                </a:cxn>
                <a:cxn ang="0">
                  <a:pos x="5" y="6"/>
                </a:cxn>
              </a:cxnLst>
              <a:rect l="0" t="0" r="r" b="b"/>
              <a:pathLst>
                <a:path w="7" h="6">
                  <a:moveTo>
                    <a:pt x="5" y="6"/>
                  </a:moveTo>
                  <a:lnTo>
                    <a:pt x="6" y="6"/>
                  </a:lnTo>
                  <a:lnTo>
                    <a:pt x="6" y="4"/>
                  </a:lnTo>
                  <a:lnTo>
                    <a:pt x="7" y="3"/>
                  </a:lnTo>
                  <a:lnTo>
                    <a:pt x="7" y="2"/>
                  </a:lnTo>
                  <a:lnTo>
                    <a:pt x="6" y="1"/>
                  </a:lnTo>
                  <a:lnTo>
                    <a:pt x="6" y="1"/>
                  </a:lnTo>
                  <a:lnTo>
                    <a:pt x="5" y="0"/>
                  </a:lnTo>
                  <a:lnTo>
                    <a:pt x="4" y="0"/>
                  </a:lnTo>
                  <a:lnTo>
                    <a:pt x="3" y="0"/>
                  </a:lnTo>
                  <a:lnTo>
                    <a:pt x="1" y="1"/>
                  </a:lnTo>
                  <a:lnTo>
                    <a:pt x="1" y="1"/>
                  </a:lnTo>
                  <a:lnTo>
                    <a:pt x="0" y="2"/>
                  </a:lnTo>
                  <a:lnTo>
                    <a:pt x="0" y="3"/>
                  </a:lnTo>
                  <a:lnTo>
                    <a:pt x="1" y="4"/>
                  </a:lnTo>
                  <a:lnTo>
                    <a:pt x="1" y="6"/>
                  </a:lnTo>
                  <a:lnTo>
                    <a:pt x="3" y="6"/>
                  </a:lnTo>
                  <a:lnTo>
                    <a:pt x="4" y="6"/>
                  </a:lnTo>
                  <a:lnTo>
                    <a:pt x="5" y="6"/>
                  </a:lnTo>
                  <a:close/>
                </a:path>
              </a:pathLst>
            </a:custGeom>
            <a:solidFill>
              <a:srgbClr val="000000"/>
            </a:solidFill>
            <a:ln w="9525">
              <a:noFill/>
              <a:round/>
              <a:headEnd/>
              <a:tailEnd/>
            </a:ln>
          </p:spPr>
          <p:txBody>
            <a:bodyPr/>
            <a:lstStyle/>
            <a:p>
              <a:endParaRPr lang="en-US"/>
            </a:p>
          </p:txBody>
        </p:sp>
        <p:sp>
          <p:nvSpPr>
            <p:cNvPr id="327177" name="Freeform 521"/>
            <p:cNvSpPr>
              <a:spLocks/>
            </p:cNvSpPr>
            <p:nvPr/>
          </p:nvSpPr>
          <p:spPr bwMode="auto">
            <a:xfrm>
              <a:off x="3938" y="1461"/>
              <a:ext cx="7" cy="6"/>
            </a:xfrm>
            <a:custGeom>
              <a:avLst/>
              <a:gdLst/>
              <a:ahLst/>
              <a:cxnLst>
                <a:cxn ang="0">
                  <a:pos x="5" y="6"/>
                </a:cxn>
                <a:cxn ang="0">
                  <a:pos x="6" y="6"/>
                </a:cxn>
                <a:cxn ang="0">
                  <a:pos x="6" y="4"/>
                </a:cxn>
                <a:cxn ang="0">
                  <a:pos x="7" y="3"/>
                </a:cxn>
                <a:cxn ang="0">
                  <a:pos x="7" y="2"/>
                </a:cxn>
                <a:cxn ang="0">
                  <a:pos x="6" y="1"/>
                </a:cxn>
                <a:cxn ang="0">
                  <a:pos x="6" y="1"/>
                </a:cxn>
                <a:cxn ang="0">
                  <a:pos x="5" y="0"/>
                </a:cxn>
                <a:cxn ang="0">
                  <a:pos x="3" y="0"/>
                </a:cxn>
                <a:cxn ang="0">
                  <a:pos x="2" y="0"/>
                </a:cxn>
                <a:cxn ang="0">
                  <a:pos x="1" y="1"/>
                </a:cxn>
                <a:cxn ang="0">
                  <a:pos x="1" y="1"/>
                </a:cxn>
                <a:cxn ang="0">
                  <a:pos x="0" y="2"/>
                </a:cxn>
                <a:cxn ang="0">
                  <a:pos x="0" y="3"/>
                </a:cxn>
                <a:cxn ang="0">
                  <a:pos x="1" y="4"/>
                </a:cxn>
                <a:cxn ang="0">
                  <a:pos x="1" y="6"/>
                </a:cxn>
                <a:cxn ang="0">
                  <a:pos x="2" y="6"/>
                </a:cxn>
                <a:cxn ang="0">
                  <a:pos x="3" y="6"/>
                </a:cxn>
                <a:cxn ang="0">
                  <a:pos x="5" y="6"/>
                </a:cxn>
              </a:cxnLst>
              <a:rect l="0" t="0" r="r" b="b"/>
              <a:pathLst>
                <a:path w="7" h="6">
                  <a:moveTo>
                    <a:pt x="5" y="6"/>
                  </a:moveTo>
                  <a:lnTo>
                    <a:pt x="6" y="6"/>
                  </a:lnTo>
                  <a:lnTo>
                    <a:pt x="6" y="4"/>
                  </a:lnTo>
                  <a:lnTo>
                    <a:pt x="7" y="3"/>
                  </a:lnTo>
                  <a:lnTo>
                    <a:pt x="7" y="2"/>
                  </a:lnTo>
                  <a:lnTo>
                    <a:pt x="6" y="1"/>
                  </a:lnTo>
                  <a:lnTo>
                    <a:pt x="6" y="1"/>
                  </a:lnTo>
                  <a:lnTo>
                    <a:pt x="5" y="0"/>
                  </a:lnTo>
                  <a:lnTo>
                    <a:pt x="3" y="0"/>
                  </a:lnTo>
                  <a:lnTo>
                    <a:pt x="2" y="0"/>
                  </a:lnTo>
                  <a:lnTo>
                    <a:pt x="1" y="1"/>
                  </a:lnTo>
                  <a:lnTo>
                    <a:pt x="1" y="1"/>
                  </a:lnTo>
                  <a:lnTo>
                    <a:pt x="0" y="2"/>
                  </a:lnTo>
                  <a:lnTo>
                    <a:pt x="0" y="3"/>
                  </a:lnTo>
                  <a:lnTo>
                    <a:pt x="1" y="4"/>
                  </a:lnTo>
                  <a:lnTo>
                    <a:pt x="1" y="6"/>
                  </a:lnTo>
                  <a:lnTo>
                    <a:pt x="2" y="6"/>
                  </a:lnTo>
                  <a:lnTo>
                    <a:pt x="3" y="6"/>
                  </a:lnTo>
                  <a:lnTo>
                    <a:pt x="5" y="6"/>
                  </a:lnTo>
                  <a:close/>
                </a:path>
              </a:pathLst>
            </a:custGeom>
            <a:solidFill>
              <a:srgbClr val="000000"/>
            </a:solidFill>
            <a:ln w="9525">
              <a:noFill/>
              <a:round/>
              <a:headEnd/>
              <a:tailEnd/>
            </a:ln>
          </p:spPr>
          <p:txBody>
            <a:bodyPr/>
            <a:lstStyle/>
            <a:p>
              <a:endParaRPr lang="en-US"/>
            </a:p>
          </p:txBody>
        </p:sp>
        <p:sp>
          <p:nvSpPr>
            <p:cNvPr id="327178" name="Freeform 522"/>
            <p:cNvSpPr>
              <a:spLocks/>
            </p:cNvSpPr>
            <p:nvPr/>
          </p:nvSpPr>
          <p:spPr bwMode="auto">
            <a:xfrm>
              <a:off x="3927" y="1461"/>
              <a:ext cx="7" cy="6"/>
            </a:xfrm>
            <a:custGeom>
              <a:avLst/>
              <a:gdLst/>
              <a:ahLst/>
              <a:cxnLst>
                <a:cxn ang="0">
                  <a:pos x="4" y="6"/>
                </a:cxn>
                <a:cxn ang="0">
                  <a:pos x="5" y="6"/>
                </a:cxn>
                <a:cxn ang="0">
                  <a:pos x="5" y="4"/>
                </a:cxn>
                <a:cxn ang="0">
                  <a:pos x="7" y="3"/>
                </a:cxn>
                <a:cxn ang="0">
                  <a:pos x="7" y="2"/>
                </a:cxn>
                <a:cxn ang="0">
                  <a:pos x="5" y="1"/>
                </a:cxn>
                <a:cxn ang="0">
                  <a:pos x="5" y="1"/>
                </a:cxn>
                <a:cxn ang="0">
                  <a:pos x="4" y="0"/>
                </a:cxn>
                <a:cxn ang="0">
                  <a:pos x="3" y="0"/>
                </a:cxn>
                <a:cxn ang="0">
                  <a:pos x="2" y="0"/>
                </a:cxn>
                <a:cxn ang="0">
                  <a:pos x="1" y="1"/>
                </a:cxn>
                <a:cxn ang="0">
                  <a:pos x="1" y="1"/>
                </a:cxn>
                <a:cxn ang="0">
                  <a:pos x="0" y="2"/>
                </a:cxn>
                <a:cxn ang="0">
                  <a:pos x="0" y="3"/>
                </a:cxn>
                <a:cxn ang="0">
                  <a:pos x="1" y="4"/>
                </a:cxn>
                <a:cxn ang="0">
                  <a:pos x="1" y="6"/>
                </a:cxn>
                <a:cxn ang="0">
                  <a:pos x="2" y="6"/>
                </a:cxn>
                <a:cxn ang="0">
                  <a:pos x="3" y="6"/>
                </a:cxn>
                <a:cxn ang="0">
                  <a:pos x="4" y="6"/>
                </a:cxn>
              </a:cxnLst>
              <a:rect l="0" t="0" r="r" b="b"/>
              <a:pathLst>
                <a:path w="7" h="6">
                  <a:moveTo>
                    <a:pt x="4" y="6"/>
                  </a:moveTo>
                  <a:lnTo>
                    <a:pt x="5" y="6"/>
                  </a:lnTo>
                  <a:lnTo>
                    <a:pt x="5" y="4"/>
                  </a:lnTo>
                  <a:lnTo>
                    <a:pt x="7" y="3"/>
                  </a:lnTo>
                  <a:lnTo>
                    <a:pt x="7" y="2"/>
                  </a:lnTo>
                  <a:lnTo>
                    <a:pt x="5" y="1"/>
                  </a:lnTo>
                  <a:lnTo>
                    <a:pt x="5" y="1"/>
                  </a:lnTo>
                  <a:lnTo>
                    <a:pt x="4" y="0"/>
                  </a:lnTo>
                  <a:lnTo>
                    <a:pt x="3" y="0"/>
                  </a:lnTo>
                  <a:lnTo>
                    <a:pt x="2" y="0"/>
                  </a:lnTo>
                  <a:lnTo>
                    <a:pt x="1" y="1"/>
                  </a:lnTo>
                  <a:lnTo>
                    <a:pt x="1" y="1"/>
                  </a:lnTo>
                  <a:lnTo>
                    <a:pt x="0" y="2"/>
                  </a:lnTo>
                  <a:lnTo>
                    <a:pt x="0" y="3"/>
                  </a:lnTo>
                  <a:lnTo>
                    <a:pt x="1" y="4"/>
                  </a:lnTo>
                  <a:lnTo>
                    <a:pt x="1" y="6"/>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179" name="Freeform 523"/>
            <p:cNvSpPr>
              <a:spLocks/>
            </p:cNvSpPr>
            <p:nvPr/>
          </p:nvSpPr>
          <p:spPr bwMode="auto">
            <a:xfrm>
              <a:off x="3915" y="1461"/>
              <a:ext cx="7" cy="6"/>
            </a:xfrm>
            <a:custGeom>
              <a:avLst/>
              <a:gdLst/>
              <a:ahLst/>
              <a:cxnLst>
                <a:cxn ang="0">
                  <a:pos x="5" y="6"/>
                </a:cxn>
                <a:cxn ang="0">
                  <a:pos x="6" y="6"/>
                </a:cxn>
                <a:cxn ang="0">
                  <a:pos x="6" y="4"/>
                </a:cxn>
                <a:cxn ang="0">
                  <a:pos x="7" y="3"/>
                </a:cxn>
                <a:cxn ang="0">
                  <a:pos x="7" y="2"/>
                </a:cxn>
                <a:cxn ang="0">
                  <a:pos x="6" y="1"/>
                </a:cxn>
                <a:cxn ang="0">
                  <a:pos x="6" y="1"/>
                </a:cxn>
                <a:cxn ang="0">
                  <a:pos x="5" y="0"/>
                </a:cxn>
                <a:cxn ang="0">
                  <a:pos x="4" y="0"/>
                </a:cxn>
                <a:cxn ang="0">
                  <a:pos x="3" y="0"/>
                </a:cxn>
                <a:cxn ang="0">
                  <a:pos x="2" y="1"/>
                </a:cxn>
                <a:cxn ang="0">
                  <a:pos x="2" y="1"/>
                </a:cxn>
                <a:cxn ang="0">
                  <a:pos x="0" y="2"/>
                </a:cxn>
                <a:cxn ang="0">
                  <a:pos x="0" y="3"/>
                </a:cxn>
                <a:cxn ang="0">
                  <a:pos x="2" y="4"/>
                </a:cxn>
                <a:cxn ang="0">
                  <a:pos x="2" y="6"/>
                </a:cxn>
                <a:cxn ang="0">
                  <a:pos x="3" y="6"/>
                </a:cxn>
                <a:cxn ang="0">
                  <a:pos x="4" y="6"/>
                </a:cxn>
                <a:cxn ang="0">
                  <a:pos x="5" y="6"/>
                </a:cxn>
              </a:cxnLst>
              <a:rect l="0" t="0" r="r" b="b"/>
              <a:pathLst>
                <a:path w="7" h="6">
                  <a:moveTo>
                    <a:pt x="5" y="6"/>
                  </a:moveTo>
                  <a:lnTo>
                    <a:pt x="6" y="6"/>
                  </a:lnTo>
                  <a:lnTo>
                    <a:pt x="6" y="4"/>
                  </a:lnTo>
                  <a:lnTo>
                    <a:pt x="7" y="3"/>
                  </a:lnTo>
                  <a:lnTo>
                    <a:pt x="7" y="2"/>
                  </a:lnTo>
                  <a:lnTo>
                    <a:pt x="6" y="1"/>
                  </a:lnTo>
                  <a:lnTo>
                    <a:pt x="6" y="1"/>
                  </a:lnTo>
                  <a:lnTo>
                    <a:pt x="5" y="0"/>
                  </a:lnTo>
                  <a:lnTo>
                    <a:pt x="4" y="0"/>
                  </a:lnTo>
                  <a:lnTo>
                    <a:pt x="3" y="0"/>
                  </a:lnTo>
                  <a:lnTo>
                    <a:pt x="2" y="1"/>
                  </a:lnTo>
                  <a:lnTo>
                    <a:pt x="2" y="1"/>
                  </a:lnTo>
                  <a:lnTo>
                    <a:pt x="0" y="2"/>
                  </a:lnTo>
                  <a:lnTo>
                    <a:pt x="0" y="3"/>
                  </a:lnTo>
                  <a:lnTo>
                    <a:pt x="2" y="4"/>
                  </a:lnTo>
                  <a:lnTo>
                    <a:pt x="2" y="6"/>
                  </a:lnTo>
                  <a:lnTo>
                    <a:pt x="3" y="6"/>
                  </a:lnTo>
                  <a:lnTo>
                    <a:pt x="4" y="6"/>
                  </a:lnTo>
                  <a:lnTo>
                    <a:pt x="5" y="6"/>
                  </a:lnTo>
                  <a:close/>
                </a:path>
              </a:pathLst>
            </a:custGeom>
            <a:solidFill>
              <a:srgbClr val="000000"/>
            </a:solidFill>
            <a:ln w="9525">
              <a:noFill/>
              <a:round/>
              <a:headEnd/>
              <a:tailEnd/>
            </a:ln>
          </p:spPr>
          <p:txBody>
            <a:bodyPr/>
            <a:lstStyle/>
            <a:p>
              <a:endParaRPr lang="en-US"/>
            </a:p>
          </p:txBody>
        </p:sp>
        <p:sp>
          <p:nvSpPr>
            <p:cNvPr id="327180" name="Freeform 524"/>
            <p:cNvSpPr>
              <a:spLocks/>
            </p:cNvSpPr>
            <p:nvPr/>
          </p:nvSpPr>
          <p:spPr bwMode="auto">
            <a:xfrm>
              <a:off x="3904" y="1461"/>
              <a:ext cx="7" cy="6"/>
            </a:xfrm>
            <a:custGeom>
              <a:avLst/>
              <a:gdLst/>
              <a:ahLst/>
              <a:cxnLst>
                <a:cxn ang="0">
                  <a:pos x="5" y="6"/>
                </a:cxn>
                <a:cxn ang="0">
                  <a:pos x="6" y="6"/>
                </a:cxn>
                <a:cxn ang="0">
                  <a:pos x="6" y="4"/>
                </a:cxn>
                <a:cxn ang="0">
                  <a:pos x="7" y="3"/>
                </a:cxn>
                <a:cxn ang="0">
                  <a:pos x="7" y="2"/>
                </a:cxn>
                <a:cxn ang="0">
                  <a:pos x="6" y="1"/>
                </a:cxn>
                <a:cxn ang="0">
                  <a:pos x="6" y="1"/>
                </a:cxn>
                <a:cxn ang="0">
                  <a:pos x="5" y="0"/>
                </a:cxn>
                <a:cxn ang="0">
                  <a:pos x="4" y="0"/>
                </a:cxn>
                <a:cxn ang="0">
                  <a:pos x="2" y="0"/>
                </a:cxn>
                <a:cxn ang="0">
                  <a:pos x="1" y="1"/>
                </a:cxn>
                <a:cxn ang="0">
                  <a:pos x="1" y="1"/>
                </a:cxn>
                <a:cxn ang="0">
                  <a:pos x="0" y="2"/>
                </a:cxn>
                <a:cxn ang="0">
                  <a:pos x="0" y="3"/>
                </a:cxn>
                <a:cxn ang="0">
                  <a:pos x="1" y="4"/>
                </a:cxn>
                <a:cxn ang="0">
                  <a:pos x="1" y="6"/>
                </a:cxn>
                <a:cxn ang="0">
                  <a:pos x="2" y="6"/>
                </a:cxn>
                <a:cxn ang="0">
                  <a:pos x="4" y="6"/>
                </a:cxn>
                <a:cxn ang="0">
                  <a:pos x="5" y="6"/>
                </a:cxn>
              </a:cxnLst>
              <a:rect l="0" t="0" r="r" b="b"/>
              <a:pathLst>
                <a:path w="7" h="6">
                  <a:moveTo>
                    <a:pt x="5" y="6"/>
                  </a:moveTo>
                  <a:lnTo>
                    <a:pt x="6" y="6"/>
                  </a:lnTo>
                  <a:lnTo>
                    <a:pt x="6" y="4"/>
                  </a:lnTo>
                  <a:lnTo>
                    <a:pt x="7" y="3"/>
                  </a:lnTo>
                  <a:lnTo>
                    <a:pt x="7" y="2"/>
                  </a:lnTo>
                  <a:lnTo>
                    <a:pt x="6" y="1"/>
                  </a:lnTo>
                  <a:lnTo>
                    <a:pt x="6" y="1"/>
                  </a:lnTo>
                  <a:lnTo>
                    <a:pt x="5" y="0"/>
                  </a:lnTo>
                  <a:lnTo>
                    <a:pt x="4" y="0"/>
                  </a:lnTo>
                  <a:lnTo>
                    <a:pt x="2" y="0"/>
                  </a:lnTo>
                  <a:lnTo>
                    <a:pt x="1" y="1"/>
                  </a:lnTo>
                  <a:lnTo>
                    <a:pt x="1" y="1"/>
                  </a:lnTo>
                  <a:lnTo>
                    <a:pt x="0" y="2"/>
                  </a:lnTo>
                  <a:lnTo>
                    <a:pt x="0" y="3"/>
                  </a:lnTo>
                  <a:lnTo>
                    <a:pt x="1" y="4"/>
                  </a:lnTo>
                  <a:lnTo>
                    <a:pt x="1" y="6"/>
                  </a:lnTo>
                  <a:lnTo>
                    <a:pt x="2" y="6"/>
                  </a:lnTo>
                  <a:lnTo>
                    <a:pt x="4" y="6"/>
                  </a:lnTo>
                  <a:lnTo>
                    <a:pt x="5" y="6"/>
                  </a:lnTo>
                  <a:close/>
                </a:path>
              </a:pathLst>
            </a:custGeom>
            <a:solidFill>
              <a:srgbClr val="000000"/>
            </a:solidFill>
            <a:ln w="9525">
              <a:noFill/>
              <a:round/>
              <a:headEnd/>
              <a:tailEnd/>
            </a:ln>
          </p:spPr>
          <p:txBody>
            <a:bodyPr/>
            <a:lstStyle/>
            <a:p>
              <a:endParaRPr lang="en-US"/>
            </a:p>
          </p:txBody>
        </p:sp>
        <p:sp>
          <p:nvSpPr>
            <p:cNvPr id="327181" name="Freeform 525"/>
            <p:cNvSpPr>
              <a:spLocks/>
            </p:cNvSpPr>
            <p:nvPr/>
          </p:nvSpPr>
          <p:spPr bwMode="auto">
            <a:xfrm>
              <a:off x="3893" y="1461"/>
              <a:ext cx="7" cy="6"/>
            </a:xfrm>
            <a:custGeom>
              <a:avLst/>
              <a:gdLst/>
              <a:ahLst/>
              <a:cxnLst>
                <a:cxn ang="0">
                  <a:pos x="4" y="6"/>
                </a:cxn>
                <a:cxn ang="0">
                  <a:pos x="6" y="6"/>
                </a:cxn>
                <a:cxn ang="0">
                  <a:pos x="6" y="4"/>
                </a:cxn>
                <a:cxn ang="0">
                  <a:pos x="7" y="3"/>
                </a:cxn>
                <a:cxn ang="0">
                  <a:pos x="7" y="2"/>
                </a:cxn>
                <a:cxn ang="0">
                  <a:pos x="6" y="1"/>
                </a:cxn>
                <a:cxn ang="0">
                  <a:pos x="6" y="1"/>
                </a:cxn>
                <a:cxn ang="0">
                  <a:pos x="4" y="0"/>
                </a:cxn>
                <a:cxn ang="0">
                  <a:pos x="3" y="0"/>
                </a:cxn>
                <a:cxn ang="0">
                  <a:pos x="2" y="0"/>
                </a:cxn>
                <a:cxn ang="0">
                  <a:pos x="1" y="1"/>
                </a:cxn>
                <a:cxn ang="0">
                  <a:pos x="1" y="1"/>
                </a:cxn>
                <a:cxn ang="0">
                  <a:pos x="0" y="2"/>
                </a:cxn>
                <a:cxn ang="0">
                  <a:pos x="0" y="3"/>
                </a:cxn>
                <a:cxn ang="0">
                  <a:pos x="1" y="4"/>
                </a:cxn>
                <a:cxn ang="0">
                  <a:pos x="1" y="6"/>
                </a:cxn>
                <a:cxn ang="0">
                  <a:pos x="2" y="6"/>
                </a:cxn>
                <a:cxn ang="0">
                  <a:pos x="3" y="6"/>
                </a:cxn>
                <a:cxn ang="0">
                  <a:pos x="4" y="6"/>
                </a:cxn>
              </a:cxnLst>
              <a:rect l="0" t="0" r="r" b="b"/>
              <a:pathLst>
                <a:path w="7" h="6">
                  <a:moveTo>
                    <a:pt x="4" y="6"/>
                  </a:moveTo>
                  <a:lnTo>
                    <a:pt x="6" y="6"/>
                  </a:lnTo>
                  <a:lnTo>
                    <a:pt x="6" y="4"/>
                  </a:lnTo>
                  <a:lnTo>
                    <a:pt x="7" y="3"/>
                  </a:lnTo>
                  <a:lnTo>
                    <a:pt x="7" y="2"/>
                  </a:lnTo>
                  <a:lnTo>
                    <a:pt x="6" y="1"/>
                  </a:lnTo>
                  <a:lnTo>
                    <a:pt x="6" y="1"/>
                  </a:lnTo>
                  <a:lnTo>
                    <a:pt x="4" y="0"/>
                  </a:lnTo>
                  <a:lnTo>
                    <a:pt x="3" y="0"/>
                  </a:lnTo>
                  <a:lnTo>
                    <a:pt x="2" y="0"/>
                  </a:lnTo>
                  <a:lnTo>
                    <a:pt x="1" y="1"/>
                  </a:lnTo>
                  <a:lnTo>
                    <a:pt x="1" y="1"/>
                  </a:lnTo>
                  <a:lnTo>
                    <a:pt x="0" y="2"/>
                  </a:lnTo>
                  <a:lnTo>
                    <a:pt x="0" y="3"/>
                  </a:lnTo>
                  <a:lnTo>
                    <a:pt x="1" y="4"/>
                  </a:lnTo>
                  <a:lnTo>
                    <a:pt x="1" y="6"/>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182" name="Freeform 526"/>
            <p:cNvSpPr>
              <a:spLocks/>
            </p:cNvSpPr>
            <p:nvPr/>
          </p:nvSpPr>
          <p:spPr bwMode="auto">
            <a:xfrm>
              <a:off x="3882" y="1461"/>
              <a:ext cx="6" cy="6"/>
            </a:xfrm>
            <a:custGeom>
              <a:avLst/>
              <a:gdLst/>
              <a:ahLst/>
              <a:cxnLst>
                <a:cxn ang="0">
                  <a:pos x="4" y="6"/>
                </a:cxn>
                <a:cxn ang="0">
                  <a:pos x="5" y="6"/>
                </a:cxn>
                <a:cxn ang="0">
                  <a:pos x="5" y="4"/>
                </a:cxn>
                <a:cxn ang="0">
                  <a:pos x="6" y="3"/>
                </a:cxn>
                <a:cxn ang="0">
                  <a:pos x="6" y="2"/>
                </a:cxn>
                <a:cxn ang="0">
                  <a:pos x="5" y="1"/>
                </a:cxn>
                <a:cxn ang="0">
                  <a:pos x="5" y="1"/>
                </a:cxn>
                <a:cxn ang="0">
                  <a:pos x="4" y="0"/>
                </a:cxn>
                <a:cxn ang="0">
                  <a:pos x="3" y="0"/>
                </a:cxn>
                <a:cxn ang="0">
                  <a:pos x="2" y="0"/>
                </a:cxn>
                <a:cxn ang="0">
                  <a:pos x="1" y="1"/>
                </a:cxn>
                <a:cxn ang="0">
                  <a:pos x="1" y="1"/>
                </a:cxn>
                <a:cxn ang="0">
                  <a:pos x="0" y="2"/>
                </a:cxn>
                <a:cxn ang="0">
                  <a:pos x="0" y="3"/>
                </a:cxn>
                <a:cxn ang="0">
                  <a:pos x="1" y="4"/>
                </a:cxn>
                <a:cxn ang="0">
                  <a:pos x="1" y="6"/>
                </a:cxn>
                <a:cxn ang="0">
                  <a:pos x="2" y="6"/>
                </a:cxn>
                <a:cxn ang="0">
                  <a:pos x="3" y="6"/>
                </a:cxn>
                <a:cxn ang="0">
                  <a:pos x="4" y="6"/>
                </a:cxn>
              </a:cxnLst>
              <a:rect l="0" t="0" r="r" b="b"/>
              <a:pathLst>
                <a:path w="6" h="6">
                  <a:moveTo>
                    <a:pt x="4" y="6"/>
                  </a:moveTo>
                  <a:lnTo>
                    <a:pt x="5" y="6"/>
                  </a:lnTo>
                  <a:lnTo>
                    <a:pt x="5" y="4"/>
                  </a:lnTo>
                  <a:lnTo>
                    <a:pt x="6" y="3"/>
                  </a:lnTo>
                  <a:lnTo>
                    <a:pt x="6" y="2"/>
                  </a:lnTo>
                  <a:lnTo>
                    <a:pt x="5" y="1"/>
                  </a:lnTo>
                  <a:lnTo>
                    <a:pt x="5" y="1"/>
                  </a:lnTo>
                  <a:lnTo>
                    <a:pt x="4" y="0"/>
                  </a:lnTo>
                  <a:lnTo>
                    <a:pt x="3" y="0"/>
                  </a:lnTo>
                  <a:lnTo>
                    <a:pt x="2" y="0"/>
                  </a:lnTo>
                  <a:lnTo>
                    <a:pt x="1" y="1"/>
                  </a:lnTo>
                  <a:lnTo>
                    <a:pt x="1" y="1"/>
                  </a:lnTo>
                  <a:lnTo>
                    <a:pt x="0" y="2"/>
                  </a:lnTo>
                  <a:lnTo>
                    <a:pt x="0" y="3"/>
                  </a:lnTo>
                  <a:lnTo>
                    <a:pt x="1" y="4"/>
                  </a:lnTo>
                  <a:lnTo>
                    <a:pt x="1" y="6"/>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183" name="Freeform 527"/>
            <p:cNvSpPr>
              <a:spLocks/>
            </p:cNvSpPr>
            <p:nvPr/>
          </p:nvSpPr>
          <p:spPr bwMode="auto">
            <a:xfrm>
              <a:off x="3870" y="1461"/>
              <a:ext cx="7" cy="6"/>
            </a:xfrm>
            <a:custGeom>
              <a:avLst/>
              <a:gdLst/>
              <a:ahLst/>
              <a:cxnLst>
                <a:cxn ang="0">
                  <a:pos x="5" y="6"/>
                </a:cxn>
                <a:cxn ang="0">
                  <a:pos x="6" y="6"/>
                </a:cxn>
                <a:cxn ang="0">
                  <a:pos x="6" y="4"/>
                </a:cxn>
                <a:cxn ang="0">
                  <a:pos x="7" y="3"/>
                </a:cxn>
                <a:cxn ang="0">
                  <a:pos x="7" y="2"/>
                </a:cxn>
                <a:cxn ang="0">
                  <a:pos x="6" y="1"/>
                </a:cxn>
                <a:cxn ang="0">
                  <a:pos x="6" y="1"/>
                </a:cxn>
                <a:cxn ang="0">
                  <a:pos x="5" y="0"/>
                </a:cxn>
                <a:cxn ang="0">
                  <a:pos x="4" y="0"/>
                </a:cxn>
                <a:cxn ang="0">
                  <a:pos x="3" y="0"/>
                </a:cxn>
                <a:cxn ang="0">
                  <a:pos x="1" y="1"/>
                </a:cxn>
                <a:cxn ang="0">
                  <a:pos x="1" y="1"/>
                </a:cxn>
                <a:cxn ang="0">
                  <a:pos x="0" y="2"/>
                </a:cxn>
                <a:cxn ang="0">
                  <a:pos x="0" y="3"/>
                </a:cxn>
                <a:cxn ang="0">
                  <a:pos x="1" y="4"/>
                </a:cxn>
                <a:cxn ang="0">
                  <a:pos x="1" y="6"/>
                </a:cxn>
                <a:cxn ang="0">
                  <a:pos x="3" y="6"/>
                </a:cxn>
                <a:cxn ang="0">
                  <a:pos x="4" y="6"/>
                </a:cxn>
                <a:cxn ang="0">
                  <a:pos x="5" y="6"/>
                </a:cxn>
              </a:cxnLst>
              <a:rect l="0" t="0" r="r" b="b"/>
              <a:pathLst>
                <a:path w="7" h="6">
                  <a:moveTo>
                    <a:pt x="5" y="6"/>
                  </a:moveTo>
                  <a:lnTo>
                    <a:pt x="6" y="6"/>
                  </a:lnTo>
                  <a:lnTo>
                    <a:pt x="6" y="4"/>
                  </a:lnTo>
                  <a:lnTo>
                    <a:pt x="7" y="3"/>
                  </a:lnTo>
                  <a:lnTo>
                    <a:pt x="7" y="2"/>
                  </a:lnTo>
                  <a:lnTo>
                    <a:pt x="6" y="1"/>
                  </a:lnTo>
                  <a:lnTo>
                    <a:pt x="6" y="1"/>
                  </a:lnTo>
                  <a:lnTo>
                    <a:pt x="5" y="0"/>
                  </a:lnTo>
                  <a:lnTo>
                    <a:pt x="4" y="0"/>
                  </a:lnTo>
                  <a:lnTo>
                    <a:pt x="3" y="0"/>
                  </a:lnTo>
                  <a:lnTo>
                    <a:pt x="1" y="1"/>
                  </a:lnTo>
                  <a:lnTo>
                    <a:pt x="1" y="1"/>
                  </a:lnTo>
                  <a:lnTo>
                    <a:pt x="0" y="2"/>
                  </a:lnTo>
                  <a:lnTo>
                    <a:pt x="0" y="3"/>
                  </a:lnTo>
                  <a:lnTo>
                    <a:pt x="1" y="4"/>
                  </a:lnTo>
                  <a:lnTo>
                    <a:pt x="1" y="6"/>
                  </a:lnTo>
                  <a:lnTo>
                    <a:pt x="3" y="6"/>
                  </a:lnTo>
                  <a:lnTo>
                    <a:pt x="4" y="6"/>
                  </a:lnTo>
                  <a:lnTo>
                    <a:pt x="5" y="6"/>
                  </a:lnTo>
                  <a:close/>
                </a:path>
              </a:pathLst>
            </a:custGeom>
            <a:solidFill>
              <a:srgbClr val="000000"/>
            </a:solidFill>
            <a:ln w="9525">
              <a:noFill/>
              <a:round/>
              <a:headEnd/>
              <a:tailEnd/>
            </a:ln>
          </p:spPr>
          <p:txBody>
            <a:bodyPr/>
            <a:lstStyle/>
            <a:p>
              <a:endParaRPr lang="en-US"/>
            </a:p>
          </p:txBody>
        </p:sp>
        <p:sp>
          <p:nvSpPr>
            <p:cNvPr id="327184" name="Freeform 528"/>
            <p:cNvSpPr>
              <a:spLocks/>
            </p:cNvSpPr>
            <p:nvPr/>
          </p:nvSpPr>
          <p:spPr bwMode="auto">
            <a:xfrm>
              <a:off x="3859" y="1461"/>
              <a:ext cx="7" cy="6"/>
            </a:xfrm>
            <a:custGeom>
              <a:avLst/>
              <a:gdLst/>
              <a:ahLst/>
              <a:cxnLst>
                <a:cxn ang="0">
                  <a:pos x="5" y="6"/>
                </a:cxn>
                <a:cxn ang="0">
                  <a:pos x="6" y="6"/>
                </a:cxn>
                <a:cxn ang="0">
                  <a:pos x="6" y="4"/>
                </a:cxn>
                <a:cxn ang="0">
                  <a:pos x="7" y="3"/>
                </a:cxn>
                <a:cxn ang="0">
                  <a:pos x="7" y="2"/>
                </a:cxn>
                <a:cxn ang="0">
                  <a:pos x="6" y="1"/>
                </a:cxn>
                <a:cxn ang="0">
                  <a:pos x="6" y="1"/>
                </a:cxn>
                <a:cxn ang="0">
                  <a:pos x="5" y="0"/>
                </a:cxn>
                <a:cxn ang="0">
                  <a:pos x="3" y="0"/>
                </a:cxn>
                <a:cxn ang="0">
                  <a:pos x="2" y="0"/>
                </a:cxn>
                <a:cxn ang="0">
                  <a:pos x="1" y="1"/>
                </a:cxn>
                <a:cxn ang="0">
                  <a:pos x="1" y="1"/>
                </a:cxn>
                <a:cxn ang="0">
                  <a:pos x="0" y="2"/>
                </a:cxn>
                <a:cxn ang="0">
                  <a:pos x="0" y="3"/>
                </a:cxn>
                <a:cxn ang="0">
                  <a:pos x="1" y="4"/>
                </a:cxn>
                <a:cxn ang="0">
                  <a:pos x="1" y="6"/>
                </a:cxn>
                <a:cxn ang="0">
                  <a:pos x="2" y="6"/>
                </a:cxn>
                <a:cxn ang="0">
                  <a:pos x="3" y="6"/>
                </a:cxn>
                <a:cxn ang="0">
                  <a:pos x="5" y="6"/>
                </a:cxn>
              </a:cxnLst>
              <a:rect l="0" t="0" r="r" b="b"/>
              <a:pathLst>
                <a:path w="7" h="6">
                  <a:moveTo>
                    <a:pt x="5" y="6"/>
                  </a:moveTo>
                  <a:lnTo>
                    <a:pt x="6" y="6"/>
                  </a:lnTo>
                  <a:lnTo>
                    <a:pt x="6" y="4"/>
                  </a:lnTo>
                  <a:lnTo>
                    <a:pt x="7" y="3"/>
                  </a:lnTo>
                  <a:lnTo>
                    <a:pt x="7" y="2"/>
                  </a:lnTo>
                  <a:lnTo>
                    <a:pt x="6" y="1"/>
                  </a:lnTo>
                  <a:lnTo>
                    <a:pt x="6" y="1"/>
                  </a:lnTo>
                  <a:lnTo>
                    <a:pt x="5" y="0"/>
                  </a:lnTo>
                  <a:lnTo>
                    <a:pt x="3" y="0"/>
                  </a:lnTo>
                  <a:lnTo>
                    <a:pt x="2" y="0"/>
                  </a:lnTo>
                  <a:lnTo>
                    <a:pt x="1" y="1"/>
                  </a:lnTo>
                  <a:lnTo>
                    <a:pt x="1" y="1"/>
                  </a:lnTo>
                  <a:lnTo>
                    <a:pt x="0" y="2"/>
                  </a:lnTo>
                  <a:lnTo>
                    <a:pt x="0" y="3"/>
                  </a:lnTo>
                  <a:lnTo>
                    <a:pt x="1" y="4"/>
                  </a:lnTo>
                  <a:lnTo>
                    <a:pt x="1" y="6"/>
                  </a:lnTo>
                  <a:lnTo>
                    <a:pt x="2" y="6"/>
                  </a:lnTo>
                  <a:lnTo>
                    <a:pt x="3" y="6"/>
                  </a:lnTo>
                  <a:lnTo>
                    <a:pt x="5" y="6"/>
                  </a:lnTo>
                  <a:close/>
                </a:path>
              </a:pathLst>
            </a:custGeom>
            <a:solidFill>
              <a:srgbClr val="000000"/>
            </a:solidFill>
            <a:ln w="9525">
              <a:noFill/>
              <a:round/>
              <a:headEnd/>
              <a:tailEnd/>
            </a:ln>
          </p:spPr>
          <p:txBody>
            <a:bodyPr/>
            <a:lstStyle/>
            <a:p>
              <a:endParaRPr lang="en-US"/>
            </a:p>
          </p:txBody>
        </p:sp>
        <p:sp>
          <p:nvSpPr>
            <p:cNvPr id="327185" name="Freeform 529"/>
            <p:cNvSpPr>
              <a:spLocks/>
            </p:cNvSpPr>
            <p:nvPr/>
          </p:nvSpPr>
          <p:spPr bwMode="auto">
            <a:xfrm>
              <a:off x="3848" y="1461"/>
              <a:ext cx="6" cy="6"/>
            </a:xfrm>
            <a:custGeom>
              <a:avLst/>
              <a:gdLst/>
              <a:ahLst/>
              <a:cxnLst>
                <a:cxn ang="0">
                  <a:pos x="4" y="6"/>
                </a:cxn>
                <a:cxn ang="0">
                  <a:pos x="5" y="6"/>
                </a:cxn>
                <a:cxn ang="0">
                  <a:pos x="5" y="4"/>
                </a:cxn>
                <a:cxn ang="0">
                  <a:pos x="6" y="3"/>
                </a:cxn>
                <a:cxn ang="0">
                  <a:pos x="6" y="2"/>
                </a:cxn>
                <a:cxn ang="0">
                  <a:pos x="5" y="1"/>
                </a:cxn>
                <a:cxn ang="0">
                  <a:pos x="5" y="1"/>
                </a:cxn>
                <a:cxn ang="0">
                  <a:pos x="4" y="0"/>
                </a:cxn>
                <a:cxn ang="0">
                  <a:pos x="3" y="0"/>
                </a:cxn>
                <a:cxn ang="0">
                  <a:pos x="2" y="0"/>
                </a:cxn>
                <a:cxn ang="0">
                  <a:pos x="1" y="1"/>
                </a:cxn>
                <a:cxn ang="0">
                  <a:pos x="1" y="1"/>
                </a:cxn>
                <a:cxn ang="0">
                  <a:pos x="0" y="2"/>
                </a:cxn>
                <a:cxn ang="0">
                  <a:pos x="0" y="3"/>
                </a:cxn>
                <a:cxn ang="0">
                  <a:pos x="1" y="4"/>
                </a:cxn>
                <a:cxn ang="0">
                  <a:pos x="1" y="6"/>
                </a:cxn>
                <a:cxn ang="0">
                  <a:pos x="2" y="6"/>
                </a:cxn>
                <a:cxn ang="0">
                  <a:pos x="3" y="6"/>
                </a:cxn>
                <a:cxn ang="0">
                  <a:pos x="4" y="6"/>
                </a:cxn>
              </a:cxnLst>
              <a:rect l="0" t="0" r="r" b="b"/>
              <a:pathLst>
                <a:path w="6" h="6">
                  <a:moveTo>
                    <a:pt x="4" y="6"/>
                  </a:moveTo>
                  <a:lnTo>
                    <a:pt x="5" y="6"/>
                  </a:lnTo>
                  <a:lnTo>
                    <a:pt x="5" y="4"/>
                  </a:lnTo>
                  <a:lnTo>
                    <a:pt x="6" y="3"/>
                  </a:lnTo>
                  <a:lnTo>
                    <a:pt x="6" y="2"/>
                  </a:lnTo>
                  <a:lnTo>
                    <a:pt x="5" y="1"/>
                  </a:lnTo>
                  <a:lnTo>
                    <a:pt x="5" y="1"/>
                  </a:lnTo>
                  <a:lnTo>
                    <a:pt x="4" y="0"/>
                  </a:lnTo>
                  <a:lnTo>
                    <a:pt x="3" y="0"/>
                  </a:lnTo>
                  <a:lnTo>
                    <a:pt x="2" y="0"/>
                  </a:lnTo>
                  <a:lnTo>
                    <a:pt x="1" y="1"/>
                  </a:lnTo>
                  <a:lnTo>
                    <a:pt x="1" y="1"/>
                  </a:lnTo>
                  <a:lnTo>
                    <a:pt x="0" y="2"/>
                  </a:lnTo>
                  <a:lnTo>
                    <a:pt x="0" y="3"/>
                  </a:lnTo>
                  <a:lnTo>
                    <a:pt x="1" y="4"/>
                  </a:lnTo>
                  <a:lnTo>
                    <a:pt x="1" y="6"/>
                  </a:lnTo>
                  <a:lnTo>
                    <a:pt x="2" y="6"/>
                  </a:lnTo>
                  <a:lnTo>
                    <a:pt x="3" y="6"/>
                  </a:lnTo>
                  <a:lnTo>
                    <a:pt x="4" y="6"/>
                  </a:lnTo>
                  <a:close/>
                </a:path>
              </a:pathLst>
            </a:custGeom>
            <a:solidFill>
              <a:srgbClr val="000000"/>
            </a:solidFill>
            <a:ln w="9525">
              <a:noFill/>
              <a:round/>
              <a:headEnd/>
              <a:tailEnd/>
            </a:ln>
          </p:spPr>
          <p:txBody>
            <a:bodyPr/>
            <a:lstStyle/>
            <a:p>
              <a:endParaRPr lang="en-US"/>
            </a:p>
          </p:txBody>
        </p:sp>
      </p:grpSp>
      <p:sp>
        <p:nvSpPr>
          <p:cNvPr id="327186" name="Freeform 530"/>
          <p:cNvSpPr>
            <a:spLocks/>
          </p:cNvSpPr>
          <p:nvPr/>
        </p:nvSpPr>
        <p:spPr bwMode="auto">
          <a:xfrm>
            <a:off x="6076950" y="2293938"/>
            <a:ext cx="47625" cy="58737"/>
          </a:xfrm>
          <a:custGeom>
            <a:avLst/>
            <a:gdLst/>
            <a:ahLst/>
            <a:cxnLst>
              <a:cxn ang="0">
                <a:pos x="30" y="37"/>
              </a:cxn>
              <a:cxn ang="0">
                <a:pos x="30" y="0"/>
              </a:cxn>
              <a:cxn ang="0">
                <a:pos x="0" y="18"/>
              </a:cxn>
              <a:cxn ang="0">
                <a:pos x="30" y="37"/>
              </a:cxn>
            </a:cxnLst>
            <a:rect l="0" t="0" r="r" b="b"/>
            <a:pathLst>
              <a:path w="30" h="37">
                <a:moveTo>
                  <a:pt x="30" y="37"/>
                </a:moveTo>
                <a:lnTo>
                  <a:pt x="30" y="0"/>
                </a:lnTo>
                <a:lnTo>
                  <a:pt x="0" y="18"/>
                </a:lnTo>
                <a:lnTo>
                  <a:pt x="30" y="37"/>
                </a:lnTo>
                <a:close/>
              </a:path>
            </a:pathLst>
          </a:custGeom>
          <a:solidFill>
            <a:srgbClr val="000000"/>
          </a:solidFill>
          <a:ln w="3175">
            <a:solidFill>
              <a:srgbClr val="000000"/>
            </a:solidFill>
            <a:prstDash val="solid"/>
            <a:round/>
            <a:headEnd/>
            <a:tailEnd/>
          </a:ln>
        </p:spPr>
        <p:txBody>
          <a:bodyPr/>
          <a:lstStyle/>
          <a:p>
            <a:endParaRPr lang="en-US"/>
          </a:p>
        </p:txBody>
      </p:sp>
      <p:grpSp>
        <p:nvGrpSpPr>
          <p:cNvPr id="8" name="Group 531"/>
          <p:cNvGrpSpPr>
            <a:grpSpLocks/>
          </p:cNvGrpSpPr>
          <p:nvPr/>
        </p:nvGrpSpPr>
        <p:grpSpPr bwMode="auto">
          <a:xfrm>
            <a:off x="4441825" y="4238625"/>
            <a:ext cx="117475" cy="201613"/>
            <a:chOff x="2798" y="2670"/>
            <a:chExt cx="74" cy="127"/>
          </a:xfrm>
        </p:grpSpPr>
        <p:sp>
          <p:nvSpPr>
            <p:cNvPr id="327188" name="Line 532"/>
            <p:cNvSpPr>
              <a:spLocks noChangeShapeType="1"/>
            </p:cNvSpPr>
            <p:nvPr/>
          </p:nvSpPr>
          <p:spPr bwMode="auto">
            <a:xfrm>
              <a:off x="2834" y="2670"/>
              <a:ext cx="1" cy="60"/>
            </a:xfrm>
            <a:prstGeom prst="line">
              <a:avLst/>
            </a:prstGeom>
            <a:noFill/>
            <a:ln w="11113">
              <a:solidFill>
                <a:srgbClr val="000000"/>
              </a:solidFill>
              <a:round/>
              <a:headEnd/>
              <a:tailEnd/>
            </a:ln>
          </p:spPr>
          <p:txBody>
            <a:bodyPr/>
            <a:lstStyle/>
            <a:p>
              <a:endParaRPr lang="en-US"/>
            </a:p>
          </p:txBody>
        </p:sp>
        <p:sp>
          <p:nvSpPr>
            <p:cNvPr id="327189" name="Freeform 533"/>
            <p:cNvSpPr>
              <a:spLocks/>
            </p:cNvSpPr>
            <p:nvPr/>
          </p:nvSpPr>
          <p:spPr bwMode="auto">
            <a:xfrm>
              <a:off x="2798" y="2728"/>
              <a:ext cx="74" cy="69"/>
            </a:xfrm>
            <a:custGeom>
              <a:avLst/>
              <a:gdLst/>
              <a:ahLst/>
              <a:cxnLst>
                <a:cxn ang="0">
                  <a:pos x="0" y="0"/>
                </a:cxn>
                <a:cxn ang="0">
                  <a:pos x="38" y="69"/>
                </a:cxn>
                <a:cxn ang="0">
                  <a:pos x="74" y="0"/>
                </a:cxn>
                <a:cxn ang="0">
                  <a:pos x="0" y="0"/>
                </a:cxn>
              </a:cxnLst>
              <a:rect l="0" t="0" r="r" b="b"/>
              <a:pathLst>
                <a:path w="74" h="69">
                  <a:moveTo>
                    <a:pt x="0" y="0"/>
                  </a:moveTo>
                  <a:lnTo>
                    <a:pt x="38" y="69"/>
                  </a:lnTo>
                  <a:lnTo>
                    <a:pt x="74" y="0"/>
                  </a:lnTo>
                  <a:lnTo>
                    <a:pt x="0" y="0"/>
                  </a:lnTo>
                  <a:close/>
                </a:path>
              </a:pathLst>
            </a:custGeom>
            <a:solidFill>
              <a:srgbClr val="000000"/>
            </a:solidFill>
            <a:ln w="9525">
              <a:noFill/>
              <a:round/>
              <a:headEnd/>
              <a:tailEnd/>
            </a:ln>
          </p:spPr>
          <p:txBody>
            <a:bodyPr/>
            <a:lstStyle/>
            <a:p>
              <a:endParaRPr lang="en-US"/>
            </a:p>
          </p:txBody>
        </p:sp>
      </p:grpSp>
      <p:grpSp>
        <p:nvGrpSpPr>
          <p:cNvPr id="9" name="Group 534"/>
          <p:cNvGrpSpPr>
            <a:grpSpLocks/>
          </p:cNvGrpSpPr>
          <p:nvPr/>
        </p:nvGrpSpPr>
        <p:grpSpPr bwMode="auto">
          <a:xfrm>
            <a:off x="5792788" y="4338638"/>
            <a:ext cx="428625" cy="201612"/>
            <a:chOff x="3649" y="2733"/>
            <a:chExt cx="270" cy="127"/>
          </a:xfrm>
        </p:grpSpPr>
        <p:sp>
          <p:nvSpPr>
            <p:cNvPr id="327191" name="Line 535"/>
            <p:cNvSpPr>
              <a:spLocks noChangeShapeType="1"/>
            </p:cNvSpPr>
            <p:nvPr/>
          </p:nvSpPr>
          <p:spPr bwMode="auto">
            <a:xfrm flipH="1">
              <a:off x="3711" y="2733"/>
              <a:ext cx="208" cy="96"/>
            </a:xfrm>
            <a:prstGeom prst="line">
              <a:avLst/>
            </a:prstGeom>
            <a:noFill/>
            <a:ln w="11113">
              <a:solidFill>
                <a:srgbClr val="000000"/>
              </a:solidFill>
              <a:round/>
              <a:headEnd/>
              <a:tailEnd/>
            </a:ln>
          </p:spPr>
          <p:txBody>
            <a:bodyPr/>
            <a:lstStyle/>
            <a:p>
              <a:endParaRPr lang="en-US"/>
            </a:p>
          </p:txBody>
        </p:sp>
        <p:sp>
          <p:nvSpPr>
            <p:cNvPr id="327192" name="Freeform 536"/>
            <p:cNvSpPr>
              <a:spLocks/>
            </p:cNvSpPr>
            <p:nvPr/>
          </p:nvSpPr>
          <p:spPr bwMode="auto">
            <a:xfrm>
              <a:off x="3649" y="2799"/>
              <a:ext cx="82" cy="61"/>
            </a:xfrm>
            <a:custGeom>
              <a:avLst/>
              <a:gdLst/>
              <a:ahLst/>
              <a:cxnLst>
                <a:cxn ang="0">
                  <a:pos x="50" y="0"/>
                </a:cxn>
                <a:cxn ang="0">
                  <a:pos x="0" y="61"/>
                </a:cxn>
                <a:cxn ang="0">
                  <a:pos x="82" y="61"/>
                </a:cxn>
                <a:cxn ang="0">
                  <a:pos x="50" y="0"/>
                </a:cxn>
              </a:cxnLst>
              <a:rect l="0" t="0" r="r" b="b"/>
              <a:pathLst>
                <a:path w="82" h="61">
                  <a:moveTo>
                    <a:pt x="50" y="0"/>
                  </a:moveTo>
                  <a:lnTo>
                    <a:pt x="0" y="61"/>
                  </a:lnTo>
                  <a:lnTo>
                    <a:pt x="82" y="61"/>
                  </a:lnTo>
                  <a:lnTo>
                    <a:pt x="50" y="0"/>
                  </a:lnTo>
                  <a:close/>
                </a:path>
              </a:pathLst>
            </a:custGeom>
            <a:solidFill>
              <a:srgbClr val="000000"/>
            </a:solidFill>
            <a:ln w="9525">
              <a:noFill/>
              <a:round/>
              <a:headEnd/>
              <a:tailEnd/>
            </a:ln>
          </p:spPr>
          <p:txBody>
            <a:bodyPr/>
            <a:lstStyle/>
            <a:p>
              <a:endParaRPr lang="en-US"/>
            </a:p>
          </p:txBody>
        </p:sp>
      </p:grpSp>
      <p:grpSp>
        <p:nvGrpSpPr>
          <p:cNvPr id="10" name="Group 537"/>
          <p:cNvGrpSpPr>
            <a:grpSpLocks/>
          </p:cNvGrpSpPr>
          <p:nvPr/>
        </p:nvGrpSpPr>
        <p:grpSpPr bwMode="auto">
          <a:xfrm>
            <a:off x="5792788" y="4605338"/>
            <a:ext cx="642937" cy="134937"/>
            <a:chOff x="3649" y="2901"/>
            <a:chExt cx="405" cy="85"/>
          </a:xfrm>
        </p:grpSpPr>
        <p:sp>
          <p:nvSpPr>
            <p:cNvPr id="327194" name="Line 538"/>
            <p:cNvSpPr>
              <a:spLocks noChangeShapeType="1"/>
            </p:cNvSpPr>
            <p:nvPr/>
          </p:nvSpPr>
          <p:spPr bwMode="auto">
            <a:xfrm flipH="1" flipV="1">
              <a:off x="3718" y="2934"/>
              <a:ext cx="336" cy="52"/>
            </a:xfrm>
            <a:prstGeom prst="line">
              <a:avLst/>
            </a:prstGeom>
            <a:noFill/>
            <a:ln w="11113">
              <a:solidFill>
                <a:srgbClr val="000000"/>
              </a:solidFill>
              <a:round/>
              <a:headEnd/>
              <a:tailEnd/>
            </a:ln>
          </p:spPr>
          <p:txBody>
            <a:bodyPr/>
            <a:lstStyle/>
            <a:p>
              <a:endParaRPr lang="en-US"/>
            </a:p>
          </p:txBody>
        </p:sp>
        <p:sp>
          <p:nvSpPr>
            <p:cNvPr id="327195" name="Freeform 539"/>
            <p:cNvSpPr>
              <a:spLocks/>
            </p:cNvSpPr>
            <p:nvPr/>
          </p:nvSpPr>
          <p:spPr bwMode="auto">
            <a:xfrm>
              <a:off x="3649" y="2901"/>
              <a:ext cx="79" cy="68"/>
            </a:xfrm>
            <a:custGeom>
              <a:avLst/>
              <a:gdLst/>
              <a:ahLst/>
              <a:cxnLst>
                <a:cxn ang="0">
                  <a:pos x="79" y="0"/>
                </a:cxn>
                <a:cxn ang="0">
                  <a:pos x="0" y="22"/>
                </a:cxn>
                <a:cxn ang="0">
                  <a:pos x="67" y="68"/>
                </a:cxn>
                <a:cxn ang="0">
                  <a:pos x="79" y="0"/>
                </a:cxn>
              </a:cxnLst>
              <a:rect l="0" t="0" r="r" b="b"/>
              <a:pathLst>
                <a:path w="79" h="68">
                  <a:moveTo>
                    <a:pt x="79" y="0"/>
                  </a:moveTo>
                  <a:lnTo>
                    <a:pt x="0" y="22"/>
                  </a:lnTo>
                  <a:lnTo>
                    <a:pt x="67" y="68"/>
                  </a:lnTo>
                  <a:lnTo>
                    <a:pt x="79" y="0"/>
                  </a:lnTo>
                  <a:close/>
                </a:path>
              </a:pathLst>
            </a:custGeom>
            <a:solidFill>
              <a:srgbClr val="000000"/>
            </a:solidFill>
            <a:ln w="9525">
              <a:noFill/>
              <a:round/>
              <a:headEnd/>
              <a:tailEnd/>
            </a:ln>
          </p:spPr>
          <p:txBody>
            <a:bodyPr/>
            <a:lstStyle/>
            <a:p>
              <a:endParaRPr lang="en-US"/>
            </a:p>
          </p:txBody>
        </p:sp>
      </p:grpSp>
      <p:sp>
        <p:nvSpPr>
          <p:cNvPr id="327196" name="Rectangle 540"/>
          <p:cNvSpPr>
            <a:spLocks noChangeArrowheads="1"/>
          </p:cNvSpPr>
          <p:nvPr/>
        </p:nvSpPr>
        <p:spPr bwMode="auto">
          <a:xfrm>
            <a:off x="7189788" y="3838575"/>
            <a:ext cx="754062" cy="1103313"/>
          </a:xfrm>
          <a:prstGeom prst="rect">
            <a:avLst/>
          </a:prstGeom>
          <a:noFill/>
          <a:ln w="11113">
            <a:solidFill>
              <a:srgbClr val="000000"/>
            </a:solidFill>
            <a:miter lim="800000"/>
            <a:headEnd/>
            <a:tailEnd/>
          </a:ln>
        </p:spPr>
        <p:txBody>
          <a:bodyPr/>
          <a:lstStyle/>
          <a:p>
            <a:endParaRPr lang="en-US"/>
          </a:p>
        </p:txBody>
      </p:sp>
      <p:sp>
        <p:nvSpPr>
          <p:cNvPr id="327197" name="Rectangle 541"/>
          <p:cNvSpPr>
            <a:spLocks noChangeArrowheads="1"/>
          </p:cNvSpPr>
          <p:nvPr/>
        </p:nvSpPr>
        <p:spPr bwMode="auto">
          <a:xfrm>
            <a:off x="7302500" y="3897313"/>
            <a:ext cx="136525" cy="236537"/>
          </a:xfrm>
          <a:prstGeom prst="rect">
            <a:avLst/>
          </a:prstGeom>
          <a:noFill/>
          <a:ln w="9525">
            <a:noFill/>
            <a:miter lim="800000"/>
            <a:headEnd/>
            <a:tailEnd/>
          </a:ln>
        </p:spPr>
        <p:txBody>
          <a:bodyPr wrap="none" lIns="0" tIns="0" rIns="0" bIns="0">
            <a:spAutoFit/>
          </a:bodyPr>
          <a:lstStyle/>
          <a:p>
            <a:r>
              <a:rPr lang="en-US" sz="1300" b="0" i="0">
                <a:solidFill>
                  <a:srgbClr val="000000"/>
                </a:solidFill>
                <a:effectLst/>
                <a:latin typeface="Arial" charset="0"/>
              </a:rPr>
              <a:t> </a:t>
            </a:r>
            <a:endParaRPr lang="en-US" sz="2400" b="0" i="0">
              <a:effectLst/>
            </a:endParaRPr>
          </a:p>
        </p:txBody>
      </p:sp>
      <p:sp>
        <p:nvSpPr>
          <p:cNvPr id="327198" name="Rectangle 542"/>
          <p:cNvSpPr>
            <a:spLocks noChangeArrowheads="1"/>
          </p:cNvSpPr>
          <p:nvPr/>
        </p:nvSpPr>
        <p:spPr bwMode="auto">
          <a:xfrm>
            <a:off x="7302500" y="4089400"/>
            <a:ext cx="528638" cy="236538"/>
          </a:xfrm>
          <a:prstGeom prst="rect">
            <a:avLst/>
          </a:prstGeom>
          <a:noFill/>
          <a:ln w="9525">
            <a:noFill/>
            <a:miter lim="800000"/>
            <a:headEnd/>
            <a:tailEnd/>
          </a:ln>
        </p:spPr>
        <p:txBody>
          <a:bodyPr wrap="none" lIns="0" tIns="0" rIns="0" bIns="0">
            <a:spAutoFit/>
          </a:bodyPr>
          <a:lstStyle/>
          <a:p>
            <a:r>
              <a:rPr lang="en-US" sz="1300" b="0" i="0">
                <a:solidFill>
                  <a:srgbClr val="000000"/>
                </a:solidFill>
                <a:effectLst/>
                <a:latin typeface="Arial" charset="0"/>
              </a:rPr>
              <a:t>CAPI</a:t>
            </a:r>
            <a:endParaRPr lang="en-US" sz="2400" b="0" i="0">
              <a:effectLst/>
            </a:endParaRPr>
          </a:p>
        </p:txBody>
      </p:sp>
      <p:sp>
        <p:nvSpPr>
          <p:cNvPr id="327199" name="Rectangle 543"/>
          <p:cNvSpPr>
            <a:spLocks noChangeArrowheads="1"/>
          </p:cNvSpPr>
          <p:nvPr/>
        </p:nvSpPr>
        <p:spPr bwMode="auto">
          <a:xfrm>
            <a:off x="7302500" y="4281488"/>
            <a:ext cx="484188" cy="236537"/>
          </a:xfrm>
          <a:prstGeom prst="rect">
            <a:avLst/>
          </a:prstGeom>
          <a:noFill/>
          <a:ln w="9525">
            <a:noFill/>
            <a:miter lim="800000"/>
            <a:headEnd/>
            <a:tailEnd/>
          </a:ln>
        </p:spPr>
        <p:txBody>
          <a:bodyPr wrap="none" lIns="0" tIns="0" rIns="0" bIns="0">
            <a:spAutoFit/>
          </a:bodyPr>
          <a:lstStyle/>
          <a:p>
            <a:r>
              <a:rPr lang="en-US" sz="1300" b="0" i="0">
                <a:solidFill>
                  <a:srgbClr val="000000"/>
                </a:solidFill>
                <a:effectLst/>
                <a:latin typeface="Arial" charset="0"/>
              </a:rPr>
              <a:t>TAL </a:t>
            </a:r>
            <a:endParaRPr lang="en-US" sz="2400" b="0" i="0">
              <a:effectLst/>
            </a:endParaRPr>
          </a:p>
        </p:txBody>
      </p:sp>
      <p:sp>
        <p:nvSpPr>
          <p:cNvPr id="327200" name="Rectangle 544"/>
          <p:cNvSpPr>
            <a:spLocks noChangeArrowheads="1"/>
          </p:cNvSpPr>
          <p:nvPr/>
        </p:nvSpPr>
        <p:spPr bwMode="auto">
          <a:xfrm>
            <a:off x="7302500" y="4473575"/>
            <a:ext cx="609600" cy="236538"/>
          </a:xfrm>
          <a:prstGeom prst="rect">
            <a:avLst/>
          </a:prstGeom>
          <a:noFill/>
          <a:ln w="9525">
            <a:noFill/>
            <a:miter lim="800000"/>
            <a:headEnd/>
            <a:tailEnd/>
          </a:ln>
        </p:spPr>
        <p:txBody>
          <a:bodyPr wrap="none" lIns="0" tIns="0" rIns="0" bIns="0">
            <a:spAutoFit/>
          </a:bodyPr>
          <a:lstStyle/>
          <a:p>
            <a:r>
              <a:rPr lang="en-US" sz="1300" b="0" i="0">
                <a:solidFill>
                  <a:srgbClr val="000000"/>
                </a:solidFill>
                <a:effectLst/>
                <a:latin typeface="Arial" charset="0"/>
              </a:rPr>
              <a:t>MKTS</a:t>
            </a:r>
            <a:endParaRPr lang="en-US" sz="2400" b="0" i="0">
              <a:effectLst/>
            </a:endParaRPr>
          </a:p>
        </p:txBody>
      </p:sp>
      <p:sp>
        <p:nvSpPr>
          <p:cNvPr id="327201" name="Rectangle 545"/>
          <p:cNvSpPr>
            <a:spLocks noChangeArrowheads="1"/>
          </p:cNvSpPr>
          <p:nvPr/>
        </p:nvSpPr>
        <p:spPr bwMode="auto">
          <a:xfrm>
            <a:off x="7802563" y="4473575"/>
            <a:ext cx="136525" cy="236538"/>
          </a:xfrm>
          <a:prstGeom prst="rect">
            <a:avLst/>
          </a:prstGeom>
          <a:noFill/>
          <a:ln w="9525">
            <a:noFill/>
            <a:miter lim="800000"/>
            <a:headEnd/>
            <a:tailEnd/>
          </a:ln>
        </p:spPr>
        <p:txBody>
          <a:bodyPr wrap="none" lIns="0" tIns="0" rIns="0" bIns="0">
            <a:spAutoFit/>
          </a:bodyPr>
          <a:lstStyle/>
          <a:p>
            <a:r>
              <a:rPr lang="en-US" sz="1300" b="0" i="0">
                <a:solidFill>
                  <a:srgbClr val="000000"/>
                </a:solidFill>
                <a:effectLst/>
                <a:latin typeface="Arial" charset="0"/>
              </a:rPr>
              <a:t> </a:t>
            </a:r>
            <a:endParaRPr lang="en-US" sz="2400" b="0" i="0">
              <a:effectLst/>
            </a:endParaRPr>
          </a:p>
        </p:txBody>
      </p:sp>
      <p:grpSp>
        <p:nvGrpSpPr>
          <p:cNvPr id="11" name="Group 546"/>
          <p:cNvGrpSpPr>
            <a:grpSpLocks/>
          </p:cNvGrpSpPr>
          <p:nvPr/>
        </p:nvGrpSpPr>
        <p:grpSpPr bwMode="auto">
          <a:xfrm>
            <a:off x="7346950" y="2635250"/>
            <a:ext cx="117475" cy="1203325"/>
            <a:chOff x="4628" y="1660"/>
            <a:chExt cx="74" cy="758"/>
          </a:xfrm>
        </p:grpSpPr>
        <p:sp>
          <p:nvSpPr>
            <p:cNvPr id="327203" name="Freeform 547"/>
            <p:cNvSpPr>
              <a:spLocks/>
            </p:cNvSpPr>
            <p:nvPr/>
          </p:nvSpPr>
          <p:spPr bwMode="auto">
            <a:xfrm>
              <a:off x="4661" y="2348"/>
              <a:ext cx="7" cy="7"/>
            </a:xfrm>
            <a:custGeom>
              <a:avLst/>
              <a:gdLst/>
              <a:ahLst/>
              <a:cxnLst>
                <a:cxn ang="0">
                  <a:pos x="0" y="5"/>
                </a:cxn>
                <a:cxn ang="0">
                  <a:pos x="1" y="5"/>
                </a:cxn>
                <a:cxn ang="0">
                  <a:pos x="2" y="6"/>
                </a:cxn>
                <a:cxn ang="0">
                  <a:pos x="3" y="7"/>
                </a:cxn>
                <a:cxn ang="0">
                  <a:pos x="3" y="7"/>
                </a:cxn>
                <a:cxn ang="0">
                  <a:pos x="4" y="6"/>
                </a:cxn>
                <a:cxn ang="0">
                  <a:pos x="6" y="5"/>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5"/>
                </a:cxn>
              </a:cxnLst>
              <a:rect l="0" t="0" r="r" b="b"/>
              <a:pathLst>
                <a:path w="7" h="7">
                  <a:moveTo>
                    <a:pt x="0" y="5"/>
                  </a:moveTo>
                  <a:lnTo>
                    <a:pt x="1" y="5"/>
                  </a:lnTo>
                  <a:lnTo>
                    <a:pt x="2" y="6"/>
                  </a:lnTo>
                  <a:lnTo>
                    <a:pt x="3" y="7"/>
                  </a:lnTo>
                  <a:lnTo>
                    <a:pt x="3" y="7"/>
                  </a:lnTo>
                  <a:lnTo>
                    <a:pt x="4" y="6"/>
                  </a:lnTo>
                  <a:lnTo>
                    <a:pt x="6" y="5"/>
                  </a:lnTo>
                  <a:lnTo>
                    <a:pt x="7" y="3"/>
                  </a:lnTo>
                  <a:lnTo>
                    <a:pt x="7" y="3"/>
                  </a:lnTo>
                  <a:lnTo>
                    <a:pt x="7" y="2"/>
                  </a:lnTo>
                  <a:lnTo>
                    <a:pt x="7" y="1"/>
                  </a:lnTo>
                  <a:lnTo>
                    <a:pt x="6" y="0"/>
                  </a:lnTo>
                  <a:lnTo>
                    <a:pt x="4" y="0"/>
                  </a:lnTo>
                  <a:lnTo>
                    <a:pt x="3" y="0"/>
                  </a:lnTo>
                  <a:lnTo>
                    <a:pt x="2" y="0"/>
                  </a:lnTo>
                  <a:lnTo>
                    <a:pt x="1" y="1"/>
                  </a:lnTo>
                  <a:lnTo>
                    <a:pt x="0" y="2"/>
                  </a:lnTo>
                  <a:lnTo>
                    <a:pt x="0" y="3"/>
                  </a:lnTo>
                  <a:lnTo>
                    <a:pt x="0" y="5"/>
                  </a:lnTo>
                  <a:close/>
                </a:path>
              </a:pathLst>
            </a:custGeom>
            <a:solidFill>
              <a:srgbClr val="000000"/>
            </a:solidFill>
            <a:ln w="9525">
              <a:noFill/>
              <a:round/>
              <a:headEnd/>
              <a:tailEnd/>
            </a:ln>
          </p:spPr>
          <p:txBody>
            <a:bodyPr/>
            <a:lstStyle/>
            <a:p>
              <a:endParaRPr lang="en-US"/>
            </a:p>
          </p:txBody>
        </p:sp>
        <p:sp>
          <p:nvSpPr>
            <p:cNvPr id="327204" name="Freeform 548"/>
            <p:cNvSpPr>
              <a:spLocks/>
            </p:cNvSpPr>
            <p:nvPr/>
          </p:nvSpPr>
          <p:spPr bwMode="auto">
            <a:xfrm>
              <a:off x="4661" y="2336"/>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05" name="Freeform 549"/>
            <p:cNvSpPr>
              <a:spLocks/>
            </p:cNvSpPr>
            <p:nvPr/>
          </p:nvSpPr>
          <p:spPr bwMode="auto">
            <a:xfrm>
              <a:off x="4661" y="2323"/>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06" name="Freeform 550"/>
            <p:cNvSpPr>
              <a:spLocks/>
            </p:cNvSpPr>
            <p:nvPr/>
          </p:nvSpPr>
          <p:spPr bwMode="auto">
            <a:xfrm>
              <a:off x="4661" y="2310"/>
              <a:ext cx="7" cy="7"/>
            </a:xfrm>
            <a:custGeom>
              <a:avLst/>
              <a:gdLst/>
              <a:ahLst/>
              <a:cxnLst>
                <a:cxn ang="0">
                  <a:pos x="0" y="5"/>
                </a:cxn>
                <a:cxn ang="0">
                  <a:pos x="1" y="5"/>
                </a:cxn>
                <a:cxn ang="0">
                  <a:pos x="2" y="6"/>
                </a:cxn>
                <a:cxn ang="0">
                  <a:pos x="3" y="7"/>
                </a:cxn>
                <a:cxn ang="0">
                  <a:pos x="3" y="7"/>
                </a:cxn>
                <a:cxn ang="0">
                  <a:pos x="4" y="6"/>
                </a:cxn>
                <a:cxn ang="0">
                  <a:pos x="6" y="5"/>
                </a:cxn>
                <a:cxn ang="0">
                  <a:pos x="7" y="4"/>
                </a:cxn>
                <a:cxn ang="0">
                  <a:pos x="7" y="4"/>
                </a:cxn>
                <a:cxn ang="0">
                  <a:pos x="7" y="3"/>
                </a:cxn>
                <a:cxn ang="0">
                  <a:pos x="7" y="1"/>
                </a:cxn>
                <a:cxn ang="0">
                  <a:pos x="6" y="0"/>
                </a:cxn>
                <a:cxn ang="0">
                  <a:pos x="4" y="0"/>
                </a:cxn>
                <a:cxn ang="0">
                  <a:pos x="3" y="0"/>
                </a:cxn>
                <a:cxn ang="0">
                  <a:pos x="2" y="0"/>
                </a:cxn>
                <a:cxn ang="0">
                  <a:pos x="1" y="1"/>
                </a:cxn>
                <a:cxn ang="0">
                  <a:pos x="0" y="3"/>
                </a:cxn>
                <a:cxn ang="0">
                  <a:pos x="0" y="4"/>
                </a:cxn>
                <a:cxn ang="0">
                  <a:pos x="0" y="5"/>
                </a:cxn>
              </a:cxnLst>
              <a:rect l="0" t="0" r="r" b="b"/>
              <a:pathLst>
                <a:path w="7" h="7">
                  <a:moveTo>
                    <a:pt x="0" y="5"/>
                  </a:moveTo>
                  <a:lnTo>
                    <a:pt x="1" y="5"/>
                  </a:lnTo>
                  <a:lnTo>
                    <a:pt x="2" y="6"/>
                  </a:lnTo>
                  <a:lnTo>
                    <a:pt x="3" y="7"/>
                  </a:lnTo>
                  <a:lnTo>
                    <a:pt x="3" y="7"/>
                  </a:lnTo>
                  <a:lnTo>
                    <a:pt x="4" y="6"/>
                  </a:lnTo>
                  <a:lnTo>
                    <a:pt x="6" y="5"/>
                  </a:lnTo>
                  <a:lnTo>
                    <a:pt x="7" y="4"/>
                  </a:lnTo>
                  <a:lnTo>
                    <a:pt x="7" y="4"/>
                  </a:lnTo>
                  <a:lnTo>
                    <a:pt x="7" y="3"/>
                  </a:lnTo>
                  <a:lnTo>
                    <a:pt x="7" y="1"/>
                  </a:lnTo>
                  <a:lnTo>
                    <a:pt x="6" y="0"/>
                  </a:lnTo>
                  <a:lnTo>
                    <a:pt x="4" y="0"/>
                  </a:lnTo>
                  <a:lnTo>
                    <a:pt x="3" y="0"/>
                  </a:lnTo>
                  <a:lnTo>
                    <a:pt x="2" y="0"/>
                  </a:lnTo>
                  <a:lnTo>
                    <a:pt x="1" y="1"/>
                  </a:lnTo>
                  <a:lnTo>
                    <a:pt x="0" y="3"/>
                  </a:lnTo>
                  <a:lnTo>
                    <a:pt x="0" y="4"/>
                  </a:lnTo>
                  <a:lnTo>
                    <a:pt x="0" y="5"/>
                  </a:lnTo>
                  <a:close/>
                </a:path>
              </a:pathLst>
            </a:custGeom>
            <a:solidFill>
              <a:srgbClr val="000000"/>
            </a:solidFill>
            <a:ln w="9525">
              <a:noFill/>
              <a:round/>
              <a:headEnd/>
              <a:tailEnd/>
            </a:ln>
          </p:spPr>
          <p:txBody>
            <a:bodyPr/>
            <a:lstStyle/>
            <a:p>
              <a:endParaRPr lang="en-US"/>
            </a:p>
          </p:txBody>
        </p:sp>
        <p:sp>
          <p:nvSpPr>
            <p:cNvPr id="327207" name="Freeform 551"/>
            <p:cNvSpPr>
              <a:spLocks/>
            </p:cNvSpPr>
            <p:nvPr/>
          </p:nvSpPr>
          <p:spPr bwMode="auto">
            <a:xfrm>
              <a:off x="4661" y="2298"/>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08" name="Freeform 552"/>
            <p:cNvSpPr>
              <a:spLocks/>
            </p:cNvSpPr>
            <p:nvPr/>
          </p:nvSpPr>
          <p:spPr bwMode="auto">
            <a:xfrm>
              <a:off x="4661" y="2285"/>
              <a:ext cx="7" cy="7"/>
            </a:xfrm>
            <a:custGeom>
              <a:avLst/>
              <a:gdLst/>
              <a:ahLst/>
              <a:cxnLst>
                <a:cxn ang="0">
                  <a:pos x="0" y="4"/>
                </a:cxn>
                <a:cxn ang="0">
                  <a:pos x="1" y="4"/>
                </a:cxn>
                <a:cxn ang="0">
                  <a:pos x="2" y="5"/>
                </a:cxn>
                <a:cxn ang="0">
                  <a:pos x="3" y="7"/>
                </a:cxn>
                <a:cxn ang="0">
                  <a:pos x="3" y="7"/>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7">
                  <a:moveTo>
                    <a:pt x="0" y="4"/>
                  </a:moveTo>
                  <a:lnTo>
                    <a:pt x="1" y="4"/>
                  </a:lnTo>
                  <a:lnTo>
                    <a:pt x="2" y="5"/>
                  </a:lnTo>
                  <a:lnTo>
                    <a:pt x="3" y="7"/>
                  </a:lnTo>
                  <a:lnTo>
                    <a:pt x="3" y="7"/>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09" name="Freeform 553"/>
            <p:cNvSpPr>
              <a:spLocks/>
            </p:cNvSpPr>
            <p:nvPr/>
          </p:nvSpPr>
          <p:spPr bwMode="auto">
            <a:xfrm>
              <a:off x="4661" y="2273"/>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10" name="Freeform 554"/>
            <p:cNvSpPr>
              <a:spLocks/>
            </p:cNvSpPr>
            <p:nvPr/>
          </p:nvSpPr>
          <p:spPr bwMode="auto">
            <a:xfrm>
              <a:off x="4661" y="2260"/>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11" name="Freeform 555"/>
            <p:cNvSpPr>
              <a:spLocks/>
            </p:cNvSpPr>
            <p:nvPr/>
          </p:nvSpPr>
          <p:spPr bwMode="auto">
            <a:xfrm>
              <a:off x="4661" y="2247"/>
              <a:ext cx="7" cy="7"/>
            </a:xfrm>
            <a:custGeom>
              <a:avLst/>
              <a:gdLst/>
              <a:ahLst/>
              <a:cxnLst>
                <a:cxn ang="0">
                  <a:pos x="0" y="5"/>
                </a:cxn>
                <a:cxn ang="0">
                  <a:pos x="1" y="5"/>
                </a:cxn>
                <a:cxn ang="0">
                  <a:pos x="2" y="6"/>
                </a:cxn>
                <a:cxn ang="0">
                  <a:pos x="3" y="7"/>
                </a:cxn>
                <a:cxn ang="0">
                  <a:pos x="3" y="7"/>
                </a:cxn>
                <a:cxn ang="0">
                  <a:pos x="4" y="6"/>
                </a:cxn>
                <a:cxn ang="0">
                  <a:pos x="6" y="5"/>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5"/>
                </a:cxn>
              </a:cxnLst>
              <a:rect l="0" t="0" r="r" b="b"/>
              <a:pathLst>
                <a:path w="7" h="7">
                  <a:moveTo>
                    <a:pt x="0" y="5"/>
                  </a:moveTo>
                  <a:lnTo>
                    <a:pt x="1" y="5"/>
                  </a:lnTo>
                  <a:lnTo>
                    <a:pt x="2" y="6"/>
                  </a:lnTo>
                  <a:lnTo>
                    <a:pt x="3" y="7"/>
                  </a:lnTo>
                  <a:lnTo>
                    <a:pt x="3" y="7"/>
                  </a:lnTo>
                  <a:lnTo>
                    <a:pt x="4" y="6"/>
                  </a:lnTo>
                  <a:lnTo>
                    <a:pt x="6" y="5"/>
                  </a:lnTo>
                  <a:lnTo>
                    <a:pt x="7" y="3"/>
                  </a:lnTo>
                  <a:lnTo>
                    <a:pt x="7" y="3"/>
                  </a:lnTo>
                  <a:lnTo>
                    <a:pt x="7" y="2"/>
                  </a:lnTo>
                  <a:lnTo>
                    <a:pt x="7" y="1"/>
                  </a:lnTo>
                  <a:lnTo>
                    <a:pt x="6" y="0"/>
                  </a:lnTo>
                  <a:lnTo>
                    <a:pt x="4" y="0"/>
                  </a:lnTo>
                  <a:lnTo>
                    <a:pt x="3" y="0"/>
                  </a:lnTo>
                  <a:lnTo>
                    <a:pt x="2" y="0"/>
                  </a:lnTo>
                  <a:lnTo>
                    <a:pt x="1" y="1"/>
                  </a:lnTo>
                  <a:lnTo>
                    <a:pt x="0" y="2"/>
                  </a:lnTo>
                  <a:lnTo>
                    <a:pt x="0" y="3"/>
                  </a:lnTo>
                  <a:lnTo>
                    <a:pt x="0" y="5"/>
                  </a:lnTo>
                  <a:close/>
                </a:path>
              </a:pathLst>
            </a:custGeom>
            <a:solidFill>
              <a:srgbClr val="000000"/>
            </a:solidFill>
            <a:ln w="9525">
              <a:noFill/>
              <a:round/>
              <a:headEnd/>
              <a:tailEnd/>
            </a:ln>
          </p:spPr>
          <p:txBody>
            <a:bodyPr/>
            <a:lstStyle/>
            <a:p>
              <a:endParaRPr lang="en-US"/>
            </a:p>
          </p:txBody>
        </p:sp>
        <p:sp>
          <p:nvSpPr>
            <p:cNvPr id="327212" name="Freeform 556"/>
            <p:cNvSpPr>
              <a:spLocks/>
            </p:cNvSpPr>
            <p:nvPr/>
          </p:nvSpPr>
          <p:spPr bwMode="auto">
            <a:xfrm>
              <a:off x="4661" y="2235"/>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13" name="Freeform 557"/>
            <p:cNvSpPr>
              <a:spLocks/>
            </p:cNvSpPr>
            <p:nvPr/>
          </p:nvSpPr>
          <p:spPr bwMode="auto">
            <a:xfrm>
              <a:off x="4661" y="2222"/>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14" name="Freeform 558"/>
            <p:cNvSpPr>
              <a:spLocks/>
            </p:cNvSpPr>
            <p:nvPr/>
          </p:nvSpPr>
          <p:spPr bwMode="auto">
            <a:xfrm>
              <a:off x="4661" y="2209"/>
              <a:ext cx="7" cy="7"/>
            </a:xfrm>
            <a:custGeom>
              <a:avLst/>
              <a:gdLst/>
              <a:ahLst/>
              <a:cxnLst>
                <a:cxn ang="0">
                  <a:pos x="0" y="5"/>
                </a:cxn>
                <a:cxn ang="0">
                  <a:pos x="1" y="5"/>
                </a:cxn>
                <a:cxn ang="0">
                  <a:pos x="2" y="6"/>
                </a:cxn>
                <a:cxn ang="0">
                  <a:pos x="3" y="7"/>
                </a:cxn>
                <a:cxn ang="0">
                  <a:pos x="3" y="7"/>
                </a:cxn>
                <a:cxn ang="0">
                  <a:pos x="4" y="6"/>
                </a:cxn>
                <a:cxn ang="0">
                  <a:pos x="6" y="5"/>
                </a:cxn>
                <a:cxn ang="0">
                  <a:pos x="7" y="4"/>
                </a:cxn>
                <a:cxn ang="0">
                  <a:pos x="7" y="4"/>
                </a:cxn>
                <a:cxn ang="0">
                  <a:pos x="7" y="3"/>
                </a:cxn>
                <a:cxn ang="0">
                  <a:pos x="7" y="1"/>
                </a:cxn>
                <a:cxn ang="0">
                  <a:pos x="6" y="0"/>
                </a:cxn>
                <a:cxn ang="0">
                  <a:pos x="4" y="0"/>
                </a:cxn>
                <a:cxn ang="0">
                  <a:pos x="3" y="0"/>
                </a:cxn>
                <a:cxn ang="0">
                  <a:pos x="2" y="0"/>
                </a:cxn>
                <a:cxn ang="0">
                  <a:pos x="1" y="1"/>
                </a:cxn>
                <a:cxn ang="0">
                  <a:pos x="0" y="3"/>
                </a:cxn>
                <a:cxn ang="0">
                  <a:pos x="0" y="4"/>
                </a:cxn>
                <a:cxn ang="0">
                  <a:pos x="0" y="5"/>
                </a:cxn>
              </a:cxnLst>
              <a:rect l="0" t="0" r="r" b="b"/>
              <a:pathLst>
                <a:path w="7" h="7">
                  <a:moveTo>
                    <a:pt x="0" y="5"/>
                  </a:moveTo>
                  <a:lnTo>
                    <a:pt x="1" y="5"/>
                  </a:lnTo>
                  <a:lnTo>
                    <a:pt x="2" y="6"/>
                  </a:lnTo>
                  <a:lnTo>
                    <a:pt x="3" y="7"/>
                  </a:lnTo>
                  <a:lnTo>
                    <a:pt x="3" y="7"/>
                  </a:lnTo>
                  <a:lnTo>
                    <a:pt x="4" y="6"/>
                  </a:lnTo>
                  <a:lnTo>
                    <a:pt x="6" y="5"/>
                  </a:lnTo>
                  <a:lnTo>
                    <a:pt x="7" y="4"/>
                  </a:lnTo>
                  <a:lnTo>
                    <a:pt x="7" y="4"/>
                  </a:lnTo>
                  <a:lnTo>
                    <a:pt x="7" y="3"/>
                  </a:lnTo>
                  <a:lnTo>
                    <a:pt x="7" y="1"/>
                  </a:lnTo>
                  <a:lnTo>
                    <a:pt x="6" y="0"/>
                  </a:lnTo>
                  <a:lnTo>
                    <a:pt x="4" y="0"/>
                  </a:lnTo>
                  <a:lnTo>
                    <a:pt x="3" y="0"/>
                  </a:lnTo>
                  <a:lnTo>
                    <a:pt x="2" y="0"/>
                  </a:lnTo>
                  <a:lnTo>
                    <a:pt x="1" y="1"/>
                  </a:lnTo>
                  <a:lnTo>
                    <a:pt x="0" y="3"/>
                  </a:lnTo>
                  <a:lnTo>
                    <a:pt x="0" y="4"/>
                  </a:lnTo>
                  <a:lnTo>
                    <a:pt x="0" y="5"/>
                  </a:lnTo>
                  <a:close/>
                </a:path>
              </a:pathLst>
            </a:custGeom>
            <a:solidFill>
              <a:srgbClr val="000000"/>
            </a:solidFill>
            <a:ln w="9525">
              <a:noFill/>
              <a:round/>
              <a:headEnd/>
              <a:tailEnd/>
            </a:ln>
          </p:spPr>
          <p:txBody>
            <a:bodyPr/>
            <a:lstStyle/>
            <a:p>
              <a:endParaRPr lang="en-US"/>
            </a:p>
          </p:txBody>
        </p:sp>
        <p:sp>
          <p:nvSpPr>
            <p:cNvPr id="327215" name="Freeform 559"/>
            <p:cNvSpPr>
              <a:spLocks/>
            </p:cNvSpPr>
            <p:nvPr/>
          </p:nvSpPr>
          <p:spPr bwMode="auto">
            <a:xfrm>
              <a:off x="4661" y="2197"/>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16" name="Freeform 560"/>
            <p:cNvSpPr>
              <a:spLocks/>
            </p:cNvSpPr>
            <p:nvPr/>
          </p:nvSpPr>
          <p:spPr bwMode="auto">
            <a:xfrm>
              <a:off x="4661" y="2184"/>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17" name="Freeform 561"/>
            <p:cNvSpPr>
              <a:spLocks/>
            </p:cNvSpPr>
            <p:nvPr/>
          </p:nvSpPr>
          <p:spPr bwMode="auto">
            <a:xfrm>
              <a:off x="4661" y="2172"/>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18" name="Freeform 562"/>
            <p:cNvSpPr>
              <a:spLocks/>
            </p:cNvSpPr>
            <p:nvPr/>
          </p:nvSpPr>
          <p:spPr bwMode="auto">
            <a:xfrm>
              <a:off x="4661" y="2159"/>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19" name="Freeform 563"/>
            <p:cNvSpPr>
              <a:spLocks/>
            </p:cNvSpPr>
            <p:nvPr/>
          </p:nvSpPr>
          <p:spPr bwMode="auto">
            <a:xfrm>
              <a:off x="4661" y="2146"/>
              <a:ext cx="7" cy="7"/>
            </a:xfrm>
            <a:custGeom>
              <a:avLst/>
              <a:gdLst/>
              <a:ahLst/>
              <a:cxnLst>
                <a:cxn ang="0">
                  <a:pos x="0" y="5"/>
                </a:cxn>
                <a:cxn ang="0">
                  <a:pos x="1" y="5"/>
                </a:cxn>
                <a:cxn ang="0">
                  <a:pos x="2" y="6"/>
                </a:cxn>
                <a:cxn ang="0">
                  <a:pos x="3" y="7"/>
                </a:cxn>
                <a:cxn ang="0">
                  <a:pos x="3" y="7"/>
                </a:cxn>
                <a:cxn ang="0">
                  <a:pos x="4" y="6"/>
                </a:cxn>
                <a:cxn ang="0">
                  <a:pos x="6" y="5"/>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5"/>
                </a:cxn>
              </a:cxnLst>
              <a:rect l="0" t="0" r="r" b="b"/>
              <a:pathLst>
                <a:path w="7" h="7">
                  <a:moveTo>
                    <a:pt x="0" y="5"/>
                  </a:moveTo>
                  <a:lnTo>
                    <a:pt x="1" y="5"/>
                  </a:lnTo>
                  <a:lnTo>
                    <a:pt x="2" y="6"/>
                  </a:lnTo>
                  <a:lnTo>
                    <a:pt x="3" y="7"/>
                  </a:lnTo>
                  <a:lnTo>
                    <a:pt x="3" y="7"/>
                  </a:lnTo>
                  <a:lnTo>
                    <a:pt x="4" y="6"/>
                  </a:lnTo>
                  <a:lnTo>
                    <a:pt x="6" y="5"/>
                  </a:lnTo>
                  <a:lnTo>
                    <a:pt x="7" y="3"/>
                  </a:lnTo>
                  <a:lnTo>
                    <a:pt x="7" y="3"/>
                  </a:lnTo>
                  <a:lnTo>
                    <a:pt x="7" y="2"/>
                  </a:lnTo>
                  <a:lnTo>
                    <a:pt x="7" y="1"/>
                  </a:lnTo>
                  <a:lnTo>
                    <a:pt x="6" y="0"/>
                  </a:lnTo>
                  <a:lnTo>
                    <a:pt x="4" y="0"/>
                  </a:lnTo>
                  <a:lnTo>
                    <a:pt x="3" y="0"/>
                  </a:lnTo>
                  <a:lnTo>
                    <a:pt x="2" y="0"/>
                  </a:lnTo>
                  <a:lnTo>
                    <a:pt x="1" y="1"/>
                  </a:lnTo>
                  <a:lnTo>
                    <a:pt x="0" y="2"/>
                  </a:lnTo>
                  <a:lnTo>
                    <a:pt x="0" y="3"/>
                  </a:lnTo>
                  <a:lnTo>
                    <a:pt x="0" y="5"/>
                  </a:lnTo>
                  <a:close/>
                </a:path>
              </a:pathLst>
            </a:custGeom>
            <a:solidFill>
              <a:srgbClr val="000000"/>
            </a:solidFill>
            <a:ln w="9525">
              <a:noFill/>
              <a:round/>
              <a:headEnd/>
              <a:tailEnd/>
            </a:ln>
          </p:spPr>
          <p:txBody>
            <a:bodyPr/>
            <a:lstStyle/>
            <a:p>
              <a:endParaRPr lang="en-US"/>
            </a:p>
          </p:txBody>
        </p:sp>
        <p:sp>
          <p:nvSpPr>
            <p:cNvPr id="327220" name="Freeform 564"/>
            <p:cNvSpPr>
              <a:spLocks/>
            </p:cNvSpPr>
            <p:nvPr/>
          </p:nvSpPr>
          <p:spPr bwMode="auto">
            <a:xfrm>
              <a:off x="4661" y="2134"/>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21" name="Freeform 565"/>
            <p:cNvSpPr>
              <a:spLocks/>
            </p:cNvSpPr>
            <p:nvPr/>
          </p:nvSpPr>
          <p:spPr bwMode="auto">
            <a:xfrm>
              <a:off x="4661" y="2121"/>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22" name="Freeform 566"/>
            <p:cNvSpPr>
              <a:spLocks/>
            </p:cNvSpPr>
            <p:nvPr/>
          </p:nvSpPr>
          <p:spPr bwMode="auto">
            <a:xfrm>
              <a:off x="4661" y="2108"/>
              <a:ext cx="7" cy="7"/>
            </a:xfrm>
            <a:custGeom>
              <a:avLst/>
              <a:gdLst/>
              <a:ahLst/>
              <a:cxnLst>
                <a:cxn ang="0">
                  <a:pos x="0" y="5"/>
                </a:cxn>
                <a:cxn ang="0">
                  <a:pos x="1" y="5"/>
                </a:cxn>
                <a:cxn ang="0">
                  <a:pos x="2" y="6"/>
                </a:cxn>
                <a:cxn ang="0">
                  <a:pos x="3" y="7"/>
                </a:cxn>
                <a:cxn ang="0">
                  <a:pos x="3" y="7"/>
                </a:cxn>
                <a:cxn ang="0">
                  <a:pos x="4" y="6"/>
                </a:cxn>
                <a:cxn ang="0">
                  <a:pos x="6" y="5"/>
                </a:cxn>
                <a:cxn ang="0">
                  <a:pos x="7" y="4"/>
                </a:cxn>
                <a:cxn ang="0">
                  <a:pos x="7" y="4"/>
                </a:cxn>
                <a:cxn ang="0">
                  <a:pos x="7" y="3"/>
                </a:cxn>
                <a:cxn ang="0">
                  <a:pos x="7" y="1"/>
                </a:cxn>
                <a:cxn ang="0">
                  <a:pos x="6" y="0"/>
                </a:cxn>
                <a:cxn ang="0">
                  <a:pos x="4" y="0"/>
                </a:cxn>
                <a:cxn ang="0">
                  <a:pos x="3" y="0"/>
                </a:cxn>
                <a:cxn ang="0">
                  <a:pos x="2" y="0"/>
                </a:cxn>
                <a:cxn ang="0">
                  <a:pos x="1" y="1"/>
                </a:cxn>
                <a:cxn ang="0">
                  <a:pos x="0" y="3"/>
                </a:cxn>
                <a:cxn ang="0">
                  <a:pos x="0" y="4"/>
                </a:cxn>
                <a:cxn ang="0">
                  <a:pos x="0" y="5"/>
                </a:cxn>
              </a:cxnLst>
              <a:rect l="0" t="0" r="r" b="b"/>
              <a:pathLst>
                <a:path w="7" h="7">
                  <a:moveTo>
                    <a:pt x="0" y="5"/>
                  </a:moveTo>
                  <a:lnTo>
                    <a:pt x="1" y="5"/>
                  </a:lnTo>
                  <a:lnTo>
                    <a:pt x="2" y="6"/>
                  </a:lnTo>
                  <a:lnTo>
                    <a:pt x="3" y="7"/>
                  </a:lnTo>
                  <a:lnTo>
                    <a:pt x="3" y="7"/>
                  </a:lnTo>
                  <a:lnTo>
                    <a:pt x="4" y="6"/>
                  </a:lnTo>
                  <a:lnTo>
                    <a:pt x="6" y="5"/>
                  </a:lnTo>
                  <a:lnTo>
                    <a:pt x="7" y="4"/>
                  </a:lnTo>
                  <a:lnTo>
                    <a:pt x="7" y="4"/>
                  </a:lnTo>
                  <a:lnTo>
                    <a:pt x="7" y="3"/>
                  </a:lnTo>
                  <a:lnTo>
                    <a:pt x="7" y="1"/>
                  </a:lnTo>
                  <a:lnTo>
                    <a:pt x="6" y="0"/>
                  </a:lnTo>
                  <a:lnTo>
                    <a:pt x="4" y="0"/>
                  </a:lnTo>
                  <a:lnTo>
                    <a:pt x="3" y="0"/>
                  </a:lnTo>
                  <a:lnTo>
                    <a:pt x="2" y="0"/>
                  </a:lnTo>
                  <a:lnTo>
                    <a:pt x="1" y="1"/>
                  </a:lnTo>
                  <a:lnTo>
                    <a:pt x="0" y="3"/>
                  </a:lnTo>
                  <a:lnTo>
                    <a:pt x="0" y="4"/>
                  </a:lnTo>
                  <a:lnTo>
                    <a:pt x="0" y="5"/>
                  </a:lnTo>
                  <a:close/>
                </a:path>
              </a:pathLst>
            </a:custGeom>
            <a:solidFill>
              <a:srgbClr val="000000"/>
            </a:solidFill>
            <a:ln w="9525">
              <a:noFill/>
              <a:round/>
              <a:headEnd/>
              <a:tailEnd/>
            </a:ln>
          </p:spPr>
          <p:txBody>
            <a:bodyPr/>
            <a:lstStyle/>
            <a:p>
              <a:endParaRPr lang="en-US"/>
            </a:p>
          </p:txBody>
        </p:sp>
        <p:sp>
          <p:nvSpPr>
            <p:cNvPr id="327223" name="Freeform 567"/>
            <p:cNvSpPr>
              <a:spLocks/>
            </p:cNvSpPr>
            <p:nvPr/>
          </p:nvSpPr>
          <p:spPr bwMode="auto">
            <a:xfrm>
              <a:off x="4661" y="2096"/>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24" name="Freeform 568"/>
            <p:cNvSpPr>
              <a:spLocks/>
            </p:cNvSpPr>
            <p:nvPr/>
          </p:nvSpPr>
          <p:spPr bwMode="auto">
            <a:xfrm>
              <a:off x="4661" y="2083"/>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25" name="Freeform 569"/>
            <p:cNvSpPr>
              <a:spLocks/>
            </p:cNvSpPr>
            <p:nvPr/>
          </p:nvSpPr>
          <p:spPr bwMode="auto">
            <a:xfrm>
              <a:off x="4661" y="2071"/>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26" name="Freeform 570"/>
            <p:cNvSpPr>
              <a:spLocks/>
            </p:cNvSpPr>
            <p:nvPr/>
          </p:nvSpPr>
          <p:spPr bwMode="auto">
            <a:xfrm>
              <a:off x="4661" y="2058"/>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27" name="Freeform 571"/>
            <p:cNvSpPr>
              <a:spLocks/>
            </p:cNvSpPr>
            <p:nvPr/>
          </p:nvSpPr>
          <p:spPr bwMode="auto">
            <a:xfrm>
              <a:off x="4661" y="2045"/>
              <a:ext cx="7" cy="7"/>
            </a:xfrm>
            <a:custGeom>
              <a:avLst/>
              <a:gdLst/>
              <a:ahLst/>
              <a:cxnLst>
                <a:cxn ang="0">
                  <a:pos x="0" y="4"/>
                </a:cxn>
                <a:cxn ang="0">
                  <a:pos x="1" y="4"/>
                </a:cxn>
                <a:cxn ang="0">
                  <a:pos x="2" y="6"/>
                </a:cxn>
                <a:cxn ang="0">
                  <a:pos x="3" y="7"/>
                </a:cxn>
                <a:cxn ang="0">
                  <a:pos x="3" y="7"/>
                </a:cxn>
                <a:cxn ang="0">
                  <a:pos x="4" y="6"/>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7">
                  <a:moveTo>
                    <a:pt x="0" y="4"/>
                  </a:moveTo>
                  <a:lnTo>
                    <a:pt x="1" y="4"/>
                  </a:lnTo>
                  <a:lnTo>
                    <a:pt x="2" y="6"/>
                  </a:lnTo>
                  <a:lnTo>
                    <a:pt x="3" y="7"/>
                  </a:lnTo>
                  <a:lnTo>
                    <a:pt x="3" y="7"/>
                  </a:lnTo>
                  <a:lnTo>
                    <a:pt x="4" y="6"/>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28" name="Freeform 572"/>
            <p:cNvSpPr>
              <a:spLocks/>
            </p:cNvSpPr>
            <p:nvPr/>
          </p:nvSpPr>
          <p:spPr bwMode="auto">
            <a:xfrm>
              <a:off x="4661" y="2033"/>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29" name="Freeform 573"/>
            <p:cNvSpPr>
              <a:spLocks/>
            </p:cNvSpPr>
            <p:nvPr/>
          </p:nvSpPr>
          <p:spPr bwMode="auto">
            <a:xfrm>
              <a:off x="4661" y="2020"/>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30" name="Freeform 574"/>
            <p:cNvSpPr>
              <a:spLocks/>
            </p:cNvSpPr>
            <p:nvPr/>
          </p:nvSpPr>
          <p:spPr bwMode="auto">
            <a:xfrm>
              <a:off x="4661" y="2007"/>
              <a:ext cx="7" cy="7"/>
            </a:xfrm>
            <a:custGeom>
              <a:avLst/>
              <a:gdLst/>
              <a:ahLst/>
              <a:cxnLst>
                <a:cxn ang="0">
                  <a:pos x="0" y="5"/>
                </a:cxn>
                <a:cxn ang="0">
                  <a:pos x="1" y="5"/>
                </a:cxn>
                <a:cxn ang="0">
                  <a:pos x="2" y="6"/>
                </a:cxn>
                <a:cxn ang="0">
                  <a:pos x="3" y="7"/>
                </a:cxn>
                <a:cxn ang="0">
                  <a:pos x="3" y="7"/>
                </a:cxn>
                <a:cxn ang="0">
                  <a:pos x="4" y="6"/>
                </a:cxn>
                <a:cxn ang="0">
                  <a:pos x="6" y="5"/>
                </a:cxn>
                <a:cxn ang="0">
                  <a:pos x="7" y="4"/>
                </a:cxn>
                <a:cxn ang="0">
                  <a:pos x="7" y="4"/>
                </a:cxn>
                <a:cxn ang="0">
                  <a:pos x="7" y="2"/>
                </a:cxn>
                <a:cxn ang="0">
                  <a:pos x="7" y="1"/>
                </a:cxn>
                <a:cxn ang="0">
                  <a:pos x="6" y="0"/>
                </a:cxn>
                <a:cxn ang="0">
                  <a:pos x="4" y="0"/>
                </a:cxn>
                <a:cxn ang="0">
                  <a:pos x="3" y="0"/>
                </a:cxn>
                <a:cxn ang="0">
                  <a:pos x="2" y="0"/>
                </a:cxn>
                <a:cxn ang="0">
                  <a:pos x="1" y="1"/>
                </a:cxn>
                <a:cxn ang="0">
                  <a:pos x="0" y="2"/>
                </a:cxn>
                <a:cxn ang="0">
                  <a:pos x="0" y="4"/>
                </a:cxn>
                <a:cxn ang="0">
                  <a:pos x="0" y="5"/>
                </a:cxn>
              </a:cxnLst>
              <a:rect l="0" t="0" r="r" b="b"/>
              <a:pathLst>
                <a:path w="7" h="7">
                  <a:moveTo>
                    <a:pt x="0" y="5"/>
                  </a:moveTo>
                  <a:lnTo>
                    <a:pt x="1" y="5"/>
                  </a:lnTo>
                  <a:lnTo>
                    <a:pt x="2" y="6"/>
                  </a:lnTo>
                  <a:lnTo>
                    <a:pt x="3" y="7"/>
                  </a:lnTo>
                  <a:lnTo>
                    <a:pt x="3" y="7"/>
                  </a:lnTo>
                  <a:lnTo>
                    <a:pt x="4" y="6"/>
                  </a:lnTo>
                  <a:lnTo>
                    <a:pt x="6" y="5"/>
                  </a:lnTo>
                  <a:lnTo>
                    <a:pt x="7" y="4"/>
                  </a:lnTo>
                  <a:lnTo>
                    <a:pt x="7" y="4"/>
                  </a:lnTo>
                  <a:lnTo>
                    <a:pt x="7" y="2"/>
                  </a:lnTo>
                  <a:lnTo>
                    <a:pt x="7" y="1"/>
                  </a:lnTo>
                  <a:lnTo>
                    <a:pt x="6" y="0"/>
                  </a:lnTo>
                  <a:lnTo>
                    <a:pt x="4" y="0"/>
                  </a:lnTo>
                  <a:lnTo>
                    <a:pt x="3" y="0"/>
                  </a:lnTo>
                  <a:lnTo>
                    <a:pt x="2" y="0"/>
                  </a:lnTo>
                  <a:lnTo>
                    <a:pt x="1" y="1"/>
                  </a:lnTo>
                  <a:lnTo>
                    <a:pt x="0" y="2"/>
                  </a:lnTo>
                  <a:lnTo>
                    <a:pt x="0" y="4"/>
                  </a:lnTo>
                  <a:lnTo>
                    <a:pt x="0" y="5"/>
                  </a:lnTo>
                  <a:close/>
                </a:path>
              </a:pathLst>
            </a:custGeom>
            <a:solidFill>
              <a:srgbClr val="000000"/>
            </a:solidFill>
            <a:ln w="9525">
              <a:noFill/>
              <a:round/>
              <a:headEnd/>
              <a:tailEnd/>
            </a:ln>
          </p:spPr>
          <p:txBody>
            <a:bodyPr/>
            <a:lstStyle/>
            <a:p>
              <a:endParaRPr lang="en-US"/>
            </a:p>
          </p:txBody>
        </p:sp>
        <p:sp>
          <p:nvSpPr>
            <p:cNvPr id="327231" name="Freeform 575"/>
            <p:cNvSpPr>
              <a:spLocks/>
            </p:cNvSpPr>
            <p:nvPr/>
          </p:nvSpPr>
          <p:spPr bwMode="auto">
            <a:xfrm>
              <a:off x="4661" y="1995"/>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32" name="Freeform 576"/>
            <p:cNvSpPr>
              <a:spLocks/>
            </p:cNvSpPr>
            <p:nvPr/>
          </p:nvSpPr>
          <p:spPr bwMode="auto">
            <a:xfrm>
              <a:off x="4661" y="1982"/>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33" name="Freeform 577"/>
            <p:cNvSpPr>
              <a:spLocks/>
            </p:cNvSpPr>
            <p:nvPr/>
          </p:nvSpPr>
          <p:spPr bwMode="auto">
            <a:xfrm>
              <a:off x="4661" y="1970"/>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34" name="Freeform 578"/>
            <p:cNvSpPr>
              <a:spLocks/>
            </p:cNvSpPr>
            <p:nvPr/>
          </p:nvSpPr>
          <p:spPr bwMode="auto">
            <a:xfrm>
              <a:off x="4661" y="1957"/>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35" name="Freeform 579"/>
            <p:cNvSpPr>
              <a:spLocks/>
            </p:cNvSpPr>
            <p:nvPr/>
          </p:nvSpPr>
          <p:spPr bwMode="auto">
            <a:xfrm>
              <a:off x="4661" y="1944"/>
              <a:ext cx="7" cy="7"/>
            </a:xfrm>
            <a:custGeom>
              <a:avLst/>
              <a:gdLst/>
              <a:ahLst/>
              <a:cxnLst>
                <a:cxn ang="0">
                  <a:pos x="0" y="4"/>
                </a:cxn>
                <a:cxn ang="0">
                  <a:pos x="1" y="4"/>
                </a:cxn>
                <a:cxn ang="0">
                  <a:pos x="2" y="6"/>
                </a:cxn>
                <a:cxn ang="0">
                  <a:pos x="3" y="7"/>
                </a:cxn>
                <a:cxn ang="0">
                  <a:pos x="3" y="7"/>
                </a:cxn>
                <a:cxn ang="0">
                  <a:pos x="4" y="6"/>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7">
                  <a:moveTo>
                    <a:pt x="0" y="4"/>
                  </a:moveTo>
                  <a:lnTo>
                    <a:pt x="1" y="4"/>
                  </a:lnTo>
                  <a:lnTo>
                    <a:pt x="2" y="6"/>
                  </a:lnTo>
                  <a:lnTo>
                    <a:pt x="3" y="7"/>
                  </a:lnTo>
                  <a:lnTo>
                    <a:pt x="3" y="7"/>
                  </a:lnTo>
                  <a:lnTo>
                    <a:pt x="4" y="6"/>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36" name="Freeform 580"/>
            <p:cNvSpPr>
              <a:spLocks/>
            </p:cNvSpPr>
            <p:nvPr/>
          </p:nvSpPr>
          <p:spPr bwMode="auto">
            <a:xfrm>
              <a:off x="4661" y="1932"/>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37" name="Freeform 581"/>
            <p:cNvSpPr>
              <a:spLocks/>
            </p:cNvSpPr>
            <p:nvPr/>
          </p:nvSpPr>
          <p:spPr bwMode="auto">
            <a:xfrm>
              <a:off x="4661" y="1919"/>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38" name="Freeform 582"/>
            <p:cNvSpPr>
              <a:spLocks/>
            </p:cNvSpPr>
            <p:nvPr/>
          </p:nvSpPr>
          <p:spPr bwMode="auto">
            <a:xfrm>
              <a:off x="4661" y="1906"/>
              <a:ext cx="7" cy="7"/>
            </a:xfrm>
            <a:custGeom>
              <a:avLst/>
              <a:gdLst/>
              <a:ahLst/>
              <a:cxnLst>
                <a:cxn ang="0">
                  <a:pos x="0" y="5"/>
                </a:cxn>
                <a:cxn ang="0">
                  <a:pos x="1" y="5"/>
                </a:cxn>
                <a:cxn ang="0">
                  <a:pos x="2" y="6"/>
                </a:cxn>
                <a:cxn ang="0">
                  <a:pos x="3" y="7"/>
                </a:cxn>
                <a:cxn ang="0">
                  <a:pos x="3" y="7"/>
                </a:cxn>
                <a:cxn ang="0">
                  <a:pos x="4" y="6"/>
                </a:cxn>
                <a:cxn ang="0">
                  <a:pos x="6" y="5"/>
                </a:cxn>
                <a:cxn ang="0">
                  <a:pos x="7" y="4"/>
                </a:cxn>
                <a:cxn ang="0">
                  <a:pos x="7" y="4"/>
                </a:cxn>
                <a:cxn ang="0">
                  <a:pos x="7" y="2"/>
                </a:cxn>
                <a:cxn ang="0">
                  <a:pos x="7" y="1"/>
                </a:cxn>
                <a:cxn ang="0">
                  <a:pos x="6" y="0"/>
                </a:cxn>
                <a:cxn ang="0">
                  <a:pos x="4" y="0"/>
                </a:cxn>
                <a:cxn ang="0">
                  <a:pos x="3" y="0"/>
                </a:cxn>
                <a:cxn ang="0">
                  <a:pos x="2" y="0"/>
                </a:cxn>
                <a:cxn ang="0">
                  <a:pos x="1" y="1"/>
                </a:cxn>
                <a:cxn ang="0">
                  <a:pos x="0" y="2"/>
                </a:cxn>
                <a:cxn ang="0">
                  <a:pos x="0" y="4"/>
                </a:cxn>
                <a:cxn ang="0">
                  <a:pos x="0" y="5"/>
                </a:cxn>
              </a:cxnLst>
              <a:rect l="0" t="0" r="r" b="b"/>
              <a:pathLst>
                <a:path w="7" h="7">
                  <a:moveTo>
                    <a:pt x="0" y="5"/>
                  </a:moveTo>
                  <a:lnTo>
                    <a:pt x="1" y="5"/>
                  </a:lnTo>
                  <a:lnTo>
                    <a:pt x="2" y="6"/>
                  </a:lnTo>
                  <a:lnTo>
                    <a:pt x="3" y="7"/>
                  </a:lnTo>
                  <a:lnTo>
                    <a:pt x="3" y="7"/>
                  </a:lnTo>
                  <a:lnTo>
                    <a:pt x="4" y="6"/>
                  </a:lnTo>
                  <a:lnTo>
                    <a:pt x="6" y="5"/>
                  </a:lnTo>
                  <a:lnTo>
                    <a:pt x="7" y="4"/>
                  </a:lnTo>
                  <a:lnTo>
                    <a:pt x="7" y="4"/>
                  </a:lnTo>
                  <a:lnTo>
                    <a:pt x="7" y="2"/>
                  </a:lnTo>
                  <a:lnTo>
                    <a:pt x="7" y="1"/>
                  </a:lnTo>
                  <a:lnTo>
                    <a:pt x="6" y="0"/>
                  </a:lnTo>
                  <a:lnTo>
                    <a:pt x="4" y="0"/>
                  </a:lnTo>
                  <a:lnTo>
                    <a:pt x="3" y="0"/>
                  </a:lnTo>
                  <a:lnTo>
                    <a:pt x="2" y="0"/>
                  </a:lnTo>
                  <a:lnTo>
                    <a:pt x="1" y="1"/>
                  </a:lnTo>
                  <a:lnTo>
                    <a:pt x="0" y="2"/>
                  </a:lnTo>
                  <a:lnTo>
                    <a:pt x="0" y="4"/>
                  </a:lnTo>
                  <a:lnTo>
                    <a:pt x="0" y="5"/>
                  </a:lnTo>
                  <a:close/>
                </a:path>
              </a:pathLst>
            </a:custGeom>
            <a:solidFill>
              <a:srgbClr val="000000"/>
            </a:solidFill>
            <a:ln w="9525">
              <a:noFill/>
              <a:round/>
              <a:headEnd/>
              <a:tailEnd/>
            </a:ln>
          </p:spPr>
          <p:txBody>
            <a:bodyPr/>
            <a:lstStyle/>
            <a:p>
              <a:endParaRPr lang="en-US"/>
            </a:p>
          </p:txBody>
        </p:sp>
        <p:sp>
          <p:nvSpPr>
            <p:cNvPr id="327239" name="Freeform 583"/>
            <p:cNvSpPr>
              <a:spLocks/>
            </p:cNvSpPr>
            <p:nvPr/>
          </p:nvSpPr>
          <p:spPr bwMode="auto">
            <a:xfrm>
              <a:off x="4661" y="1894"/>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40" name="Freeform 584"/>
            <p:cNvSpPr>
              <a:spLocks/>
            </p:cNvSpPr>
            <p:nvPr/>
          </p:nvSpPr>
          <p:spPr bwMode="auto">
            <a:xfrm>
              <a:off x="4661" y="1881"/>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41" name="Freeform 585"/>
            <p:cNvSpPr>
              <a:spLocks/>
            </p:cNvSpPr>
            <p:nvPr/>
          </p:nvSpPr>
          <p:spPr bwMode="auto">
            <a:xfrm>
              <a:off x="4661" y="1868"/>
              <a:ext cx="7" cy="7"/>
            </a:xfrm>
            <a:custGeom>
              <a:avLst/>
              <a:gdLst/>
              <a:ahLst/>
              <a:cxnLst>
                <a:cxn ang="0">
                  <a:pos x="0" y="5"/>
                </a:cxn>
                <a:cxn ang="0">
                  <a:pos x="1" y="5"/>
                </a:cxn>
                <a:cxn ang="0">
                  <a:pos x="2" y="6"/>
                </a:cxn>
                <a:cxn ang="0">
                  <a:pos x="3" y="7"/>
                </a:cxn>
                <a:cxn ang="0">
                  <a:pos x="3" y="7"/>
                </a:cxn>
                <a:cxn ang="0">
                  <a:pos x="4" y="6"/>
                </a:cxn>
                <a:cxn ang="0">
                  <a:pos x="6" y="5"/>
                </a:cxn>
                <a:cxn ang="0">
                  <a:pos x="7" y="4"/>
                </a:cxn>
                <a:cxn ang="0">
                  <a:pos x="7" y="4"/>
                </a:cxn>
                <a:cxn ang="0">
                  <a:pos x="7" y="3"/>
                </a:cxn>
                <a:cxn ang="0">
                  <a:pos x="7" y="2"/>
                </a:cxn>
                <a:cxn ang="0">
                  <a:pos x="6" y="0"/>
                </a:cxn>
                <a:cxn ang="0">
                  <a:pos x="4" y="0"/>
                </a:cxn>
                <a:cxn ang="0">
                  <a:pos x="3" y="0"/>
                </a:cxn>
                <a:cxn ang="0">
                  <a:pos x="2" y="0"/>
                </a:cxn>
                <a:cxn ang="0">
                  <a:pos x="1" y="2"/>
                </a:cxn>
                <a:cxn ang="0">
                  <a:pos x="0" y="3"/>
                </a:cxn>
                <a:cxn ang="0">
                  <a:pos x="0" y="4"/>
                </a:cxn>
                <a:cxn ang="0">
                  <a:pos x="0" y="5"/>
                </a:cxn>
              </a:cxnLst>
              <a:rect l="0" t="0" r="r" b="b"/>
              <a:pathLst>
                <a:path w="7" h="7">
                  <a:moveTo>
                    <a:pt x="0" y="5"/>
                  </a:moveTo>
                  <a:lnTo>
                    <a:pt x="1" y="5"/>
                  </a:lnTo>
                  <a:lnTo>
                    <a:pt x="2" y="6"/>
                  </a:lnTo>
                  <a:lnTo>
                    <a:pt x="3" y="7"/>
                  </a:lnTo>
                  <a:lnTo>
                    <a:pt x="3" y="7"/>
                  </a:lnTo>
                  <a:lnTo>
                    <a:pt x="4" y="6"/>
                  </a:lnTo>
                  <a:lnTo>
                    <a:pt x="6" y="5"/>
                  </a:lnTo>
                  <a:lnTo>
                    <a:pt x="7" y="4"/>
                  </a:lnTo>
                  <a:lnTo>
                    <a:pt x="7" y="4"/>
                  </a:lnTo>
                  <a:lnTo>
                    <a:pt x="7" y="3"/>
                  </a:lnTo>
                  <a:lnTo>
                    <a:pt x="7" y="2"/>
                  </a:lnTo>
                  <a:lnTo>
                    <a:pt x="6" y="0"/>
                  </a:lnTo>
                  <a:lnTo>
                    <a:pt x="4" y="0"/>
                  </a:lnTo>
                  <a:lnTo>
                    <a:pt x="3" y="0"/>
                  </a:lnTo>
                  <a:lnTo>
                    <a:pt x="2" y="0"/>
                  </a:lnTo>
                  <a:lnTo>
                    <a:pt x="1" y="2"/>
                  </a:lnTo>
                  <a:lnTo>
                    <a:pt x="0" y="3"/>
                  </a:lnTo>
                  <a:lnTo>
                    <a:pt x="0" y="4"/>
                  </a:lnTo>
                  <a:lnTo>
                    <a:pt x="0" y="5"/>
                  </a:lnTo>
                  <a:close/>
                </a:path>
              </a:pathLst>
            </a:custGeom>
            <a:solidFill>
              <a:srgbClr val="000000"/>
            </a:solidFill>
            <a:ln w="9525">
              <a:noFill/>
              <a:round/>
              <a:headEnd/>
              <a:tailEnd/>
            </a:ln>
          </p:spPr>
          <p:txBody>
            <a:bodyPr/>
            <a:lstStyle/>
            <a:p>
              <a:endParaRPr lang="en-US"/>
            </a:p>
          </p:txBody>
        </p:sp>
        <p:sp>
          <p:nvSpPr>
            <p:cNvPr id="327242" name="Freeform 586"/>
            <p:cNvSpPr>
              <a:spLocks/>
            </p:cNvSpPr>
            <p:nvPr/>
          </p:nvSpPr>
          <p:spPr bwMode="auto">
            <a:xfrm>
              <a:off x="4661" y="1856"/>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43" name="Freeform 587"/>
            <p:cNvSpPr>
              <a:spLocks/>
            </p:cNvSpPr>
            <p:nvPr/>
          </p:nvSpPr>
          <p:spPr bwMode="auto">
            <a:xfrm>
              <a:off x="4661" y="1843"/>
              <a:ext cx="7" cy="7"/>
            </a:xfrm>
            <a:custGeom>
              <a:avLst/>
              <a:gdLst/>
              <a:ahLst/>
              <a:cxnLst>
                <a:cxn ang="0">
                  <a:pos x="0" y="4"/>
                </a:cxn>
                <a:cxn ang="0">
                  <a:pos x="1" y="4"/>
                </a:cxn>
                <a:cxn ang="0">
                  <a:pos x="2" y="6"/>
                </a:cxn>
                <a:cxn ang="0">
                  <a:pos x="3" y="7"/>
                </a:cxn>
                <a:cxn ang="0">
                  <a:pos x="3" y="7"/>
                </a:cxn>
                <a:cxn ang="0">
                  <a:pos x="4" y="6"/>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7">
                  <a:moveTo>
                    <a:pt x="0" y="4"/>
                  </a:moveTo>
                  <a:lnTo>
                    <a:pt x="1" y="4"/>
                  </a:lnTo>
                  <a:lnTo>
                    <a:pt x="2" y="6"/>
                  </a:lnTo>
                  <a:lnTo>
                    <a:pt x="3" y="7"/>
                  </a:lnTo>
                  <a:lnTo>
                    <a:pt x="3" y="7"/>
                  </a:lnTo>
                  <a:lnTo>
                    <a:pt x="4" y="6"/>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44" name="Freeform 588"/>
            <p:cNvSpPr>
              <a:spLocks/>
            </p:cNvSpPr>
            <p:nvPr/>
          </p:nvSpPr>
          <p:spPr bwMode="auto">
            <a:xfrm>
              <a:off x="4661" y="1831"/>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45" name="Freeform 589"/>
            <p:cNvSpPr>
              <a:spLocks/>
            </p:cNvSpPr>
            <p:nvPr/>
          </p:nvSpPr>
          <p:spPr bwMode="auto">
            <a:xfrm>
              <a:off x="4661" y="1818"/>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46" name="Freeform 590"/>
            <p:cNvSpPr>
              <a:spLocks/>
            </p:cNvSpPr>
            <p:nvPr/>
          </p:nvSpPr>
          <p:spPr bwMode="auto">
            <a:xfrm>
              <a:off x="4661" y="1805"/>
              <a:ext cx="7" cy="7"/>
            </a:xfrm>
            <a:custGeom>
              <a:avLst/>
              <a:gdLst/>
              <a:ahLst/>
              <a:cxnLst>
                <a:cxn ang="0">
                  <a:pos x="0" y="5"/>
                </a:cxn>
                <a:cxn ang="0">
                  <a:pos x="1" y="5"/>
                </a:cxn>
                <a:cxn ang="0">
                  <a:pos x="2" y="6"/>
                </a:cxn>
                <a:cxn ang="0">
                  <a:pos x="3" y="7"/>
                </a:cxn>
                <a:cxn ang="0">
                  <a:pos x="3" y="7"/>
                </a:cxn>
                <a:cxn ang="0">
                  <a:pos x="4" y="6"/>
                </a:cxn>
                <a:cxn ang="0">
                  <a:pos x="6" y="5"/>
                </a:cxn>
                <a:cxn ang="0">
                  <a:pos x="7" y="4"/>
                </a:cxn>
                <a:cxn ang="0">
                  <a:pos x="7" y="4"/>
                </a:cxn>
                <a:cxn ang="0">
                  <a:pos x="7" y="2"/>
                </a:cxn>
                <a:cxn ang="0">
                  <a:pos x="7" y="1"/>
                </a:cxn>
                <a:cxn ang="0">
                  <a:pos x="6" y="0"/>
                </a:cxn>
                <a:cxn ang="0">
                  <a:pos x="4" y="0"/>
                </a:cxn>
                <a:cxn ang="0">
                  <a:pos x="3" y="0"/>
                </a:cxn>
                <a:cxn ang="0">
                  <a:pos x="2" y="0"/>
                </a:cxn>
                <a:cxn ang="0">
                  <a:pos x="1" y="1"/>
                </a:cxn>
                <a:cxn ang="0">
                  <a:pos x="0" y="2"/>
                </a:cxn>
                <a:cxn ang="0">
                  <a:pos x="0" y="4"/>
                </a:cxn>
                <a:cxn ang="0">
                  <a:pos x="0" y="5"/>
                </a:cxn>
              </a:cxnLst>
              <a:rect l="0" t="0" r="r" b="b"/>
              <a:pathLst>
                <a:path w="7" h="7">
                  <a:moveTo>
                    <a:pt x="0" y="5"/>
                  </a:moveTo>
                  <a:lnTo>
                    <a:pt x="1" y="5"/>
                  </a:lnTo>
                  <a:lnTo>
                    <a:pt x="2" y="6"/>
                  </a:lnTo>
                  <a:lnTo>
                    <a:pt x="3" y="7"/>
                  </a:lnTo>
                  <a:lnTo>
                    <a:pt x="3" y="7"/>
                  </a:lnTo>
                  <a:lnTo>
                    <a:pt x="4" y="6"/>
                  </a:lnTo>
                  <a:lnTo>
                    <a:pt x="6" y="5"/>
                  </a:lnTo>
                  <a:lnTo>
                    <a:pt x="7" y="4"/>
                  </a:lnTo>
                  <a:lnTo>
                    <a:pt x="7" y="4"/>
                  </a:lnTo>
                  <a:lnTo>
                    <a:pt x="7" y="2"/>
                  </a:lnTo>
                  <a:lnTo>
                    <a:pt x="7" y="1"/>
                  </a:lnTo>
                  <a:lnTo>
                    <a:pt x="6" y="0"/>
                  </a:lnTo>
                  <a:lnTo>
                    <a:pt x="4" y="0"/>
                  </a:lnTo>
                  <a:lnTo>
                    <a:pt x="3" y="0"/>
                  </a:lnTo>
                  <a:lnTo>
                    <a:pt x="2" y="0"/>
                  </a:lnTo>
                  <a:lnTo>
                    <a:pt x="1" y="1"/>
                  </a:lnTo>
                  <a:lnTo>
                    <a:pt x="0" y="2"/>
                  </a:lnTo>
                  <a:lnTo>
                    <a:pt x="0" y="4"/>
                  </a:lnTo>
                  <a:lnTo>
                    <a:pt x="0" y="5"/>
                  </a:lnTo>
                  <a:close/>
                </a:path>
              </a:pathLst>
            </a:custGeom>
            <a:solidFill>
              <a:srgbClr val="000000"/>
            </a:solidFill>
            <a:ln w="9525">
              <a:noFill/>
              <a:round/>
              <a:headEnd/>
              <a:tailEnd/>
            </a:ln>
          </p:spPr>
          <p:txBody>
            <a:bodyPr/>
            <a:lstStyle/>
            <a:p>
              <a:endParaRPr lang="en-US"/>
            </a:p>
          </p:txBody>
        </p:sp>
        <p:sp>
          <p:nvSpPr>
            <p:cNvPr id="327247" name="Freeform 591"/>
            <p:cNvSpPr>
              <a:spLocks/>
            </p:cNvSpPr>
            <p:nvPr/>
          </p:nvSpPr>
          <p:spPr bwMode="auto">
            <a:xfrm>
              <a:off x="4661" y="1793"/>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48" name="Freeform 592"/>
            <p:cNvSpPr>
              <a:spLocks/>
            </p:cNvSpPr>
            <p:nvPr/>
          </p:nvSpPr>
          <p:spPr bwMode="auto">
            <a:xfrm>
              <a:off x="4661" y="1780"/>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49" name="Freeform 593"/>
            <p:cNvSpPr>
              <a:spLocks/>
            </p:cNvSpPr>
            <p:nvPr/>
          </p:nvSpPr>
          <p:spPr bwMode="auto">
            <a:xfrm>
              <a:off x="4661" y="1767"/>
              <a:ext cx="7" cy="7"/>
            </a:xfrm>
            <a:custGeom>
              <a:avLst/>
              <a:gdLst/>
              <a:ahLst/>
              <a:cxnLst>
                <a:cxn ang="0">
                  <a:pos x="0" y="5"/>
                </a:cxn>
                <a:cxn ang="0">
                  <a:pos x="1" y="5"/>
                </a:cxn>
                <a:cxn ang="0">
                  <a:pos x="2" y="6"/>
                </a:cxn>
                <a:cxn ang="0">
                  <a:pos x="3" y="7"/>
                </a:cxn>
                <a:cxn ang="0">
                  <a:pos x="3" y="7"/>
                </a:cxn>
                <a:cxn ang="0">
                  <a:pos x="4" y="6"/>
                </a:cxn>
                <a:cxn ang="0">
                  <a:pos x="6" y="5"/>
                </a:cxn>
                <a:cxn ang="0">
                  <a:pos x="7" y="4"/>
                </a:cxn>
                <a:cxn ang="0">
                  <a:pos x="7" y="4"/>
                </a:cxn>
                <a:cxn ang="0">
                  <a:pos x="7" y="3"/>
                </a:cxn>
                <a:cxn ang="0">
                  <a:pos x="7" y="2"/>
                </a:cxn>
                <a:cxn ang="0">
                  <a:pos x="6" y="0"/>
                </a:cxn>
                <a:cxn ang="0">
                  <a:pos x="4" y="0"/>
                </a:cxn>
                <a:cxn ang="0">
                  <a:pos x="3" y="0"/>
                </a:cxn>
                <a:cxn ang="0">
                  <a:pos x="2" y="0"/>
                </a:cxn>
                <a:cxn ang="0">
                  <a:pos x="1" y="2"/>
                </a:cxn>
                <a:cxn ang="0">
                  <a:pos x="0" y="3"/>
                </a:cxn>
                <a:cxn ang="0">
                  <a:pos x="0" y="4"/>
                </a:cxn>
                <a:cxn ang="0">
                  <a:pos x="0" y="5"/>
                </a:cxn>
              </a:cxnLst>
              <a:rect l="0" t="0" r="r" b="b"/>
              <a:pathLst>
                <a:path w="7" h="7">
                  <a:moveTo>
                    <a:pt x="0" y="5"/>
                  </a:moveTo>
                  <a:lnTo>
                    <a:pt x="1" y="5"/>
                  </a:lnTo>
                  <a:lnTo>
                    <a:pt x="2" y="6"/>
                  </a:lnTo>
                  <a:lnTo>
                    <a:pt x="3" y="7"/>
                  </a:lnTo>
                  <a:lnTo>
                    <a:pt x="3" y="7"/>
                  </a:lnTo>
                  <a:lnTo>
                    <a:pt x="4" y="6"/>
                  </a:lnTo>
                  <a:lnTo>
                    <a:pt x="6" y="5"/>
                  </a:lnTo>
                  <a:lnTo>
                    <a:pt x="7" y="4"/>
                  </a:lnTo>
                  <a:lnTo>
                    <a:pt x="7" y="4"/>
                  </a:lnTo>
                  <a:lnTo>
                    <a:pt x="7" y="3"/>
                  </a:lnTo>
                  <a:lnTo>
                    <a:pt x="7" y="2"/>
                  </a:lnTo>
                  <a:lnTo>
                    <a:pt x="6" y="0"/>
                  </a:lnTo>
                  <a:lnTo>
                    <a:pt x="4" y="0"/>
                  </a:lnTo>
                  <a:lnTo>
                    <a:pt x="3" y="0"/>
                  </a:lnTo>
                  <a:lnTo>
                    <a:pt x="2" y="0"/>
                  </a:lnTo>
                  <a:lnTo>
                    <a:pt x="1" y="2"/>
                  </a:lnTo>
                  <a:lnTo>
                    <a:pt x="0" y="3"/>
                  </a:lnTo>
                  <a:lnTo>
                    <a:pt x="0" y="4"/>
                  </a:lnTo>
                  <a:lnTo>
                    <a:pt x="0" y="5"/>
                  </a:lnTo>
                  <a:close/>
                </a:path>
              </a:pathLst>
            </a:custGeom>
            <a:solidFill>
              <a:srgbClr val="000000"/>
            </a:solidFill>
            <a:ln w="9525">
              <a:noFill/>
              <a:round/>
              <a:headEnd/>
              <a:tailEnd/>
            </a:ln>
          </p:spPr>
          <p:txBody>
            <a:bodyPr/>
            <a:lstStyle/>
            <a:p>
              <a:endParaRPr lang="en-US"/>
            </a:p>
          </p:txBody>
        </p:sp>
        <p:sp>
          <p:nvSpPr>
            <p:cNvPr id="327250" name="Freeform 594"/>
            <p:cNvSpPr>
              <a:spLocks/>
            </p:cNvSpPr>
            <p:nvPr/>
          </p:nvSpPr>
          <p:spPr bwMode="auto">
            <a:xfrm>
              <a:off x="4661" y="1755"/>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51" name="Freeform 595"/>
            <p:cNvSpPr>
              <a:spLocks/>
            </p:cNvSpPr>
            <p:nvPr/>
          </p:nvSpPr>
          <p:spPr bwMode="auto">
            <a:xfrm>
              <a:off x="4661" y="1742"/>
              <a:ext cx="7" cy="7"/>
            </a:xfrm>
            <a:custGeom>
              <a:avLst/>
              <a:gdLst/>
              <a:ahLst/>
              <a:cxnLst>
                <a:cxn ang="0">
                  <a:pos x="0" y="4"/>
                </a:cxn>
                <a:cxn ang="0">
                  <a:pos x="1" y="4"/>
                </a:cxn>
                <a:cxn ang="0">
                  <a:pos x="2" y="5"/>
                </a:cxn>
                <a:cxn ang="0">
                  <a:pos x="3" y="7"/>
                </a:cxn>
                <a:cxn ang="0">
                  <a:pos x="3" y="7"/>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7">
                  <a:moveTo>
                    <a:pt x="0" y="4"/>
                  </a:moveTo>
                  <a:lnTo>
                    <a:pt x="1" y="4"/>
                  </a:lnTo>
                  <a:lnTo>
                    <a:pt x="2" y="5"/>
                  </a:lnTo>
                  <a:lnTo>
                    <a:pt x="3" y="7"/>
                  </a:lnTo>
                  <a:lnTo>
                    <a:pt x="3" y="7"/>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52" name="Freeform 596"/>
            <p:cNvSpPr>
              <a:spLocks/>
            </p:cNvSpPr>
            <p:nvPr/>
          </p:nvSpPr>
          <p:spPr bwMode="auto">
            <a:xfrm>
              <a:off x="4661" y="1730"/>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53" name="Freeform 597"/>
            <p:cNvSpPr>
              <a:spLocks/>
            </p:cNvSpPr>
            <p:nvPr/>
          </p:nvSpPr>
          <p:spPr bwMode="auto">
            <a:xfrm>
              <a:off x="4628" y="2349"/>
              <a:ext cx="74" cy="69"/>
            </a:xfrm>
            <a:custGeom>
              <a:avLst/>
              <a:gdLst/>
              <a:ahLst/>
              <a:cxnLst>
                <a:cxn ang="0">
                  <a:pos x="0" y="0"/>
                </a:cxn>
                <a:cxn ang="0">
                  <a:pos x="37" y="69"/>
                </a:cxn>
                <a:cxn ang="0">
                  <a:pos x="74" y="0"/>
                </a:cxn>
                <a:cxn ang="0">
                  <a:pos x="0" y="0"/>
                </a:cxn>
              </a:cxnLst>
              <a:rect l="0" t="0" r="r" b="b"/>
              <a:pathLst>
                <a:path w="74" h="69">
                  <a:moveTo>
                    <a:pt x="0" y="0"/>
                  </a:moveTo>
                  <a:lnTo>
                    <a:pt x="37" y="69"/>
                  </a:lnTo>
                  <a:lnTo>
                    <a:pt x="74" y="0"/>
                  </a:lnTo>
                  <a:lnTo>
                    <a:pt x="0" y="0"/>
                  </a:lnTo>
                  <a:close/>
                </a:path>
              </a:pathLst>
            </a:custGeom>
            <a:solidFill>
              <a:srgbClr val="000000"/>
            </a:solidFill>
            <a:ln w="9525">
              <a:noFill/>
              <a:round/>
              <a:headEnd/>
              <a:tailEnd/>
            </a:ln>
          </p:spPr>
          <p:txBody>
            <a:bodyPr/>
            <a:lstStyle/>
            <a:p>
              <a:endParaRPr lang="en-US"/>
            </a:p>
          </p:txBody>
        </p:sp>
        <p:sp>
          <p:nvSpPr>
            <p:cNvPr id="327254" name="Freeform 598"/>
            <p:cNvSpPr>
              <a:spLocks/>
            </p:cNvSpPr>
            <p:nvPr/>
          </p:nvSpPr>
          <p:spPr bwMode="auto">
            <a:xfrm>
              <a:off x="4628" y="1660"/>
              <a:ext cx="74" cy="70"/>
            </a:xfrm>
            <a:custGeom>
              <a:avLst/>
              <a:gdLst/>
              <a:ahLst/>
              <a:cxnLst>
                <a:cxn ang="0">
                  <a:pos x="74" y="70"/>
                </a:cxn>
                <a:cxn ang="0">
                  <a:pos x="37" y="0"/>
                </a:cxn>
                <a:cxn ang="0">
                  <a:pos x="0" y="70"/>
                </a:cxn>
                <a:cxn ang="0">
                  <a:pos x="74" y="70"/>
                </a:cxn>
              </a:cxnLst>
              <a:rect l="0" t="0" r="r" b="b"/>
              <a:pathLst>
                <a:path w="74" h="70">
                  <a:moveTo>
                    <a:pt x="74" y="70"/>
                  </a:moveTo>
                  <a:lnTo>
                    <a:pt x="37" y="0"/>
                  </a:lnTo>
                  <a:lnTo>
                    <a:pt x="0" y="70"/>
                  </a:lnTo>
                  <a:lnTo>
                    <a:pt x="74" y="70"/>
                  </a:lnTo>
                  <a:close/>
                </a:path>
              </a:pathLst>
            </a:custGeom>
            <a:solidFill>
              <a:srgbClr val="000000"/>
            </a:solidFill>
            <a:ln w="9525">
              <a:noFill/>
              <a:round/>
              <a:headEnd/>
              <a:tailEnd/>
            </a:ln>
          </p:spPr>
          <p:txBody>
            <a:bodyPr/>
            <a:lstStyle/>
            <a:p>
              <a:endParaRPr lang="en-US"/>
            </a:p>
          </p:txBody>
        </p:sp>
      </p:grpSp>
      <p:grpSp>
        <p:nvGrpSpPr>
          <p:cNvPr id="12" name="Group 599"/>
          <p:cNvGrpSpPr>
            <a:grpSpLocks/>
          </p:cNvGrpSpPr>
          <p:nvPr/>
        </p:nvGrpSpPr>
        <p:grpSpPr bwMode="auto">
          <a:xfrm>
            <a:off x="6761163" y="4086225"/>
            <a:ext cx="428625" cy="107950"/>
            <a:chOff x="4259" y="2574"/>
            <a:chExt cx="270" cy="68"/>
          </a:xfrm>
        </p:grpSpPr>
        <p:sp>
          <p:nvSpPr>
            <p:cNvPr id="327256" name="Line 600"/>
            <p:cNvSpPr>
              <a:spLocks noChangeShapeType="1"/>
            </p:cNvSpPr>
            <p:nvPr/>
          </p:nvSpPr>
          <p:spPr bwMode="auto">
            <a:xfrm flipH="1">
              <a:off x="4329" y="2607"/>
              <a:ext cx="200" cy="1"/>
            </a:xfrm>
            <a:prstGeom prst="line">
              <a:avLst/>
            </a:prstGeom>
            <a:noFill/>
            <a:ln w="11113">
              <a:solidFill>
                <a:srgbClr val="000000"/>
              </a:solidFill>
              <a:round/>
              <a:headEnd/>
              <a:tailEnd/>
            </a:ln>
          </p:spPr>
          <p:txBody>
            <a:bodyPr/>
            <a:lstStyle/>
            <a:p>
              <a:endParaRPr lang="en-US"/>
            </a:p>
          </p:txBody>
        </p:sp>
        <p:sp>
          <p:nvSpPr>
            <p:cNvPr id="327257" name="Freeform 601"/>
            <p:cNvSpPr>
              <a:spLocks/>
            </p:cNvSpPr>
            <p:nvPr/>
          </p:nvSpPr>
          <p:spPr bwMode="auto">
            <a:xfrm>
              <a:off x="4259" y="2574"/>
              <a:ext cx="73" cy="68"/>
            </a:xfrm>
            <a:custGeom>
              <a:avLst/>
              <a:gdLst/>
              <a:ahLst/>
              <a:cxnLst>
                <a:cxn ang="0">
                  <a:pos x="73" y="0"/>
                </a:cxn>
                <a:cxn ang="0">
                  <a:pos x="0" y="33"/>
                </a:cxn>
                <a:cxn ang="0">
                  <a:pos x="73" y="68"/>
                </a:cxn>
                <a:cxn ang="0">
                  <a:pos x="73" y="0"/>
                </a:cxn>
              </a:cxnLst>
              <a:rect l="0" t="0" r="r" b="b"/>
              <a:pathLst>
                <a:path w="73" h="68">
                  <a:moveTo>
                    <a:pt x="73" y="0"/>
                  </a:moveTo>
                  <a:lnTo>
                    <a:pt x="0" y="33"/>
                  </a:lnTo>
                  <a:lnTo>
                    <a:pt x="73" y="68"/>
                  </a:lnTo>
                  <a:lnTo>
                    <a:pt x="73" y="0"/>
                  </a:lnTo>
                  <a:close/>
                </a:path>
              </a:pathLst>
            </a:custGeom>
            <a:solidFill>
              <a:srgbClr val="000000"/>
            </a:solidFill>
            <a:ln w="9525">
              <a:noFill/>
              <a:round/>
              <a:headEnd/>
              <a:tailEnd/>
            </a:ln>
          </p:spPr>
          <p:txBody>
            <a:bodyPr/>
            <a:lstStyle/>
            <a:p>
              <a:endParaRPr lang="en-US"/>
            </a:p>
          </p:txBody>
        </p:sp>
      </p:grpSp>
      <p:grpSp>
        <p:nvGrpSpPr>
          <p:cNvPr id="13" name="Group 602"/>
          <p:cNvGrpSpPr>
            <a:grpSpLocks/>
          </p:cNvGrpSpPr>
          <p:nvPr/>
        </p:nvGrpSpPr>
        <p:grpSpPr bwMode="auto">
          <a:xfrm>
            <a:off x="6869113" y="4786313"/>
            <a:ext cx="320675" cy="109537"/>
            <a:chOff x="4327" y="3015"/>
            <a:chExt cx="202" cy="69"/>
          </a:xfrm>
        </p:grpSpPr>
        <p:sp>
          <p:nvSpPr>
            <p:cNvPr id="327259" name="Line 603"/>
            <p:cNvSpPr>
              <a:spLocks noChangeShapeType="1"/>
            </p:cNvSpPr>
            <p:nvPr/>
          </p:nvSpPr>
          <p:spPr bwMode="auto">
            <a:xfrm flipH="1">
              <a:off x="4397" y="3049"/>
              <a:ext cx="132" cy="1"/>
            </a:xfrm>
            <a:prstGeom prst="line">
              <a:avLst/>
            </a:prstGeom>
            <a:noFill/>
            <a:ln w="11113">
              <a:solidFill>
                <a:srgbClr val="000000"/>
              </a:solidFill>
              <a:round/>
              <a:headEnd/>
              <a:tailEnd/>
            </a:ln>
          </p:spPr>
          <p:txBody>
            <a:bodyPr/>
            <a:lstStyle/>
            <a:p>
              <a:endParaRPr lang="en-US"/>
            </a:p>
          </p:txBody>
        </p:sp>
        <p:sp>
          <p:nvSpPr>
            <p:cNvPr id="327260" name="Freeform 604"/>
            <p:cNvSpPr>
              <a:spLocks/>
            </p:cNvSpPr>
            <p:nvPr/>
          </p:nvSpPr>
          <p:spPr bwMode="auto">
            <a:xfrm>
              <a:off x="4327" y="3015"/>
              <a:ext cx="73" cy="69"/>
            </a:xfrm>
            <a:custGeom>
              <a:avLst/>
              <a:gdLst/>
              <a:ahLst/>
              <a:cxnLst>
                <a:cxn ang="0">
                  <a:pos x="73" y="0"/>
                </a:cxn>
                <a:cxn ang="0">
                  <a:pos x="0" y="34"/>
                </a:cxn>
                <a:cxn ang="0">
                  <a:pos x="73" y="69"/>
                </a:cxn>
                <a:cxn ang="0">
                  <a:pos x="73" y="0"/>
                </a:cxn>
              </a:cxnLst>
              <a:rect l="0" t="0" r="r" b="b"/>
              <a:pathLst>
                <a:path w="73" h="69">
                  <a:moveTo>
                    <a:pt x="73" y="0"/>
                  </a:moveTo>
                  <a:lnTo>
                    <a:pt x="0" y="34"/>
                  </a:lnTo>
                  <a:lnTo>
                    <a:pt x="73" y="69"/>
                  </a:lnTo>
                  <a:lnTo>
                    <a:pt x="73" y="0"/>
                  </a:lnTo>
                  <a:close/>
                </a:path>
              </a:pathLst>
            </a:custGeom>
            <a:solidFill>
              <a:srgbClr val="000000"/>
            </a:solidFill>
            <a:ln w="9525">
              <a:noFill/>
              <a:round/>
              <a:headEnd/>
              <a:tailEnd/>
            </a:ln>
          </p:spPr>
          <p:txBody>
            <a:bodyPr/>
            <a:lstStyle/>
            <a:p>
              <a:endParaRPr lang="en-US"/>
            </a:p>
          </p:txBody>
        </p:sp>
      </p:grpSp>
      <p:grpSp>
        <p:nvGrpSpPr>
          <p:cNvPr id="14" name="Group 605"/>
          <p:cNvGrpSpPr>
            <a:grpSpLocks/>
          </p:cNvGrpSpPr>
          <p:nvPr/>
        </p:nvGrpSpPr>
        <p:grpSpPr bwMode="auto">
          <a:xfrm>
            <a:off x="7346950" y="1533525"/>
            <a:ext cx="117475" cy="606425"/>
            <a:chOff x="4628" y="966"/>
            <a:chExt cx="74" cy="382"/>
          </a:xfrm>
        </p:grpSpPr>
        <p:sp>
          <p:nvSpPr>
            <p:cNvPr id="327262" name="Freeform 606"/>
            <p:cNvSpPr>
              <a:spLocks/>
            </p:cNvSpPr>
            <p:nvPr/>
          </p:nvSpPr>
          <p:spPr bwMode="auto">
            <a:xfrm>
              <a:off x="4661" y="1341"/>
              <a:ext cx="7" cy="7"/>
            </a:xfrm>
            <a:custGeom>
              <a:avLst/>
              <a:gdLst/>
              <a:ahLst/>
              <a:cxnLst>
                <a:cxn ang="0">
                  <a:pos x="0" y="5"/>
                </a:cxn>
                <a:cxn ang="0">
                  <a:pos x="1" y="5"/>
                </a:cxn>
                <a:cxn ang="0">
                  <a:pos x="2" y="6"/>
                </a:cxn>
                <a:cxn ang="0">
                  <a:pos x="3" y="7"/>
                </a:cxn>
                <a:cxn ang="0">
                  <a:pos x="3" y="7"/>
                </a:cxn>
                <a:cxn ang="0">
                  <a:pos x="4" y="6"/>
                </a:cxn>
                <a:cxn ang="0">
                  <a:pos x="6" y="5"/>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5"/>
                </a:cxn>
              </a:cxnLst>
              <a:rect l="0" t="0" r="r" b="b"/>
              <a:pathLst>
                <a:path w="7" h="7">
                  <a:moveTo>
                    <a:pt x="0" y="5"/>
                  </a:moveTo>
                  <a:lnTo>
                    <a:pt x="1" y="5"/>
                  </a:lnTo>
                  <a:lnTo>
                    <a:pt x="2" y="6"/>
                  </a:lnTo>
                  <a:lnTo>
                    <a:pt x="3" y="7"/>
                  </a:lnTo>
                  <a:lnTo>
                    <a:pt x="3" y="7"/>
                  </a:lnTo>
                  <a:lnTo>
                    <a:pt x="4" y="6"/>
                  </a:lnTo>
                  <a:lnTo>
                    <a:pt x="6" y="5"/>
                  </a:lnTo>
                  <a:lnTo>
                    <a:pt x="7" y="3"/>
                  </a:lnTo>
                  <a:lnTo>
                    <a:pt x="7" y="3"/>
                  </a:lnTo>
                  <a:lnTo>
                    <a:pt x="7" y="2"/>
                  </a:lnTo>
                  <a:lnTo>
                    <a:pt x="7" y="1"/>
                  </a:lnTo>
                  <a:lnTo>
                    <a:pt x="6" y="0"/>
                  </a:lnTo>
                  <a:lnTo>
                    <a:pt x="4" y="0"/>
                  </a:lnTo>
                  <a:lnTo>
                    <a:pt x="3" y="0"/>
                  </a:lnTo>
                  <a:lnTo>
                    <a:pt x="2" y="0"/>
                  </a:lnTo>
                  <a:lnTo>
                    <a:pt x="1" y="1"/>
                  </a:lnTo>
                  <a:lnTo>
                    <a:pt x="0" y="2"/>
                  </a:lnTo>
                  <a:lnTo>
                    <a:pt x="0" y="3"/>
                  </a:lnTo>
                  <a:lnTo>
                    <a:pt x="0" y="5"/>
                  </a:lnTo>
                  <a:close/>
                </a:path>
              </a:pathLst>
            </a:custGeom>
            <a:solidFill>
              <a:srgbClr val="000000"/>
            </a:solidFill>
            <a:ln w="9525">
              <a:noFill/>
              <a:round/>
              <a:headEnd/>
              <a:tailEnd/>
            </a:ln>
          </p:spPr>
          <p:txBody>
            <a:bodyPr/>
            <a:lstStyle/>
            <a:p>
              <a:endParaRPr lang="en-US"/>
            </a:p>
          </p:txBody>
        </p:sp>
        <p:sp>
          <p:nvSpPr>
            <p:cNvPr id="327263" name="Freeform 607"/>
            <p:cNvSpPr>
              <a:spLocks/>
            </p:cNvSpPr>
            <p:nvPr/>
          </p:nvSpPr>
          <p:spPr bwMode="auto">
            <a:xfrm>
              <a:off x="4661" y="1329"/>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64" name="Freeform 608"/>
            <p:cNvSpPr>
              <a:spLocks/>
            </p:cNvSpPr>
            <p:nvPr/>
          </p:nvSpPr>
          <p:spPr bwMode="auto">
            <a:xfrm>
              <a:off x="4661" y="1316"/>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65" name="Freeform 609"/>
            <p:cNvSpPr>
              <a:spLocks/>
            </p:cNvSpPr>
            <p:nvPr/>
          </p:nvSpPr>
          <p:spPr bwMode="auto">
            <a:xfrm>
              <a:off x="4661" y="1303"/>
              <a:ext cx="7" cy="7"/>
            </a:xfrm>
            <a:custGeom>
              <a:avLst/>
              <a:gdLst/>
              <a:ahLst/>
              <a:cxnLst>
                <a:cxn ang="0">
                  <a:pos x="0" y="5"/>
                </a:cxn>
                <a:cxn ang="0">
                  <a:pos x="1" y="5"/>
                </a:cxn>
                <a:cxn ang="0">
                  <a:pos x="2" y="6"/>
                </a:cxn>
                <a:cxn ang="0">
                  <a:pos x="3" y="7"/>
                </a:cxn>
                <a:cxn ang="0">
                  <a:pos x="3" y="7"/>
                </a:cxn>
                <a:cxn ang="0">
                  <a:pos x="4" y="6"/>
                </a:cxn>
                <a:cxn ang="0">
                  <a:pos x="6" y="5"/>
                </a:cxn>
                <a:cxn ang="0">
                  <a:pos x="7" y="4"/>
                </a:cxn>
                <a:cxn ang="0">
                  <a:pos x="7" y="4"/>
                </a:cxn>
                <a:cxn ang="0">
                  <a:pos x="7" y="3"/>
                </a:cxn>
                <a:cxn ang="0">
                  <a:pos x="7" y="1"/>
                </a:cxn>
                <a:cxn ang="0">
                  <a:pos x="6" y="0"/>
                </a:cxn>
                <a:cxn ang="0">
                  <a:pos x="4" y="0"/>
                </a:cxn>
                <a:cxn ang="0">
                  <a:pos x="3" y="0"/>
                </a:cxn>
                <a:cxn ang="0">
                  <a:pos x="2" y="0"/>
                </a:cxn>
                <a:cxn ang="0">
                  <a:pos x="1" y="1"/>
                </a:cxn>
                <a:cxn ang="0">
                  <a:pos x="0" y="3"/>
                </a:cxn>
                <a:cxn ang="0">
                  <a:pos x="0" y="4"/>
                </a:cxn>
                <a:cxn ang="0">
                  <a:pos x="0" y="5"/>
                </a:cxn>
              </a:cxnLst>
              <a:rect l="0" t="0" r="r" b="b"/>
              <a:pathLst>
                <a:path w="7" h="7">
                  <a:moveTo>
                    <a:pt x="0" y="5"/>
                  </a:moveTo>
                  <a:lnTo>
                    <a:pt x="1" y="5"/>
                  </a:lnTo>
                  <a:lnTo>
                    <a:pt x="2" y="6"/>
                  </a:lnTo>
                  <a:lnTo>
                    <a:pt x="3" y="7"/>
                  </a:lnTo>
                  <a:lnTo>
                    <a:pt x="3" y="7"/>
                  </a:lnTo>
                  <a:lnTo>
                    <a:pt x="4" y="6"/>
                  </a:lnTo>
                  <a:lnTo>
                    <a:pt x="6" y="5"/>
                  </a:lnTo>
                  <a:lnTo>
                    <a:pt x="7" y="4"/>
                  </a:lnTo>
                  <a:lnTo>
                    <a:pt x="7" y="4"/>
                  </a:lnTo>
                  <a:lnTo>
                    <a:pt x="7" y="3"/>
                  </a:lnTo>
                  <a:lnTo>
                    <a:pt x="7" y="1"/>
                  </a:lnTo>
                  <a:lnTo>
                    <a:pt x="6" y="0"/>
                  </a:lnTo>
                  <a:lnTo>
                    <a:pt x="4" y="0"/>
                  </a:lnTo>
                  <a:lnTo>
                    <a:pt x="3" y="0"/>
                  </a:lnTo>
                  <a:lnTo>
                    <a:pt x="2" y="0"/>
                  </a:lnTo>
                  <a:lnTo>
                    <a:pt x="1" y="1"/>
                  </a:lnTo>
                  <a:lnTo>
                    <a:pt x="0" y="3"/>
                  </a:lnTo>
                  <a:lnTo>
                    <a:pt x="0" y="4"/>
                  </a:lnTo>
                  <a:lnTo>
                    <a:pt x="0" y="5"/>
                  </a:lnTo>
                  <a:close/>
                </a:path>
              </a:pathLst>
            </a:custGeom>
            <a:solidFill>
              <a:srgbClr val="000000"/>
            </a:solidFill>
            <a:ln w="9525">
              <a:noFill/>
              <a:round/>
              <a:headEnd/>
              <a:tailEnd/>
            </a:ln>
          </p:spPr>
          <p:txBody>
            <a:bodyPr/>
            <a:lstStyle/>
            <a:p>
              <a:endParaRPr lang="en-US"/>
            </a:p>
          </p:txBody>
        </p:sp>
        <p:sp>
          <p:nvSpPr>
            <p:cNvPr id="327266" name="Freeform 610"/>
            <p:cNvSpPr>
              <a:spLocks/>
            </p:cNvSpPr>
            <p:nvPr/>
          </p:nvSpPr>
          <p:spPr bwMode="auto">
            <a:xfrm>
              <a:off x="4661" y="1291"/>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67" name="Freeform 611"/>
            <p:cNvSpPr>
              <a:spLocks/>
            </p:cNvSpPr>
            <p:nvPr/>
          </p:nvSpPr>
          <p:spPr bwMode="auto">
            <a:xfrm>
              <a:off x="4661" y="1278"/>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68" name="Freeform 612"/>
            <p:cNvSpPr>
              <a:spLocks/>
            </p:cNvSpPr>
            <p:nvPr/>
          </p:nvSpPr>
          <p:spPr bwMode="auto">
            <a:xfrm>
              <a:off x="4661" y="1266"/>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69" name="Freeform 613"/>
            <p:cNvSpPr>
              <a:spLocks/>
            </p:cNvSpPr>
            <p:nvPr/>
          </p:nvSpPr>
          <p:spPr bwMode="auto">
            <a:xfrm>
              <a:off x="4661" y="1253"/>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70" name="Freeform 614"/>
            <p:cNvSpPr>
              <a:spLocks/>
            </p:cNvSpPr>
            <p:nvPr/>
          </p:nvSpPr>
          <p:spPr bwMode="auto">
            <a:xfrm>
              <a:off x="4661" y="1240"/>
              <a:ext cx="7" cy="7"/>
            </a:xfrm>
            <a:custGeom>
              <a:avLst/>
              <a:gdLst/>
              <a:ahLst/>
              <a:cxnLst>
                <a:cxn ang="0">
                  <a:pos x="0" y="5"/>
                </a:cxn>
                <a:cxn ang="0">
                  <a:pos x="1" y="5"/>
                </a:cxn>
                <a:cxn ang="0">
                  <a:pos x="2" y="6"/>
                </a:cxn>
                <a:cxn ang="0">
                  <a:pos x="3" y="7"/>
                </a:cxn>
                <a:cxn ang="0">
                  <a:pos x="3" y="7"/>
                </a:cxn>
                <a:cxn ang="0">
                  <a:pos x="4" y="6"/>
                </a:cxn>
                <a:cxn ang="0">
                  <a:pos x="6" y="5"/>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5"/>
                </a:cxn>
              </a:cxnLst>
              <a:rect l="0" t="0" r="r" b="b"/>
              <a:pathLst>
                <a:path w="7" h="7">
                  <a:moveTo>
                    <a:pt x="0" y="5"/>
                  </a:moveTo>
                  <a:lnTo>
                    <a:pt x="1" y="5"/>
                  </a:lnTo>
                  <a:lnTo>
                    <a:pt x="2" y="6"/>
                  </a:lnTo>
                  <a:lnTo>
                    <a:pt x="3" y="7"/>
                  </a:lnTo>
                  <a:lnTo>
                    <a:pt x="3" y="7"/>
                  </a:lnTo>
                  <a:lnTo>
                    <a:pt x="4" y="6"/>
                  </a:lnTo>
                  <a:lnTo>
                    <a:pt x="6" y="5"/>
                  </a:lnTo>
                  <a:lnTo>
                    <a:pt x="7" y="3"/>
                  </a:lnTo>
                  <a:lnTo>
                    <a:pt x="7" y="3"/>
                  </a:lnTo>
                  <a:lnTo>
                    <a:pt x="7" y="2"/>
                  </a:lnTo>
                  <a:lnTo>
                    <a:pt x="7" y="1"/>
                  </a:lnTo>
                  <a:lnTo>
                    <a:pt x="6" y="0"/>
                  </a:lnTo>
                  <a:lnTo>
                    <a:pt x="4" y="0"/>
                  </a:lnTo>
                  <a:lnTo>
                    <a:pt x="3" y="0"/>
                  </a:lnTo>
                  <a:lnTo>
                    <a:pt x="2" y="0"/>
                  </a:lnTo>
                  <a:lnTo>
                    <a:pt x="1" y="1"/>
                  </a:lnTo>
                  <a:lnTo>
                    <a:pt x="0" y="2"/>
                  </a:lnTo>
                  <a:lnTo>
                    <a:pt x="0" y="3"/>
                  </a:lnTo>
                  <a:lnTo>
                    <a:pt x="0" y="5"/>
                  </a:lnTo>
                  <a:close/>
                </a:path>
              </a:pathLst>
            </a:custGeom>
            <a:solidFill>
              <a:srgbClr val="000000"/>
            </a:solidFill>
            <a:ln w="9525">
              <a:noFill/>
              <a:round/>
              <a:headEnd/>
              <a:tailEnd/>
            </a:ln>
          </p:spPr>
          <p:txBody>
            <a:bodyPr/>
            <a:lstStyle/>
            <a:p>
              <a:endParaRPr lang="en-US"/>
            </a:p>
          </p:txBody>
        </p:sp>
        <p:sp>
          <p:nvSpPr>
            <p:cNvPr id="327271" name="Freeform 615"/>
            <p:cNvSpPr>
              <a:spLocks/>
            </p:cNvSpPr>
            <p:nvPr/>
          </p:nvSpPr>
          <p:spPr bwMode="auto">
            <a:xfrm>
              <a:off x="4661" y="1228"/>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72" name="Freeform 616"/>
            <p:cNvSpPr>
              <a:spLocks/>
            </p:cNvSpPr>
            <p:nvPr/>
          </p:nvSpPr>
          <p:spPr bwMode="auto">
            <a:xfrm>
              <a:off x="4661" y="1215"/>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73" name="Freeform 617"/>
            <p:cNvSpPr>
              <a:spLocks/>
            </p:cNvSpPr>
            <p:nvPr/>
          </p:nvSpPr>
          <p:spPr bwMode="auto">
            <a:xfrm>
              <a:off x="4661" y="1202"/>
              <a:ext cx="7" cy="7"/>
            </a:xfrm>
            <a:custGeom>
              <a:avLst/>
              <a:gdLst/>
              <a:ahLst/>
              <a:cxnLst>
                <a:cxn ang="0">
                  <a:pos x="0" y="5"/>
                </a:cxn>
                <a:cxn ang="0">
                  <a:pos x="1" y="5"/>
                </a:cxn>
                <a:cxn ang="0">
                  <a:pos x="2" y="6"/>
                </a:cxn>
                <a:cxn ang="0">
                  <a:pos x="3" y="7"/>
                </a:cxn>
                <a:cxn ang="0">
                  <a:pos x="3" y="7"/>
                </a:cxn>
                <a:cxn ang="0">
                  <a:pos x="4" y="6"/>
                </a:cxn>
                <a:cxn ang="0">
                  <a:pos x="6" y="5"/>
                </a:cxn>
                <a:cxn ang="0">
                  <a:pos x="7" y="4"/>
                </a:cxn>
                <a:cxn ang="0">
                  <a:pos x="7" y="4"/>
                </a:cxn>
                <a:cxn ang="0">
                  <a:pos x="7" y="3"/>
                </a:cxn>
                <a:cxn ang="0">
                  <a:pos x="7" y="1"/>
                </a:cxn>
                <a:cxn ang="0">
                  <a:pos x="6" y="0"/>
                </a:cxn>
                <a:cxn ang="0">
                  <a:pos x="4" y="0"/>
                </a:cxn>
                <a:cxn ang="0">
                  <a:pos x="3" y="0"/>
                </a:cxn>
                <a:cxn ang="0">
                  <a:pos x="2" y="0"/>
                </a:cxn>
                <a:cxn ang="0">
                  <a:pos x="1" y="1"/>
                </a:cxn>
                <a:cxn ang="0">
                  <a:pos x="0" y="3"/>
                </a:cxn>
                <a:cxn ang="0">
                  <a:pos x="0" y="4"/>
                </a:cxn>
                <a:cxn ang="0">
                  <a:pos x="0" y="5"/>
                </a:cxn>
              </a:cxnLst>
              <a:rect l="0" t="0" r="r" b="b"/>
              <a:pathLst>
                <a:path w="7" h="7">
                  <a:moveTo>
                    <a:pt x="0" y="5"/>
                  </a:moveTo>
                  <a:lnTo>
                    <a:pt x="1" y="5"/>
                  </a:lnTo>
                  <a:lnTo>
                    <a:pt x="2" y="6"/>
                  </a:lnTo>
                  <a:lnTo>
                    <a:pt x="3" y="7"/>
                  </a:lnTo>
                  <a:lnTo>
                    <a:pt x="3" y="7"/>
                  </a:lnTo>
                  <a:lnTo>
                    <a:pt x="4" y="6"/>
                  </a:lnTo>
                  <a:lnTo>
                    <a:pt x="6" y="5"/>
                  </a:lnTo>
                  <a:lnTo>
                    <a:pt x="7" y="4"/>
                  </a:lnTo>
                  <a:lnTo>
                    <a:pt x="7" y="4"/>
                  </a:lnTo>
                  <a:lnTo>
                    <a:pt x="7" y="3"/>
                  </a:lnTo>
                  <a:lnTo>
                    <a:pt x="7" y="1"/>
                  </a:lnTo>
                  <a:lnTo>
                    <a:pt x="6" y="0"/>
                  </a:lnTo>
                  <a:lnTo>
                    <a:pt x="4" y="0"/>
                  </a:lnTo>
                  <a:lnTo>
                    <a:pt x="3" y="0"/>
                  </a:lnTo>
                  <a:lnTo>
                    <a:pt x="2" y="0"/>
                  </a:lnTo>
                  <a:lnTo>
                    <a:pt x="1" y="1"/>
                  </a:lnTo>
                  <a:lnTo>
                    <a:pt x="0" y="3"/>
                  </a:lnTo>
                  <a:lnTo>
                    <a:pt x="0" y="4"/>
                  </a:lnTo>
                  <a:lnTo>
                    <a:pt x="0" y="5"/>
                  </a:lnTo>
                  <a:close/>
                </a:path>
              </a:pathLst>
            </a:custGeom>
            <a:solidFill>
              <a:srgbClr val="000000"/>
            </a:solidFill>
            <a:ln w="9525">
              <a:noFill/>
              <a:round/>
              <a:headEnd/>
              <a:tailEnd/>
            </a:ln>
          </p:spPr>
          <p:txBody>
            <a:bodyPr/>
            <a:lstStyle/>
            <a:p>
              <a:endParaRPr lang="en-US"/>
            </a:p>
          </p:txBody>
        </p:sp>
        <p:sp>
          <p:nvSpPr>
            <p:cNvPr id="327274" name="Freeform 618"/>
            <p:cNvSpPr>
              <a:spLocks/>
            </p:cNvSpPr>
            <p:nvPr/>
          </p:nvSpPr>
          <p:spPr bwMode="auto">
            <a:xfrm>
              <a:off x="4661" y="1190"/>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75" name="Freeform 619"/>
            <p:cNvSpPr>
              <a:spLocks/>
            </p:cNvSpPr>
            <p:nvPr/>
          </p:nvSpPr>
          <p:spPr bwMode="auto">
            <a:xfrm>
              <a:off x="4661" y="1177"/>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76" name="Freeform 620"/>
            <p:cNvSpPr>
              <a:spLocks/>
            </p:cNvSpPr>
            <p:nvPr/>
          </p:nvSpPr>
          <p:spPr bwMode="auto">
            <a:xfrm>
              <a:off x="4661" y="1165"/>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77" name="Freeform 621"/>
            <p:cNvSpPr>
              <a:spLocks/>
            </p:cNvSpPr>
            <p:nvPr/>
          </p:nvSpPr>
          <p:spPr bwMode="auto">
            <a:xfrm>
              <a:off x="4661" y="1152"/>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78" name="Freeform 622"/>
            <p:cNvSpPr>
              <a:spLocks/>
            </p:cNvSpPr>
            <p:nvPr/>
          </p:nvSpPr>
          <p:spPr bwMode="auto">
            <a:xfrm>
              <a:off x="4661" y="1139"/>
              <a:ext cx="7" cy="7"/>
            </a:xfrm>
            <a:custGeom>
              <a:avLst/>
              <a:gdLst/>
              <a:ahLst/>
              <a:cxnLst>
                <a:cxn ang="0">
                  <a:pos x="0" y="4"/>
                </a:cxn>
                <a:cxn ang="0">
                  <a:pos x="1" y="4"/>
                </a:cxn>
                <a:cxn ang="0">
                  <a:pos x="2" y="6"/>
                </a:cxn>
                <a:cxn ang="0">
                  <a:pos x="3" y="7"/>
                </a:cxn>
                <a:cxn ang="0">
                  <a:pos x="3" y="7"/>
                </a:cxn>
                <a:cxn ang="0">
                  <a:pos x="4" y="6"/>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7">
                  <a:moveTo>
                    <a:pt x="0" y="4"/>
                  </a:moveTo>
                  <a:lnTo>
                    <a:pt x="1" y="4"/>
                  </a:lnTo>
                  <a:lnTo>
                    <a:pt x="2" y="6"/>
                  </a:lnTo>
                  <a:lnTo>
                    <a:pt x="3" y="7"/>
                  </a:lnTo>
                  <a:lnTo>
                    <a:pt x="3" y="7"/>
                  </a:lnTo>
                  <a:lnTo>
                    <a:pt x="4" y="6"/>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79" name="Freeform 623"/>
            <p:cNvSpPr>
              <a:spLocks/>
            </p:cNvSpPr>
            <p:nvPr/>
          </p:nvSpPr>
          <p:spPr bwMode="auto">
            <a:xfrm>
              <a:off x="4661" y="1127"/>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80" name="Freeform 624"/>
            <p:cNvSpPr>
              <a:spLocks/>
            </p:cNvSpPr>
            <p:nvPr/>
          </p:nvSpPr>
          <p:spPr bwMode="auto">
            <a:xfrm>
              <a:off x="4661" y="1114"/>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81" name="Freeform 625"/>
            <p:cNvSpPr>
              <a:spLocks/>
            </p:cNvSpPr>
            <p:nvPr/>
          </p:nvSpPr>
          <p:spPr bwMode="auto">
            <a:xfrm>
              <a:off x="4661" y="1101"/>
              <a:ext cx="7" cy="7"/>
            </a:xfrm>
            <a:custGeom>
              <a:avLst/>
              <a:gdLst/>
              <a:ahLst/>
              <a:cxnLst>
                <a:cxn ang="0">
                  <a:pos x="0" y="5"/>
                </a:cxn>
                <a:cxn ang="0">
                  <a:pos x="1" y="5"/>
                </a:cxn>
                <a:cxn ang="0">
                  <a:pos x="2" y="6"/>
                </a:cxn>
                <a:cxn ang="0">
                  <a:pos x="3" y="7"/>
                </a:cxn>
                <a:cxn ang="0">
                  <a:pos x="3" y="7"/>
                </a:cxn>
                <a:cxn ang="0">
                  <a:pos x="4" y="6"/>
                </a:cxn>
                <a:cxn ang="0">
                  <a:pos x="6" y="5"/>
                </a:cxn>
                <a:cxn ang="0">
                  <a:pos x="7" y="4"/>
                </a:cxn>
                <a:cxn ang="0">
                  <a:pos x="7" y="4"/>
                </a:cxn>
                <a:cxn ang="0">
                  <a:pos x="7" y="3"/>
                </a:cxn>
                <a:cxn ang="0">
                  <a:pos x="7" y="1"/>
                </a:cxn>
                <a:cxn ang="0">
                  <a:pos x="6" y="0"/>
                </a:cxn>
                <a:cxn ang="0">
                  <a:pos x="4" y="0"/>
                </a:cxn>
                <a:cxn ang="0">
                  <a:pos x="3" y="0"/>
                </a:cxn>
                <a:cxn ang="0">
                  <a:pos x="2" y="0"/>
                </a:cxn>
                <a:cxn ang="0">
                  <a:pos x="1" y="1"/>
                </a:cxn>
                <a:cxn ang="0">
                  <a:pos x="0" y="3"/>
                </a:cxn>
                <a:cxn ang="0">
                  <a:pos x="0" y="4"/>
                </a:cxn>
                <a:cxn ang="0">
                  <a:pos x="0" y="5"/>
                </a:cxn>
              </a:cxnLst>
              <a:rect l="0" t="0" r="r" b="b"/>
              <a:pathLst>
                <a:path w="7" h="7">
                  <a:moveTo>
                    <a:pt x="0" y="5"/>
                  </a:moveTo>
                  <a:lnTo>
                    <a:pt x="1" y="5"/>
                  </a:lnTo>
                  <a:lnTo>
                    <a:pt x="2" y="6"/>
                  </a:lnTo>
                  <a:lnTo>
                    <a:pt x="3" y="7"/>
                  </a:lnTo>
                  <a:lnTo>
                    <a:pt x="3" y="7"/>
                  </a:lnTo>
                  <a:lnTo>
                    <a:pt x="4" y="6"/>
                  </a:lnTo>
                  <a:lnTo>
                    <a:pt x="6" y="5"/>
                  </a:lnTo>
                  <a:lnTo>
                    <a:pt x="7" y="4"/>
                  </a:lnTo>
                  <a:lnTo>
                    <a:pt x="7" y="4"/>
                  </a:lnTo>
                  <a:lnTo>
                    <a:pt x="7" y="3"/>
                  </a:lnTo>
                  <a:lnTo>
                    <a:pt x="7" y="1"/>
                  </a:lnTo>
                  <a:lnTo>
                    <a:pt x="6" y="0"/>
                  </a:lnTo>
                  <a:lnTo>
                    <a:pt x="4" y="0"/>
                  </a:lnTo>
                  <a:lnTo>
                    <a:pt x="3" y="0"/>
                  </a:lnTo>
                  <a:lnTo>
                    <a:pt x="2" y="0"/>
                  </a:lnTo>
                  <a:lnTo>
                    <a:pt x="1" y="1"/>
                  </a:lnTo>
                  <a:lnTo>
                    <a:pt x="0" y="3"/>
                  </a:lnTo>
                  <a:lnTo>
                    <a:pt x="0" y="4"/>
                  </a:lnTo>
                  <a:lnTo>
                    <a:pt x="0" y="5"/>
                  </a:lnTo>
                  <a:close/>
                </a:path>
              </a:pathLst>
            </a:custGeom>
            <a:solidFill>
              <a:srgbClr val="000000"/>
            </a:solidFill>
            <a:ln w="9525">
              <a:noFill/>
              <a:round/>
              <a:headEnd/>
              <a:tailEnd/>
            </a:ln>
          </p:spPr>
          <p:txBody>
            <a:bodyPr/>
            <a:lstStyle/>
            <a:p>
              <a:endParaRPr lang="en-US"/>
            </a:p>
          </p:txBody>
        </p:sp>
        <p:sp>
          <p:nvSpPr>
            <p:cNvPr id="327282" name="Freeform 626"/>
            <p:cNvSpPr>
              <a:spLocks/>
            </p:cNvSpPr>
            <p:nvPr/>
          </p:nvSpPr>
          <p:spPr bwMode="auto">
            <a:xfrm>
              <a:off x="4661" y="1089"/>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83" name="Freeform 627"/>
            <p:cNvSpPr>
              <a:spLocks/>
            </p:cNvSpPr>
            <p:nvPr/>
          </p:nvSpPr>
          <p:spPr bwMode="auto">
            <a:xfrm>
              <a:off x="4661" y="1076"/>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84" name="Freeform 628"/>
            <p:cNvSpPr>
              <a:spLocks/>
            </p:cNvSpPr>
            <p:nvPr/>
          </p:nvSpPr>
          <p:spPr bwMode="auto">
            <a:xfrm>
              <a:off x="4661" y="1064"/>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85" name="Freeform 629"/>
            <p:cNvSpPr>
              <a:spLocks/>
            </p:cNvSpPr>
            <p:nvPr/>
          </p:nvSpPr>
          <p:spPr bwMode="auto">
            <a:xfrm>
              <a:off x="4661" y="1051"/>
              <a:ext cx="7" cy="6"/>
            </a:xfrm>
            <a:custGeom>
              <a:avLst/>
              <a:gdLst/>
              <a:ahLst/>
              <a:cxnLst>
                <a:cxn ang="0">
                  <a:pos x="0" y="4"/>
                </a:cxn>
                <a:cxn ang="0">
                  <a:pos x="1" y="4"/>
                </a:cxn>
                <a:cxn ang="0">
                  <a:pos x="2" y="5"/>
                </a:cxn>
                <a:cxn ang="0">
                  <a:pos x="3" y="6"/>
                </a:cxn>
                <a:cxn ang="0">
                  <a:pos x="3" y="6"/>
                </a:cxn>
                <a:cxn ang="0">
                  <a:pos x="4" y="5"/>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6">
                  <a:moveTo>
                    <a:pt x="0" y="4"/>
                  </a:moveTo>
                  <a:lnTo>
                    <a:pt x="1" y="4"/>
                  </a:lnTo>
                  <a:lnTo>
                    <a:pt x="2" y="5"/>
                  </a:lnTo>
                  <a:lnTo>
                    <a:pt x="3" y="6"/>
                  </a:lnTo>
                  <a:lnTo>
                    <a:pt x="3" y="6"/>
                  </a:lnTo>
                  <a:lnTo>
                    <a:pt x="4" y="5"/>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86" name="Freeform 630"/>
            <p:cNvSpPr>
              <a:spLocks/>
            </p:cNvSpPr>
            <p:nvPr/>
          </p:nvSpPr>
          <p:spPr bwMode="auto">
            <a:xfrm>
              <a:off x="4661" y="1038"/>
              <a:ext cx="7" cy="7"/>
            </a:xfrm>
            <a:custGeom>
              <a:avLst/>
              <a:gdLst/>
              <a:ahLst/>
              <a:cxnLst>
                <a:cxn ang="0">
                  <a:pos x="0" y="4"/>
                </a:cxn>
                <a:cxn ang="0">
                  <a:pos x="1" y="4"/>
                </a:cxn>
                <a:cxn ang="0">
                  <a:pos x="2" y="6"/>
                </a:cxn>
                <a:cxn ang="0">
                  <a:pos x="3" y="7"/>
                </a:cxn>
                <a:cxn ang="0">
                  <a:pos x="3" y="7"/>
                </a:cxn>
                <a:cxn ang="0">
                  <a:pos x="4" y="6"/>
                </a:cxn>
                <a:cxn ang="0">
                  <a:pos x="6" y="4"/>
                </a:cxn>
                <a:cxn ang="0">
                  <a:pos x="7" y="3"/>
                </a:cxn>
                <a:cxn ang="0">
                  <a:pos x="7" y="3"/>
                </a:cxn>
                <a:cxn ang="0">
                  <a:pos x="7" y="2"/>
                </a:cxn>
                <a:cxn ang="0">
                  <a:pos x="7" y="1"/>
                </a:cxn>
                <a:cxn ang="0">
                  <a:pos x="6" y="0"/>
                </a:cxn>
                <a:cxn ang="0">
                  <a:pos x="4" y="0"/>
                </a:cxn>
                <a:cxn ang="0">
                  <a:pos x="3" y="0"/>
                </a:cxn>
                <a:cxn ang="0">
                  <a:pos x="2" y="0"/>
                </a:cxn>
                <a:cxn ang="0">
                  <a:pos x="1" y="1"/>
                </a:cxn>
                <a:cxn ang="0">
                  <a:pos x="0" y="2"/>
                </a:cxn>
                <a:cxn ang="0">
                  <a:pos x="0" y="3"/>
                </a:cxn>
                <a:cxn ang="0">
                  <a:pos x="0" y="4"/>
                </a:cxn>
              </a:cxnLst>
              <a:rect l="0" t="0" r="r" b="b"/>
              <a:pathLst>
                <a:path w="7" h="7">
                  <a:moveTo>
                    <a:pt x="0" y="4"/>
                  </a:moveTo>
                  <a:lnTo>
                    <a:pt x="1" y="4"/>
                  </a:lnTo>
                  <a:lnTo>
                    <a:pt x="2" y="6"/>
                  </a:lnTo>
                  <a:lnTo>
                    <a:pt x="3" y="7"/>
                  </a:lnTo>
                  <a:lnTo>
                    <a:pt x="3" y="7"/>
                  </a:lnTo>
                  <a:lnTo>
                    <a:pt x="4" y="6"/>
                  </a:lnTo>
                  <a:lnTo>
                    <a:pt x="6" y="4"/>
                  </a:lnTo>
                  <a:lnTo>
                    <a:pt x="7" y="3"/>
                  </a:lnTo>
                  <a:lnTo>
                    <a:pt x="7" y="3"/>
                  </a:lnTo>
                  <a:lnTo>
                    <a:pt x="7" y="2"/>
                  </a:lnTo>
                  <a:lnTo>
                    <a:pt x="7" y="1"/>
                  </a:lnTo>
                  <a:lnTo>
                    <a:pt x="6" y="0"/>
                  </a:lnTo>
                  <a:lnTo>
                    <a:pt x="4" y="0"/>
                  </a:lnTo>
                  <a:lnTo>
                    <a:pt x="3" y="0"/>
                  </a:lnTo>
                  <a:lnTo>
                    <a:pt x="2" y="0"/>
                  </a:lnTo>
                  <a:lnTo>
                    <a:pt x="1" y="1"/>
                  </a:lnTo>
                  <a:lnTo>
                    <a:pt x="0" y="2"/>
                  </a:lnTo>
                  <a:lnTo>
                    <a:pt x="0" y="3"/>
                  </a:lnTo>
                  <a:lnTo>
                    <a:pt x="0" y="4"/>
                  </a:lnTo>
                  <a:close/>
                </a:path>
              </a:pathLst>
            </a:custGeom>
            <a:solidFill>
              <a:srgbClr val="000000"/>
            </a:solidFill>
            <a:ln w="9525">
              <a:noFill/>
              <a:round/>
              <a:headEnd/>
              <a:tailEnd/>
            </a:ln>
          </p:spPr>
          <p:txBody>
            <a:bodyPr/>
            <a:lstStyle/>
            <a:p>
              <a:endParaRPr lang="en-US"/>
            </a:p>
          </p:txBody>
        </p:sp>
        <p:sp>
          <p:nvSpPr>
            <p:cNvPr id="327287" name="Freeform 631"/>
            <p:cNvSpPr>
              <a:spLocks/>
            </p:cNvSpPr>
            <p:nvPr/>
          </p:nvSpPr>
          <p:spPr bwMode="auto">
            <a:xfrm>
              <a:off x="4628" y="966"/>
              <a:ext cx="74" cy="69"/>
            </a:xfrm>
            <a:custGeom>
              <a:avLst/>
              <a:gdLst/>
              <a:ahLst/>
              <a:cxnLst>
                <a:cxn ang="0">
                  <a:pos x="74" y="69"/>
                </a:cxn>
                <a:cxn ang="0">
                  <a:pos x="37" y="0"/>
                </a:cxn>
                <a:cxn ang="0">
                  <a:pos x="0" y="69"/>
                </a:cxn>
                <a:cxn ang="0">
                  <a:pos x="74" y="69"/>
                </a:cxn>
              </a:cxnLst>
              <a:rect l="0" t="0" r="r" b="b"/>
              <a:pathLst>
                <a:path w="74" h="69">
                  <a:moveTo>
                    <a:pt x="74" y="69"/>
                  </a:moveTo>
                  <a:lnTo>
                    <a:pt x="37" y="0"/>
                  </a:lnTo>
                  <a:lnTo>
                    <a:pt x="0" y="69"/>
                  </a:lnTo>
                  <a:lnTo>
                    <a:pt x="74" y="69"/>
                  </a:lnTo>
                  <a:close/>
                </a:path>
              </a:pathLst>
            </a:custGeom>
            <a:solidFill>
              <a:srgbClr val="000000"/>
            </a:solidFill>
            <a:ln w="9525">
              <a:noFill/>
              <a:round/>
              <a:headEnd/>
              <a:tailEnd/>
            </a:ln>
          </p:spPr>
          <p:txBody>
            <a:bodyPr/>
            <a:lstStyle/>
            <a:p>
              <a:endParaRPr lang="en-US"/>
            </a:p>
          </p:txBody>
        </p:sp>
      </p:grpSp>
      <p:grpSp>
        <p:nvGrpSpPr>
          <p:cNvPr id="15" name="Group 632"/>
          <p:cNvGrpSpPr>
            <a:grpSpLocks/>
          </p:cNvGrpSpPr>
          <p:nvPr/>
        </p:nvGrpSpPr>
        <p:grpSpPr bwMode="auto">
          <a:xfrm>
            <a:off x="3317875" y="2630488"/>
            <a:ext cx="3338513" cy="544512"/>
            <a:chOff x="2090" y="1657"/>
            <a:chExt cx="2103" cy="343"/>
          </a:xfrm>
        </p:grpSpPr>
        <p:sp>
          <p:nvSpPr>
            <p:cNvPr id="327289" name="Freeform 633"/>
            <p:cNvSpPr>
              <a:spLocks/>
            </p:cNvSpPr>
            <p:nvPr/>
          </p:nvSpPr>
          <p:spPr bwMode="auto">
            <a:xfrm>
              <a:off x="4187" y="1657"/>
              <a:ext cx="6" cy="6"/>
            </a:xfrm>
            <a:custGeom>
              <a:avLst/>
              <a:gdLst/>
              <a:ahLst/>
              <a:cxnLst>
                <a:cxn ang="0">
                  <a:pos x="4" y="6"/>
                </a:cxn>
                <a:cxn ang="0">
                  <a:pos x="4" y="5"/>
                </a:cxn>
                <a:cxn ang="0">
                  <a:pos x="5" y="4"/>
                </a:cxn>
                <a:cxn ang="0">
                  <a:pos x="6" y="3"/>
                </a:cxn>
                <a:cxn ang="0">
                  <a:pos x="6" y="3"/>
                </a:cxn>
                <a:cxn ang="0">
                  <a:pos x="5" y="2"/>
                </a:cxn>
                <a:cxn ang="0">
                  <a:pos x="4" y="1"/>
                </a:cxn>
                <a:cxn ang="0">
                  <a:pos x="3" y="0"/>
                </a:cxn>
                <a:cxn ang="0">
                  <a:pos x="3" y="0"/>
                </a:cxn>
                <a:cxn ang="0">
                  <a:pos x="2" y="0"/>
                </a:cxn>
                <a:cxn ang="0">
                  <a:pos x="1" y="1"/>
                </a:cxn>
                <a:cxn ang="0">
                  <a:pos x="0" y="2"/>
                </a:cxn>
                <a:cxn ang="0">
                  <a:pos x="0" y="3"/>
                </a:cxn>
                <a:cxn ang="0">
                  <a:pos x="0" y="4"/>
                </a:cxn>
                <a:cxn ang="0">
                  <a:pos x="0" y="5"/>
                </a:cxn>
                <a:cxn ang="0">
                  <a:pos x="1" y="6"/>
                </a:cxn>
                <a:cxn ang="0">
                  <a:pos x="2" y="6"/>
                </a:cxn>
                <a:cxn ang="0">
                  <a:pos x="3" y="6"/>
                </a:cxn>
                <a:cxn ang="0">
                  <a:pos x="4" y="6"/>
                </a:cxn>
              </a:cxnLst>
              <a:rect l="0" t="0" r="r" b="b"/>
              <a:pathLst>
                <a:path w="6" h="6">
                  <a:moveTo>
                    <a:pt x="4" y="6"/>
                  </a:moveTo>
                  <a:lnTo>
                    <a:pt x="4" y="5"/>
                  </a:lnTo>
                  <a:lnTo>
                    <a:pt x="5" y="4"/>
                  </a:lnTo>
                  <a:lnTo>
                    <a:pt x="6" y="3"/>
                  </a:lnTo>
                  <a:lnTo>
                    <a:pt x="6" y="3"/>
                  </a:lnTo>
                  <a:lnTo>
                    <a:pt x="5" y="2"/>
                  </a:lnTo>
                  <a:lnTo>
                    <a:pt x="4" y="1"/>
                  </a:lnTo>
                  <a:lnTo>
                    <a:pt x="3" y="0"/>
                  </a:lnTo>
                  <a:lnTo>
                    <a:pt x="3" y="0"/>
                  </a:lnTo>
                  <a:lnTo>
                    <a:pt x="2" y="0"/>
                  </a:lnTo>
                  <a:lnTo>
                    <a:pt x="1" y="1"/>
                  </a:lnTo>
                  <a:lnTo>
                    <a:pt x="0" y="2"/>
                  </a:lnTo>
                  <a:lnTo>
                    <a:pt x="0" y="3"/>
                  </a:lnTo>
                  <a:lnTo>
                    <a:pt x="0" y="4"/>
                  </a:lnTo>
                  <a:lnTo>
                    <a:pt x="0" y="5"/>
                  </a:lnTo>
                  <a:lnTo>
                    <a:pt x="1" y="6"/>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290" name="Freeform 634"/>
            <p:cNvSpPr>
              <a:spLocks/>
            </p:cNvSpPr>
            <p:nvPr/>
          </p:nvSpPr>
          <p:spPr bwMode="auto">
            <a:xfrm>
              <a:off x="4173" y="1659"/>
              <a:ext cx="7" cy="6"/>
            </a:xfrm>
            <a:custGeom>
              <a:avLst/>
              <a:gdLst/>
              <a:ahLst/>
              <a:cxnLst>
                <a:cxn ang="0">
                  <a:pos x="5" y="6"/>
                </a:cxn>
                <a:cxn ang="0">
                  <a:pos x="6" y="5"/>
                </a:cxn>
                <a:cxn ang="0">
                  <a:pos x="7" y="4"/>
                </a:cxn>
                <a:cxn ang="0">
                  <a:pos x="7" y="3"/>
                </a:cxn>
                <a:cxn ang="0">
                  <a:pos x="7" y="2"/>
                </a:cxn>
                <a:cxn ang="0">
                  <a:pos x="7" y="1"/>
                </a:cxn>
                <a:cxn ang="0">
                  <a:pos x="6" y="0"/>
                </a:cxn>
                <a:cxn ang="0">
                  <a:pos x="5" y="0"/>
                </a:cxn>
                <a:cxn ang="0">
                  <a:pos x="3" y="0"/>
                </a:cxn>
                <a:cxn ang="0">
                  <a:pos x="3" y="0"/>
                </a:cxn>
                <a:cxn ang="0">
                  <a:pos x="2" y="0"/>
                </a:cxn>
                <a:cxn ang="0">
                  <a:pos x="1" y="1"/>
                </a:cxn>
                <a:cxn ang="0">
                  <a:pos x="0" y="2"/>
                </a:cxn>
                <a:cxn ang="0">
                  <a:pos x="0" y="3"/>
                </a:cxn>
                <a:cxn ang="0">
                  <a:pos x="1" y="4"/>
                </a:cxn>
                <a:cxn ang="0">
                  <a:pos x="2" y="5"/>
                </a:cxn>
                <a:cxn ang="0">
                  <a:pos x="3" y="6"/>
                </a:cxn>
                <a:cxn ang="0">
                  <a:pos x="5" y="6"/>
                </a:cxn>
              </a:cxnLst>
              <a:rect l="0" t="0" r="r" b="b"/>
              <a:pathLst>
                <a:path w="7" h="6">
                  <a:moveTo>
                    <a:pt x="5" y="6"/>
                  </a:moveTo>
                  <a:lnTo>
                    <a:pt x="6" y="5"/>
                  </a:lnTo>
                  <a:lnTo>
                    <a:pt x="7" y="4"/>
                  </a:lnTo>
                  <a:lnTo>
                    <a:pt x="7" y="3"/>
                  </a:lnTo>
                  <a:lnTo>
                    <a:pt x="7" y="2"/>
                  </a:lnTo>
                  <a:lnTo>
                    <a:pt x="7" y="1"/>
                  </a:lnTo>
                  <a:lnTo>
                    <a:pt x="6" y="0"/>
                  </a:lnTo>
                  <a:lnTo>
                    <a:pt x="5" y="0"/>
                  </a:lnTo>
                  <a:lnTo>
                    <a:pt x="3" y="0"/>
                  </a:lnTo>
                  <a:lnTo>
                    <a:pt x="3" y="0"/>
                  </a:lnTo>
                  <a:lnTo>
                    <a:pt x="2" y="0"/>
                  </a:lnTo>
                  <a:lnTo>
                    <a:pt x="1" y="1"/>
                  </a:lnTo>
                  <a:lnTo>
                    <a:pt x="0" y="2"/>
                  </a:lnTo>
                  <a:lnTo>
                    <a:pt x="0" y="3"/>
                  </a:lnTo>
                  <a:lnTo>
                    <a:pt x="1" y="4"/>
                  </a:lnTo>
                  <a:lnTo>
                    <a:pt x="2" y="5"/>
                  </a:lnTo>
                  <a:lnTo>
                    <a:pt x="3" y="6"/>
                  </a:lnTo>
                  <a:lnTo>
                    <a:pt x="5" y="6"/>
                  </a:lnTo>
                  <a:close/>
                </a:path>
              </a:pathLst>
            </a:custGeom>
            <a:solidFill>
              <a:srgbClr val="000000"/>
            </a:solidFill>
            <a:ln w="9525">
              <a:noFill/>
              <a:round/>
              <a:headEnd/>
              <a:tailEnd/>
            </a:ln>
          </p:spPr>
          <p:txBody>
            <a:bodyPr/>
            <a:lstStyle/>
            <a:p>
              <a:endParaRPr lang="en-US"/>
            </a:p>
          </p:txBody>
        </p:sp>
        <p:sp>
          <p:nvSpPr>
            <p:cNvPr id="327291" name="Freeform 635"/>
            <p:cNvSpPr>
              <a:spLocks/>
            </p:cNvSpPr>
            <p:nvPr/>
          </p:nvSpPr>
          <p:spPr bwMode="auto">
            <a:xfrm>
              <a:off x="4159" y="1661"/>
              <a:ext cx="7" cy="7"/>
            </a:xfrm>
            <a:custGeom>
              <a:avLst/>
              <a:gdLst/>
              <a:ahLst/>
              <a:cxnLst>
                <a:cxn ang="0">
                  <a:pos x="5" y="7"/>
                </a:cxn>
                <a:cxn ang="0">
                  <a:pos x="6" y="5"/>
                </a:cxn>
                <a:cxn ang="0">
                  <a:pos x="7" y="4"/>
                </a:cxn>
                <a:cxn ang="0">
                  <a:pos x="7" y="3"/>
                </a:cxn>
                <a:cxn ang="0">
                  <a:pos x="7" y="2"/>
                </a:cxn>
                <a:cxn ang="0">
                  <a:pos x="7" y="1"/>
                </a:cxn>
                <a:cxn ang="0">
                  <a:pos x="6" y="0"/>
                </a:cxn>
                <a:cxn ang="0">
                  <a:pos x="5" y="0"/>
                </a:cxn>
                <a:cxn ang="0">
                  <a:pos x="4" y="0"/>
                </a:cxn>
                <a:cxn ang="0">
                  <a:pos x="4" y="0"/>
                </a:cxn>
                <a:cxn ang="0">
                  <a:pos x="3" y="0"/>
                </a:cxn>
                <a:cxn ang="0">
                  <a:pos x="2" y="1"/>
                </a:cxn>
                <a:cxn ang="0">
                  <a:pos x="0" y="2"/>
                </a:cxn>
                <a:cxn ang="0">
                  <a:pos x="0" y="3"/>
                </a:cxn>
                <a:cxn ang="0">
                  <a:pos x="2" y="4"/>
                </a:cxn>
                <a:cxn ang="0">
                  <a:pos x="3" y="5"/>
                </a:cxn>
                <a:cxn ang="0">
                  <a:pos x="4" y="7"/>
                </a:cxn>
                <a:cxn ang="0">
                  <a:pos x="5" y="7"/>
                </a:cxn>
              </a:cxnLst>
              <a:rect l="0" t="0" r="r" b="b"/>
              <a:pathLst>
                <a:path w="7" h="7">
                  <a:moveTo>
                    <a:pt x="5" y="7"/>
                  </a:moveTo>
                  <a:lnTo>
                    <a:pt x="6" y="5"/>
                  </a:lnTo>
                  <a:lnTo>
                    <a:pt x="7" y="4"/>
                  </a:lnTo>
                  <a:lnTo>
                    <a:pt x="7" y="3"/>
                  </a:lnTo>
                  <a:lnTo>
                    <a:pt x="7" y="2"/>
                  </a:lnTo>
                  <a:lnTo>
                    <a:pt x="7" y="1"/>
                  </a:lnTo>
                  <a:lnTo>
                    <a:pt x="6" y="0"/>
                  </a:lnTo>
                  <a:lnTo>
                    <a:pt x="5" y="0"/>
                  </a:lnTo>
                  <a:lnTo>
                    <a:pt x="4" y="0"/>
                  </a:lnTo>
                  <a:lnTo>
                    <a:pt x="4" y="0"/>
                  </a:lnTo>
                  <a:lnTo>
                    <a:pt x="3" y="0"/>
                  </a:lnTo>
                  <a:lnTo>
                    <a:pt x="2" y="1"/>
                  </a:lnTo>
                  <a:lnTo>
                    <a:pt x="0" y="2"/>
                  </a:lnTo>
                  <a:lnTo>
                    <a:pt x="0" y="3"/>
                  </a:lnTo>
                  <a:lnTo>
                    <a:pt x="2" y="4"/>
                  </a:lnTo>
                  <a:lnTo>
                    <a:pt x="3" y="5"/>
                  </a:lnTo>
                  <a:lnTo>
                    <a:pt x="4" y="7"/>
                  </a:lnTo>
                  <a:lnTo>
                    <a:pt x="5" y="7"/>
                  </a:lnTo>
                  <a:close/>
                </a:path>
              </a:pathLst>
            </a:custGeom>
            <a:solidFill>
              <a:srgbClr val="000000"/>
            </a:solidFill>
            <a:ln w="9525">
              <a:noFill/>
              <a:round/>
              <a:headEnd/>
              <a:tailEnd/>
            </a:ln>
          </p:spPr>
          <p:txBody>
            <a:bodyPr/>
            <a:lstStyle/>
            <a:p>
              <a:endParaRPr lang="en-US"/>
            </a:p>
          </p:txBody>
        </p:sp>
        <p:sp>
          <p:nvSpPr>
            <p:cNvPr id="327292" name="Freeform 636"/>
            <p:cNvSpPr>
              <a:spLocks/>
            </p:cNvSpPr>
            <p:nvPr/>
          </p:nvSpPr>
          <p:spPr bwMode="auto">
            <a:xfrm>
              <a:off x="4146" y="1663"/>
              <a:ext cx="7" cy="7"/>
            </a:xfrm>
            <a:custGeom>
              <a:avLst/>
              <a:gdLst/>
              <a:ahLst/>
              <a:cxnLst>
                <a:cxn ang="0">
                  <a:pos x="4" y="7"/>
                </a:cxn>
                <a:cxn ang="0">
                  <a:pos x="6" y="6"/>
                </a:cxn>
                <a:cxn ang="0">
                  <a:pos x="7" y="5"/>
                </a:cxn>
                <a:cxn ang="0">
                  <a:pos x="7" y="3"/>
                </a:cxn>
                <a:cxn ang="0">
                  <a:pos x="7" y="2"/>
                </a:cxn>
                <a:cxn ang="0">
                  <a:pos x="7" y="1"/>
                </a:cxn>
                <a:cxn ang="0">
                  <a:pos x="6" y="0"/>
                </a:cxn>
                <a:cxn ang="0">
                  <a:pos x="4" y="0"/>
                </a:cxn>
                <a:cxn ang="0">
                  <a:pos x="3" y="0"/>
                </a:cxn>
                <a:cxn ang="0">
                  <a:pos x="3" y="0"/>
                </a:cxn>
                <a:cxn ang="0">
                  <a:pos x="2" y="0"/>
                </a:cxn>
                <a:cxn ang="0">
                  <a:pos x="1" y="1"/>
                </a:cxn>
                <a:cxn ang="0">
                  <a:pos x="0" y="2"/>
                </a:cxn>
                <a:cxn ang="0">
                  <a:pos x="0" y="3"/>
                </a:cxn>
                <a:cxn ang="0">
                  <a:pos x="1" y="5"/>
                </a:cxn>
                <a:cxn ang="0">
                  <a:pos x="2" y="6"/>
                </a:cxn>
                <a:cxn ang="0">
                  <a:pos x="3" y="7"/>
                </a:cxn>
                <a:cxn ang="0">
                  <a:pos x="4" y="7"/>
                </a:cxn>
              </a:cxnLst>
              <a:rect l="0" t="0" r="r" b="b"/>
              <a:pathLst>
                <a:path w="7" h="7">
                  <a:moveTo>
                    <a:pt x="4" y="7"/>
                  </a:moveTo>
                  <a:lnTo>
                    <a:pt x="6" y="6"/>
                  </a:lnTo>
                  <a:lnTo>
                    <a:pt x="7" y="5"/>
                  </a:lnTo>
                  <a:lnTo>
                    <a:pt x="7" y="3"/>
                  </a:lnTo>
                  <a:lnTo>
                    <a:pt x="7" y="2"/>
                  </a:lnTo>
                  <a:lnTo>
                    <a:pt x="7" y="1"/>
                  </a:lnTo>
                  <a:lnTo>
                    <a:pt x="6" y="0"/>
                  </a:lnTo>
                  <a:lnTo>
                    <a:pt x="4" y="0"/>
                  </a:lnTo>
                  <a:lnTo>
                    <a:pt x="3" y="0"/>
                  </a:lnTo>
                  <a:lnTo>
                    <a:pt x="3" y="0"/>
                  </a:lnTo>
                  <a:lnTo>
                    <a:pt x="2" y="0"/>
                  </a:lnTo>
                  <a:lnTo>
                    <a:pt x="1" y="1"/>
                  </a:lnTo>
                  <a:lnTo>
                    <a:pt x="0" y="2"/>
                  </a:lnTo>
                  <a:lnTo>
                    <a:pt x="0" y="3"/>
                  </a:lnTo>
                  <a:lnTo>
                    <a:pt x="1" y="5"/>
                  </a:lnTo>
                  <a:lnTo>
                    <a:pt x="2" y="6"/>
                  </a:lnTo>
                  <a:lnTo>
                    <a:pt x="3" y="7"/>
                  </a:lnTo>
                  <a:lnTo>
                    <a:pt x="4" y="7"/>
                  </a:lnTo>
                  <a:close/>
                </a:path>
              </a:pathLst>
            </a:custGeom>
            <a:solidFill>
              <a:srgbClr val="000000"/>
            </a:solidFill>
            <a:ln w="9525">
              <a:noFill/>
              <a:round/>
              <a:headEnd/>
              <a:tailEnd/>
            </a:ln>
          </p:spPr>
          <p:txBody>
            <a:bodyPr/>
            <a:lstStyle/>
            <a:p>
              <a:endParaRPr lang="en-US"/>
            </a:p>
          </p:txBody>
        </p:sp>
        <p:sp>
          <p:nvSpPr>
            <p:cNvPr id="327293" name="Freeform 637"/>
            <p:cNvSpPr>
              <a:spLocks/>
            </p:cNvSpPr>
            <p:nvPr/>
          </p:nvSpPr>
          <p:spPr bwMode="auto">
            <a:xfrm>
              <a:off x="4133" y="1665"/>
              <a:ext cx="7" cy="7"/>
            </a:xfrm>
            <a:custGeom>
              <a:avLst/>
              <a:gdLst/>
              <a:ahLst/>
              <a:cxnLst>
                <a:cxn ang="0">
                  <a:pos x="4" y="7"/>
                </a:cxn>
                <a:cxn ang="0">
                  <a:pos x="5" y="6"/>
                </a:cxn>
                <a:cxn ang="0">
                  <a:pos x="6" y="5"/>
                </a:cxn>
                <a:cxn ang="0">
                  <a:pos x="7" y="4"/>
                </a:cxn>
                <a:cxn ang="0">
                  <a:pos x="7" y="3"/>
                </a:cxn>
                <a:cxn ang="0">
                  <a:pos x="6" y="1"/>
                </a:cxn>
                <a:cxn ang="0">
                  <a:pos x="5" y="0"/>
                </a:cxn>
                <a:cxn ang="0">
                  <a:pos x="4" y="0"/>
                </a:cxn>
                <a:cxn ang="0">
                  <a:pos x="3" y="0"/>
                </a:cxn>
                <a:cxn ang="0">
                  <a:pos x="3" y="0"/>
                </a:cxn>
                <a:cxn ang="0">
                  <a:pos x="2" y="0"/>
                </a:cxn>
                <a:cxn ang="0">
                  <a:pos x="0" y="1"/>
                </a:cxn>
                <a:cxn ang="0">
                  <a:pos x="0" y="3"/>
                </a:cxn>
                <a:cxn ang="0">
                  <a:pos x="0" y="4"/>
                </a:cxn>
                <a:cxn ang="0">
                  <a:pos x="0" y="5"/>
                </a:cxn>
                <a:cxn ang="0">
                  <a:pos x="2" y="6"/>
                </a:cxn>
                <a:cxn ang="0">
                  <a:pos x="3" y="7"/>
                </a:cxn>
                <a:cxn ang="0">
                  <a:pos x="4" y="7"/>
                </a:cxn>
              </a:cxnLst>
              <a:rect l="0" t="0" r="r" b="b"/>
              <a:pathLst>
                <a:path w="7" h="7">
                  <a:moveTo>
                    <a:pt x="4" y="7"/>
                  </a:moveTo>
                  <a:lnTo>
                    <a:pt x="5" y="6"/>
                  </a:lnTo>
                  <a:lnTo>
                    <a:pt x="6" y="5"/>
                  </a:lnTo>
                  <a:lnTo>
                    <a:pt x="7" y="4"/>
                  </a:lnTo>
                  <a:lnTo>
                    <a:pt x="7" y="3"/>
                  </a:lnTo>
                  <a:lnTo>
                    <a:pt x="6" y="1"/>
                  </a:lnTo>
                  <a:lnTo>
                    <a:pt x="5" y="0"/>
                  </a:lnTo>
                  <a:lnTo>
                    <a:pt x="4" y="0"/>
                  </a:lnTo>
                  <a:lnTo>
                    <a:pt x="3" y="0"/>
                  </a:lnTo>
                  <a:lnTo>
                    <a:pt x="3" y="0"/>
                  </a:lnTo>
                  <a:lnTo>
                    <a:pt x="2" y="0"/>
                  </a:lnTo>
                  <a:lnTo>
                    <a:pt x="0" y="1"/>
                  </a:lnTo>
                  <a:lnTo>
                    <a:pt x="0" y="3"/>
                  </a:lnTo>
                  <a:lnTo>
                    <a:pt x="0" y="4"/>
                  </a:lnTo>
                  <a:lnTo>
                    <a:pt x="0" y="5"/>
                  </a:lnTo>
                  <a:lnTo>
                    <a:pt x="2" y="6"/>
                  </a:lnTo>
                  <a:lnTo>
                    <a:pt x="3" y="7"/>
                  </a:lnTo>
                  <a:lnTo>
                    <a:pt x="4" y="7"/>
                  </a:lnTo>
                  <a:close/>
                </a:path>
              </a:pathLst>
            </a:custGeom>
            <a:solidFill>
              <a:srgbClr val="000000"/>
            </a:solidFill>
            <a:ln w="9525">
              <a:noFill/>
              <a:round/>
              <a:headEnd/>
              <a:tailEnd/>
            </a:ln>
          </p:spPr>
          <p:txBody>
            <a:bodyPr/>
            <a:lstStyle/>
            <a:p>
              <a:endParaRPr lang="en-US"/>
            </a:p>
          </p:txBody>
        </p:sp>
        <p:sp>
          <p:nvSpPr>
            <p:cNvPr id="327294" name="Freeform 638"/>
            <p:cNvSpPr>
              <a:spLocks/>
            </p:cNvSpPr>
            <p:nvPr/>
          </p:nvSpPr>
          <p:spPr bwMode="auto">
            <a:xfrm>
              <a:off x="4120" y="1668"/>
              <a:ext cx="7" cy="6"/>
            </a:xfrm>
            <a:custGeom>
              <a:avLst/>
              <a:gdLst/>
              <a:ahLst/>
              <a:cxnLst>
                <a:cxn ang="0">
                  <a:pos x="3" y="6"/>
                </a:cxn>
                <a:cxn ang="0">
                  <a:pos x="4" y="5"/>
                </a:cxn>
                <a:cxn ang="0">
                  <a:pos x="6" y="4"/>
                </a:cxn>
                <a:cxn ang="0">
                  <a:pos x="7" y="3"/>
                </a:cxn>
                <a:cxn ang="0">
                  <a:pos x="7" y="2"/>
                </a:cxn>
                <a:cxn ang="0">
                  <a:pos x="6" y="1"/>
                </a:cxn>
                <a:cxn ang="0">
                  <a:pos x="4" y="0"/>
                </a:cxn>
                <a:cxn ang="0">
                  <a:pos x="3" y="0"/>
                </a:cxn>
                <a:cxn ang="0">
                  <a:pos x="2" y="0"/>
                </a:cxn>
                <a:cxn ang="0">
                  <a:pos x="2" y="0"/>
                </a:cxn>
                <a:cxn ang="0">
                  <a:pos x="1" y="0"/>
                </a:cxn>
                <a:cxn ang="0">
                  <a:pos x="0" y="1"/>
                </a:cxn>
                <a:cxn ang="0">
                  <a:pos x="0" y="2"/>
                </a:cxn>
                <a:cxn ang="0">
                  <a:pos x="0" y="3"/>
                </a:cxn>
                <a:cxn ang="0">
                  <a:pos x="0" y="4"/>
                </a:cxn>
                <a:cxn ang="0">
                  <a:pos x="1" y="5"/>
                </a:cxn>
                <a:cxn ang="0">
                  <a:pos x="2" y="6"/>
                </a:cxn>
                <a:cxn ang="0">
                  <a:pos x="3" y="6"/>
                </a:cxn>
              </a:cxnLst>
              <a:rect l="0" t="0" r="r" b="b"/>
              <a:pathLst>
                <a:path w="7" h="6">
                  <a:moveTo>
                    <a:pt x="3" y="6"/>
                  </a:moveTo>
                  <a:lnTo>
                    <a:pt x="4" y="5"/>
                  </a:lnTo>
                  <a:lnTo>
                    <a:pt x="6" y="4"/>
                  </a:lnTo>
                  <a:lnTo>
                    <a:pt x="7" y="3"/>
                  </a:lnTo>
                  <a:lnTo>
                    <a:pt x="7" y="2"/>
                  </a:lnTo>
                  <a:lnTo>
                    <a:pt x="6" y="1"/>
                  </a:lnTo>
                  <a:lnTo>
                    <a:pt x="4" y="0"/>
                  </a:lnTo>
                  <a:lnTo>
                    <a:pt x="3" y="0"/>
                  </a:lnTo>
                  <a:lnTo>
                    <a:pt x="2" y="0"/>
                  </a:lnTo>
                  <a:lnTo>
                    <a:pt x="2" y="0"/>
                  </a:lnTo>
                  <a:lnTo>
                    <a:pt x="1" y="0"/>
                  </a:lnTo>
                  <a:lnTo>
                    <a:pt x="0" y="1"/>
                  </a:lnTo>
                  <a:lnTo>
                    <a:pt x="0" y="2"/>
                  </a:lnTo>
                  <a:lnTo>
                    <a:pt x="0" y="3"/>
                  </a:lnTo>
                  <a:lnTo>
                    <a:pt x="0" y="4"/>
                  </a:lnTo>
                  <a:lnTo>
                    <a:pt x="1" y="5"/>
                  </a:lnTo>
                  <a:lnTo>
                    <a:pt x="2" y="6"/>
                  </a:lnTo>
                  <a:lnTo>
                    <a:pt x="3" y="6"/>
                  </a:lnTo>
                  <a:close/>
                </a:path>
              </a:pathLst>
            </a:custGeom>
            <a:solidFill>
              <a:srgbClr val="000000"/>
            </a:solidFill>
            <a:ln w="9525">
              <a:noFill/>
              <a:round/>
              <a:headEnd/>
              <a:tailEnd/>
            </a:ln>
          </p:spPr>
          <p:txBody>
            <a:bodyPr/>
            <a:lstStyle/>
            <a:p>
              <a:endParaRPr lang="en-US"/>
            </a:p>
          </p:txBody>
        </p:sp>
        <p:sp>
          <p:nvSpPr>
            <p:cNvPr id="327295" name="Freeform 639"/>
            <p:cNvSpPr>
              <a:spLocks/>
            </p:cNvSpPr>
            <p:nvPr/>
          </p:nvSpPr>
          <p:spPr bwMode="auto">
            <a:xfrm>
              <a:off x="4106" y="1669"/>
              <a:ext cx="7" cy="6"/>
            </a:xfrm>
            <a:custGeom>
              <a:avLst/>
              <a:gdLst/>
              <a:ahLst/>
              <a:cxnLst>
                <a:cxn ang="0">
                  <a:pos x="4" y="6"/>
                </a:cxn>
                <a:cxn ang="0">
                  <a:pos x="5" y="6"/>
                </a:cxn>
                <a:cxn ang="0">
                  <a:pos x="6" y="5"/>
                </a:cxn>
                <a:cxn ang="0">
                  <a:pos x="7" y="4"/>
                </a:cxn>
                <a:cxn ang="0">
                  <a:pos x="7" y="3"/>
                </a:cxn>
                <a:cxn ang="0">
                  <a:pos x="6" y="2"/>
                </a:cxn>
                <a:cxn ang="0">
                  <a:pos x="5" y="1"/>
                </a:cxn>
                <a:cxn ang="0">
                  <a:pos x="4" y="0"/>
                </a:cxn>
                <a:cxn ang="0">
                  <a:pos x="3" y="0"/>
                </a:cxn>
                <a:cxn ang="0">
                  <a:pos x="3" y="0"/>
                </a:cxn>
                <a:cxn ang="0">
                  <a:pos x="1" y="1"/>
                </a:cxn>
                <a:cxn ang="0">
                  <a:pos x="0" y="2"/>
                </a:cxn>
                <a:cxn ang="0">
                  <a:pos x="0" y="3"/>
                </a:cxn>
                <a:cxn ang="0">
                  <a:pos x="0" y="4"/>
                </a:cxn>
                <a:cxn ang="0">
                  <a:pos x="0" y="5"/>
                </a:cxn>
                <a:cxn ang="0">
                  <a:pos x="1" y="6"/>
                </a:cxn>
                <a:cxn ang="0">
                  <a:pos x="3" y="6"/>
                </a:cxn>
                <a:cxn ang="0">
                  <a:pos x="4" y="6"/>
                </a:cxn>
              </a:cxnLst>
              <a:rect l="0" t="0" r="r" b="b"/>
              <a:pathLst>
                <a:path w="7" h="6">
                  <a:moveTo>
                    <a:pt x="4" y="6"/>
                  </a:moveTo>
                  <a:lnTo>
                    <a:pt x="5" y="6"/>
                  </a:lnTo>
                  <a:lnTo>
                    <a:pt x="6" y="5"/>
                  </a:lnTo>
                  <a:lnTo>
                    <a:pt x="7" y="4"/>
                  </a:lnTo>
                  <a:lnTo>
                    <a:pt x="7" y="3"/>
                  </a:lnTo>
                  <a:lnTo>
                    <a:pt x="6" y="2"/>
                  </a:lnTo>
                  <a:lnTo>
                    <a:pt x="5" y="1"/>
                  </a:lnTo>
                  <a:lnTo>
                    <a:pt x="4" y="0"/>
                  </a:lnTo>
                  <a:lnTo>
                    <a:pt x="3" y="0"/>
                  </a:lnTo>
                  <a:lnTo>
                    <a:pt x="3" y="0"/>
                  </a:lnTo>
                  <a:lnTo>
                    <a:pt x="1" y="1"/>
                  </a:lnTo>
                  <a:lnTo>
                    <a:pt x="0" y="2"/>
                  </a:lnTo>
                  <a:lnTo>
                    <a:pt x="0" y="3"/>
                  </a:lnTo>
                  <a:lnTo>
                    <a:pt x="0" y="4"/>
                  </a:lnTo>
                  <a:lnTo>
                    <a:pt x="0" y="5"/>
                  </a:lnTo>
                  <a:lnTo>
                    <a:pt x="1" y="6"/>
                  </a:lnTo>
                  <a:lnTo>
                    <a:pt x="3" y="6"/>
                  </a:lnTo>
                  <a:lnTo>
                    <a:pt x="4" y="6"/>
                  </a:lnTo>
                  <a:close/>
                </a:path>
              </a:pathLst>
            </a:custGeom>
            <a:solidFill>
              <a:srgbClr val="000000"/>
            </a:solidFill>
            <a:ln w="9525">
              <a:noFill/>
              <a:round/>
              <a:headEnd/>
              <a:tailEnd/>
            </a:ln>
          </p:spPr>
          <p:txBody>
            <a:bodyPr/>
            <a:lstStyle/>
            <a:p>
              <a:endParaRPr lang="en-US"/>
            </a:p>
          </p:txBody>
        </p:sp>
        <p:sp>
          <p:nvSpPr>
            <p:cNvPr id="327296" name="Freeform 640"/>
            <p:cNvSpPr>
              <a:spLocks/>
            </p:cNvSpPr>
            <p:nvPr/>
          </p:nvSpPr>
          <p:spPr bwMode="auto">
            <a:xfrm>
              <a:off x="4093" y="1671"/>
              <a:ext cx="7" cy="6"/>
            </a:xfrm>
            <a:custGeom>
              <a:avLst/>
              <a:gdLst/>
              <a:ahLst/>
              <a:cxnLst>
                <a:cxn ang="0">
                  <a:pos x="4" y="6"/>
                </a:cxn>
                <a:cxn ang="0">
                  <a:pos x="5" y="6"/>
                </a:cxn>
                <a:cxn ang="0">
                  <a:pos x="7" y="5"/>
                </a:cxn>
                <a:cxn ang="0">
                  <a:pos x="7" y="4"/>
                </a:cxn>
                <a:cxn ang="0">
                  <a:pos x="7" y="3"/>
                </a:cxn>
                <a:cxn ang="0">
                  <a:pos x="7" y="2"/>
                </a:cxn>
                <a:cxn ang="0">
                  <a:pos x="5" y="1"/>
                </a:cxn>
                <a:cxn ang="0">
                  <a:pos x="4" y="0"/>
                </a:cxn>
                <a:cxn ang="0">
                  <a:pos x="3" y="0"/>
                </a:cxn>
                <a:cxn ang="0">
                  <a:pos x="3" y="0"/>
                </a:cxn>
                <a:cxn ang="0">
                  <a:pos x="2" y="1"/>
                </a:cxn>
                <a:cxn ang="0">
                  <a:pos x="1" y="2"/>
                </a:cxn>
                <a:cxn ang="0">
                  <a:pos x="0" y="3"/>
                </a:cxn>
                <a:cxn ang="0">
                  <a:pos x="0" y="4"/>
                </a:cxn>
                <a:cxn ang="0">
                  <a:pos x="1" y="5"/>
                </a:cxn>
                <a:cxn ang="0">
                  <a:pos x="2" y="6"/>
                </a:cxn>
                <a:cxn ang="0">
                  <a:pos x="3" y="6"/>
                </a:cxn>
                <a:cxn ang="0">
                  <a:pos x="4" y="6"/>
                </a:cxn>
              </a:cxnLst>
              <a:rect l="0" t="0" r="r" b="b"/>
              <a:pathLst>
                <a:path w="7" h="6">
                  <a:moveTo>
                    <a:pt x="4" y="6"/>
                  </a:moveTo>
                  <a:lnTo>
                    <a:pt x="5" y="6"/>
                  </a:lnTo>
                  <a:lnTo>
                    <a:pt x="7" y="5"/>
                  </a:lnTo>
                  <a:lnTo>
                    <a:pt x="7" y="4"/>
                  </a:lnTo>
                  <a:lnTo>
                    <a:pt x="7" y="3"/>
                  </a:lnTo>
                  <a:lnTo>
                    <a:pt x="7" y="2"/>
                  </a:lnTo>
                  <a:lnTo>
                    <a:pt x="5" y="1"/>
                  </a:lnTo>
                  <a:lnTo>
                    <a:pt x="4" y="0"/>
                  </a:lnTo>
                  <a:lnTo>
                    <a:pt x="3" y="0"/>
                  </a:lnTo>
                  <a:lnTo>
                    <a:pt x="3" y="0"/>
                  </a:lnTo>
                  <a:lnTo>
                    <a:pt x="2" y="1"/>
                  </a:lnTo>
                  <a:lnTo>
                    <a:pt x="1" y="2"/>
                  </a:lnTo>
                  <a:lnTo>
                    <a:pt x="0" y="3"/>
                  </a:lnTo>
                  <a:lnTo>
                    <a:pt x="0" y="4"/>
                  </a:lnTo>
                  <a:lnTo>
                    <a:pt x="1" y="5"/>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297" name="Freeform 641"/>
            <p:cNvSpPr>
              <a:spLocks/>
            </p:cNvSpPr>
            <p:nvPr/>
          </p:nvSpPr>
          <p:spPr bwMode="auto">
            <a:xfrm>
              <a:off x="4079" y="1673"/>
              <a:ext cx="7" cy="6"/>
            </a:xfrm>
            <a:custGeom>
              <a:avLst/>
              <a:gdLst/>
              <a:ahLst/>
              <a:cxnLst>
                <a:cxn ang="0">
                  <a:pos x="5" y="6"/>
                </a:cxn>
                <a:cxn ang="0">
                  <a:pos x="6" y="6"/>
                </a:cxn>
                <a:cxn ang="0">
                  <a:pos x="7" y="5"/>
                </a:cxn>
                <a:cxn ang="0">
                  <a:pos x="7" y="4"/>
                </a:cxn>
                <a:cxn ang="0">
                  <a:pos x="7" y="3"/>
                </a:cxn>
                <a:cxn ang="0">
                  <a:pos x="7" y="2"/>
                </a:cxn>
                <a:cxn ang="0">
                  <a:pos x="6" y="1"/>
                </a:cxn>
                <a:cxn ang="0">
                  <a:pos x="5" y="0"/>
                </a:cxn>
                <a:cxn ang="0">
                  <a:pos x="4" y="0"/>
                </a:cxn>
                <a:cxn ang="0">
                  <a:pos x="4" y="0"/>
                </a:cxn>
                <a:cxn ang="0">
                  <a:pos x="3" y="1"/>
                </a:cxn>
                <a:cxn ang="0">
                  <a:pos x="1" y="2"/>
                </a:cxn>
                <a:cxn ang="0">
                  <a:pos x="0" y="3"/>
                </a:cxn>
                <a:cxn ang="0">
                  <a:pos x="0" y="4"/>
                </a:cxn>
                <a:cxn ang="0">
                  <a:pos x="1" y="5"/>
                </a:cxn>
                <a:cxn ang="0">
                  <a:pos x="3" y="6"/>
                </a:cxn>
                <a:cxn ang="0">
                  <a:pos x="4" y="6"/>
                </a:cxn>
                <a:cxn ang="0">
                  <a:pos x="5" y="6"/>
                </a:cxn>
              </a:cxnLst>
              <a:rect l="0" t="0" r="r" b="b"/>
              <a:pathLst>
                <a:path w="7" h="6">
                  <a:moveTo>
                    <a:pt x="5" y="6"/>
                  </a:moveTo>
                  <a:lnTo>
                    <a:pt x="6" y="6"/>
                  </a:lnTo>
                  <a:lnTo>
                    <a:pt x="7" y="5"/>
                  </a:lnTo>
                  <a:lnTo>
                    <a:pt x="7" y="4"/>
                  </a:lnTo>
                  <a:lnTo>
                    <a:pt x="7" y="3"/>
                  </a:lnTo>
                  <a:lnTo>
                    <a:pt x="7" y="2"/>
                  </a:lnTo>
                  <a:lnTo>
                    <a:pt x="6" y="1"/>
                  </a:lnTo>
                  <a:lnTo>
                    <a:pt x="5" y="0"/>
                  </a:lnTo>
                  <a:lnTo>
                    <a:pt x="4" y="0"/>
                  </a:lnTo>
                  <a:lnTo>
                    <a:pt x="4" y="0"/>
                  </a:lnTo>
                  <a:lnTo>
                    <a:pt x="3" y="1"/>
                  </a:lnTo>
                  <a:lnTo>
                    <a:pt x="1" y="2"/>
                  </a:lnTo>
                  <a:lnTo>
                    <a:pt x="0" y="3"/>
                  </a:lnTo>
                  <a:lnTo>
                    <a:pt x="0" y="4"/>
                  </a:lnTo>
                  <a:lnTo>
                    <a:pt x="1" y="5"/>
                  </a:lnTo>
                  <a:lnTo>
                    <a:pt x="3" y="6"/>
                  </a:lnTo>
                  <a:lnTo>
                    <a:pt x="4" y="6"/>
                  </a:lnTo>
                  <a:lnTo>
                    <a:pt x="5" y="6"/>
                  </a:lnTo>
                  <a:close/>
                </a:path>
              </a:pathLst>
            </a:custGeom>
            <a:solidFill>
              <a:srgbClr val="000000"/>
            </a:solidFill>
            <a:ln w="9525">
              <a:noFill/>
              <a:round/>
              <a:headEnd/>
              <a:tailEnd/>
            </a:ln>
          </p:spPr>
          <p:txBody>
            <a:bodyPr/>
            <a:lstStyle/>
            <a:p>
              <a:endParaRPr lang="en-US"/>
            </a:p>
          </p:txBody>
        </p:sp>
        <p:sp>
          <p:nvSpPr>
            <p:cNvPr id="327298" name="Freeform 642"/>
            <p:cNvSpPr>
              <a:spLocks/>
            </p:cNvSpPr>
            <p:nvPr/>
          </p:nvSpPr>
          <p:spPr bwMode="auto">
            <a:xfrm>
              <a:off x="4066" y="1675"/>
              <a:ext cx="6" cy="6"/>
            </a:xfrm>
            <a:custGeom>
              <a:avLst/>
              <a:gdLst/>
              <a:ahLst/>
              <a:cxnLst>
                <a:cxn ang="0">
                  <a:pos x="4" y="6"/>
                </a:cxn>
                <a:cxn ang="0">
                  <a:pos x="5" y="6"/>
                </a:cxn>
                <a:cxn ang="0">
                  <a:pos x="6" y="5"/>
                </a:cxn>
                <a:cxn ang="0">
                  <a:pos x="6" y="4"/>
                </a:cxn>
                <a:cxn ang="0">
                  <a:pos x="6" y="3"/>
                </a:cxn>
                <a:cxn ang="0">
                  <a:pos x="6" y="2"/>
                </a:cxn>
                <a:cxn ang="0">
                  <a:pos x="5" y="1"/>
                </a:cxn>
                <a:cxn ang="0">
                  <a:pos x="4" y="0"/>
                </a:cxn>
                <a:cxn ang="0">
                  <a:pos x="3" y="0"/>
                </a:cxn>
                <a:cxn ang="0">
                  <a:pos x="3" y="0"/>
                </a:cxn>
                <a:cxn ang="0">
                  <a:pos x="2" y="1"/>
                </a:cxn>
                <a:cxn ang="0">
                  <a:pos x="1" y="2"/>
                </a:cxn>
                <a:cxn ang="0">
                  <a:pos x="0" y="3"/>
                </a:cxn>
                <a:cxn ang="0">
                  <a:pos x="0" y="4"/>
                </a:cxn>
                <a:cxn ang="0">
                  <a:pos x="1" y="5"/>
                </a:cxn>
                <a:cxn ang="0">
                  <a:pos x="2" y="6"/>
                </a:cxn>
                <a:cxn ang="0">
                  <a:pos x="3" y="6"/>
                </a:cxn>
                <a:cxn ang="0">
                  <a:pos x="4" y="6"/>
                </a:cxn>
              </a:cxnLst>
              <a:rect l="0" t="0" r="r" b="b"/>
              <a:pathLst>
                <a:path w="6" h="6">
                  <a:moveTo>
                    <a:pt x="4" y="6"/>
                  </a:moveTo>
                  <a:lnTo>
                    <a:pt x="5" y="6"/>
                  </a:lnTo>
                  <a:lnTo>
                    <a:pt x="6" y="5"/>
                  </a:lnTo>
                  <a:lnTo>
                    <a:pt x="6" y="4"/>
                  </a:lnTo>
                  <a:lnTo>
                    <a:pt x="6" y="3"/>
                  </a:lnTo>
                  <a:lnTo>
                    <a:pt x="6" y="2"/>
                  </a:lnTo>
                  <a:lnTo>
                    <a:pt x="5" y="1"/>
                  </a:lnTo>
                  <a:lnTo>
                    <a:pt x="4" y="0"/>
                  </a:lnTo>
                  <a:lnTo>
                    <a:pt x="3" y="0"/>
                  </a:lnTo>
                  <a:lnTo>
                    <a:pt x="3" y="0"/>
                  </a:lnTo>
                  <a:lnTo>
                    <a:pt x="2" y="1"/>
                  </a:lnTo>
                  <a:lnTo>
                    <a:pt x="1" y="2"/>
                  </a:lnTo>
                  <a:lnTo>
                    <a:pt x="0" y="3"/>
                  </a:lnTo>
                  <a:lnTo>
                    <a:pt x="0" y="4"/>
                  </a:lnTo>
                  <a:lnTo>
                    <a:pt x="1" y="5"/>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299" name="Freeform 643"/>
            <p:cNvSpPr>
              <a:spLocks/>
            </p:cNvSpPr>
            <p:nvPr/>
          </p:nvSpPr>
          <p:spPr bwMode="auto">
            <a:xfrm>
              <a:off x="4053" y="1677"/>
              <a:ext cx="7" cy="6"/>
            </a:xfrm>
            <a:custGeom>
              <a:avLst/>
              <a:gdLst/>
              <a:ahLst/>
              <a:cxnLst>
                <a:cxn ang="0">
                  <a:pos x="4" y="6"/>
                </a:cxn>
                <a:cxn ang="0">
                  <a:pos x="5" y="6"/>
                </a:cxn>
                <a:cxn ang="0">
                  <a:pos x="6" y="5"/>
                </a:cxn>
                <a:cxn ang="0">
                  <a:pos x="7" y="4"/>
                </a:cxn>
                <a:cxn ang="0">
                  <a:pos x="7" y="3"/>
                </a:cxn>
                <a:cxn ang="0">
                  <a:pos x="6" y="2"/>
                </a:cxn>
                <a:cxn ang="0">
                  <a:pos x="5" y="1"/>
                </a:cxn>
                <a:cxn ang="0">
                  <a:pos x="4" y="0"/>
                </a:cxn>
                <a:cxn ang="0">
                  <a:pos x="3" y="0"/>
                </a:cxn>
                <a:cxn ang="0">
                  <a:pos x="3" y="0"/>
                </a:cxn>
                <a:cxn ang="0">
                  <a:pos x="1" y="1"/>
                </a:cxn>
                <a:cxn ang="0">
                  <a:pos x="0" y="2"/>
                </a:cxn>
                <a:cxn ang="0">
                  <a:pos x="0" y="3"/>
                </a:cxn>
                <a:cxn ang="0">
                  <a:pos x="0" y="4"/>
                </a:cxn>
                <a:cxn ang="0">
                  <a:pos x="0" y="5"/>
                </a:cxn>
                <a:cxn ang="0">
                  <a:pos x="1" y="6"/>
                </a:cxn>
                <a:cxn ang="0">
                  <a:pos x="3" y="6"/>
                </a:cxn>
                <a:cxn ang="0">
                  <a:pos x="4" y="6"/>
                </a:cxn>
              </a:cxnLst>
              <a:rect l="0" t="0" r="r" b="b"/>
              <a:pathLst>
                <a:path w="7" h="6">
                  <a:moveTo>
                    <a:pt x="4" y="6"/>
                  </a:moveTo>
                  <a:lnTo>
                    <a:pt x="5" y="6"/>
                  </a:lnTo>
                  <a:lnTo>
                    <a:pt x="6" y="5"/>
                  </a:lnTo>
                  <a:lnTo>
                    <a:pt x="7" y="4"/>
                  </a:lnTo>
                  <a:lnTo>
                    <a:pt x="7" y="3"/>
                  </a:lnTo>
                  <a:lnTo>
                    <a:pt x="6" y="2"/>
                  </a:lnTo>
                  <a:lnTo>
                    <a:pt x="5" y="1"/>
                  </a:lnTo>
                  <a:lnTo>
                    <a:pt x="4" y="0"/>
                  </a:lnTo>
                  <a:lnTo>
                    <a:pt x="3" y="0"/>
                  </a:lnTo>
                  <a:lnTo>
                    <a:pt x="3" y="0"/>
                  </a:lnTo>
                  <a:lnTo>
                    <a:pt x="1" y="1"/>
                  </a:lnTo>
                  <a:lnTo>
                    <a:pt x="0" y="2"/>
                  </a:lnTo>
                  <a:lnTo>
                    <a:pt x="0" y="3"/>
                  </a:lnTo>
                  <a:lnTo>
                    <a:pt x="0" y="4"/>
                  </a:lnTo>
                  <a:lnTo>
                    <a:pt x="0" y="5"/>
                  </a:lnTo>
                  <a:lnTo>
                    <a:pt x="1" y="6"/>
                  </a:lnTo>
                  <a:lnTo>
                    <a:pt x="3" y="6"/>
                  </a:lnTo>
                  <a:lnTo>
                    <a:pt x="4" y="6"/>
                  </a:lnTo>
                  <a:close/>
                </a:path>
              </a:pathLst>
            </a:custGeom>
            <a:solidFill>
              <a:srgbClr val="000000"/>
            </a:solidFill>
            <a:ln w="9525">
              <a:noFill/>
              <a:round/>
              <a:headEnd/>
              <a:tailEnd/>
            </a:ln>
          </p:spPr>
          <p:txBody>
            <a:bodyPr/>
            <a:lstStyle/>
            <a:p>
              <a:endParaRPr lang="en-US"/>
            </a:p>
          </p:txBody>
        </p:sp>
        <p:sp>
          <p:nvSpPr>
            <p:cNvPr id="327300" name="Freeform 644"/>
            <p:cNvSpPr>
              <a:spLocks/>
            </p:cNvSpPr>
            <p:nvPr/>
          </p:nvSpPr>
          <p:spPr bwMode="auto">
            <a:xfrm>
              <a:off x="4040" y="1679"/>
              <a:ext cx="6" cy="6"/>
            </a:xfrm>
            <a:custGeom>
              <a:avLst/>
              <a:gdLst/>
              <a:ahLst/>
              <a:cxnLst>
                <a:cxn ang="0">
                  <a:pos x="3" y="6"/>
                </a:cxn>
                <a:cxn ang="0">
                  <a:pos x="4" y="6"/>
                </a:cxn>
                <a:cxn ang="0">
                  <a:pos x="5" y="5"/>
                </a:cxn>
                <a:cxn ang="0">
                  <a:pos x="6" y="4"/>
                </a:cxn>
                <a:cxn ang="0">
                  <a:pos x="6" y="3"/>
                </a:cxn>
                <a:cxn ang="0">
                  <a:pos x="5" y="2"/>
                </a:cxn>
                <a:cxn ang="0">
                  <a:pos x="4" y="1"/>
                </a:cxn>
                <a:cxn ang="0">
                  <a:pos x="3" y="0"/>
                </a:cxn>
                <a:cxn ang="0">
                  <a:pos x="2" y="0"/>
                </a:cxn>
                <a:cxn ang="0">
                  <a:pos x="2" y="0"/>
                </a:cxn>
                <a:cxn ang="0">
                  <a:pos x="1" y="1"/>
                </a:cxn>
                <a:cxn ang="0">
                  <a:pos x="0" y="2"/>
                </a:cxn>
                <a:cxn ang="0">
                  <a:pos x="0" y="3"/>
                </a:cxn>
                <a:cxn ang="0">
                  <a:pos x="0" y="4"/>
                </a:cxn>
                <a:cxn ang="0">
                  <a:pos x="0" y="5"/>
                </a:cxn>
                <a:cxn ang="0">
                  <a:pos x="1" y="6"/>
                </a:cxn>
                <a:cxn ang="0">
                  <a:pos x="2" y="6"/>
                </a:cxn>
                <a:cxn ang="0">
                  <a:pos x="3" y="6"/>
                </a:cxn>
              </a:cxnLst>
              <a:rect l="0" t="0" r="r" b="b"/>
              <a:pathLst>
                <a:path w="6" h="6">
                  <a:moveTo>
                    <a:pt x="3" y="6"/>
                  </a:moveTo>
                  <a:lnTo>
                    <a:pt x="4" y="6"/>
                  </a:lnTo>
                  <a:lnTo>
                    <a:pt x="5" y="5"/>
                  </a:lnTo>
                  <a:lnTo>
                    <a:pt x="6" y="4"/>
                  </a:lnTo>
                  <a:lnTo>
                    <a:pt x="6" y="3"/>
                  </a:lnTo>
                  <a:lnTo>
                    <a:pt x="5" y="2"/>
                  </a:lnTo>
                  <a:lnTo>
                    <a:pt x="4" y="1"/>
                  </a:lnTo>
                  <a:lnTo>
                    <a:pt x="3" y="0"/>
                  </a:lnTo>
                  <a:lnTo>
                    <a:pt x="2" y="0"/>
                  </a:lnTo>
                  <a:lnTo>
                    <a:pt x="2" y="0"/>
                  </a:lnTo>
                  <a:lnTo>
                    <a:pt x="1" y="1"/>
                  </a:lnTo>
                  <a:lnTo>
                    <a:pt x="0" y="2"/>
                  </a:lnTo>
                  <a:lnTo>
                    <a:pt x="0" y="3"/>
                  </a:lnTo>
                  <a:lnTo>
                    <a:pt x="0" y="4"/>
                  </a:lnTo>
                  <a:lnTo>
                    <a:pt x="0" y="5"/>
                  </a:lnTo>
                  <a:lnTo>
                    <a:pt x="1" y="6"/>
                  </a:lnTo>
                  <a:lnTo>
                    <a:pt x="2" y="6"/>
                  </a:lnTo>
                  <a:lnTo>
                    <a:pt x="3" y="6"/>
                  </a:lnTo>
                  <a:close/>
                </a:path>
              </a:pathLst>
            </a:custGeom>
            <a:solidFill>
              <a:srgbClr val="000000"/>
            </a:solidFill>
            <a:ln w="9525">
              <a:noFill/>
              <a:round/>
              <a:headEnd/>
              <a:tailEnd/>
            </a:ln>
          </p:spPr>
          <p:txBody>
            <a:bodyPr/>
            <a:lstStyle/>
            <a:p>
              <a:endParaRPr lang="en-US"/>
            </a:p>
          </p:txBody>
        </p:sp>
        <p:sp>
          <p:nvSpPr>
            <p:cNvPr id="327301" name="Freeform 645"/>
            <p:cNvSpPr>
              <a:spLocks/>
            </p:cNvSpPr>
            <p:nvPr/>
          </p:nvSpPr>
          <p:spPr bwMode="auto">
            <a:xfrm>
              <a:off x="4026" y="1681"/>
              <a:ext cx="7" cy="7"/>
            </a:xfrm>
            <a:custGeom>
              <a:avLst/>
              <a:gdLst/>
              <a:ahLst/>
              <a:cxnLst>
                <a:cxn ang="0">
                  <a:pos x="4" y="7"/>
                </a:cxn>
                <a:cxn ang="0">
                  <a:pos x="5" y="5"/>
                </a:cxn>
                <a:cxn ang="0">
                  <a:pos x="6" y="4"/>
                </a:cxn>
                <a:cxn ang="0">
                  <a:pos x="7" y="3"/>
                </a:cxn>
                <a:cxn ang="0">
                  <a:pos x="7" y="2"/>
                </a:cxn>
                <a:cxn ang="0">
                  <a:pos x="6" y="1"/>
                </a:cxn>
                <a:cxn ang="0">
                  <a:pos x="5" y="0"/>
                </a:cxn>
                <a:cxn ang="0">
                  <a:pos x="4" y="0"/>
                </a:cxn>
                <a:cxn ang="0">
                  <a:pos x="2" y="0"/>
                </a:cxn>
                <a:cxn ang="0">
                  <a:pos x="2" y="0"/>
                </a:cxn>
                <a:cxn ang="0">
                  <a:pos x="1" y="0"/>
                </a:cxn>
                <a:cxn ang="0">
                  <a:pos x="0" y="1"/>
                </a:cxn>
                <a:cxn ang="0">
                  <a:pos x="0" y="2"/>
                </a:cxn>
                <a:cxn ang="0">
                  <a:pos x="0" y="3"/>
                </a:cxn>
                <a:cxn ang="0">
                  <a:pos x="0" y="4"/>
                </a:cxn>
                <a:cxn ang="0">
                  <a:pos x="1" y="5"/>
                </a:cxn>
                <a:cxn ang="0">
                  <a:pos x="2" y="7"/>
                </a:cxn>
                <a:cxn ang="0">
                  <a:pos x="4" y="7"/>
                </a:cxn>
              </a:cxnLst>
              <a:rect l="0" t="0" r="r" b="b"/>
              <a:pathLst>
                <a:path w="7" h="7">
                  <a:moveTo>
                    <a:pt x="4" y="7"/>
                  </a:moveTo>
                  <a:lnTo>
                    <a:pt x="5" y="5"/>
                  </a:lnTo>
                  <a:lnTo>
                    <a:pt x="6" y="4"/>
                  </a:lnTo>
                  <a:lnTo>
                    <a:pt x="7" y="3"/>
                  </a:lnTo>
                  <a:lnTo>
                    <a:pt x="7" y="2"/>
                  </a:lnTo>
                  <a:lnTo>
                    <a:pt x="6" y="1"/>
                  </a:lnTo>
                  <a:lnTo>
                    <a:pt x="5" y="0"/>
                  </a:lnTo>
                  <a:lnTo>
                    <a:pt x="4" y="0"/>
                  </a:lnTo>
                  <a:lnTo>
                    <a:pt x="2" y="0"/>
                  </a:lnTo>
                  <a:lnTo>
                    <a:pt x="2" y="0"/>
                  </a:lnTo>
                  <a:lnTo>
                    <a:pt x="1" y="0"/>
                  </a:lnTo>
                  <a:lnTo>
                    <a:pt x="0" y="1"/>
                  </a:lnTo>
                  <a:lnTo>
                    <a:pt x="0" y="2"/>
                  </a:lnTo>
                  <a:lnTo>
                    <a:pt x="0" y="3"/>
                  </a:lnTo>
                  <a:lnTo>
                    <a:pt x="0" y="4"/>
                  </a:lnTo>
                  <a:lnTo>
                    <a:pt x="1" y="5"/>
                  </a:lnTo>
                  <a:lnTo>
                    <a:pt x="2" y="7"/>
                  </a:lnTo>
                  <a:lnTo>
                    <a:pt x="4" y="7"/>
                  </a:lnTo>
                  <a:close/>
                </a:path>
              </a:pathLst>
            </a:custGeom>
            <a:solidFill>
              <a:srgbClr val="000000"/>
            </a:solidFill>
            <a:ln w="9525">
              <a:noFill/>
              <a:round/>
              <a:headEnd/>
              <a:tailEnd/>
            </a:ln>
          </p:spPr>
          <p:txBody>
            <a:bodyPr/>
            <a:lstStyle/>
            <a:p>
              <a:endParaRPr lang="en-US"/>
            </a:p>
          </p:txBody>
        </p:sp>
        <p:sp>
          <p:nvSpPr>
            <p:cNvPr id="327302" name="Freeform 646"/>
            <p:cNvSpPr>
              <a:spLocks/>
            </p:cNvSpPr>
            <p:nvPr/>
          </p:nvSpPr>
          <p:spPr bwMode="auto">
            <a:xfrm>
              <a:off x="4013" y="1683"/>
              <a:ext cx="6" cy="7"/>
            </a:xfrm>
            <a:custGeom>
              <a:avLst/>
              <a:gdLst/>
              <a:ahLst/>
              <a:cxnLst>
                <a:cxn ang="0">
                  <a:pos x="3" y="7"/>
                </a:cxn>
                <a:cxn ang="0">
                  <a:pos x="4" y="6"/>
                </a:cxn>
                <a:cxn ang="0">
                  <a:pos x="5" y="5"/>
                </a:cxn>
                <a:cxn ang="0">
                  <a:pos x="6" y="3"/>
                </a:cxn>
                <a:cxn ang="0">
                  <a:pos x="6" y="2"/>
                </a:cxn>
                <a:cxn ang="0">
                  <a:pos x="5" y="1"/>
                </a:cxn>
                <a:cxn ang="0">
                  <a:pos x="4" y="0"/>
                </a:cxn>
                <a:cxn ang="0">
                  <a:pos x="3" y="0"/>
                </a:cxn>
                <a:cxn ang="0">
                  <a:pos x="2" y="0"/>
                </a:cxn>
                <a:cxn ang="0">
                  <a:pos x="2" y="0"/>
                </a:cxn>
                <a:cxn ang="0">
                  <a:pos x="1" y="0"/>
                </a:cxn>
                <a:cxn ang="0">
                  <a:pos x="0" y="1"/>
                </a:cxn>
                <a:cxn ang="0">
                  <a:pos x="0" y="2"/>
                </a:cxn>
                <a:cxn ang="0">
                  <a:pos x="0" y="3"/>
                </a:cxn>
                <a:cxn ang="0">
                  <a:pos x="0" y="5"/>
                </a:cxn>
                <a:cxn ang="0">
                  <a:pos x="1" y="6"/>
                </a:cxn>
                <a:cxn ang="0">
                  <a:pos x="2" y="7"/>
                </a:cxn>
                <a:cxn ang="0">
                  <a:pos x="3" y="7"/>
                </a:cxn>
              </a:cxnLst>
              <a:rect l="0" t="0" r="r" b="b"/>
              <a:pathLst>
                <a:path w="6" h="7">
                  <a:moveTo>
                    <a:pt x="3" y="7"/>
                  </a:moveTo>
                  <a:lnTo>
                    <a:pt x="4" y="6"/>
                  </a:lnTo>
                  <a:lnTo>
                    <a:pt x="5" y="5"/>
                  </a:lnTo>
                  <a:lnTo>
                    <a:pt x="6" y="3"/>
                  </a:lnTo>
                  <a:lnTo>
                    <a:pt x="6" y="2"/>
                  </a:lnTo>
                  <a:lnTo>
                    <a:pt x="5" y="1"/>
                  </a:lnTo>
                  <a:lnTo>
                    <a:pt x="4" y="0"/>
                  </a:lnTo>
                  <a:lnTo>
                    <a:pt x="3" y="0"/>
                  </a:lnTo>
                  <a:lnTo>
                    <a:pt x="2" y="0"/>
                  </a:lnTo>
                  <a:lnTo>
                    <a:pt x="2" y="0"/>
                  </a:lnTo>
                  <a:lnTo>
                    <a:pt x="1" y="0"/>
                  </a:lnTo>
                  <a:lnTo>
                    <a:pt x="0" y="1"/>
                  </a:lnTo>
                  <a:lnTo>
                    <a:pt x="0" y="2"/>
                  </a:lnTo>
                  <a:lnTo>
                    <a:pt x="0" y="3"/>
                  </a:lnTo>
                  <a:lnTo>
                    <a:pt x="0" y="5"/>
                  </a:lnTo>
                  <a:lnTo>
                    <a:pt x="1" y="6"/>
                  </a:lnTo>
                  <a:lnTo>
                    <a:pt x="2" y="7"/>
                  </a:lnTo>
                  <a:lnTo>
                    <a:pt x="3" y="7"/>
                  </a:lnTo>
                  <a:close/>
                </a:path>
              </a:pathLst>
            </a:custGeom>
            <a:solidFill>
              <a:srgbClr val="000000"/>
            </a:solidFill>
            <a:ln w="9525">
              <a:noFill/>
              <a:round/>
              <a:headEnd/>
              <a:tailEnd/>
            </a:ln>
          </p:spPr>
          <p:txBody>
            <a:bodyPr/>
            <a:lstStyle/>
            <a:p>
              <a:endParaRPr lang="en-US"/>
            </a:p>
          </p:txBody>
        </p:sp>
        <p:sp>
          <p:nvSpPr>
            <p:cNvPr id="327303" name="Freeform 647"/>
            <p:cNvSpPr>
              <a:spLocks/>
            </p:cNvSpPr>
            <p:nvPr/>
          </p:nvSpPr>
          <p:spPr bwMode="auto">
            <a:xfrm>
              <a:off x="3999" y="1685"/>
              <a:ext cx="7" cy="7"/>
            </a:xfrm>
            <a:custGeom>
              <a:avLst/>
              <a:gdLst/>
              <a:ahLst/>
              <a:cxnLst>
                <a:cxn ang="0">
                  <a:pos x="5" y="7"/>
                </a:cxn>
                <a:cxn ang="0">
                  <a:pos x="6" y="6"/>
                </a:cxn>
                <a:cxn ang="0">
                  <a:pos x="7" y="5"/>
                </a:cxn>
                <a:cxn ang="0">
                  <a:pos x="7" y="4"/>
                </a:cxn>
                <a:cxn ang="0">
                  <a:pos x="7" y="3"/>
                </a:cxn>
                <a:cxn ang="0">
                  <a:pos x="7" y="1"/>
                </a:cxn>
                <a:cxn ang="0">
                  <a:pos x="6" y="0"/>
                </a:cxn>
                <a:cxn ang="0">
                  <a:pos x="5" y="0"/>
                </a:cxn>
                <a:cxn ang="0">
                  <a:pos x="3" y="0"/>
                </a:cxn>
                <a:cxn ang="0">
                  <a:pos x="3" y="0"/>
                </a:cxn>
                <a:cxn ang="0">
                  <a:pos x="2" y="0"/>
                </a:cxn>
                <a:cxn ang="0">
                  <a:pos x="1" y="1"/>
                </a:cxn>
                <a:cxn ang="0">
                  <a:pos x="0" y="3"/>
                </a:cxn>
                <a:cxn ang="0">
                  <a:pos x="0" y="4"/>
                </a:cxn>
                <a:cxn ang="0">
                  <a:pos x="1" y="5"/>
                </a:cxn>
                <a:cxn ang="0">
                  <a:pos x="2" y="6"/>
                </a:cxn>
                <a:cxn ang="0">
                  <a:pos x="3" y="7"/>
                </a:cxn>
                <a:cxn ang="0">
                  <a:pos x="5" y="7"/>
                </a:cxn>
              </a:cxnLst>
              <a:rect l="0" t="0" r="r" b="b"/>
              <a:pathLst>
                <a:path w="7" h="7">
                  <a:moveTo>
                    <a:pt x="5" y="7"/>
                  </a:moveTo>
                  <a:lnTo>
                    <a:pt x="6" y="6"/>
                  </a:lnTo>
                  <a:lnTo>
                    <a:pt x="7" y="5"/>
                  </a:lnTo>
                  <a:lnTo>
                    <a:pt x="7" y="4"/>
                  </a:lnTo>
                  <a:lnTo>
                    <a:pt x="7" y="3"/>
                  </a:lnTo>
                  <a:lnTo>
                    <a:pt x="7" y="1"/>
                  </a:lnTo>
                  <a:lnTo>
                    <a:pt x="6" y="0"/>
                  </a:lnTo>
                  <a:lnTo>
                    <a:pt x="5" y="0"/>
                  </a:lnTo>
                  <a:lnTo>
                    <a:pt x="3" y="0"/>
                  </a:lnTo>
                  <a:lnTo>
                    <a:pt x="3" y="0"/>
                  </a:lnTo>
                  <a:lnTo>
                    <a:pt x="2" y="0"/>
                  </a:lnTo>
                  <a:lnTo>
                    <a:pt x="1" y="1"/>
                  </a:lnTo>
                  <a:lnTo>
                    <a:pt x="0" y="3"/>
                  </a:lnTo>
                  <a:lnTo>
                    <a:pt x="0" y="4"/>
                  </a:lnTo>
                  <a:lnTo>
                    <a:pt x="1" y="5"/>
                  </a:lnTo>
                  <a:lnTo>
                    <a:pt x="2" y="6"/>
                  </a:lnTo>
                  <a:lnTo>
                    <a:pt x="3" y="7"/>
                  </a:lnTo>
                  <a:lnTo>
                    <a:pt x="5" y="7"/>
                  </a:lnTo>
                  <a:close/>
                </a:path>
              </a:pathLst>
            </a:custGeom>
            <a:solidFill>
              <a:srgbClr val="000000"/>
            </a:solidFill>
            <a:ln w="9525">
              <a:noFill/>
              <a:round/>
              <a:headEnd/>
              <a:tailEnd/>
            </a:ln>
          </p:spPr>
          <p:txBody>
            <a:bodyPr/>
            <a:lstStyle/>
            <a:p>
              <a:endParaRPr lang="en-US"/>
            </a:p>
          </p:txBody>
        </p:sp>
        <p:sp>
          <p:nvSpPr>
            <p:cNvPr id="327304" name="Freeform 648"/>
            <p:cNvSpPr>
              <a:spLocks/>
            </p:cNvSpPr>
            <p:nvPr/>
          </p:nvSpPr>
          <p:spPr bwMode="auto">
            <a:xfrm>
              <a:off x="3986" y="1688"/>
              <a:ext cx="6" cy="6"/>
            </a:xfrm>
            <a:custGeom>
              <a:avLst/>
              <a:gdLst/>
              <a:ahLst/>
              <a:cxnLst>
                <a:cxn ang="0">
                  <a:pos x="4" y="6"/>
                </a:cxn>
                <a:cxn ang="0">
                  <a:pos x="5" y="5"/>
                </a:cxn>
                <a:cxn ang="0">
                  <a:pos x="6" y="4"/>
                </a:cxn>
                <a:cxn ang="0">
                  <a:pos x="6" y="3"/>
                </a:cxn>
                <a:cxn ang="0">
                  <a:pos x="6" y="2"/>
                </a:cxn>
                <a:cxn ang="0">
                  <a:pos x="6" y="1"/>
                </a:cxn>
                <a:cxn ang="0">
                  <a:pos x="5" y="0"/>
                </a:cxn>
                <a:cxn ang="0">
                  <a:pos x="4" y="0"/>
                </a:cxn>
                <a:cxn ang="0">
                  <a:pos x="3" y="0"/>
                </a:cxn>
                <a:cxn ang="0">
                  <a:pos x="3" y="0"/>
                </a:cxn>
                <a:cxn ang="0">
                  <a:pos x="2" y="0"/>
                </a:cxn>
                <a:cxn ang="0">
                  <a:pos x="1" y="1"/>
                </a:cxn>
                <a:cxn ang="0">
                  <a:pos x="0" y="2"/>
                </a:cxn>
                <a:cxn ang="0">
                  <a:pos x="0" y="3"/>
                </a:cxn>
                <a:cxn ang="0">
                  <a:pos x="1" y="4"/>
                </a:cxn>
                <a:cxn ang="0">
                  <a:pos x="2" y="5"/>
                </a:cxn>
                <a:cxn ang="0">
                  <a:pos x="3" y="6"/>
                </a:cxn>
                <a:cxn ang="0">
                  <a:pos x="4" y="6"/>
                </a:cxn>
              </a:cxnLst>
              <a:rect l="0" t="0" r="r" b="b"/>
              <a:pathLst>
                <a:path w="6" h="6">
                  <a:moveTo>
                    <a:pt x="4" y="6"/>
                  </a:moveTo>
                  <a:lnTo>
                    <a:pt x="5" y="5"/>
                  </a:lnTo>
                  <a:lnTo>
                    <a:pt x="6" y="4"/>
                  </a:lnTo>
                  <a:lnTo>
                    <a:pt x="6" y="3"/>
                  </a:lnTo>
                  <a:lnTo>
                    <a:pt x="6" y="2"/>
                  </a:lnTo>
                  <a:lnTo>
                    <a:pt x="6" y="1"/>
                  </a:lnTo>
                  <a:lnTo>
                    <a:pt x="5" y="0"/>
                  </a:lnTo>
                  <a:lnTo>
                    <a:pt x="4" y="0"/>
                  </a:lnTo>
                  <a:lnTo>
                    <a:pt x="3" y="0"/>
                  </a:lnTo>
                  <a:lnTo>
                    <a:pt x="3" y="0"/>
                  </a:lnTo>
                  <a:lnTo>
                    <a:pt x="2" y="0"/>
                  </a:lnTo>
                  <a:lnTo>
                    <a:pt x="1" y="1"/>
                  </a:lnTo>
                  <a:lnTo>
                    <a:pt x="0" y="2"/>
                  </a:lnTo>
                  <a:lnTo>
                    <a:pt x="0" y="3"/>
                  </a:lnTo>
                  <a:lnTo>
                    <a:pt x="1" y="4"/>
                  </a:lnTo>
                  <a:lnTo>
                    <a:pt x="2" y="5"/>
                  </a:lnTo>
                  <a:lnTo>
                    <a:pt x="3" y="6"/>
                  </a:lnTo>
                  <a:lnTo>
                    <a:pt x="4" y="6"/>
                  </a:lnTo>
                  <a:close/>
                </a:path>
              </a:pathLst>
            </a:custGeom>
            <a:solidFill>
              <a:srgbClr val="000000"/>
            </a:solidFill>
            <a:ln w="9525">
              <a:noFill/>
              <a:round/>
              <a:headEnd/>
              <a:tailEnd/>
            </a:ln>
          </p:spPr>
          <p:txBody>
            <a:bodyPr/>
            <a:lstStyle/>
            <a:p>
              <a:endParaRPr lang="en-US"/>
            </a:p>
          </p:txBody>
        </p:sp>
        <p:sp>
          <p:nvSpPr>
            <p:cNvPr id="327305" name="Freeform 649"/>
            <p:cNvSpPr>
              <a:spLocks/>
            </p:cNvSpPr>
            <p:nvPr/>
          </p:nvSpPr>
          <p:spPr bwMode="auto">
            <a:xfrm>
              <a:off x="3972" y="1690"/>
              <a:ext cx="7" cy="6"/>
            </a:xfrm>
            <a:custGeom>
              <a:avLst/>
              <a:gdLst/>
              <a:ahLst/>
              <a:cxnLst>
                <a:cxn ang="0">
                  <a:pos x="4" y="6"/>
                </a:cxn>
                <a:cxn ang="0">
                  <a:pos x="6" y="5"/>
                </a:cxn>
                <a:cxn ang="0">
                  <a:pos x="7" y="4"/>
                </a:cxn>
                <a:cxn ang="0">
                  <a:pos x="7" y="3"/>
                </a:cxn>
                <a:cxn ang="0">
                  <a:pos x="7" y="2"/>
                </a:cxn>
                <a:cxn ang="0">
                  <a:pos x="7" y="1"/>
                </a:cxn>
                <a:cxn ang="0">
                  <a:pos x="6" y="0"/>
                </a:cxn>
                <a:cxn ang="0">
                  <a:pos x="4" y="0"/>
                </a:cxn>
                <a:cxn ang="0">
                  <a:pos x="3" y="0"/>
                </a:cxn>
                <a:cxn ang="0">
                  <a:pos x="3" y="0"/>
                </a:cxn>
                <a:cxn ang="0">
                  <a:pos x="2" y="0"/>
                </a:cxn>
                <a:cxn ang="0">
                  <a:pos x="1" y="1"/>
                </a:cxn>
                <a:cxn ang="0">
                  <a:pos x="0" y="2"/>
                </a:cxn>
                <a:cxn ang="0">
                  <a:pos x="0" y="3"/>
                </a:cxn>
                <a:cxn ang="0">
                  <a:pos x="1" y="4"/>
                </a:cxn>
                <a:cxn ang="0">
                  <a:pos x="2" y="5"/>
                </a:cxn>
                <a:cxn ang="0">
                  <a:pos x="3" y="6"/>
                </a:cxn>
                <a:cxn ang="0">
                  <a:pos x="4" y="6"/>
                </a:cxn>
              </a:cxnLst>
              <a:rect l="0" t="0" r="r" b="b"/>
              <a:pathLst>
                <a:path w="7" h="6">
                  <a:moveTo>
                    <a:pt x="4" y="6"/>
                  </a:moveTo>
                  <a:lnTo>
                    <a:pt x="6" y="5"/>
                  </a:lnTo>
                  <a:lnTo>
                    <a:pt x="7" y="4"/>
                  </a:lnTo>
                  <a:lnTo>
                    <a:pt x="7" y="3"/>
                  </a:lnTo>
                  <a:lnTo>
                    <a:pt x="7" y="2"/>
                  </a:lnTo>
                  <a:lnTo>
                    <a:pt x="7" y="1"/>
                  </a:lnTo>
                  <a:lnTo>
                    <a:pt x="6" y="0"/>
                  </a:lnTo>
                  <a:lnTo>
                    <a:pt x="4" y="0"/>
                  </a:lnTo>
                  <a:lnTo>
                    <a:pt x="3" y="0"/>
                  </a:lnTo>
                  <a:lnTo>
                    <a:pt x="3" y="0"/>
                  </a:lnTo>
                  <a:lnTo>
                    <a:pt x="2" y="0"/>
                  </a:lnTo>
                  <a:lnTo>
                    <a:pt x="1" y="1"/>
                  </a:lnTo>
                  <a:lnTo>
                    <a:pt x="0" y="2"/>
                  </a:lnTo>
                  <a:lnTo>
                    <a:pt x="0" y="3"/>
                  </a:lnTo>
                  <a:lnTo>
                    <a:pt x="1" y="4"/>
                  </a:lnTo>
                  <a:lnTo>
                    <a:pt x="2" y="5"/>
                  </a:lnTo>
                  <a:lnTo>
                    <a:pt x="3" y="6"/>
                  </a:lnTo>
                  <a:lnTo>
                    <a:pt x="4" y="6"/>
                  </a:lnTo>
                  <a:close/>
                </a:path>
              </a:pathLst>
            </a:custGeom>
            <a:solidFill>
              <a:srgbClr val="000000"/>
            </a:solidFill>
            <a:ln w="9525">
              <a:noFill/>
              <a:round/>
              <a:headEnd/>
              <a:tailEnd/>
            </a:ln>
          </p:spPr>
          <p:txBody>
            <a:bodyPr/>
            <a:lstStyle/>
            <a:p>
              <a:endParaRPr lang="en-US"/>
            </a:p>
          </p:txBody>
        </p:sp>
        <p:sp>
          <p:nvSpPr>
            <p:cNvPr id="327306" name="Freeform 650"/>
            <p:cNvSpPr>
              <a:spLocks/>
            </p:cNvSpPr>
            <p:nvPr/>
          </p:nvSpPr>
          <p:spPr bwMode="auto">
            <a:xfrm>
              <a:off x="3960" y="1691"/>
              <a:ext cx="6" cy="6"/>
            </a:xfrm>
            <a:custGeom>
              <a:avLst/>
              <a:gdLst/>
              <a:ahLst/>
              <a:cxnLst>
                <a:cxn ang="0">
                  <a:pos x="3" y="6"/>
                </a:cxn>
                <a:cxn ang="0">
                  <a:pos x="4" y="6"/>
                </a:cxn>
                <a:cxn ang="0">
                  <a:pos x="5" y="5"/>
                </a:cxn>
                <a:cxn ang="0">
                  <a:pos x="6" y="4"/>
                </a:cxn>
                <a:cxn ang="0">
                  <a:pos x="6" y="3"/>
                </a:cxn>
                <a:cxn ang="0">
                  <a:pos x="5" y="2"/>
                </a:cxn>
                <a:cxn ang="0">
                  <a:pos x="4" y="1"/>
                </a:cxn>
                <a:cxn ang="0">
                  <a:pos x="3" y="0"/>
                </a:cxn>
                <a:cxn ang="0">
                  <a:pos x="2" y="0"/>
                </a:cxn>
                <a:cxn ang="0">
                  <a:pos x="2" y="0"/>
                </a:cxn>
                <a:cxn ang="0">
                  <a:pos x="1" y="1"/>
                </a:cxn>
                <a:cxn ang="0">
                  <a:pos x="0" y="2"/>
                </a:cxn>
                <a:cxn ang="0">
                  <a:pos x="0" y="3"/>
                </a:cxn>
                <a:cxn ang="0">
                  <a:pos x="0" y="4"/>
                </a:cxn>
                <a:cxn ang="0">
                  <a:pos x="0" y="5"/>
                </a:cxn>
                <a:cxn ang="0">
                  <a:pos x="1" y="6"/>
                </a:cxn>
                <a:cxn ang="0">
                  <a:pos x="2" y="6"/>
                </a:cxn>
                <a:cxn ang="0">
                  <a:pos x="3" y="6"/>
                </a:cxn>
              </a:cxnLst>
              <a:rect l="0" t="0" r="r" b="b"/>
              <a:pathLst>
                <a:path w="6" h="6">
                  <a:moveTo>
                    <a:pt x="3" y="6"/>
                  </a:moveTo>
                  <a:lnTo>
                    <a:pt x="4" y="6"/>
                  </a:lnTo>
                  <a:lnTo>
                    <a:pt x="5" y="5"/>
                  </a:lnTo>
                  <a:lnTo>
                    <a:pt x="6" y="4"/>
                  </a:lnTo>
                  <a:lnTo>
                    <a:pt x="6" y="3"/>
                  </a:lnTo>
                  <a:lnTo>
                    <a:pt x="5" y="2"/>
                  </a:lnTo>
                  <a:lnTo>
                    <a:pt x="4" y="1"/>
                  </a:lnTo>
                  <a:lnTo>
                    <a:pt x="3" y="0"/>
                  </a:lnTo>
                  <a:lnTo>
                    <a:pt x="2" y="0"/>
                  </a:lnTo>
                  <a:lnTo>
                    <a:pt x="2" y="0"/>
                  </a:lnTo>
                  <a:lnTo>
                    <a:pt x="1" y="1"/>
                  </a:lnTo>
                  <a:lnTo>
                    <a:pt x="0" y="2"/>
                  </a:lnTo>
                  <a:lnTo>
                    <a:pt x="0" y="3"/>
                  </a:lnTo>
                  <a:lnTo>
                    <a:pt x="0" y="4"/>
                  </a:lnTo>
                  <a:lnTo>
                    <a:pt x="0" y="5"/>
                  </a:lnTo>
                  <a:lnTo>
                    <a:pt x="1" y="6"/>
                  </a:lnTo>
                  <a:lnTo>
                    <a:pt x="2" y="6"/>
                  </a:lnTo>
                  <a:lnTo>
                    <a:pt x="3" y="6"/>
                  </a:lnTo>
                  <a:close/>
                </a:path>
              </a:pathLst>
            </a:custGeom>
            <a:solidFill>
              <a:srgbClr val="000000"/>
            </a:solidFill>
            <a:ln w="9525">
              <a:noFill/>
              <a:round/>
              <a:headEnd/>
              <a:tailEnd/>
            </a:ln>
          </p:spPr>
          <p:txBody>
            <a:bodyPr/>
            <a:lstStyle/>
            <a:p>
              <a:endParaRPr lang="en-US"/>
            </a:p>
          </p:txBody>
        </p:sp>
        <p:sp>
          <p:nvSpPr>
            <p:cNvPr id="327307" name="Freeform 651"/>
            <p:cNvSpPr>
              <a:spLocks/>
            </p:cNvSpPr>
            <p:nvPr/>
          </p:nvSpPr>
          <p:spPr bwMode="auto">
            <a:xfrm>
              <a:off x="3946" y="1693"/>
              <a:ext cx="7" cy="6"/>
            </a:xfrm>
            <a:custGeom>
              <a:avLst/>
              <a:gdLst/>
              <a:ahLst/>
              <a:cxnLst>
                <a:cxn ang="0">
                  <a:pos x="3" y="6"/>
                </a:cxn>
                <a:cxn ang="0">
                  <a:pos x="4" y="6"/>
                </a:cxn>
                <a:cxn ang="0">
                  <a:pos x="6" y="5"/>
                </a:cxn>
                <a:cxn ang="0">
                  <a:pos x="7" y="4"/>
                </a:cxn>
                <a:cxn ang="0">
                  <a:pos x="7" y="3"/>
                </a:cxn>
                <a:cxn ang="0">
                  <a:pos x="6" y="2"/>
                </a:cxn>
                <a:cxn ang="0">
                  <a:pos x="4" y="1"/>
                </a:cxn>
                <a:cxn ang="0">
                  <a:pos x="3" y="0"/>
                </a:cxn>
                <a:cxn ang="0">
                  <a:pos x="2" y="0"/>
                </a:cxn>
                <a:cxn ang="0">
                  <a:pos x="2" y="0"/>
                </a:cxn>
                <a:cxn ang="0">
                  <a:pos x="1" y="1"/>
                </a:cxn>
                <a:cxn ang="0">
                  <a:pos x="0" y="2"/>
                </a:cxn>
                <a:cxn ang="0">
                  <a:pos x="0" y="3"/>
                </a:cxn>
                <a:cxn ang="0">
                  <a:pos x="0" y="4"/>
                </a:cxn>
                <a:cxn ang="0">
                  <a:pos x="0" y="5"/>
                </a:cxn>
                <a:cxn ang="0">
                  <a:pos x="1" y="6"/>
                </a:cxn>
                <a:cxn ang="0">
                  <a:pos x="2" y="6"/>
                </a:cxn>
                <a:cxn ang="0">
                  <a:pos x="3" y="6"/>
                </a:cxn>
              </a:cxnLst>
              <a:rect l="0" t="0" r="r" b="b"/>
              <a:pathLst>
                <a:path w="7" h="6">
                  <a:moveTo>
                    <a:pt x="3" y="6"/>
                  </a:moveTo>
                  <a:lnTo>
                    <a:pt x="4" y="6"/>
                  </a:lnTo>
                  <a:lnTo>
                    <a:pt x="6" y="5"/>
                  </a:lnTo>
                  <a:lnTo>
                    <a:pt x="7" y="4"/>
                  </a:lnTo>
                  <a:lnTo>
                    <a:pt x="7" y="3"/>
                  </a:lnTo>
                  <a:lnTo>
                    <a:pt x="6" y="2"/>
                  </a:lnTo>
                  <a:lnTo>
                    <a:pt x="4" y="1"/>
                  </a:lnTo>
                  <a:lnTo>
                    <a:pt x="3" y="0"/>
                  </a:lnTo>
                  <a:lnTo>
                    <a:pt x="2" y="0"/>
                  </a:lnTo>
                  <a:lnTo>
                    <a:pt x="2" y="0"/>
                  </a:lnTo>
                  <a:lnTo>
                    <a:pt x="1" y="1"/>
                  </a:lnTo>
                  <a:lnTo>
                    <a:pt x="0" y="2"/>
                  </a:lnTo>
                  <a:lnTo>
                    <a:pt x="0" y="3"/>
                  </a:lnTo>
                  <a:lnTo>
                    <a:pt x="0" y="4"/>
                  </a:lnTo>
                  <a:lnTo>
                    <a:pt x="0" y="5"/>
                  </a:lnTo>
                  <a:lnTo>
                    <a:pt x="1" y="6"/>
                  </a:lnTo>
                  <a:lnTo>
                    <a:pt x="2" y="6"/>
                  </a:lnTo>
                  <a:lnTo>
                    <a:pt x="3" y="6"/>
                  </a:lnTo>
                  <a:close/>
                </a:path>
              </a:pathLst>
            </a:custGeom>
            <a:solidFill>
              <a:srgbClr val="000000"/>
            </a:solidFill>
            <a:ln w="9525">
              <a:noFill/>
              <a:round/>
              <a:headEnd/>
              <a:tailEnd/>
            </a:ln>
          </p:spPr>
          <p:txBody>
            <a:bodyPr/>
            <a:lstStyle/>
            <a:p>
              <a:endParaRPr lang="en-US"/>
            </a:p>
          </p:txBody>
        </p:sp>
        <p:sp>
          <p:nvSpPr>
            <p:cNvPr id="327308" name="Freeform 652"/>
            <p:cNvSpPr>
              <a:spLocks/>
            </p:cNvSpPr>
            <p:nvPr/>
          </p:nvSpPr>
          <p:spPr bwMode="auto">
            <a:xfrm>
              <a:off x="3932" y="1695"/>
              <a:ext cx="7" cy="6"/>
            </a:xfrm>
            <a:custGeom>
              <a:avLst/>
              <a:gdLst/>
              <a:ahLst/>
              <a:cxnLst>
                <a:cxn ang="0">
                  <a:pos x="4" y="6"/>
                </a:cxn>
                <a:cxn ang="0">
                  <a:pos x="5" y="6"/>
                </a:cxn>
                <a:cxn ang="0">
                  <a:pos x="6" y="5"/>
                </a:cxn>
                <a:cxn ang="0">
                  <a:pos x="7" y="4"/>
                </a:cxn>
                <a:cxn ang="0">
                  <a:pos x="7" y="3"/>
                </a:cxn>
                <a:cxn ang="0">
                  <a:pos x="6" y="2"/>
                </a:cxn>
                <a:cxn ang="0">
                  <a:pos x="5" y="1"/>
                </a:cxn>
                <a:cxn ang="0">
                  <a:pos x="4" y="0"/>
                </a:cxn>
                <a:cxn ang="0">
                  <a:pos x="3" y="0"/>
                </a:cxn>
                <a:cxn ang="0">
                  <a:pos x="3" y="0"/>
                </a:cxn>
                <a:cxn ang="0">
                  <a:pos x="2" y="1"/>
                </a:cxn>
                <a:cxn ang="0">
                  <a:pos x="0" y="2"/>
                </a:cxn>
                <a:cxn ang="0">
                  <a:pos x="0" y="3"/>
                </a:cxn>
                <a:cxn ang="0">
                  <a:pos x="0" y="4"/>
                </a:cxn>
                <a:cxn ang="0">
                  <a:pos x="0" y="5"/>
                </a:cxn>
                <a:cxn ang="0">
                  <a:pos x="2" y="6"/>
                </a:cxn>
                <a:cxn ang="0">
                  <a:pos x="3" y="6"/>
                </a:cxn>
                <a:cxn ang="0">
                  <a:pos x="4" y="6"/>
                </a:cxn>
              </a:cxnLst>
              <a:rect l="0" t="0" r="r" b="b"/>
              <a:pathLst>
                <a:path w="7" h="6">
                  <a:moveTo>
                    <a:pt x="4" y="6"/>
                  </a:moveTo>
                  <a:lnTo>
                    <a:pt x="5" y="6"/>
                  </a:lnTo>
                  <a:lnTo>
                    <a:pt x="6" y="5"/>
                  </a:lnTo>
                  <a:lnTo>
                    <a:pt x="7" y="4"/>
                  </a:lnTo>
                  <a:lnTo>
                    <a:pt x="7" y="3"/>
                  </a:lnTo>
                  <a:lnTo>
                    <a:pt x="6" y="2"/>
                  </a:lnTo>
                  <a:lnTo>
                    <a:pt x="5" y="1"/>
                  </a:lnTo>
                  <a:lnTo>
                    <a:pt x="4" y="0"/>
                  </a:lnTo>
                  <a:lnTo>
                    <a:pt x="3" y="0"/>
                  </a:lnTo>
                  <a:lnTo>
                    <a:pt x="3" y="0"/>
                  </a:lnTo>
                  <a:lnTo>
                    <a:pt x="2" y="1"/>
                  </a:lnTo>
                  <a:lnTo>
                    <a:pt x="0" y="2"/>
                  </a:lnTo>
                  <a:lnTo>
                    <a:pt x="0" y="3"/>
                  </a:lnTo>
                  <a:lnTo>
                    <a:pt x="0" y="4"/>
                  </a:lnTo>
                  <a:lnTo>
                    <a:pt x="0" y="5"/>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309" name="Freeform 653"/>
            <p:cNvSpPr>
              <a:spLocks/>
            </p:cNvSpPr>
            <p:nvPr/>
          </p:nvSpPr>
          <p:spPr bwMode="auto">
            <a:xfrm>
              <a:off x="3919" y="1697"/>
              <a:ext cx="7" cy="6"/>
            </a:xfrm>
            <a:custGeom>
              <a:avLst/>
              <a:gdLst/>
              <a:ahLst/>
              <a:cxnLst>
                <a:cxn ang="0">
                  <a:pos x="4" y="6"/>
                </a:cxn>
                <a:cxn ang="0">
                  <a:pos x="6" y="6"/>
                </a:cxn>
                <a:cxn ang="0">
                  <a:pos x="7" y="5"/>
                </a:cxn>
                <a:cxn ang="0">
                  <a:pos x="7" y="4"/>
                </a:cxn>
                <a:cxn ang="0">
                  <a:pos x="7" y="3"/>
                </a:cxn>
                <a:cxn ang="0">
                  <a:pos x="7" y="2"/>
                </a:cxn>
                <a:cxn ang="0">
                  <a:pos x="6" y="1"/>
                </a:cxn>
                <a:cxn ang="0">
                  <a:pos x="4" y="0"/>
                </a:cxn>
                <a:cxn ang="0">
                  <a:pos x="3" y="0"/>
                </a:cxn>
                <a:cxn ang="0">
                  <a:pos x="3" y="0"/>
                </a:cxn>
                <a:cxn ang="0">
                  <a:pos x="2" y="1"/>
                </a:cxn>
                <a:cxn ang="0">
                  <a:pos x="1" y="2"/>
                </a:cxn>
                <a:cxn ang="0">
                  <a:pos x="0" y="3"/>
                </a:cxn>
                <a:cxn ang="0">
                  <a:pos x="0" y="4"/>
                </a:cxn>
                <a:cxn ang="0">
                  <a:pos x="1" y="5"/>
                </a:cxn>
                <a:cxn ang="0">
                  <a:pos x="2" y="6"/>
                </a:cxn>
                <a:cxn ang="0">
                  <a:pos x="3" y="6"/>
                </a:cxn>
                <a:cxn ang="0">
                  <a:pos x="4" y="6"/>
                </a:cxn>
              </a:cxnLst>
              <a:rect l="0" t="0" r="r" b="b"/>
              <a:pathLst>
                <a:path w="7" h="6">
                  <a:moveTo>
                    <a:pt x="4" y="6"/>
                  </a:moveTo>
                  <a:lnTo>
                    <a:pt x="6" y="6"/>
                  </a:lnTo>
                  <a:lnTo>
                    <a:pt x="7" y="5"/>
                  </a:lnTo>
                  <a:lnTo>
                    <a:pt x="7" y="4"/>
                  </a:lnTo>
                  <a:lnTo>
                    <a:pt x="7" y="3"/>
                  </a:lnTo>
                  <a:lnTo>
                    <a:pt x="7" y="2"/>
                  </a:lnTo>
                  <a:lnTo>
                    <a:pt x="6" y="1"/>
                  </a:lnTo>
                  <a:lnTo>
                    <a:pt x="4" y="0"/>
                  </a:lnTo>
                  <a:lnTo>
                    <a:pt x="3" y="0"/>
                  </a:lnTo>
                  <a:lnTo>
                    <a:pt x="3" y="0"/>
                  </a:lnTo>
                  <a:lnTo>
                    <a:pt x="2" y="1"/>
                  </a:lnTo>
                  <a:lnTo>
                    <a:pt x="1" y="2"/>
                  </a:lnTo>
                  <a:lnTo>
                    <a:pt x="0" y="3"/>
                  </a:lnTo>
                  <a:lnTo>
                    <a:pt x="0" y="4"/>
                  </a:lnTo>
                  <a:lnTo>
                    <a:pt x="1" y="5"/>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310" name="Freeform 654"/>
            <p:cNvSpPr>
              <a:spLocks/>
            </p:cNvSpPr>
            <p:nvPr/>
          </p:nvSpPr>
          <p:spPr bwMode="auto">
            <a:xfrm>
              <a:off x="3905" y="1699"/>
              <a:ext cx="7" cy="6"/>
            </a:xfrm>
            <a:custGeom>
              <a:avLst/>
              <a:gdLst/>
              <a:ahLst/>
              <a:cxnLst>
                <a:cxn ang="0">
                  <a:pos x="5" y="6"/>
                </a:cxn>
                <a:cxn ang="0">
                  <a:pos x="6" y="6"/>
                </a:cxn>
                <a:cxn ang="0">
                  <a:pos x="7" y="5"/>
                </a:cxn>
                <a:cxn ang="0">
                  <a:pos x="7" y="4"/>
                </a:cxn>
                <a:cxn ang="0">
                  <a:pos x="7" y="3"/>
                </a:cxn>
                <a:cxn ang="0">
                  <a:pos x="7" y="2"/>
                </a:cxn>
                <a:cxn ang="0">
                  <a:pos x="6" y="1"/>
                </a:cxn>
                <a:cxn ang="0">
                  <a:pos x="5" y="0"/>
                </a:cxn>
                <a:cxn ang="0">
                  <a:pos x="4" y="0"/>
                </a:cxn>
                <a:cxn ang="0">
                  <a:pos x="4" y="0"/>
                </a:cxn>
                <a:cxn ang="0">
                  <a:pos x="3" y="1"/>
                </a:cxn>
                <a:cxn ang="0">
                  <a:pos x="1" y="2"/>
                </a:cxn>
                <a:cxn ang="0">
                  <a:pos x="0" y="3"/>
                </a:cxn>
                <a:cxn ang="0">
                  <a:pos x="0" y="4"/>
                </a:cxn>
                <a:cxn ang="0">
                  <a:pos x="1" y="5"/>
                </a:cxn>
                <a:cxn ang="0">
                  <a:pos x="3" y="6"/>
                </a:cxn>
                <a:cxn ang="0">
                  <a:pos x="4" y="6"/>
                </a:cxn>
                <a:cxn ang="0">
                  <a:pos x="5" y="6"/>
                </a:cxn>
              </a:cxnLst>
              <a:rect l="0" t="0" r="r" b="b"/>
              <a:pathLst>
                <a:path w="7" h="6">
                  <a:moveTo>
                    <a:pt x="5" y="6"/>
                  </a:moveTo>
                  <a:lnTo>
                    <a:pt x="6" y="6"/>
                  </a:lnTo>
                  <a:lnTo>
                    <a:pt x="7" y="5"/>
                  </a:lnTo>
                  <a:lnTo>
                    <a:pt x="7" y="4"/>
                  </a:lnTo>
                  <a:lnTo>
                    <a:pt x="7" y="3"/>
                  </a:lnTo>
                  <a:lnTo>
                    <a:pt x="7" y="2"/>
                  </a:lnTo>
                  <a:lnTo>
                    <a:pt x="6" y="1"/>
                  </a:lnTo>
                  <a:lnTo>
                    <a:pt x="5" y="0"/>
                  </a:lnTo>
                  <a:lnTo>
                    <a:pt x="4" y="0"/>
                  </a:lnTo>
                  <a:lnTo>
                    <a:pt x="4" y="0"/>
                  </a:lnTo>
                  <a:lnTo>
                    <a:pt x="3" y="1"/>
                  </a:lnTo>
                  <a:lnTo>
                    <a:pt x="1" y="2"/>
                  </a:lnTo>
                  <a:lnTo>
                    <a:pt x="0" y="3"/>
                  </a:lnTo>
                  <a:lnTo>
                    <a:pt x="0" y="4"/>
                  </a:lnTo>
                  <a:lnTo>
                    <a:pt x="1" y="5"/>
                  </a:lnTo>
                  <a:lnTo>
                    <a:pt x="3" y="6"/>
                  </a:lnTo>
                  <a:lnTo>
                    <a:pt x="4" y="6"/>
                  </a:lnTo>
                  <a:lnTo>
                    <a:pt x="5" y="6"/>
                  </a:lnTo>
                  <a:close/>
                </a:path>
              </a:pathLst>
            </a:custGeom>
            <a:solidFill>
              <a:srgbClr val="000000"/>
            </a:solidFill>
            <a:ln w="9525">
              <a:noFill/>
              <a:round/>
              <a:headEnd/>
              <a:tailEnd/>
            </a:ln>
          </p:spPr>
          <p:txBody>
            <a:bodyPr/>
            <a:lstStyle/>
            <a:p>
              <a:endParaRPr lang="en-US"/>
            </a:p>
          </p:txBody>
        </p:sp>
        <p:sp>
          <p:nvSpPr>
            <p:cNvPr id="327311" name="Freeform 655"/>
            <p:cNvSpPr>
              <a:spLocks/>
            </p:cNvSpPr>
            <p:nvPr/>
          </p:nvSpPr>
          <p:spPr bwMode="auto">
            <a:xfrm>
              <a:off x="3892" y="1701"/>
              <a:ext cx="7" cy="6"/>
            </a:xfrm>
            <a:custGeom>
              <a:avLst/>
              <a:gdLst/>
              <a:ahLst/>
              <a:cxnLst>
                <a:cxn ang="0">
                  <a:pos x="4" y="6"/>
                </a:cxn>
                <a:cxn ang="0">
                  <a:pos x="5" y="6"/>
                </a:cxn>
                <a:cxn ang="0">
                  <a:pos x="7" y="5"/>
                </a:cxn>
                <a:cxn ang="0">
                  <a:pos x="7" y="4"/>
                </a:cxn>
                <a:cxn ang="0">
                  <a:pos x="7" y="3"/>
                </a:cxn>
                <a:cxn ang="0">
                  <a:pos x="7" y="2"/>
                </a:cxn>
                <a:cxn ang="0">
                  <a:pos x="5" y="1"/>
                </a:cxn>
                <a:cxn ang="0">
                  <a:pos x="4" y="0"/>
                </a:cxn>
                <a:cxn ang="0">
                  <a:pos x="3" y="0"/>
                </a:cxn>
                <a:cxn ang="0">
                  <a:pos x="3" y="0"/>
                </a:cxn>
                <a:cxn ang="0">
                  <a:pos x="2" y="1"/>
                </a:cxn>
                <a:cxn ang="0">
                  <a:pos x="1" y="2"/>
                </a:cxn>
                <a:cxn ang="0">
                  <a:pos x="0" y="3"/>
                </a:cxn>
                <a:cxn ang="0">
                  <a:pos x="0" y="4"/>
                </a:cxn>
                <a:cxn ang="0">
                  <a:pos x="1" y="5"/>
                </a:cxn>
                <a:cxn ang="0">
                  <a:pos x="2" y="6"/>
                </a:cxn>
                <a:cxn ang="0">
                  <a:pos x="3" y="6"/>
                </a:cxn>
                <a:cxn ang="0">
                  <a:pos x="4" y="6"/>
                </a:cxn>
              </a:cxnLst>
              <a:rect l="0" t="0" r="r" b="b"/>
              <a:pathLst>
                <a:path w="7" h="6">
                  <a:moveTo>
                    <a:pt x="4" y="6"/>
                  </a:moveTo>
                  <a:lnTo>
                    <a:pt x="5" y="6"/>
                  </a:lnTo>
                  <a:lnTo>
                    <a:pt x="7" y="5"/>
                  </a:lnTo>
                  <a:lnTo>
                    <a:pt x="7" y="4"/>
                  </a:lnTo>
                  <a:lnTo>
                    <a:pt x="7" y="3"/>
                  </a:lnTo>
                  <a:lnTo>
                    <a:pt x="7" y="2"/>
                  </a:lnTo>
                  <a:lnTo>
                    <a:pt x="5" y="1"/>
                  </a:lnTo>
                  <a:lnTo>
                    <a:pt x="4" y="0"/>
                  </a:lnTo>
                  <a:lnTo>
                    <a:pt x="3" y="0"/>
                  </a:lnTo>
                  <a:lnTo>
                    <a:pt x="3" y="0"/>
                  </a:lnTo>
                  <a:lnTo>
                    <a:pt x="2" y="1"/>
                  </a:lnTo>
                  <a:lnTo>
                    <a:pt x="1" y="2"/>
                  </a:lnTo>
                  <a:lnTo>
                    <a:pt x="0" y="3"/>
                  </a:lnTo>
                  <a:lnTo>
                    <a:pt x="0" y="4"/>
                  </a:lnTo>
                  <a:lnTo>
                    <a:pt x="1" y="5"/>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312" name="Freeform 656"/>
            <p:cNvSpPr>
              <a:spLocks/>
            </p:cNvSpPr>
            <p:nvPr/>
          </p:nvSpPr>
          <p:spPr bwMode="auto">
            <a:xfrm>
              <a:off x="3879" y="1703"/>
              <a:ext cx="7" cy="7"/>
            </a:xfrm>
            <a:custGeom>
              <a:avLst/>
              <a:gdLst/>
              <a:ahLst/>
              <a:cxnLst>
                <a:cxn ang="0">
                  <a:pos x="4" y="7"/>
                </a:cxn>
                <a:cxn ang="0">
                  <a:pos x="5" y="6"/>
                </a:cxn>
                <a:cxn ang="0">
                  <a:pos x="6" y="4"/>
                </a:cxn>
                <a:cxn ang="0">
                  <a:pos x="7" y="3"/>
                </a:cxn>
                <a:cxn ang="0">
                  <a:pos x="7" y="2"/>
                </a:cxn>
                <a:cxn ang="0">
                  <a:pos x="6" y="1"/>
                </a:cxn>
                <a:cxn ang="0">
                  <a:pos x="5" y="0"/>
                </a:cxn>
                <a:cxn ang="0">
                  <a:pos x="4" y="0"/>
                </a:cxn>
                <a:cxn ang="0">
                  <a:pos x="3" y="0"/>
                </a:cxn>
                <a:cxn ang="0">
                  <a:pos x="3" y="0"/>
                </a:cxn>
                <a:cxn ang="0">
                  <a:pos x="1" y="0"/>
                </a:cxn>
                <a:cxn ang="0">
                  <a:pos x="0" y="1"/>
                </a:cxn>
                <a:cxn ang="0">
                  <a:pos x="0" y="2"/>
                </a:cxn>
                <a:cxn ang="0">
                  <a:pos x="0" y="3"/>
                </a:cxn>
                <a:cxn ang="0">
                  <a:pos x="0" y="4"/>
                </a:cxn>
                <a:cxn ang="0">
                  <a:pos x="1" y="6"/>
                </a:cxn>
                <a:cxn ang="0">
                  <a:pos x="3" y="7"/>
                </a:cxn>
                <a:cxn ang="0">
                  <a:pos x="4" y="7"/>
                </a:cxn>
              </a:cxnLst>
              <a:rect l="0" t="0" r="r" b="b"/>
              <a:pathLst>
                <a:path w="7" h="7">
                  <a:moveTo>
                    <a:pt x="4" y="7"/>
                  </a:moveTo>
                  <a:lnTo>
                    <a:pt x="5" y="6"/>
                  </a:lnTo>
                  <a:lnTo>
                    <a:pt x="6" y="4"/>
                  </a:lnTo>
                  <a:lnTo>
                    <a:pt x="7" y="3"/>
                  </a:lnTo>
                  <a:lnTo>
                    <a:pt x="7" y="2"/>
                  </a:lnTo>
                  <a:lnTo>
                    <a:pt x="6" y="1"/>
                  </a:lnTo>
                  <a:lnTo>
                    <a:pt x="5" y="0"/>
                  </a:lnTo>
                  <a:lnTo>
                    <a:pt x="4" y="0"/>
                  </a:lnTo>
                  <a:lnTo>
                    <a:pt x="3" y="0"/>
                  </a:lnTo>
                  <a:lnTo>
                    <a:pt x="3" y="0"/>
                  </a:lnTo>
                  <a:lnTo>
                    <a:pt x="1" y="0"/>
                  </a:lnTo>
                  <a:lnTo>
                    <a:pt x="0" y="1"/>
                  </a:lnTo>
                  <a:lnTo>
                    <a:pt x="0" y="2"/>
                  </a:lnTo>
                  <a:lnTo>
                    <a:pt x="0" y="3"/>
                  </a:lnTo>
                  <a:lnTo>
                    <a:pt x="0" y="4"/>
                  </a:lnTo>
                  <a:lnTo>
                    <a:pt x="1" y="6"/>
                  </a:lnTo>
                  <a:lnTo>
                    <a:pt x="3" y="7"/>
                  </a:lnTo>
                  <a:lnTo>
                    <a:pt x="4" y="7"/>
                  </a:lnTo>
                  <a:close/>
                </a:path>
              </a:pathLst>
            </a:custGeom>
            <a:solidFill>
              <a:srgbClr val="000000"/>
            </a:solidFill>
            <a:ln w="9525">
              <a:noFill/>
              <a:round/>
              <a:headEnd/>
              <a:tailEnd/>
            </a:ln>
          </p:spPr>
          <p:txBody>
            <a:bodyPr/>
            <a:lstStyle/>
            <a:p>
              <a:endParaRPr lang="en-US"/>
            </a:p>
          </p:txBody>
        </p:sp>
        <p:sp>
          <p:nvSpPr>
            <p:cNvPr id="327313" name="Freeform 657"/>
            <p:cNvSpPr>
              <a:spLocks/>
            </p:cNvSpPr>
            <p:nvPr/>
          </p:nvSpPr>
          <p:spPr bwMode="auto">
            <a:xfrm>
              <a:off x="3866" y="1705"/>
              <a:ext cx="7" cy="7"/>
            </a:xfrm>
            <a:custGeom>
              <a:avLst/>
              <a:gdLst/>
              <a:ahLst/>
              <a:cxnLst>
                <a:cxn ang="0">
                  <a:pos x="3" y="7"/>
                </a:cxn>
                <a:cxn ang="0">
                  <a:pos x="4" y="6"/>
                </a:cxn>
                <a:cxn ang="0">
                  <a:pos x="5" y="5"/>
                </a:cxn>
                <a:cxn ang="0">
                  <a:pos x="7" y="4"/>
                </a:cxn>
                <a:cxn ang="0">
                  <a:pos x="7" y="2"/>
                </a:cxn>
                <a:cxn ang="0">
                  <a:pos x="5" y="1"/>
                </a:cxn>
                <a:cxn ang="0">
                  <a:pos x="4" y="0"/>
                </a:cxn>
                <a:cxn ang="0">
                  <a:pos x="3" y="0"/>
                </a:cxn>
                <a:cxn ang="0">
                  <a:pos x="2" y="0"/>
                </a:cxn>
                <a:cxn ang="0">
                  <a:pos x="2" y="0"/>
                </a:cxn>
                <a:cxn ang="0">
                  <a:pos x="1" y="0"/>
                </a:cxn>
                <a:cxn ang="0">
                  <a:pos x="0" y="1"/>
                </a:cxn>
                <a:cxn ang="0">
                  <a:pos x="0" y="2"/>
                </a:cxn>
                <a:cxn ang="0">
                  <a:pos x="0" y="4"/>
                </a:cxn>
                <a:cxn ang="0">
                  <a:pos x="0" y="5"/>
                </a:cxn>
                <a:cxn ang="0">
                  <a:pos x="1" y="6"/>
                </a:cxn>
                <a:cxn ang="0">
                  <a:pos x="2" y="7"/>
                </a:cxn>
                <a:cxn ang="0">
                  <a:pos x="3" y="7"/>
                </a:cxn>
              </a:cxnLst>
              <a:rect l="0" t="0" r="r" b="b"/>
              <a:pathLst>
                <a:path w="7" h="7">
                  <a:moveTo>
                    <a:pt x="3" y="7"/>
                  </a:moveTo>
                  <a:lnTo>
                    <a:pt x="4" y="6"/>
                  </a:lnTo>
                  <a:lnTo>
                    <a:pt x="5" y="5"/>
                  </a:lnTo>
                  <a:lnTo>
                    <a:pt x="7" y="4"/>
                  </a:lnTo>
                  <a:lnTo>
                    <a:pt x="7" y="2"/>
                  </a:lnTo>
                  <a:lnTo>
                    <a:pt x="5" y="1"/>
                  </a:lnTo>
                  <a:lnTo>
                    <a:pt x="4" y="0"/>
                  </a:lnTo>
                  <a:lnTo>
                    <a:pt x="3" y="0"/>
                  </a:lnTo>
                  <a:lnTo>
                    <a:pt x="2" y="0"/>
                  </a:lnTo>
                  <a:lnTo>
                    <a:pt x="2" y="0"/>
                  </a:lnTo>
                  <a:lnTo>
                    <a:pt x="1" y="0"/>
                  </a:lnTo>
                  <a:lnTo>
                    <a:pt x="0" y="1"/>
                  </a:lnTo>
                  <a:lnTo>
                    <a:pt x="0" y="2"/>
                  </a:lnTo>
                  <a:lnTo>
                    <a:pt x="0" y="4"/>
                  </a:lnTo>
                  <a:lnTo>
                    <a:pt x="0" y="5"/>
                  </a:lnTo>
                  <a:lnTo>
                    <a:pt x="1" y="6"/>
                  </a:lnTo>
                  <a:lnTo>
                    <a:pt x="2" y="7"/>
                  </a:lnTo>
                  <a:lnTo>
                    <a:pt x="3" y="7"/>
                  </a:lnTo>
                  <a:close/>
                </a:path>
              </a:pathLst>
            </a:custGeom>
            <a:solidFill>
              <a:srgbClr val="000000"/>
            </a:solidFill>
            <a:ln w="9525">
              <a:noFill/>
              <a:round/>
              <a:headEnd/>
              <a:tailEnd/>
            </a:ln>
          </p:spPr>
          <p:txBody>
            <a:bodyPr/>
            <a:lstStyle/>
            <a:p>
              <a:endParaRPr lang="en-US"/>
            </a:p>
          </p:txBody>
        </p:sp>
        <p:sp>
          <p:nvSpPr>
            <p:cNvPr id="327314" name="Freeform 658"/>
            <p:cNvSpPr>
              <a:spLocks/>
            </p:cNvSpPr>
            <p:nvPr/>
          </p:nvSpPr>
          <p:spPr bwMode="auto">
            <a:xfrm>
              <a:off x="3852" y="1707"/>
              <a:ext cx="7" cy="7"/>
            </a:xfrm>
            <a:custGeom>
              <a:avLst/>
              <a:gdLst/>
              <a:ahLst/>
              <a:cxnLst>
                <a:cxn ang="0">
                  <a:pos x="4" y="7"/>
                </a:cxn>
                <a:cxn ang="0">
                  <a:pos x="5" y="6"/>
                </a:cxn>
                <a:cxn ang="0">
                  <a:pos x="6" y="5"/>
                </a:cxn>
                <a:cxn ang="0">
                  <a:pos x="7" y="4"/>
                </a:cxn>
                <a:cxn ang="0">
                  <a:pos x="7" y="3"/>
                </a:cxn>
                <a:cxn ang="0">
                  <a:pos x="6" y="2"/>
                </a:cxn>
                <a:cxn ang="0">
                  <a:pos x="5" y="0"/>
                </a:cxn>
                <a:cxn ang="0">
                  <a:pos x="4" y="0"/>
                </a:cxn>
                <a:cxn ang="0">
                  <a:pos x="2" y="0"/>
                </a:cxn>
                <a:cxn ang="0">
                  <a:pos x="2" y="0"/>
                </a:cxn>
                <a:cxn ang="0">
                  <a:pos x="1" y="0"/>
                </a:cxn>
                <a:cxn ang="0">
                  <a:pos x="0" y="2"/>
                </a:cxn>
                <a:cxn ang="0">
                  <a:pos x="0" y="3"/>
                </a:cxn>
                <a:cxn ang="0">
                  <a:pos x="0" y="4"/>
                </a:cxn>
                <a:cxn ang="0">
                  <a:pos x="0" y="5"/>
                </a:cxn>
                <a:cxn ang="0">
                  <a:pos x="1" y="6"/>
                </a:cxn>
                <a:cxn ang="0">
                  <a:pos x="2" y="7"/>
                </a:cxn>
                <a:cxn ang="0">
                  <a:pos x="4" y="7"/>
                </a:cxn>
              </a:cxnLst>
              <a:rect l="0" t="0" r="r" b="b"/>
              <a:pathLst>
                <a:path w="7" h="7">
                  <a:moveTo>
                    <a:pt x="4" y="7"/>
                  </a:moveTo>
                  <a:lnTo>
                    <a:pt x="5" y="6"/>
                  </a:lnTo>
                  <a:lnTo>
                    <a:pt x="6" y="5"/>
                  </a:lnTo>
                  <a:lnTo>
                    <a:pt x="7" y="4"/>
                  </a:lnTo>
                  <a:lnTo>
                    <a:pt x="7" y="3"/>
                  </a:lnTo>
                  <a:lnTo>
                    <a:pt x="6" y="2"/>
                  </a:lnTo>
                  <a:lnTo>
                    <a:pt x="5" y="0"/>
                  </a:lnTo>
                  <a:lnTo>
                    <a:pt x="4" y="0"/>
                  </a:lnTo>
                  <a:lnTo>
                    <a:pt x="2" y="0"/>
                  </a:lnTo>
                  <a:lnTo>
                    <a:pt x="2" y="0"/>
                  </a:lnTo>
                  <a:lnTo>
                    <a:pt x="1" y="0"/>
                  </a:lnTo>
                  <a:lnTo>
                    <a:pt x="0" y="2"/>
                  </a:lnTo>
                  <a:lnTo>
                    <a:pt x="0" y="3"/>
                  </a:lnTo>
                  <a:lnTo>
                    <a:pt x="0" y="4"/>
                  </a:lnTo>
                  <a:lnTo>
                    <a:pt x="0" y="5"/>
                  </a:lnTo>
                  <a:lnTo>
                    <a:pt x="1" y="6"/>
                  </a:lnTo>
                  <a:lnTo>
                    <a:pt x="2" y="7"/>
                  </a:lnTo>
                  <a:lnTo>
                    <a:pt x="4" y="7"/>
                  </a:lnTo>
                  <a:close/>
                </a:path>
              </a:pathLst>
            </a:custGeom>
            <a:solidFill>
              <a:srgbClr val="000000"/>
            </a:solidFill>
            <a:ln w="9525">
              <a:noFill/>
              <a:round/>
              <a:headEnd/>
              <a:tailEnd/>
            </a:ln>
          </p:spPr>
          <p:txBody>
            <a:bodyPr/>
            <a:lstStyle/>
            <a:p>
              <a:endParaRPr lang="en-US"/>
            </a:p>
          </p:txBody>
        </p:sp>
        <p:sp>
          <p:nvSpPr>
            <p:cNvPr id="327315" name="Freeform 659"/>
            <p:cNvSpPr>
              <a:spLocks/>
            </p:cNvSpPr>
            <p:nvPr/>
          </p:nvSpPr>
          <p:spPr bwMode="auto">
            <a:xfrm>
              <a:off x="3839" y="1710"/>
              <a:ext cx="6" cy="6"/>
            </a:xfrm>
            <a:custGeom>
              <a:avLst/>
              <a:gdLst/>
              <a:ahLst/>
              <a:cxnLst>
                <a:cxn ang="0">
                  <a:pos x="3" y="6"/>
                </a:cxn>
                <a:cxn ang="0">
                  <a:pos x="4" y="5"/>
                </a:cxn>
                <a:cxn ang="0">
                  <a:pos x="5" y="4"/>
                </a:cxn>
                <a:cxn ang="0">
                  <a:pos x="6" y="3"/>
                </a:cxn>
                <a:cxn ang="0">
                  <a:pos x="6" y="2"/>
                </a:cxn>
                <a:cxn ang="0">
                  <a:pos x="5" y="1"/>
                </a:cxn>
                <a:cxn ang="0">
                  <a:pos x="4" y="0"/>
                </a:cxn>
                <a:cxn ang="0">
                  <a:pos x="3" y="0"/>
                </a:cxn>
                <a:cxn ang="0">
                  <a:pos x="2" y="0"/>
                </a:cxn>
                <a:cxn ang="0">
                  <a:pos x="2" y="0"/>
                </a:cxn>
                <a:cxn ang="0">
                  <a:pos x="1" y="0"/>
                </a:cxn>
                <a:cxn ang="0">
                  <a:pos x="0" y="1"/>
                </a:cxn>
                <a:cxn ang="0">
                  <a:pos x="0" y="2"/>
                </a:cxn>
                <a:cxn ang="0">
                  <a:pos x="0" y="3"/>
                </a:cxn>
                <a:cxn ang="0">
                  <a:pos x="0" y="4"/>
                </a:cxn>
                <a:cxn ang="0">
                  <a:pos x="1" y="5"/>
                </a:cxn>
                <a:cxn ang="0">
                  <a:pos x="2" y="6"/>
                </a:cxn>
                <a:cxn ang="0">
                  <a:pos x="3" y="6"/>
                </a:cxn>
              </a:cxnLst>
              <a:rect l="0" t="0" r="r" b="b"/>
              <a:pathLst>
                <a:path w="6" h="6">
                  <a:moveTo>
                    <a:pt x="3" y="6"/>
                  </a:moveTo>
                  <a:lnTo>
                    <a:pt x="4" y="5"/>
                  </a:lnTo>
                  <a:lnTo>
                    <a:pt x="5" y="4"/>
                  </a:lnTo>
                  <a:lnTo>
                    <a:pt x="6" y="3"/>
                  </a:lnTo>
                  <a:lnTo>
                    <a:pt x="6" y="2"/>
                  </a:lnTo>
                  <a:lnTo>
                    <a:pt x="5" y="1"/>
                  </a:lnTo>
                  <a:lnTo>
                    <a:pt x="4" y="0"/>
                  </a:lnTo>
                  <a:lnTo>
                    <a:pt x="3" y="0"/>
                  </a:lnTo>
                  <a:lnTo>
                    <a:pt x="2" y="0"/>
                  </a:lnTo>
                  <a:lnTo>
                    <a:pt x="2" y="0"/>
                  </a:lnTo>
                  <a:lnTo>
                    <a:pt x="1" y="0"/>
                  </a:lnTo>
                  <a:lnTo>
                    <a:pt x="0" y="1"/>
                  </a:lnTo>
                  <a:lnTo>
                    <a:pt x="0" y="2"/>
                  </a:lnTo>
                  <a:lnTo>
                    <a:pt x="0" y="3"/>
                  </a:lnTo>
                  <a:lnTo>
                    <a:pt x="0" y="4"/>
                  </a:lnTo>
                  <a:lnTo>
                    <a:pt x="1" y="5"/>
                  </a:lnTo>
                  <a:lnTo>
                    <a:pt x="2" y="6"/>
                  </a:lnTo>
                  <a:lnTo>
                    <a:pt x="3" y="6"/>
                  </a:lnTo>
                  <a:close/>
                </a:path>
              </a:pathLst>
            </a:custGeom>
            <a:solidFill>
              <a:srgbClr val="000000"/>
            </a:solidFill>
            <a:ln w="9525">
              <a:noFill/>
              <a:round/>
              <a:headEnd/>
              <a:tailEnd/>
            </a:ln>
          </p:spPr>
          <p:txBody>
            <a:bodyPr/>
            <a:lstStyle/>
            <a:p>
              <a:endParaRPr lang="en-US"/>
            </a:p>
          </p:txBody>
        </p:sp>
        <p:sp>
          <p:nvSpPr>
            <p:cNvPr id="327316" name="Freeform 660"/>
            <p:cNvSpPr>
              <a:spLocks/>
            </p:cNvSpPr>
            <p:nvPr/>
          </p:nvSpPr>
          <p:spPr bwMode="auto">
            <a:xfrm>
              <a:off x="3825" y="1712"/>
              <a:ext cx="7" cy="6"/>
            </a:xfrm>
            <a:custGeom>
              <a:avLst/>
              <a:gdLst/>
              <a:ahLst/>
              <a:cxnLst>
                <a:cxn ang="0">
                  <a:pos x="5" y="6"/>
                </a:cxn>
                <a:cxn ang="0">
                  <a:pos x="6" y="5"/>
                </a:cxn>
                <a:cxn ang="0">
                  <a:pos x="7" y="4"/>
                </a:cxn>
                <a:cxn ang="0">
                  <a:pos x="7" y="3"/>
                </a:cxn>
                <a:cxn ang="0">
                  <a:pos x="7" y="2"/>
                </a:cxn>
                <a:cxn ang="0">
                  <a:pos x="7" y="1"/>
                </a:cxn>
                <a:cxn ang="0">
                  <a:pos x="6" y="0"/>
                </a:cxn>
                <a:cxn ang="0">
                  <a:pos x="5" y="0"/>
                </a:cxn>
                <a:cxn ang="0">
                  <a:pos x="3" y="0"/>
                </a:cxn>
                <a:cxn ang="0">
                  <a:pos x="3" y="0"/>
                </a:cxn>
                <a:cxn ang="0">
                  <a:pos x="2" y="0"/>
                </a:cxn>
                <a:cxn ang="0">
                  <a:pos x="1" y="1"/>
                </a:cxn>
                <a:cxn ang="0">
                  <a:pos x="0" y="2"/>
                </a:cxn>
                <a:cxn ang="0">
                  <a:pos x="0" y="3"/>
                </a:cxn>
                <a:cxn ang="0">
                  <a:pos x="1" y="4"/>
                </a:cxn>
                <a:cxn ang="0">
                  <a:pos x="2" y="5"/>
                </a:cxn>
                <a:cxn ang="0">
                  <a:pos x="3" y="6"/>
                </a:cxn>
                <a:cxn ang="0">
                  <a:pos x="5" y="6"/>
                </a:cxn>
              </a:cxnLst>
              <a:rect l="0" t="0" r="r" b="b"/>
              <a:pathLst>
                <a:path w="7" h="6">
                  <a:moveTo>
                    <a:pt x="5" y="6"/>
                  </a:moveTo>
                  <a:lnTo>
                    <a:pt x="6" y="5"/>
                  </a:lnTo>
                  <a:lnTo>
                    <a:pt x="7" y="4"/>
                  </a:lnTo>
                  <a:lnTo>
                    <a:pt x="7" y="3"/>
                  </a:lnTo>
                  <a:lnTo>
                    <a:pt x="7" y="2"/>
                  </a:lnTo>
                  <a:lnTo>
                    <a:pt x="7" y="1"/>
                  </a:lnTo>
                  <a:lnTo>
                    <a:pt x="6" y="0"/>
                  </a:lnTo>
                  <a:lnTo>
                    <a:pt x="5" y="0"/>
                  </a:lnTo>
                  <a:lnTo>
                    <a:pt x="3" y="0"/>
                  </a:lnTo>
                  <a:lnTo>
                    <a:pt x="3" y="0"/>
                  </a:lnTo>
                  <a:lnTo>
                    <a:pt x="2" y="0"/>
                  </a:lnTo>
                  <a:lnTo>
                    <a:pt x="1" y="1"/>
                  </a:lnTo>
                  <a:lnTo>
                    <a:pt x="0" y="2"/>
                  </a:lnTo>
                  <a:lnTo>
                    <a:pt x="0" y="3"/>
                  </a:lnTo>
                  <a:lnTo>
                    <a:pt x="1" y="4"/>
                  </a:lnTo>
                  <a:lnTo>
                    <a:pt x="2" y="5"/>
                  </a:lnTo>
                  <a:lnTo>
                    <a:pt x="3" y="6"/>
                  </a:lnTo>
                  <a:lnTo>
                    <a:pt x="5" y="6"/>
                  </a:lnTo>
                  <a:close/>
                </a:path>
              </a:pathLst>
            </a:custGeom>
            <a:solidFill>
              <a:srgbClr val="000000"/>
            </a:solidFill>
            <a:ln w="9525">
              <a:noFill/>
              <a:round/>
              <a:headEnd/>
              <a:tailEnd/>
            </a:ln>
          </p:spPr>
          <p:txBody>
            <a:bodyPr/>
            <a:lstStyle/>
            <a:p>
              <a:endParaRPr lang="en-US"/>
            </a:p>
          </p:txBody>
        </p:sp>
        <p:sp>
          <p:nvSpPr>
            <p:cNvPr id="327317" name="Freeform 661"/>
            <p:cNvSpPr>
              <a:spLocks/>
            </p:cNvSpPr>
            <p:nvPr/>
          </p:nvSpPr>
          <p:spPr bwMode="auto">
            <a:xfrm>
              <a:off x="3812" y="1714"/>
              <a:ext cx="6" cy="6"/>
            </a:xfrm>
            <a:custGeom>
              <a:avLst/>
              <a:gdLst/>
              <a:ahLst/>
              <a:cxnLst>
                <a:cxn ang="0">
                  <a:pos x="4" y="6"/>
                </a:cxn>
                <a:cxn ang="0">
                  <a:pos x="5" y="5"/>
                </a:cxn>
                <a:cxn ang="0">
                  <a:pos x="6" y="4"/>
                </a:cxn>
                <a:cxn ang="0">
                  <a:pos x="6" y="3"/>
                </a:cxn>
                <a:cxn ang="0">
                  <a:pos x="6" y="2"/>
                </a:cxn>
                <a:cxn ang="0">
                  <a:pos x="6" y="1"/>
                </a:cxn>
                <a:cxn ang="0">
                  <a:pos x="5" y="0"/>
                </a:cxn>
                <a:cxn ang="0">
                  <a:pos x="4" y="0"/>
                </a:cxn>
                <a:cxn ang="0">
                  <a:pos x="3" y="0"/>
                </a:cxn>
                <a:cxn ang="0">
                  <a:pos x="3" y="0"/>
                </a:cxn>
                <a:cxn ang="0">
                  <a:pos x="2" y="0"/>
                </a:cxn>
                <a:cxn ang="0">
                  <a:pos x="1" y="1"/>
                </a:cxn>
                <a:cxn ang="0">
                  <a:pos x="0" y="2"/>
                </a:cxn>
                <a:cxn ang="0">
                  <a:pos x="0" y="3"/>
                </a:cxn>
                <a:cxn ang="0">
                  <a:pos x="1" y="4"/>
                </a:cxn>
                <a:cxn ang="0">
                  <a:pos x="2" y="5"/>
                </a:cxn>
                <a:cxn ang="0">
                  <a:pos x="3" y="6"/>
                </a:cxn>
                <a:cxn ang="0">
                  <a:pos x="4" y="6"/>
                </a:cxn>
              </a:cxnLst>
              <a:rect l="0" t="0" r="r" b="b"/>
              <a:pathLst>
                <a:path w="6" h="6">
                  <a:moveTo>
                    <a:pt x="4" y="6"/>
                  </a:moveTo>
                  <a:lnTo>
                    <a:pt x="5" y="5"/>
                  </a:lnTo>
                  <a:lnTo>
                    <a:pt x="6" y="4"/>
                  </a:lnTo>
                  <a:lnTo>
                    <a:pt x="6" y="3"/>
                  </a:lnTo>
                  <a:lnTo>
                    <a:pt x="6" y="2"/>
                  </a:lnTo>
                  <a:lnTo>
                    <a:pt x="6" y="1"/>
                  </a:lnTo>
                  <a:lnTo>
                    <a:pt x="5" y="0"/>
                  </a:lnTo>
                  <a:lnTo>
                    <a:pt x="4" y="0"/>
                  </a:lnTo>
                  <a:lnTo>
                    <a:pt x="3" y="0"/>
                  </a:lnTo>
                  <a:lnTo>
                    <a:pt x="3" y="0"/>
                  </a:lnTo>
                  <a:lnTo>
                    <a:pt x="2" y="0"/>
                  </a:lnTo>
                  <a:lnTo>
                    <a:pt x="1" y="1"/>
                  </a:lnTo>
                  <a:lnTo>
                    <a:pt x="0" y="2"/>
                  </a:lnTo>
                  <a:lnTo>
                    <a:pt x="0" y="3"/>
                  </a:lnTo>
                  <a:lnTo>
                    <a:pt x="1" y="4"/>
                  </a:lnTo>
                  <a:lnTo>
                    <a:pt x="2" y="5"/>
                  </a:lnTo>
                  <a:lnTo>
                    <a:pt x="3" y="6"/>
                  </a:lnTo>
                  <a:lnTo>
                    <a:pt x="4" y="6"/>
                  </a:lnTo>
                  <a:close/>
                </a:path>
              </a:pathLst>
            </a:custGeom>
            <a:solidFill>
              <a:srgbClr val="000000"/>
            </a:solidFill>
            <a:ln w="9525">
              <a:noFill/>
              <a:round/>
              <a:headEnd/>
              <a:tailEnd/>
            </a:ln>
          </p:spPr>
          <p:txBody>
            <a:bodyPr/>
            <a:lstStyle/>
            <a:p>
              <a:endParaRPr lang="en-US"/>
            </a:p>
          </p:txBody>
        </p:sp>
        <p:sp>
          <p:nvSpPr>
            <p:cNvPr id="327318" name="Freeform 662"/>
            <p:cNvSpPr>
              <a:spLocks/>
            </p:cNvSpPr>
            <p:nvPr/>
          </p:nvSpPr>
          <p:spPr bwMode="auto">
            <a:xfrm>
              <a:off x="3798" y="1715"/>
              <a:ext cx="7" cy="6"/>
            </a:xfrm>
            <a:custGeom>
              <a:avLst/>
              <a:gdLst/>
              <a:ahLst/>
              <a:cxnLst>
                <a:cxn ang="0">
                  <a:pos x="5" y="6"/>
                </a:cxn>
                <a:cxn ang="0">
                  <a:pos x="6" y="6"/>
                </a:cxn>
                <a:cxn ang="0">
                  <a:pos x="7" y="5"/>
                </a:cxn>
                <a:cxn ang="0">
                  <a:pos x="7" y="4"/>
                </a:cxn>
                <a:cxn ang="0">
                  <a:pos x="7" y="3"/>
                </a:cxn>
                <a:cxn ang="0">
                  <a:pos x="7" y="2"/>
                </a:cxn>
                <a:cxn ang="0">
                  <a:pos x="6" y="1"/>
                </a:cxn>
                <a:cxn ang="0">
                  <a:pos x="5" y="0"/>
                </a:cxn>
                <a:cxn ang="0">
                  <a:pos x="3" y="0"/>
                </a:cxn>
                <a:cxn ang="0">
                  <a:pos x="3" y="0"/>
                </a:cxn>
                <a:cxn ang="0">
                  <a:pos x="2" y="1"/>
                </a:cxn>
                <a:cxn ang="0">
                  <a:pos x="1" y="2"/>
                </a:cxn>
                <a:cxn ang="0">
                  <a:pos x="0" y="3"/>
                </a:cxn>
                <a:cxn ang="0">
                  <a:pos x="0" y="4"/>
                </a:cxn>
                <a:cxn ang="0">
                  <a:pos x="1" y="5"/>
                </a:cxn>
                <a:cxn ang="0">
                  <a:pos x="2" y="6"/>
                </a:cxn>
                <a:cxn ang="0">
                  <a:pos x="3" y="6"/>
                </a:cxn>
                <a:cxn ang="0">
                  <a:pos x="5" y="6"/>
                </a:cxn>
              </a:cxnLst>
              <a:rect l="0" t="0" r="r" b="b"/>
              <a:pathLst>
                <a:path w="7" h="6">
                  <a:moveTo>
                    <a:pt x="5" y="6"/>
                  </a:moveTo>
                  <a:lnTo>
                    <a:pt x="6" y="6"/>
                  </a:lnTo>
                  <a:lnTo>
                    <a:pt x="7" y="5"/>
                  </a:lnTo>
                  <a:lnTo>
                    <a:pt x="7" y="4"/>
                  </a:lnTo>
                  <a:lnTo>
                    <a:pt x="7" y="3"/>
                  </a:lnTo>
                  <a:lnTo>
                    <a:pt x="7" y="2"/>
                  </a:lnTo>
                  <a:lnTo>
                    <a:pt x="6" y="1"/>
                  </a:lnTo>
                  <a:lnTo>
                    <a:pt x="5" y="0"/>
                  </a:lnTo>
                  <a:lnTo>
                    <a:pt x="3" y="0"/>
                  </a:lnTo>
                  <a:lnTo>
                    <a:pt x="3" y="0"/>
                  </a:lnTo>
                  <a:lnTo>
                    <a:pt x="2" y="1"/>
                  </a:lnTo>
                  <a:lnTo>
                    <a:pt x="1" y="2"/>
                  </a:lnTo>
                  <a:lnTo>
                    <a:pt x="0" y="3"/>
                  </a:lnTo>
                  <a:lnTo>
                    <a:pt x="0" y="4"/>
                  </a:lnTo>
                  <a:lnTo>
                    <a:pt x="1" y="5"/>
                  </a:lnTo>
                  <a:lnTo>
                    <a:pt x="2" y="6"/>
                  </a:lnTo>
                  <a:lnTo>
                    <a:pt x="3" y="6"/>
                  </a:lnTo>
                  <a:lnTo>
                    <a:pt x="5" y="6"/>
                  </a:lnTo>
                  <a:close/>
                </a:path>
              </a:pathLst>
            </a:custGeom>
            <a:solidFill>
              <a:srgbClr val="000000"/>
            </a:solidFill>
            <a:ln w="9525">
              <a:noFill/>
              <a:round/>
              <a:headEnd/>
              <a:tailEnd/>
            </a:ln>
          </p:spPr>
          <p:txBody>
            <a:bodyPr/>
            <a:lstStyle/>
            <a:p>
              <a:endParaRPr lang="en-US"/>
            </a:p>
          </p:txBody>
        </p:sp>
        <p:sp>
          <p:nvSpPr>
            <p:cNvPr id="327319" name="Freeform 663"/>
            <p:cNvSpPr>
              <a:spLocks/>
            </p:cNvSpPr>
            <p:nvPr/>
          </p:nvSpPr>
          <p:spPr bwMode="auto">
            <a:xfrm>
              <a:off x="3786" y="1717"/>
              <a:ext cx="6" cy="6"/>
            </a:xfrm>
            <a:custGeom>
              <a:avLst/>
              <a:gdLst/>
              <a:ahLst/>
              <a:cxnLst>
                <a:cxn ang="0">
                  <a:pos x="3" y="6"/>
                </a:cxn>
                <a:cxn ang="0">
                  <a:pos x="4" y="6"/>
                </a:cxn>
                <a:cxn ang="0">
                  <a:pos x="5" y="5"/>
                </a:cxn>
                <a:cxn ang="0">
                  <a:pos x="6" y="4"/>
                </a:cxn>
                <a:cxn ang="0">
                  <a:pos x="6" y="3"/>
                </a:cxn>
                <a:cxn ang="0">
                  <a:pos x="5" y="2"/>
                </a:cxn>
                <a:cxn ang="0">
                  <a:pos x="4" y="1"/>
                </a:cxn>
                <a:cxn ang="0">
                  <a:pos x="3" y="0"/>
                </a:cxn>
                <a:cxn ang="0">
                  <a:pos x="2" y="0"/>
                </a:cxn>
                <a:cxn ang="0">
                  <a:pos x="2" y="0"/>
                </a:cxn>
                <a:cxn ang="0">
                  <a:pos x="1" y="1"/>
                </a:cxn>
                <a:cxn ang="0">
                  <a:pos x="0" y="2"/>
                </a:cxn>
                <a:cxn ang="0">
                  <a:pos x="0" y="3"/>
                </a:cxn>
                <a:cxn ang="0">
                  <a:pos x="0" y="4"/>
                </a:cxn>
                <a:cxn ang="0">
                  <a:pos x="0" y="5"/>
                </a:cxn>
                <a:cxn ang="0">
                  <a:pos x="1" y="6"/>
                </a:cxn>
                <a:cxn ang="0">
                  <a:pos x="2" y="6"/>
                </a:cxn>
                <a:cxn ang="0">
                  <a:pos x="3" y="6"/>
                </a:cxn>
              </a:cxnLst>
              <a:rect l="0" t="0" r="r" b="b"/>
              <a:pathLst>
                <a:path w="6" h="6">
                  <a:moveTo>
                    <a:pt x="3" y="6"/>
                  </a:moveTo>
                  <a:lnTo>
                    <a:pt x="4" y="6"/>
                  </a:lnTo>
                  <a:lnTo>
                    <a:pt x="5" y="5"/>
                  </a:lnTo>
                  <a:lnTo>
                    <a:pt x="6" y="4"/>
                  </a:lnTo>
                  <a:lnTo>
                    <a:pt x="6" y="3"/>
                  </a:lnTo>
                  <a:lnTo>
                    <a:pt x="5" y="2"/>
                  </a:lnTo>
                  <a:lnTo>
                    <a:pt x="4" y="1"/>
                  </a:lnTo>
                  <a:lnTo>
                    <a:pt x="3" y="0"/>
                  </a:lnTo>
                  <a:lnTo>
                    <a:pt x="2" y="0"/>
                  </a:lnTo>
                  <a:lnTo>
                    <a:pt x="2" y="0"/>
                  </a:lnTo>
                  <a:lnTo>
                    <a:pt x="1" y="1"/>
                  </a:lnTo>
                  <a:lnTo>
                    <a:pt x="0" y="2"/>
                  </a:lnTo>
                  <a:lnTo>
                    <a:pt x="0" y="3"/>
                  </a:lnTo>
                  <a:lnTo>
                    <a:pt x="0" y="4"/>
                  </a:lnTo>
                  <a:lnTo>
                    <a:pt x="0" y="5"/>
                  </a:lnTo>
                  <a:lnTo>
                    <a:pt x="1" y="6"/>
                  </a:lnTo>
                  <a:lnTo>
                    <a:pt x="2" y="6"/>
                  </a:lnTo>
                  <a:lnTo>
                    <a:pt x="3" y="6"/>
                  </a:lnTo>
                  <a:close/>
                </a:path>
              </a:pathLst>
            </a:custGeom>
            <a:solidFill>
              <a:srgbClr val="000000"/>
            </a:solidFill>
            <a:ln w="9525">
              <a:noFill/>
              <a:round/>
              <a:headEnd/>
              <a:tailEnd/>
            </a:ln>
          </p:spPr>
          <p:txBody>
            <a:bodyPr/>
            <a:lstStyle/>
            <a:p>
              <a:endParaRPr lang="en-US"/>
            </a:p>
          </p:txBody>
        </p:sp>
        <p:sp>
          <p:nvSpPr>
            <p:cNvPr id="327320" name="Freeform 664"/>
            <p:cNvSpPr>
              <a:spLocks/>
            </p:cNvSpPr>
            <p:nvPr/>
          </p:nvSpPr>
          <p:spPr bwMode="auto">
            <a:xfrm>
              <a:off x="3772" y="1719"/>
              <a:ext cx="7" cy="6"/>
            </a:xfrm>
            <a:custGeom>
              <a:avLst/>
              <a:gdLst/>
              <a:ahLst/>
              <a:cxnLst>
                <a:cxn ang="0">
                  <a:pos x="3" y="6"/>
                </a:cxn>
                <a:cxn ang="0">
                  <a:pos x="5" y="6"/>
                </a:cxn>
                <a:cxn ang="0">
                  <a:pos x="6" y="5"/>
                </a:cxn>
                <a:cxn ang="0">
                  <a:pos x="7" y="4"/>
                </a:cxn>
                <a:cxn ang="0">
                  <a:pos x="7" y="3"/>
                </a:cxn>
                <a:cxn ang="0">
                  <a:pos x="6" y="2"/>
                </a:cxn>
                <a:cxn ang="0">
                  <a:pos x="5" y="1"/>
                </a:cxn>
                <a:cxn ang="0">
                  <a:pos x="3" y="0"/>
                </a:cxn>
                <a:cxn ang="0">
                  <a:pos x="2" y="0"/>
                </a:cxn>
                <a:cxn ang="0">
                  <a:pos x="2" y="0"/>
                </a:cxn>
                <a:cxn ang="0">
                  <a:pos x="1" y="1"/>
                </a:cxn>
                <a:cxn ang="0">
                  <a:pos x="0" y="2"/>
                </a:cxn>
                <a:cxn ang="0">
                  <a:pos x="0" y="3"/>
                </a:cxn>
                <a:cxn ang="0">
                  <a:pos x="0" y="4"/>
                </a:cxn>
                <a:cxn ang="0">
                  <a:pos x="0" y="5"/>
                </a:cxn>
                <a:cxn ang="0">
                  <a:pos x="1" y="6"/>
                </a:cxn>
                <a:cxn ang="0">
                  <a:pos x="2" y="6"/>
                </a:cxn>
                <a:cxn ang="0">
                  <a:pos x="3" y="6"/>
                </a:cxn>
              </a:cxnLst>
              <a:rect l="0" t="0" r="r" b="b"/>
              <a:pathLst>
                <a:path w="7" h="6">
                  <a:moveTo>
                    <a:pt x="3" y="6"/>
                  </a:moveTo>
                  <a:lnTo>
                    <a:pt x="5" y="6"/>
                  </a:lnTo>
                  <a:lnTo>
                    <a:pt x="6" y="5"/>
                  </a:lnTo>
                  <a:lnTo>
                    <a:pt x="7" y="4"/>
                  </a:lnTo>
                  <a:lnTo>
                    <a:pt x="7" y="3"/>
                  </a:lnTo>
                  <a:lnTo>
                    <a:pt x="6" y="2"/>
                  </a:lnTo>
                  <a:lnTo>
                    <a:pt x="5" y="1"/>
                  </a:lnTo>
                  <a:lnTo>
                    <a:pt x="3" y="0"/>
                  </a:lnTo>
                  <a:lnTo>
                    <a:pt x="2" y="0"/>
                  </a:lnTo>
                  <a:lnTo>
                    <a:pt x="2" y="0"/>
                  </a:lnTo>
                  <a:lnTo>
                    <a:pt x="1" y="1"/>
                  </a:lnTo>
                  <a:lnTo>
                    <a:pt x="0" y="2"/>
                  </a:lnTo>
                  <a:lnTo>
                    <a:pt x="0" y="3"/>
                  </a:lnTo>
                  <a:lnTo>
                    <a:pt x="0" y="4"/>
                  </a:lnTo>
                  <a:lnTo>
                    <a:pt x="0" y="5"/>
                  </a:lnTo>
                  <a:lnTo>
                    <a:pt x="1" y="6"/>
                  </a:lnTo>
                  <a:lnTo>
                    <a:pt x="2" y="6"/>
                  </a:lnTo>
                  <a:lnTo>
                    <a:pt x="3" y="6"/>
                  </a:lnTo>
                  <a:close/>
                </a:path>
              </a:pathLst>
            </a:custGeom>
            <a:solidFill>
              <a:srgbClr val="000000"/>
            </a:solidFill>
            <a:ln w="9525">
              <a:noFill/>
              <a:round/>
              <a:headEnd/>
              <a:tailEnd/>
            </a:ln>
          </p:spPr>
          <p:txBody>
            <a:bodyPr/>
            <a:lstStyle/>
            <a:p>
              <a:endParaRPr lang="en-US"/>
            </a:p>
          </p:txBody>
        </p:sp>
        <p:sp>
          <p:nvSpPr>
            <p:cNvPr id="327321" name="Freeform 665"/>
            <p:cNvSpPr>
              <a:spLocks/>
            </p:cNvSpPr>
            <p:nvPr/>
          </p:nvSpPr>
          <p:spPr bwMode="auto">
            <a:xfrm>
              <a:off x="3758" y="1721"/>
              <a:ext cx="7" cy="6"/>
            </a:xfrm>
            <a:custGeom>
              <a:avLst/>
              <a:gdLst/>
              <a:ahLst/>
              <a:cxnLst>
                <a:cxn ang="0">
                  <a:pos x="4" y="6"/>
                </a:cxn>
                <a:cxn ang="0">
                  <a:pos x="5" y="6"/>
                </a:cxn>
                <a:cxn ang="0">
                  <a:pos x="6" y="5"/>
                </a:cxn>
                <a:cxn ang="0">
                  <a:pos x="7" y="4"/>
                </a:cxn>
                <a:cxn ang="0">
                  <a:pos x="7" y="3"/>
                </a:cxn>
                <a:cxn ang="0">
                  <a:pos x="6" y="2"/>
                </a:cxn>
                <a:cxn ang="0">
                  <a:pos x="5" y="1"/>
                </a:cxn>
                <a:cxn ang="0">
                  <a:pos x="4" y="0"/>
                </a:cxn>
                <a:cxn ang="0">
                  <a:pos x="3" y="0"/>
                </a:cxn>
                <a:cxn ang="0">
                  <a:pos x="3" y="0"/>
                </a:cxn>
                <a:cxn ang="0">
                  <a:pos x="2" y="1"/>
                </a:cxn>
                <a:cxn ang="0">
                  <a:pos x="0" y="2"/>
                </a:cxn>
                <a:cxn ang="0">
                  <a:pos x="0" y="3"/>
                </a:cxn>
                <a:cxn ang="0">
                  <a:pos x="0" y="4"/>
                </a:cxn>
                <a:cxn ang="0">
                  <a:pos x="0" y="5"/>
                </a:cxn>
                <a:cxn ang="0">
                  <a:pos x="2" y="6"/>
                </a:cxn>
                <a:cxn ang="0">
                  <a:pos x="3" y="6"/>
                </a:cxn>
                <a:cxn ang="0">
                  <a:pos x="4" y="6"/>
                </a:cxn>
              </a:cxnLst>
              <a:rect l="0" t="0" r="r" b="b"/>
              <a:pathLst>
                <a:path w="7" h="6">
                  <a:moveTo>
                    <a:pt x="4" y="6"/>
                  </a:moveTo>
                  <a:lnTo>
                    <a:pt x="5" y="6"/>
                  </a:lnTo>
                  <a:lnTo>
                    <a:pt x="6" y="5"/>
                  </a:lnTo>
                  <a:lnTo>
                    <a:pt x="7" y="4"/>
                  </a:lnTo>
                  <a:lnTo>
                    <a:pt x="7" y="3"/>
                  </a:lnTo>
                  <a:lnTo>
                    <a:pt x="6" y="2"/>
                  </a:lnTo>
                  <a:lnTo>
                    <a:pt x="5" y="1"/>
                  </a:lnTo>
                  <a:lnTo>
                    <a:pt x="4" y="0"/>
                  </a:lnTo>
                  <a:lnTo>
                    <a:pt x="3" y="0"/>
                  </a:lnTo>
                  <a:lnTo>
                    <a:pt x="3" y="0"/>
                  </a:lnTo>
                  <a:lnTo>
                    <a:pt x="2" y="1"/>
                  </a:lnTo>
                  <a:lnTo>
                    <a:pt x="0" y="2"/>
                  </a:lnTo>
                  <a:lnTo>
                    <a:pt x="0" y="3"/>
                  </a:lnTo>
                  <a:lnTo>
                    <a:pt x="0" y="4"/>
                  </a:lnTo>
                  <a:lnTo>
                    <a:pt x="0" y="5"/>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322" name="Freeform 666"/>
            <p:cNvSpPr>
              <a:spLocks/>
            </p:cNvSpPr>
            <p:nvPr/>
          </p:nvSpPr>
          <p:spPr bwMode="auto">
            <a:xfrm>
              <a:off x="3745" y="1723"/>
              <a:ext cx="7" cy="7"/>
            </a:xfrm>
            <a:custGeom>
              <a:avLst/>
              <a:gdLst/>
              <a:ahLst/>
              <a:cxnLst>
                <a:cxn ang="0">
                  <a:pos x="4" y="7"/>
                </a:cxn>
                <a:cxn ang="0">
                  <a:pos x="4" y="6"/>
                </a:cxn>
                <a:cxn ang="0">
                  <a:pos x="6" y="4"/>
                </a:cxn>
                <a:cxn ang="0">
                  <a:pos x="7" y="3"/>
                </a:cxn>
                <a:cxn ang="0">
                  <a:pos x="7" y="3"/>
                </a:cxn>
                <a:cxn ang="0">
                  <a:pos x="6" y="2"/>
                </a:cxn>
                <a:cxn ang="0">
                  <a:pos x="4" y="1"/>
                </a:cxn>
                <a:cxn ang="0">
                  <a:pos x="3" y="0"/>
                </a:cxn>
                <a:cxn ang="0">
                  <a:pos x="3" y="0"/>
                </a:cxn>
                <a:cxn ang="0">
                  <a:pos x="3" y="0"/>
                </a:cxn>
                <a:cxn ang="0">
                  <a:pos x="2" y="1"/>
                </a:cxn>
                <a:cxn ang="0">
                  <a:pos x="1" y="2"/>
                </a:cxn>
                <a:cxn ang="0">
                  <a:pos x="0" y="3"/>
                </a:cxn>
                <a:cxn ang="0">
                  <a:pos x="0" y="3"/>
                </a:cxn>
                <a:cxn ang="0">
                  <a:pos x="1" y="4"/>
                </a:cxn>
                <a:cxn ang="0">
                  <a:pos x="2" y="6"/>
                </a:cxn>
                <a:cxn ang="0">
                  <a:pos x="3" y="7"/>
                </a:cxn>
                <a:cxn ang="0">
                  <a:pos x="4" y="7"/>
                </a:cxn>
              </a:cxnLst>
              <a:rect l="0" t="0" r="r" b="b"/>
              <a:pathLst>
                <a:path w="7" h="7">
                  <a:moveTo>
                    <a:pt x="4" y="7"/>
                  </a:moveTo>
                  <a:lnTo>
                    <a:pt x="4" y="6"/>
                  </a:lnTo>
                  <a:lnTo>
                    <a:pt x="6" y="4"/>
                  </a:lnTo>
                  <a:lnTo>
                    <a:pt x="7" y="3"/>
                  </a:lnTo>
                  <a:lnTo>
                    <a:pt x="7" y="3"/>
                  </a:lnTo>
                  <a:lnTo>
                    <a:pt x="6" y="2"/>
                  </a:lnTo>
                  <a:lnTo>
                    <a:pt x="4" y="1"/>
                  </a:lnTo>
                  <a:lnTo>
                    <a:pt x="3" y="0"/>
                  </a:lnTo>
                  <a:lnTo>
                    <a:pt x="3" y="0"/>
                  </a:lnTo>
                  <a:lnTo>
                    <a:pt x="3" y="0"/>
                  </a:lnTo>
                  <a:lnTo>
                    <a:pt x="2" y="1"/>
                  </a:lnTo>
                  <a:lnTo>
                    <a:pt x="1" y="2"/>
                  </a:lnTo>
                  <a:lnTo>
                    <a:pt x="0" y="3"/>
                  </a:lnTo>
                  <a:lnTo>
                    <a:pt x="0" y="3"/>
                  </a:lnTo>
                  <a:lnTo>
                    <a:pt x="1" y="4"/>
                  </a:lnTo>
                  <a:lnTo>
                    <a:pt x="2" y="6"/>
                  </a:lnTo>
                  <a:lnTo>
                    <a:pt x="3" y="7"/>
                  </a:lnTo>
                  <a:lnTo>
                    <a:pt x="4" y="7"/>
                  </a:lnTo>
                  <a:close/>
                </a:path>
              </a:pathLst>
            </a:custGeom>
            <a:solidFill>
              <a:srgbClr val="000000"/>
            </a:solidFill>
            <a:ln w="9525">
              <a:noFill/>
              <a:round/>
              <a:headEnd/>
              <a:tailEnd/>
            </a:ln>
          </p:spPr>
          <p:txBody>
            <a:bodyPr/>
            <a:lstStyle/>
            <a:p>
              <a:endParaRPr lang="en-US"/>
            </a:p>
          </p:txBody>
        </p:sp>
        <p:sp>
          <p:nvSpPr>
            <p:cNvPr id="327323" name="Freeform 667"/>
            <p:cNvSpPr>
              <a:spLocks/>
            </p:cNvSpPr>
            <p:nvPr/>
          </p:nvSpPr>
          <p:spPr bwMode="auto">
            <a:xfrm>
              <a:off x="3731" y="1725"/>
              <a:ext cx="7" cy="7"/>
            </a:xfrm>
            <a:custGeom>
              <a:avLst/>
              <a:gdLst/>
              <a:ahLst/>
              <a:cxnLst>
                <a:cxn ang="0">
                  <a:pos x="5" y="7"/>
                </a:cxn>
                <a:cxn ang="0">
                  <a:pos x="6" y="6"/>
                </a:cxn>
                <a:cxn ang="0">
                  <a:pos x="7" y="5"/>
                </a:cxn>
                <a:cxn ang="0">
                  <a:pos x="7" y="4"/>
                </a:cxn>
                <a:cxn ang="0">
                  <a:pos x="7" y="2"/>
                </a:cxn>
                <a:cxn ang="0">
                  <a:pos x="7" y="1"/>
                </a:cxn>
                <a:cxn ang="0">
                  <a:pos x="6" y="0"/>
                </a:cxn>
                <a:cxn ang="0">
                  <a:pos x="5" y="0"/>
                </a:cxn>
                <a:cxn ang="0">
                  <a:pos x="4" y="0"/>
                </a:cxn>
                <a:cxn ang="0">
                  <a:pos x="4" y="0"/>
                </a:cxn>
                <a:cxn ang="0">
                  <a:pos x="3" y="0"/>
                </a:cxn>
                <a:cxn ang="0">
                  <a:pos x="1" y="1"/>
                </a:cxn>
                <a:cxn ang="0">
                  <a:pos x="0" y="2"/>
                </a:cxn>
                <a:cxn ang="0">
                  <a:pos x="0" y="4"/>
                </a:cxn>
                <a:cxn ang="0">
                  <a:pos x="1" y="5"/>
                </a:cxn>
                <a:cxn ang="0">
                  <a:pos x="3" y="6"/>
                </a:cxn>
                <a:cxn ang="0">
                  <a:pos x="4" y="7"/>
                </a:cxn>
                <a:cxn ang="0">
                  <a:pos x="5" y="7"/>
                </a:cxn>
              </a:cxnLst>
              <a:rect l="0" t="0" r="r" b="b"/>
              <a:pathLst>
                <a:path w="7" h="7">
                  <a:moveTo>
                    <a:pt x="5" y="7"/>
                  </a:moveTo>
                  <a:lnTo>
                    <a:pt x="6" y="6"/>
                  </a:lnTo>
                  <a:lnTo>
                    <a:pt x="7" y="5"/>
                  </a:lnTo>
                  <a:lnTo>
                    <a:pt x="7" y="4"/>
                  </a:lnTo>
                  <a:lnTo>
                    <a:pt x="7" y="2"/>
                  </a:lnTo>
                  <a:lnTo>
                    <a:pt x="7" y="1"/>
                  </a:lnTo>
                  <a:lnTo>
                    <a:pt x="6" y="0"/>
                  </a:lnTo>
                  <a:lnTo>
                    <a:pt x="5" y="0"/>
                  </a:lnTo>
                  <a:lnTo>
                    <a:pt x="4" y="0"/>
                  </a:lnTo>
                  <a:lnTo>
                    <a:pt x="4" y="0"/>
                  </a:lnTo>
                  <a:lnTo>
                    <a:pt x="3" y="0"/>
                  </a:lnTo>
                  <a:lnTo>
                    <a:pt x="1" y="1"/>
                  </a:lnTo>
                  <a:lnTo>
                    <a:pt x="0" y="2"/>
                  </a:lnTo>
                  <a:lnTo>
                    <a:pt x="0" y="4"/>
                  </a:lnTo>
                  <a:lnTo>
                    <a:pt x="1" y="5"/>
                  </a:lnTo>
                  <a:lnTo>
                    <a:pt x="3" y="6"/>
                  </a:lnTo>
                  <a:lnTo>
                    <a:pt x="4" y="7"/>
                  </a:lnTo>
                  <a:lnTo>
                    <a:pt x="5" y="7"/>
                  </a:lnTo>
                  <a:close/>
                </a:path>
              </a:pathLst>
            </a:custGeom>
            <a:solidFill>
              <a:srgbClr val="000000"/>
            </a:solidFill>
            <a:ln w="9525">
              <a:noFill/>
              <a:round/>
              <a:headEnd/>
              <a:tailEnd/>
            </a:ln>
          </p:spPr>
          <p:txBody>
            <a:bodyPr/>
            <a:lstStyle/>
            <a:p>
              <a:endParaRPr lang="en-US"/>
            </a:p>
          </p:txBody>
        </p:sp>
        <p:sp>
          <p:nvSpPr>
            <p:cNvPr id="327324" name="Freeform 668"/>
            <p:cNvSpPr>
              <a:spLocks/>
            </p:cNvSpPr>
            <p:nvPr/>
          </p:nvSpPr>
          <p:spPr bwMode="auto">
            <a:xfrm>
              <a:off x="3718" y="1727"/>
              <a:ext cx="7" cy="7"/>
            </a:xfrm>
            <a:custGeom>
              <a:avLst/>
              <a:gdLst/>
              <a:ahLst/>
              <a:cxnLst>
                <a:cxn ang="0">
                  <a:pos x="4" y="7"/>
                </a:cxn>
                <a:cxn ang="0">
                  <a:pos x="5" y="6"/>
                </a:cxn>
                <a:cxn ang="0">
                  <a:pos x="7" y="5"/>
                </a:cxn>
                <a:cxn ang="0">
                  <a:pos x="7" y="4"/>
                </a:cxn>
                <a:cxn ang="0">
                  <a:pos x="7" y="3"/>
                </a:cxn>
                <a:cxn ang="0">
                  <a:pos x="7" y="2"/>
                </a:cxn>
                <a:cxn ang="0">
                  <a:pos x="5" y="0"/>
                </a:cxn>
                <a:cxn ang="0">
                  <a:pos x="4" y="0"/>
                </a:cxn>
                <a:cxn ang="0">
                  <a:pos x="3" y="0"/>
                </a:cxn>
                <a:cxn ang="0">
                  <a:pos x="3" y="0"/>
                </a:cxn>
                <a:cxn ang="0">
                  <a:pos x="2" y="0"/>
                </a:cxn>
                <a:cxn ang="0">
                  <a:pos x="1" y="2"/>
                </a:cxn>
                <a:cxn ang="0">
                  <a:pos x="0" y="3"/>
                </a:cxn>
                <a:cxn ang="0">
                  <a:pos x="0" y="4"/>
                </a:cxn>
                <a:cxn ang="0">
                  <a:pos x="1" y="5"/>
                </a:cxn>
                <a:cxn ang="0">
                  <a:pos x="2" y="6"/>
                </a:cxn>
                <a:cxn ang="0">
                  <a:pos x="3" y="7"/>
                </a:cxn>
                <a:cxn ang="0">
                  <a:pos x="4" y="7"/>
                </a:cxn>
              </a:cxnLst>
              <a:rect l="0" t="0" r="r" b="b"/>
              <a:pathLst>
                <a:path w="7" h="7">
                  <a:moveTo>
                    <a:pt x="4" y="7"/>
                  </a:moveTo>
                  <a:lnTo>
                    <a:pt x="5" y="6"/>
                  </a:lnTo>
                  <a:lnTo>
                    <a:pt x="7" y="5"/>
                  </a:lnTo>
                  <a:lnTo>
                    <a:pt x="7" y="4"/>
                  </a:lnTo>
                  <a:lnTo>
                    <a:pt x="7" y="3"/>
                  </a:lnTo>
                  <a:lnTo>
                    <a:pt x="7" y="2"/>
                  </a:lnTo>
                  <a:lnTo>
                    <a:pt x="5" y="0"/>
                  </a:lnTo>
                  <a:lnTo>
                    <a:pt x="4" y="0"/>
                  </a:lnTo>
                  <a:lnTo>
                    <a:pt x="3" y="0"/>
                  </a:lnTo>
                  <a:lnTo>
                    <a:pt x="3" y="0"/>
                  </a:lnTo>
                  <a:lnTo>
                    <a:pt x="2" y="0"/>
                  </a:lnTo>
                  <a:lnTo>
                    <a:pt x="1" y="2"/>
                  </a:lnTo>
                  <a:lnTo>
                    <a:pt x="0" y="3"/>
                  </a:lnTo>
                  <a:lnTo>
                    <a:pt x="0" y="4"/>
                  </a:lnTo>
                  <a:lnTo>
                    <a:pt x="1" y="5"/>
                  </a:lnTo>
                  <a:lnTo>
                    <a:pt x="2" y="6"/>
                  </a:lnTo>
                  <a:lnTo>
                    <a:pt x="3" y="7"/>
                  </a:lnTo>
                  <a:lnTo>
                    <a:pt x="4" y="7"/>
                  </a:lnTo>
                  <a:close/>
                </a:path>
              </a:pathLst>
            </a:custGeom>
            <a:solidFill>
              <a:srgbClr val="000000"/>
            </a:solidFill>
            <a:ln w="9525">
              <a:noFill/>
              <a:round/>
              <a:headEnd/>
              <a:tailEnd/>
            </a:ln>
          </p:spPr>
          <p:txBody>
            <a:bodyPr/>
            <a:lstStyle/>
            <a:p>
              <a:endParaRPr lang="en-US"/>
            </a:p>
          </p:txBody>
        </p:sp>
        <p:sp>
          <p:nvSpPr>
            <p:cNvPr id="327325" name="Freeform 669"/>
            <p:cNvSpPr>
              <a:spLocks/>
            </p:cNvSpPr>
            <p:nvPr/>
          </p:nvSpPr>
          <p:spPr bwMode="auto">
            <a:xfrm>
              <a:off x="3705" y="1730"/>
              <a:ext cx="7" cy="6"/>
            </a:xfrm>
            <a:custGeom>
              <a:avLst/>
              <a:gdLst/>
              <a:ahLst/>
              <a:cxnLst>
                <a:cxn ang="0">
                  <a:pos x="4" y="6"/>
                </a:cxn>
                <a:cxn ang="0">
                  <a:pos x="5" y="5"/>
                </a:cxn>
                <a:cxn ang="0">
                  <a:pos x="6" y="4"/>
                </a:cxn>
                <a:cxn ang="0">
                  <a:pos x="7" y="3"/>
                </a:cxn>
                <a:cxn ang="0">
                  <a:pos x="7" y="2"/>
                </a:cxn>
                <a:cxn ang="0">
                  <a:pos x="6" y="1"/>
                </a:cxn>
                <a:cxn ang="0">
                  <a:pos x="5" y="0"/>
                </a:cxn>
                <a:cxn ang="0">
                  <a:pos x="4" y="0"/>
                </a:cxn>
                <a:cxn ang="0">
                  <a:pos x="3" y="0"/>
                </a:cxn>
                <a:cxn ang="0">
                  <a:pos x="3" y="0"/>
                </a:cxn>
                <a:cxn ang="0">
                  <a:pos x="2" y="0"/>
                </a:cxn>
                <a:cxn ang="0">
                  <a:pos x="0" y="1"/>
                </a:cxn>
                <a:cxn ang="0">
                  <a:pos x="0" y="2"/>
                </a:cxn>
                <a:cxn ang="0">
                  <a:pos x="0" y="3"/>
                </a:cxn>
                <a:cxn ang="0">
                  <a:pos x="0" y="4"/>
                </a:cxn>
                <a:cxn ang="0">
                  <a:pos x="2" y="5"/>
                </a:cxn>
                <a:cxn ang="0">
                  <a:pos x="3" y="6"/>
                </a:cxn>
                <a:cxn ang="0">
                  <a:pos x="4" y="6"/>
                </a:cxn>
              </a:cxnLst>
              <a:rect l="0" t="0" r="r" b="b"/>
              <a:pathLst>
                <a:path w="7" h="6">
                  <a:moveTo>
                    <a:pt x="4" y="6"/>
                  </a:moveTo>
                  <a:lnTo>
                    <a:pt x="5" y="5"/>
                  </a:lnTo>
                  <a:lnTo>
                    <a:pt x="6" y="4"/>
                  </a:lnTo>
                  <a:lnTo>
                    <a:pt x="7" y="3"/>
                  </a:lnTo>
                  <a:lnTo>
                    <a:pt x="7" y="2"/>
                  </a:lnTo>
                  <a:lnTo>
                    <a:pt x="6" y="1"/>
                  </a:lnTo>
                  <a:lnTo>
                    <a:pt x="5" y="0"/>
                  </a:lnTo>
                  <a:lnTo>
                    <a:pt x="4" y="0"/>
                  </a:lnTo>
                  <a:lnTo>
                    <a:pt x="3" y="0"/>
                  </a:lnTo>
                  <a:lnTo>
                    <a:pt x="3" y="0"/>
                  </a:lnTo>
                  <a:lnTo>
                    <a:pt x="2" y="0"/>
                  </a:lnTo>
                  <a:lnTo>
                    <a:pt x="0" y="1"/>
                  </a:lnTo>
                  <a:lnTo>
                    <a:pt x="0" y="2"/>
                  </a:lnTo>
                  <a:lnTo>
                    <a:pt x="0" y="3"/>
                  </a:lnTo>
                  <a:lnTo>
                    <a:pt x="0" y="4"/>
                  </a:lnTo>
                  <a:lnTo>
                    <a:pt x="2" y="5"/>
                  </a:lnTo>
                  <a:lnTo>
                    <a:pt x="3" y="6"/>
                  </a:lnTo>
                  <a:lnTo>
                    <a:pt x="4" y="6"/>
                  </a:lnTo>
                  <a:close/>
                </a:path>
              </a:pathLst>
            </a:custGeom>
            <a:solidFill>
              <a:srgbClr val="000000"/>
            </a:solidFill>
            <a:ln w="9525">
              <a:noFill/>
              <a:round/>
              <a:headEnd/>
              <a:tailEnd/>
            </a:ln>
          </p:spPr>
          <p:txBody>
            <a:bodyPr/>
            <a:lstStyle/>
            <a:p>
              <a:endParaRPr lang="en-US"/>
            </a:p>
          </p:txBody>
        </p:sp>
        <p:sp>
          <p:nvSpPr>
            <p:cNvPr id="327326" name="Freeform 670"/>
            <p:cNvSpPr>
              <a:spLocks/>
            </p:cNvSpPr>
            <p:nvPr/>
          </p:nvSpPr>
          <p:spPr bwMode="auto">
            <a:xfrm>
              <a:off x="3692" y="1732"/>
              <a:ext cx="7" cy="6"/>
            </a:xfrm>
            <a:custGeom>
              <a:avLst/>
              <a:gdLst/>
              <a:ahLst/>
              <a:cxnLst>
                <a:cxn ang="0">
                  <a:pos x="3" y="6"/>
                </a:cxn>
                <a:cxn ang="0">
                  <a:pos x="4" y="5"/>
                </a:cxn>
                <a:cxn ang="0">
                  <a:pos x="5" y="4"/>
                </a:cxn>
                <a:cxn ang="0">
                  <a:pos x="7" y="3"/>
                </a:cxn>
                <a:cxn ang="0">
                  <a:pos x="7" y="2"/>
                </a:cxn>
                <a:cxn ang="0">
                  <a:pos x="5" y="1"/>
                </a:cxn>
                <a:cxn ang="0">
                  <a:pos x="4" y="0"/>
                </a:cxn>
                <a:cxn ang="0">
                  <a:pos x="3" y="0"/>
                </a:cxn>
                <a:cxn ang="0">
                  <a:pos x="2" y="0"/>
                </a:cxn>
                <a:cxn ang="0">
                  <a:pos x="2" y="0"/>
                </a:cxn>
                <a:cxn ang="0">
                  <a:pos x="1" y="0"/>
                </a:cxn>
                <a:cxn ang="0">
                  <a:pos x="0" y="1"/>
                </a:cxn>
                <a:cxn ang="0">
                  <a:pos x="0" y="2"/>
                </a:cxn>
                <a:cxn ang="0">
                  <a:pos x="0" y="3"/>
                </a:cxn>
                <a:cxn ang="0">
                  <a:pos x="0" y="4"/>
                </a:cxn>
                <a:cxn ang="0">
                  <a:pos x="1" y="5"/>
                </a:cxn>
                <a:cxn ang="0">
                  <a:pos x="2" y="6"/>
                </a:cxn>
                <a:cxn ang="0">
                  <a:pos x="3" y="6"/>
                </a:cxn>
              </a:cxnLst>
              <a:rect l="0" t="0" r="r" b="b"/>
              <a:pathLst>
                <a:path w="7" h="6">
                  <a:moveTo>
                    <a:pt x="3" y="6"/>
                  </a:moveTo>
                  <a:lnTo>
                    <a:pt x="4" y="5"/>
                  </a:lnTo>
                  <a:lnTo>
                    <a:pt x="5" y="4"/>
                  </a:lnTo>
                  <a:lnTo>
                    <a:pt x="7" y="3"/>
                  </a:lnTo>
                  <a:lnTo>
                    <a:pt x="7" y="2"/>
                  </a:lnTo>
                  <a:lnTo>
                    <a:pt x="5" y="1"/>
                  </a:lnTo>
                  <a:lnTo>
                    <a:pt x="4" y="0"/>
                  </a:lnTo>
                  <a:lnTo>
                    <a:pt x="3" y="0"/>
                  </a:lnTo>
                  <a:lnTo>
                    <a:pt x="2" y="0"/>
                  </a:lnTo>
                  <a:lnTo>
                    <a:pt x="2" y="0"/>
                  </a:lnTo>
                  <a:lnTo>
                    <a:pt x="1" y="0"/>
                  </a:lnTo>
                  <a:lnTo>
                    <a:pt x="0" y="1"/>
                  </a:lnTo>
                  <a:lnTo>
                    <a:pt x="0" y="2"/>
                  </a:lnTo>
                  <a:lnTo>
                    <a:pt x="0" y="3"/>
                  </a:lnTo>
                  <a:lnTo>
                    <a:pt x="0" y="4"/>
                  </a:lnTo>
                  <a:lnTo>
                    <a:pt x="1" y="5"/>
                  </a:lnTo>
                  <a:lnTo>
                    <a:pt x="2" y="6"/>
                  </a:lnTo>
                  <a:lnTo>
                    <a:pt x="3" y="6"/>
                  </a:lnTo>
                  <a:close/>
                </a:path>
              </a:pathLst>
            </a:custGeom>
            <a:solidFill>
              <a:srgbClr val="000000"/>
            </a:solidFill>
            <a:ln w="9525">
              <a:noFill/>
              <a:round/>
              <a:headEnd/>
              <a:tailEnd/>
            </a:ln>
          </p:spPr>
          <p:txBody>
            <a:bodyPr/>
            <a:lstStyle/>
            <a:p>
              <a:endParaRPr lang="en-US"/>
            </a:p>
          </p:txBody>
        </p:sp>
        <p:sp>
          <p:nvSpPr>
            <p:cNvPr id="327327" name="Freeform 671"/>
            <p:cNvSpPr>
              <a:spLocks/>
            </p:cNvSpPr>
            <p:nvPr/>
          </p:nvSpPr>
          <p:spPr bwMode="auto">
            <a:xfrm>
              <a:off x="3678" y="1734"/>
              <a:ext cx="7" cy="6"/>
            </a:xfrm>
            <a:custGeom>
              <a:avLst/>
              <a:gdLst/>
              <a:ahLst/>
              <a:cxnLst>
                <a:cxn ang="0">
                  <a:pos x="4" y="6"/>
                </a:cxn>
                <a:cxn ang="0">
                  <a:pos x="5" y="5"/>
                </a:cxn>
                <a:cxn ang="0">
                  <a:pos x="6" y="4"/>
                </a:cxn>
                <a:cxn ang="0">
                  <a:pos x="7" y="3"/>
                </a:cxn>
                <a:cxn ang="0">
                  <a:pos x="7" y="2"/>
                </a:cxn>
                <a:cxn ang="0">
                  <a:pos x="6" y="1"/>
                </a:cxn>
                <a:cxn ang="0">
                  <a:pos x="5" y="0"/>
                </a:cxn>
                <a:cxn ang="0">
                  <a:pos x="4" y="0"/>
                </a:cxn>
                <a:cxn ang="0">
                  <a:pos x="3" y="0"/>
                </a:cxn>
                <a:cxn ang="0">
                  <a:pos x="3" y="0"/>
                </a:cxn>
                <a:cxn ang="0">
                  <a:pos x="1" y="0"/>
                </a:cxn>
                <a:cxn ang="0">
                  <a:pos x="0" y="1"/>
                </a:cxn>
                <a:cxn ang="0">
                  <a:pos x="0" y="2"/>
                </a:cxn>
                <a:cxn ang="0">
                  <a:pos x="0" y="3"/>
                </a:cxn>
                <a:cxn ang="0">
                  <a:pos x="0" y="4"/>
                </a:cxn>
                <a:cxn ang="0">
                  <a:pos x="1" y="5"/>
                </a:cxn>
                <a:cxn ang="0">
                  <a:pos x="3" y="6"/>
                </a:cxn>
                <a:cxn ang="0">
                  <a:pos x="4" y="6"/>
                </a:cxn>
              </a:cxnLst>
              <a:rect l="0" t="0" r="r" b="b"/>
              <a:pathLst>
                <a:path w="7" h="6">
                  <a:moveTo>
                    <a:pt x="4" y="6"/>
                  </a:moveTo>
                  <a:lnTo>
                    <a:pt x="5" y="5"/>
                  </a:lnTo>
                  <a:lnTo>
                    <a:pt x="6" y="4"/>
                  </a:lnTo>
                  <a:lnTo>
                    <a:pt x="7" y="3"/>
                  </a:lnTo>
                  <a:lnTo>
                    <a:pt x="7" y="2"/>
                  </a:lnTo>
                  <a:lnTo>
                    <a:pt x="6" y="1"/>
                  </a:lnTo>
                  <a:lnTo>
                    <a:pt x="5" y="0"/>
                  </a:lnTo>
                  <a:lnTo>
                    <a:pt x="4" y="0"/>
                  </a:lnTo>
                  <a:lnTo>
                    <a:pt x="3" y="0"/>
                  </a:lnTo>
                  <a:lnTo>
                    <a:pt x="3" y="0"/>
                  </a:lnTo>
                  <a:lnTo>
                    <a:pt x="1" y="0"/>
                  </a:lnTo>
                  <a:lnTo>
                    <a:pt x="0" y="1"/>
                  </a:lnTo>
                  <a:lnTo>
                    <a:pt x="0" y="2"/>
                  </a:lnTo>
                  <a:lnTo>
                    <a:pt x="0" y="3"/>
                  </a:lnTo>
                  <a:lnTo>
                    <a:pt x="0" y="4"/>
                  </a:lnTo>
                  <a:lnTo>
                    <a:pt x="1" y="5"/>
                  </a:lnTo>
                  <a:lnTo>
                    <a:pt x="3" y="6"/>
                  </a:lnTo>
                  <a:lnTo>
                    <a:pt x="4" y="6"/>
                  </a:lnTo>
                  <a:close/>
                </a:path>
              </a:pathLst>
            </a:custGeom>
            <a:solidFill>
              <a:srgbClr val="000000"/>
            </a:solidFill>
            <a:ln w="9525">
              <a:noFill/>
              <a:round/>
              <a:headEnd/>
              <a:tailEnd/>
            </a:ln>
          </p:spPr>
          <p:txBody>
            <a:bodyPr/>
            <a:lstStyle/>
            <a:p>
              <a:endParaRPr lang="en-US"/>
            </a:p>
          </p:txBody>
        </p:sp>
        <p:sp>
          <p:nvSpPr>
            <p:cNvPr id="327328" name="Freeform 672"/>
            <p:cNvSpPr>
              <a:spLocks/>
            </p:cNvSpPr>
            <p:nvPr/>
          </p:nvSpPr>
          <p:spPr bwMode="auto">
            <a:xfrm>
              <a:off x="3665" y="1736"/>
              <a:ext cx="6" cy="6"/>
            </a:xfrm>
            <a:custGeom>
              <a:avLst/>
              <a:gdLst/>
              <a:ahLst/>
              <a:cxnLst>
                <a:cxn ang="0">
                  <a:pos x="3" y="6"/>
                </a:cxn>
                <a:cxn ang="0">
                  <a:pos x="4" y="5"/>
                </a:cxn>
                <a:cxn ang="0">
                  <a:pos x="5" y="4"/>
                </a:cxn>
                <a:cxn ang="0">
                  <a:pos x="6" y="3"/>
                </a:cxn>
                <a:cxn ang="0">
                  <a:pos x="6" y="2"/>
                </a:cxn>
                <a:cxn ang="0">
                  <a:pos x="5" y="1"/>
                </a:cxn>
                <a:cxn ang="0">
                  <a:pos x="4" y="0"/>
                </a:cxn>
                <a:cxn ang="0">
                  <a:pos x="3" y="0"/>
                </a:cxn>
                <a:cxn ang="0">
                  <a:pos x="2" y="0"/>
                </a:cxn>
                <a:cxn ang="0">
                  <a:pos x="2" y="0"/>
                </a:cxn>
                <a:cxn ang="0">
                  <a:pos x="1" y="0"/>
                </a:cxn>
                <a:cxn ang="0">
                  <a:pos x="0" y="1"/>
                </a:cxn>
                <a:cxn ang="0">
                  <a:pos x="0" y="2"/>
                </a:cxn>
                <a:cxn ang="0">
                  <a:pos x="0" y="3"/>
                </a:cxn>
                <a:cxn ang="0">
                  <a:pos x="0" y="4"/>
                </a:cxn>
                <a:cxn ang="0">
                  <a:pos x="1" y="5"/>
                </a:cxn>
                <a:cxn ang="0">
                  <a:pos x="2" y="6"/>
                </a:cxn>
                <a:cxn ang="0">
                  <a:pos x="3" y="6"/>
                </a:cxn>
              </a:cxnLst>
              <a:rect l="0" t="0" r="r" b="b"/>
              <a:pathLst>
                <a:path w="6" h="6">
                  <a:moveTo>
                    <a:pt x="3" y="6"/>
                  </a:moveTo>
                  <a:lnTo>
                    <a:pt x="4" y="5"/>
                  </a:lnTo>
                  <a:lnTo>
                    <a:pt x="5" y="4"/>
                  </a:lnTo>
                  <a:lnTo>
                    <a:pt x="6" y="3"/>
                  </a:lnTo>
                  <a:lnTo>
                    <a:pt x="6" y="2"/>
                  </a:lnTo>
                  <a:lnTo>
                    <a:pt x="5" y="1"/>
                  </a:lnTo>
                  <a:lnTo>
                    <a:pt x="4" y="0"/>
                  </a:lnTo>
                  <a:lnTo>
                    <a:pt x="3" y="0"/>
                  </a:lnTo>
                  <a:lnTo>
                    <a:pt x="2" y="0"/>
                  </a:lnTo>
                  <a:lnTo>
                    <a:pt x="2" y="0"/>
                  </a:lnTo>
                  <a:lnTo>
                    <a:pt x="1" y="0"/>
                  </a:lnTo>
                  <a:lnTo>
                    <a:pt x="0" y="1"/>
                  </a:lnTo>
                  <a:lnTo>
                    <a:pt x="0" y="2"/>
                  </a:lnTo>
                  <a:lnTo>
                    <a:pt x="0" y="3"/>
                  </a:lnTo>
                  <a:lnTo>
                    <a:pt x="0" y="4"/>
                  </a:lnTo>
                  <a:lnTo>
                    <a:pt x="1" y="5"/>
                  </a:lnTo>
                  <a:lnTo>
                    <a:pt x="2" y="6"/>
                  </a:lnTo>
                  <a:lnTo>
                    <a:pt x="3" y="6"/>
                  </a:lnTo>
                  <a:close/>
                </a:path>
              </a:pathLst>
            </a:custGeom>
            <a:solidFill>
              <a:srgbClr val="000000"/>
            </a:solidFill>
            <a:ln w="9525">
              <a:noFill/>
              <a:round/>
              <a:headEnd/>
              <a:tailEnd/>
            </a:ln>
          </p:spPr>
          <p:txBody>
            <a:bodyPr/>
            <a:lstStyle/>
            <a:p>
              <a:endParaRPr lang="en-US"/>
            </a:p>
          </p:txBody>
        </p:sp>
        <p:sp>
          <p:nvSpPr>
            <p:cNvPr id="327329" name="Freeform 673"/>
            <p:cNvSpPr>
              <a:spLocks/>
            </p:cNvSpPr>
            <p:nvPr/>
          </p:nvSpPr>
          <p:spPr bwMode="auto">
            <a:xfrm>
              <a:off x="3651" y="1737"/>
              <a:ext cx="7" cy="6"/>
            </a:xfrm>
            <a:custGeom>
              <a:avLst/>
              <a:gdLst/>
              <a:ahLst/>
              <a:cxnLst>
                <a:cxn ang="0">
                  <a:pos x="5" y="6"/>
                </a:cxn>
                <a:cxn ang="0">
                  <a:pos x="6" y="6"/>
                </a:cxn>
                <a:cxn ang="0">
                  <a:pos x="7" y="5"/>
                </a:cxn>
                <a:cxn ang="0">
                  <a:pos x="7" y="4"/>
                </a:cxn>
                <a:cxn ang="0">
                  <a:pos x="7" y="3"/>
                </a:cxn>
                <a:cxn ang="0">
                  <a:pos x="7" y="2"/>
                </a:cxn>
                <a:cxn ang="0">
                  <a:pos x="6" y="1"/>
                </a:cxn>
                <a:cxn ang="0">
                  <a:pos x="5" y="0"/>
                </a:cxn>
                <a:cxn ang="0">
                  <a:pos x="4" y="0"/>
                </a:cxn>
                <a:cxn ang="0">
                  <a:pos x="4" y="0"/>
                </a:cxn>
                <a:cxn ang="0">
                  <a:pos x="2" y="1"/>
                </a:cxn>
                <a:cxn ang="0">
                  <a:pos x="1" y="2"/>
                </a:cxn>
                <a:cxn ang="0">
                  <a:pos x="0" y="3"/>
                </a:cxn>
                <a:cxn ang="0">
                  <a:pos x="0" y="4"/>
                </a:cxn>
                <a:cxn ang="0">
                  <a:pos x="1" y="5"/>
                </a:cxn>
                <a:cxn ang="0">
                  <a:pos x="2" y="6"/>
                </a:cxn>
                <a:cxn ang="0">
                  <a:pos x="4" y="6"/>
                </a:cxn>
                <a:cxn ang="0">
                  <a:pos x="5" y="6"/>
                </a:cxn>
              </a:cxnLst>
              <a:rect l="0" t="0" r="r" b="b"/>
              <a:pathLst>
                <a:path w="7" h="6">
                  <a:moveTo>
                    <a:pt x="5" y="6"/>
                  </a:moveTo>
                  <a:lnTo>
                    <a:pt x="6" y="6"/>
                  </a:lnTo>
                  <a:lnTo>
                    <a:pt x="7" y="5"/>
                  </a:lnTo>
                  <a:lnTo>
                    <a:pt x="7" y="4"/>
                  </a:lnTo>
                  <a:lnTo>
                    <a:pt x="7" y="3"/>
                  </a:lnTo>
                  <a:lnTo>
                    <a:pt x="7" y="2"/>
                  </a:lnTo>
                  <a:lnTo>
                    <a:pt x="6" y="1"/>
                  </a:lnTo>
                  <a:lnTo>
                    <a:pt x="5" y="0"/>
                  </a:lnTo>
                  <a:lnTo>
                    <a:pt x="4" y="0"/>
                  </a:lnTo>
                  <a:lnTo>
                    <a:pt x="4" y="0"/>
                  </a:lnTo>
                  <a:lnTo>
                    <a:pt x="2" y="1"/>
                  </a:lnTo>
                  <a:lnTo>
                    <a:pt x="1" y="2"/>
                  </a:lnTo>
                  <a:lnTo>
                    <a:pt x="0" y="3"/>
                  </a:lnTo>
                  <a:lnTo>
                    <a:pt x="0" y="4"/>
                  </a:lnTo>
                  <a:lnTo>
                    <a:pt x="1" y="5"/>
                  </a:lnTo>
                  <a:lnTo>
                    <a:pt x="2" y="6"/>
                  </a:lnTo>
                  <a:lnTo>
                    <a:pt x="4" y="6"/>
                  </a:lnTo>
                  <a:lnTo>
                    <a:pt x="5" y="6"/>
                  </a:lnTo>
                  <a:close/>
                </a:path>
              </a:pathLst>
            </a:custGeom>
            <a:solidFill>
              <a:srgbClr val="000000"/>
            </a:solidFill>
            <a:ln w="9525">
              <a:noFill/>
              <a:round/>
              <a:headEnd/>
              <a:tailEnd/>
            </a:ln>
          </p:spPr>
          <p:txBody>
            <a:bodyPr/>
            <a:lstStyle/>
            <a:p>
              <a:endParaRPr lang="en-US"/>
            </a:p>
          </p:txBody>
        </p:sp>
        <p:sp>
          <p:nvSpPr>
            <p:cNvPr id="327330" name="Freeform 674"/>
            <p:cNvSpPr>
              <a:spLocks/>
            </p:cNvSpPr>
            <p:nvPr/>
          </p:nvSpPr>
          <p:spPr bwMode="auto">
            <a:xfrm>
              <a:off x="3638" y="1739"/>
              <a:ext cx="6" cy="6"/>
            </a:xfrm>
            <a:custGeom>
              <a:avLst/>
              <a:gdLst/>
              <a:ahLst/>
              <a:cxnLst>
                <a:cxn ang="0">
                  <a:pos x="4" y="6"/>
                </a:cxn>
                <a:cxn ang="0">
                  <a:pos x="5" y="6"/>
                </a:cxn>
                <a:cxn ang="0">
                  <a:pos x="6" y="5"/>
                </a:cxn>
                <a:cxn ang="0">
                  <a:pos x="6" y="4"/>
                </a:cxn>
                <a:cxn ang="0">
                  <a:pos x="6" y="3"/>
                </a:cxn>
                <a:cxn ang="0">
                  <a:pos x="6" y="2"/>
                </a:cxn>
                <a:cxn ang="0">
                  <a:pos x="5" y="1"/>
                </a:cxn>
                <a:cxn ang="0">
                  <a:pos x="4" y="0"/>
                </a:cxn>
                <a:cxn ang="0">
                  <a:pos x="3" y="0"/>
                </a:cxn>
                <a:cxn ang="0">
                  <a:pos x="3" y="0"/>
                </a:cxn>
                <a:cxn ang="0">
                  <a:pos x="2" y="1"/>
                </a:cxn>
                <a:cxn ang="0">
                  <a:pos x="1" y="2"/>
                </a:cxn>
                <a:cxn ang="0">
                  <a:pos x="0" y="3"/>
                </a:cxn>
                <a:cxn ang="0">
                  <a:pos x="0" y="4"/>
                </a:cxn>
                <a:cxn ang="0">
                  <a:pos x="1" y="5"/>
                </a:cxn>
                <a:cxn ang="0">
                  <a:pos x="2" y="6"/>
                </a:cxn>
                <a:cxn ang="0">
                  <a:pos x="3" y="6"/>
                </a:cxn>
                <a:cxn ang="0">
                  <a:pos x="4" y="6"/>
                </a:cxn>
              </a:cxnLst>
              <a:rect l="0" t="0" r="r" b="b"/>
              <a:pathLst>
                <a:path w="6" h="6">
                  <a:moveTo>
                    <a:pt x="4" y="6"/>
                  </a:moveTo>
                  <a:lnTo>
                    <a:pt x="5" y="6"/>
                  </a:lnTo>
                  <a:lnTo>
                    <a:pt x="6" y="5"/>
                  </a:lnTo>
                  <a:lnTo>
                    <a:pt x="6" y="4"/>
                  </a:lnTo>
                  <a:lnTo>
                    <a:pt x="6" y="3"/>
                  </a:lnTo>
                  <a:lnTo>
                    <a:pt x="6" y="2"/>
                  </a:lnTo>
                  <a:lnTo>
                    <a:pt x="5" y="1"/>
                  </a:lnTo>
                  <a:lnTo>
                    <a:pt x="4" y="0"/>
                  </a:lnTo>
                  <a:lnTo>
                    <a:pt x="3" y="0"/>
                  </a:lnTo>
                  <a:lnTo>
                    <a:pt x="3" y="0"/>
                  </a:lnTo>
                  <a:lnTo>
                    <a:pt x="2" y="1"/>
                  </a:lnTo>
                  <a:lnTo>
                    <a:pt x="1" y="2"/>
                  </a:lnTo>
                  <a:lnTo>
                    <a:pt x="0" y="3"/>
                  </a:lnTo>
                  <a:lnTo>
                    <a:pt x="0" y="4"/>
                  </a:lnTo>
                  <a:lnTo>
                    <a:pt x="1" y="5"/>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331" name="Freeform 675"/>
            <p:cNvSpPr>
              <a:spLocks/>
            </p:cNvSpPr>
            <p:nvPr/>
          </p:nvSpPr>
          <p:spPr bwMode="auto">
            <a:xfrm>
              <a:off x="3624" y="1741"/>
              <a:ext cx="7" cy="6"/>
            </a:xfrm>
            <a:custGeom>
              <a:avLst/>
              <a:gdLst/>
              <a:ahLst/>
              <a:cxnLst>
                <a:cxn ang="0">
                  <a:pos x="5" y="6"/>
                </a:cxn>
                <a:cxn ang="0">
                  <a:pos x="6" y="6"/>
                </a:cxn>
                <a:cxn ang="0">
                  <a:pos x="7" y="5"/>
                </a:cxn>
                <a:cxn ang="0">
                  <a:pos x="7" y="4"/>
                </a:cxn>
                <a:cxn ang="0">
                  <a:pos x="7" y="3"/>
                </a:cxn>
                <a:cxn ang="0">
                  <a:pos x="7" y="2"/>
                </a:cxn>
                <a:cxn ang="0">
                  <a:pos x="6" y="1"/>
                </a:cxn>
                <a:cxn ang="0">
                  <a:pos x="5" y="0"/>
                </a:cxn>
                <a:cxn ang="0">
                  <a:pos x="3" y="0"/>
                </a:cxn>
                <a:cxn ang="0">
                  <a:pos x="3" y="0"/>
                </a:cxn>
                <a:cxn ang="0">
                  <a:pos x="2" y="1"/>
                </a:cxn>
                <a:cxn ang="0">
                  <a:pos x="1" y="2"/>
                </a:cxn>
                <a:cxn ang="0">
                  <a:pos x="0" y="3"/>
                </a:cxn>
                <a:cxn ang="0">
                  <a:pos x="0" y="4"/>
                </a:cxn>
                <a:cxn ang="0">
                  <a:pos x="1" y="5"/>
                </a:cxn>
                <a:cxn ang="0">
                  <a:pos x="2" y="6"/>
                </a:cxn>
                <a:cxn ang="0">
                  <a:pos x="3" y="6"/>
                </a:cxn>
                <a:cxn ang="0">
                  <a:pos x="5" y="6"/>
                </a:cxn>
              </a:cxnLst>
              <a:rect l="0" t="0" r="r" b="b"/>
              <a:pathLst>
                <a:path w="7" h="6">
                  <a:moveTo>
                    <a:pt x="5" y="6"/>
                  </a:moveTo>
                  <a:lnTo>
                    <a:pt x="6" y="6"/>
                  </a:lnTo>
                  <a:lnTo>
                    <a:pt x="7" y="5"/>
                  </a:lnTo>
                  <a:lnTo>
                    <a:pt x="7" y="4"/>
                  </a:lnTo>
                  <a:lnTo>
                    <a:pt x="7" y="3"/>
                  </a:lnTo>
                  <a:lnTo>
                    <a:pt x="7" y="2"/>
                  </a:lnTo>
                  <a:lnTo>
                    <a:pt x="6" y="1"/>
                  </a:lnTo>
                  <a:lnTo>
                    <a:pt x="5" y="0"/>
                  </a:lnTo>
                  <a:lnTo>
                    <a:pt x="3" y="0"/>
                  </a:lnTo>
                  <a:lnTo>
                    <a:pt x="3" y="0"/>
                  </a:lnTo>
                  <a:lnTo>
                    <a:pt x="2" y="1"/>
                  </a:lnTo>
                  <a:lnTo>
                    <a:pt x="1" y="2"/>
                  </a:lnTo>
                  <a:lnTo>
                    <a:pt x="0" y="3"/>
                  </a:lnTo>
                  <a:lnTo>
                    <a:pt x="0" y="4"/>
                  </a:lnTo>
                  <a:lnTo>
                    <a:pt x="1" y="5"/>
                  </a:lnTo>
                  <a:lnTo>
                    <a:pt x="2" y="6"/>
                  </a:lnTo>
                  <a:lnTo>
                    <a:pt x="3" y="6"/>
                  </a:lnTo>
                  <a:lnTo>
                    <a:pt x="5" y="6"/>
                  </a:lnTo>
                  <a:close/>
                </a:path>
              </a:pathLst>
            </a:custGeom>
            <a:solidFill>
              <a:srgbClr val="000000"/>
            </a:solidFill>
            <a:ln w="9525">
              <a:noFill/>
              <a:round/>
              <a:headEnd/>
              <a:tailEnd/>
            </a:ln>
          </p:spPr>
          <p:txBody>
            <a:bodyPr/>
            <a:lstStyle/>
            <a:p>
              <a:endParaRPr lang="en-US"/>
            </a:p>
          </p:txBody>
        </p:sp>
        <p:sp>
          <p:nvSpPr>
            <p:cNvPr id="327332" name="Freeform 676"/>
            <p:cNvSpPr>
              <a:spLocks/>
            </p:cNvSpPr>
            <p:nvPr/>
          </p:nvSpPr>
          <p:spPr bwMode="auto">
            <a:xfrm>
              <a:off x="3612" y="1743"/>
              <a:ext cx="6" cy="7"/>
            </a:xfrm>
            <a:custGeom>
              <a:avLst/>
              <a:gdLst/>
              <a:ahLst/>
              <a:cxnLst>
                <a:cxn ang="0">
                  <a:pos x="3" y="7"/>
                </a:cxn>
                <a:cxn ang="0">
                  <a:pos x="4" y="7"/>
                </a:cxn>
                <a:cxn ang="0">
                  <a:pos x="5" y="6"/>
                </a:cxn>
                <a:cxn ang="0">
                  <a:pos x="6" y="4"/>
                </a:cxn>
                <a:cxn ang="0">
                  <a:pos x="6" y="3"/>
                </a:cxn>
                <a:cxn ang="0">
                  <a:pos x="5" y="2"/>
                </a:cxn>
                <a:cxn ang="0">
                  <a:pos x="4" y="1"/>
                </a:cxn>
                <a:cxn ang="0">
                  <a:pos x="3" y="0"/>
                </a:cxn>
                <a:cxn ang="0">
                  <a:pos x="2" y="0"/>
                </a:cxn>
                <a:cxn ang="0">
                  <a:pos x="2" y="0"/>
                </a:cxn>
                <a:cxn ang="0">
                  <a:pos x="1" y="1"/>
                </a:cxn>
                <a:cxn ang="0">
                  <a:pos x="0" y="2"/>
                </a:cxn>
                <a:cxn ang="0">
                  <a:pos x="0" y="3"/>
                </a:cxn>
                <a:cxn ang="0">
                  <a:pos x="0" y="4"/>
                </a:cxn>
                <a:cxn ang="0">
                  <a:pos x="0" y="6"/>
                </a:cxn>
                <a:cxn ang="0">
                  <a:pos x="1" y="7"/>
                </a:cxn>
                <a:cxn ang="0">
                  <a:pos x="2" y="7"/>
                </a:cxn>
                <a:cxn ang="0">
                  <a:pos x="3" y="7"/>
                </a:cxn>
              </a:cxnLst>
              <a:rect l="0" t="0" r="r" b="b"/>
              <a:pathLst>
                <a:path w="6" h="7">
                  <a:moveTo>
                    <a:pt x="3" y="7"/>
                  </a:moveTo>
                  <a:lnTo>
                    <a:pt x="4" y="7"/>
                  </a:lnTo>
                  <a:lnTo>
                    <a:pt x="5" y="6"/>
                  </a:lnTo>
                  <a:lnTo>
                    <a:pt x="6" y="4"/>
                  </a:lnTo>
                  <a:lnTo>
                    <a:pt x="6" y="3"/>
                  </a:lnTo>
                  <a:lnTo>
                    <a:pt x="5" y="2"/>
                  </a:lnTo>
                  <a:lnTo>
                    <a:pt x="4" y="1"/>
                  </a:lnTo>
                  <a:lnTo>
                    <a:pt x="3" y="0"/>
                  </a:lnTo>
                  <a:lnTo>
                    <a:pt x="2" y="0"/>
                  </a:lnTo>
                  <a:lnTo>
                    <a:pt x="2" y="0"/>
                  </a:lnTo>
                  <a:lnTo>
                    <a:pt x="1" y="1"/>
                  </a:lnTo>
                  <a:lnTo>
                    <a:pt x="0" y="2"/>
                  </a:lnTo>
                  <a:lnTo>
                    <a:pt x="0" y="3"/>
                  </a:lnTo>
                  <a:lnTo>
                    <a:pt x="0" y="4"/>
                  </a:lnTo>
                  <a:lnTo>
                    <a:pt x="0" y="6"/>
                  </a:lnTo>
                  <a:lnTo>
                    <a:pt x="1" y="7"/>
                  </a:lnTo>
                  <a:lnTo>
                    <a:pt x="2" y="7"/>
                  </a:lnTo>
                  <a:lnTo>
                    <a:pt x="3" y="7"/>
                  </a:lnTo>
                  <a:close/>
                </a:path>
              </a:pathLst>
            </a:custGeom>
            <a:solidFill>
              <a:srgbClr val="000000"/>
            </a:solidFill>
            <a:ln w="9525">
              <a:noFill/>
              <a:round/>
              <a:headEnd/>
              <a:tailEnd/>
            </a:ln>
          </p:spPr>
          <p:txBody>
            <a:bodyPr/>
            <a:lstStyle/>
            <a:p>
              <a:endParaRPr lang="en-US"/>
            </a:p>
          </p:txBody>
        </p:sp>
        <p:sp>
          <p:nvSpPr>
            <p:cNvPr id="327333" name="Freeform 677"/>
            <p:cNvSpPr>
              <a:spLocks/>
            </p:cNvSpPr>
            <p:nvPr/>
          </p:nvSpPr>
          <p:spPr bwMode="auto">
            <a:xfrm>
              <a:off x="3598" y="1745"/>
              <a:ext cx="7" cy="7"/>
            </a:xfrm>
            <a:custGeom>
              <a:avLst/>
              <a:gdLst/>
              <a:ahLst/>
              <a:cxnLst>
                <a:cxn ang="0">
                  <a:pos x="3" y="7"/>
                </a:cxn>
                <a:cxn ang="0">
                  <a:pos x="5" y="7"/>
                </a:cxn>
                <a:cxn ang="0">
                  <a:pos x="6" y="6"/>
                </a:cxn>
                <a:cxn ang="0">
                  <a:pos x="7" y="5"/>
                </a:cxn>
                <a:cxn ang="0">
                  <a:pos x="7" y="4"/>
                </a:cxn>
                <a:cxn ang="0">
                  <a:pos x="6" y="2"/>
                </a:cxn>
                <a:cxn ang="0">
                  <a:pos x="5" y="1"/>
                </a:cxn>
                <a:cxn ang="0">
                  <a:pos x="3" y="0"/>
                </a:cxn>
                <a:cxn ang="0">
                  <a:pos x="2" y="0"/>
                </a:cxn>
                <a:cxn ang="0">
                  <a:pos x="2" y="0"/>
                </a:cxn>
                <a:cxn ang="0">
                  <a:pos x="1" y="1"/>
                </a:cxn>
                <a:cxn ang="0">
                  <a:pos x="0" y="2"/>
                </a:cxn>
                <a:cxn ang="0">
                  <a:pos x="0" y="4"/>
                </a:cxn>
                <a:cxn ang="0">
                  <a:pos x="0" y="5"/>
                </a:cxn>
                <a:cxn ang="0">
                  <a:pos x="0" y="6"/>
                </a:cxn>
                <a:cxn ang="0">
                  <a:pos x="1" y="7"/>
                </a:cxn>
                <a:cxn ang="0">
                  <a:pos x="2" y="7"/>
                </a:cxn>
                <a:cxn ang="0">
                  <a:pos x="3" y="7"/>
                </a:cxn>
              </a:cxnLst>
              <a:rect l="0" t="0" r="r" b="b"/>
              <a:pathLst>
                <a:path w="7" h="7">
                  <a:moveTo>
                    <a:pt x="3" y="7"/>
                  </a:moveTo>
                  <a:lnTo>
                    <a:pt x="5" y="7"/>
                  </a:lnTo>
                  <a:lnTo>
                    <a:pt x="6" y="6"/>
                  </a:lnTo>
                  <a:lnTo>
                    <a:pt x="7" y="5"/>
                  </a:lnTo>
                  <a:lnTo>
                    <a:pt x="7" y="4"/>
                  </a:lnTo>
                  <a:lnTo>
                    <a:pt x="6" y="2"/>
                  </a:lnTo>
                  <a:lnTo>
                    <a:pt x="5" y="1"/>
                  </a:lnTo>
                  <a:lnTo>
                    <a:pt x="3" y="0"/>
                  </a:lnTo>
                  <a:lnTo>
                    <a:pt x="2" y="0"/>
                  </a:lnTo>
                  <a:lnTo>
                    <a:pt x="2" y="0"/>
                  </a:lnTo>
                  <a:lnTo>
                    <a:pt x="1" y="1"/>
                  </a:lnTo>
                  <a:lnTo>
                    <a:pt x="0" y="2"/>
                  </a:lnTo>
                  <a:lnTo>
                    <a:pt x="0" y="4"/>
                  </a:lnTo>
                  <a:lnTo>
                    <a:pt x="0" y="5"/>
                  </a:lnTo>
                  <a:lnTo>
                    <a:pt x="0" y="6"/>
                  </a:lnTo>
                  <a:lnTo>
                    <a:pt x="1" y="7"/>
                  </a:lnTo>
                  <a:lnTo>
                    <a:pt x="2" y="7"/>
                  </a:lnTo>
                  <a:lnTo>
                    <a:pt x="3" y="7"/>
                  </a:lnTo>
                  <a:close/>
                </a:path>
              </a:pathLst>
            </a:custGeom>
            <a:solidFill>
              <a:srgbClr val="000000"/>
            </a:solidFill>
            <a:ln w="9525">
              <a:noFill/>
              <a:round/>
              <a:headEnd/>
              <a:tailEnd/>
            </a:ln>
          </p:spPr>
          <p:txBody>
            <a:bodyPr/>
            <a:lstStyle/>
            <a:p>
              <a:endParaRPr lang="en-US"/>
            </a:p>
          </p:txBody>
        </p:sp>
        <p:sp>
          <p:nvSpPr>
            <p:cNvPr id="327334" name="Freeform 678"/>
            <p:cNvSpPr>
              <a:spLocks/>
            </p:cNvSpPr>
            <p:nvPr/>
          </p:nvSpPr>
          <p:spPr bwMode="auto">
            <a:xfrm>
              <a:off x="3585" y="1747"/>
              <a:ext cx="6" cy="7"/>
            </a:xfrm>
            <a:custGeom>
              <a:avLst/>
              <a:gdLst/>
              <a:ahLst/>
              <a:cxnLst>
                <a:cxn ang="0">
                  <a:pos x="3" y="7"/>
                </a:cxn>
                <a:cxn ang="0">
                  <a:pos x="4" y="6"/>
                </a:cxn>
                <a:cxn ang="0">
                  <a:pos x="5" y="5"/>
                </a:cxn>
                <a:cxn ang="0">
                  <a:pos x="6" y="4"/>
                </a:cxn>
                <a:cxn ang="0">
                  <a:pos x="6" y="3"/>
                </a:cxn>
                <a:cxn ang="0">
                  <a:pos x="5" y="2"/>
                </a:cxn>
                <a:cxn ang="0">
                  <a:pos x="4" y="0"/>
                </a:cxn>
                <a:cxn ang="0">
                  <a:pos x="3" y="0"/>
                </a:cxn>
                <a:cxn ang="0">
                  <a:pos x="2" y="0"/>
                </a:cxn>
                <a:cxn ang="0">
                  <a:pos x="2" y="0"/>
                </a:cxn>
                <a:cxn ang="0">
                  <a:pos x="1" y="0"/>
                </a:cxn>
                <a:cxn ang="0">
                  <a:pos x="0" y="2"/>
                </a:cxn>
                <a:cxn ang="0">
                  <a:pos x="0" y="3"/>
                </a:cxn>
                <a:cxn ang="0">
                  <a:pos x="0" y="4"/>
                </a:cxn>
                <a:cxn ang="0">
                  <a:pos x="0" y="5"/>
                </a:cxn>
                <a:cxn ang="0">
                  <a:pos x="1" y="6"/>
                </a:cxn>
                <a:cxn ang="0">
                  <a:pos x="2" y="7"/>
                </a:cxn>
                <a:cxn ang="0">
                  <a:pos x="3" y="7"/>
                </a:cxn>
              </a:cxnLst>
              <a:rect l="0" t="0" r="r" b="b"/>
              <a:pathLst>
                <a:path w="6" h="7">
                  <a:moveTo>
                    <a:pt x="3" y="7"/>
                  </a:moveTo>
                  <a:lnTo>
                    <a:pt x="4" y="6"/>
                  </a:lnTo>
                  <a:lnTo>
                    <a:pt x="5" y="5"/>
                  </a:lnTo>
                  <a:lnTo>
                    <a:pt x="6" y="4"/>
                  </a:lnTo>
                  <a:lnTo>
                    <a:pt x="6" y="3"/>
                  </a:lnTo>
                  <a:lnTo>
                    <a:pt x="5" y="2"/>
                  </a:lnTo>
                  <a:lnTo>
                    <a:pt x="4" y="0"/>
                  </a:lnTo>
                  <a:lnTo>
                    <a:pt x="3" y="0"/>
                  </a:lnTo>
                  <a:lnTo>
                    <a:pt x="2" y="0"/>
                  </a:lnTo>
                  <a:lnTo>
                    <a:pt x="2" y="0"/>
                  </a:lnTo>
                  <a:lnTo>
                    <a:pt x="1" y="0"/>
                  </a:lnTo>
                  <a:lnTo>
                    <a:pt x="0" y="2"/>
                  </a:lnTo>
                  <a:lnTo>
                    <a:pt x="0" y="3"/>
                  </a:lnTo>
                  <a:lnTo>
                    <a:pt x="0" y="4"/>
                  </a:lnTo>
                  <a:lnTo>
                    <a:pt x="0" y="5"/>
                  </a:lnTo>
                  <a:lnTo>
                    <a:pt x="1" y="6"/>
                  </a:lnTo>
                  <a:lnTo>
                    <a:pt x="2" y="7"/>
                  </a:lnTo>
                  <a:lnTo>
                    <a:pt x="3" y="7"/>
                  </a:lnTo>
                  <a:close/>
                </a:path>
              </a:pathLst>
            </a:custGeom>
            <a:solidFill>
              <a:srgbClr val="000000"/>
            </a:solidFill>
            <a:ln w="9525">
              <a:noFill/>
              <a:round/>
              <a:headEnd/>
              <a:tailEnd/>
            </a:ln>
          </p:spPr>
          <p:txBody>
            <a:bodyPr/>
            <a:lstStyle/>
            <a:p>
              <a:endParaRPr lang="en-US"/>
            </a:p>
          </p:txBody>
        </p:sp>
        <p:sp>
          <p:nvSpPr>
            <p:cNvPr id="327335" name="Freeform 679"/>
            <p:cNvSpPr>
              <a:spLocks/>
            </p:cNvSpPr>
            <p:nvPr/>
          </p:nvSpPr>
          <p:spPr bwMode="auto">
            <a:xfrm>
              <a:off x="3571" y="1750"/>
              <a:ext cx="7" cy="6"/>
            </a:xfrm>
            <a:custGeom>
              <a:avLst/>
              <a:gdLst/>
              <a:ahLst/>
              <a:cxnLst>
                <a:cxn ang="0">
                  <a:pos x="4" y="6"/>
                </a:cxn>
                <a:cxn ang="0">
                  <a:pos x="6" y="5"/>
                </a:cxn>
                <a:cxn ang="0">
                  <a:pos x="7" y="4"/>
                </a:cxn>
                <a:cxn ang="0">
                  <a:pos x="7" y="3"/>
                </a:cxn>
                <a:cxn ang="0">
                  <a:pos x="7" y="2"/>
                </a:cxn>
                <a:cxn ang="0">
                  <a:pos x="7" y="1"/>
                </a:cxn>
                <a:cxn ang="0">
                  <a:pos x="6" y="0"/>
                </a:cxn>
                <a:cxn ang="0">
                  <a:pos x="4" y="0"/>
                </a:cxn>
                <a:cxn ang="0">
                  <a:pos x="3" y="0"/>
                </a:cxn>
                <a:cxn ang="0">
                  <a:pos x="3" y="0"/>
                </a:cxn>
                <a:cxn ang="0">
                  <a:pos x="2" y="0"/>
                </a:cxn>
                <a:cxn ang="0">
                  <a:pos x="1" y="1"/>
                </a:cxn>
                <a:cxn ang="0">
                  <a:pos x="0" y="2"/>
                </a:cxn>
                <a:cxn ang="0">
                  <a:pos x="0" y="3"/>
                </a:cxn>
                <a:cxn ang="0">
                  <a:pos x="1" y="4"/>
                </a:cxn>
                <a:cxn ang="0">
                  <a:pos x="2" y="5"/>
                </a:cxn>
                <a:cxn ang="0">
                  <a:pos x="3" y="6"/>
                </a:cxn>
                <a:cxn ang="0">
                  <a:pos x="4" y="6"/>
                </a:cxn>
              </a:cxnLst>
              <a:rect l="0" t="0" r="r" b="b"/>
              <a:pathLst>
                <a:path w="7" h="6">
                  <a:moveTo>
                    <a:pt x="4" y="6"/>
                  </a:moveTo>
                  <a:lnTo>
                    <a:pt x="6" y="5"/>
                  </a:lnTo>
                  <a:lnTo>
                    <a:pt x="7" y="4"/>
                  </a:lnTo>
                  <a:lnTo>
                    <a:pt x="7" y="3"/>
                  </a:lnTo>
                  <a:lnTo>
                    <a:pt x="7" y="2"/>
                  </a:lnTo>
                  <a:lnTo>
                    <a:pt x="7" y="1"/>
                  </a:lnTo>
                  <a:lnTo>
                    <a:pt x="6" y="0"/>
                  </a:lnTo>
                  <a:lnTo>
                    <a:pt x="4" y="0"/>
                  </a:lnTo>
                  <a:lnTo>
                    <a:pt x="3" y="0"/>
                  </a:lnTo>
                  <a:lnTo>
                    <a:pt x="3" y="0"/>
                  </a:lnTo>
                  <a:lnTo>
                    <a:pt x="2" y="0"/>
                  </a:lnTo>
                  <a:lnTo>
                    <a:pt x="1" y="1"/>
                  </a:lnTo>
                  <a:lnTo>
                    <a:pt x="0" y="2"/>
                  </a:lnTo>
                  <a:lnTo>
                    <a:pt x="0" y="3"/>
                  </a:lnTo>
                  <a:lnTo>
                    <a:pt x="1" y="4"/>
                  </a:lnTo>
                  <a:lnTo>
                    <a:pt x="2" y="5"/>
                  </a:lnTo>
                  <a:lnTo>
                    <a:pt x="3" y="6"/>
                  </a:lnTo>
                  <a:lnTo>
                    <a:pt x="4" y="6"/>
                  </a:lnTo>
                  <a:close/>
                </a:path>
              </a:pathLst>
            </a:custGeom>
            <a:solidFill>
              <a:srgbClr val="000000"/>
            </a:solidFill>
            <a:ln w="9525">
              <a:noFill/>
              <a:round/>
              <a:headEnd/>
              <a:tailEnd/>
            </a:ln>
          </p:spPr>
          <p:txBody>
            <a:bodyPr/>
            <a:lstStyle/>
            <a:p>
              <a:endParaRPr lang="en-US"/>
            </a:p>
          </p:txBody>
        </p:sp>
        <p:sp>
          <p:nvSpPr>
            <p:cNvPr id="327336" name="Freeform 680"/>
            <p:cNvSpPr>
              <a:spLocks/>
            </p:cNvSpPr>
            <p:nvPr/>
          </p:nvSpPr>
          <p:spPr bwMode="auto">
            <a:xfrm>
              <a:off x="3557" y="1752"/>
              <a:ext cx="7" cy="6"/>
            </a:xfrm>
            <a:custGeom>
              <a:avLst/>
              <a:gdLst/>
              <a:ahLst/>
              <a:cxnLst>
                <a:cxn ang="0">
                  <a:pos x="5" y="6"/>
                </a:cxn>
                <a:cxn ang="0">
                  <a:pos x="6" y="5"/>
                </a:cxn>
                <a:cxn ang="0">
                  <a:pos x="7" y="4"/>
                </a:cxn>
                <a:cxn ang="0">
                  <a:pos x="7" y="3"/>
                </a:cxn>
                <a:cxn ang="0">
                  <a:pos x="7" y="2"/>
                </a:cxn>
                <a:cxn ang="0">
                  <a:pos x="7" y="1"/>
                </a:cxn>
                <a:cxn ang="0">
                  <a:pos x="6" y="0"/>
                </a:cxn>
                <a:cxn ang="0">
                  <a:pos x="5" y="0"/>
                </a:cxn>
                <a:cxn ang="0">
                  <a:pos x="4" y="0"/>
                </a:cxn>
                <a:cxn ang="0">
                  <a:pos x="4" y="0"/>
                </a:cxn>
                <a:cxn ang="0">
                  <a:pos x="3" y="0"/>
                </a:cxn>
                <a:cxn ang="0">
                  <a:pos x="2" y="1"/>
                </a:cxn>
                <a:cxn ang="0">
                  <a:pos x="0" y="2"/>
                </a:cxn>
                <a:cxn ang="0">
                  <a:pos x="0" y="3"/>
                </a:cxn>
                <a:cxn ang="0">
                  <a:pos x="2" y="4"/>
                </a:cxn>
                <a:cxn ang="0">
                  <a:pos x="3" y="5"/>
                </a:cxn>
                <a:cxn ang="0">
                  <a:pos x="4" y="6"/>
                </a:cxn>
                <a:cxn ang="0">
                  <a:pos x="5" y="6"/>
                </a:cxn>
              </a:cxnLst>
              <a:rect l="0" t="0" r="r" b="b"/>
              <a:pathLst>
                <a:path w="7" h="6">
                  <a:moveTo>
                    <a:pt x="5" y="6"/>
                  </a:moveTo>
                  <a:lnTo>
                    <a:pt x="6" y="5"/>
                  </a:lnTo>
                  <a:lnTo>
                    <a:pt x="7" y="4"/>
                  </a:lnTo>
                  <a:lnTo>
                    <a:pt x="7" y="3"/>
                  </a:lnTo>
                  <a:lnTo>
                    <a:pt x="7" y="2"/>
                  </a:lnTo>
                  <a:lnTo>
                    <a:pt x="7" y="1"/>
                  </a:lnTo>
                  <a:lnTo>
                    <a:pt x="6" y="0"/>
                  </a:lnTo>
                  <a:lnTo>
                    <a:pt x="5" y="0"/>
                  </a:lnTo>
                  <a:lnTo>
                    <a:pt x="4" y="0"/>
                  </a:lnTo>
                  <a:lnTo>
                    <a:pt x="4" y="0"/>
                  </a:lnTo>
                  <a:lnTo>
                    <a:pt x="3" y="0"/>
                  </a:lnTo>
                  <a:lnTo>
                    <a:pt x="2" y="1"/>
                  </a:lnTo>
                  <a:lnTo>
                    <a:pt x="0" y="2"/>
                  </a:lnTo>
                  <a:lnTo>
                    <a:pt x="0" y="3"/>
                  </a:lnTo>
                  <a:lnTo>
                    <a:pt x="2" y="4"/>
                  </a:lnTo>
                  <a:lnTo>
                    <a:pt x="3" y="5"/>
                  </a:lnTo>
                  <a:lnTo>
                    <a:pt x="4" y="6"/>
                  </a:lnTo>
                  <a:lnTo>
                    <a:pt x="5" y="6"/>
                  </a:lnTo>
                  <a:close/>
                </a:path>
              </a:pathLst>
            </a:custGeom>
            <a:solidFill>
              <a:srgbClr val="000000"/>
            </a:solidFill>
            <a:ln w="9525">
              <a:noFill/>
              <a:round/>
              <a:headEnd/>
              <a:tailEnd/>
            </a:ln>
          </p:spPr>
          <p:txBody>
            <a:bodyPr/>
            <a:lstStyle/>
            <a:p>
              <a:endParaRPr lang="en-US"/>
            </a:p>
          </p:txBody>
        </p:sp>
        <p:sp>
          <p:nvSpPr>
            <p:cNvPr id="327337" name="Freeform 681"/>
            <p:cNvSpPr>
              <a:spLocks/>
            </p:cNvSpPr>
            <p:nvPr/>
          </p:nvSpPr>
          <p:spPr bwMode="auto">
            <a:xfrm>
              <a:off x="3544" y="1754"/>
              <a:ext cx="7" cy="6"/>
            </a:xfrm>
            <a:custGeom>
              <a:avLst/>
              <a:gdLst/>
              <a:ahLst/>
              <a:cxnLst>
                <a:cxn ang="0">
                  <a:pos x="4" y="6"/>
                </a:cxn>
                <a:cxn ang="0">
                  <a:pos x="5" y="5"/>
                </a:cxn>
                <a:cxn ang="0">
                  <a:pos x="7" y="4"/>
                </a:cxn>
                <a:cxn ang="0">
                  <a:pos x="7" y="3"/>
                </a:cxn>
                <a:cxn ang="0">
                  <a:pos x="7" y="2"/>
                </a:cxn>
                <a:cxn ang="0">
                  <a:pos x="7" y="1"/>
                </a:cxn>
                <a:cxn ang="0">
                  <a:pos x="5" y="0"/>
                </a:cxn>
                <a:cxn ang="0">
                  <a:pos x="4" y="0"/>
                </a:cxn>
                <a:cxn ang="0">
                  <a:pos x="3" y="0"/>
                </a:cxn>
                <a:cxn ang="0">
                  <a:pos x="3" y="0"/>
                </a:cxn>
                <a:cxn ang="0">
                  <a:pos x="2" y="0"/>
                </a:cxn>
                <a:cxn ang="0">
                  <a:pos x="1" y="1"/>
                </a:cxn>
                <a:cxn ang="0">
                  <a:pos x="0" y="2"/>
                </a:cxn>
                <a:cxn ang="0">
                  <a:pos x="0" y="3"/>
                </a:cxn>
                <a:cxn ang="0">
                  <a:pos x="1" y="4"/>
                </a:cxn>
                <a:cxn ang="0">
                  <a:pos x="2" y="5"/>
                </a:cxn>
                <a:cxn ang="0">
                  <a:pos x="3" y="6"/>
                </a:cxn>
                <a:cxn ang="0">
                  <a:pos x="4" y="6"/>
                </a:cxn>
              </a:cxnLst>
              <a:rect l="0" t="0" r="r" b="b"/>
              <a:pathLst>
                <a:path w="7" h="6">
                  <a:moveTo>
                    <a:pt x="4" y="6"/>
                  </a:moveTo>
                  <a:lnTo>
                    <a:pt x="5" y="5"/>
                  </a:lnTo>
                  <a:lnTo>
                    <a:pt x="7" y="4"/>
                  </a:lnTo>
                  <a:lnTo>
                    <a:pt x="7" y="3"/>
                  </a:lnTo>
                  <a:lnTo>
                    <a:pt x="7" y="2"/>
                  </a:lnTo>
                  <a:lnTo>
                    <a:pt x="7" y="1"/>
                  </a:lnTo>
                  <a:lnTo>
                    <a:pt x="5" y="0"/>
                  </a:lnTo>
                  <a:lnTo>
                    <a:pt x="4" y="0"/>
                  </a:lnTo>
                  <a:lnTo>
                    <a:pt x="3" y="0"/>
                  </a:lnTo>
                  <a:lnTo>
                    <a:pt x="3" y="0"/>
                  </a:lnTo>
                  <a:lnTo>
                    <a:pt x="2" y="0"/>
                  </a:lnTo>
                  <a:lnTo>
                    <a:pt x="1" y="1"/>
                  </a:lnTo>
                  <a:lnTo>
                    <a:pt x="0" y="2"/>
                  </a:lnTo>
                  <a:lnTo>
                    <a:pt x="0" y="3"/>
                  </a:lnTo>
                  <a:lnTo>
                    <a:pt x="1" y="4"/>
                  </a:lnTo>
                  <a:lnTo>
                    <a:pt x="2" y="5"/>
                  </a:lnTo>
                  <a:lnTo>
                    <a:pt x="3" y="6"/>
                  </a:lnTo>
                  <a:lnTo>
                    <a:pt x="4" y="6"/>
                  </a:lnTo>
                  <a:close/>
                </a:path>
              </a:pathLst>
            </a:custGeom>
            <a:solidFill>
              <a:srgbClr val="000000"/>
            </a:solidFill>
            <a:ln w="9525">
              <a:noFill/>
              <a:round/>
              <a:headEnd/>
              <a:tailEnd/>
            </a:ln>
          </p:spPr>
          <p:txBody>
            <a:bodyPr/>
            <a:lstStyle/>
            <a:p>
              <a:endParaRPr lang="en-US"/>
            </a:p>
          </p:txBody>
        </p:sp>
        <p:sp>
          <p:nvSpPr>
            <p:cNvPr id="327338" name="Freeform 682"/>
            <p:cNvSpPr>
              <a:spLocks/>
            </p:cNvSpPr>
            <p:nvPr/>
          </p:nvSpPr>
          <p:spPr bwMode="auto">
            <a:xfrm>
              <a:off x="3530" y="1756"/>
              <a:ext cx="8" cy="6"/>
            </a:xfrm>
            <a:custGeom>
              <a:avLst/>
              <a:gdLst/>
              <a:ahLst/>
              <a:cxnLst>
                <a:cxn ang="0">
                  <a:pos x="5" y="6"/>
                </a:cxn>
                <a:cxn ang="0">
                  <a:pos x="6" y="5"/>
                </a:cxn>
                <a:cxn ang="0">
                  <a:pos x="7" y="4"/>
                </a:cxn>
                <a:cxn ang="0">
                  <a:pos x="8" y="3"/>
                </a:cxn>
                <a:cxn ang="0">
                  <a:pos x="8" y="2"/>
                </a:cxn>
                <a:cxn ang="0">
                  <a:pos x="7" y="1"/>
                </a:cxn>
                <a:cxn ang="0">
                  <a:pos x="6" y="0"/>
                </a:cxn>
                <a:cxn ang="0">
                  <a:pos x="5" y="0"/>
                </a:cxn>
                <a:cxn ang="0">
                  <a:pos x="4" y="0"/>
                </a:cxn>
                <a:cxn ang="0">
                  <a:pos x="4" y="0"/>
                </a:cxn>
                <a:cxn ang="0">
                  <a:pos x="3" y="0"/>
                </a:cxn>
                <a:cxn ang="0">
                  <a:pos x="1" y="1"/>
                </a:cxn>
                <a:cxn ang="0">
                  <a:pos x="0" y="2"/>
                </a:cxn>
                <a:cxn ang="0">
                  <a:pos x="0" y="3"/>
                </a:cxn>
                <a:cxn ang="0">
                  <a:pos x="1" y="4"/>
                </a:cxn>
                <a:cxn ang="0">
                  <a:pos x="3" y="5"/>
                </a:cxn>
                <a:cxn ang="0">
                  <a:pos x="4" y="6"/>
                </a:cxn>
                <a:cxn ang="0">
                  <a:pos x="5" y="6"/>
                </a:cxn>
              </a:cxnLst>
              <a:rect l="0" t="0" r="r" b="b"/>
              <a:pathLst>
                <a:path w="8" h="6">
                  <a:moveTo>
                    <a:pt x="5" y="6"/>
                  </a:moveTo>
                  <a:lnTo>
                    <a:pt x="6" y="5"/>
                  </a:lnTo>
                  <a:lnTo>
                    <a:pt x="7" y="4"/>
                  </a:lnTo>
                  <a:lnTo>
                    <a:pt x="8" y="3"/>
                  </a:lnTo>
                  <a:lnTo>
                    <a:pt x="8" y="2"/>
                  </a:lnTo>
                  <a:lnTo>
                    <a:pt x="7" y="1"/>
                  </a:lnTo>
                  <a:lnTo>
                    <a:pt x="6" y="0"/>
                  </a:lnTo>
                  <a:lnTo>
                    <a:pt x="5" y="0"/>
                  </a:lnTo>
                  <a:lnTo>
                    <a:pt x="4" y="0"/>
                  </a:lnTo>
                  <a:lnTo>
                    <a:pt x="4" y="0"/>
                  </a:lnTo>
                  <a:lnTo>
                    <a:pt x="3" y="0"/>
                  </a:lnTo>
                  <a:lnTo>
                    <a:pt x="1" y="1"/>
                  </a:lnTo>
                  <a:lnTo>
                    <a:pt x="0" y="2"/>
                  </a:lnTo>
                  <a:lnTo>
                    <a:pt x="0" y="3"/>
                  </a:lnTo>
                  <a:lnTo>
                    <a:pt x="1" y="4"/>
                  </a:lnTo>
                  <a:lnTo>
                    <a:pt x="3" y="5"/>
                  </a:lnTo>
                  <a:lnTo>
                    <a:pt x="4" y="6"/>
                  </a:lnTo>
                  <a:lnTo>
                    <a:pt x="5" y="6"/>
                  </a:lnTo>
                  <a:close/>
                </a:path>
              </a:pathLst>
            </a:custGeom>
            <a:solidFill>
              <a:srgbClr val="000000"/>
            </a:solidFill>
            <a:ln w="9525">
              <a:noFill/>
              <a:round/>
              <a:headEnd/>
              <a:tailEnd/>
            </a:ln>
          </p:spPr>
          <p:txBody>
            <a:bodyPr/>
            <a:lstStyle/>
            <a:p>
              <a:endParaRPr lang="en-US"/>
            </a:p>
          </p:txBody>
        </p:sp>
        <p:sp>
          <p:nvSpPr>
            <p:cNvPr id="327339" name="Freeform 683"/>
            <p:cNvSpPr>
              <a:spLocks/>
            </p:cNvSpPr>
            <p:nvPr/>
          </p:nvSpPr>
          <p:spPr bwMode="auto">
            <a:xfrm>
              <a:off x="3518" y="1758"/>
              <a:ext cx="7" cy="6"/>
            </a:xfrm>
            <a:custGeom>
              <a:avLst/>
              <a:gdLst/>
              <a:ahLst/>
              <a:cxnLst>
                <a:cxn ang="0">
                  <a:pos x="3" y="6"/>
                </a:cxn>
                <a:cxn ang="0">
                  <a:pos x="4" y="5"/>
                </a:cxn>
                <a:cxn ang="0">
                  <a:pos x="6" y="4"/>
                </a:cxn>
                <a:cxn ang="0">
                  <a:pos x="7" y="3"/>
                </a:cxn>
                <a:cxn ang="0">
                  <a:pos x="7" y="2"/>
                </a:cxn>
                <a:cxn ang="0">
                  <a:pos x="6" y="1"/>
                </a:cxn>
                <a:cxn ang="0">
                  <a:pos x="4" y="0"/>
                </a:cxn>
                <a:cxn ang="0">
                  <a:pos x="3" y="0"/>
                </a:cxn>
                <a:cxn ang="0">
                  <a:pos x="2" y="0"/>
                </a:cxn>
                <a:cxn ang="0">
                  <a:pos x="2" y="0"/>
                </a:cxn>
                <a:cxn ang="0">
                  <a:pos x="1" y="0"/>
                </a:cxn>
                <a:cxn ang="0">
                  <a:pos x="0" y="1"/>
                </a:cxn>
                <a:cxn ang="0">
                  <a:pos x="0" y="2"/>
                </a:cxn>
                <a:cxn ang="0">
                  <a:pos x="0" y="3"/>
                </a:cxn>
                <a:cxn ang="0">
                  <a:pos x="0" y="4"/>
                </a:cxn>
                <a:cxn ang="0">
                  <a:pos x="1" y="5"/>
                </a:cxn>
                <a:cxn ang="0">
                  <a:pos x="2" y="6"/>
                </a:cxn>
                <a:cxn ang="0">
                  <a:pos x="3" y="6"/>
                </a:cxn>
              </a:cxnLst>
              <a:rect l="0" t="0" r="r" b="b"/>
              <a:pathLst>
                <a:path w="7" h="6">
                  <a:moveTo>
                    <a:pt x="3" y="6"/>
                  </a:moveTo>
                  <a:lnTo>
                    <a:pt x="4" y="5"/>
                  </a:lnTo>
                  <a:lnTo>
                    <a:pt x="6" y="4"/>
                  </a:lnTo>
                  <a:lnTo>
                    <a:pt x="7" y="3"/>
                  </a:lnTo>
                  <a:lnTo>
                    <a:pt x="7" y="2"/>
                  </a:lnTo>
                  <a:lnTo>
                    <a:pt x="6" y="1"/>
                  </a:lnTo>
                  <a:lnTo>
                    <a:pt x="4" y="0"/>
                  </a:lnTo>
                  <a:lnTo>
                    <a:pt x="3" y="0"/>
                  </a:lnTo>
                  <a:lnTo>
                    <a:pt x="2" y="0"/>
                  </a:lnTo>
                  <a:lnTo>
                    <a:pt x="2" y="0"/>
                  </a:lnTo>
                  <a:lnTo>
                    <a:pt x="1" y="0"/>
                  </a:lnTo>
                  <a:lnTo>
                    <a:pt x="0" y="1"/>
                  </a:lnTo>
                  <a:lnTo>
                    <a:pt x="0" y="2"/>
                  </a:lnTo>
                  <a:lnTo>
                    <a:pt x="0" y="3"/>
                  </a:lnTo>
                  <a:lnTo>
                    <a:pt x="0" y="4"/>
                  </a:lnTo>
                  <a:lnTo>
                    <a:pt x="1" y="5"/>
                  </a:lnTo>
                  <a:lnTo>
                    <a:pt x="2" y="6"/>
                  </a:lnTo>
                  <a:lnTo>
                    <a:pt x="3" y="6"/>
                  </a:lnTo>
                  <a:close/>
                </a:path>
              </a:pathLst>
            </a:custGeom>
            <a:solidFill>
              <a:srgbClr val="000000"/>
            </a:solidFill>
            <a:ln w="9525">
              <a:noFill/>
              <a:round/>
              <a:headEnd/>
              <a:tailEnd/>
            </a:ln>
          </p:spPr>
          <p:txBody>
            <a:bodyPr/>
            <a:lstStyle/>
            <a:p>
              <a:endParaRPr lang="en-US"/>
            </a:p>
          </p:txBody>
        </p:sp>
        <p:sp>
          <p:nvSpPr>
            <p:cNvPr id="327340" name="Freeform 684"/>
            <p:cNvSpPr>
              <a:spLocks/>
            </p:cNvSpPr>
            <p:nvPr/>
          </p:nvSpPr>
          <p:spPr bwMode="auto">
            <a:xfrm>
              <a:off x="3504" y="1759"/>
              <a:ext cx="7" cy="6"/>
            </a:xfrm>
            <a:custGeom>
              <a:avLst/>
              <a:gdLst/>
              <a:ahLst/>
              <a:cxnLst>
                <a:cxn ang="0">
                  <a:pos x="4" y="6"/>
                </a:cxn>
                <a:cxn ang="0">
                  <a:pos x="5" y="6"/>
                </a:cxn>
                <a:cxn ang="0">
                  <a:pos x="6" y="5"/>
                </a:cxn>
                <a:cxn ang="0">
                  <a:pos x="7" y="4"/>
                </a:cxn>
                <a:cxn ang="0">
                  <a:pos x="7" y="3"/>
                </a:cxn>
                <a:cxn ang="0">
                  <a:pos x="6" y="2"/>
                </a:cxn>
                <a:cxn ang="0">
                  <a:pos x="5" y="1"/>
                </a:cxn>
                <a:cxn ang="0">
                  <a:pos x="4" y="0"/>
                </a:cxn>
                <a:cxn ang="0">
                  <a:pos x="3" y="0"/>
                </a:cxn>
                <a:cxn ang="0">
                  <a:pos x="3" y="0"/>
                </a:cxn>
                <a:cxn ang="0">
                  <a:pos x="1" y="1"/>
                </a:cxn>
                <a:cxn ang="0">
                  <a:pos x="0" y="2"/>
                </a:cxn>
                <a:cxn ang="0">
                  <a:pos x="0" y="3"/>
                </a:cxn>
                <a:cxn ang="0">
                  <a:pos x="0" y="4"/>
                </a:cxn>
                <a:cxn ang="0">
                  <a:pos x="0" y="5"/>
                </a:cxn>
                <a:cxn ang="0">
                  <a:pos x="1" y="6"/>
                </a:cxn>
                <a:cxn ang="0">
                  <a:pos x="3" y="6"/>
                </a:cxn>
                <a:cxn ang="0">
                  <a:pos x="4" y="6"/>
                </a:cxn>
              </a:cxnLst>
              <a:rect l="0" t="0" r="r" b="b"/>
              <a:pathLst>
                <a:path w="7" h="6">
                  <a:moveTo>
                    <a:pt x="4" y="6"/>
                  </a:moveTo>
                  <a:lnTo>
                    <a:pt x="5" y="6"/>
                  </a:lnTo>
                  <a:lnTo>
                    <a:pt x="6" y="5"/>
                  </a:lnTo>
                  <a:lnTo>
                    <a:pt x="7" y="4"/>
                  </a:lnTo>
                  <a:lnTo>
                    <a:pt x="7" y="3"/>
                  </a:lnTo>
                  <a:lnTo>
                    <a:pt x="6" y="2"/>
                  </a:lnTo>
                  <a:lnTo>
                    <a:pt x="5" y="1"/>
                  </a:lnTo>
                  <a:lnTo>
                    <a:pt x="4" y="0"/>
                  </a:lnTo>
                  <a:lnTo>
                    <a:pt x="3" y="0"/>
                  </a:lnTo>
                  <a:lnTo>
                    <a:pt x="3" y="0"/>
                  </a:lnTo>
                  <a:lnTo>
                    <a:pt x="1" y="1"/>
                  </a:lnTo>
                  <a:lnTo>
                    <a:pt x="0" y="2"/>
                  </a:lnTo>
                  <a:lnTo>
                    <a:pt x="0" y="3"/>
                  </a:lnTo>
                  <a:lnTo>
                    <a:pt x="0" y="4"/>
                  </a:lnTo>
                  <a:lnTo>
                    <a:pt x="0" y="5"/>
                  </a:lnTo>
                  <a:lnTo>
                    <a:pt x="1" y="6"/>
                  </a:lnTo>
                  <a:lnTo>
                    <a:pt x="3" y="6"/>
                  </a:lnTo>
                  <a:lnTo>
                    <a:pt x="4" y="6"/>
                  </a:lnTo>
                  <a:close/>
                </a:path>
              </a:pathLst>
            </a:custGeom>
            <a:solidFill>
              <a:srgbClr val="000000"/>
            </a:solidFill>
            <a:ln w="9525">
              <a:noFill/>
              <a:round/>
              <a:headEnd/>
              <a:tailEnd/>
            </a:ln>
          </p:spPr>
          <p:txBody>
            <a:bodyPr/>
            <a:lstStyle/>
            <a:p>
              <a:endParaRPr lang="en-US"/>
            </a:p>
          </p:txBody>
        </p:sp>
        <p:sp>
          <p:nvSpPr>
            <p:cNvPr id="327341" name="Freeform 685"/>
            <p:cNvSpPr>
              <a:spLocks/>
            </p:cNvSpPr>
            <p:nvPr/>
          </p:nvSpPr>
          <p:spPr bwMode="auto">
            <a:xfrm>
              <a:off x="3491" y="1761"/>
              <a:ext cx="7" cy="6"/>
            </a:xfrm>
            <a:custGeom>
              <a:avLst/>
              <a:gdLst/>
              <a:ahLst/>
              <a:cxnLst>
                <a:cxn ang="0">
                  <a:pos x="3" y="6"/>
                </a:cxn>
                <a:cxn ang="0">
                  <a:pos x="4" y="6"/>
                </a:cxn>
                <a:cxn ang="0">
                  <a:pos x="5" y="5"/>
                </a:cxn>
                <a:cxn ang="0">
                  <a:pos x="7" y="4"/>
                </a:cxn>
                <a:cxn ang="0">
                  <a:pos x="7" y="3"/>
                </a:cxn>
                <a:cxn ang="0">
                  <a:pos x="5" y="2"/>
                </a:cxn>
                <a:cxn ang="0">
                  <a:pos x="4" y="1"/>
                </a:cxn>
                <a:cxn ang="0">
                  <a:pos x="3" y="0"/>
                </a:cxn>
                <a:cxn ang="0">
                  <a:pos x="2" y="0"/>
                </a:cxn>
                <a:cxn ang="0">
                  <a:pos x="2" y="0"/>
                </a:cxn>
                <a:cxn ang="0">
                  <a:pos x="1" y="1"/>
                </a:cxn>
                <a:cxn ang="0">
                  <a:pos x="0" y="2"/>
                </a:cxn>
                <a:cxn ang="0">
                  <a:pos x="0" y="3"/>
                </a:cxn>
                <a:cxn ang="0">
                  <a:pos x="0" y="4"/>
                </a:cxn>
                <a:cxn ang="0">
                  <a:pos x="0" y="5"/>
                </a:cxn>
                <a:cxn ang="0">
                  <a:pos x="1" y="6"/>
                </a:cxn>
                <a:cxn ang="0">
                  <a:pos x="2" y="6"/>
                </a:cxn>
                <a:cxn ang="0">
                  <a:pos x="3" y="6"/>
                </a:cxn>
              </a:cxnLst>
              <a:rect l="0" t="0" r="r" b="b"/>
              <a:pathLst>
                <a:path w="7" h="6">
                  <a:moveTo>
                    <a:pt x="3" y="6"/>
                  </a:moveTo>
                  <a:lnTo>
                    <a:pt x="4" y="6"/>
                  </a:lnTo>
                  <a:lnTo>
                    <a:pt x="5" y="5"/>
                  </a:lnTo>
                  <a:lnTo>
                    <a:pt x="7" y="4"/>
                  </a:lnTo>
                  <a:lnTo>
                    <a:pt x="7" y="3"/>
                  </a:lnTo>
                  <a:lnTo>
                    <a:pt x="5" y="2"/>
                  </a:lnTo>
                  <a:lnTo>
                    <a:pt x="4" y="1"/>
                  </a:lnTo>
                  <a:lnTo>
                    <a:pt x="3" y="0"/>
                  </a:lnTo>
                  <a:lnTo>
                    <a:pt x="2" y="0"/>
                  </a:lnTo>
                  <a:lnTo>
                    <a:pt x="2" y="0"/>
                  </a:lnTo>
                  <a:lnTo>
                    <a:pt x="1" y="1"/>
                  </a:lnTo>
                  <a:lnTo>
                    <a:pt x="0" y="2"/>
                  </a:lnTo>
                  <a:lnTo>
                    <a:pt x="0" y="3"/>
                  </a:lnTo>
                  <a:lnTo>
                    <a:pt x="0" y="4"/>
                  </a:lnTo>
                  <a:lnTo>
                    <a:pt x="0" y="5"/>
                  </a:lnTo>
                  <a:lnTo>
                    <a:pt x="1" y="6"/>
                  </a:lnTo>
                  <a:lnTo>
                    <a:pt x="2" y="6"/>
                  </a:lnTo>
                  <a:lnTo>
                    <a:pt x="3" y="6"/>
                  </a:lnTo>
                  <a:close/>
                </a:path>
              </a:pathLst>
            </a:custGeom>
            <a:solidFill>
              <a:srgbClr val="000000"/>
            </a:solidFill>
            <a:ln w="9525">
              <a:noFill/>
              <a:round/>
              <a:headEnd/>
              <a:tailEnd/>
            </a:ln>
          </p:spPr>
          <p:txBody>
            <a:bodyPr/>
            <a:lstStyle/>
            <a:p>
              <a:endParaRPr lang="en-US"/>
            </a:p>
          </p:txBody>
        </p:sp>
        <p:sp>
          <p:nvSpPr>
            <p:cNvPr id="327342" name="Freeform 686"/>
            <p:cNvSpPr>
              <a:spLocks/>
            </p:cNvSpPr>
            <p:nvPr/>
          </p:nvSpPr>
          <p:spPr bwMode="auto">
            <a:xfrm>
              <a:off x="3477" y="1763"/>
              <a:ext cx="7" cy="7"/>
            </a:xfrm>
            <a:custGeom>
              <a:avLst/>
              <a:gdLst/>
              <a:ahLst/>
              <a:cxnLst>
                <a:cxn ang="0">
                  <a:pos x="5" y="7"/>
                </a:cxn>
                <a:cxn ang="0">
                  <a:pos x="6" y="7"/>
                </a:cxn>
                <a:cxn ang="0">
                  <a:pos x="7" y="6"/>
                </a:cxn>
                <a:cxn ang="0">
                  <a:pos x="7" y="4"/>
                </a:cxn>
                <a:cxn ang="0">
                  <a:pos x="7" y="3"/>
                </a:cxn>
                <a:cxn ang="0">
                  <a:pos x="7" y="2"/>
                </a:cxn>
                <a:cxn ang="0">
                  <a:pos x="6" y="1"/>
                </a:cxn>
                <a:cxn ang="0">
                  <a:pos x="5" y="0"/>
                </a:cxn>
                <a:cxn ang="0">
                  <a:pos x="4" y="0"/>
                </a:cxn>
                <a:cxn ang="0">
                  <a:pos x="4" y="0"/>
                </a:cxn>
                <a:cxn ang="0">
                  <a:pos x="2" y="1"/>
                </a:cxn>
                <a:cxn ang="0">
                  <a:pos x="1" y="2"/>
                </a:cxn>
                <a:cxn ang="0">
                  <a:pos x="0" y="3"/>
                </a:cxn>
                <a:cxn ang="0">
                  <a:pos x="0" y="4"/>
                </a:cxn>
                <a:cxn ang="0">
                  <a:pos x="1" y="6"/>
                </a:cxn>
                <a:cxn ang="0">
                  <a:pos x="2" y="7"/>
                </a:cxn>
                <a:cxn ang="0">
                  <a:pos x="4" y="7"/>
                </a:cxn>
                <a:cxn ang="0">
                  <a:pos x="5" y="7"/>
                </a:cxn>
              </a:cxnLst>
              <a:rect l="0" t="0" r="r" b="b"/>
              <a:pathLst>
                <a:path w="7" h="7">
                  <a:moveTo>
                    <a:pt x="5" y="7"/>
                  </a:moveTo>
                  <a:lnTo>
                    <a:pt x="6" y="7"/>
                  </a:lnTo>
                  <a:lnTo>
                    <a:pt x="7" y="6"/>
                  </a:lnTo>
                  <a:lnTo>
                    <a:pt x="7" y="4"/>
                  </a:lnTo>
                  <a:lnTo>
                    <a:pt x="7" y="3"/>
                  </a:lnTo>
                  <a:lnTo>
                    <a:pt x="7" y="2"/>
                  </a:lnTo>
                  <a:lnTo>
                    <a:pt x="6" y="1"/>
                  </a:lnTo>
                  <a:lnTo>
                    <a:pt x="5" y="0"/>
                  </a:lnTo>
                  <a:lnTo>
                    <a:pt x="4" y="0"/>
                  </a:lnTo>
                  <a:lnTo>
                    <a:pt x="4" y="0"/>
                  </a:lnTo>
                  <a:lnTo>
                    <a:pt x="2" y="1"/>
                  </a:lnTo>
                  <a:lnTo>
                    <a:pt x="1" y="2"/>
                  </a:lnTo>
                  <a:lnTo>
                    <a:pt x="0" y="3"/>
                  </a:lnTo>
                  <a:lnTo>
                    <a:pt x="0" y="4"/>
                  </a:lnTo>
                  <a:lnTo>
                    <a:pt x="1" y="6"/>
                  </a:lnTo>
                  <a:lnTo>
                    <a:pt x="2" y="7"/>
                  </a:lnTo>
                  <a:lnTo>
                    <a:pt x="4" y="7"/>
                  </a:lnTo>
                  <a:lnTo>
                    <a:pt x="5" y="7"/>
                  </a:lnTo>
                  <a:close/>
                </a:path>
              </a:pathLst>
            </a:custGeom>
            <a:solidFill>
              <a:srgbClr val="000000"/>
            </a:solidFill>
            <a:ln w="9525">
              <a:noFill/>
              <a:round/>
              <a:headEnd/>
              <a:tailEnd/>
            </a:ln>
          </p:spPr>
          <p:txBody>
            <a:bodyPr/>
            <a:lstStyle/>
            <a:p>
              <a:endParaRPr lang="en-US"/>
            </a:p>
          </p:txBody>
        </p:sp>
        <p:sp>
          <p:nvSpPr>
            <p:cNvPr id="327343" name="Freeform 687"/>
            <p:cNvSpPr>
              <a:spLocks/>
            </p:cNvSpPr>
            <p:nvPr/>
          </p:nvSpPr>
          <p:spPr bwMode="auto">
            <a:xfrm>
              <a:off x="3464" y="1765"/>
              <a:ext cx="6" cy="7"/>
            </a:xfrm>
            <a:custGeom>
              <a:avLst/>
              <a:gdLst/>
              <a:ahLst/>
              <a:cxnLst>
                <a:cxn ang="0">
                  <a:pos x="4" y="7"/>
                </a:cxn>
                <a:cxn ang="0">
                  <a:pos x="5" y="7"/>
                </a:cxn>
                <a:cxn ang="0">
                  <a:pos x="6" y="6"/>
                </a:cxn>
                <a:cxn ang="0">
                  <a:pos x="6" y="5"/>
                </a:cxn>
                <a:cxn ang="0">
                  <a:pos x="6" y="4"/>
                </a:cxn>
                <a:cxn ang="0">
                  <a:pos x="6" y="2"/>
                </a:cxn>
                <a:cxn ang="0">
                  <a:pos x="5" y="1"/>
                </a:cxn>
                <a:cxn ang="0">
                  <a:pos x="4" y="0"/>
                </a:cxn>
                <a:cxn ang="0">
                  <a:pos x="3" y="0"/>
                </a:cxn>
                <a:cxn ang="0">
                  <a:pos x="3" y="0"/>
                </a:cxn>
                <a:cxn ang="0">
                  <a:pos x="2" y="1"/>
                </a:cxn>
                <a:cxn ang="0">
                  <a:pos x="1" y="2"/>
                </a:cxn>
                <a:cxn ang="0">
                  <a:pos x="0" y="4"/>
                </a:cxn>
                <a:cxn ang="0">
                  <a:pos x="0" y="5"/>
                </a:cxn>
                <a:cxn ang="0">
                  <a:pos x="1" y="6"/>
                </a:cxn>
                <a:cxn ang="0">
                  <a:pos x="2" y="7"/>
                </a:cxn>
                <a:cxn ang="0">
                  <a:pos x="3" y="7"/>
                </a:cxn>
                <a:cxn ang="0">
                  <a:pos x="4" y="7"/>
                </a:cxn>
              </a:cxnLst>
              <a:rect l="0" t="0" r="r" b="b"/>
              <a:pathLst>
                <a:path w="6" h="7">
                  <a:moveTo>
                    <a:pt x="4" y="7"/>
                  </a:moveTo>
                  <a:lnTo>
                    <a:pt x="5" y="7"/>
                  </a:lnTo>
                  <a:lnTo>
                    <a:pt x="6" y="6"/>
                  </a:lnTo>
                  <a:lnTo>
                    <a:pt x="6" y="5"/>
                  </a:lnTo>
                  <a:lnTo>
                    <a:pt x="6" y="4"/>
                  </a:lnTo>
                  <a:lnTo>
                    <a:pt x="6" y="2"/>
                  </a:lnTo>
                  <a:lnTo>
                    <a:pt x="5" y="1"/>
                  </a:lnTo>
                  <a:lnTo>
                    <a:pt x="4" y="0"/>
                  </a:lnTo>
                  <a:lnTo>
                    <a:pt x="3" y="0"/>
                  </a:lnTo>
                  <a:lnTo>
                    <a:pt x="3" y="0"/>
                  </a:lnTo>
                  <a:lnTo>
                    <a:pt x="2" y="1"/>
                  </a:lnTo>
                  <a:lnTo>
                    <a:pt x="1" y="2"/>
                  </a:lnTo>
                  <a:lnTo>
                    <a:pt x="0" y="4"/>
                  </a:lnTo>
                  <a:lnTo>
                    <a:pt x="0" y="5"/>
                  </a:lnTo>
                  <a:lnTo>
                    <a:pt x="1" y="6"/>
                  </a:lnTo>
                  <a:lnTo>
                    <a:pt x="2" y="7"/>
                  </a:lnTo>
                  <a:lnTo>
                    <a:pt x="3" y="7"/>
                  </a:lnTo>
                  <a:lnTo>
                    <a:pt x="4" y="7"/>
                  </a:lnTo>
                  <a:close/>
                </a:path>
              </a:pathLst>
            </a:custGeom>
            <a:solidFill>
              <a:srgbClr val="000000"/>
            </a:solidFill>
            <a:ln w="9525">
              <a:noFill/>
              <a:round/>
              <a:headEnd/>
              <a:tailEnd/>
            </a:ln>
          </p:spPr>
          <p:txBody>
            <a:bodyPr/>
            <a:lstStyle/>
            <a:p>
              <a:endParaRPr lang="en-US"/>
            </a:p>
          </p:txBody>
        </p:sp>
        <p:sp>
          <p:nvSpPr>
            <p:cNvPr id="327344" name="Freeform 688"/>
            <p:cNvSpPr>
              <a:spLocks/>
            </p:cNvSpPr>
            <p:nvPr/>
          </p:nvSpPr>
          <p:spPr bwMode="auto">
            <a:xfrm>
              <a:off x="3450" y="1767"/>
              <a:ext cx="7" cy="7"/>
            </a:xfrm>
            <a:custGeom>
              <a:avLst/>
              <a:gdLst/>
              <a:ahLst/>
              <a:cxnLst>
                <a:cxn ang="0">
                  <a:pos x="5" y="7"/>
                </a:cxn>
                <a:cxn ang="0">
                  <a:pos x="6" y="7"/>
                </a:cxn>
                <a:cxn ang="0">
                  <a:pos x="7" y="6"/>
                </a:cxn>
                <a:cxn ang="0">
                  <a:pos x="7" y="5"/>
                </a:cxn>
                <a:cxn ang="0">
                  <a:pos x="7" y="4"/>
                </a:cxn>
                <a:cxn ang="0">
                  <a:pos x="7" y="3"/>
                </a:cxn>
                <a:cxn ang="0">
                  <a:pos x="6" y="2"/>
                </a:cxn>
                <a:cxn ang="0">
                  <a:pos x="5" y="0"/>
                </a:cxn>
                <a:cxn ang="0">
                  <a:pos x="3" y="0"/>
                </a:cxn>
                <a:cxn ang="0">
                  <a:pos x="3" y="0"/>
                </a:cxn>
                <a:cxn ang="0">
                  <a:pos x="2" y="2"/>
                </a:cxn>
                <a:cxn ang="0">
                  <a:pos x="1" y="3"/>
                </a:cxn>
                <a:cxn ang="0">
                  <a:pos x="0" y="4"/>
                </a:cxn>
                <a:cxn ang="0">
                  <a:pos x="0" y="5"/>
                </a:cxn>
                <a:cxn ang="0">
                  <a:pos x="1" y="6"/>
                </a:cxn>
                <a:cxn ang="0">
                  <a:pos x="2" y="7"/>
                </a:cxn>
                <a:cxn ang="0">
                  <a:pos x="3" y="7"/>
                </a:cxn>
                <a:cxn ang="0">
                  <a:pos x="5" y="7"/>
                </a:cxn>
              </a:cxnLst>
              <a:rect l="0" t="0" r="r" b="b"/>
              <a:pathLst>
                <a:path w="7" h="7">
                  <a:moveTo>
                    <a:pt x="5" y="7"/>
                  </a:moveTo>
                  <a:lnTo>
                    <a:pt x="6" y="7"/>
                  </a:lnTo>
                  <a:lnTo>
                    <a:pt x="7" y="6"/>
                  </a:lnTo>
                  <a:lnTo>
                    <a:pt x="7" y="5"/>
                  </a:lnTo>
                  <a:lnTo>
                    <a:pt x="7" y="4"/>
                  </a:lnTo>
                  <a:lnTo>
                    <a:pt x="7" y="3"/>
                  </a:lnTo>
                  <a:lnTo>
                    <a:pt x="6" y="2"/>
                  </a:lnTo>
                  <a:lnTo>
                    <a:pt x="5" y="0"/>
                  </a:lnTo>
                  <a:lnTo>
                    <a:pt x="3" y="0"/>
                  </a:lnTo>
                  <a:lnTo>
                    <a:pt x="3" y="0"/>
                  </a:lnTo>
                  <a:lnTo>
                    <a:pt x="2" y="2"/>
                  </a:lnTo>
                  <a:lnTo>
                    <a:pt x="1" y="3"/>
                  </a:lnTo>
                  <a:lnTo>
                    <a:pt x="0" y="4"/>
                  </a:lnTo>
                  <a:lnTo>
                    <a:pt x="0" y="5"/>
                  </a:lnTo>
                  <a:lnTo>
                    <a:pt x="1" y="6"/>
                  </a:lnTo>
                  <a:lnTo>
                    <a:pt x="2" y="7"/>
                  </a:lnTo>
                  <a:lnTo>
                    <a:pt x="3" y="7"/>
                  </a:lnTo>
                  <a:lnTo>
                    <a:pt x="5" y="7"/>
                  </a:lnTo>
                  <a:close/>
                </a:path>
              </a:pathLst>
            </a:custGeom>
            <a:solidFill>
              <a:srgbClr val="000000"/>
            </a:solidFill>
            <a:ln w="9525">
              <a:noFill/>
              <a:round/>
              <a:headEnd/>
              <a:tailEnd/>
            </a:ln>
          </p:spPr>
          <p:txBody>
            <a:bodyPr/>
            <a:lstStyle/>
            <a:p>
              <a:endParaRPr lang="en-US"/>
            </a:p>
          </p:txBody>
        </p:sp>
        <p:sp>
          <p:nvSpPr>
            <p:cNvPr id="327345" name="Freeform 689"/>
            <p:cNvSpPr>
              <a:spLocks/>
            </p:cNvSpPr>
            <p:nvPr/>
          </p:nvSpPr>
          <p:spPr bwMode="auto">
            <a:xfrm>
              <a:off x="3438" y="1770"/>
              <a:ext cx="6" cy="6"/>
            </a:xfrm>
            <a:custGeom>
              <a:avLst/>
              <a:gdLst/>
              <a:ahLst/>
              <a:cxnLst>
                <a:cxn ang="0">
                  <a:pos x="3" y="6"/>
                </a:cxn>
                <a:cxn ang="0">
                  <a:pos x="4" y="6"/>
                </a:cxn>
                <a:cxn ang="0">
                  <a:pos x="5" y="5"/>
                </a:cxn>
                <a:cxn ang="0">
                  <a:pos x="6" y="4"/>
                </a:cxn>
                <a:cxn ang="0">
                  <a:pos x="6" y="3"/>
                </a:cxn>
                <a:cxn ang="0">
                  <a:pos x="5" y="2"/>
                </a:cxn>
                <a:cxn ang="0">
                  <a:pos x="4" y="1"/>
                </a:cxn>
                <a:cxn ang="0">
                  <a:pos x="3" y="0"/>
                </a:cxn>
                <a:cxn ang="0">
                  <a:pos x="2" y="0"/>
                </a:cxn>
                <a:cxn ang="0">
                  <a:pos x="2" y="0"/>
                </a:cxn>
                <a:cxn ang="0">
                  <a:pos x="1" y="1"/>
                </a:cxn>
                <a:cxn ang="0">
                  <a:pos x="0" y="2"/>
                </a:cxn>
                <a:cxn ang="0">
                  <a:pos x="0" y="3"/>
                </a:cxn>
                <a:cxn ang="0">
                  <a:pos x="0" y="4"/>
                </a:cxn>
                <a:cxn ang="0">
                  <a:pos x="0" y="5"/>
                </a:cxn>
                <a:cxn ang="0">
                  <a:pos x="1" y="6"/>
                </a:cxn>
                <a:cxn ang="0">
                  <a:pos x="2" y="6"/>
                </a:cxn>
                <a:cxn ang="0">
                  <a:pos x="3" y="6"/>
                </a:cxn>
              </a:cxnLst>
              <a:rect l="0" t="0" r="r" b="b"/>
              <a:pathLst>
                <a:path w="6" h="6">
                  <a:moveTo>
                    <a:pt x="3" y="6"/>
                  </a:moveTo>
                  <a:lnTo>
                    <a:pt x="4" y="6"/>
                  </a:lnTo>
                  <a:lnTo>
                    <a:pt x="5" y="5"/>
                  </a:lnTo>
                  <a:lnTo>
                    <a:pt x="6" y="4"/>
                  </a:lnTo>
                  <a:lnTo>
                    <a:pt x="6" y="3"/>
                  </a:lnTo>
                  <a:lnTo>
                    <a:pt x="5" y="2"/>
                  </a:lnTo>
                  <a:lnTo>
                    <a:pt x="4" y="1"/>
                  </a:lnTo>
                  <a:lnTo>
                    <a:pt x="3" y="0"/>
                  </a:lnTo>
                  <a:lnTo>
                    <a:pt x="2" y="0"/>
                  </a:lnTo>
                  <a:lnTo>
                    <a:pt x="2" y="0"/>
                  </a:lnTo>
                  <a:lnTo>
                    <a:pt x="1" y="1"/>
                  </a:lnTo>
                  <a:lnTo>
                    <a:pt x="0" y="2"/>
                  </a:lnTo>
                  <a:lnTo>
                    <a:pt x="0" y="3"/>
                  </a:lnTo>
                  <a:lnTo>
                    <a:pt x="0" y="4"/>
                  </a:lnTo>
                  <a:lnTo>
                    <a:pt x="0" y="5"/>
                  </a:lnTo>
                  <a:lnTo>
                    <a:pt x="1" y="6"/>
                  </a:lnTo>
                  <a:lnTo>
                    <a:pt x="2" y="6"/>
                  </a:lnTo>
                  <a:lnTo>
                    <a:pt x="3" y="6"/>
                  </a:lnTo>
                  <a:close/>
                </a:path>
              </a:pathLst>
            </a:custGeom>
            <a:solidFill>
              <a:srgbClr val="000000"/>
            </a:solidFill>
            <a:ln w="9525">
              <a:noFill/>
              <a:round/>
              <a:headEnd/>
              <a:tailEnd/>
            </a:ln>
          </p:spPr>
          <p:txBody>
            <a:bodyPr/>
            <a:lstStyle/>
            <a:p>
              <a:endParaRPr lang="en-US"/>
            </a:p>
          </p:txBody>
        </p:sp>
        <p:sp>
          <p:nvSpPr>
            <p:cNvPr id="327346" name="Freeform 690"/>
            <p:cNvSpPr>
              <a:spLocks/>
            </p:cNvSpPr>
            <p:nvPr/>
          </p:nvSpPr>
          <p:spPr bwMode="auto">
            <a:xfrm>
              <a:off x="3424" y="1772"/>
              <a:ext cx="7" cy="6"/>
            </a:xfrm>
            <a:custGeom>
              <a:avLst/>
              <a:gdLst/>
              <a:ahLst/>
              <a:cxnLst>
                <a:cxn ang="0">
                  <a:pos x="4" y="6"/>
                </a:cxn>
                <a:cxn ang="0">
                  <a:pos x="5" y="5"/>
                </a:cxn>
                <a:cxn ang="0">
                  <a:pos x="6" y="4"/>
                </a:cxn>
                <a:cxn ang="0">
                  <a:pos x="7" y="3"/>
                </a:cxn>
                <a:cxn ang="0">
                  <a:pos x="7" y="2"/>
                </a:cxn>
                <a:cxn ang="0">
                  <a:pos x="6" y="1"/>
                </a:cxn>
                <a:cxn ang="0">
                  <a:pos x="5" y="0"/>
                </a:cxn>
                <a:cxn ang="0">
                  <a:pos x="4" y="0"/>
                </a:cxn>
                <a:cxn ang="0">
                  <a:pos x="2" y="0"/>
                </a:cxn>
                <a:cxn ang="0">
                  <a:pos x="2" y="0"/>
                </a:cxn>
                <a:cxn ang="0">
                  <a:pos x="1" y="0"/>
                </a:cxn>
                <a:cxn ang="0">
                  <a:pos x="0" y="1"/>
                </a:cxn>
                <a:cxn ang="0">
                  <a:pos x="0" y="2"/>
                </a:cxn>
                <a:cxn ang="0">
                  <a:pos x="0" y="3"/>
                </a:cxn>
                <a:cxn ang="0">
                  <a:pos x="0" y="4"/>
                </a:cxn>
                <a:cxn ang="0">
                  <a:pos x="1" y="5"/>
                </a:cxn>
                <a:cxn ang="0">
                  <a:pos x="2" y="6"/>
                </a:cxn>
                <a:cxn ang="0">
                  <a:pos x="4" y="6"/>
                </a:cxn>
              </a:cxnLst>
              <a:rect l="0" t="0" r="r" b="b"/>
              <a:pathLst>
                <a:path w="7" h="6">
                  <a:moveTo>
                    <a:pt x="4" y="6"/>
                  </a:moveTo>
                  <a:lnTo>
                    <a:pt x="5" y="5"/>
                  </a:lnTo>
                  <a:lnTo>
                    <a:pt x="6" y="4"/>
                  </a:lnTo>
                  <a:lnTo>
                    <a:pt x="7" y="3"/>
                  </a:lnTo>
                  <a:lnTo>
                    <a:pt x="7" y="2"/>
                  </a:lnTo>
                  <a:lnTo>
                    <a:pt x="6" y="1"/>
                  </a:lnTo>
                  <a:lnTo>
                    <a:pt x="5" y="0"/>
                  </a:lnTo>
                  <a:lnTo>
                    <a:pt x="4" y="0"/>
                  </a:lnTo>
                  <a:lnTo>
                    <a:pt x="2" y="0"/>
                  </a:lnTo>
                  <a:lnTo>
                    <a:pt x="2" y="0"/>
                  </a:lnTo>
                  <a:lnTo>
                    <a:pt x="1" y="0"/>
                  </a:lnTo>
                  <a:lnTo>
                    <a:pt x="0" y="1"/>
                  </a:lnTo>
                  <a:lnTo>
                    <a:pt x="0" y="2"/>
                  </a:lnTo>
                  <a:lnTo>
                    <a:pt x="0" y="3"/>
                  </a:lnTo>
                  <a:lnTo>
                    <a:pt x="0" y="4"/>
                  </a:lnTo>
                  <a:lnTo>
                    <a:pt x="1" y="5"/>
                  </a:lnTo>
                  <a:lnTo>
                    <a:pt x="2" y="6"/>
                  </a:lnTo>
                  <a:lnTo>
                    <a:pt x="4" y="6"/>
                  </a:lnTo>
                  <a:close/>
                </a:path>
              </a:pathLst>
            </a:custGeom>
            <a:solidFill>
              <a:srgbClr val="000000"/>
            </a:solidFill>
            <a:ln w="9525">
              <a:noFill/>
              <a:round/>
              <a:headEnd/>
              <a:tailEnd/>
            </a:ln>
          </p:spPr>
          <p:txBody>
            <a:bodyPr/>
            <a:lstStyle/>
            <a:p>
              <a:endParaRPr lang="en-US"/>
            </a:p>
          </p:txBody>
        </p:sp>
        <p:sp>
          <p:nvSpPr>
            <p:cNvPr id="327347" name="Freeform 691"/>
            <p:cNvSpPr>
              <a:spLocks/>
            </p:cNvSpPr>
            <p:nvPr/>
          </p:nvSpPr>
          <p:spPr bwMode="auto">
            <a:xfrm>
              <a:off x="3411" y="1774"/>
              <a:ext cx="6" cy="6"/>
            </a:xfrm>
            <a:custGeom>
              <a:avLst/>
              <a:gdLst/>
              <a:ahLst/>
              <a:cxnLst>
                <a:cxn ang="0">
                  <a:pos x="3" y="6"/>
                </a:cxn>
                <a:cxn ang="0">
                  <a:pos x="4" y="5"/>
                </a:cxn>
                <a:cxn ang="0">
                  <a:pos x="5" y="4"/>
                </a:cxn>
                <a:cxn ang="0">
                  <a:pos x="6" y="3"/>
                </a:cxn>
                <a:cxn ang="0">
                  <a:pos x="6" y="2"/>
                </a:cxn>
                <a:cxn ang="0">
                  <a:pos x="5" y="1"/>
                </a:cxn>
                <a:cxn ang="0">
                  <a:pos x="4" y="0"/>
                </a:cxn>
                <a:cxn ang="0">
                  <a:pos x="3" y="0"/>
                </a:cxn>
                <a:cxn ang="0">
                  <a:pos x="2" y="0"/>
                </a:cxn>
                <a:cxn ang="0">
                  <a:pos x="2" y="0"/>
                </a:cxn>
                <a:cxn ang="0">
                  <a:pos x="1" y="0"/>
                </a:cxn>
                <a:cxn ang="0">
                  <a:pos x="0" y="1"/>
                </a:cxn>
                <a:cxn ang="0">
                  <a:pos x="0" y="2"/>
                </a:cxn>
                <a:cxn ang="0">
                  <a:pos x="0" y="3"/>
                </a:cxn>
                <a:cxn ang="0">
                  <a:pos x="0" y="4"/>
                </a:cxn>
                <a:cxn ang="0">
                  <a:pos x="1" y="5"/>
                </a:cxn>
                <a:cxn ang="0">
                  <a:pos x="2" y="6"/>
                </a:cxn>
                <a:cxn ang="0">
                  <a:pos x="3" y="6"/>
                </a:cxn>
              </a:cxnLst>
              <a:rect l="0" t="0" r="r" b="b"/>
              <a:pathLst>
                <a:path w="6" h="6">
                  <a:moveTo>
                    <a:pt x="3" y="6"/>
                  </a:moveTo>
                  <a:lnTo>
                    <a:pt x="4" y="5"/>
                  </a:lnTo>
                  <a:lnTo>
                    <a:pt x="5" y="4"/>
                  </a:lnTo>
                  <a:lnTo>
                    <a:pt x="6" y="3"/>
                  </a:lnTo>
                  <a:lnTo>
                    <a:pt x="6" y="2"/>
                  </a:lnTo>
                  <a:lnTo>
                    <a:pt x="5" y="1"/>
                  </a:lnTo>
                  <a:lnTo>
                    <a:pt x="4" y="0"/>
                  </a:lnTo>
                  <a:lnTo>
                    <a:pt x="3" y="0"/>
                  </a:lnTo>
                  <a:lnTo>
                    <a:pt x="2" y="0"/>
                  </a:lnTo>
                  <a:lnTo>
                    <a:pt x="2" y="0"/>
                  </a:lnTo>
                  <a:lnTo>
                    <a:pt x="1" y="0"/>
                  </a:lnTo>
                  <a:lnTo>
                    <a:pt x="0" y="1"/>
                  </a:lnTo>
                  <a:lnTo>
                    <a:pt x="0" y="2"/>
                  </a:lnTo>
                  <a:lnTo>
                    <a:pt x="0" y="3"/>
                  </a:lnTo>
                  <a:lnTo>
                    <a:pt x="0" y="4"/>
                  </a:lnTo>
                  <a:lnTo>
                    <a:pt x="1" y="5"/>
                  </a:lnTo>
                  <a:lnTo>
                    <a:pt x="2" y="6"/>
                  </a:lnTo>
                  <a:lnTo>
                    <a:pt x="3" y="6"/>
                  </a:lnTo>
                  <a:close/>
                </a:path>
              </a:pathLst>
            </a:custGeom>
            <a:solidFill>
              <a:srgbClr val="000000"/>
            </a:solidFill>
            <a:ln w="9525">
              <a:noFill/>
              <a:round/>
              <a:headEnd/>
              <a:tailEnd/>
            </a:ln>
          </p:spPr>
          <p:txBody>
            <a:bodyPr/>
            <a:lstStyle/>
            <a:p>
              <a:endParaRPr lang="en-US"/>
            </a:p>
          </p:txBody>
        </p:sp>
        <p:sp>
          <p:nvSpPr>
            <p:cNvPr id="327348" name="Freeform 692"/>
            <p:cNvSpPr>
              <a:spLocks/>
            </p:cNvSpPr>
            <p:nvPr/>
          </p:nvSpPr>
          <p:spPr bwMode="auto">
            <a:xfrm>
              <a:off x="3397" y="1776"/>
              <a:ext cx="7" cy="6"/>
            </a:xfrm>
            <a:custGeom>
              <a:avLst/>
              <a:gdLst/>
              <a:ahLst/>
              <a:cxnLst>
                <a:cxn ang="0">
                  <a:pos x="5" y="6"/>
                </a:cxn>
                <a:cxn ang="0">
                  <a:pos x="6" y="5"/>
                </a:cxn>
                <a:cxn ang="0">
                  <a:pos x="7" y="4"/>
                </a:cxn>
                <a:cxn ang="0">
                  <a:pos x="7" y="3"/>
                </a:cxn>
                <a:cxn ang="0">
                  <a:pos x="7" y="2"/>
                </a:cxn>
                <a:cxn ang="0">
                  <a:pos x="7" y="1"/>
                </a:cxn>
                <a:cxn ang="0">
                  <a:pos x="6" y="0"/>
                </a:cxn>
                <a:cxn ang="0">
                  <a:pos x="5" y="0"/>
                </a:cxn>
                <a:cxn ang="0">
                  <a:pos x="3" y="0"/>
                </a:cxn>
                <a:cxn ang="0">
                  <a:pos x="3" y="0"/>
                </a:cxn>
                <a:cxn ang="0">
                  <a:pos x="2" y="0"/>
                </a:cxn>
                <a:cxn ang="0">
                  <a:pos x="1" y="1"/>
                </a:cxn>
                <a:cxn ang="0">
                  <a:pos x="0" y="2"/>
                </a:cxn>
                <a:cxn ang="0">
                  <a:pos x="0" y="3"/>
                </a:cxn>
                <a:cxn ang="0">
                  <a:pos x="1" y="4"/>
                </a:cxn>
                <a:cxn ang="0">
                  <a:pos x="2" y="5"/>
                </a:cxn>
                <a:cxn ang="0">
                  <a:pos x="3" y="6"/>
                </a:cxn>
                <a:cxn ang="0">
                  <a:pos x="5" y="6"/>
                </a:cxn>
              </a:cxnLst>
              <a:rect l="0" t="0" r="r" b="b"/>
              <a:pathLst>
                <a:path w="7" h="6">
                  <a:moveTo>
                    <a:pt x="5" y="6"/>
                  </a:moveTo>
                  <a:lnTo>
                    <a:pt x="6" y="5"/>
                  </a:lnTo>
                  <a:lnTo>
                    <a:pt x="7" y="4"/>
                  </a:lnTo>
                  <a:lnTo>
                    <a:pt x="7" y="3"/>
                  </a:lnTo>
                  <a:lnTo>
                    <a:pt x="7" y="2"/>
                  </a:lnTo>
                  <a:lnTo>
                    <a:pt x="7" y="1"/>
                  </a:lnTo>
                  <a:lnTo>
                    <a:pt x="6" y="0"/>
                  </a:lnTo>
                  <a:lnTo>
                    <a:pt x="5" y="0"/>
                  </a:lnTo>
                  <a:lnTo>
                    <a:pt x="3" y="0"/>
                  </a:lnTo>
                  <a:lnTo>
                    <a:pt x="3" y="0"/>
                  </a:lnTo>
                  <a:lnTo>
                    <a:pt x="2" y="0"/>
                  </a:lnTo>
                  <a:lnTo>
                    <a:pt x="1" y="1"/>
                  </a:lnTo>
                  <a:lnTo>
                    <a:pt x="0" y="2"/>
                  </a:lnTo>
                  <a:lnTo>
                    <a:pt x="0" y="3"/>
                  </a:lnTo>
                  <a:lnTo>
                    <a:pt x="1" y="4"/>
                  </a:lnTo>
                  <a:lnTo>
                    <a:pt x="2" y="5"/>
                  </a:lnTo>
                  <a:lnTo>
                    <a:pt x="3" y="6"/>
                  </a:lnTo>
                  <a:lnTo>
                    <a:pt x="5" y="6"/>
                  </a:lnTo>
                  <a:close/>
                </a:path>
              </a:pathLst>
            </a:custGeom>
            <a:solidFill>
              <a:srgbClr val="000000"/>
            </a:solidFill>
            <a:ln w="9525">
              <a:noFill/>
              <a:round/>
              <a:headEnd/>
              <a:tailEnd/>
            </a:ln>
          </p:spPr>
          <p:txBody>
            <a:bodyPr/>
            <a:lstStyle/>
            <a:p>
              <a:endParaRPr lang="en-US"/>
            </a:p>
          </p:txBody>
        </p:sp>
        <p:sp>
          <p:nvSpPr>
            <p:cNvPr id="327349" name="Freeform 693"/>
            <p:cNvSpPr>
              <a:spLocks/>
            </p:cNvSpPr>
            <p:nvPr/>
          </p:nvSpPr>
          <p:spPr bwMode="auto">
            <a:xfrm>
              <a:off x="3383" y="1778"/>
              <a:ext cx="7" cy="6"/>
            </a:xfrm>
            <a:custGeom>
              <a:avLst/>
              <a:gdLst/>
              <a:ahLst/>
              <a:cxnLst>
                <a:cxn ang="0">
                  <a:pos x="5" y="6"/>
                </a:cxn>
                <a:cxn ang="0">
                  <a:pos x="6" y="5"/>
                </a:cxn>
                <a:cxn ang="0">
                  <a:pos x="7" y="4"/>
                </a:cxn>
                <a:cxn ang="0">
                  <a:pos x="7" y="3"/>
                </a:cxn>
                <a:cxn ang="0">
                  <a:pos x="7" y="2"/>
                </a:cxn>
                <a:cxn ang="0">
                  <a:pos x="7" y="1"/>
                </a:cxn>
                <a:cxn ang="0">
                  <a:pos x="6" y="0"/>
                </a:cxn>
                <a:cxn ang="0">
                  <a:pos x="5" y="0"/>
                </a:cxn>
                <a:cxn ang="0">
                  <a:pos x="4" y="0"/>
                </a:cxn>
                <a:cxn ang="0">
                  <a:pos x="4" y="0"/>
                </a:cxn>
                <a:cxn ang="0">
                  <a:pos x="3" y="0"/>
                </a:cxn>
                <a:cxn ang="0">
                  <a:pos x="2" y="1"/>
                </a:cxn>
                <a:cxn ang="0">
                  <a:pos x="0" y="2"/>
                </a:cxn>
                <a:cxn ang="0">
                  <a:pos x="0" y="3"/>
                </a:cxn>
                <a:cxn ang="0">
                  <a:pos x="2" y="4"/>
                </a:cxn>
                <a:cxn ang="0">
                  <a:pos x="3" y="5"/>
                </a:cxn>
                <a:cxn ang="0">
                  <a:pos x="4" y="6"/>
                </a:cxn>
                <a:cxn ang="0">
                  <a:pos x="5" y="6"/>
                </a:cxn>
              </a:cxnLst>
              <a:rect l="0" t="0" r="r" b="b"/>
              <a:pathLst>
                <a:path w="7" h="6">
                  <a:moveTo>
                    <a:pt x="5" y="6"/>
                  </a:moveTo>
                  <a:lnTo>
                    <a:pt x="6" y="5"/>
                  </a:lnTo>
                  <a:lnTo>
                    <a:pt x="7" y="4"/>
                  </a:lnTo>
                  <a:lnTo>
                    <a:pt x="7" y="3"/>
                  </a:lnTo>
                  <a:lnTo>
                    <a:pt x="7" y="2"/>
                  </a:lnTo>
                  <a:lnTo>
                    <a:pt x="7" y="1"/>
                  </a:lnTo>
                  <a:lnTo>
                    <a:pt x="6" y="0"/>
                  </a:lnTo>
                  <a:lnTo>
                    <a:pt x="5" y="0"/>
                  </a:lnTo>
                  <a:lnTo>
                    <a:pt x="4" y="0"/>
                  </a:lnTo>
                  <a:lnTo>
                    <a:pt x="4" y="0"/>
                  </a:lnTo>
                  <a:lnTo>
                    <a:pt x="3" y="0"/>
                  </a:lnTo>
                  <a:lnTo>
                    <a:pt x="2" y="1"/>
                  </a:lnTo>
                  <a:lnTo>
                    <a:pt x="0" y="2"/>
                  </a:lnTo>
                  <a:lnTo>
                    <a:pt x="0" y="3"/>
                  </a:lnTo>
                  <a:lnTo>
                    <a:pt x="2" y="4"/>
                  </a:lnTo>
                  <a:lnTo>
                    <a:pt x="3" y="5"/>
                  </a:lnTo>
                  <a:lnTo>
                    <a:pt x="4" y="6"/>
                  </a:lnTo>
                  <a:lnTo>
                    <a:pt x="5" y="6"/>
                  </a:lnTo>
                  <a:close/>
                </a:path>
              </a:pathLst>
            </a:custGeom>
            <a:solidFill>
              <a:srgbClr val="000000"/>
            </a:solidFill>
            <a:ln w="9525">
              <a:noFill/>
              <a:round/>
              <a:headEnd/>
              <a:tailEnd/>
            </a:ln>
          </p:spPr>
          <p:txBody>
            <a:bodyPr/>
            <a:lstStyle/>
            <a:p>
              <a:endParaRPr lang="en-US"/>
            </a:p>
          </p:txBody>
        </p:sp>
        <p:sp>
          <p:nvSpPr>
            <p:cNvPr id="327350" name="Freeform 694"/>
            <p:cNvSpPr>
              <a:spLocks/>
            </p:cNvSpPr>
            <p:nvPr/>
          </p:nvSpPr>
          <p:spPr bwMode="auto">
            <a:xfrm>
              <a:off x="3370" y="1780"/>
              <a:ext cx="7" cy="6"/>
            </a:xfrm>
            <a:custGeom>
              <a:avLst/>
              <a:gdLst/>
              <a:ahLst/>
              <a:cxnLst>
                <a:cxn ang="0">
                  <a:pos x="4" y="6"/>
                </a:cxn>
                <a:cxn ang="0">
                  <a:pos x="6" y="5"/>
                </a:cxn>
                <a:cxn ang="0">
                  <a:pos x="7" y="4"/>
                </a:cxn>
                <a:cxn ang="0">
                  <a:pos x="7" y="3"/>
                </a:cxn>
                <a:cxn ang="0">
                  <a:pos x="7" y="2"/>
                </a:cxn>
                <a:cxn ang="0">
                  <a:pos x="7" y="1"/>
                </a:cxn>
                <a:cxn ang="0">
                  <a:pos x="6" y="0"/>
                </a:cxn>
                <a:cxn ang="0">
                  <a:pos x="4" y="0"/>
                </a:cxn>
                <a:cxn ang="0">
                  <a:pos x="3" y="0"/>
                </a:cxn>
                <a:cxn ang="0">
                  <a:pos x="3" y="0"/>
                </a:cxn>
                <a:cxn ang="0">
                  <a:pos x="2" y="0"/>
                </a:cxn>
                <a:cxn ang="0">
                  <a:pos x="1" y="1"/>
                </a:cxn>
                <a:cxn ang="0">
                  <a:pos x="0" y="2"/>
                </a:cxn>
                <a:cxn ang="0">
                  <a:pos x="0" y="3"/>
                </a:cxn>
                <a:cxn ang="0">
                  <a:pos x="1" y="4"/>
                </a:cxn>
                <a:cxn ang="0">
                  <a:pos x="2" y="5"/>
                </a:cxn>
                <a:cxn ang="0">
                  <a:pos x="3" y="6"/>
                </a:cxn>
                <a:cxn ang="0">
                  <a:pos x="4" y="6"/>
                </a:cxn>
              </a:cxnLst>
              <a:rect l="0" t="0" r="r" b="b"/>
              <a:pathLst>
                <a:path w="7" h="6">
                  <a:moveTo>
                    <a:pt x="4" y="6"/>
                  </a:moveTo>
                  <a:lnTo>
                    <a:pt x="6" y="5"/>
                  </a:lnTo>
                  <a:lnTo>
                    <a:pt x="7" y="4"/>
                  </a:lnTo>
                  <a:lnTo>
                    <a:pt x="7" y="3"/>
                  </a:lnTo>
                  <a:lnTo>
                    <a:pt x="7" y="2"/>
                  </a:lnTo>
                  <a:lnTo>
                    <a:pt x="7" y="1"/>
                  </a:lnTo>
                  <a:lnTo>
                    <a:pt x="6" y="0"/>
                  </a:lnTo>
                  <a:lnTo>
                    <a:pt x="4" y="0"/>
                  </a:lnTo>
                  <a:lnTo>
                    <a:pt x="3" y="0"/>
                  </a:lnTo>
                  <a:lnTo>
                    <a:pt x="3" y="0"/>
                  </a:lnTo>
                  <a:lnTo>
                    <a:pt x="2" y="0"/>
                  </a:lnTo>
                  <a:lnTo>
                    <a:pt x="1" y="1"/>
                  </a:lnTo>
                  <a:lnTo>
                    <a:pt x="0" y="2"/>
                  </a:lnTo>
                  <a:lnTo>
                    <a:pt x="0" y="3"/>
                  </a:lnTo>
                  <a:lnTo>
                    <a:pt x="1" y="4"/>
                  </a:lnTo>
                  <a:lnTo>
                    <a:pt x="2" y="5"/>
                  </a:lnTo>
                  <a:lnTo>
                    <a:pt x="3" y="6"/>
                  </a:lnTo>
                  <a:lnTo>
                    <a:pt x="4" y="6"/>
                  </a:lnTo>
                  <a:close/>
                </a:path>
              </a:pathLst>
            </a:custGeom>
            <a:solidFill>
              <a:srgbClr val="000000"/>
            </a:solidFill>
            <a:ln w="9525">
              <a:noFill/>
              <a:round/>
              <a:headEnd/>
              <a:tailEnd/>
            </a:ln>
          </p:spPr>
          <p:txBody>
            <a:bodyPr/>
            <a:lstStyle/>
            <a:p>
              <a:endParaRPr lang="en-US"/>
            </a:p>
          </p:txBody>
        </p:sp>
        <p:sp>
          <p:nvSpPr>
            <p:cNvPr id="327351" name="Freeform 695"/>
            <p:cNvSpPr>
              <a:spLocks/>
            </p:cNvSpPr>
            <p:nvPr/>
          </p:nvSpPr>
          <p:spPr bwMode="auto">
            <a:xfrm>
              <a:off x="3356" y="1781"/>
              <a:ext cx="7" cy="6"/>
            </a:xfrm>
            <a:custGeom>
              <a:avLst/>
              <a:gdLst/>
              <a:ahLst/>
              <a:cxnLst>
                <a:cxn ang="0">
                  <a:pos x="5" y="6"/>
                </a:cxn>
                <a:cxn ang="0">
                  <a:pos x="6" y="6"/>
                </a:cxn>
                <a:cxn ang="0">
                  <a:pos x="7" y="5"/>
                </a:cxn>
                <a:cxn ang="0">
                  <a:pos x="7" y="4"/>
                </a:cxn>
                <a:cxn ang="0">
                  <a:pos x="7" y="3"/>
                </a:cxn>
                <a:cxn ang="0">
                  <a:pos x="7" y="2"/>
                </a:cxn>
                <a:cxn ang="0">
                  <a:pos x="6" y="1"/>
                </a:cxn>
                <a:cxn ang="0">
                  <a:pos x="5" y="0"/>
                </a:cxn>
                <a:cxn ang="0">
                  <a:pos x="4" y="0"/>
                </a:cxn>
                <a:cxn ang="0">
                  <a:pos x="4" y="0"/>
                </a:cxn>
                <a:cxn ang="0">
                  <a:pos x="3" y="1"/>
                </a:cxn>
                <a:cxn ang="0">
                  <a:pos x="1" y="2"/>
                </a:cxn>
                <a:cxn ang="0">
                  <a:pos x="0" y="3"/>
                </a:cxn>
                <a:cxn ang="0">
                  <a:pos x="0" y="4"/>
                </a:cxn>
                <a:cxn ang="0">
                  <a:pos x="1" y="5"/>
                </a:cxn>
                <a:cxn ang="0">
                  <a:pos x="3" y="6"/>
                </a:cxn>
                <a:cxn ang="0">
                  <a:pos x="4" y="6"/>
                </a:cxn>
                <a:cxn ang="0">
                  <a:pos x="5" y="6"/>
                </a:cxn>
              </a:cxnLst>
              <a:rect l="0" t="0" r="r" b="b"/>
              <a:pathLst>
                <a:path w="7" h="6">
                  <a:moveTo>
                    <a:pt x="5" y="6"/>
                  </a:moveTo>
                  <a:lnTo>
                    <a:pt x="6" y="6"/>
                  </a:lnTo>
                  <a:lnTo>
                    <a:pt x="7" y="5"/>
                  </a:lnTo>
                  <a:lnTo>
                    <a:pt x="7" y="4"/>
                  </a:lnTo>
                  <a:lnTo>
                    <a:pt x="7" y="3"/>
                  </a:lnTo>
                  <a:lnTo>
                    <a:pt x="7" y="2"/>
                  </a:lnTo>
                  <a:lnTo>
                    <a:pt x="6" y="1"/>
                  </a:lnTo>
                  <a:lnTo>
                    <a:pt x="5" y="0"/>
                  </a:lnTo>
                  <a:lnTo>
                    <a:pt x="4" y="0"/>
                  </a:lnTo>
                  <a:lnTo>
                    <a:pt x="4" y="0"/>
                  </a:lnTo>
                  <a:lnTo>
                    <a:pt x="3" y="1"/>
                  </a:lnTo>
                  <a:lnTo>
                    <a:pt x="1" y="2"/>
                  </a:lnTo>
                  <a:lnTo>
                    <a:pt x="0" y="3"/>
                  </a:lnTo>
                  <a:lnTo>
                    <a:pt x="0" y="4"/>
                  </a:lnTo>
                  <a:lnTo>
                    <a:pt x="1" y="5"/>
                  </a:lnTo>
                  <a:lnTo>
                    <a:pt x="3" y="6"/>
                  </a:lnTo>
                  <a:lnTo>
                    <a:pt x="4" y="6"/>
                  </a:lnTo>
                  <a:lnTo>
                    <a:pt x="5" y="6"/>
                  </a:lnTo>
                  <a:close/>
                </a:path>
              </a:pathLst>
            </a:custGeom>
            <a:solidFill>
              <a:srgbClr val="000000"/>
            </a:solidFill>
            <a:ln w="9525">
              <a:noFill/>
              <a:round/>
              <a:headEnd/>
              <a:tailEnd/>
            </a:ln>
          </p:spPr>
          <p:txBody>
            <a:bodyPr/>
            <a:lstStyle/>
            <a:p>
              <a:endParaRPr lang="en-US"/>
            </a:p>
          </p:txBody>
        </p:sp>
        <p:sp>
          <p:nvSpPr>
            <p:cNvPr id="327352" name="Freeform 696"/>
            <p:cNvSpPr>
              <a:spLocks/>
            </p:cNvSpPr>
            <p:nvPr/>
          </p:nvSpPr>
          <p:spPr bwMode="auto">
            <a:xfrm>
              <a:off x="3344" y="1783"/>
              <a:ext cx="7" cy="7"/>
            </a:xfrm>
            <a:custGeom>
              <a:avLst/>
              <a:gdLst/>
              <a:ahLst/>
              <a:cxnLst>
                <a:cxn ang="0">
                  <a:pos x="3" y="7"/>
                </a:cxn>
                <a:cxn ang="0">
                  <a:pos x="4" y="7"/>
                </a:cxn>
                <a:cxn ang="0">
                  <a:pos x="6" y="6"/>
                </a:cxn>
                <a:cxn ang="0">
                  <a:pos x="7" y="4"/>
                </a:cxn>
                <a:cxn ang="0">
                  <a:pos x="7" y="3"/>
                </a:cxn>
                <a:cxn ang="0">
                  <a:pos x="6" y="2"/>
                </a:cxn>
                <a:cxn ang="0">
                  <a:pos x="4" y="1"/>
                </a:cxn>
                <a:cxn ang="0">
                  <a:pos x="3" y="0"/>
                </a:cxn>
                <a:cxn ang="0">
                  <a:pos x="2" y="0"/>
                </a:cxn>
                <a:cxn ang="0">
                  <a:pos x="2" y="0"/>
                </a:cxn>
                <a:cxn ang="0">
                  <a:pos x="1" y="1"/>
                </a:cxn>
                <a:cxn ang="0">
                  <a:pos x="0" y="2"/>
                </a:cxn>
                <a:cxn ang="0">
                  <a:pos x="0" y="3"/>
                </a:cxn>
                <a:cxn ang="0">
                  <a:pos x="0" y="4"/>
                </a:cxn>
                <a:cxn ang="0">
                  <a:pos x="0" y="6"/>
                </a:cxn>
                <a:cxn ang="0">
                  <a:pos x="1" y="7"/>
                </a:cxn>
                <a:cxn ang="0">
                  <a:pos x="2" y="7"/>
                </a:cxn>
                <a:cxn ang="0">
                  <a:pos x="3" y="7"/>
                </a:cxn>
              </a:cxnLst>
              <a:rect l="0" t="0" r="r" b="b"/>
              <a:pathLst>
                <a:path w="7" h="7">
                  <a:moveTo>
                    <a:pt x="3" y="7"/>
                  </a:moveTo>
                  <a:lnTo>
                    <a:pt x="4" y="7"/>
                  </a:lnTo>
                  <a:lnTo>
                    <a:pt x="6" y="6"/>
                  </a:lnTo>
                  <a:lnTo>
                    <a:pt x="7" y="4"/>
                  </a:lnTo>
                  <a:lnTo>
                    <a:pt x="7" y="3"/>
                  </a:lnTo>
                  <a:lnTo>
                    <a:pt x="6" y="2"/>
                  </a:lnTo>
                  <a:lnTo>
                    <a:pt x="4" y="1"/>
                  </a:lnTo>
                  <a:lnTo>
                    <a:pt x="3" y="0"/>
                  </a:lnTo>
                  <a:lnTo>
                    <a:pt x="2" y="0"/>
                  </a:lnTo>
                  <a:lnTo>
                    <a:pt x="2" y="0"/>
                  </a:lnTo>
                  <a:lnTo>
                    <a:pt x="1" y="1"/>
                  </a:lnTo>
                  <a:lnTo>
                    <a:pt x="0" y="2"/>
                  </a:lnTo>
                  <a:lnTo>
                    <a:pt x="0" y="3"/>
                  </a:lnTo>
                  <a:lnTo>
                    <a:pt x="0" y="4"/>
                  </a:lnTo>
                  <a:lnTo>
                    <a:pt x="0" y="6"/>
                  </a:lnTo>
                  <a:lnTo>
                    <a:pt x="1" y="7"/>
                  </a:lnTo>
                  <a:lnTo>
                    <a:pt x="2" y="7"/>
                  </a:lnTo>
                  <a:lnTo>
                    <a:pt x="3" y="7"/>
                  </a:lnTo>
                  <a:close/>
                </a:path>
              </a:pathLst>
            </a:custGeom>
            <a:solidFill>
              <a:srgbClr val="000000"/>
            </a:solidFill>
            <a:ln w="9525">
              <a:noFill/>
              <a:round/>
              <a:headEnd/>
              <a:tailEnd/>
            </a:ln>
          </p:spPr>
          <p:txBody>
            <a:bodyPr/>
            <a:lstStyle/>
            <a:p>
              <a:endParaRPr lang="en-US"/>
            </a:p>
          </p:txBody>
        </p:sp>
        <p:sp>
          <p:nvSpPr>
            <p:cNvPr id="327353" name="Freeform 697"/>
            <p:cNvSpPr>
              <a:spLocks/>
            </p:cNvSpPr>
            <p:nvPr/>
          </p:nvSpPr>
          <p:spPr bwMode="auto">
            <a:xfrm>
              <a:off x="3330" y="1785"/>
              <a:ext cx="7" cy="7"/>
            </a:xfrm>
            <a:custGeom>
              <a:avLst/>
              <a:gdLst/>
              <a:ahLst/>
              <a:cxnLst>
                <a:cxn ang="0">
                  <a:pos x="4" y="7"/>
                </a:cxn>
                <a:cxn ang="0">
                  <a:pos x="5" y="7"/>
                </a:cxn>
                <a:cxn ang="0">
                  <a:pos x="6" y="6"/>
                </a:cxn>
                <a:cxn ang="0">
                  <a:pos x="7" y="5"/>
                </a:cxn>
                <a:cxn ang="0">
                  <a:pos x="7" y="4"/>
                </a:cxn>
                <a:cxn ang="0">
                  <a:pos x="6" y="2"/>
                </a:cxn>
                <a:cxn ang="0">
                  <a:pos x="5" y="1"/>
                </a:cxn>
                <a:cxn ang="0">
                  <a:pos x="4" y="0"/>
                </a:cxn>
                <a:cxn ang="0">
                  <a:pos x="3" y="0"/>
                </a:cxn>
                <a:cxn ang="0">
                  <a:pos x="3" y="0"/>
                </a:cxn>
                <a:cxn ang="0">
                  <a:pos x="1" y="1"/>
                </a:cxn>
                <a:cxn ang="0">
                  <a:pos x="0" y="2"/>
                </a:cxn>
                <a:cxn ang="0">
                  <a:pos x="0" y="4"/>
                </a:cxn>
                <a:cxn ang="0">
                  <a:pos x="0" y="5"/>
                </a:cxn>
                <a:cxn ang="0">
                  <a:pos x="0" y="6"/>
                </a:cxn>
                <a:cxn ang="0">
                  <a:pos x="1" y="7"/>
                </a:cxn>
                <a:cxn ang="0">
                  <a:pos x="3" y="7"/>
                </a:cxn>
                <a:cxn ang="0">
                  <a:pos x="4" y="7"/>
                </a:cxn>
              </a:cxnLst>
              <a:rect l="0" t="0" r="r" b="b"/>
              <a:pathLst>
                <a:path w="7" h="7">
                  <a:moveTo>
                    <a:pt x="4" y="7"/>
                  </a:moveTo>
                  <a:lnTo>
                    <a:pt x="5" y="7"/>
                  </a:lnTo>
                  <a:lnTo>
                    <a:pt x="6" y="6"/>
                  </a:lnTo>
                  <a:lnTo>
                    <a:pt x="7" y="5"/>
                  </a:lnTo>
                  <a:lnTo>
                    <a:pt x="7" y="4"/>
                  </a:lnTo>
                  <a:lnTo>
                    <a:pt x="6" y="2"/>
                  </a:lnTo>
                  <a:lnTo>
                    <a:pt x="5" y="1"/>
                  </a:lnTo>
                  <a:lnTo>
                    <a:pt x="4" y="0"/>
                  </a:lnTo>
                  <a:lnTo>
                    <a:pt x="3" y="0"/>
                  </a:lnTo>
                  <a:lnTo>
                    <a:pt x="3" y="0"/>
                  </a:lnTo>
                  <a:lnTo>
                    <a:pt x="1" y="1"/>
                  </a:lnTo>
                  <a:lnTo>
                    <a:pt x="0" y="2"/>
                  </a:lnTo>
                  <a:lnTo>
                    <a:pt x="0" y="4"/>
                  </a:lnTo>
                  <a:lnTo>
                    <a:pt x="0" y="5"/>
                  </a:lnTo>
                  <a:lnTo>
                    <a:pt x="0" y="6"/>
                  </a:lnTo>
                  <a:lnTo>
                    <a:pt x="1" y="7"/>
                  </a:lnTo>
                  <a:lnTo>
                    <a:pt x="3" y="7"/>
                  </a:lnTo>
                  <a:lnTo>
                    <a:pt x="4" y="7"/>
                  </a:lnTo>
                  <a:close/>
                </a:path>
              </a:pathLst>
            </a:custGeom>
            <a:solidFill>
              <a:srgbClr val="000000"/>
            </a:solidFill>
            <a:ln w="9525">
              <a:noFill/>
              <a:round/>
              <a:headEnd/>
              <a:tailEnd/>
            </a:ln>
          </p:spPr>
          <p:txBody>
            <a:bodyPr/>
            <a:lstStyle/>
            <a:p>
              <a:endParaRPr lang="en-US"/>
            </a:p>
          </p:txBody>
        </p:sp>
        <p:sp>
          <p:nvSpPr>
            <p:cNvPr id="327354" name="Freeform 698"/>
            <p:cNvSpPr>
              <a:spLocks/>
            </p:cNvSpPr>
            <p:nvPr/>
          </p:nvSpPr>
          <p:spPr bwMode="auto">
            <a:xfrm>
              <a:off x="3317" y="1787"/>
              <a:ext cx="7" cy="7"/>
            </a:xfrm>
            <a:custGeom>
              <a:avLst/>
              <a:gdLst/>
              <a:ahLst/>
              <a:cxnLst>
                <a:cxn ang="0">
                  <a:pos x="3" y="7"/>
                </a:cxn>
                <a:cxn ang="0">
                  <a:pos x="4" y="7"/>
                </a:cxn>
                <a:cxn ang="0">
                  <a:pos x="5" y="6"/>
                </a:cxn>
                <a:cxn ang="0">
                  <a:pos x="7" y="5"/>
                </a:cxn>
                <a:cxn ang="0">
                  <a:pos x="7" y="4"/>
                </a:cxn>
                <a:cxn ang="0">
                  <a:pos x="5" y="3"/>
                </a:cxn>
                <a:cxn ang="0">
                  <a:pos x="4" y="2"/>
                </a:cxn>
                <a:cxn ang="0">
                  <a:pos x="3" y="0"/>
                </a:cxn>
                <a:cxn ang="0">
                  <a:pos x="2" y="0"/>
                </a:cxn>
                <a:cxn ang="0">
                  <a:pos x="2" y="0"/>
                </a:cxn>
                <a:cxn ang="0">
                  <a:pos x="1" y="2"/>
                </a:cxn>
                <a:cxn ang="0">
                  <a:pos x="0" y="3"/>
                </a:cxn>
                <a:cxn ang="0">
                  <a:pos x="0" y="4"/>
                </a:cxn>
                <a:cxn ang="0">
                  <a:pos x="0" y="5"/>
                </a:cxn>
                <a:cxn ang="0">
                  <a:pos x="0" y="6"/>
                </a:cxn>
                <a:cxn ang="0">
                  <a:pos x="1" y="7"/>
                </a:cxn>
                <a:cxn ang="0">
                  <a:pos x="2" y="7"/>
                </a:cxn>
                <a:cxn ang="0">
                  <a:pos x="3" y="7"/>
                </a:cxn>
              </a:cxnLst>
              <a:rect l="0" t="0" r="r" b="b"/>
              <a:pathLst>
                <a:path w="7" h="7">
                  <a:moveTo>
                    <a:pt x="3" y="7"/>
                  </a:moveTo>
                  <a:lnTo>
                    <a:pt x="4" y="7"/>
                  </a:lnTo>
                  <a:lnTo>
                    <a:pt x="5" y="6"/>
                  </a:lnTo>
                  <a:lnTo>
                    <a:pt x="7" y="5"/>
                  </a:lnTo>
                  <a:lnTo>
                    <a:pt x="7" y="4"/>
                  </a:lnTo>
                  <a:lnTo>
                    <a:pt x="5" y="3"/>
                  </a:lnTo>
                  <a:lnTo>
                    <a:pt x="4" y="2"/>
                  </a:lnTo>
                  <a:lnTo>
                    <a:pt x="3" y="0"/>
                  </a:lnTo>
                  <a:lnTo>
                    <a:pt x="2" y="0"/>
                  </a:lnTo>
                  <a:lnTo>
                    <a:pt x="2" y="0"/>
                  </a:lnTo>
                  <a:lnTo>
                    <a:pt x="1" y="2"/>
                  </a:lnTo>
                  <a:lnTo>
                    <a:pt x="0" y="3"/>
                  </a:lnTo>
                  <a:lnTo>
                    <a:pt x="0" y="4"/>
                  </a:lnTo>
                  <a:lnTo>
                    <a:pt x="0" y="5"/>
                  </a:lnTo>
                  <a:lnTo>
                    <a:pt x="0" y="6"/>
                  </a:lnTo>
                  <a:lnTo>
                    <a:pt x="1" y="7"/>
                  </a:lnTo>
                  <a:lnTo>
                    <a:pt x="2" y="7"/>
                  </a:lnTo>
                  <a:lnTo>
                    <a:pt x="3" y="7"/>
                  </a:lnTo>
                  <a:close/>
                </a:path>
              </a:pathLst>
            </a:custGeom>
            <a:solidFill>
              <a:srgbClr val="000000"/>
            </a:solidFill>
            <a:ln w="9525">
              <a:noFill/>
              <a:round/>
              <a:headEnd/>
              <a:tailEnd/>
            </a:ln>
          </p:spPr>
          <p:txBody>
            <a:bodyPr/>
            <a:lstStyle/>
            <a:p>
              <a:endParaRPr lang="en-US"/>
            </a:p>
          </p:txBody>
        </p:sp>
        <p:sp>
          <p:nvSpPr>
            <p:cNvPr id="327355" name="Freeform 699"/>
            <p:cNvSpPr>
              <a:spLocks/>
            </p:cNvSpPr>
            <p:nvPr/>
          </p:nvSpPr>
          <p:spPr bwMode="auto">
            <a:xfrm>
              <a:off x="3303" y="1790"/>
              <a:ext cx="7" cy="6"/>
            </a:xfrm>
            <a:custGeom>
              <a:avLst/>
              <a:gdLst/>
              <a:ahLst/>
              <a:cxnLst>
                <a:cxn ang="0">
                  <a:pos x="5" y="6"/>
                </a:cxn>
                <a:cxn ang="0">
                  <a:pos x="6" y="6"/>
                </a:cxn>
                <a:cxn ang="0">
                  <a:pos x="7" y="5"/>
                </a:cxn>
                <a:cxn ang="0">
                  <a:pos x="7" y="4"/>
                </a:cxn>
                <a:cxn ang="0">
                  <a:pos x="7" y="3"/>
                </a:cxn>
                <a:cxn ang="0">
                  <a:pos x="7" y="2"/>
                </a:cxn>
                <a:cxn ang="0">
                  <a:pos x="6" y="1"/>
                </a:cxn>
                <a:cxn ang="0">
                  <a:pos x="5" y="0"/>
                </a:cxn>
                <a:cxn ang="0">
                  <a:pos x="4" y="0"/>
                </a:cxn>
                <a:cxn ang="0">
                  <a:pos x="4" y="0"/>
                </a:cxn>
                <a:cxn ang="0">
                  <a:pos x="3" y="1"/>
                </a:cxn>
                <a:cxn ang="0">
                  <a:pos x="1" y="2"/>
                </a:cxn>
                <a:cxn ang="0">
                  <a:pos x="0" y="3"/>
                </a:cxn>
                <a:cxn ang="0">
                  <a:pos x="0" y="4"/>
                </a:cxn>
                <a:cxn ang="0">
                  <a:pos x="1" y="5"/>
                </a:cxn>
                <a:cxn ang="0">
                  <a:pos x="3" y="6"/>
                </a:cxn>
                <a:cxn ang="0">
                  <a:pos x="4" y="6"/>
                </a:cxn>
                <a:cxn ang="0">
                  <a:pos x="5" y="6"/>
                </a:cxn>
              </a:cxnLst>
              <a:rect l="0" t="0" r="r" b="b"/>
              <a:pathLst>
                <a:path w="7" h="6">
                  <a:moveTo>
                    <a:pt x="5" y="6"/>
                  </a:moveTo>
                  <a:lnTo>
                    <a:pt x="6" y="6"/>
                  </a:lnTo>
                  <a:lnTo>
                    <a:pt x="7" y="5"/>
                  </a:lnTo>
                  <a:lnTo>
                    <a:pt x="7" y="4"/>
                  </a:lnTo>
                  <a:lnTo>
                    <a:pt x="7" y="3"/>
                  </a:lnTo>
                  <a:lnTo>
                    <a:pt x="7" y="2"/>
                  </a:lnTo>
                  <a:lnTo>
                    <a:pt x="6" y="1"/>
                  </a:lnTo>
                  <a:lnTo>
                    <a:pt x="5" y="0"/>
                  </a:lnTo>
                  <a:lnTo>
                    <a:pt x="4" y="0"/>
                  </a:lnTo>
                  <a:lnTo>
                    <a:pt x="4" y="0"/>
                  </a:lnTo>
                  <a:lnTo>
                    <a:pt x="3" y="1"/>
                  </a:lnTo>
                  <a:lnTo>
                    <a:pt x="1" y="2"/>
                  </a:lnTo>
                  <a:lnTo>
                    <a:pt x="0" y="3"/>
                  </a:lnTo>
                  <a:lnTo>
                    <a:pt x="0" y="4"/>
                  </a:lnTo>
                  <a:lnTo>
                    <a:pt x="1" y="5"/>
                  </a:lnTo>
                  <a:lnTo>
                    <a:pt x="3" y="6"/>
                  </a:lnTo>
                  <a:lnTo>
                    <a:pt x="4" y="6"/>
                  </a:lnTo>
                  <a:lnTo>
                    <a:pt x="5" y="6"/>
                  </a:lnTo>
                  <a:close/>
                </a:path>
              </a:pathLst>
            </a:custGeom>
            <a:solidFill>
              <a:srgbClr val="000000"/>
            </a:solidFill>
            <a:ln w="9525">
              <a:noFill/>
              <a:round/>
              <a:headEnd/>
              <a:tailEnd/>
            </a:ln>
          </p:spPr>
          <p:txBody>
            <a:bodyPr/>
            <a:lstStyle/>
            <a:p>
              <a:endParaRPr lang="en-US"/>
            </a:p>
          </p:txBody>
        </p:sp>
        <p:sp>
          <p:nvSpPr>
            <p:cNvPr id="327356" name="Freeform 700"/>
            <p:cNvSpPr>
              <a:spLocks/>
            </p:cNvSpPr>
            <p:nvPr/>
          </p:nvSpPr>
          <p:spPr bwMode="auto">
            <a:xfrm>
              <a:off x="3290" y="1792"/>
              <a:ext cx="6" cy="6"/>
            </a:xfrm>
            <a:custGeom>
              <a:avLst/>
              <a:gdLst/>
              <a:ahLst/>
              <a:cxnLst>
                <a:cxn ang="0">
                  <a:pos x="4" y="6"/>
                </a:cxn>
                <a:cxn ang="0">
                  <a:pos x="5" y="6"/>
                </a:cxn>
                <a:cxn ang="0">
                  <a:pos x="6" y="5"/>
                </a:cxn>
                <a:cxn ang="0">
                  <a:pos x="6" y="4"/>
                </a:cxn>
                <a:cxn ang="0">
                  <a:pos x="6" y="3"/>
                </a:cxn>
                <a:cxn ang="0">
                  <a:pos x="6" y="2"/>
                </a:cxn>
                <a:cxn ang="0">
                  <a:pos x="5" y="1"/>
                </a:cxn>
                <a:cxn ang="0">
                  <a:pos x="4" y="0"/>
                </a:cxn>
                <a:cxn ang="0">
                  <a:pos x="3" y="0"/>
                </a:cxn>
                <a:cxn ang="0">
                  <a:pos x="3" y="0"/>
                </a:cxn>
                <a:cxn ang="0">
                  <a:pos x="2" y="1"/>
                </a:cxn>
                <a:cxn ang="0">
                  <a:pos x="1" y="2"/>
                </a:cxn>
                <a:cxn ang="0">
                  <a:pos x="0" y="3"/>
                </a:cxn>
                <a:cxn ang="0">
                  <a:pos x="0" y="4"/>
                </a:cxn>
                <a:cxn ang="0">
                  <a:pos x="1" y="5"/>
                </a:cxn>
                <a:cxn ang="0">
                  <a:pos x="2" y="6"/>
                </a:cxn>
                <a:cxn ang="0">
                  <a:pos x="3" y="6"/>
                </a:cxn>
                <a:cxn ang="0">
                  <a:pos x="4" y="6"/>
                </a:cxn>
              </a:cxnLst>
              <a:rect l="0" t="0" r="r" b="b"/>
              <a:pathLst>
                <a:path w="6" h="6">
                  <a:moveTo>
                    <a:pt x="4" y="6"/>
                  </a:moveTo>
                  <a:lnTo>
                    <a:pt x="5" y="6"/>
                  </a:lnTo>
                  <a:lnTo>
                    <a:pt x="6" y="5"/>
                  </a:lnTo>
                  <a:lnTo>
                    <a:pt x="6" y="4"/>
                  </a:lnTo>
                  <a:lnTo>
                    <a:pt x="6" y="3"/>
                  </a:lnTo>
                  <a:lnTo>
                    <a:pt x="6" y="2"/>
                  </a:lnTo>
                  <a:lnTo>
                    <a:pt x="5" y="1"/>
                  </a:lnTo>
                  <a:lnTo>
                    <a:pt x="4" y="0"/>
                  </a:lnTo>
                  <a:lnTo>
                    <a:pt x="3" y="0"/>
                  </a:lnTo>
                  <a:lnTo>
                    <a:pt x="3" y="0"/>
                  </a:lnTo>
                  <a:lnTo>
                    <a:pt x="2" y="1"/>
                  </a:lnTo>
                  <a:lnTo>
                    <a:pt x="1" y="2"/>
                  </a:lnTo>
                  <a:lnTo>
                    <a:pt x="0" y="3"/>
                  </a:lnTo>
                  <a:lnTo>
                    <a:pt x="0" y="4"/>
                  </a:lnTo>
                  <a:lnTo>
                    <a:pt x="1" y="5"/>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357" name="Freeform 701"/>
            <p:cNvSpPr>
              <a:spLocks/>
            </p:cNvSpPr>
            <p:nvPr/>
          </p:nvSpPr>
          <p:spPr bwMode="auto">
            <a:xfrm>
              <a:off x="3276" y="1794"/>
              <a:ext cx="7" cy="6"/>
            </a:xfrm>
            <a:custGeom>
              <a:avLst/>
              <a:gdLst/>
              <a:ahLst/>
              <a:cxnLst>
                <a:cxn ang="0">
                  <a:pos x="5" y="6"/>
                </a:cxn>
                <a:cxn ang="0">
                  <a:pos x="6" y="5"/>
                </a:cxn>
                <a:cxn ang="0">
                  <a:pos x="7" y="4"/>
                </a:cxn>
                <a:cxn ang="0">
                  <a:pos x="7" y="3"/>
                </a:cxn>
                <a:cxn ang="0">
                  <a:pos x="7" y="2"/>
                </a:cxn>
                <a:cxn ang="0">
                  <a:pos x="7" y="1"/>
                </a:cxn>
                <a:cxn ang="0">
                  <a:pos x="6" y="0"/>
                </a:cxn>
                <a:cxn ang="0">
                  <a:pos x="5" y="0"/>
                </a:cxn>
                <a:cxn ang="0">
                  <a:pos x="4" y="0"/>
                </a:cxn>
                <a:cxn ang="0">
                  <a:pos x="4" y="0"/>
                </a:cxn>
                <a:cxn ang="0">
                  <a:pos x="2" y="0"/>
                </a:cxn>
                <a:cxn ang="0">
                  <a:pos x="1" y="1"/>
                </a:cxn>
                <a:cxn ang="0">
                  <a:pos x="0" y="2"/>
                </a:cxn>
                <a:cxn ang="0">
                  <a:pos x="0" y="3"/>
                </a:cxn>
                <a:cxn ang="0">
                  <a:pos x="1" y="4"/>
                </a:cxn>
                <a:cxn ang="0">
                  <a:pos x="2" y="5"/>
                </a:cxn>
                <a:cxn ang="0">
                  <a:pos x="4" y="6"/>
                </a:cxn>
                <a:cxn ang="0">
                  <a:pos x="5" y="6"/>
                </a:cxn>
              </a:cxnLst>
              <a:rect l="0" t="0" r="r" b="b"/>
              <a:pathLst>
                <a:path w="7" h="6">
                  <a:moveTo>
                    <a:pt x="5" y="6"/>
                  </a:moveTo>
                  <a:lnTo>
                    <a:pt x="6" y="5"/>
                  </a:lnTo>
                  <a:lnTo>
                    <a:pt x="7" y="4"/>
                  </a:lnTo>
                  <a:lnTo>
                    <a:pt x="7" y="3"/>
                  </a:lnTo>
                  <a:lnTo>
                    <a:pt x="7" y="2"/>
                  </a:lnTo>
                  <a:lnTo>
                    <a:pt x="7" y="1"/>
                  </a:lnTo>
                  <a:lnTo>
                    <a:pt x="6" y="0"/>
                  </a:lnTo>
                  <a:lnTo>
                    <a:pt x="5" y="0"/>
                  </a:lnTo>
                  <a:lnTo>
                    <a:pt x="4" y="0"/>
                  </a:lnTo>
                  <a:lnTo>
                    <a:pt x="4" y="0"/>
                  </a:lnTo>
                  <a:lnTo>
                    <a:pt x="2" y="0"/>
                  </a:lnTo>
                  <a:lnTo>
                    <a:pt x="1" y="1"/>
                  </a:lnTo>
                  <a:lnTo>
                    <a:pt x="0" y="2"/>
                  </a:lnTo>
                  <a:lnTo>
                    <a:pt x="0" y="3"/>
                  </a:lnTo>
                  <a:lnTo>
                    <a:pt x="1" y="4"/>
                  </a:lnTo>
                  <a:lnTo>
                    <a:pt x="2" y="5"/>
                  </a:lnTo>
                  <a:lnTo>
                    <a:pt x="4" y="6"/>
                  </a:lnTo>
                  <a:lnTo>
                    <a:pt x="5" y="6"/>
                  </a:lnTo>
                  <a:close/>
                </a:path>
              </a:pathLst>
            </a:custGeom>
            <a:solidFill>
              <a:srgbClr val="000000"/>
            </a:solidFill>
            <a:ln w="9525">
              <a:noFill/>
              <a:round/>
              <a:headEnd/>
              <a:tailEnd/>
            </a:ln>
          </p:spPr>
          <p:txBody>
            <a:bodyPr/>
            <a:lstStyle/>
            <a:p>
              <a:endParaRPr lang="en-US"/>
            </a:p>
          </p:txBody>
        </p:sp>
        <p:sp>
          <p:nvSpPr>
            <p:cNvPr id="327358" name="Freeform 702"/>
            <p:cNvSpPr>
              <a:spLocks/>
            </p:cNvSpPr>
            <p:nvPr/>
          </p:nvSpPr>
          <p:spPr bwMode="auto">
            <a:xfrm>
              <a:off x="3264" y="1796"/>
              <a:ext cx="7" cy="6"/>
            </a:xfrm>
            <a:custGeom>
              <a:avLst/>
              <a:gdLst/>
              <a:ahLst/>
              <a:cxnLst>
                <a:cxn ang="0">
                  <a:pos x="3" y="6"/>
                </a:cxn>
                <a:cxn ang="0">
                  <a:pos x="4" y="5"/>
                </a:cxn>
                <a:cxn ang="0">
                  <a:pos x="5" y="4"/>
                </a:cxn>
                <a:cxn ang="0">
                  <a:pos x="7" y="3"/>
                </a:cxn>
                <a:cxn ang="0">
                  <a:pos x="7" y="2"/>
                </a:cxn>
                <a:cxn ang="0">
                  <a:pos x="5" y="1"/>
                </a:cxn>
                <a:cxn ang="0">
                  <a:pos x="4" y="0"/>
                </a:cxn>
                <a:cxn ang="0">
                  <a:pos x="3" y="0"/>
                </a:cxn>
                <a:cxn ang="0">
                  <a:pos x="2" y="0"/>
                </a:cxn>
                <a:cxn ang="0">
                  <a:pos x="2" y="0"/>
                </a:cxn>
                <a:cxn ang="0">
                  <a:pos x="1" y="0"/>
                </a:cxn>
                <a:cxn ang="0">
                  <a:pos x="0" y="1"/>
                </a:cxn>
                <a:cxn ang="0">
                  <a:pos x="0" y="2"/>
                </a:cxn>
                <a:cxn ang="0">
                  <a:pos x="0" y="3"/>
                </a:cxn>
                <a:cxn ang="0">
                  <a:pos x="0" y="4"/>
                </a:cxn>
                <a:cxn ang="0">
                  <a:pos x="1" y="5"/>
                </a:cxn>
                <a:cxn ang="0">
                  <a:pos x="2" y="6"/>
                </a:cxn>
                <a:cxn ang="0">
                  <a:pos x="3" y="6"/>
                </a:cxn>
              </a:cxnLst>
              <a:rect l="0" t="0" r="r" b="b"/>
              <a:pathLst>
                <a:path w="7" h="6">
                  <a:moveTo>
                    <a:pt x="3" y="6"/>
                  </a:moveTo>
                  <a:lnTo>
                    <a:pt x="4" y="5"/>
                  </a:lnTo>
                  <a:lnTo>
                    <a:pt x="5" y="4"/>
                  </a:lnTo>
                  <a:lnTo>
                    <a:pt x="7" y="3"/>
                  </a:lnTo>
                  <a:lnTo>
                    <a:pt x="7" y="2"/>
                  </a:lnTo>
                  <a:lnTo>
                    <a:pt x="5" y="1"/>
                  </a:lnTo>
                  <a:lnTo>
                    <a:pt x="4" y="0"/>
                  </a:lnTo>
                  <a:lnTo>
                    <a:pt x="3" y="0"/>
                  </a:lnTo>
                  <a:lnTo>
                    <a:pt x="2" y="0"/>
                  </a:lnTo>
                  <a:lnTo>
                    <a:pt x="2" y="0"/>
                  </a:lnTo>
                  <a:lnTo>
                    <a:pt x="1" y="0"/>
                  </a:lnTo>
                  <a:lnTo>
                    <a:pt x="0" y="1"/>
                  </a:lnTo>
                  <a:lnTo>
                    <a:pt x="0" y="2"/>
                  </a:lnTo>
                  <a:lnTo>
                    <a:pt x="0" y="3"/>
                  </a:lnTo>
                  <a:lnTo>
                    <a:pt x="0" y="4"/>
                  </a:lnTo>
                  <a:lnTo>
                    <a:pt x="1" y="5"/>
                  </a:lnTo>
                  <a:lnTo>
                    <a:pt x="2" y="6"/>
                  </a:lnTo>
                  <a:lnTo>
                    <a:pt x="3" y="6"/>
                  </a:lnTo>
                  <a:close/>
                </a:path>
              </a:pathLst>
            </a:custGeom>
            <a:solidFill>
              <a:srgbClr val="000000"/>
            </a:solidFill>
            <a:ln w="9525">
              <a:noFill/>
              <a:round/>
              <a:headEnd/>
              <a:tailEnd/>
            </a:ln>
          </p:spPr>
          <p:txBody>
            <a:bodyPr/>
            <a:lstStyle/>
            <a:p>
              <a:endParaRPr lang="en-US"/>
            </a:p>
          </p:txBody>
        </p:sp>
        <p:sp>
          <p:nvSpPr>
            <p:cNvPr id="327359" name="Freeform 703"/>
            <p:cNvSpPr>
              <a:spLocks/>
            </p:cNvSpPr>
            <p:nvPr/>
          </p:nvSpPr>
          <p:spPr bwMode="auto">
            <a:xfrm>
              <a:off x="3250" y="1798"/>
              <a:ext cx="7" cy="6"/>
            </a:xfrm>
            <a:custGeom>
              <a:avLst/>
              <a:gdLst/>
              <a:ahLst/>
              <a:cxnLst>
                <a:cxn ang="0">
                  <a:pos x="4" y="6"/>
                </a:cxn>
                <a:cxn ang="0">
                  <a:pos x="5" y="5"/>
                </a:cxn>
                <a:cxn ang="0">
                  <a:pos x="6" y="4"/>
                </a:cxn>
                <a:cxn ang="0">
                  <a:pos x="7" y="3"/>
                </a:cxn>
                <a:cxn ang="0">
                  <a:pos x="7" y="2"/>
                </a:cxn>
                <a:cxn ang="0">
                  <a:pos x="6" y="1"/>
                </a:cxn>
                <a:cxn ang="0">
                  <a:pos x="5" y="0"/>
                </a:cxn>
                <a:cxn ang="0">
                  <a:pos x="4" y="0"/>
                </a:cxn>
                <a:cxn ang="0">
                  <a:pos x="2" y="0"/>
                </a:cxn>
                <a:cxn ang="0">
                  <a:pos x="2" y="0"/>
                </a:cxn>
                <a:cxn ang="0">
                  <a:pos x="1" y="0"/>
                </a:cxn>
                <a:cxn ang="0">
                  <a:pos x="0" y="1"/>
                </a:cxn>
                <a:cxn ang="0">
                  <a:pos x="0" y="2"/>
                </a:cxn>
                <a:cxn ang="0">
                  <a:pos x="0" y="3"/>
                </a:cxn>
                <a:cxn ang="0">
                  <a:pos x="0" y="4"/>
                </a:cxn>
                <a:cxn ang="0">
                  <a:pos x="1" y="5"/>
                </a:cxn>
                <a:cxn ang="0">
                  <a:pos x="2" y="6"/>
                </a:cxn>
                <a:cxn ang="0">
                  <a:pos x="4" y="6"/>
                </a:cxn>
              </a:cxnLst>
              <a:rect l="0" t="0" r="r" b="b"/>
              <a:pathLst>
                <a:path w="7" h="6">
                  <a:moveTo>
                    <a:pt x="4" y="6"/>
                  </a:moveTo>
                  <a:lnTo>
                    <a:pt x="5" y="5"/>
                  </a:lnTo>
                  <a:lnTo>
                    <a:pt x="6" y="4"/>
                  </a:lnTo>
                  <a:lnTo>
                    <a:pt x="7" y="3"/>
                  </a:lnTo>
                  <a:lnTo>
                    <a:pt x="7" y="2"/>
                  </a:lnTo>
                  <a:lnTo>
                    <a:pt x="6" y="1"/>
                  </a:lnTo>
                  <a:lnTo>
                    <a:pt x="5" y="0"/>
                  </a:lnTo>
                  <a:lnTo>
                    <a:pt x="4" y="0"/>
                  </a:lnTo>
                  <a:lnTo>
                    <a:pt x="2" y="0"/>
                  </a:lnTo>
                  <a:lnTo>
                    <a:pt x="2" y="0"/>
                  </a:lnTo>
                  <a:lnTo>
                    <a:pt x="1" y="0"/>
                  </a:lnTo>
                  <a:lnTo>
                    <a:pt x="0" y="1"/>
                  </a:lnTo>
                  <a:lnTo>
                    <a:pt x="0" y="2"/>
                  </a:lnTo>
                  <a:lnTo>
                    <a:pt x="0" y="3"/>
                  </a:lnTo>
                  <a:lnTo>
                    <a:pt x="0" y="4"/>
                  </a:lnTo>
                  <a:lnTo>
                    <a:pt x="1" y="5"/>
                  </a:lnTo>
                  <a:lnTo>
                    <a:pt x="2" y="6"/>
                  </a:lnTo>
                  <a:lnTo>
                    <a:pt x="4" y="6"/>
                  </a:lnTo>
                  <a:close/>
                </a:path>
              </a:pathLst>
            </a:custGeom>
            <a:solidFill>
              <a:srgbClr val="000000"/>
            </a:solidFill>
            <a:ln w="9525">
              <a:noFill/>
              <a:round/>
              <a:headEnd/>
              <a:tailEnd/>
            </a:ln>
          </p:spPr>
          <p:txBody>
            <a:bodyPr/>
            <a:lstStyle/>
            <a:p>
              <a:endParaRPr lang="en-US"/>
            </a:p>
          </p:txBody>
        </p:sp>
        <p:sp>
          <p:nvSpPr>
            <p:cNvPr id="327360" name="Freeform 704"/>
            <p:cNvSpPr>
              <a:spLocks/>
            </p:cNvSpPr>
            <p:nvPr/>
          </p:nvSpPr>
          <p:spPr bwMode="auto">
            <a:xfrm>
              <a:off x="3237" y="1800"/>
              <a:ext cx="6" cy="6"/>
            </a:xfrm>
            <a:custGeom>
              <a:avLst/>
              <a:gdLst/>
              <a:ahLst/>
              <a:cxnLst>
                <a:cxn ang="0">
                  <a:pos x="3" y="6"/>
                </a:cxn>
                <a:cxn ang="0">
                  <a:pos x="4" y="5"/>
                </a:cxn>
                <a:cxn ang="0">
                  <a:pos x="5" y="4"/>
                </a:cxn>
                <a:cxn ang="0">
                  <a:pos x="6" y="3"/>
                </a:cxn>
                <a:cxn ang="0">
                  <a:pos x="6" y="2"/>
                </a:cxn>
                <a:cxn ang="0">
                  <a:pos x="5" y="1"/>
                </a:cxn>
                <a:cxn ang="0">
                  <a:pos x="4" y="0"/>
                </a:cxn>
                <a:cxn ang="0">
                  <a:pos x="3" y="0"/>
                </a:cxn>
                <a:cxn ang="0">
                  <a:pos x="2" y="0"/>
                </a:cxn>
                <a:cxn ang="0">
                  <a:pos x="2" y="0"/>
                </a:cxn>
                <a:cxn ang="0">
                  <a:pos x="1" y="0"/>
                </a:cxn>
                <a:cxn ang="0">
                  <a:pos x="0" y="1"/>
                </a:cxn>
                <a:cxn ang="0">
                  <a:pos x="0" y="2"/>
                </a:cxn>
                <a:cxn ang="0">
                  <a:pos x="0" y="3"/>
                </a:cxn>
                <a:cxn ang="0">
                  <a:pos x="0" y="4"/>
                </a:cxn>
                <a:cxn ang="0">
                  <a:pos x="1" y="5"/>
                </a:cxn>
                <a:cxn ang="0">
                  <a:pos x="2" y="6"/>
                </a:cxn>
                <a:cxn ang="0">
                  <a:pos x="3" y="6"/>
                </a:cxn>
              </a:cxnLst>
              <a:rect l="0" t="0" r="r" b="b"/>
              <a:pathLst>
                <a:path w="6" h="6">
                  <a:moveTo>
                    <a:pt x="3" y="6"/>
                  </a:moveTo>
                  <a:lnTo>
                    <a:pt x="4" y="5"/>
                  </a:lnTo>
                  <a:lnTo>
                    <a:pt x="5" y="4"/>
                  </a:lnTo>
                  <a:lnTo>
                    <a:pt x="6" y="3"/>
                  </a:lnTo>
                  <a:lnTo>
                    <a:pt x="6" y="2"/>
                  </a:lnTo>
                  <a:lnTo>
                    <a:pt x="5" y="1"/>
                  </a:lnTo>
                  <a:lnTo>
                    <a:pt x="4" y="0"/>
                  </a:lnTo>
                  <a:lnTo>
                    <a:pt x="3" y="0"/>
                  </a:lnTo>
                  <a:lnTo>
                    <a:pt x="2" y="0"/>
                  </a:lnTo>
                  <a:lnTo>
                    <a:pt x="2" y="0"/>
                  </a:lnTo>
                  <a:lnTo>
                    <a:pt x="1" y="0"/>
                  </a:lnTo>
                  <a:lnTo>
                    <a:pt x="0" y="1"/>
                  </a:lnTo>
                  <a:lnTo>
                    <a:pt x="0" y="2"/>
                  </a:lnTo>
                  <a:lnTo>
                    <a:pt x="0" y="3"/>
                  </a:lnTo>
                  <a:lnTo>
                    <a:pt x="0" y="4"/>
                  </a:lnTo>
                  <a:lnTo>
                    <a:pt x="1" y="5"/>
                  </a:lnTo>
                  <a:lnTo>
                    <a:pt x="2" y="6"/>
                  </a:lnTo>
                  <a:lnTo>
                    <a:pt x="3" y="6"/>
                  </a:lnTo>
                  <a:close/>
                </a:path>
              </a:pathLst>
            </a:custGeom>
            <a:solidFill>
              <a:srgbClr val="000000"/>
            </a:solidFill>
            <a:ln w="9525">
              <a:noFill/>
              <a:round/>
              <a:headEnd/>
              <a:tailEnd/>
            </a:ln>
          </p:spPr>
          <p:txBody>
            <a:bodyPr/>
            <a:lstStyle/>
            <a:p>
              <a:endParaRPr lang="en-US"/>
            </a:p>
          </p:txBody>
        </p:sp>
        <p:sp>
          <p:nvSpPr>
            <p:cNvPr id="327361" name="Freeform 705"/>
            <p:cNvSpPr>
              <a:spLocks/>
            </p:cNvSpPr>
            <p:nvPr/>
          </p:nvSpPr>
          <p:spPr bwMode="auto">
            <a:xfrm>
              <a:off x="3223" y="1802"/>
              <a:ext cx="7" cy="7"/>
            </a:xfrm>
            <a:custGeom>
              <a:avLst/>
              <a:gdLst/>
              <a:ahLst/>
              <a:cxnLst>
                <a:cxn ang="0">
                  <a:pos x="5" y="7"/>
                </a:cxn>
                <a:cxn ang="0">
                  <a:pos x="6" y="5"/>
                </a:cxn>
                <a:cxn ang="0">
                  <a:pos x="7" y="4"/>
                </a:cxn>
                <a:cxn ang="0">
                  <a:pos x="7" y="3"/>
                </a:cxn>
                <a:cxn ang="0">
                  <a:pos x="7" y="2"/>
                </a:cxn>
                <a:cxn ang="0">
                  <a:pos x="7" y="1"/>
                </a:cxn>
                <a:cxn ang="0">
                  <a:pos x="6" y="0"/>
                </a:cxn>
                <a:cxn ang="0">
                  <a:pos x="5" y="0"/>
                </a:cxn>
                <a:cxn ang="0">
                  <a:pos x="3" y="0"/>
                </a:cxn>
                <a:cxn ang="0">
                  <a:pos x="3" y="0"/>
                </a:cxn>
                <a:cxn ang="0">
                  <a:pos x="2" y="0"/>
                </a:cxn>
                <a:cxn ang="0">
                  <a:pos x="1" y="1"/>
                </a:cxn>
                <a:cxn ang="0">
                  <a:pos x="0" y="2"/>
                </a:cxn>
                <a:cxn ang="0">
                  <a:pos x="0" y="3"/>
                </a:cxn>
                <a:cxn ang="0">
                  <a:pos x="1" y="4"/>
                </a:cxn>
                <a:cxn ang="0">
                  <a:pos x="2" y="5"/>
                </a:cxn>
                <a:cxn ang="0">
                  <a:pos x="3" y="7"/>
                </a:cxn>
                <a:cxn ang="0">
                  <a:pos x="5" y="7"/>
                </a:cxn>
              </a:cxnLst>
              <a:rect l="0" t="0" r="r" b="b"/>
              <a:pathLst>
                <a:path w="7" h="7">
                  <a:moveTo>
                    <a:pt x="5" y="7"/>
                  </a:moveTo>
                  <a:lnTo>
                    <a:pt x="6" y="5"/>
                  </a:lnTo>
                  <a:lnTo>
                    <a:pt x="7" y="4"/>
                  </a:lnTo>
                  <a:lnTo>
                    <a:pt x="7" y="3"/>
                  </a:lnTo>
                  <a:lnTo>
                    <a:pt x="7" y="2"/>
                  </a:lnTo>
                  <a:lnTo>
                    <a:pt x="7" y="1"/>
                  </a:lnTo>
                  <a:lnTo>
                    <a:pt x="6" y="0"/>
                  </a:lnTo>
                  <a:lnTo>
                    <a:pt x="5" y="0"/>
                  </a:lnTo>
                  <a:lnTo>
                    <a:pt x="3" y="0"/>
                  </a:lnTo>
                  <a:lnTo>
                    <a:pt x="3" y="0"/>
                  </a:lnTo>
                  <a:lnTo>
                    <a:pt x="2" y="0"/>
                  </a:lnTo>
                  <a:lnTo>
                    <a:pt x="1" y="1"/>
                  </a:lnTo>
                  <a:lnTo>
                    <a:pt x="0" y="2"/>
                  </a:lnTo>
                  <a:lnTo>
                    <a:pt x="0" y="3"/>
                  </a:lnTo>
                  <a:lnTo>
                    <a:pt x="1" y="4"/>
                  </a:lnTo>
                  <a:lnTo>
                    <a:pt x="2" y="5"/>
                  </a:lnTo>
                  <a:lnTo>
                    <a:pt x="3" y="7"/>
                  </a:lnTo>
                  <a:lnTo>
                    <a:pt x="5" y="7"/>
                  </a:lnTo>
                  <a:close/>
                </a:path>
              </a:pathLst>
            </a:custGeom>
            <a:solidFill>
              <a:srgbClr val="000000"/>
            </a:solidFill>
            <a:ln w="9525">
              <a:noFill/>
              <a:round/>
              <a:headEnd/>
              <a:tailEnd/>
            </a:ln>
          </p:spPr>
          <p:txBody>
            <a:bodyPr/>
            <a:lstStyle/>
            <a:p>
              <a:endParaRPr lang="en-US"/>
            </a:p>
          </p:txBody>
        </p:sp>
        <p:sp>
          <p:nvSpPr>
            <p:cNvPr id="327362" name="Freeform 706"/>
            <p:cNvSpPr>
              <a:spLocks/>
            </p:cNvSpPr>
            <p:nvPr/>
          </p:nvSpPr>
          <p:spPr bwMode="auto">
            <a:xfrm>
              <a:off x="3210" y="1803"/>
              <a:ext cx="6" cy="7"/>
            </a:xfrm>
            <a:custGeom>
              <a:avLst/>
              <a:gdLst/>
              <a:ahLst/>
              <a:cxnLst>
                <a:cxn ang="0">
                  <a:pos x="4" y="7"/>
                </a:cxn>
                <a:cxn ang="0">
                  <a:pos x="5" y="7"/>
                </a:cxn>
                <a:cxn ang="0">
                  <a:pos x="6" y="6"/>
                </a:cxn>
                <a:cxn ang="0">
                  <a:pos x="6" y="4"/>
                </a:cxn>
                <a:cxn ang="0">
                  <a:pos x="6" y="3"/>
                </a:cxn>
                <a:cxn ang="0">
                  <a:pos x="6" y="2"/>
                </a:cxn>
                <a:cxn ang="0">
                  <a:pos x="5" y="1"/>
                </a:cxn>
                <a:cxn ang="0">
                  <a:pos x="4" y="0"/>
                </a:cxn>
                <a:cxn ang="0">
                  <a:pos x="3" y="0"/>
                </a:cxn>
                <a:cxn ang="0">
                  <a:pos x="3" y="0"/>
                </a:cxn>
                <a:cxn ang="0">
                  <a:pos x="2" y="1"/>
                </a:cxn>
                <a:cxn ang="0">
                  <a:pos x="1" y="2"/>
                </a:cxn>
                <a:cxn ang="0">
                  <a:pos x="0" y="3"/>
                </a:cxn>
                <a:cxn ang="0">
                  <a:pos x="0" y="4"/>
                </a:cxn>
                <a:cxn ang="0">
                  <a:pos x="1" y="6"/>
                </a:cxn>
                <a:cxn ang="0">
                  <a:pos x="2" y="7"/>
                </a:cxn>
                <a:cxn ang="0">
                  <a:pos x="3" y="7"/>
                </a:cxn>
                <a:cxn ang="0">
                  <a:pos x="4" y="7"/>
                </a:cxn>
              </a:cxnLst>
              <a:rect l="0" t="0" r="r" b="b"/>
              <a:pathLst>
                <a:path w="6" h="7">
                  <a:moveTo>
                    <a:pt x="4" y="7"/>
                  </a:moveTo>
                  <a:lnTo>
                    <a:pt x="5" y="7"/>
                  </a:lnTo>
                  <a:lnTo>
                    <a:pt x="6" y="6"/>
                  </a:lnTo>
                  <a:lnTo>
                    <a:pt x="6" y="4"/>
                  </a:lnTo>
                  <a:lnTo>
                    <a:pt x="6" y="3"/>
                  </a:lnTo>
                  <a:lnTo>
                    <a:pt x="6" y="2"/>
                  </a:lnTo>
                  <a:lnTo>
                    <a:pt x="5" y="1"/>
                  </a:lnTo>
                  <a:lnTo>
                    <a:pt x="4" y="0"/>
                  </a:lnTo>
                  <a:lnTo>
                    <a:pt x="3" y="0"/>
                  </a:lnTo>
                  <a:lnTo>
                    <a:pt x="3" y="0"/>
                  </a:lnTo>
                  <a:lnTo>
                    <a:pt x="2" y="1"/>
                  </a:lnTo>
                  <a:lnTo>
                    <a:pt x="1" y="2"/>
                  </a:lnTo>
                  <a:lnTo>
                    <a:pt x="0" y="3"/>
                  </a:lnTo>
                  <a:lnTo>
                    <a:pt x="0" y="4"/>
                  </a:lnTo>
                  <a:lnTo>
                    <a:pt x="1" y="6"/>
                  </a:lnTo>
                  <a:lnTo>
                    <a:pt x="2" y="7"/>
                  </a:lnTo>
                  <a:lnTo>
                    <a:pt x="3" y="7"/>
                  </a:lnTo>
                  <a:lnTo>
                    <a:pt x="4" y="7"/>
                  </a:lnTo>
                  <a:close/>
                </a:path>
              </a:pathLst>
            </a:custGeom>
            <a:solidFill>
              <a:srgbClr val="000000"/>
            </a:solidFill>
            <a:ln w="9525">
              <a:noFill/>
              <a:round/>
              <a:headEnd/>
              <a:tailEnd/>
            </a:ln>
          </p:spPr>
          <p:txBody>
            <a:bodyPr/>
            <a:lstStyle/>
            <a:p>
              <a:endParaRPr lang="en-US"/>
            </a:p>
          </p:txBody>
        </p:sp>
        <p:sp>
          <p:nvSpPr>
            <p:cNvPr id="327363" name="Freeform 707"/>
            <p:cNvSpPr>
              <a:spLocks/>
            </p:cNvSpPr>
            <p:nvPr/>
          </p:nvSpPr>
          <p:spPr bwMode="auto">
            <a:xfrm>
              <a:off x="3196" y="1805"/>
              <a:ext cx="7" cy="7"/>
            </a:xfrm>
            <a:custGeom>
              <a:avLst/>
              <a:gdLst/>
              <a:ahLst/>
              <a:cxnLst>
                <a:cxn ang="0">
                  <a:pos x="4" y="7"/>
                </a:cxn>
                <a:cxn ang="0">
                  <a:pos x="6" y="7"/>
                </a:cxn>
                <a:cxn ang="0">
                  <a:pos x="7" y="6"/>
                </a:cxn>
                <a:cxn ang="0">
                  <a:pos x="7" y="5"/>
                </a:cxn>
                <a:cxn ang="0">
                  <a:pos x="7" y="4"/>
                </a:cxn>
                <a:cxn ang="0">
                  <a:pos x="7" y="2"/>
                </a:cxn>
                <a:cxn ang="0">
                  <a:pos x="6" y="1"/>
                </a:cxn>
                <a:cxn ang="0">
                  <a:pos x="4" y="0"/>
                </a:cxn>
                <a:cxn ang="0">
                  <a:pos x="3" y="0"/>
                </a:cxn>
                <a:cxn ang="0">
                  <a:pos x="3" y="0"/>
                </a:cxn>
                <a:cxn ang="0">
                  <a:pos x="2" y="1"/>
                </a:cxn>
                <a:cxn ang="0">
                  <a:pos x="1" y="2"/>
                </a:cxn>
                <a:cxn ang="0">
                  <a:pos x="0" y="4"/>
                </a:cxn>
                <a:cxn ang="0">
                  <a:pos x="0" y="5"/>
                </a:cxn>
                <a:cxn ang="0">
                  <a:pos x="1" y="6"/>
                </a:cxn>
                <a:cxn ang="0">
                  <a:pos x="2" y="7"/>
                </a:cxn>
                <a:cxn ang="0">
                  <a:pos x="3" y="7"/>
                </a:cxn>
                <a:cxn ang="0">
                  <a:pos x="4" y="7"/>
                </a:cxn>
              </a:cxnLst>
              <a:rect l="0" t="0" r="r" b="b"/>
              <a:pathLst>
                <a:path w="7" h="7">
                  <a:moveTo>
                    <a:pt x="4" y="7"/>
                  </a:moveTo>
                  <a:lnTo>
                    <a:pt x="6" y="7"/>
                  </a:lnTo>
                  <a:lnTo>
                    <a:pt x="7" y="6"/>
                  </a:lnTo>
                  <a:lnTo>
                    <a:pt x="7" y="5"/>
                  </a:lnTo>
                  <a:lnTo>
                    <a:pt x="7" y="4"/>
                  </a:lnTo>
                  <a:lnTo>
                    <a:pt x="7" y="2"/>
                  </a:lnTo>
                  <a:lnTo>
                    <a:pt x="6" y="1"/>
                  </a:lnTo>
                  <a:lnTo>
                    <a:pt x="4" y="0"/>
                  </a:lnTo>
                  <a:lnTo>
                    <a:pt x="3" y="0"/>
                  </a:lnTo>
                  <a:lnTo>
                    <a:pt x="3" y="0"/>
                  </a:lnTo>
                  <a:lnTo>
                    <a:pt x="2" y="1"/>
                  </a:lnTo>
                  <a:lnTo>
                    <a:pt x="1" y="2"/>
                  </a:lnTo>
                  <a:lnTo>
                    <a:pt x="0" y="4"/>
                  </a:lnTo>
                  <a:lnTo>
                    <a:pt x="0" y="5"/>
                  </a:lnTo>
                  <a:lnTo>
                    <a:pt x="1" y="6"/>
                  </a:lnTo>
                  <a:lnTo>
                    <a:pt x="2" y="7"/>
                  </a:lnTo>
                  <a:lnTo>
                    <a:pt x="3" y="7"/>
                  </a:lnTo>
                  <a:lnTo>
                    <a:pt x="4" y="7"/>
                  </a:lnTo>
                  <a:close/>
                </a:path>
              </a:pathLst>
            </a:custGeom>
            <a:solidFill>
              <a:srgbClr val="000000"/>
            </a:solidFill>
            <a:ln w="9525">
              <a:noFill/>
              <a:round/>
              <a:headEnd/>
              <a:tailEnd/>
            </a:ln>
          </p:spPr>
          <p:txBody>
            <a:bodyPr/>
            <a:lstStyle/>
            <a:p>
              <a:endParaRPr lang="en-US"/>
            </a:p>
          </p:txBody>
        </p:sp>
        <p:sp>
          <p:nvSpPr>
            <p:cNvPr id="327364" name="Freeform 708"/>
            <p:cNvSpPr>
              <a:spLocks/>
            </p:cNvSpPr>
            <p:nvPr/>
          </p:nvSpPr>
          <p:spPr bwMode="auto">
            <a:xfrm>
              <a:off x="3182" y="1807"/>
              <a:ext cx="7" cy="7"/>
            </a:xfrm>
            <a:custGeom>
              <a:avLst/>
              <a:gdLst/>
              <a:ahLst/>
              <a:cxnLst>
                <a:cxn ang="0">
                  <a:pos x="5" y="7"/>
                </a:cxn>
                <a:cxn ang="0">
                  <a:pos x="6" y="7"/>
                </a:cxn>
                <a:cxn ang="0">
                  <a:pos x="7" y="6"/>
                </a:cxn>
                <a:cxn ang="0">
                  <a:pos x="7" y="5"/>
                </a:cxn>
                <a:cxn ang="0">
                  <a:pos x="7" y="4"/>
                </a:cxn>
                <a:cxn ang="0">
                  <a:pos x="7" y="3"/>
                </a:cxn>
                <a:cxn ang="0">
                  <a:pos x="6" y="2"/>
                </a:cxn>
                <a:cxn ang="0">
                  <a:pos x="5" y="0"/>
                </a:cxn>
                <a:cxn ang="0">
                  <a:pos x="4" y="0"/>
                </a:cxn>
                <a:cxn ang="0">
                  <a:pos x="4" y="0"/>
                </a:cxn>
                <a:cxn ang="0">
                  <a:pos x="3" y="2"/>
                </a:cxn>
                <a:cxn ang="0">
                  <a:pos x="2" y="3"/>
                </a:cxn>
                <a:cxn ang="0">
                  <a:pos x="0" y="4"/>
                </a:cxn>
                <a:cxn ang="0">
                  <a:pos x="0" y="5"/>
                </a:cxn>
                <a:cxn ang="0">
                  <a:pos x="2" y="6"/>
                </a:cxn>
                <a:cxn ang="0">
                  <a:pos x="3" y="7"/>
                </a:cxn>
                <a:cxn ang="0">
                  <a:pos x="4" y="7"/>
                </a:cxn>
                <a:cxn ang="0">
                  <a:pos x="5" y="7"/>
                </a:cxn>
              </a:cxnLst>
              <a:rect l="0" t="0" r="r" b="b"/>
              <a:pathLst>
                <a:path w="7" h="7">
                  <a:moveTo>
                    <a:pt x="5" y="7"/>
                  </a:moveTo>
                  <a:lnTo>
                    <a:pt x="6" y="7"/>
                  </a:lnTo>
                  <a:lnTo>
                    <a:pt x="7" y="6"/>
                  </a:lnTo>
                  <a:lnTo>
                    <a:pt x="7" y="5"/>
                  </a:lnTo>
                  <a:lnTo>
                    <a:pt x="7" y="4"/>
                  </a:lnTo>
                  <a:lnTo>
                    <a:pt x="7" y="3"/>
                  </a:lnTo>
                  <a:lnTo>
                    <a:pt x="6" y="2"/>
                  </a:lnTo>
                  <a:lnTo>
                    <a:pt x="5" y="0"/>
                  </a:lnTo>
                  <a:lnTo>
                    <a:pt x="4" y="0"/>
                  </a:lnTo>
                  <a:lnTo>
                    <a:pt x="4" y="0"/>
                  </a:lnTo>
                  <a:lnTo>
                    <a:pt x="3" y="2"/>
                  </a:lnTo>
                  <a:lnTo>
                    <a:pt x="2" y="3"/>
                  </a:lnTo>
                  <a:lnTo>
                    <a:pt x="0" y="4"/>
                  </a:lnTo>
                  <a:lnTo>
                    <a:pt x="0" y="5"/>
                  </a:lnTo>
                  <a:lnTo>
                    <a:pt x="2" y="6"/>
                  </a:lnTo>
                  <a:lnTo>
                    <a:pt x="3" y="7"/>
                  </a:lnTo>
                  <a:lnTo>
                    <a:pt x="4" y="7"/>
                  </a:lnTo>
                  <a:lnTo>
                    <a:pt x="5" y="7"/>
                  </a:lnTo>
                  <a:close/>
                </a:path>
              </a:pathLst>
            </a:custGeom>
            <a:solidFill>
              <a:srgbClr val="000000"/>
            </a:solidFill>
            <a:ln w="9525">
              <a:noFill/>
              <a:round/>
              <a:headEnd/>
              <a:tailEnd/>
            </a:ln>
          </p:spPr>
          <p:txBody>
            <a:bodyPr/>
            <a:lstStyle/>
            <a:p>
              <a:endParaRPr lang="en-US"/>
            </a:p>
          </p:txBody>
        </p:sp>
        <p:sp>
          <p:nvSpPr>
            <p:cNvPr id="327365" name="Freeform 709"/>
            <p:cNvSpPr>
              <a:spLocks/>
            </p:cNvSpPr>
            <p:nvPr/>
          </p:nvSpPr>
          <p:spPr bwMode="auto">
            <a:xfrm>
              <a:off x="3170" y="1810"/>
              <a:ext cx="7" cy="6"/>
            </a:xfrm>
            <a:custGeom>
              <a:avLst/>
              <a:gdLst/>
              <a:ahLst/>
              <a:cxnLst>
                <a:cxn ang="0">
                  <a:pos x="3" y="6"/>
                </a:cxn>
                <a:cxn ang="0">
                  <a:pos x="4" y="6"/>
                </a:cxn>
                <a:cxn ang="0">
                  <a:pos x="6" y="5"/>
                </a:cxn>
                <a:cxn ang="0">
                  <a:pos x="7" y="4"/>
                </a:cxn>
                <a:cxn ang="0">
                  <a:pos x="7" y="3"/>
                </a:cxn>
                <a:cxn ang="0">
                  <a:pos x="6" y="2"/>
                </a:cxn>
                <a:cxn ang="0">
                  <a:pos x="4" y="1"/>
                </a:cxn>
                <a:cxn ang="0">
                  <a:pos x="3" y="0"/>
                </a:cxn>
                <a:cxn ang="0">
                  <a:pos x="2" y="0"/>
                </a:cxn>
                <a:cxn ang="0">
                  <a:pos x="2" y="0"/>
                </a:cxn>
                <a:cxn ang="0">
                  <a:pos x="1" y="1"/>
                </a:cxn>
                <a:cxn ang="0">
                  <a:pos x="0" y="2"/>
                </a:cxn>
                <a:cxn ang="0">
                  <a:pos x="0" y="3"/>
                </a:cxn>
                <a:cxn ang="0">
                  <a:pos x="0" y="4"/>
                </a:cxn>
                <a:cxn ang="0">
                  <a:pos x="0" y="5"/>
                </a:cxn>
                <a:cxn ang="0">
                  <a:pos x="1" y="6"/>
                </a:cxn>
                <a:cxn ang="0">
                  <a:pos x="2" y="6"/>
                </a:cxn>
                <a:cxn ang="0">
                  <a:pos x="3" y="6"/>
                </a:cxn>
              </a:cxnLst>
              <a:rect l="0" t="0" r="r" b="b"/>
              <a:pathLst>
                <a:path w="7" h="6">
                  <a:moveTo>
                    <a:pt x="3" y="6"/>
                  </a:moveTo>
                  <a:lnTo>
                    <a:pt x="4" y="6"/>
                  </a:lnTo>
                  <a:lnTo>
                    <a:pt x="6" y="5"/>
                  </a:lnTo>
                  <a:lnTo>
                    <a:pt x="7" y="4"/>
                  </a:lnTo>
                  <a:lnTo>
                    <a:pt x="7" y="3"/>
                  </a:lnTo>
                  <a:lnTo>
                    <a:pt x="6" y="2"/>
                  </a:lnTo>
                  <a:lnTo>
                    <a:pt x="4" y="1"/>
                  </a:lnTo>
                  <a:lnTo>
                    <a:pt x="3" y="0"/>
                  </a:lnTo>
                  <a:lnTo>
                    <a:pt x="2" y="0"/>
                  </a:lnTo>
                  <a:lnTo>
                    <a:pt x="2" y="0"/>
                  </a:lnTo>
                  <a:lnTo>
                    <a:pt x="1" y="1"/>
                  </a:lnTo>
                  <a:lnTo>
                    <a:pt x="0" y="2"/>
                  </a:lnTo>
                  <a:lnTo>
                    <a:pt x="0" y="3"/>
                  </a:lnTo>
                  <a:lnTo>
                    <a:pt x="0" y="4"/>
                  </a:lnTo>
                  <a:lnTo>
                    <a:pt x="0" y="5"/>
                  </a:lnTo>
                  <a:lnTo>
                    <a:pt x="1" y="6"/>
                  </a:lnTo>
                  <a:lnTo>
                    <a:pt x="2" y="6"/>
                  </a:lnTo>
                  <a:lnTo>
                    <a:pt x="3" y="6"/>
                  </a:lnTo>
                  <a:close/>
                </a:path>
              </a:pathLst>
            </a:custGeom>
            <a:solidFill>
              <a:srgbClr val="000000"/>
            </a:solidFill>
            <a:ln w="9525">
              <a:noFill/>
              <a:round/>
              <a:headEnd/>
              <a:tailEnd/>
            </a:ln>
          </p:spPr>
          <p:txBody>
            <a:bodyPr/>
            <a:lstStyle/>
            <a:p>
              <a:endParaRPr lang="en-US"/>
            </a:p>
          </p:txBody>
        </p:sp>
        <p:sp>
          <p:nvSpPr>
            <p:cNvPr id="327366" name="Freeform 710"/>
            <p:cNvSpPr>
              <a:spLocks/>
            </p:cNvSpPr>
            <p:nvPr/>
          </p:nvSpPr>
          <p:spPr bwMode="auto">
            <a:xfrm>
              <a:off x="3156" y="1812"/>
              <a:ext cx="7" cy="6"/>
            </a:xfrm>
            <a:custGeom>
              <a:avLst/>
              <a:gdLst/>
              <a:ahLst/>
              <a:cxnLst>
                <a:cxn ang="0">
                  <a:pos x="4" y="6"/>
                </a:cxn>
                <a:cxn ang="0">
                  <a:pos x="5" y="6"/>
                </a:cxn>
                <a:cxn ang="0">
                  <a:pos x="6" y="5"/>
                </a:cxn>
                <a:cxn ang="0">
                  <a:pos x="7" y="4"/>
                </a:cxn>
                <a:cxn ang="0">
                  <a:pos x="7" y="3"/>
                </a:cxn>
                <a:cxn ang="0">
                  <a:pos x="6" y="2"/>
                </a:cxn>
                <a:cxn ang="0">
                  <a:pos x="5" y="1"/>
                </a:cxn>
                <a:cxn ang="0">
                  <a:pos x="4" y="0"/>
                </a:cxn>
                <a:cxn ang="0">
                  <a:pos x="3" y="0"/>
                </a:cxn>
                <a:cxn ang="0">
                  <a:pos x="3" y="0"/>
                </a:cxn>
                <a:cxn ang="0">
                  <a:pos x="2" y="1"/>
                </a:cxn>
                <a:cxn ang="0">
                  <a:pos x="0" y="2"/>
                </a:cxn>
                <a:cxn ang="0">
                  <a:pos x="0" y="3"/>
                </a:cxn>
                <a:cxn ang="0">
                  <a:pos x="0" y="4"/>
                </a:cxn>
                <a:cxn ang="0">
                  <a:pos x="0" y="5"/>
                </a:cxn>
                <a:cxn ang="0">
                  <a:pos x="2" y="6"/>
                </a:cxn>
                <a:cxn ang="0">
                  <a:pos x="3" y="6"/>
                </a:cxn>
                <a:cxn ang="0">
                  <a:pos x="4" y="6"/>
                </a:cxn>
              </a:cxnLst>
              <a:rect l="0" t="0" r="r" b="b"/>
              <a:pathLst>
                <a:path w="7" h="6">
                  <a:moveTo>
                    <a:pt x="4" y="6"/>
                  </a:moveTo>
                  <a:lnTo>
                    <a:pt x="5" y="6"/>
                  </a:lnTo>
                  <a:lnTo>
                    <a:pt x="6" y="5"/>
                  </a:lnTo>
                  <a:lnTo>
                    <a:pt x="7" y="4"/>
                  </a:lnTo>
                  <a:lnTo>
                    <a:pt x="7" y="3"/>
                  </a:lnTo>
                  <a:lnTo>
                    <a:pt x="6" y="2"/>
                  </a:lnTo>
                  <a:lnTo>
                    <a:pt x="5" y="1"/>
                  </a:lnTo>
                  <a:lnTo>
                    <a:pt x="4" y="0"/>
                  </a:lnTo>
                  <a:lnTo>
                    <a:pt x="3" y="0"/>
                  </a:lnTo>
                  <a:lnTo>
                    <a:pt x="3" y="0"/>
                  </a:lnTo>
                  <a:lnTo>
                    <a:pt x="2" y="1"/>
                  </a:lnTo>
                  <a:lnTo>
                    <a:pt x="0" y="2"/>
                  </a:lnTo>
                  <a:lnTo>
                    <a:pt x="0" y="3"/>
                  </a:lnTo>
                  <a:lnTo>
                    <a:pt x="0" y="4"/>
                  </a:lnTo>
                  <a:lnTo>
                    <a:pt x="0" y="5"/>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367" name="Freeform 711"/>
            <p:cNvSpPr>
              <a:spLocks/>
            </p:cNvSpPr>
            <p:nvPr/>
          </p:nvSpPr>
          <p:spPr bwMode="auto">
            <a:xfrm>
              <a:off x="3143" y="1814"/>
              <a:ext cx="7" cy="6"/>
            </a:xfrm>
            <a:custGeom>
              <a:avLst/>
              <a:gdLst/>
              <a:ahLst/>
              <a:cxnLst>
                <a:cxn ang="0">
                  <a:pos x="3" y="6"/>
                </a:cxn>
                <a:cxn ang="0">
                  <a:pos x="4" y="6"/>
                </a:cxn>
                <a:cxn ang="0">
                  <a:pos x="6" y="5"/>
                </a:cxn>
                <a:cxn ang="0">
                  <a:pos x="7" y="4"/>
                </a:cxn>
                <a:cxn ang="0">
                  <a:pos x="7" y="3"/>
                </a:cxn>
                <a:cxn ang="0">
                  <a:pos x="6" y="2"/>
                </a:cxn>
                <a:cxn ang="0">
                  <a:pos x="4" y="1"/>
                </a:cxn>
                <a:cxn ang="0">
                  <a:pos x="3" y="0"/>
                </a:cxn>
                <a:cxn ang="0">
                  <a:pos x="2" y="0"/>
                </a:cxn>
                <a:cxn ang="0">
                  <a:pos x="2" y="0"/>
                </a:cxn>
                <a:cxn ang="0">
                  <a:pos x="1" y="1"/>
                </a:cxn>
                <a:cxn ang="0">
                  <a:pos x="0" y="2"/>
                </a:cxn>
                <a:cxn ang="0">
                  <a:pos x="0" y="3"/>
                </a:cxn>
                <a:cxn ang="0">
                  <a:pos x="0" y="4"/>
                </a:cxn>
                <a:cxn ang="0">
                  <a:pos x="0" y="5"/>
                </a:cxn>
                <a:cxn ang="0">
                  <a:pos x="1" y="6"/>
                </a:cxn>
                <a:cxn ang="0">
                  <a:pos x="2" y="6"/>
                </a:cxn>
                <a:cxn ang="0">
                  <a:pos x="3" y="6"/>
                </a:cxn>
              </a:cxnLst>
              <a:rect l="0" t="0" r="r" b="b"/>
              <a:pathLst>
                <a:path w="7" h="6">
                  <a:moveTo>
                    <a:pt x="3" y="6"/>
                  </a:moveTo>
                  <a:lnTo>
                    <a:pt x="4" y="6"/>
                  </a:lnTo>
                  <a:lnTo>
                    <a:pt x="6" y="5"/>
                  </a:lnTo>
                  <a:lnTo>
                    <a:pt x="7" y="4"/>
                  </a:lnTo>
                  <a:lnTo>
                    <a:pt x="7" y="3"/>
                  </a:lnTo>
                  <a:lnTo>
                    <a:pt x="6" y="2"/>
                  </a:lnTo>
                  <a:lnTo>
                    <a:pt x="4" y="1"/>
                  </a:lnTo>
                  <a:lnTo>
                    <a:pt x="3" y="0"/>
                  </a:lnTo>
                  <a:lnTo>
                    <a:pt x="2" y="0"/>
                  </a:lnTo>
                  <a:lnTo>
                    <a:pt x="2" y="0"/>
                  </a:lnTo>
                  <a:lnTo>
                    <a:pt x="1" y="1"/>
                  </a:lnTo>
                  <a:lnTo>
                    <a:pt x="0" y="2"/>
                  </a:lnTo>
                  <a:lnTo>
                    <a:pt x="0" y="3"/>
                  </a:lnTo>
                  <a:lnTo>
                    <a:pt x="0" y="4"/>
                  </a:lnTo>
                  <a:lnTo>
                    <a:pt x="0" y="5"/>
                  </a:lnTo>
                  <a:lnTo>
                    <a:pt x="1" y="6"/>
                  </a:lnTo>
                  <a:lnTo>
                    <a:pt x="2" y="6"/>
                  </a:lnTo>
                  <a:lnTo>
                    <a:pt x="3" y="6"/>
                  </a:lnTo>
                  <a:close/>
                </a:path>
              </a:pathLst>
            </a:custGeom>
            <a:solidFill>
              <a:srgbClr val="000000"/>
            </a:solidFill>
            <a:ln w="9525">
              <a:noFill/>
              <a:round/>
              <a:headEnd/>
              <a:tailEnd/>
            </a:ln>
          </p:spPr>
          <p:txBody>
            <a:bodyPr/>
            <a:lstStyle/>
            <a:p>
              <a:endParaRPr lang="en-US"/>
            </a:p>
          </p:txBody>
        </p:sp>
        <p:sp>
          <p:nvSpPr>
            <p:cNvPr id="327368" name="Freeform 712"/>
            <p:cNvSpPr>
              <a:spLocks/>
            </p:cNvSpPr>
            <p:nvPr/>
          </p:nvSpPr>
          <p:spPr bwMode="auto">
            <a:xfrm>
              <a:off x="3129" y="1816"/>
              <a:ext cx="7" cy="6"/>
            </a:xfrm>
            <a:custGeom>
              <a:avLst/>
              <a:gdLst/>
              <a:ahLst/>
              <a:cxnLst>
                <a:cxn ang="0">
                  <a:pos x="5" y="6"/>
                </a:cxn>
                <a:cxn ang="0">
                  <a:pos x="6" y="5"/>
                </a:cxn>
                <a:cxn ang="0">
                  <a:pos x="7" y="4"/>
                </a:cxn>
                <a:cxn ang="0">
                  <a:pos x="7" y="3"/>
                </a:cxn>
                <a:cxn ang="0">
                  <a:pos x="7" y="2"/>
                </a:cxn>
                <a:cxn ang="0">
                  <a:pos x="7" y="1"/>
                </a:cxn>
                <a:cxn ang="0">
                  <a:pos x="6" y="0"/>
                </a:cxn>
                <a:cxn ang="0">
                  <a:pos x="5" y="0"/>
                </a:cxn>
                <a:cxn ang="0">
                  <a:pos x="4" y="0"/>
                </a:cxn>
                <a:cxn ang="0">
                  <a:pos x="4" y="0"/>
                </a:cxn>
                <a:cxn ang="0">
                  <a:pos x="3" y="0"/>
                </a:cxn>
                <a:cxn ang="0">
                  <a:pos x="1" y="1"/>
                </a:cxn>
                <a:cxn ang="0">
                  <a:pos x="0" y="2"/>
                </a:cxn>
                <a:cxn ang="0">
                  <a:pos x="0" y="3"/>
                </a:cxn>
                <a:cxn ang="0">
                  <a:pos x="1" y="4"/>
                </a:cxn>
                <a:cxn ang="0">
                  <a:pos x="3" y="5"/>
                </a:cxn>
                <a:cxn ang="0">
                  <a:pos x="4" y="6"/>
                </a:cxn>
                <a:cxn ang="0">
                  <a:pos x="5" y="6"/>
                </a:cxn>
              </a:cxnLst>
              <a:rect l="0" t="0" r="r" b="b"/>
              <a:pathLst>
                <a:path w="7" h="6">
                  <a:moveTo>
                    <a:pt x="5" y="6"/>
                  </a:moveTo>
                  <a:lnTo>
                    <a:pt x="6" y="5"/>
                  </a:lnTo>
                  <a:lnTo>
                    <a:pt x="7" y="4"/>
                  </a:lnTo>
                  <a:lnTo>
                    <a:pt x="7" y="3"/>
                  </a:lnTo>
                  <a:lnTo>
                    <a:pt x="7" y="2"/>
                  </a:lnTo>
                  <a:lnTo>
                    <a:pt x="7" y="1"/>
                  </a:lnTo>
                  <a:lnTo>
                    <a:pt x="6" y="0"/>
                  </a:lnTo>
                  <a:lnTo>
                    <a:pt x="5" y="0"/>
                  </a:lnTo>
                  <a:lnTo>
                    <a:pt x="4" y="0"/>
                  </a:lnTo>
                  <a:lnTo>
                    <a:pt x="4" y="0"/>
                  </a:lnTo>
                  <a:lnTo>
                    <a:pt x="3" y="0"/>
                  </a:lnTo>
                  <a:lnTo>
                    <a:pt x="1" y="1"/>
                  </a:lnTo>
                  <a:lnTo>
                    <a:pt x="0" y="2"/>
                  </a:lnTo>
                  <a:lnTo>
                    <a:pt x="0" y="3"/>
                  </a:lnTo>
                  <a:lnTo>
                    <a:pt x="1" y="4"/>
                  </a:lnTo>
                  <a:lnTo>
                    <a:pt x="3" y="5"/>
                  </a:lnTo>
                  <a:lnTo>
                    <a:pt x="4" y="6"/>
                  </a:lnTo>
                  <a:lnTo>
                    <a:pt x="5" y="6"/>
                  </a:lnTo>
                  <a:close/>
                </a:path>
              </a:pathLst>
            </a:custGeom>
            <a:solidFill>
              <a:srgbClr val="000000"/>
            </a:solidFill>
            <a:ln w="9525">
              <a:noFill/>
              <a:round/>
              <a:headEnd/>
              <a:tailEnd/>
            </a:ln>
          </p:spPr>
          <p:txBody>
            <a:bodyPr/>
            <a:lstStyle/>
            <a:p>
              <a:endParaRPr lang="en-US"/>
            </a:p>
          </p:txBody>
        </p:sp>
        <p:sp>
          <p:nvSpPr>
            <p:cNvPr id="327369" name="Freeform 713"/>
            <p:cNvSpPr>
              <a:spLocks/>
            </p:cNvSpPr>
            <p:nvPr/>
          </p:nvSpPr>
          <p:spPr bwMode="auto">
            <a:xfrm>
              <a:off x="3116" y="1818"/>
              <a:ext cx="7" cy="6"/>
            </a:xfrm>
            <a:custGeom>
              <a:avLst/>
              <a:gdLst/>
              <a:ahLst/>
              <a:cxnLst>
                <a:cxn ang="0">
                  <a:pos x="4" y="6"/>
                </a:cxn>
                <a:cxn ang="0">
                  <a:pos x="5" y="5"/>
                </a:cxn>
                <a:cxn ang="0">
                  <a:pos x="7" y="4"/>
                </a:cxn>
                <a:cxn ang="0">
                  <a:pos x="7" y="3"/>
                </a:cxn>
                <a:cxn ang="0">
                  <a:pos x="7" y="2"/>
                </a:cxn>
                <a:cxn ang="0">
                  <a:pos x="7" y="1"/>
                </a:cxn>
                <a:cxn ang="0">
                  <a:pos x="5" y="0"/>
                </a:cxn>
                <a:cxn ang="0">
                  <a:pos x="4" y="0"/>
                </a:cxn>
                <a:cxn ang="0">
                  <a:pos x="3" y="0"/>
                </a:cxn>
                <a:cxn ang="0">
                  <a:pos x="3" y="0"/>
                </a:cxn>
                <a:cxn ang="0">
                  <a:pos x="2" y="0"/>
                </a:cxn>
                <a:cxn ang="0">
                  <a:pos x="1" y="1"/>
                </a:cxn>
                <a:cxn ang="0">
                  <a:pos x="0" y="2"/>
                </a:cxn>
                <a:cxn ang="0">
                  <a:pos x="0" y="3"/>
                </a:cxn>
                <a:cxn ang="0">
                  <a:pos x="1" y="4"/>
                </a:cxn>
                <a:cxn ang="0">
                  <a:pos x="2" y="5"/>
                </a:cxn>
                <a:cxn ang="0">
                  <a:pos x="3" y="6"/>
                </a:cxn>
                <a:cxn ang="0">
                  <a:pos x="4" y="6"/>
                </a:cxn>
              </a:cxnLst>
              <a:rect l="0" t="0" r="r" b="b"/>
              <a:pathLst>
                <a:path w="7" h="6">
                  <a:moveTo>
                    <a:pt x="4" y="6"/>
                  </a:moveTo>
                  <a:lnTo>
                    <a:pt x="5" y="5"/>
                  </a:lnTo>
                  <a:lnTo>
                    <a:pt x="7" y="4"/>
                  </a:lnTo>
                  <a:lnTo>
                    <a:pt x="7" y="3"/>
                  </a:lnTo>
                  <a:lnTo>
                    <a:pt x="7" y="2"/>
                  </a:lnTo>
                  <a:lnTo>
                    <a:pt x="7" y="1"/>
                  </a:lnTo>
                  <a:lnTo>
                    <a:pt x="5" y="0"/>
                  </a:lnTo>
                  <a:lnTo>
                    <a:pt x="4" y="0"/>
                  </a:lnTo>
                  <a:lnTo>
                    <a:pt x="3" y="0"/>
                  </a:lnTo>
                  <a:lnTo>
                    <a:pt x="3" y="0"/>
                  </a:lnTo>
                  <a:lnTo>
                    <a:pt x="2" y="0"/>
                  </a:lnTo>
                  <a:lnTo>
                    <a:pt x="1" y="1"/>
                  </a:lnTo>
                  <a:lnTo>
                    <a:pt x="0" y="2"/>
                  </a:lnTo>
                  <a:lnTo>
                    <a:pt x="0" y="3"/>
                  </a:lnTo>
                  <a:lnTo>
                    <a:pt x="1" y="4"/>
                  </a:lnTo>
                  <a:lnTo>
                    <a:pt x="2" y="5"/>
                  </a:lnTo>
                  <a:lnTo>
                    <a:pt x="3" y="6"/>
                  </a:lnTo>
                  <a:lnTo>
                    <a:pt x="4" y="6"/>
                  </a:lnTo>
                  <a:close/>
                </a:path>
              </a:pathLst>
            </a:custGeom>
            <a:solidFill>
              <a:srgbClr val="000000"/>
            </a:solidFill>
            <a:ln w="9525">
              <a:noFill/>
              <a:round/>
              <a:headEnd/>
              <a:tailEnd/>
            </a:ln>
          </p:spPr>
          <p:txBody>
            <a:bodyPr/>
            <a:lstStyle/>
            <a:p>
              <a:endParaRPr lang="en-US"/>
            </a:p>
          </p:txBody>
        </p:sp>
        <p:sp>
          <p:nvSpPr>
            <p:cNvPr id="327370" name="Freeform 714"/>
            <p:cNvSpPr>
              <a:spLocks/>
            </p:cNvSpPr>
            <p:nvPr/>
          </p:nvSpPr>
          <p:spPr bwMode="auto">
            <a:xfrm>
              <a:off x="3102" y="1820"/>
              <a:ext cx="7" cy="6"/>
            </a:xfrm>
            <a:custGeom>
              <a:avLst/>
              <a:gdLst/>
              <a:ahLst/>
              <a:cxnLst>
                <a:cxn ang="0">
                  <a:pos x="5" y="6"/>
                </a:cxn>
                <a:cxn ang="0">
                  <a:pos x="6" y="5"/>
                </a:cxn>
                <a:cxn ang="0">
                  <a:pos x="7" y="4"/>
                </a:cxn>
                <a:cxn ang="0">
                  <a:pos x="7" y="3"/>
                </a:cxn>
                <a:cxn ang="0">
                  <a:pos x="7" y="2"/>
                </a:cxn>
                <a:cxn ang="0">
                  <a:pos x="7" y="1"/>
                </a:cxn>
                <a:cxn ang="0">
                  <a:pos x="6" y="0"/>
                </a:cxn>
                <a:cxn ang="0">
                  <a:pos x="5" y="0"/>
                </a:cxn>
                <a:cxn ang="0">
                  <a:pos x="4" y="0"/>
                </a:cxn>
                <a:cxn ang="0">
                  <a:pos x="4" y="0"/>
                </a:cxn>
                <a:cxn ang="0">
                  <a:pos x="2" y="0"/>
                </a:cxn>
                <a:cxn ang="0">
                  <a:pos x="1" y="1"/>
                </a:cxn>
                <a:cxn ang="0">
                  <a:pos x="0" y="2"/>
                </a:cxn>
                <a:cxn ang="0">
                  <a:pos x="0" y="3"/>
                </a:cxn>
                <a:cxn ang="0">
                  <a:pos x="1" y="4"/>
                </a:cxn>
                <a:cxn ang="0">
                  <a:pos x="2" y="5"/>
                </a:cxn>
                <a:cxn ang="0">
                  <a:pos x="4" y="6"/>
                </a:cxn>
                <a:cxn ang="0">
                  <a:pos x="5" y="6"/>
                </a:cxn>
              </a:cxnLst>
              <a:rect l="0" t="0" r="r" b="b"/>
              <a:pathLst>
                <a:path w="7" h="6">
                  <a:moveTo>
                    <a:pt x="5" y="6"/>
                  </a:moveTo>
                  <a:lnTo>
                    <a:pt x="6" y="5"/>
                  </a:lnTo>
                  <a:lnTo>
                    <a:pt x="7" y="4"/>
                  </a:lnTo>
                  <a:lnTo>
                    <a:pt x="7" y="3"/>
                  </a:lnTo>
                  <a:lnTo>
                    <a:pt x="7" y="2"/>
                  </a:lnTo>
                  <a:lnTo>
                    <a:pt x="7" y="1"/>
                  </a:lnTo>
                  <a:lnTo>
                    <a:pt x="6" y="0"/>
                  </a:lnTo>
                  <a:lnTo>
                    <a:pt x="5" y="0"/>
                  </a:lnTo>
                  <a:lnTo>
                    <a:pt x="4" y="0"/>
                  </a:lnTo>
                  <a:lnTo>
                    <a:pt x="4" y="0"/>
                  </a:lnTo>
                  <a:lnTo>
                    <a:pt x="2" y="0"/>
                  </a:lnTo>
                  <a:lnTo>
                    <a:pt x="1" y="1"/>
                  </a:lnTo>
                  <a:lnTo>
                    <a:pt x="0" y="2"/>
                  </a:lnTo>
                  <a:lnTo>
                    <a:pt x="0" y="3"/>
                  </a:lnTo>
                  <a:lnTo>
                    <a:pt x="1" y="4"/>
                  </a:lnTo>
                  <a:lnTo>
                    <a:pt x="2" y="5"/>
                  </a:lnTo>
                  <a:lnTo>
                    <a:pt x="4" y="6"/>
                  </a:lnTo>
                  <a:lnTo>
                    <a:pt x="5" y="6"/>
                  </a:lnTo>
                  <a:close/>
                </a:path>
              </a:pathLst>
            </a:custGeom>
            <a:solidFill>
              <a:srgbClr val="000000"/>
            </a:solidFill>
            <a:ln w="9525">
              <a:noFill/>
              <a:round/>
              <a:headEnd/>
              <a:tailEnd/>
            </a:ln>
          </p:spPr>
          <p:txBody>
            <a:bodyPr/>
            <a:lstStyle/>
            <a:p>
              <a:endParaRPr lang="en-US"/>
            </a:p>
          </p:txBody>
        </p:sp>
        <p:sp>
          <p:nvSpPr>
            <p:cNvPr id="327371" name="Freeform 715"/>
            <p:cNvSpPr>
              <a:spLocks/>
            </p:cNvSpPr>
            <p:nvPr/>
          </p:nvSpPr>
          <p:spPr bwMode="auto">
            <a:xfrm>
              <a:off x="3090" y="1822"/>
              <a:ext cx="7" cy="7"/>
            </a:xfrm>
            <a:custGeom>
              <a:avLst/>
              <a:gdLst/>
              <a:ahLst/>
              <a:cxnLst>
                <a:cxn ang="0">
                  <a:pos x="3" y="7"/>
                </a:cxn>
                <a:cxn ang="0">
                  <a:pos x="4" y="5"/>
                </a:cxn>
                <a:cxn ang="0">
                  <a:pos x="5" y="4"/>
                </a:cxn>
                <a:cxn ang="0">
                  <a:pos x="7" y="3"/>
                </a:cxn>
                <a:cxn ang="0">
                  <a:pos x="7" y="2"/>
                </a:cxn>
                <a:cxn ang="0">
                  <a:pos x="5" y="1"/>
                </a:cxn>
                <a:cxn ang="0">
                  <a:pos x="4" y="0"/>
                </a:cxn>
                <a:cxn ang="0">
                  <a:pos x="3" y="0"/>
                </a:cxn>
                <a:cxn ang="0">
                  <a:pos x="2" y="0"/>
                </a:cxn>
                <a:cxn ang="0">
                  <a:pos x="2" y="0"/>
                </a:cxn>
                <a:cxn ang="0">
                  <a:pos x="1" y="0"/>
                </a:cxn>
                <a:cxn ang="0">
                  <a:pos x="0" y="1"/>
                </a:cxn>
                <a:cxn ang="0">
                  <a:pos x="0" y="2"/>
                </a:cxn>
                <a:cxn ang="0">
                  <a:pos x="0" y="3"/>
                </a:cxn>
                <a:cxn ang="0">
                  <a:pos x="0" y="4"/>
                </a:cxn>
                <a:cxn ang="0">
                  <a:pos x="1" y="5"/>
                </a:cxn>
                <a:cxn ang="0">
                  <a:pos x="2" y="7"/>
                </a:cxn>
                <a:cxn ang="0">
                  <a:pos x="3" y="7"/>
                </a:cxn>
              </a:cxnLst>
              <a:rect l="0" t="0" r="r" b="b"/>
              <a:pathLst>
                <a:path w="7" h="7">
                  <a:moveTo>
                    <a:pt x="3" y="7"/>
                  </a:moveTo>
                  <a:lnTo>
                    <a:pt x="4" y="5"/>
                  </a:lnTo>
                  <a:lnTo>
                    <a:pt x="5" y="4"/>
                  </a:lnTo>
                  <a:lnTo>
                    <a:pt x="7" y="3"/>
                  </a:lnTo>
                  <a:lnTo>
                    <a:pt x="7" y="2"/>
                  </a:lnTo>
                  <a:lnTo>
                    <a:pt x="5" y="1"/>
                  </a:lnTo>
                  <a:lnTo>
                    <a:pt x="4" y="0"/>
                  </a:lnTo>
                  <a:lnTo>
                    <a:pt x="3" y="0"/>
                  </a:lnTo>
                  <a:lnTo>
                    <a:pt x="2" y="0"/>
                  </a:lnTo>
                  <a:lnTo>
                    <a:pt x="2" y="0"/>
                  </a:lnTo>
                  <a:lnTo>
                    <a:pt x="1" y="0"/>
                  </a:lnTo>
                  <a:lnTo>
                    <a:pt x="0" y="1"/>
                  </a:lnTo>
                  <a:lnTo>
                    <a:pt x="0" y="2"/>
                  </a:lnTo>
                  <a:lnTo>
                    <a:pt x="0" y="3"/>
                  </a:lnTo>
                  <a:lnTo>
                    <a:pt x="0" y="4"/>
                  </a:lnTo>
                  <a:lnTo>
                    <a:pt x="1" y="5"/>
                  </a:lnTo>
                  <a:lnTo>
                    <a:pt x="2" y="7"/>
                  </a:lnTo>
                  <a:lnTo>
                    <a:pt x="3" y="7"/>
                  </a:lnTo>
                  <a:close/>
                </a:path>
              </a:pathLst>
            </a:custGeom>
            <a:solidFill>
              <a:srgbClr val="000000"/>
            </a:solidFill>
            <a:ln w="9525">
              <a:noFill/>
              <a:round/>
              <a:headEnd/>
              <a:tailEnd/>
            </a:ln>
          </p:spPr>
          <p:txBody>
            <a:bodyPr/>
            <a:lstStyle/>
            <a:p>
              <a:endParaRPr lang="en-US"/>
            </a:p>
          </p:txBody>
        </p:sp>
        <p:sp>
          <p:nvSpPr>
            <p:cNvPr id="327372" name="Freeform 716"/>
            <p:cNvSpPr>
              <a:spLocks/>
            </p:cNvSpPr>
            <p:nvPr/>
          </p:nvSpPr>
          <p:spPr bwMode="auto">
            <a:xfrm>
              <a:off x="3076" y="1824"/>
              <a:ext cx="7" cy="7"/>
            </a:xfrm>
            <a:custGeom>
              <a:avLst/>
              <a:gdLst/>
              <a:ahLst/>
              <a:cxnLst>
                <a:cxn ang="0">
                  <a:pos x="4" y="7"/>
                </a:cxn>
                <a:cxn ang="0">
                  <a:pos x="5" y="6"/>
                </a:cxn>
                <a:cxn ang="0">
                  <a:pos x="6" y="5"/>
                </a:cxn>
                <a:cxn ang="0">
                  <a:pos x="7" y="3"/>
                </a:cxn>
                <a:cxn ang="0">
                  <a:pos x="7" y="2"/>
                </a:cxn>
                <a:cxn ang="0">
                  <a:pos x="6" y="1"/>
                </a:cxn>
                <a:cxn ang="0">
                  <a:pos x="5" y="0"/>
                </a:cxn>
                <a:cxn ang="0">
                  <a:pos x="4" y="0"/>
                </a:cxn>
                <a:cxn ang="0">
                  <a:pos x="2" y="0"/>
                </a:cxn>
                <a:cxn ang="0">
                  <a:pos x="2" y="0"/>
                </a:cxn>
                <a:cxn ang="0">
                  <a:pos x="1" y="0"/>
                </a:cxn>
                <a:cxn ang="0">
                  <a:pos x="0" y="1"/>
                </a:cxn>
                <a:cxn ang="0">
                  <a:pos x="0" y="2"/>
                </a:cxn>
                <a:cxn ang="0">
                  <a:pos x="0" y="3"/>
                </a:cxn>
                <a:cxn ang="0">
                  <a:pos x="0" y="5"/>
                </a:cxn>
                <a:cxn ang="0">
                  <a:pos x="1" y="6"/>
                </a:cxn>
                <a:cxn ang="0">
                  <a:pos x="2" y="7"/>
                </a:cxn>
                <a:cxn ang="0">
                  <a:pos x="4" y="7"/>
                </a:cxn>
              </a:cxnLst>
              <a:rect l="0" t="0" r="r" b="b"/>
              <a:pathLst>
                <a:path w="7" h="7">
                  <a:moveTo>
                    <a:pt x="4" y="7"/>
                  </a:moveTo>
                  <a:lnTo>
                    <a:pt x="5" y="6"/>
                  </a:lnTo>
                  <a:lnTo>
                    <a:pt x="6" y="5"/>
                  </a:lnTo>
                  <a:lnTo>
                    <a:pt x="7" y="3"/>
                  </a:lnTo>
                  <a:lnTo>
                    <a:pt x="7" y="2"/>
                  </a:lnTo>
                  <a:lnTo>
                    <a:pt x="6" y="1"/>
                  </a:lnTo>
                  <a:lnTo>
                    <a:pt x="5" y="0"/>
                  </a:lnTo>
                  <a:lnTo>
                    <a:pt x="4" y="0"/>
                  </a:lnTo>
                  <a:lnTo>
                    <a:pt x="2" y="0"/>
                  </a:lnTo>
                  <a:lnTo>
                    <a:pt x="2" y="0"/>
                  </a:lnTo>
                  <a:lnTo>
                    <a:pt x="1" y="0"/>
                  </a:lnTo>
                  <a:lnTo>
                    <a:pt x="0" y="1"/>
                  </a:lnTo>
                  <a:lnTo>
                    <a:pt x="0" y="2"/>
                  </a:lnTo>
                  <a:lnTo>
                    <a:pt x="0" y="3"/>
                  </a:lnTo>
                  <a:lnTo>
                    <a:pt x="0" y="5"/>
                  </a:lnTo>
                  <a:lnTo>
                    <a:pt x="1" y="6"/>
                  </a:lnTo>
                  <a:lnTo>
                    <a:pt x="2" y="7"/>
                  </a:lnTo>
                  <a:lnTo>
                    <a:pt x="4" y="7"/>
                  </a:lnTo>
                  <a:close/>
                </a:path>
              </a:pathLst>
            </a:custGeom>
            <a:solidFill>
              <a:srgbClr val="000000"/>
            </a:solidFill>
            <a:ln w="9525">
              <a:noFill/>
              <a:round/>
              <a:headEnd/>
              <a:tailEnd/>
            </a:ln>
          </p:spPr>
          <p:txBody>
            <a:bodyPr/>
            <a:lstStyle/>
            <a:p>
              <a:endParaRPr lang="en-US"/>
            </a:p>
          </p:txBody>
        </p:sp>
        <p:sp>
          <p:nvSpPr>
            <p:cNvPr id="327373" name="Freeform 717"/>
            <p:cNvSpPr>
              <a:spLocks/>
            </p:cNvSpPr>
            <p:nvPr/>
          </p:nvSpPr>
          <p:spPr bwMode="auto">
            <a:xfrm>
              <a:off x="3063" y="1826"/>
              <a:ext cx="6" cy="7"/>
            </a:xfrm>
            <a:custGeom>
              <a:avLst/>
              <a:gdLst/>
              <a:ahLst/>
              <a:cxnLst>
                <a:cxn ang="0">
                  <a:pos x="3" y="7"/>
                </a:cxn>
                <a:cxn ang="0">
                  <a:pos x="4" y="6"/>
                </a:cxn>
                <a:cxn ang="0">
                  <a:pos x="5" y="5"/>
                </a:cxn>
                <a:cxn ang="0">
                  <a:pos x="6" y="4"/>
                </a:cxn>
                <a:cxn ang="0">
                  <a:pos x="6" y="3"/>
                </a:cxn>
                <a:cxn ang="0">
                  <a:pos x="5" y="1"/>
                </a:cxn>
                <a:cxn ang="0">
                  <a:pos x="4" y="0"/>
                </a:cxn>
                <a:cxn ang="0">
                  <a:pos x="3" y="0"/>
                </a:cxn>
                <a:cxn ang="0">
                  <a:pos x="2" y="0"/>
                </a:cxn>
                <a:cxn ang="0">
                  <a:pos x="2" y="0"/>
                </a:cxn>
                <a:cxn ang="0">
                  <a:pos x="1" y="0"/>
                </a:cxn>
                <a:cxn ang="0">
                  <a:pos x="0" y="1"/>
                </a:cxn>
                <a:cxn ang="0">
                  <a:pos x="0" y="3"/>
                </a:cxn>
                <a:cxn ang="0">
                  <a:pos x="0" y="4"/>
                </a:cxn>
                <a:cxn ang="0">
                  <a:pos x="0" y="5"/>
                </a:cxn>
                <a:cxn ang="0">
                  <a:pos x="1" y="6"/>
                </a:cxn>
                <a:cxn ang="0">
                  <a:pos x="2" y="7"/>
                </a:cxn>
                <a:cxn ang="0">
                  <a:pos x="3" y="7"/>
                </a:cxn>
              </a:cxnLst>
              <a:rect l="0" t="0" r="r" b="b"/>
              <a:pathLst>
                <a:path w="6" h="7">
                  <a:moveTo>
                    <a:pt x="3" y="7"/>
                  </a:moveTo>
                  <a:lnTo>
                    <a:pt x="4" y="6"/>
                  </a:lnTo>
                  <a:lnTo>
                    <a:pt x="5" y="5"/>
                  </a:lnTo>
                  <a:lnTo>
                    <a:pt x="6" y="4"/>
                  </a:lnTo>
                  <a:lnTo>
                    <a:pt x="6" y="3"/>
                  </a:lnTo>
                  <a:lnTo>
                    <a:pt x="5" y="1"/>
                  </a:lnTo>
                  <a:lnTo>
                    <a:pt x="4" y="0"/>
                  </a:lnTo>
                  <a:lnTo>
                    <a:pt x="3" y="0"/>
                  </a:lnTo>
                  <a:lnTo>
                    <a:pt x="2" y="0"/>
                  </a:lnTo>
                  <a:lnTo>
                    <a:pt x="2" y="0"/>
                  </a:lnTo>
                  <a:lnTo>
                    <a:pt x="1" y="0"/>
                  </a:lnTo>
                  <a:lnTo>
                    <a:pt x="0" y="1"/>
                  </a:lnTo>
                  <a:lnTo>
                    <a:pt x="0" y="3"/>
                  </a:lnTo>
                  <a:lnTo>
                    <a:pt x="0" y="4"/>
                  </a:lnTo>
                  <a:lnTo>
                    <a:pt x="0" y="5"/>
                  </a:lnTo>
                  <a:lnTo>
                    <a:pt x="1" y="6"/>
                  </a:lnTo>
                  <a:lnTo>
                    <a:pt x="2" y="7"/>
                  </a:lnTo>
                  <a:lnTo>
                    <a:pt x="3" y="7"/>
                  </a:lnTo>
                  <a:close/>
                </a:path>
              </a:pathLst>
            </a:custGeom>
            <a:solidFill>
              <a:srgbClr val="000000"/>
            </a:solidFill>
            <a:ln w="9525">
              <a:noFill/>
              <a:round/>
              <a:headEnd/>
              <a:tailEnd/>
            </a:ln>
          </p:spPr>
          <p:txBody>
            <a:bodyPr/>
            <a:lstStyle/>
            <a:p>
              <a:endParaRPr lang="en-US"/>
            </a:p>
          </p:txBody>
        </p:sp>
        <p:sp>
          <p:nvSpPr>
            <p:cNvPr id="327374" name="Freeform 718"/>
            <p:cNvSpPr>
              <a:spLocks/>
            </p:cNvSpPr>
            <p:nvPr/>
          </p:nvSpPr>
          <p:spPr bwMode="auto">
            <a:xfrm>
              <a:off x="3049" y="1827"/>
              <a:ext cx="7" cy="7"/>
            </a:xfrm>
            <a:custGeom>
              <a:avLst/>
              <a:gdLst/>
              <a:ahLst/>
              <a:cxnLst>
                <a:cxn ang="0">
                  <a:pos x="5" y="7"/>
                </a:cxn>
                <a:cxn ang="0">
                  <a:pos x="6" y="7"/>
                </a:cxn>
                <a:cxn ang="0">
                  <a:pos x="7" y="6"/>
                </a:cxn>
                <a:cxn ang="0">
                  <a:pos x="7" y="5"/>
                </a:cxn>
                <a:cxn ang="0">
                  <a:pos x="7" y="4"/>
                </a:cxn>
                <a:cxn ang="0">
                  <a:pos x="7" y="3"/>
                </a:cxn>
                <a:cxn ang="0">
                  <a:pos x="6" y="2"/>
                </a:cxn>
                <a:cxn ang="0">
                  <a:pos x="5" y="0"/>
                </a:cxn>
                <a:cxn ang="0">
                  <a:pos x="3" y="0"/>
                </a:cxn>
                <a:cxn ang="0">
                  <a:pos x="3" y="0"/>
                </a:cxn>
                <a:cxn ang="0">
                  <a:pos x="2" y="2"/>
                </a:cxn>
                <a:cxn ang="0">
                  <a:pos x="1" y="3"/>
                </a:cxn>
                <a:cxn ang="0">
                  <a:pos x="0" y="4"/>
                </a:cxn>
                <a:cxn ang="0">
                  <a:pos x="0" y="5"/>
                </a:cxn>
                <a:cxn ang="0">
                  <a:pos x="1" y="6"/>
                </a:cxn>
                <a:cxn ang="0">
                  <a:pos x="2" y="7"/>
                </a:cxn>
                <a:cxn ang="0">
                  <a:pos x="3" y="7"/>
                </a:cxn>
                <a:cxn ang="0">
                  <a:pos x="5" y="7"/>
                </a:cxn>
              </a:cxnLst>
              <a:rect l="0" t="0" r="r" b="b"/>
              <a:pathLst>
                <a:path w="7" h="7">
                  <a:moveTo>
                    <a:pt x="5" y="7"/>
                  </a:moveTo>
                  <a:lnTo>
                    <a:pt x="6" y="7"/>
                  </a:lnTo>
                  <a:lnTo>
                    <a:pt x="7" y="6"/>
                  </a:lnTo>
                  <a:lnTo>
                    <a:pt x="7" y="5"/>
                  </a:lnTo>
                  <a:lnTo>
                    <a:pt x="7" y="4"/>
                  </a:lnTo>
                  <a:lnTo>
                    <a:pt x="7" y="3"/>
                  </a:lnTo>
                  <a:lnTo>
                    <a:pt x="6" y="2"/>
                  </a:lnTo>
                  <a:lnTo>
                    <a:pt x="5" y="0"/>
                  </a:lnTo>
                  <a:lnTo>
                    <a:pt x="3" y="0"/>
                  </a:lnTo>
                  <a:lnTo>
                    <a:pt x="3" y="0"/>
                  </a:lnTo>
                  <a:lnTo>
                    <a:pt x="2" y="2"/>
                  </a:lnTo>
                  <a:lnTo>
                    <a:pt x="1" y="3"/>
                  </a:lnTo>
                  <a:lnTo>
                    <a:pt x="0" y="4"/>
                  </a:lnTo>
                  <a:lnTo>
                    <a:pt x="0" y="5"/>
                  </a:lnTo>
                  <a:lnTo>
                    <a:pt x="1" y="6"/>
                  </a:lnTo>
                  <a:lnTo>
                    <a:pt x="2" y="7"/>
                  </a:lnTo>
                  <a:lnTo>
                    <a:pt x="3" y="7"/>
                  </a:lnTo>
                  <a:lnTo>
                    <a:pt x="5" y="7"/>
                  </a:lnTo>
                  <a:close/>
                </a:path>
              </a:pathLst>
            </a:custGeom>
            <a:solidFill>
              <a:srgbClr val="000000"/>
            </a:solidFill>
            <a:ln w="9525">
              <a:noFill/>
              <a:round/>
              <a:headEnd/>
              <a:tailEnd/>
            </a:ln>
          </p:spPr>
          <p:txBody>
            <a:bodyPr/>
            <a:lstStyle/>
            <a:p>
              <a:endParaRPr lang="en-US"/>
            </a:p>
          </p:txBody>
        </p:sp>
        <p:sp>
          <p:nvSpPr>
            <p:cNvPr id="327375" name="Freeform 719"/>
            <p:cNvSpPr>
              <a:spLocks/>
            </p:cNvSpPr>
            <p:nvPr/>
          </p:nvSpPr>
          <p:spPr bwMode="auto">
            <a:xfrm>
              <a:off x="3036" y="1830"/>
              <a:ext cx="6" cy="6"/>
            </a:xfrm>
            <a:custGeom>
              <a:avLst/>
              <a:gdLst/>
              <a:ahLst/>
              <a:cxnLst>
                <a:cxn ang="0">
                  <a:pos x="4" y="6"/>
                </a:cxn>
                <a:cxn ang="0">
                  <a:pos x="5" y="6"/>
                </a:cxn>
                <a:cxn ang="0">
                  <a:pos x="6" y="5"/>
                </a:cxn>
                <a:cxn ang="0">
                  <a:pos x="6" y="4"/>
                </a:cxn>
                <a:cxn ang="0">
                  <a:pos x="6" y="3"/>
                </a:cxn>
                <a:cxn ang="0">
                  <a:pos x="6" y="2"/>
                </a:cxn>
                <a:cxn ang="0">
                  <a:pos x="5" y="1"/>
                </a:cxn>
                <a:cxn ang="0">
                  <a:pos x="4" y="0"/>
                </a:cxn>
                <a:cxn ang="0">
                  <a:pos x="3" y="0"/>
                </a:cxn>
                <a:cxn ang="0">
                  <a:pos x="3" y="0"/>
                </a:cxn>
                <a:cxn ang="0">
                  <a:pos x="2" y="1"/>
                </a:cxn>
                <a:cxn ang="0">
                  <a:pos x="1" y="2"/>
                </a:cxn>
                <a:cxn ang="0">
                  <a:pos x="0" y="3"/>
                </a:cxn>
                <a:cxn ang="0">
                  <a:pos x="0" y="4"/>
                </a:cxn>
                <a:cxn ang="0">
                  <a:pos x="1" y="5"/>
                </a:cxn>
                <a:cxn ang="0">
                  <a:pos x="2" y="6"/>
                </a:cxn>
                <a:cxn ang="0">
                  <a:pos x="3" y="6"/>
                </a:cxn>
                <a:cxn ang="0">
                  <a:pos x="4" y="6"/>
                </a:cxn>
              </a:cxnLst>
              <a:rect l="0" t="0" r="r" b="b"/>
              <a:pathLst>
                <a:path w="6" h="6">
                  <a:moveTo>
                    <a:pt x="4" y="6"/>
                  </a:moveTo>
                  <a:lnTo>
                    <a:pt x="5" y="6"/>
                  </a:lnTo>
                  <a:lnTo>
                    <a:pt x="6" y="5"/>
                  </a:lnTo>
                  <a:lnTo>
                    <a:pt x="6" y="4"/>
                  </a:lnTo>
                  <a:lnTo>
                    <a:pt x="6" y="3"/>
                  </a:lnTo>
                  <a:lnTo>
                    <a:pt x="6" y="2"/>
                  </a:lnTo>
                  <a:lnTo>
                    <a:pt x="5" y="1"/>
                  </a:lnTo>
                  <a:lnTo>
                    <a:pt x="4" y="0"/>
                  </a:lnTo>
                  <a:lnTo>
                    <a:pt x="3" y="0"/>
                  </a:lnTo>
                  <a:lnTo>
                    <a:pt x="3" y="0"/>
                  </a:lnTo>
                  <a:lnTo>
                    <a:pt x="2" y="1"/>
                  </a:lnTo>
                  <a:lnTo>
                    <a:pt x="1" y="2"/>
                  </a:lnTo>
                  <a:lnTo>
                    <a:pt x="0" y="3"/>
                  </a:lnTo>
                  <a:lnTo>
                    <a:pt x="0" y="4"/>
                  </a:lnTo>
                  <a:lnTo>
                    <a:pt x="1" y="5"/>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376" name="Freeform 720"/>
            <p:cNvSpPr>
              <a:spLocks/>
            </p:cNvSpPr>
            <p:nvPr/>
          </p:nvSpPr>
          <p:spPr bwMode="auto">
            <a:xfrm>
              <a:off x="3022" y="1832"/>
              <a:ext cx="7" cy="6"/>
            </a:xfrm>
            <a:custGeom>
              <a:avLst/>
              <a:gdLst/>
              <a:ahLst/>
              <a:cxnLst>
                <a:cxn ang="0">
                  <a:pos x="5" y="6"/>
                </a:cxn>
                <a:cxn ang="0">
                  <a:pos x="6" y="6"/>
                </a:cxn>
                <a:cxn ang="0">
                  <a:pos x="7" y="5"/>
                </a:cxn>
                <a:cxn ang="0">
                  <a:pos x="7" y="4"/>
                </a:cxn>
                <a:cxn ang="0">
                  <a:pos x="7" y="3"/>
                </a:cxn>
                <a:cxn ang="0">
                  <a:pos x="7" y="2"/>
                </a:cxn>
                <a:cxn ang="0">
                  <a:pos x="6" y="1"/>
                </a:cxn>
                <a:cxn ang="0">
                  <a:pos x="5" y="0"/>
                </a:cxn>
                <a:cxn ang="0">
                  <a:pos x="3" y="0"/>
                </a:cxn>
                <a:cxn ang="0">
                  <a:pos x="3" y="0"/>
                </a:cxn>
                <a:cxn ang="0">
                  <a:pos x="2" y="1"/>
                </a:cxn>
                <a:cxn ang="0">
                  <a:pos x="1" y="2"/>
                </a:cxn>
                <a:cxn ang="0">
                  <a:pos x="0" y="3"/>
                </a:cxn>
                <a:cxn ang="0">
                  <a:pos x="0" y="4"/>
                </a:cxn>
                <a:cxn ang="0">
                  <a:pos x="1" y="5"/>
                </a:cxn>
                <a:cxn ang="0">
                  <a:pos x="2" y="6"/>
                </a:cxn>
                <a:cxn ang="0">
                  <a:pos x="3" y="6"/>
                </a:cxn>
                <a:cxn ang="0">
                  <a:pos x="5" y="6"/>
                </a:cxn>
              </a:cxnLst>
              <a:rect l="0" t="0" r="r" b="b"/>
              <a:pathLst>
                <a:path w="7" h="6">
                  <a:moveTo>
                    <a:pt x="5" y="6"/>
                  </a:moveTo>
                  <a:lnTo>
                    <a:pt x="6" y="6"/>
                  </a:lnTo>
                  <a:lnTo>
                    <a:pt x="7" y="5"/>
                  </a:lnTo>
                  <a:lnTo>
                    <a:pt x="7" y="4"/>
                  </a:lnTo>
                  <a:lnTo>
                    <a:pt x="7" y="3"/>
                  </a:lnTo>
                  <a:lnTo>
                    <a:pt x="7" y="2"/>
                  </a:lnTo>
                  <a:lnTo>
                    <a:pt x="6" y="1"/>
                  </a:lnTo>
                  <a:lnTo>
                    <a:pt x="5" y="0"/>
                  </a:lnTo>
                  <a:lnTo>
                    <a:pt x="3" y="0"/>
                  </a:lnTo>
                  <a:lnTo>
                    <a:pt x="3" y="0"/>
                  </a:lnTo>
                  <a:lnTo>
                    <a:pt x="2" y="1"/>
                  </a:lnTo>
                  <a:lnTo>
                    <a:pt x="1" y="2"/>
                  </a:lnTo>
                  <a:lnTo>
                    <a:pt x="0" y="3"/>
                  </a:lnTo>
                  <a:lnTo>
                    <a:pt x="0" y="4"/>
                  </a:lnTo>
                  <a:lnTo>
                    <a:pt x="1" y="5"/>
                  </a:lnTo>
                  <a:lnTo>
                    <a:pt x="2" y="6"/>
                  </a:lnTo>
                  <a:lnTo>
                    <a:pt x="3" y="6"/>
                  </a:lnTo>
                  <a:lnTo>
                    <a:pt x="5" y="6"/>
                  </a:lnTo>
                  <a:close/>
                </a:path>
              </a:pathLst>
            </a:custGeom>
            <a:solidFill>
              <a:srgbClr val="000000"/>
            </a:solidFill>
            <a:ln w="9525">
              <a:noFill/>
              <a:round/>
              <a:headEnd/>
              <a:tailEnd/>
            </a:ln>
          </p:spPr>
          <p:txBody>
            <a:bodyPr/>
            <a:lstStyle/>
            <a:p>
              <a:endParaRPr lang="en-US"/>
            </a:p>
          </p:txBody>
        </p:sp>
        <p:sp>
          <p:nvSpPr>
            <p:cNvPr id="327377" name="Freeform 721"/>
            <p:cNvSpPr>
              <a:spLocks/>
            </p:cNvSpPr>
            <p:nvPr/>
          </p:nvSpPr>
          <p:spPr bwMode="auto">
            <a:xfrm>
              <a:off x="3008" y="1834"/>
              <a:ext cx="7" cy="6"/>
            </a:xfrm>
            <a:custGeom>
              <a:avLst/>
              <a:gdLst/>
              <a:ahLst/>
              <a:cxnLst>
                <a:cxn ang="0">
                  <a:pos x="5" y="6"/>
                </a:cxn>
                <a:cxn ang="0">
                  <a:pos x="6" y="6"/>
                </a:cxn>
                <a:cxn ang="0">
                  <a:pos x="7" y="5"/>
                </a:cxn>
                <a:cxn ang="0">
                  <a:pos x="7" y="4"/>
                </a:cxn>
                <a:cxn ang="0">
                  <a:pos x="7" y="3"/>
                </a:cxn>
                <a:cxn ang="0">
                  <a:pos x="7" y="2"/>
                </a:cxn>
                <a:cxn ang="0">
                  <a:pos x="6" y="1"/>
                </a:cxn>
                <a:cxn ang="0">
                  <a:pos x="5" y="0"/>
                </a:cxn>
                <a:cxn ang="0">
                  <a:pos x="4" y="0"/>
                </a:cxn>
                <a:cxn ang="0">
                  <a:pos x="4" y="0"/>
                </a:cxn>
                <a:cxn ang="0">
                  <a:pos x="3" y="1"/>
                </a:cxn>
                <a:cxn ang="0">
                  <a:pos x="2" y="2"/>
                </a:cxn>
                <a:cxn ang="0">
                  <a:pos x="0" y="3"/>
                </a:cxn>
                <a:cxn ang="0">
                  <a:pos x="0" y="4"/>
                </a:cxn>
                <a:cxn ang="0">
                  <a:pos x="2" y="5"/>
                </a:cxn>
                <a:cxn ang="0">
                  <a:pos x="3" y="6"/>
                </a:cxn>
                <a:cxn ang="0">
                  <a:pos x="4" y="6"/>
                </a:cxn>
                <a:cxn ang="0">
                  <a:pos x="5" y="6"/>
                </a:cxn>
              </a:cxnLst>
              <a:rect l="0" t="0" r="r" b="b"/>
              <a:pathLst>
                <a:path w="7" h="6">
                  <a:moveTo>
                    <a:pt x="5" y="6"/>
                  </a:moveTo>
                  <a:lnTo>
                    <a:pt x="6" y="6"/>
                  </a:lnTo>
                  <a:lnTo>
                    <a:pt x="7" y="5"/>
                  </a:lnTo>
                  <a:lnTo>
                    <a:pt x="7" y="4"/>
                  </a:lnTo>
                  <a:lnTo>
                    <a:pt x="7" y="3"/>
                  </a:lnTo>
                  <a:lnTo>
                    <a:pt x="7" y="2"/>
                  </a:lnTo>
                  <a:lnTo>
                    <a:pt x="6" y="1"/>
                  </a:lnTo>
                  <a:lnTo>
                    <a:pt x="5" y="0"/>
                  </a:lnTo>
                  <a:lnTo>
                    <a:pt x="4" y="0"/>
                  </a:lnTo>
                  <a:lnTo>
                    <a:pt x="4" y="0"/>
                  </a:lnTo>
                  <a:lnTo>
                    <a:pt x="3" y="1"/>
                  </a:lnTo>
                  <a:lnTo>
                    <a:pt x="2" y="2"/>
                  </a:lnTo>
                  <a:lnTo>
                    <a:pt x="0" y="3"/>
                  </a:lnTo>
                  <a:lnTo>
                    <a:pt x="0" y="4"/>
                  </a:lnTo>
                  <a:lnTo>
                    <a:pt x="2" y="5"/>
                  </a:lnTo>
                  <a:lnTo>
                    <a:pt x="3" y="6"/>
                  </a:lnTo>
                  <a:lnTo>
                    <a:pt x="4" y="6"/>
                  </a:lnTo>
                  <a:lnTo>
                    <a:pt x="5" y="6"/>
                  </a:lnTo>
                  <a:close/>
                </a:path>
              </a:pathLst>
            </a:custGeom>
            <a:solidFill>
              <a:srgbClr val="000000"/>
            </a:solidFill>
            <a:ln w="9525">
              <a:noFill/>
              <a:round/>
              <a:headEnd/>
              <a:tailEnd/>
            </a:ln>
          </p:spPr>
          <p:txBody>
            <a:bodyPr/>
            <a:lstStyle/>
            <a:p>
              <a:endParaRPr lang="en-US"/>
            </a:p>
          </p:txBody>
        </p:sp>
        <p:sp>
          <p:nvSpPr>
            <p:cNvPr id="327378" name="Freeform 722"/>
            <p:cNvSpPr>
              <a:spLocks/>
            </p:cNvSpPr>
            <p:nvPr/>
          </p:nvSpPr>
          <p:spPr bwMode="auto">
            <a:xfrm>
              <a:off x="2996" y="1836"/>
              <a:ext cx="7" cy="6"/>
            </a:xfrm>
            <a:custGeom>
              <a:avLst/>
              <a:gdLst/>
              <a:ahLst/>
              <a:cxnLst>
                <a:cxn ang="0">
                  <a:pos x="3" y="6"/>
                </a:cxn>
                <a:cxn ang="0">
                  <a:pos x="5" y="6"/>
                </a:cxn>
                <a:cxn ang="0">
                  <a:pos x="6" y="5"/>
                </a:cxn>
                <a:cxn ang="0">
                  <a:pos x="7" y="4"/>
                </a:cxn>
                <a:cxn ang="0">
                  <a:pos x="7" y="3"/>
                </a:cxn>
                <a:cxn ang="0">
                  <a:pos x="6" y="2"/>
                </a:cxn>
                <a:cxn ang="0">
                  <a:pos x="5" y="1"/>
                </a:cxn>
                <a:cxn ang="0">
                  <a:pos x="3" y="0"/>
                </a:cxn>
                <a:cxn ang="0">
                  <a:pos x="2" y="0"/>
                </a:cxn>
                <a:cxn ang="0">
                  <a:pos x="2" y="0"/>
                </a:cxn>
                <a:cxn ang="0">
                  <a:pos x="1" y="1"/>
                </a:cxn>
                <a:cxn ang="0">
                  <a:pos x="0" y="2"/>
                </a:cxn>
                <a:cxn ang="0">
                  <a:pos x="0" y="3"/>
                </a:cxn>
                <a:cxn ang="0">
                  <a:pos x="0" y="4"/>
                </a:cxn>
                <a:cxn ang="0">
                  <a:pos x="0" y="5"/>
                </a:cxn>
                <a:cxn ang="0">
                  <a:pos x="1" y="6"/>
                </a:cxn>
                <a:cxn ang="0">
                  <a:pos x="2" y="6"/>
                </a:cxn>
                <a:cxn ang="0">
                  <a:pos x="3" y="6"/>
                </a:cxn>
              </a:cxnLst>
              <a:rect l="0" t="0" r="r" b="b"/>
              <a:pathLst>
                <a:path w="7" h="6">
                  <a:moveTo>
                    <a:pt x="3" y="6"/>
                  </a:moveTo>
                  <a:lnTo>
                    <a:pt x="5" y="6"/>
                  </a:lnTo>
                  <a:lnTo>
                    <a:pt x="6" y="5"/>
                  </a:lnTo>
                  <a:lnTo>
                    <a:pt x="7" y="4"/>
                  </a:lnTo>
                  <a:lnTo>
                    <a:pt x="7" y="3"/>
                  </a:lnTo>
                  <a:lnTo>
                    <a:pt x="6" y="2"/>
                  </a:lnTo>
                  <a:lnTo>
                    <a:pt x="5" y="1"/>
                  </a:lnTo>
                  <a:lnTo>
                    <a:pt x="3" y="0"/>
                  </a:lnTo>
                  <a:lnTo>
                    <a:pt x="2" y="0"/>
                  </a:lnTo>
                  <a:lnTo>
                    <a:pt x="2" y="0"/>
                  </a:lnTo>
                  <a:lnTo>
                    <a:pt x="1" y="1"/>
                  </a:lnTo>
                  <a:lnTo>
                    <a:pt x="0" y="2"/>
                  </a:lnTo>
                  <a:lnTo>
                    <a:pt x="0" y="3"/>
                  </a:lnTo>
                  <a:lnTo>
                    <a:pt x="0" y="4"/>
                  </a:lnTo>
                  <a:lnTo>
                    <a:pt x="0" y="5"/>
                  </a:lnTo>
                  <a:lnTo>
                    <a:pt x="1" y="6"/>
                  </a:lnTo>
                  <a:lnTo>
                    <a:pt x="2" y="6"/>
                  </a:lnTo>
                  <a:lnTo>
                    <a:pt x="3" y="6"/>
                  </a:lnTo>
                  <a:close/>
                </a:path>
              </a:pathLst>
            </a:custGeom>
            <a:solidFill>
              <a:srgbClr val="000000"/>
            </a:solidFill>
            <a:ln w="9525">
              <a:noFill/>
              <a:round/>
              <a:headEnd/>
              <a:tailEnd/>
            </a:ln>
          </p:spPr>
          <p:txBody>
            <a:bodyPr/>
            <a:lstStyle/>
            <a:p>
              <a:endParaRPr lang="en-US"/>
            </a:p>
          </p:txBody>
        </p:sp>
        <p:sp>
          <p:nvSpPr>
            <p:cNvPr id="327379" name="Freeform 723"/>
            <p:cNvSpPr>
              <a:spLocks/>
            </p:cNvSpPr>
            <p:nvPr/>
          </p:nvSpPr>
          <p:spPr bwMode="auto">
            <a:xfrm>
              <a:off x="2982" y="1838"/>
              <a:ext cx="7" cy="6"/>
            </a:xfrm>
            <a:custGeom>
              <a:avLst/>
              <a:gdLst/>
              <a:ahLst/>
              <a:cxnLst>
                <a:cxn ang="0">
                  <a:pos x="4" y="6"/>
                </a:cxn>
                <a:cxn ang="0">
                  <a:pos x="5" y="5"/>
                </a:cxn>
                <a:cxn ang="0">
                  <a:pos x="6" y="4"/>
                </a:cxn>
                <a:cxn ang="0">
                  <a:pos x="7" y="3"/>
                </a:cxn>
                <a:cxn ang="0">
                  <a:pos x="7" y="2"/>
                </a:cxn>
                <a:cxn ang="0">
                  <a:pos x="6" y="1"/>
                </a:cxn>
                <a:cxn ang="0">
                  <a:pos x="5" y="0"/>
                </a:cxn>
                <a:cxn ang="0">
                  <a:pos x="4" y="0"/>
                </a:cxn>
                <a:cxn ang="0">
                  <a:pos x="3" y="0"/>
                </a:cxn>
                <a:cxn ang="0">
                  <a:pos x="3" y="0"/>
                </a:cxn>
                <a:cxn ang="0">
                  <a:pos x="2" y="0"/>
                </a:cxn>
                <a:cxn ang="0">
                  <a:pos x="0" y="1"/>
                </a:cxn>
                <a:cxn ang="0">
                  <a:pos x="0" y="2"/>
                </a:cxn>
                <a:cxn ang="0">
                  <a:pos x="0" y="3"/>
                </a:cxn>
                <a:cxn ang="0">
                  <a:pos x="0" y="4"/>
                </a:cxn>
                <a:cxn ang="0">
                  <a:pos x="2" y="5"/>
                </a:cxn>
                <a:cxn ang="0">
                  <a:pos x="3" y="6"/>
                </a:cxn>
                <a:cxn ang="0">
                  <a:pos x="4" y="6"/>
                </a:cxn>
              </a:cxnLst>
              <a:rect l="0" t="0" r="r" b="b"/>
              <a:pathLst>
                <a:path w="7" h="6">
                  <a:moveTo>
                    <a:pt x="4" y="6"/>
                  </a:moveTo>
                  <a:lnTo>
                    <a:pt x="5" y="5"/>
                  </a:lnTo>
                  <a:lnTo>
                    <a:pt x="6" y="4"/>
                  </a:lnTo>
                  <a:lnTo>
                    <a:pt x="7" y="3"/>
                  </a:lnTo>
                  <a:lnTo>
                    <a:pt x="7" y="2"/>
                  </a:lnTo>
                  <a:lnTo>
                    <a:pt x="6" y="1"/>
                  </a:lnTo>
                  <a:lnTo>
                    <a:pt x="5" y="0"/>
                  </a:lnTo>
                  <a:lnTo>
                    <a:pt x="4" y="0"/>
                  </a:lnTo>
                  <a:lnTo>
                    <a:pt x="3" y="0"/>
                  </a:lnTo>
                  <a:lnTo>
                    <a:pt x="3" y="0"/>
                  </a:lnTo>
                  <a:lnTo>
                    <a:pt x="2" y="0"/>
                  </a:lnTo>
                  <a:lnTo>
                    <a:pt x="0" y="1"/>
                  </a:lnTo>
                  <a:lnTo>
                    <a:pt x="0" y="2"/>
                  </a:lnTo>
                  <a:lnTo>
                    <a:pt x="0" y="3"/>
                  </a:lnTo>
                  <a:lnTo>
                    <a:pt x="0" y="4"/>
                  </a:lnTo>
                  <a:lnTo>
                    <a:pt x="2" y="5"/>
                  </a:lnTo>
                  <a:lnTo>
                    <a:pt x="3" y="6"/>
                  </a:lnTo>
                  <a:lnTo>
                    <a:pt x="4" y="6"/>
                  </a:lnTo>
                  <a:close/>
                </a:path>
              </a:pathLst>
            </a:custGeom>
            <a:solidFill>
              <a:srgbClr val="000000"/>
            </a:solidFill>
            <a:ln w="9525">
              <a:noFill/>
              <a:round/>
              <a:headEnd/>
              <a:tailEnd/>
            </a:ln>
          </p:spPr>
          <p:txBody>
            <a:bodyPr/>
            <a:lstStyle/>
            <a:p>
              <a:endParaRPr lang="en-US"/>
            </a:p>
          </p:txBody>
        </p:sp>
        <p:sp>
          <p:nvSpPr>
            <p:cNvPr id="327380" name="Freeform 724"/>
            <p:cNvSpPr>
              <a:spLocks/>
            </p:cNvSpPr>
            <p:nvPr/>
          </p:nvSpPr>
          <p:spPr bwMode="auto">
            <a:xfrm>
              <a:off x="2969" y="1840"/>
              <a:ext cx="7" cy="6"/>
            </a:xfrm>
            <a:custGeom>
              <a:avLst/>
              <a:gdLst/>
              <a:ahLst/>
              <a:cxnLst>
                <a:cxn ang="0">
                  <a:pos x="3" y="6"/>
                </a:cxn>
                <a:cxn ang="0">
                  <a:pos x="4" y="5"/>
                </a:cxn>
                <a:cxn ang="0">
                  <a:pos x="6" y="4"/>
                </a:cxn>
                <a:cxn ang="0">
                  <a:pos x="7" y="3"/>
                </a:cxn>
                <a:cxn ang="0">
                  <a:pos x="7" y="2"/>
                </a:cxn>
                <a:cxn ang="0">
                  <a:pos x="6" y="1"/>
                </a:cxn>
                <a:cxn ang="0">
                  <a:pos x="4" y="0"/>
                </a:cxn>
                <a:cxn ang="0">
                  <a:pos x="3" y="0"/>
                </a:cxn>
                <a:cxn ang="0">
                  <a:pos x="2" y="0"/>
                </a:cxn>
                <a:cxn ang="0">
                  <a:pos x="2" y="0"/>
                </a:cxn>
                <a:cxn ang="0">
                  <a:pos x="1" y="0"/>
                </a:cxn>
                <a:cxn ang="0">
                  <a:pos x="0" y="1"/>
                </a:cxn>
                <a:cxn ang="0">
                  <a:pos x="0" y="2"/>
                </a:cxn>
                <a:cxn ang="0">
                  <a:pos x="0" y="3"/>
                </a:cxn>
                <a:cxn ang="0">
                  <a:pos x="0" y="4"/>
                </a:cxn>
                <a:cxn ang="0">
                  <a:pos x="1" y="5"/>
                </a:cxn>
                <a:cxn ang="0">
                  <a:pos x="2" y="6"/>
                </a:cxn>
                <a:cxn ang="0">
                  <a:pos x="3" y="6"/>
                </a:cxn>
              </a:cxnLst>
              <a:rect l="0" t="0" r="r" b="b"/>
              <a:pathLst>
                <a:path w="7" h="6">
                  <a:moveTo>
                    <a:pt x="3" y="6"/>
                  </a:moveTo>
                  <a:lnTo>
                    <a:pt x="4" y="5"/>
                  </a:lnTo>
                  <a:lnTo>
                    <a:pt x="6" y="4"/>
                  </a:lnTo>
                  <a:lnTo>
                    <a:pt x="7" y="3"/>
                  </a:lnTo>
                  <a:lnTo>
                    <a:pt x="7" y="2"/>
                  </a:lnTo>
                  <a:lnTo>
                    <a:pt x="6" y="1"/>
                  </a:lnTo>
                  <a:lnTo>
                    <a:pt x="4" y="0"/>
                  </a:lnTo>
                  <a:lnTo>
                    <a:pt x="3" y="0"/>
                  </a:lnTo>
                  <a:lnTo>
                    <a:pt x="2" y="0"/>
                  </a:lnTo>
                  <a:lnTo>
                    <a:pt x="2" y="0"/>
                  </a:lnTo>
                  <a:lnTo>
                    <a:pt x="1" y="0"/>
                  </a:lnTo>
                  <a:lnTo>
                    <a:pt x="0" y="1"/>
                  </a:lnTo>
                  <a:lnTo>
                    <a:pt x="0" y="2"/>
                  </a:lnTo>
                  <a:lnTo>
                    <a:pt x="0" y="3"/>
                  </a:lnTo>
                  <a:lnTo>
                    <a:pt x="0" y="4"/>
                  </a:lnTo>
                  <a:lnTo>
                    <a:pt x="1" y="5"/>
                  </a:lnTo>
                  <a:lnTo>
                    <a:pt x="2" y="6"/>
                  </a:lnTo>
                  <a:lnTo>
                    <a:pt x="3" y="6"/>
                  </a:lnTo>
                  <a:close/>
                </a:path>
              </a:pathLst>
            </a:custGeom>
            <a:solidFill>
              <a:srgbClr val="000000"/>
            </a:solidFill>
            <a:ln w="9525">
              <a:noFill/>
              <a:round/>
              <a:headEnd/>
              <a:tailEnd/>
            </a:ln>
          </p:spPr>
          <p:txBody>
            <a:bodyPr/>
            <a:lstStyle/>
            <a:p>
              <a:endParaRPr lang="en-US"/>
            </a:p>
          </p:txBody>
        </p:sp>
        <p:sp>
          <p:nvSpPr>
            <p:cNvPr id="327381" name="Freeform 725"/>
            <p:cNvSpPr>
              <a:spLocks/>
            </p:cNvSpPr>
            <p:nvPr/>
          </p:nvSpPr>
          <p:spPr bwMode="auto">
            <a:xfrm>
              <a:off x="2955" y="1842"/>
              <a:ext cx="7" cy="7"/>
            </a:xfrm>
            <a:custGeom>
              <a:avLst/>
              <a:gdLst/>
              <a:ahLst/>
              <a:cxnLst>
                <a:cxn ang="0">
                  <a:pos x="5" y="7"/>
                </a:cxn>
                <a:cxn ang="0">
                  <a:pos x="6" y="5"/>
                </a:cxn>
                <a:cxn ang="0">
                  <a:pos x="7" y="4"/>
                </a:cxn>
                <a:cxn ang="0">
                  <a:pos x="7" y="3"/>
                </a:cxn>
                <a:cxn ang="0">
                  <a:pos x="7" y="2"/>
                </a:cxn>
                <a:cxn ang="0">
                  <a:pos x="7" y="1"/>
                </a:cxn>
                <a:cxn ang="0">
                  <a:pos x="6" y="0"/>
                </a:cxn>
                <a:cxn ang="0">
                  <a:pos x="5" y="0"/>
                </a:cxn>
                <a:cxn ang="0">
                  <a:pos x="4" y="0"/>
                </a:cxn>
                <a:cxn ang="0">
                  <a:pos x="4" y="0"/>
                </a:cxn>
                <a:cxn ang="0">
                  <a:pos x="3" y="0"/>
                </a:cxn>
                <a:cxn ang="0">
                  <a:pos x="1" y="1"/>
                </a:cxn>
                <a:cxn ang="0">
                  <a:pos x="0" y="2"/>
                </a:cxn>
                <a:cxn ang="0">
                  <a:pos x="0" y="3"/>
                </a:cxn>
                <a:cxn ang="0">
                  <a:pos x="1" y="4"/>
                </a:cxn>
                <a:cxn ang="0">
                  <a:pos x="3" y="5"/>
                </a:cxn>
                <a:cxn ang="0">
                  <a:pos x="4" y="7"/>
                </a:cxn>
                <a:cxn ang="0">
                  <a:pos x="5" y="7"/>
                </a:cxn>
              </a:cxnLst>
              <a:rect l="0" t="0" r="r" b="b"/>
              <a:pathLst>
                <a:path w="7" h="7">
                  <a:moveTo>
                    <a:pt x="5" y="7"/>
                  </a:moveTo>
                  <a:lnTo>
                    <a:pt x="6" y="5"/>
                  </a:lnTo>
                  <a:lnTo>
                    <a:pt x="7" y="4"/>
                  </a:lnTo>
                  <a:lnTo>
                    <a:pt x="7" y="3"/>
                  </a:lnTo>
                  <a:lnTo>
                    <a:pt x="7" y="2"/>
                  </a:lnTo>
                  <a:lnTo>
                    <a:pt x="7" y="1"/>
                  </a:lnTo>
                  <a:lnTo>
                    <a:pt x="6" y="0"/>
                  </a:lnTo>
                  <a:lnTo>
                    <a:pt x="5" y="0"/>
                  </a:lnTo>
                  <a:lnTo>
                    <a:pt x="4" y="0"/>
                  </a:lnTo>
                  <a:lnTo>
                    <a:pt x="4" y="0"/>
                  </a:lnTo>
                  <a:lnTo>
                    <a:pt x="3" y="0"/>
                  </a:lnTo>
                  <a:lnTo>
                    <a:pt x="1" y="1"/>
                  </a:lnTo>
                  <a:lnTo>
                    <a:pt x="0" y="2"/>
                  </a:lnTo>
                  <a:lnTo>
                    <a:pt x="0" y="3"/>
                  </a:lnTo>
                  <a:lnTo>
                    <a:pt x="1" y="4"/>
                  </a:lnTo>
                  <a:lnTo>
                    <a:pt x="3" y="5"/>
                  </a:lnTo>
                  <a:lnTo>
                    <a:pt x="4" y="7"/>
                  </a:lnTo>
                  <a:lnTo>
                    <a:pt x="5" y="7"/>
                  </a:lnTo>
                  <a:close/>
                </a:path>
              </a:pathLst>
            </a:custGeom>
            <a:solidFill>
              <a:srgbClr val="000000"/>
            </a:solidFill>
            <a:ln w="9525">
              <a:noFill/>
              <a:round/>
              <a:headEnd/>
              <a:tailEnd/>
            </a:ln>
          </p:spPr>
          <p:txBody>
            <a:bodyPr/>
            <a:lstStyle/>
            <a:p>
              <a:endParaRPr lang="en-US"/>
            </a:p>
          </p:txBody>
        </p:sp>
        <p:sp>
          <p:nvSpPr>
            <p:cNvPr id="327382" name="Freeform 726"/>
            <p:cNvSpPr>
              <a:spLocks/>
            </p:cNvSpPr>
            <p:nvPr/>
          </p:nvSpPr>
          <p:spPr bwMode="auto">
            <a:xfrm>
              <a:off x="2942" y="1844"/>
              <a:ext cx="7" cy="7"/>
            </a:xfrm>
            <a:custGeom>
              <a:avLst/>
              <a:gdLst/>
              <a:ahLst/>
              <a:cxnLst>
                <a:cxn ang="0">
                  <a:pos x="4" y="7"/>
                </a:cxn>
                <a:cxn ang="0">
                  <a:pos x="5" y="6"/>
                </a:cxn>
                <a:cxn ang="0">
                  <a:pos x="7" y="5"/>
                </a:cxn>
                <a:cxn ang="0">
                  <a:pos x="7" y="3"/>
                </a:cxn>
                <a:cxn ang="0">
                  <a:pos x="7" y="2"/>
                </a:cxn>
                <a:cxn ang="0">
                  <a:pos x="7" y="1"/>
                </a:cxn>
                <a:cxn ang="0">
                  <a:pos x="5" y="0"/>
                </a:cxn>
                <a:cxn ang="0">
                  <a:pos x="4" y="0"/>
                </a:cxn>
                <a:cxn ang="0">
                  <a:pos x="3" y="0"/>
                </a:cxn>
                <a:cxn ang="0">
                  <a:pos x="3" y="0"/>
                </a:cxn>
                <a:cxn ang="0">
                  <a:pos x="2" y="0"/>
                </a:cxn>
                <a:cxn ang="0">
                  <a:pos x="1" y="1"/>
                </a:cxn>
                <a:cxn ang="0">
                  <a:pos x="0" y="2"/>
                </a:cxn>
                <a:cxn ang="0">
                  <a:pos x="0" y="3"/>
                </a:cxn>
                <a:cxn ang="0">
                  <a:pos x="1" y="5"/>
                </a:cxn>
                <a:cxn ang="0">
                  <a:pos x="2" y="6"/>
                </a:cxn>
                <a:cxn ang="0">
                  <a:pos x="3" y="7"/>
                </a:cxn>
                <a:cxn ang="0">
                  <a:pos x="4" y="7"/>
                </a:cxn>
              </a:cxnLst>
              <a:rect l="0" t="0" r="r" b="b"/>
              <a:pathLst>
                <a:path w="7" h="7">
                  <a:moveTo>
                    <a:pt x="4" y="7"/>
                  </a:moveTo>
                  <a:lnTo>
                    <a:pt x="5" y="6"/>
                  </a:lnTo>
                  <a:lnTo>
                    <a:pt x="7" y="5"/>
                  </a:lnTo>
                  <a:lnTo>
                    <a:pt x="7" y="3"/>
                  </a:lnTo>
                  <a:lnTo>
                    <a:pt x="7" y="2"/>
                  </a:lnTo>
                  <a:lnTo>
                    <a:pt x="7" y="1"/>
                  </a:lnTo>
                  <a:lnTo>
                    <a:pt x="5" y="0"/>
                  </a:lnTo>
                  <a:lnTo>
                    <a:pt x="4" y="0"/>
                  </a:lnTo>
                  <a:lnTo>
                    <a:pt x="3" y="0"/>
                  </a:lnTo>
                  <a:lnTo>
                    <a:pt x="3" y="0"/>
                  </a:lnTo>
                  <a:lnTo>
                    <a:pt x="2" y="0"/>
                  </a:lnTo>
                  <a:lnTo>
                    <a:pt x="1" y="1"/>
                  </a:lnTo>
                  <a:lnTo>
                    <a:pt x="0" y="2"/>
                  </a:lnTo>
                  <a:lnTo>
                    <a:pt x="0" y="3"/>
                  </a:lnTo>
                  <a:lnTo>
                    <a:pt x="1" y="5"/>
                  </a:lnTo>
                  <a:lnTo>
                    <a:pt x="2" y="6"/>
                  </a:lnTo>
                  <a:lnTo>
                    <a:pt x="3" y="7"/>
                  </a:lnTo>
                  <a:lnTo>
                    <a:pt x="4" y="7"/>
                  </a:lnTo>
                  <a:close/>
                </a:path>
              </a:pathLst>
            </a:custGeom>
            <a:solidFill>
              <a:srgbClr val="000000"/>
            </a:solidFill>
            <a:ln w="9525">
              <a:noFill/>
              <a:round/>
              <a:headEnd/>
              <a:tailEnd/>
            </a:ln>
          </p:spPr>
          <p:txBody>
            <a:bodyPr/>
            <a:lstStyle/>
            <a:p>
              <a:endParaRPr lang="en-US"/>
            </a:p>
          </p:txBody>
        </p:sp>
        <p:sp>
          <p:nvSpPr>
            <p:cNvPr id="327383" name="Freeform 727"/>
            <p:cNvSpPr>
              <a:spLocks/>
            </p:cNvSpPr>
            <p:nvPr/>
          </p:nvSpPr>
          <p:spPr bwMode="auto">
            <a:xfrm>
              <a:off x="2928" y="1846"/>
              <a:ext cx="7" cy="7"/>
            </a:xfrm>
            <a:custGeom>
              <a:avLst/>
              <a:gdLst/>
              <a:ahLst/>
              <a:cxnLst>
                <a:cxn ang="0">
                  <a:pos x="5" y="7"/>
                </a:cxn>
                <a:cxn ang="0">
                  <a:pos x="6" y="6"/>
                </a:cxn>
                <a:cxn ang="0">
                  <a:pos x="7" y="5"/>
                </a:cxn>
                <a:cxn ang="0">
                  <a:pos x="7" y="4"/>
                </a:cxn>
                <a:cxn ang="0">
                  <a:pos x="7" y="3"/>
                </a:cxn>
                <a:cxn ang="0">
                  <a:pos x="7" y="1"/>
                </a:cxn>
                <a:cxn ang="0">
                  <a:pos x="6" y="0"/>
                </a:cxn>
                <a:cxn ang="0">
                  <a:pos x="5" y="0"/>
                </a:cxn>
                <a:cxn ang="0">
                  <a:pos x="4" y="0"/>
                </a:cxn>
                <a:cxn ang="0">
                  <a:pos x="4" y="0"/>
                </a:cxn>
                <a:cxn ang="0">
                  <a:pos x="3" y="0"/>
                </a:cxn>
                <a:cxn ang="0">
                  <a:pos x="1" y="1"/>
                </a:cxn>
                <a:cxn ang="0">
                  <a:pos x="0" y="3"/>
                </a:cxn>
                <a:cxn ang="0">
                  <a:pos x="0" y="4"/>
                </a:cxn>
                <a:cxn ang="0">
                  <a:pos x="1" y="5"/>
                </a:cxn>
                <a:cxn ang="0">
                  <a:pos x="3" y="6"/>
                </a:cxn>
                <a:cxn ang="0">
                  <a:pos x="4" y="7"/>
                </a:cxn>
                <a:cxn ang="0">
                  <a:pos x="5" y="7"/>
                </a:cxn>
              </a:cxnLst>
              <a:rect l="0" t="0" r="r" b="b"/>
              <a:pathLst>
                <a:path w="7" h="7">
                  <a:moveTo>
                    <a:pt x="5" y="7"/>
                  </a:moveTo>
                  <a:lnTo>
                    <a:pt x="6" y="6"/>
                  </a:lnTo>
                  <a:lnTo>
                    <a:pt x="7" y="5"/>
                  </a:lnTo>
                  <a:lnTo>
                    <a:pt x="7" y="4"/>
                  </a:lnTo>
                  <a:lnTo>
                    <a:pt x="7" y="3"/>
                  </a:lnTo>
                  <a:lnTo>
                    <a:pt x="7" y="1"/>
                  </a:lnTo>
                  <a:lnTo>
                    <a:pt x="6" y="0"/>
                  </a:lnTo>
                  <a:lnTo>
                    <a:pt x="5" y="0"/>
                  </a:lnTo>
                  <a:lnTo>
                    <a:pt x="4" y="0"/>
                  </a:lnTo>
                  <a:lnTo>
                    <a:pt x="4" y="0"/>
                  </a:lnTo>
                  <a:lnTo>
                    <a:pt x="3" y="0"/>
                  </a:lnTo>
                  <a:lnTo>
                    <a:pt x="1" y="1"/>
                  </a:lnTo>
                  <a:lnTo>
                    <a:pt x="0" y="3"/>
                  </a:lnTo>
                  <a:lnTo>
                    <a:pt x="0" y="4"/>
                  </a:lnTo>
                  <a:lnTo>
                    <a:pt x="1" y="5"/>
                  </a:lnTo>
                  <a:lnTo>
                    <a:pt x="3" y="6"/>
                  </a:lnTo>
                  <a:lnTo>
                    <a:pt x="4" y="7"/>
                  </a:lnTo>
                  <a:lnTo>
                    <a:pt x="5" y="7"/>
                  </a:lnTo>
                  <a:close/>
                </a:path>
              </a:pathLst>
            </a:custGeom>
            <a:solidFill>
              <a:srgbClr val="000000"/>
            </a:solidFill>
            <a:ln w="9525">
              <a:noFill/>
              <a:round/>
              <a:headEnd/>
              <a:tailEnd/>
            </a:ln>
          </p:spPr>
          <p:txBody>
            <a:bodyPr/>
            <a:lstStyle/>
            <a:p>
              <a:endParaRPr lang="en-US"/>
            </a:p>
          </p:txBody>
        </p:sp>
        <p:sp>
          <p:nvSpPr>
            <p:cNvPr id="327384" name="Freeform 728"/>
            <p:cNvSpPr>
              <a:spLocks/>
            </p:cNvSpPr>
            <p:nvPr/>
          </p:nvSpPr>
          <p:spPr bwMode="auto">
            <a:xfrm>
              <a:off x="2916" y="1849"/>
              <a:ext cx="7" cy="6"/>
            </a:xfrm>
            <a:custGeom>
              <a:avLst/>
              <a:gdLst/>
              <a:ahLst/>
              <a:cxnLst>
                <a:cxn ang="0">
                  <a:pos x="3" y="6"/>
                </a:cxn>
                <a:cxn ang="0">
                  <a:pos x="4" y="5"/>
                </a:cxn>
                <a:cxn ang="0">
                  <a:pos x="5" y="4"/>
                </a:cxn>
                <a:cxn ang="0">
                  <a:pos x="7" y="3"/>
                </a:cxn>
                <a:cxn ang="0">
                  <a:pos x="7" y="2"/>
                </a:cxn>
                <a:cxn ang="0">
                  <a:pos x="5" y="1"/>
                </a:cxn>
                <a:cxn ang="0">
                  <a:pos x="4" y="0"/>
                </a:cxn>
                <a:cxn ang="0">
                  <a:pos x="3" y="0"/>
                </a:cxn>
                <a:cxn ang="0">
                  <a:pos x="2" y="0"/>
                </a:cxn>
                <a:cxn ang="0">
                  <a:pos x="2" y="0"/>
                </a:cxn>
                <a:cxn ang="0">
                  <a:pos x="1" y="0"/>
                </a:cxn>
                <a:cxn ang="0">
                  <a:pos x="0" y="1"/>
                </a:cxn>
                <a:cxn ang="0">
                  <a:pos x="0" y="2"/>
                </a:cxn>
                <a:cxn ang="0">
                  <a:pos x="0" y="3"/>
                </a:cxn>
                <a:cxn ang="0">
                  <a:pos x="0" y="4"/>
                </a:cxn>
                <a:cxn ang="0">
                  <a:pos x="1" y="5"/>
                </a:cxn>
                <a:cxn ang="0">
                  <a:pos x="2" y="6"/>
                </a:cxn>
                <a:cxn ang="0">
                  <a:pos x="3" y="6"/>
                </a:cxn>
              </a:cxnLst>
              <a:rect l="0" t="0" r="r" b="b"/>
              <a:pathLst>
                <a:path w="7" h="6">
                  <a:moveTo>
                    <a:pt x="3" y="6"/>
                  </a:moveTo>
                  <a:lnTo>
                    <a:pt x="4" y="5"/>
                  </a:lnTo>
                  <a:lnTo>
                    <a:pt x="5" y="4"/>
                  </a:lnTo>
                  <a:lnTo>
                    <a:pt x="7" y="3"/>
                  </a:lnTo>
                  <a:lnTo>
                    <a:pt x="7" y="2"/>
                  </a:lnTo>
                  <a:lnTo>
                    <a:pt x="5" y="1"/>
                  </a:lnTo>
                  <a:lnTo>
                    <a:pt x="4" y="0"/>
                  </a:lnTo>
                  <a:lnTo>
                    <a:pt x="3" y="0"/>
                  </a:lnTo>
                  <a:lnTo>
                    <a:pt x="2" y="0"/>
                  </a:lnTo>
                  <a:lnTo>
                    <a:pt x="2" y="0"/>
                  </a:lnTo>
                  <a:lnTo>
                    <a:pt x="1" y="0"/>
                  </a:lnTo>
                  <a:lnTo>
                    <a:pt x="0" y="1"/>
                  </a:lnTo>
                  <a:lnTo>
                    <a:pt x="0" y="2"/>
                  </a:lnTo>
                  <a:lnTo>
                    <a:pt x="0" y="3"/>
                  </a:lnTo>
                  <a:lnTo>
                    <a:pt x="0" y="4"/>
                  </a:lnTo>
                  <a:lnTo>
                    <a:pt x="1" y="5"/>
                  </a:lnTo>
                  <a:lnTo>
                    <a:pt x="2" y="6"/>
                  </a:lnTo>
                  <a:lnTo>
                    <a:pt x="3" y="6"/>
                  </a:lnTo>
                  <a:close/>
                </a:path>
              </a:pathLst>
            </a:custGeom>
            <a:solidFill>
              <a:srgbClr val="000000"/>
            </a:solidFill>
            <a:ln w="9525">
              <a:noFill/>
              <a:round/>
              <a:headEnd/>
              <a:tailEnd/>
            </a:ln>
          </p:spPr>
          <p:txBody>
            <a:bodyPr/>
            <a:lstStyle/>
            <a:p>
              <a:endParaRPr lang="en-US"/>
            </a:p>
          </p:txBody>
        </p:sp>
        <p:sp>
          <p:nvSpPr>
            <p:cNvPr id="327385" name="Freeform 729"/>
            <p:cNvSpPr>
              <a:spLocks/>
            </p:cNvSpPr>
            <p:nvPr/>
          </p:nvSpPr>
          <p:spPr bwMode="auto">
            <a:xfrm>
              <a:off x="2902" y="1850"/>
              <a:ext cx="7" cy="6"/>
            </a:xfrm>
            <a:custGeom>
              <a:avLst/>
              <a:gdLst/>
              <a:ahLst/>
              <a:cxnLst>
                <a:cxn ang="0">
                  <a:pos x="4" y="6"/>
                </a:cxn>
                <a:cxn ang="0">
                  <a:pos x="5" y="6"/>
                </a:cxn>
                <a:cxn ang="0">
                  <a:pos x="6" y="5"/>
                </a:cxn>
                <a:cxn ang="0">
                  <a:pos x="7" y="4"/>
                </a:cxn>
                <a:cxn ang="0">
                  <a:pos x="7" y="3"/>
                </a:cxn>
                <a:cxn ang="0">
                  <a:pos x="6" y="2"/>
                </a:cxn>
                <a:cxn ang="0">
                  <a:pos x="5" y="1"/>
                </a:cxn>
                <a:cxn ang="0">
                  <a:pos x="4" y="0"/>
                </a:cxn>
                <a:cxn ang="0">
                  <a:pos x="3" y="0"/>
                </a:cxn>
                <a:cxn ang="0">
                  <a:pos x="3" y="0"/>
                </a:cxn>
                <a:cxn ang="0">
                  <a:pos x="1" y="1"/>
                </a:cxn>
                <a:cxn ang="0">
                  <a:pos x="0" y="2"/>
                </a:cxn>
                <a:cxn ang="0">
                  <a:pos x="0" y="3"/>
                </a:cxn>
                <a:cxn ang="0">
                  <a:pos x="0" y="4"/>
                </a:cxn>
                <a:cxn ang="0">
                  <a:pos x="0" y="5"/>
                </a:cxn>
                <a:cxn ang="0">
                  <a:pos x="1" y="6"/>
                </a:cxn>
                <a:cxn ang="0">
                  <a:pos x="3" y="6"/>
                </a:cxn>
                <a:cxn ang="0">
                  <a:pos x="4" y="6"/>
                </a:cxn>
              </a:cxnLst>
              <a:rect l="0" t="0" r="r" b="b"/>
              <a:pathLst>
                <a:path w="7" h="6">
                  <a:moveTo>
                    <a:pt x="4" y="6"/>
                  </a:moveTo>
                  <a:lnTo>
                    <a:pt x="5" y="6"/>
                  </a:lnTo>
                  <a:lnTo>
                    <a:pt x="6" y="5"/>
                  </a:lnTo>
                  <a:lnTo>
                    <a:pt x="7" y="4"/>
                  </a:lnTo>
                  <a:lnTo>
                    <a:pt x="7" y="3"/>
                  </a:lnTo>
                  <a:lnTo>
                    <a:pt x="6" y="2"/>
                  </a:lnTo>
                  <a:lnTo>
                    <a:pt x="5" y="1"/>
                  </a:lnTo>
                  <a:lnTo>
                    <a:pt x="4" y="0"/>
                  </a:lnTo>
                  <a:lnTo>
                    <a:pt x="3" y="0"/>
                  </a:lnTo>
                  <a:lnTo>
                    <a:pt x="3" y="0"/>
                  </a:lnTo>
                  <a:lnTo>
                    <a:pt x="1" y="1"/>
                  </a:lnTo>
                  <a:lnTo>
                    <a:pt x="0" y="2"/>
                  </a:lnTo>
                  <a:lnTo>
                    <a:pt x="0" y="3"/>
                  </a:lnTo>
                  <a:lnTo>
                    <a:pt x="0" y="4"/>
                  </a:lnTo>
                  <a:lnTo>
                    <a:pt x="0" y="5"/>
                  </a:lnTo>
                  <a:lnTo>
                    <a:pt x="1" y="6"/>
                  </a:lnTo>
                  <a:lnTo>
                    <a:pt x="3" y="6"/>
                  </a:lnTo>
                  <a:lnTo>
                    <a:pt x="4" y="6"/>
                  </a:lnTo>
                  <a:close/>
                </a:path>
              </a:pathLst>
            </a:custGeom>
            <a:solidFill>
              <a:srgbClr val="000000"/>
            </a:solidFill>
            <a:ln w="9525">
              <a:noFill/>
              <a:round/>
              <a:headEnd/>
              <a:tailEnd/>
            </a:ln>
          </p:spPr>
          <p:txBody>
            <a:bodyPr/>
            <a:lstStyle/>
            <a:p>
              <a:endParaRPr lang="en-US"/>
            </a:p>
          </p:txBody>
        </p:sp>
        <p:sp>
          <p:nvSpPr>
            <p:cNvPr id="327386" name="Freeform 730"/>
            <p:cNvSpPr>
              <a:spLocks/>
            </p:cNvSpPr>
            <p:nvPr/>
          </p:nvSpPr>
          <p:spPr bwMode="auto">
            <a:xfrm>
              <a:off x="2889" y="1852"/>
              <a:ext cx="6" cy="6"/>
            </a:xfrm>
            <a:custGeom>
              <a:avLst/>
              <a:gdLst/>
              <a:ahLst/>
              <a:cxnLst>
                <a:cxn ang="0">
                  <a:pos x="3" y="6"/>
                </a:cxn>
                <a:cxn ang="0">
                  <a:pos x="4" y="6"/>
                </a:cxn>
                <a:cxn ang="0">
                  <a:pos x="5" y="5"/>
                </a:cxn>
                <a:cxn ang="0">
                  <a:pos x="6" y="4"/>
                </a:cxn>
                <a:cxn ang="0">
                  <a:pos x="6" y="3"/>
                </a:cxn>
                <a:cxn ang="0">
                  <a:pos x="5" y="2"/>
                </a:cxn>
                <a:cxn ang="0">
                  <a:pos x="4" y="1"/>
                </a:cxn>
                <a:cxn ang="0">
                  <a:pos x="3" y="0"/>
                </a:cxn>
                <a:cxn ang="0">
                  <a:pos x="2" y="0"/>
                </a:cxn>
                <a:cxn ang="0">
                  <a:pos x="2" y="0"/>
                </a:cxn>
                <a:cxn ang="0">
                  <a:pos x="1" y="1"/>
                </a:cxn>
                <a:cxn ang="0">
                  <a:pos x="0" y="2"/>
                </a:cxn>
                <a:cxn ang="0">
                  <a:pos x="0" y="3"/>
                </a:cxn>
                <a:cxn ang="0">
                  <a:pos x="0" y="4"/>
                </a:cxn>
                <a:cxn ang="0">
                  <a:pos x="0" y="5"/>
                </a:cxn>
                <a:cxn ang="0">
                  <a:pos x="1" y="6"/>
                </a:cxn>
                <a:cxn ang="0">
                  <a:pos x="2" y="6"/>
                </a:cxn>
                <a:cxn ang="0">
                  <a:pos x="3" y="6"/>
                </a:cxn>
              </a:cxnLst>
              <a:rect l="0" t="0" r="r" b="b"/>
              <a:pathLst>
                <a:path w="6" h="6">
                  <a:moveTo>
                    <a:pt x="3" y="6"/>
                  </a:moveTo>
                  <a:lnTo>
                    <a:pt x="4" y="6"/>
                  </a:lnTo>
                  <a:lnTo>
                    <a:pt x="5" y="5"/>
                  </a:lnTo>
                  <a:lnTo>
                    <a:pt x="6" y="4"/>
                  </a:lnTo>
                  <a:lnTo>
                    <a:pt x="6" y="3"/>
                  </a:lnTo>
                  <a:lnTo>
                    <a:pt x="5" y="2"/>
                  </a:lnTo>
                  <a:lnTo>
                    <a:pt x="4" y="1"/>
                  </a:lnTo>
                  <a:lnTo>
                    <a:pt x="3" y="0"/>
                  </a:lnTo>
                  <a:lnTo>
                    <a:pt x="2" y="0"/>
                  </a:lnTo>
                  <a:lnTo>
                    <a:pt x="2" y="0"/>
                  </a:lnTo>
                  <a:lnTo>
                    <a:pt x="1" y="1"/>
                  </a:lnTo>
                  <a:lnTo>
                    <a:pt x="0" y="2"/>
                  </a:lnTo>
                  <a:lnTo>
                    <a:pt x="0" y="3"/>
                  </a:lnTo>
                  <a:lnTo>
                    <a:pt x="0" y="4"/>
                  </a:lnTo>
                  <a:lnTo>
                    <a:pt x="0" y="5"/>
                  </a:lnTo>
                  <a:lnTo>
                    <a:pt x="1" y="6"/>
                  </a:lnTo>
                  <a:lnTo>
                    <a:pt x="2" y="6"/>
                  </a:lnTo>
                  <a:lnTo>
                    <a:pt x="3" y="6"/>
                  </a:lnTo>
                  <a:close/>
                </a:path>
              </a:pathLst>
            </a:custGeom>
            <a:solidFill>
              <a:srgbClr val="000000"/>
            </a:solidFill>
            <a:ln w="9525">
              <a:noFill/>
              <a:round/>
              <a:headEnd/>
              <a:tailEnd/>
            </a:ln>
          </p:spPr>
          <p:txBody>
            <a:bodyPr/>
            <a:lstStyle/>
            <a:p>
              <a:endParaRPr lang="en-US"/>
            </a:p>
          </p:txBody>
        </p:sp>
        <p:sp>
          <p:nvSpPr>
            <p:cNvPr id="327387" name="Freeform 731"/>
            <p:cNvSpPr>
              <a:spLocks/>
            </p:cNvSpPr>
            <p:nvPr/>
          </p:nvSpPr>
          <p:spPr bwMode="auto">
            <a:xfrm>
              <a:off x="2875" y="1854"/>
              <a:ext cx="7" cy="6"/>
            </a:xfrm>
            <a:custGeom>
              <a:avLst/>
              <a:gdLst/>
              <a:ahLst/>
              <a:cxnLst>
                <a:cxn ang="0">
                  <a:pos x="5" y="6"/>
                </a:cxn>
                <a:cxn ang="0">
                  <a:pos x="6" y="6"/>
                </a:cxn>
                <a:cxn ang="0">
                  <a:pos x="7" y="5"/>
                </a:cxn>
                <a:cxn ang="0">
                  <a:pos x="7" y="4"/>
                </a:cxn>
                <a:cxn ang="0">
                  <a:pos x="7" y="3"/>
                </a:cxn>
                <a:cxn ang="0">
                  <a:pos x="7" y="2"/>
                </a:cxn>
                <a:cxn ang="0">
                  <a:pos x="6" y="1"/>
                </a:cxn>
                <a:cxn ang="0">
                  <a:pos x="5" y="0"/>
                </a:cxn>
                <a:cxn ang="0">
                  <a:pos x="4" y="0"/>
                </a:cxn>
                <a:cxn ang="0">
                  <a:pos x="2" y="0"/>
                </a:cxn>
                <a:cxn ang="0">
                  <a:pos x="1" y="1"/>
                </a:cxn>
                <a:cxn ang="0">
                  <a:pos x="0" y="2"/>
                </a:cxn>
                <a:cxn ang="0">
                  <a:pos x="0" y="3"/>
                </a:cxn>
                <a:cxn ang="0">
                  <a:pos x="0" y="4"/>
                </a:cxn>
                <a:cxn ang="0">
                  <a:pos x="0" y="5"/>
                </a:cxn>
                <a:cxn ang="0">
                  <a:pos x="1" y="6"/>
                </a:cxn>
                <a:cxn ang="0">
                  <a:pos x="2" y="6"/>
                </a:cxn>
                <a:cxn ang="0">
                  <a:pos x="4" y="6"/>
                </a:cxn>
                <a:cxn ang="0">
                  <a:pos x="5" y="6"/>
                </a:cxn>
              </a:cxnLst>
              <a:rect l="0" t="0" r="r" b="b"/>
              <a:pathLst>
                <a:path w="7" h="6">
                  <a:moveTo>
                    <a:pt x="5" y="6"/>
                  </a:moveTo>
                  <a:lnTo>
                    <a:pt x="6" y="6"/>
                  </a:lnTo>
                  <a:lnTo>
                    <a:pt x="7" y="5"/>
                  </a:lnTo>
                  <a:lnTo>
                    <a:pt x="7" y="4"/>
                  </a:lnTo>
                  <a:lnTo>
                    <a:pt x="7" y="3"/>
                  </a:lnTo>
                  <a:lnTo>
                    <a:pt x="7" y="2"/>
                  </a:lnTo>
                  <a:lnTo>
                    <a:pt x="6" y="1"/>
                  </a:lnTo>
                  <a:lnTo>
                    <a:pt x="5" y="0"/>
                  </a:lnTo>
                  <a:lnTo>
                    <a:pt x="4" y="0"/>
                  </a:lnTo>
                  <a:lnTo>
                    <a:pt x="2" y="0"/>
                  </a:lnTo>
                  <a:lnTo>
                    <a:pt x="1" y="1"/>
                  </a:lnTo>
                  <a:lnTo>
                    <a:pt x="0" y="2"/>
                  </a:lnTo>
                  <a:lnTo>
                    <a:pt x="0" y="3"/>
                  </a:lnTo>
                  <a:lnTo>
                    <a:pt x="0" y="4"/>
                  </a:lnTo>
                  <a:lnTo>
                    <a:pt x="0" y="5"/>
                  </a:lnTo>
                  <a:lnTo>
                    <a:pt x="1" y="6"/>
                  </a:lnTo>
                  <a:lnTo>
                    <a:pt x="2" y="6"/>
                  </a:lnTo>
                  <a:lnTo>
                    <a:pt x="4" y="6"/>
                  </a:lnTo>
                  <a:lnTo>
                    <a:pt x="5" y="6"/>
                  </a:lnTo>
                  <a:close/>
                </a:path>
              </a:pathLst>
            </a:custGeom>
            <a:solidFill>
              <a:srgbClr val="000000"/>
            </a:solidFill>
            <a:ln w="9525">
              <a:noFill/>
              <a:round/>
              <a:headEnd/>
              <a:tailEnd/>
            </a:ln>
          </p:spPr>
          <p:txBody>
            <a:bodyPr/>
            <a:lstStyle/>
            <a:p>
              <a:endParaRPr lang="en-US"/>
            </a:p>
          </p:txBody>
        </p:sp>
        <p:sp>
          <p:nvSpPr>
            <p:cNvPr id="327388" name="Freeform 732"/>
            <p:cNvSpPr>
              <a:spLocks/>
            </p:cNvSpPr>
            <p:nvPr/>
          </p:nvSpPr>
          <p:spPr bwMode="auto">
            <a:xfrm>
              <a:off x="2862" y="1856"/>
              <a:ext cx="6" cy="6"/>
            </a:xfrm>
            <a:custGeom>
              <a:avLst/>
              <a:gdLst/>
              <a:ahLst/>
              <a:cxnLst>
                <a:cxn ang="0">
                  <a:pos x="4" y="6"/>
                </a:cxn>
                <a:cxn ang="0">
                  <a:pos x="5" y="6"/>
                </a:cxn>
                <a:cxn ang="0">
                  <a:pos x="6" y="5"/>
                </a:cxn>
                <a:cxn ang="0">
                  <a:pos x="6" y="4"/>
                </a:cxn>
                <a:cxn ang="0">
                  <a:pos x="6" y="3"/>
                </a:cxn>
                <a:cxn ang="0">
                  <a:pos x="6" y="2"/>
                </a:cxn>
                <a:cxn ang="0">
                  <a:pos x="5" y="1"/>
                </a:cxn>
                <a:cxn ang="0">
                  <a:pos x="4" y="0"/>
                </a:cxn>
                <a:cxn ang="0">
                  <a:pos x="3" y="0"/>
                </a:cxn>
                <a:cxn ang="0">
                  <a:pos x="3" y="0"/>
                </a:cxn>
                <a:cxn ang="0">
                  <a:pos x="2" y="1"/>
                </a:cxn>
                <a:cxn ang="0">
                  <a:pos x="1" y="2"/>
                </a:cxn>
                <a:cxn ang="0">
                  <a:pos x="0" y="3"/>
                </a:cxn>
                <a:cxn ang="0">
                  <a:pos x="0" y="4"/>
                </a:cxn>
                <a:cxn ang="0">
                  <a:pos x="1" y="5"/>
                </a:cxn>
                <a:cxn ang="0">
                  <a:pos x="2" y="6"/>
                </a:cxn>
                <a:cxn ang="0">
                  <a:pos x="3" y="6"/>
                </a:cxn>
                <a:cxn ang="0">
                  <a:pos x="4" y="6"/>
                </a:cxn>
              </a:cxnLst>
              <a:rect l="0" t="0" r="r" b="b"/>
              <a:pathLst>
                <a:path w="6" h="6">
                  <a:moveTo>
                    <a:pt x="4" y="6"/>
                  </a:moveTo>
                  <a:lnTo>
                    <a:pt x="5" y="6"/>
                  </a:lnTo>
                  <a:lnTo>
                    <a:pt x="6" y="5"/>
                  </a:lnTo>
                  <a:lnTo>
                    <a:pt x="6" y="4"/>
                  </a:lnTo>
                  <a:lnTo>
                    <a:pt x="6" y="3"/>
                  </a:lnTo>
                  <a:lnTo>
                    <a:pt x="6" y="2"/>
                  </a:lnTo>
                  <a:lnTo>
                    <a:pt x="5" y="1"/>
                  </a:lnTo>
                  <a:lnTo>
                    <a:pt x="4" y="0"/>
                  </a:lnTo>
                  <a:lnTo>
                    <a:pt x="3" y="0"/>
                  </a:lnTo>
                  <a:lnTo>
                    <a:pt x="3" y="0"/>
                  </a:lnTo>
                  <a:lnTo>
                    <a:pt x="2" y="1"/>
                  </a:lnTo>
                  <a:lnTo>
                    <a:pt x="1" y="2"/>
                  </a:lnTo>
                  <a:lnTo>
                    <a:pt x="0" y="3"/>
                  </a:lnTo>
                  <a:lnTo>
                    <a:pt x="0" y="4"/>
                  </a:lnTo>
                  <a:lnTo>
                    <a:pt x="1" y="5"/>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389" name="Freeform 733"/>
            <p:cNvSpPr>
              <a:spLocks/>
            </p:cNvSpPr>
            <p:nvPr/>
          </p:nvSpPr>
          <p:spPr bwMode="auto">
            <a:xfrm>
              <a:off x="2848" y="1858"/>
              <a:ext cx="7" cy="6"/>
            </a:xfrm>
            <a:custGeom>
              <a:avLst/>
              <a:gdLst/>
              <a:ahLst/>
              <a:cxnLst>
                <a:cxn ang="0">
                  <a:pos x="5" y="6"/>
                </a:cxn>
                <a:cxn ang="0">
                  <a:pos x="6" y="6"/>
                </a:cxn>
                <a:cxn ang="0">
                  <a:pos x="7" y="5"/>
                </a:cxn>
                <a:cxn ang="0">
                  <a:pos x="7" y="4"/>
                </a:cxn>
                <a:cxn ang="0">
                  <a:pos x="7" y="3"/>
                </a:cxn>
                <a:cxn ang="0">
                  <a:pos x="7" y="2"/>
                </a:cxn>
                <a:cxn ang="0">
                  <a:pos x="6" y="1"/>
                </a:cxn>
                <a:cxn ang="0">
                  <a:pos x="5" y="0"/>
                </a:cxn>
                <a:cxn ang="0">
                  <a:pos x="3" y="0"/>
                </a:cxn>
                <a:cxn ang="0">
                  <a:pos x="3" y="0"/>
                </a:cxn>
                <a:cxn ang="0">
                  <a:pos x="2" y="1"/>
                </a:cxn>
                <a:cxn ang="0">
                  <a:pos x="1" y="2"/>
                </a:cxn>
                <a:cxn ang="0">
                  <a:pos x="0" y="3"/>
                </a:cxn>
                <a:cxn ang="0">
                  <a:pos x="0" y="4"/>
                </a:cxn>
                <a:cxn ang="0">
                  <a:pos x="1" y="5"/>
                </a:cxn>
                <a:cxn ang="0">
                  <a:pos x="2" y="6"/>
                </a:cxn>
                <a:cxn ang="0">
                  <a:pos x="3" y="6"/>
                </a:cxn>
                <a:cxn ang="0">
                  <a:pos x="5" y="6"/>
                </a:cxn>
              </a:cxnLst>
              <a:rect l="0" t="0" r="r" b="b"/>
              <a:pathLst>
                <a:path w="7" h="6">
                  <a:moveTo>
                    <a:pt x="5" y="6"/>
                  </a:moveTo>
                  <a:lnTo>
                    <a:pt x="6" y="6"/>
                  </a:lnTo>
                  <a:lnTo>
                    <a:pt x="7" y="5"/>
                  </a:lnTo>
                  <a:lnTo>
                    <a:pt x="7" y="4"/>
                  </a:lnTo>
                  <a:lnTo>
                    <a:pt x="7" y="3"/>
                  </a:lnTo>
                  <a:lnTo>
                    <a:pt x="7" y="2"/>
                  </a:lnTo>
                  <a:lnTo>
                    <a:pt x="6" y="1"/>
                  </a:lnTo>
                  <a:lnTo>
                    <a:pt x="5" y="0"/>
                  </a:lnTo>
                  <a:lnTo>
                    <a:pt x="3" y="0"/>
                  </a:lnTo>
                  <a:lnTo>
                    <a:pt x="3" y="0"/>
                  </a:lnTo>
                  <a:lnTo>
                    <a:pt x="2" y="1"/>
                  </a:lnTo>
                  <a:lnTo>
                    <a:pt x="1" y="2"/>
                  </a:lnTo>
                  <a:lnTo>
                    <a:pt x="0" y="3"/>
                  </a:lnTo>
                  <a:lnTo>
                    <a:pt x="0" y="4"/>
                  </a:lnTo>
                  <a:lnTo>
                    <a:pt x="1" y="5"/>
                  </a:lnTo>
                  <a:lnTo>
                    <a:pt x="2" y="6"/>
                  </a:lnTo>
                  <a:lnTo>
                    <a:pt x="3" y="6"/>
                  </a:lnTo>
                  <a:lnTo>
                    <a:pt x="5" y="6"/>
                  </a:lnTo>
                  <a:close/>
                </a:path>
              </a:pathLst>
            </a:custGeom>
            <a:solidFill>
              <a:srgbClr val="000000"/>
            </a:solidFill>
            <a:ln w="9525">
              <a:noFill/>
              <a:round/>
              <a:headEnd/>
              <a:tailEnd/>
            </a:ln>
          </p:spPr>
          <p:txBody>
            <a:bodyPr/>
            <a:lstStyle/>
            <a:p>
              <a:endParaRPr lang="en-US"/>
            </a:p>
          </p:txBody>
        </p:sp>
        <p:sp>
          <p:nvSpPr>
            <p:cNvPr id="327390" name="Freeform 734"/>
            <p:cNvSpPr>
              <a:spLocks/>
            </p:cNvSpPr>
            <p:nvPr/>
          </p:nvSpPr>
          <p:spPr bwMode="auto">
            <a:xfrm>
              <a:off x="2834" y="1860"/>
              <a:ext cx="7" cy="6"/>
            </a:xfrm>
            <a:custGeom>
              <a:avLst/>
              <a:gdLst/>
              <a:ahLst/>
              <a:cxnLst>
                <a:cxn ang="0">
                  <a:pos x="5" y="6"/>
                </a:cxn>
                <a:cxn ang="0">
                  <a:pos x="6" y="5"/>
                </a:cxn>
                <a:cxn ang="0">
                  <a:pos x="7" y="4"/>
                </a:cxn>
                <a:cxn ang="0">
                  <a:pos x="7" y="3"/>
                </a:cxn>
                <a:cxn ang="0">
                  <a:pos x="7" y="2"/>
                </a:cxn>
                <a:cxn ang="0">
                  <a:pos x="7" y="1"/>
                </a:cxn>
                <a:cxn ang="0">
                  <a:pos x="6" y="0"/>
                </a:cxn>
                <a:cxn ang="0">
                  <a:pos x="5" y="0"/>
                </a:cxn>
                <a:cxn ang="0">
                  <a:pos x="4" y="0"/>
                </a:cxn>
                <a:cxn ang="0">
                  <a:pos x="4" y="0"/>
                </a:cxn>
                <a:cxn ang="0">
                  <a:pos x="3" y="0"/>
                </a:cxn>
                <a:cxn ang="0">
                  <a:pos x="2" y="1"/>
                </a:cxn>
                <a:cxn ang="0">
                  <a:pos x="0" y="2"/>
                </a:cxn>
                <a:cxn ang="0">
                  <a:pos x="0" y="3"/>
                </a:cxn>
                <a:cxn ang="0">
                  <a:pos x="2" y="4"/>
                </a:cxn>
                <a:cxn ang="0">
                  <a:pos x="3" y="5"/>
                </a:cxn>
                <a:cxn ang="0">
                  <a:pos x="4" y="6"/>
                </a:cxn>
                <a:cxn ang="0">
                  <a:pos x="5" y="6"/>
                </a:cxn>
              </a:cxnLst>
              <a:rect l="0" t="0" r="r" b="b"/>
              <a:pathLst>
                <a:path w="7" h="6">
                  <a:moveTo>
                    <a:pt x="5" y="6"/>
                  </a:moveTo>
                  <a:lnTo>
                    <a:pt x="6" y="5"/>
                  </a:lnTo>
                  <a:lnTo>
                    <a:pt x="7" y="4"/>
                  </a:lnTo>
                  <a:lnTo>
                    <a:pt x="7" y="3"/>
                  </a:lnTo>
                  <a:lnTo>
                    <a:pt x="7" y="2"/>
                  </a:lnTo>
                  <a:lnTo>
                    <a:pt x="7" y="1"/>
                  </a:lnTo>
                  <a:lnTo>
                    <a:pt x="6" y="0"/>
                  </a:lnTo>
                  <a:lnTo>
                    <a:pt x="5" y="0"/>
                  </a:lnTo>
                  <a:lnTo>
                    <a:pt x="4" y="0"/>
                  </a:lnTo>
                  <a:lnTo>
                    <a:pt x="4" y="0"/>
                  </a:lnTo>
                  <a:lnTo>
                    <a:pt x="3" y="0"/>
                  </a:lnTo>
                  <a:lnTo>
                    <a:pt x="2" y="1"/>
                  </a:lnTo>
                  <a:lnTo>
                    <a:pt x="0" y="2"/>
                  </a:lnTo>
                  <a:lnTo>
                    <a:pt x="0" y="3"/>
                  </a:lnTo>
                  <a:lnTo>
                    <a:pt x="2" y="4"/>
                  </a:lnTo>
                  <a:lnTo>
                    <a:pt x="3" y="5"/>
                  </a:lnTo>
                  <a:lnTo>
                    <a:pt x="4" y="6"/>
                  </a:lnTo>
                  <a:lnTo>
                    <a:pt x="5" y="6"/>
                  </a:lnTo>
                  <a:close/>
                </a:path>
              </a:pathLst>
            </a:custGeom>
            <a:solidFill>
              <a:srgbClr val="000000"/>
            </a:solidFill>
            <a:ln w="9525">
              <a:noFill/>
              <a:round/>
              <a:headEnd/>
              <a:tailEnd/>
            </a:ln>
          </p:spPr>
          <p:txBody>
            <a:bodyPr/>
            <a:lstStyle/>
            <a:p>
              <a:endParaRPr lang="en-US"/>
            </a:p>
          </p:txBody>
        </p:sp>
        <p:sp>
          <p:nvSpPr>
            <p:cNvPr id="327391" name="Freeform 735"/>
            <p:cNvSpPr>
              <a:spLocks/>
            </p:cNvSpPr>
            <p:nvPr/>
          </p:nvSpPr>
          <p:spPr bwMode="auto">
            <a:xfrm>
              <a:off x="2822" y="1862"/>
              <a:ext cx="7" cy="6"/>
            </a:xfrm>
            <a:custGeom>
              <a:avLst/>
              <a:gdLst/>
              <a:ahLst/>
              <a:cxnLst>
                <a:cxn ang="0">
                  <a:pos x="3" y="6"/>
                </a:cxn>
                <a:cxn ang="0">
                  <a:pos x="5" y="5"/>
                </a:cxn>
                <a:cxn ang="0">
                  <a:pos x="6" y="4"/>
                </a:cxn>
                <a:cxn ang="0">
                  <a:pos x="7" y="3"/>
                </a:cxn>
                <a:cxn ang="0">
                  <a:pos x="7" y="2"/>
                </a:cxn>
                <a:cxn ang="0">
                  <a:pos x="6" y="1"/>
                </a:cxn>
                <a:cxn ang="0">
                  <a:pos x="5" y="0"/>
                </a:cxn>
                <a:cxn ang="0">
                  <a:pos x="3" y="0"/>
                </a:cxn>
                <a:cxn ang="0">
                  <a:pos x="2" y="0"/>
                </a:cxn>
                <a:cxn ang="0">
                  <a:pos x="2" y="0"/>
                </a:cxn>
                <a:cxn ang="0">
                  <a:pos x="1" y="0"/>
                </a:cxn>
                <a:cxn ang="0">
                  <a:pos x="0" y="1"/>
                </a:cxn>
                <a:cxn ang="0">
                  <a:pos x="0" y="2"/>
                </a:cxn>
                <a:cxn ang="0">
                  <a:pos x="0" y="3"/>
                </a:cxn>
                <a:cxn ang="0">
                  <a:pos x="0" y="4"/>
                </a:cxn>
                <a:cxn ang="0">
                  <a:pos x="1" y="5"/>
                </a:cxn>
                <a:cxn ang="0">
                  <a:pos x="2" y="6"/>
                </a:cxn>
                <a:cxn ang="0">
                  <a:pos x="3" y="6"/>
                </a:cxn>
              </a:cxnLst>
              <a:rect l="0" t="0" r="r" b="b"/>
              <a:pathLst>
                <a:path w="7" h="6">
                  <a:moveTo>
                    <a:pt x="3" y="6"/>
                  </a:moveTo>
                  <a:lnTo>
                    <a:pt x="5" y="5"/>
                  </a:lnTo>
                  <a:lnTo>
                    <a:pt x="6" y="4"/>
                  </a:lnTo>
                  <a:lnTo>
                    <a:pt x="7" y="3"/>
                  </a:lnTo>
                  <a:lnTo>
                    <a:pt x="7" y="2"/>
                  </a:lnTo>
                  <a:lnTo>
                    <a:pt x="6" y="1"/>
                  </a:lnTo>
                  <a:lnTo>
                    <a:pt x="5" y="0"/>
                  </a:lnTo>
                  <a:lnTo>
                    <a:pt x="3" y="0"/>
                  </a:lnTo>
                  <a:lnTo>
                    <a:pt x="2" y="0"/>
                  </a:lnTo>
                  <a:lnTo>
                    <a:pt x="2" y="0"/>
                  </a:lnTo>
                  <a:lnTo>
                    <a:pt x="1" y="0"/>
                  </a:lnTo>
                  <a:lnTo>
                    <a:pt x="0" y="1"/>
                  </a:lnTo>
                  <a:lnTo>
                    <a:pt x="0" y="2"/>
                  </a:lnTo>
                  <a:lnTo>
                    <a:pt x="0" y="3"/>
                  </a:lnTo>
                  <a:lnTo>
                    <a:pt x="0" y="4"/>
                  </a:lnTo>
                  <a:lnTo>
                    <a:pt x="1" y="5"/>
                  </a:lnTo>
                  <a:lnTo>
                    <a:pt x="2" y="6"/>
                  </a:lnTo>
                  <a:lnTo>
                    <a:pt x="3" y="6"/>
                  </a:lnTo>
                  <a:close/>
                </a:path>
              </a:pathLst>
            </a:custGeom>
            <a:solidFill>
              <a:srgbClr val="000000"/>
            </a:solidFill>
            <a:ln w="9525">
              <a:noFill/>
              <a:round/>
              <a:headEnd/>
              <a:tailEnd/>
            </a:ln>
          </p:spPr>
          <p:txBody>
            <a:bodyPr/>
            <a:lstStyle/>
            <a:p>
              <a:endParaRPr lang="en-US"/>
            </a:p>
          </p:txBody>
        </p:sp>
        <p:sp>
          <p:nvSpPr>
            <p:cNvPr id="327392" name="Freeform 736"/>
            <p:cNvSpPr>
              <a:spLocks/>
            </p:cNvSpPr>
            <p:nvPr/>
          </p:nvSpPr>
          <p:spPr bwMode="auto">
            <a:xfrm>
              <a:off x="2809" y="1864"/>
              <a:ext cx="6" cy="7"/>
            </a:xfrm>
            <a:custGeom>
              <a:avLst/>
              <a:gdLst/>
              <a:ahLst/>
              <a:cxnLst>
                <a:cxn ang="0">
                  <a:pos x="3" y="7"/>
                </a:cxn>
                <a:cxn ang="0">
                  <a:pos x="4" y="6"/>
                </a:cxn>
                <a:cxn ang="0">
                  <a:pos x="5" y="4"/>
                </a:cxn>
                <a:cxn ang="0">
                  <a:pos x="6" y="3"/>
                </a:cxn>
                <a:cxn ang="0">
                  <a:pos x="6" y="2"/>
                </a:cxn>
                <a:cxn ang="0">
                  <a:pos x="5" y="1"/>
                </a:cxn>
                <a:cxn ang="0">
                  <a:pos x="4" y="0"/>
                </a:cxn>
                <a:cxn ang="0">
                  <a:pos x="3" y="0"/>
                </a:cxn>
                <a:cxn ang="0">
                  <a:pos x="2" y="0"/>
                </a:cxn>
                <a:cxn ang="0">
                  <a:pos x="2" y="0"/>
                </a:cxn>
                <a:cxn ang="0">
                  <a:pos x="1" y="0"/>
                </a:cxn>
                <a:cxn ang="0">
                  <a:pos x="0" y="1"/>
                </a:cxn>
                <a:cxn ang="0">
                  <a:pos x="0" y="2"/>
                </a:cxn>
                <a:cxn ang="0">
                  <a:pos x="0" y="3"/>
                </a:cxn>
                <a:cxn ang="0">
                  <a:pos x="0" y="4"/>
                </a:cxn>
                <a:cxn ang="0">
                  <a:pos x="1" y="6"/>
                </a:cxn>
                <a:cxn ang="0">
                  <a:pos x="2" y="7"/>
                </a:cxn>
                <a:cxn ang="0">
                  <a:pos x="3" y="7"/>
                </a:cxn>
              </a:cxnLst>
              <a:rect l="0" t="0" r="r" b="b"/>
              <a:pathLst>
                <a:path w="6" h="7">
                  <a:moveTo>
                    <a:pt x="3" y="7"/>
                  </a:moveTo>
                  <a:lnTo>
                    <a:pt x="4" y="6"/>
                  </a:lnTo>
                  <a:lnTo>
                    <a:pt x="5" y="4"/>
                  </a:lnTo>
                  <a:lnTo>
                    <a:pt x="6" y="3"/>
                  </a:lnTo>
                  <a:lnTo>
                    <a:pt x="6" y="2"/>
                  </a:lnTo>
                  <a:lnTo>
                    <a:pt x="5" y="1"/>
                  </a:lnTo>
                  <a:lnTo>
                    <a:pt x="4" y="0"/>
                  </a:lnTo>
                  <a:lnTo>
                    <a:pt x="3" y="0"/>
                  </a:lnTo>
                  <a:lnTo>
                    <a:pt x="2" y="0"/>
                  </a:lnTo>
                  <a:lnTo>
                    <a:pt x="2" y="0"/>
                  </a:lnTo>
                  <a:lnTo>
                    <a:pt x="1" y="0"/>
                  </a:lnTo>
                  <a:lnTo>
                    <a:pt x="0" y="1"/>
                  </a:lnTo>
                  <a:lnTo>
                    <a:pt x="0" y="2"/>
                  </a:lnTo>
                  <a:lnTo>
                    <a:pt x="0" y="3"/>
                  </a:lnTo>
                  <a:lnTo>
                    <a:pt x="0" y="4"/>
                  </a:lnTo>
                  <a:lnTo>
                    <a:pt x="1" y="6"/>
                  </a:lnTo>
                  <a:lnTo>
                    <a:pt x="2" y="7"/>
                  </a:lnTo>
                  <a:lnTo>
                    <a:pt x="3" y="7"/>
                  </a:lnTo>
                  <a:close/>
                </a:path>
              </a:pathLst>
            </a:custGeom>
            <a:solidFill>
              <a:srgbClr val="000000"/>
            </a:solidFill>
            <a:ln w="9525">
              <a:noFill/>
              <a:round/>
              <a:headEnd/>
              <a:tailEnd/>
            </a:ln>
          </p:spPr>
          <p:txBody>
            <a:bodyPr/>
            <a:lstStyle/>
            <a:p>
              <a:endParaRPr lang="en-US"/>
            </a:p>
          </p:txBody>
        </p:sp>
        <p:sp>
          <p:nvSpPr>
            <p:cNvPr id="327393" name="Freeform 737"/>
            <p:cNvSpPr>
              <a:spLocks/>
            </p:cNvSpPr>
            <p:nvPr/>
          </p:nvSpPr>
          <p:spPr bwMode="auto">
            <a:xfrm>
              <a:off x="2795" y="1866"/>
              <a:ext cx="7" cy="7"/>
            </a:xfrm>
            <a:custGeom>
              <a:avLst/>
              <a:gdLst/>
              <a:ahLst/>
              <a:cxnLst>
                <a:cxn ang="0">
                  <a:pos x="3" y="7"/>
                </a:cxn>
                <a:cxn ang="0">
                  <a:pos x="4" y="6"/>
                </a:cxn>
                <a:cxn ang="0">
                  <a:pos x="6" y="5"/>
                </a:cxn>
                <a:cxn ang="0">
                  <a:pos x="7" y="4"/>
                </a:cxn>
                <a:cxn ang="0">
                  <a:pos x="7" y="2"/>
                </a:cxn>
                <a:cxn ang="0">
                  <a:pos x="6" y="1"/>
                </a:cxn>
                <a:cxn ang="0">
                  <a:pos x="4" y="0"/>
                </a:cxn>
                <a:cxn ang="0">
                  <a:pos x="3" y="0"/>
                </a:cxn>
                <a:cxn ang="0">
                  <a:pos x="2" y="0"/>
                </a:cxn>
                <a:cxn ang="0">
                  <a:pos x="2" y="0"/>
                </a:cxn>
                <a:cxn ang="0">
                  <a:pos x="1" y="0"/>
                </a:cxn>
                <a:cxn ang="0">
                  <a:pos x="0" y="1"/>
                </a:cxn>
                <a:cxn ang="0">
                  <a:pos x="0" y="2"/>
                </a:cxn>
                <a:cxn ang="0">
                  <a:pos x="0" y="4"/>
                </a:cxn>
                <a:cxn ang="0">
                  <a:pos x="0" y="5"/>
                </a:cxn>
                <a:cxn ang="0">
                  <a:pos x="1" y="6"/>
                </a:cxn>
                <a:cxn ang="0">
                  <a:pos x="2" y="7"/>
                </a:cxn>
                <a:cxn ang="0">
                  <a:pos x="3" y="7"/>
                </a:cxn>
              </a:cxnLst>
              <a:rect l="0" t="0" r="r" b="b"/>
              <a:pathLst>
                <a:path w="7" h="7">
                  <a:moveTo>
                    <a:pt x="3" y="7"/>
                  </a:moveTo>
                  <a:lnTo>
                    <a:pt x="4" y="6"/>
                  </a:lnTo>
                  <a:lnTo>
                    <a:pt x="6" y="5"/>
                  </a:lnTo>
                  <a:lnTo>
                    <a:pt x="7" y="4"/>
                  </a:lnTo>
                  <a:lnTo>
                    <a:pt x="7" y="2"/>
                  </a:lnTo>
                  <a:lnTo>
                    <a:pt x="6" y="1"/>
                  </a:lnTo>
                  <a:lnTo>
                    <a:pt x="4" y="0"/>
                  </a:lnTo>
                  <a:lnTo>
                    <a:pt x="3" y="0"/>
                  </a:lnTo>
                  <a:lnTo>
                    <a:pt x="2" y="0"/>
                  </a:lnTo>
                  <a:lnTo>
                    <a:pt x="2" y="0"/>
                  </a:lnTo>
                  <a:lnTo>
                    <a:pt x="1" y="0"/>
                  </a:lnTo>
                  <a:lnTo>
                    <a:pt x="0" y="1"/>
                  </a:lnTo>
                  <a:lnTo>
                    <a:pt x="0" y="2"/>
                  </a:lnTo>
                  <a:lnTo>
                    <a:pt x="0" y="4"/>
                  </a:lnTo>
                  <a:lnTo>
                    <a:pt x="0" y="5"/>
                  </a:lnTo>
                  <a:lnTo>
                    <a:pt x="1" y="6"/>
                  </a:lnTo>
                  <a:lnTo>
                    <a:pt x="2" y="7"/>
                  </a:lnTo>
                  <a:lnTo>
                    <a:pt x="3" y="7"/>
                  </a:lnTo>
                  <a:close/>
                </a:path>
              </a:pathLst>
            </a:custGeom>
            <a:solidFill>
              <a:srgbClr val="000000"/>
            </a:solidFill>
            <a:ln w="9525">
              <a:noFill/>
              <a:round/>
              <a:headEnd/>
              <a:tailEnd/>
            </a:ln>
          </p:spPr>
          <p:txBody>
            <a:bodyPr/>
            <a:lstStyle/>
            <a:p>
              <a:endParaRPr lang="en-US"/>
            </a:p>
          </p:txBody>
        </p:sp>
        <p:sp>
          <p:nvSpPr>
            <p:cNvPr id="327394" name="Freeform 738"/>
            <p:cNvSpPr>
              <a:spLocks/>
            </p:cNvSpPr>
            <p:nvPr/>
          </p:nvSpPr>
          <p:spPr bwMode="auto">
            <a:xfrm>
              <a:off x="2781" y="1868"/>
              <a:ext cx="7" cy="7"/>
            </a:xfrm>
            <a:custGeom>
              <a:avLst/>
              <a:gdLst/>
              <a:ahLst/>
              <a:cxnLst>
                <a:cxn ang="0">
                  <a:pos x="5" y="7"/>
                </a:cxn>
                <a:cxn ang="0">
                  <a:pos x="6" y="6"/>
                </a:cxn>
                <a:cxn ang="0">
                  <a:pos x="7" y="5"/>
                </a:cxn>
                <a:cxn ang="0">
                  <a:pos x="7" y="4"/>
                </a:cxn>
                <a:cxn ang="0">
                  <a:pos x="7" y="3"/>
                </a:cxn>
                <a:cxn ang="0">
                  <a:pos x="7" y="2"/>
                </a:cxn>
                <a:cxn ang="0">
                  <a:pos x="6" y="0"/>
                </a:cxn>
                <a:cxn ang="0">
                  <a:pos x="5" y="0"/>
                </a:cxn>
                <a:cxn ang="0">
                  <a:pos x="4" y="0"/>
                </a:cxn>
                <a:cxn ang="0">
                  <a:pos x="4" y="0"/>
                </a:cxn>
                <a:cxn ang="0">
                  <a:pos x="3" y="0"/>
                </a:cxn>
                <a:cxn ang="0">
                  <a:pos x="2" y="2"/>
                </a:cxn>
                <a:cxn ang="0">
                  <a:pos x="0" y="3"/>
                </a:cxn>
                <a:cxn ang="0">
                  <a:pos x="0" y="4"/>
                </a:cxn>
                <a:cxn ang="0">
                  <a:pos x="2" y="5"/>
                </a:cxn>
                <a:cxn ang="0">
                  <a:pos x="3" y="6"/>
                </a:cxn>
                <a:cxn ang="0">
                  <a:pos x="4" y="7"/>
                </a:cxn>
                <a:cxn ang="0">
                  <a:pos x="5" y="7"/>
                </a:cxn>
              </a:cxnLst>
              <a:rect l="0" t="0" r="r" b="b"/>
              <a:pathLst>
                <a:path w="7" h="7">
                  <a:moveTo>
                    <a:pt x="5" y="7"/>
                  </a:moveTo>
                  <a:lnTo>
                    <a:pt x="6" y="6"/>
                  </a:lnTo>
                  <a:lnTo>
                    <a:pt x="7" y="5"/>
                  </a:lnTo>
                  <a:lnTo>
                    <a:pt x="7" y="4"/>
                  </a:lnTo>
                  <a:lnTo>
                    <a:pt x="7" y="3"/>
                  </a:lnTo>
                  <a:lnTo>
                    <a:pt x="7" y="2"/>
                  </a:lnTo>
                  <a:lnTo>
                    <a:pt x="6" y="0"/>
                  </a:lnTo>
                  <a:lnTo>
                    <a:pt x="5" y="0"/>
                  </a:lnTo>
                  <a:lnTo>
                    <a:pt x="4" y="0"/>
                  </a:lnTo>
                  <a:lnTo>
                    <a:pt x="4" y="0"/>
                  </a:lnTo>
                  <a:lnTo>
                    <a:pt x="3" y="0"/>
                  </a:lnTo>
                  <a:lnTo>
                    <a:pt x="2" y="2"/>
                  </a:lnTo>
                  <a:lnTo>
                    <a:pt x="0" y="3"/>
                  </a:lnTo>
                  <a:lnTo>
                    <a:pt x="0" y="4"/>
                  </a:lnTo>
                  <a:lnTo>
                    <a:pt x="2" y="5"/>
                  </a:lnTo>
                  <a:lnTo>
                    <a:pt x="3" y="6"/>
                  </a:lnTo>
                  <a:lnTo>
                    <a:pt x="4" y="7"/>
                  </a:lnTo>
                  <a:lnTo>
                    <a:pt x="5" y="7"/>
                  </a:lnTo>
                  <a:close/>
                </a:path>
              </a:pathLst>
            </a:custGeom>
            <a:solidFill>
              <a:srgbClr val="000000"/>
            </a:solidFill>
            <a:ln w="9525">
              <a:noFill/>
              <a:round/>
              <a:headEnd/>
              <a:tailEnd/>
            </a:ln>
          </p:spPr>
          <p:txBody>
            <a:bodyPr/>
            <a:lstStyle/>
            <a:p>
              <a:endParaRPr lang="en-US"/>
            </a:p>
          </p:txBody>
        </p:sp>
        <p:sp>
          <p:nvSpPr>
            <p:cNvPr id="327395" name="Freeform 739"/>
            <p:cNvSpPr>
              <a:spLocks/>
            </p:cNvSpPr>
            <p:nvPr/>
          </p:nvSpPr>
          <p:spPr bwMode="auto">
            <a:xfrm>
              <a:off x="2768" y="1871"/>
              <a:ext cx="7" cy="6"/>
            </a:xfrm>
            <a:custGeom>
              <a:avLst/>
              <a:gdLst/>
              <a:ahLst/>
              <a:cxnLst>
                <a:cxn ang="0">
                  <a:pos x="4" y="6"/>
                </a:cxn>
                <a:cxn ang="0">
                  <a:pos x="6" y="5"/>
                </a:cxn>
                <a:cxn ang="0">
                  <a:pos x="7" y="4"/>
                </a:cxn>
                <a:cxn ang="0">
                  <a:pos x="7" y="3"/>
                </a:cxn>
                <a:cxn ang="0">
                  <a:pos x="7" y="2"/>
                </a:cxn>
                <a:cxn ang="0">
                  <a:pos x="7" y="1"/>
                </a:cxn>
                <a:cxn ang="0">
                  <a:pos x="6" y="0"/>
                </a:cxn>
                <a:cxn ang="0">
                  <a:pos x="4" y="0"/>
                </a:cxn>
                <a:cxn ang="0">
                  <a:pos x="3" y="0"/>
                </a:cxn>
                <a:cxn ang="0">
                  <a:pos x="3" y="0"/>
                </a:cxn>
                <a:cxn ang="0">
                  <a:pos x="2" y="0"/>
                </a:cxn>
                <a:cxn ang="0">
                  <a:pos x="1" y="1"/>
                </a:cxn>
                <a:cxn ang="0">
                  <a:pos x="0" y="2"/>
                </a:cxn>
                <a:cxn ang="0">
                  <a:pos x="0" y="3"/>
                </a:cxn>
                <a:cxn ang="0">
                  <a:pos x="1" y="4"/>
                </a:cxn>
                <a:cxn ang="0">
                  <a:pos x="2" y="5"/>
                </a:cxn>
                <a:cxn ang="0">
                  <a:pos x="3" y="6"/>
                </a:cxn>
                <a:cxn ang="0">
                  <a:pos x="4" y="6"/>
                </a:cxn>
              </a:cxnLst>
              <a:rect l="0" t="0" r="r" b="b"/>
              <a:pathLst>
                <a:path w="7" h="6">
                  <a:moveTo>
                    <a:pt x="4" y="6"/>
                  </a:moveTo>
                  <a:lnTo>
                    <a:pt x="6" y="5"/>
                  </a:lnTo>
                  <a:lnTo>
                    <a:pt x="7" y="4"/>
                  </a:lnTo>
                  <a:lnTo>
                    <a:pt x="7" y="3"/>
                  </a:lnTo>
                  <a:lnTo>
                    <a:pt x="7" y="2"/>
                  </a:lnTo>
                  <a:lnTo>
                    <a:pt x="7" y="1"/>
                  </a:lnTo>
                  <a:lnTo>
                    <a:pt x="6" y="0"/>
                  </a:lnTo>
                  <a:lnTo>
                    <a:pt x="4" y="0"/>
                  </a:lnTo>
                  <a:lnTo>
                    <a:pt x="3" y="0"/>
                  </a:lnTo>
                  <a:lnTo>
                    <a:pt x="3" y="0"/>
                  </a:lnTo>
                  <a:lnTo>
                    <a:pt x="2" y="0"/>
                  </a:lnTo>
                  <a:lnTo>
                    <a:pt x="1" y="1"/>
                  </a:lnTo>
                  <a:lnTo>
                    <a:pt x="0" y="2"/>
                  </a:lnTo>
                  <a:lnTo>
                    <a:pt x="0" y="3"/>
                  </a:lnTo>
                  <a:lnTo>
                    <a:pt x="1" y="4"/>
                  </a:lnTo>
                  <a:lnTo>
                    <a:pt x="2" y="5"/>
                  </a:lnTo>
                  <a:lnTo>
                    <a:pt x="3" y="6"/>
                  </a:lnTo>
                  <a:lnTo>
                    <a:pt x="4" y="6"/>
                  </a:lnTo>
                  <a:close/>
                </a:path>
              </a:pathLst>
            </a:custGeom>
            <a:solidFill>
              <a:srgbClr val="000000"/>
            </a:solidFill>
            <a:ln w="9525">
              <a:noFill/>
              <a:round/>
              <a:headEnd/>
              <a:tailEnd/>
            </a:ln>
          </p:spPr>
          <p:txBody>
            <a:bodyPr/>
            <a:lstStyle/>
            <a:p>
              <a:endParaRPr lang="en-US"/>
            </a:p>
          </p:txBody>
        </p:sp>
        <p:sp>
          <p:nvSpPr>
            <p:cNvPr id="327396" name="Freeform 740"/>
            <p:cNvSpPr>
              <a:spLocks/>
            </p:cNvSpPr>
            <p:nvPr/>
          </p:nvSpPr>
          <p:spPr bwMode="auto">
            <a:xfrm>
              <a:off x="2754" y="1872"/>
              <a:ext cx="7" cy="6"/>
            </a:xfrm>
            <a:custGeom>
              <a:avLst/>
              <a:gdLst/>
              <a:ahLst/>
              <a:cxnLst>
                <a:cxn ang="0">
                  <a:pos x="5" y="6"/>
                </a:cxn>
                <a:cxn ang="0">
                  <a:pos x="6" y="6"/>
                </a:cxn>
                <a:cxn ang="0">
                  <a:pos x="7" y="5"/>
                </a:cxn>
                <a:cxn ang="0">
                  <a:pos x="7" y="4"/>
                </a:cxn>
                <a:cxn ang="0">
                  <a:pos x="7" y="3"/>
                </a:cxn>
                <a:cxn ang="0">
                  <a:pos x="7" y="2"/>
                </a:cxn>
                <a:cxn ang="0">
                  <a:pos x="6" y="1"/>
                </a:cxn>
                <a:cxn ang="0">
                  <a:pos x="5" y="0"/>
                </a:cxn>
                <a:cxn ang="0">
                  <a:pos x="4" y="0"/>
                </a:cxn>
                <a:cxn ang="0">
                  <a:pos x="4" y="0"/>
                </a:cxn>
                <a:cxn ang="0">
                  <a:pos x="3" y="1"/>
                </a:cxn>
                <a:cxn ang="0">
                  <a:pos x="1" y="2"/>
                </a:cxn>
                <a:cxn ang="0">
                  <a:pos x="0" y="3"/>
                </a:cxn>
                <a:cxn ang="0">
                  <a:pos x="0" y="4"/>
                </a:cxn>
                <a:cxn ang="0">
                  <a:pos x="1" y="5"/>
                </a:cxn>
                <a:cxn ang="0">
                  <a:pos x="3" y="6"/>
                </a:cxn>
                <a:cxn ang="0">
                  <a:pos x="4" y="6"/>
                </a:cxn>
                <a:cxn ang="0">
                  <a:pos x="5" y="6"/>
                </a:cxn>
              </a:cxnLst>
              <a:rect l="0" t="0" r="r" b="b"/>
              <a:pathLst>
                <a:path w="7" h="6">
                  <a:moveTo>
                    <a:pt x="5" y="6"/>
                  </a:moveTo>
                  <a:lnTo>
                    <a:pt x="6" y="6"/>
                  </a:lnTo>
                  <a:lnTo>
                    <a:pt x="7" y="5"/>
                  </a:lnTo>
                  <a:lnTo>
                    <a:pt x="7" y="4"/>
                  </a:lnTo>
                  <a:lnTo>
                    <a:pt x="7" y="3"/>
                  </a:lnTo>
                  <a:lnTo>
                    <a:pt x="7" y="2"/>
                  </a:lnTo>
                  <a:lnTo>
                    <a:pt x="6" y="1"/>
                  </a:lnTo>
                  <a:lnTo>
                    <a:pt x="5" y="0"/>
                  </a:lnTo>
                  <a:lnTo>
                    <a:pt x="4" y="0"/>
                  </a:lnTo>
                  <a:lnTo>
                    <a:pt x="4" y="0"/>
                  </a:lnTo>
                  <a:lnTo>
                    <a:pt x="3" y="1"/>
                  </a:lnTo>
                  <a:lnTo>
                    <a:pt x="1" y="2"/>
                  </a:lnTo>
                  <a:lnTo>
                    <a:pt x="0" y="3"/>
                  </a:lnTo>
                  <a:lnTo>
                    <a:pt x="0" y="4"/>
                  </a:lnTo>
                  <a:lnTo>
                    <a:pt x="1" y="5"/>
                  </a:lnTo>
                  <a:lnTo>
                    <a:pt x="3" y="6"/>
                  </a:lnTo>
                  <a:lnTo>
                    <a:pt x="4" y="6"/>
                  </a:lnTo>
                  <a:lnTo>
                    <a:pt x="5" y="6"/>
                  </a:lnTo>
                  <a:close/>
                </a:path>
              </a:pathLst>
            </a:custGeom>
            <a:solidFill>
              <a:srgbClr val="000000"/>
            </a:solidFill>
            <a:ln w="9525">
              <a:noFill/>
              <a:round/>
              <a:headEnd/>
              <a:tailEnd/>
            </a:ln>
          </p:spPr>
          <p:txBody>
            <a:bodyPr/>
            <a:lstStyle/>
            <a:p>
              <a:endParaRPr lang="en-US"/>
            </a:p>
          </p:txBody>
        </p:sp>
        <p:sp>
          <p:nvSpPr>
            <p:cNvPr id="327397" name="Freeform 741"/>
            <p:cNvSpPr>
              <a:spLocks/>
            </p:cNvSpPr>
            <p:nvPr/>
          </p:nvSpPr>
          <p:spPr bwMode="auto">
            <a:xfrm>
              <a:off x="2742" y="1874"/>
              <a:ext cx="7" cy="6"/>
            </a:xfrm>
            <a:custGeom>
              <a:avLst/>
              <a:gdLst/>
              <a:ahLst/>
              <a:cxnLst>
                <a:cxn ang="0">
                  <a:pos x="3" y="6"/>
                </a:cxn>
                <a:cxn ang="0">
                  <a:pos x="4" y="6"/>
                </a:cxn>
                <a:cxn ang="0">
                  <a:pos x="6" y="5"/>
                </a:cxn>
                <a:cxn ang="0">
                  <a:pos x="7" y="4"/>
                </a:cxn>
                <a:cxn ang="0">
                  <a:pos x="7" y="3"/>
                </a:cxn>
                <a:cxn ang="0">
                  <a:pos x="6" y="2"/>
                </a:cxn>
                <a:cxn ang="0">
                  <a:pos x="4" y="1"/>
                </a:cxn>
                <a:cxn ang="0">
                  <a:pos x="3" y="0"/>
                </a:cxn>
                <a:cxn ang="0">
                  <a:pos x="2" y="0"/>
                </a:cxn>
                <a:cxn ang="0">
                  <a:pos x="2" y="0"/>
                </a:cxn>
                <a:cxn ang="0">
                  <a:pos x="1" y="1"/>
                </a:cxn>
                <a:cxn ang="0">
                  <a:pos x="0" y="2"/>
                </a:cxn>
                <a:cxn ang="0">
                  <a:pos x="0" y="3"/>
                </a:cxn>
                <a:cxn ang="0">
                  <a:pos x="0" y="4"/>
                </a:cxn>
                <a:cxn ang="0">
                  <a:pos x="0" y="5"/>
                </a:cxn>
                <a:cxn ang="0">
                  <a:pos x="1" y="6"/>
                </a:cxn>
                <a:cxn ang="0">
                  <a:pos x="2" y="6"/>
                </a:cxn>
                <a:cxn ang="0">
                  <a:pos x="3" y="6"/>
                </a:cxn>
              </a:cxnLst>
              <a:rect l="0" t="0" r="r" b="b"/>
              <a:pathLst>
                <a:path w="7" h="6">
                  <a:moveTo>
                    <a:pt x="3" y="6"/>
                  </a:moveTo>
                  <a:lnTo>
                    <a:pt x="4" y="6"/>
                  </a:lnTo>
                  <a:lnTo>
                    <a:pt x="6" y="5"/>
                  </a:lnTo>
                  <a:lnTo>
                    <a:pt x="7" y="4"/>
                  </a:lnTo>
                  <a:lnTo>
                    <a:pt x="7" y="3"/>
                  </a:lnTo>
                  <a:lnTo>
                    <a:pt x="6" y="2"/>
                  </a:lnTo>
                  <a:lnTo>
                    <a:pt x="4" y="1"/>
                  </a:lnTo>
                  <a:lnTo>
                    <a:pt x="3" y="0"/>
                  </a:lnTo>
                  <a:lnTo>
                    <a:pt x="2" y="0"/>
                  </a:lnTo>
                  <a:lnTo>
                    <a:pt x="2" y="0"/>
                  </a:lnTo>
                  <a:lnTo>
                    <a:pt x="1" y="1"/>
                  </a:lnTo>
                  <a:lnTo>
                    <a:pt x="0" y="2"/>
                  </a:lnTo>
                  <a:lnTo>
                    <a:pt x="0" y="3"/>
                  </a:lnTo>
                  <a:lnTo>
                    <a:pt x="0" y="4"/>
                  </a:lnTo>
                  <a:lnTo>
                    <a:pt x="0" y="5"/>
                  </a:lnTo>
                  <a:lnTo>
                    <a:pt x="1" y="6"/>
                  </a:lnTo>
                  <a:lnTo>
                    <a:pt x="2" y="6"/>
                  </a:lnTo>
                  <a:lnTo>
                    <a:pt x="3" y="6"/>
                  </a:lnTo>
                  <a:close/>
                </a:path>
              </a:pathLst>
            </a:custGeom>
            <a:solidFill>
              <a:srgbClr val="000000"/>
            </a:solidFill>
            <a:ln w="9525">
              <a:noFill/>
              <a:round/>
              <a:headEnd/>
              <a:tailEnd/>
            </a:ln>
          </p:spPr>
          <p:txBody>
            <a:bodyPr/>
            <a:lstStyle/>
            <a:p>
              <a:endParaRPr lang="en-US"/>
            </a:p>
          </p:txBody>
        </p:sp>
        <p:sp>
          <p:nvSpPr>
            <p:cNvPr id="327398" name="Freeform 742"/>
            <p:cNvSpPr>
              <a:spLocks/>
            </p:cNvSpPr>
            <p:nvPr/>
          </p:nvSpPr>
          <p:spPr bwMode="auto">
            <a:xfrm>
              <a:off x="2728" y="1876"/>
              <a:ext cx="7" cy="6"/>
            </a:xfrm>
            <a:custGeom>
              <a:avLst/>
              <a:gdLst/>
              <a:ahLst/>
              <a:cxnLst>
                <a:cxn ang="0">
                  <a:pos x="4" y="6"/>
                </a:cxn>
                <a:cxn ang="0">
                  <a:pos x="5" y="6"/>
                </a:cxn>
                <a:cxn ang="0">
                  <a:pos x="6" y="5"/>
                </a:cxn>
                <a:cxn ang="0">
                  <a:pos x="7" y="4"/>
                </a:cxn>
                <a:cxn ang="0">
                  <a:pos x="7" y="3"/>
                </a:cxn>
                <a:cxn ang="0">
                  <a:pos x="6" y="2"/>
                </a:cxn>
                <a:cxn ang="0">
                  <a:pos x="5" y="1"/>
                </a:cxn>
                <a:cxn ang="0">
                  <a:pos x="4" y="0"/>
                </a:cxn>
                <a:cxn ang="0">
                  <a:pos x="3" y="0"/>
                </a:cxn>
                <a:cxn ang="0">
                  <a:pos x="3" y="0"/>
                </a:cxn>
                <a:cxn ang="0">
                  <a:pos x="1" y="1"/>
                </a:cxn>
                <a:cxn ang="0">
                  <a:pos x="0" y="2"/>
                </a:cxn>
                <a:cxn ang="0">
                  <a:pos x="0" y="3"/>
                </a:cxn>
                <a:cxn ang="0">
                  <a:pos x="0" y="4"/>
                </a:cxn>
                <a:cxn ang="0">
                  <a:pos x="0" y="5"/>
                </a:cxn>
                <a:cxn ang="0">
                  <a:pos x="1" y="6"/>
                </a:cxn>
                <a:cxn ang="0">
                  <a:pos x="3" y="6"/>
                </a:cxn>
                <a:cxn ang="0">
                  <a:pos x="4" y="6"/>
                </a:cxn>
              </a:cxnLst>
              <a:rect l="0" t="0" r="r" b="b"/>
              <a:pathLst>
                <a:path w="7" h="6">
                  <a:moveTo>
                    <a:pt x="4" y="6"/>
                  </a:moveTo>
                  <a:lnTo>
                    <a:pt x="5" y="6"/>
                  </a:lnTo>
                  <a:lnTo>
                    <a:pt x="6" y="5"/>
                  </a:lnTo>
                  <a:lnTo>
                    <a:pt x="7" y="4"/>
                  </a:lnTo>
                  <a:lnTo>
                    <a:pt x="7" y="3"/>
                  </a:lnTo>
                  <a:lnTo>
                    <a:pt x="6" y="2"/>
                  </a:lnTo>
                  <a:lnTo>
                    <a:pt x="5" y="1"/>
                  </a:lnTo>
                  <a:lnTo>
                    <a:pt x="4" y="0"/>
                  </a:lnTo>
                  <a:lnTo>
                    <a:pt x="3" y="0"/>
                  </a:lnTo>
                  <a:lnTo>
                    <a:pt x="3" y="0"/>
                  </a:lnTo>
                  <a:lnTo>
                    <a:pt x="1" y="1"/>
                  </a:lnTo>
                  <a:lnTo>
                    <a:pt x="0" y="2"/>
                  </a:lnTo>
                  <a:lnTo>
                    <a:pt x="0" y="3"/>
                  </a:lnTo>
                  <a:lnTo>
                    <a:pt x="0" y="4"/>
                  </a:lnTo>
                  <a:lnTo>
                    <a:pt x="0" y="5"/>
                  </a:lnTo>
                  <a:lnTo>
                    <a:pt x="1" y="6"/>
                  </a:lnTo>
                  <a:lnTo>
                    <a:pt x="3" y="6"/>
                  </a:lnTo>
                  <a:lnTo>
                    <a:pt x="4" y="6"/>
                  </a:lnTo>
                  <a:close/>
                </a:path>
              </a:pathLst>
            </a:custGeom>
            <a:solidFill>
              <a:srgbClr val="000000"/>
            </a:solidFill>
            <a:ln w="9525">
              <a:noFill/>
              <a:round/>
              <a:headEnd/>
              <a:tailEnd/>
            </a:ln>
          </p:spPr>
          <p:txBody>
            <a:bodyPr/>
            <a:lstStyle/>
            <a:p>
              <a:endParaRPr lang="en-US"/>
            </a:p>
          </p:txBody>
        </p:sp>
        <p:sp>
          <p:nvSpPr>
            <p:cNvPr id="327399" name="Freeform 743"/>
            <p:cNvSpPr>
              <a:spLocks/>
            </p:cNvSpPr>
            <p:nvPr/>
          </p:nvSpPr>
          <p:spPr bwMode="auto">
            <a:xfrm>
              <a:off x="2715" y="1878"/>
              <a:ext cx="7" cy="6"/>
            </a:xfrm>
            <a:custGeom>
              <a:avLst/>
              <a:gdLst/>
              <a:ahLst/>
              <a:cxnLst>
                <a:cxn ang="0">
                  <a:pos x="3" y="6"/>
                </a:cxn>
                <a:cxn ang="0">
                  <a:pos x="4" y="6"/>
                </a:cxn>
                <a:cxn ang="0">
                  <a:pos x="5" y="5"/>
                </a:cxn>
                <a:cxn ang="0">
                  <a:pos x="7" y="4"/>
                </a:cxn>
                <a:cxn ang="0">
                  <a:pos x="7" y="3"/>
                </a:cxn>
                <a:cxn ang="0">
                  <a:pos x="5" y="2"/>
                </a:cxn>
                <a:cxn ang="0">
                  <a:pos x="4" y="1"/>
                </a:cxn>
                <a:cxn ang="0">
                  <a:pos x="3" y="0"/>
                </a:cxn>
                <a:cxn ang="0">
                  <a:pos x="2" y="0"/>
                </a:cxn>
                <a:cxn ang="0">
                  <a:pos x="2" y="0"/>
                </a:cxn>
                <a:cxn ang="0">
                  <a:pos x="1" y="1"/>
                </a:cxn>
                <a:cxn ang="0">
                  <a:pos x="0" y="2"/>
                </a:cxn>
                <a:cxn ang="0">
                  <a:pos x="0" y="3"/>
                </a:cxn>
                <a:cxn ang="0">
                  <a:pos x="0" y="4"/>
                </a:cxn>
                <a:cxn ang="0">
                  <a:pos x="0" y="5"/>
                </a:cxn>
                <a:cxn ang="0">
                  <a:pos x="1" y="6"/>
                </a:cxn>
                <a:cxn ang="0">
                  <a:pos x="2" y="6"/>
                </a:cxn>
                <a:cxn ang="0">
                  <a:pos x="3" y="6"/>
                </a:cxn>
              </a:cxnLst>
              <a:rect l="0" t="0" r="r" b="b"/>
              <a:pathLst>
                <a:path w="7" h="6">
                  <a:moveTo>
                    <a:pt x="3" y="6"/>
                  </a:moveTo>
                  <a:lnTo>
                    <a:pt x="4" y="6"/>
                  </a:lnTo>
                  <a:lnTo>
                    <a:pt x="5" y="5"/>
                  </a:lnTo>
                  <a:lnTo>
                    <a:pt x="7" y="4"/>
                  </a:lnTo>
                  <a:lnTo>
                    <a:pt x="7" y="3"/>
                  </a:lnTo>
                  <a:lnTo>
                    <a:pt x="5" y="2"/>
                  </a:lnTo>
                  <a:lnTo>
                    <a:pt x="4" y="1"/>
                  </a:lnTo>
                  <a:lnTo>
                    <a:pt x="3" y="0"/>
                  </a:lnTo>
                  <a:lnTo>
                    <a:pt x="2" y="0"/>
                  </a:lnTo>
                  <a:lnTo>
                    <a:pt x="2" y="0"/>
                  </a:lnTo>
                  <a:lnTo>
                    <a:pt x="1" y="1"/>
                  </a:lnTo>
                  <a:lnTo>
                    <a:pt x="0" y="2"/>
                  </a:lnTo>
                  <a:lnTo>
                    <a:pt x="0" y="3"/>
                  </a:lnTo>
                  <a:lnTo>
                    <a:pt x="0" y="4"/>
                  </a:lnTo>
                  <a:lnTo>
                    <a:pt x="0" y="5"/>
                  </a:lnTo>
                  <a:lnTo>
                    <a:pt x="1" y="6"/>
                  </a:lnTo>
                  <a:lnTo>
                    <a:pt x="2" y="6"/>
                  </a:lnTo>
                  <a:lnTo>
                    <a:pt x="3" y="6"/>
                  </a:lnTo>
                  <a:close/>
                </a:path>
              </a:pathLst>
            </a:custGeom>
            <a:solidFill>
              <a:srgbClr val="000000"/>
            </a:solidFill>
            <a:ln w="9525">
              <a:noFill/>
              <a:round/>
              <a:headEnd/>
              <a:tailEnd/>
            </a:ln>
          </p:spPr>
          <p:txBody>
            <a:bodyPr/>
            <a:lstStyle/>
            <a:p>
              <a:endParaRPr lang="en-US"/>
            </a:p>
          </p:txBody>
        </p:sp>
        <p:sp>
          <p:nvSpPr>
            <p:cNvPr id="327400" name="Freeform 744"/>
            <p:cNvSpPr>
              <a:spLocks/>
            </p:cNvSpPr>
            <p:nvPr/>
          </p:nvSpPr>
          <p:spPr bwMode="auto">
            <a:xfrm>
              <a:off x="2701" y="1880"/>
              <a:ext cx="7" cy="6"/>
            </a:xfrm>
            <a:custGeom>
              <a:avLst/>
              <a:gdLst/>
              <a:ahLst/>
              <a:cxnLst>
                <a:cxn ang="0">
                  <a:pos x="4" y="6"/>
                </a:cxn>
                <a:cxn ang="0">
                  <a:pos x="5" y="6"/>
                </a:cxn>
                <a:cxn ang="0">
                  <a:pos x="6" y="5"/>
                </a:cxn>
                <a:cxn ang="0">
                  <a:pos x="7" y="4"/>
                </a:cxn>
                <a:cxn ang="0">
                  <a:pos x="7" y="3"/>
                </a:cxn>
                <a:cxn ang="0">
                  <a:pos x="6" y="2"/>
                </a:cxn>
                <a:cxn ang="0">
                  <a:pos x="5" y="1"/>
                </a:cxn>
                <a:cxn ang="0">
                  <a:pos x="4" y="0"/>
                </a:cxn>
                <a:cxn ang="0">
                  <a:pos x="2" y="0"/>
                </a:cxn>
                <a:cxn ang="0">
                  <a:pos x="2" y="0"/>
                </a:cxn>
                <a:cxn ang="0">
                  <a:pos x="1" y="1"/>
                </a:cxn>
                <a:cxn ang="0">
                  <a:pos x="0" y="2"/>
                </a:cxn>
                <a:cxn ang="0">
                  <a:pos x="0" y="3"/>
                </a:cxn>
                <a:cxn ang="0">
                  <a:pos x="0" y="4"/>
                </a:cxn>
                <a:cxn ang="0">
                  <a:pos x="0" y="5"/>
                </a:cxn>
                <a:cxn ang="0">
                  <a:pos x="1" y="6"/>
                </a:cxn>
                <a:cxn ang="0">
                  <a:pos x="2" y="6"/>
                </a:cxn>
                <a:cxn ang="0">
                  <a:pos x="4" y="6"/>
                </a:cxn>
              </a:cxnLst>
              <a:rect l="0" t="0" r="r" b="b"/>
              <a:pathLst>
                <a:path w="7" h="6">
                  <a:moveTo>
                    <a:pt x="4" y="6"/>
                  </a:moveTo>
                  <a:lnTo>
                    <a:pt x="5" y="6"/>
                  </a:lnTo>
                  <a:lnTo>
                    <a:pt x="6" y="5"/>
                  </a:lnTo>
                  <a:lnTo>
                    <a:pt x="7" y="4"/>
                  </a:lnTo>
                  <a:lnTo>
                    <a:pt x="7" y="3"/>
                  </a:lnTo>
                  <a:lnTo>
                    <a:pt x="6" y="2"/>
                  </a:lnTo>
                  <a:lnTo>
                    <a:pt x="5" y="1"/>
                  </a:lnTo>
                  <a:lnTo>
                    <a:pt x="4" y="0"/>
                  </a:lnTo>
                  <a:lnTo>
                    <a:pt x="2" y="0"/>
                  </a:lnTo>
                  <a:lnTo>
                    <a:pt x="2" y="0"/>
                  </a:lnTo>
                  <a:lnTo>
                    <a:pt x="1" y="1"/>
                  </a:lnTo>
                  <a:lnTo>
                    <a:pt x="0" y="2"/>
                  </a:lnTo>
                  <a:lnTo>
                    <a:pt x="0" y="3"/>
                  </a:lnTo>
                  <a:lnTo>
                    <a:pt x="0" y="4"/>
                  </a:lnTo>
                  <a:lnTo>
                    <a:pt x="0" y="5"/>
                  </a:lnTo>
                  <a:lnTo>
                    <a:pt x="1" y="6"/>
                  </a:lnTo>
                  <a:lnTo>
                    <a:pt x="2" y="6"/>
                  </a:lnTo>
                  <a:lnTo>
                    <a:pt x="4" y="6"/>
                  </a:lnTo>
                  <a:close/>
                </a:path>
              </a:pathLst>
            </a:custGeom>
            <a:solidFill>
              <a:srgbClr val="000000"/>
            </a:solidFill>
            <a:ln w="9525">
              <a:noFill/>
              <a:round/>
              <a:headEnd/>
              <a:tailEnd/>
            </a:ln>
          </p:spPr>
          <p:txBody>
            <a:bodyPr/>
            <a:lstStyle/>
            <a:p>
              <a:endParaRPr lang="en-US"/>
            </a:p>
          </p:txBody>
        </p:sp>
        <p:sp>
          <p:nvSpPr>
            <p:cNvPr id="327401" name="Freeform 745"/>
            <p:cNvSpPr>
              <a:spLocks/>
            </p:cNvSpPr>
            <p:nvPr/>
          </p:nvSpPr>
          <p:spPr bwMode="auto">
            <a:xfrm>
              <a:off x="2688" y="1882"/>
              <a:ext cx="6" cy="6"/>
            </a:xfrm>
            <a:custGeom>
              <a:avLst/>
              <a:gdLst/>
              <a:ahLst/>
              <a:cxnLst>
                <a:cxn ang="0">
                  <a:pos x="4" y="6"/>
                </a:cxn>
                <a:cxn ang="0">
                  <a:pos x="5" y="6"/>
                </a:cxn>
                <a:cxn ang="0">
                  <a:pos x="6" y="5"/>
                </a:cxn>
                <a:cxn ang="0">
                  <a:pos x="6" y="4"/>
                </a:cxn>
                <a:cxn ang="0">
                  <a:pos x="6" y="3"/>
                </a:cxn>
                <a:cxn ang="0">
                  <a:pos x="6" y="2"/>
                </a:cxn>
                <a:cxn ang="0">
                  <a:pos x="5" y="1"/>
                </a:cxn>
                <a:cxn ang="0">
                  <a:pos x="4" y="0"/>
                </a:cxn>
                <a:cxn ang="0">
                  <a:pos x="3" y="0"/>
                </a:cxn>
                <a:cxn ang="0">
                  <a:pos x="3" y="0"/>
                </a:cxn>
                <a:cxn ang="0">
                  <a:pos x="2" y="1"/>
                </a:cxn>
                <a:cxn ang="0">
                  <a:pos x="1" y="2"/>
                </a:cxn>
                <a:cxn ang="0">
                  <a:pos x="0" y="3"/>
                </a:cxn>
                <a:cxn ang="0">
                  <a:pos x="0" y="4"/>
                </a:cxn>
                <a:cxn ang="0">
                  <a:pos x="1" y="5"/>
                </a:cxn>
                <a:cxn ang="0">
                  <a:pos x="2" y="6"/>
                </a:cxn>
                <a:cxn ang="0">
                  <a:pos x="3" y="6"/>
                </a:cxn>
                <a:cxn ang="0">
                  <a:pos x="4" y="6"/>
                </a:cxn>
              </a:cxnLst>
              <a:rect l="0" t="0" r="r" b="b"/>
              <a:pathLst>
                <a:path w="6" h="6">
                  <a:moveTo>
                    <a:pt x="4" y="6"/>
                  </a:moveTo>
                  <a:lnTo>
                    <a:pt x="5" y="6"/>
                  </a:lnTo>
                  <a:lnTo>
                    <a:pt x="6" y="5"/>
                  </a:lnTo>
                  <a:lnTo>
                    <a:pt x="6" y="4"/>
                  </a:lnTo>
                  <a:lnTo>
                    <a:pt x="6" y="3"/>
                  </a:lnTo>
                  <a:lnTo>
                    <a:pt x="6" y="2"/>
                  </a:lnTo>
                  <a:lnTo>
                    <a:pt x="5" y="1"/>
                  </a:lnTo>
                  <a:lnTo>
                    <a:pt x="4" y="0"/>
                  </a:lnTo>
                  <a:lnTo>
                    <a:pt x="3" y="0"/>
                  </a:lnTo>
                  <a:lnTo>
                    <a:pt x="3" y="0"/>
                  </a:lnTo>
                  <a:lnTo>
                    <a:pt x="2" y="1"/>
                  </a:lnTo>
                  <a:lnTo>
                    <a:pt x="1" y="2"/>
                  </a:lnTo>
                  <a:lnTo>
                    <a:pt x="0" y="3"/>
                  </a:lnTo>
                  <a:lnTo>
                    <a:pt x="0" y="4"/>
                  </a:lnTo>
                  <a:lnTo>
                    <a:pt x="1" y="5"/>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402" name="Freeform 746"/>
            <p:cNvSpPr>
              <a:spLocks/>
            </p:cNvSpPr>
            <p:nvPr/>
          </p:nvSpPr>
          <p:spPr bwMode="auto">
            <a:xfrm>
              <a:off x="2674" y="1884"/>
              <a:ext cx="7" cy="7"/>
            </a:xfrm>
            <a:custGeom>
              <a:avLst/>
              <a:gdLst/>
              <a:ahLst/>
              <a:cxnLst>
                <a:cxn ang="0">
                  <a:pos x="5" y="7"/>
                </a:cxn>
                <a:cxn ang="0">
                  <a:pos x="6" y="6"/>
                </a:cxn>
                <a:cxn ang="0">
                  <a:pos x="7" y="4"/>
                </a:cxn>
                <a:cxn ang="0">
                  <a:pos x="7" y="3"/>
                </a:cxn>
                <a:cxn ang="0">
                  <a:pos x="7" y="2"/>
                </a:cxn>
                <a:cxn ang="0">
                  <a:pos x="7" y="1"/>
                </a:cxn>
                <a:cxn ang="0">
                  <a:pos x="6" y="0"/>
                </a:cxn>
                <a:cxn ang="0">
                  <a:pos x="5" y="0"/>
                </a:cxn>
                <a:cxn ang="0">
                  <a:pos x="3" y="0"/>
                </a:cxn>
                <a:cxn ang="0">
                  <a:pos x="3" y="0"/>
                </a:cxn>
                <a:cxn ang="0">
                  <a:pos x="2" y="0"/>
                </a:cxn>
                <a:cxn ang="0">
                  <a:pos x="1" y="1"/>
                </a:cxn>
                <a:cxn ang="0">
                  <a:pos x="0" y="2"/>
                </a:cxn>
                <a:cxn ang="0">
                  <a:pos x="0" y="3"/>
                </a:cxn>
                <a:cxn ang="0">
                  <a:pos x="1" y="4"/>
                </a:cxn>
                <a:cxn ang="0">
                  <a:pos x="2" y="6"/>
                </a:cxn>
                <a:cxn ang="0">
                  <a:pos x="3" y="7"/>
                </a:cxn>
                <a:cxn ang="0">
                  <a:pos x="5" y="7"/>
                </a:cxn>
              </a:cxnLst>
              <a:rect l="0" t="0" r="r" b="b"/>
              <a:pathLst>
                <a:path w="7" h="7">
                  <a:moveTo>
                    <a:pt x="5" y="7"/>
                  </a:moveTo>
                  <a:lnTo>
                    <a:pt x="6" y="6"/>
                  </a:lnTo>
                  <a:lnTo>
                    <a:pt x="7" y="4"/>
                  </a:lnTo>
                  <a:lnTo>
                    <a:pt x="7" y="3"/>
                  </a:lnTo>
                  <a:lnTo>
                    <a:pt x="7" y="2"/>
                  </a:lnTo>
                  <a:lnTo>
                    <a:pt x="7" y="1"/>
                  </a:lnTo>
                  <a:lnTo>
                    <a:pt x="6" y="0"/>
                  </a:lnTo>
                  <a:lnTo>
                    <a:pt x="5" y="0"/>
                  </a:lnTo>
                  <a:lnTo>
                    <a:pt x="3" y="0"/>
                  </a:lnTo>
                  <a:lnTo>
                    <a:pt x="3" y="0"/>
                  </a:lnTo>
                  <a:lnTo>
                    <a:pt x="2" y="0"/>
                  </a:lnTo>
                  <a:lnTo>
                    <a:pt x="1" y="1"/>
                  </a:lnTo>
                  <a:lnTo>
                    <a:pt x="0" y="2"/>
                  </a:lnTo>
                  <a:lnTo>
                    <a:pt x="0" y="3"/>
                  </a:lnTo>
                  <a:lnTo>
                    <a:pt x="1" y="4"/>
                  </a:lnTo>
                  <a:lnTo>
                    <a:pt x="2" y="6"/>
                  </a:lnTo>
                  <a:lnTo>
                    <a:pt x="3" y="7"/>
                  </a:lnTo>
                  <a:lnTo>
                    <a:pt x="5" y="7"/>
                  </a:lnTo>
                  <a:close/>
                </a:path>
              </a:pathLst>
            </a:custGeom>
            <a:solidFill>
              <a:srgbClr val="000000"/>
            </a:solidFill>
            <a:ln w="9525">
              <a:noFill/>
              <a:round/>
              <a:headEnd/>
              <a:tailEnd/>
            </a:ln>
          </p:spPr>
          <p:txBody>
            <a:bodyPr/>
            <a:lstStyle/>
            <a:p>
              <a:endParaRPr lang="en-US"/>
            </a:p>
          </p:txBody>
        </p:sp>
        <p:sp>
          <p:nvSpPr>
            <p:cNvPr id="327403" name="Freeform 747"/>
            <p:cNvSpPr>
              <a:spLocks/>
            </p:cNvSpPr>
            <p:nvPr/>
          </p:nvSpPr>
          <p:spPr bwMode="auto">
            <a:xfrm>
              <a:off x="2661" y="1886"/>
              <a:ext cx="6" cy="7"/>
            </a:xfrm>
            <a:custGeom>
              <a:avLst/>
              <a:gdLst/>
              <a:ahLst/>
              <a:cxnLst>
                <a:cxn ang="0">
                  <a:pos x="4" y="7"/>
                </a:cxn>
                <a:cxn ang="0">
                  <a:pos x="5" y="6"/>
                </a:cxn>
                <a:cxn ang="0">
                  <a:pos x="6" y="5"/>
                </a:cxn>
                <a:cxn ang="0">
                  <a:pos x="6" y="4"/>
                </a:cxn>
                <a:cxn ang="0">
                  <a:pos x="6" y="2"/>
                </a:cxn>
                <a:cxn ang="0">
                  <a:pos x="6" y="1"/>
                </a:cxn>
                <a:cxn ang="0">
                  <a:pos x="5" y="0"/>
                </a:cxn>
                <a:cxn ang="0">
                  <a:pos x="4" y="0"/>
                </a:cxn>
                <a:cxn ang="0">
                  <a:pos x="3" y="0"/>
                </a:cxn>
                <a:cxn ang="0">
                  <a:pos x="3" y="0"/>
                </a:cxn>
                <a:cxn ang="0">
                  <a:pos x="2" y="0"/>
                </a:cxn>
                <a:cxn ang="0">
                  <a:pos x="1" y="1"/>
                </a:cxn>
                <a:cxn ang="0">
                  <a:pos x="0" y="2"/>
                </a:cxn>
                <a:cxn ang="0">
                  <a:pos x="0" y="4"/>
                </a:cxn>
                <a:cxn ang="0">
                  <a:pos x="1" y="5"/>
                </a:cxn>
                <a:cxn ang="0">
                  <a:pos x="2" y="6"/>
                </a:cxn>
                <a:cxn ang="0">
                  <a:pos x="3" y="7"/>
                </a:cxn>
                <a:cxn ang="0">
                  <a:pos x="4" y="7"/>
                </a:cxn>
              </a:cxnLst>
              <a:rect l="0" t="0" r="r" b="b"/>
              <a:pathLst>
                <a:path w="6" h="7">
                  <a:moveTo>
                    <a:pt x="4" y="7"/>
                  </a:moveTo>
                  <a:lnTo>
                    <a:pt x="5" y="6"/>
                  </a:lnTo>
                  <a:lnTo>
                    <a:pt x="6" y="5"/>
                  </a:lnTo>
                  <a:lnTo>
                    <a:pt x="6" y="4"/>
                  </a:lnTo>
                  <a:lnTo>
                    <a:pt x="6" y="2"/>
                  </a:lnTo>
                  <a:lnTo>
                    <a:pt x="6" y="1"/>
                  </a:lnTo>
                  <a:lnTo>
                    <a:pt x="5" y="0"/>
                  </a:lnTo>
                  <a:lnTo>
                    <a:pt x="4" y="0"/>
                  </a:lnTo>
                  <a:lnTo>
                    <a:pt x="3" y="0"/>
                  </a:lnTo>
                  <a:lnTo>
                    <a:pt x="3" y="0"/>
                  </a:lnTo>
                  <a:lnTo>
                    <a:pt x="2" y="0"/>
                  </a:lnTo>
                  <a:lnTo>
                    <a:pt x="1" y="1"/>
                  </a:lnTo>
                  <a:lnTo>
                    <a:pt x="0" y="2"/>
                  </a:lnTo>
                  <a:lnTo>
                    <a:pt x="0" y="4"/>
                  </a:lnTo>
                  <a:lnTo>
                    <a:pt x="1" y="5"/>
                  </a:lnTo>
                  <a:lnTo>
                    <a:pt x="2" y="6"/>
                  </a:lnTo>
                  <a:lnTo>
                    <a:pt x="3" y="7"/>
                  </a:lnTo>
                  <a:lnTo>
                    <a:pt x="4" y="7"/>
                  </a:lnTo>
                  <a:close/>
                </a:path>
              </a:pathLst>
            </a:custGeom>
            <a:solidFill>
              <a:srgbClr val="000000"/>
            </a:solidFill>
            <a:ln w="9525">
              <a:noFill/>
              <a:round/>
              <a:headEnd/>
              <a:tailEnd/>
            </a:ln>
          </p:spPr>
          <p:txBody>
            <a:bodyPr/>
            <a:lstStyle/>
            <a:p>
              <a:endParaRPr lang="en-US"/>
            </a:p>
          </p:txBody>
        </p:sp>
        <p:sp>
          <p:nvSpPr>
            <p:cNvPr id="327404" name="Freeform 748"/>
            <p:cNvSpPr>
              <a:spLocks/>
            </p:cNvSpPr>
            <p:nvPr/>
          </p:nvSpPr>
          <p:spPr bwMode="auto">
            <a:xfrm>
              <a:off x="2648" y="1888"/>
              <a:ext cx="7" cy="7"/>
            </a:xfrm>
            <a:custGeom>
              <a:avLst/>
              <a:gdLst/>
              <a:ahLst/>
              <a:cxnLst>
                <a:cxn ang="0">
                  <a:pos x="4" y="7"/>
                </a:cxn>
                <a:cxn ang="0">
                  <a:pos x="5" y="6"/>
                </a:cxn>
                <a:cxn ang="0">
                  <a:pos x="6" y="5"/>
                </a:cxn>
                <a:cxn ang="0">
                  <a:pos x="7" y="4"/>
                </a:cxn>
                <a:cxn ang="0">
                  <a:pos x="7" y="3"/>
                </a:cxn>
                <a:cxn ang="0">
                  <a:pos x="6" y="2"/>
                </a:cxn>
                <a:cxn ang="0">
                  <a:pos x="5" y="0"/>
                </a:cxn>
                <a:cxn ang="0">
                  <a:pos x="4" y="0"/>
                </a:cxn>
                <a:cxn ang="0">
                  <a:pos x="2" y="0"/>
                </a:cxn>
                <a:cxn ang="0">
                  <a:pos x="2" y="0"/>
                </a:cxn>
                <a:cxn ang="0">
                  <a:pos x="1" y="0"/>
                </a:cxn>
                <a:cxn ang="0">
                  <a:pos x="0" y="2"/>
                </a:cxn>
                <a:cxn ang="0">
                  <a:pos x="0" y="3"/>
                </a:cxn>
                <a:cxn ang="0">
                  <a:pos x="0" y="4"/>
                </a:cxn>
                <a:cxn ang="0">
                  <a:pos x="0" y="5"/>
                </a:cxn>
                <a:cxn ang="0">
                  <a:pos x="1" y="6"/>
                </a:cxn>
                <a:cxn ang="0">
                  <a:pos x="2" y="7"/>
                </a:cxn>
                <a:cxn ang="0">
                  <a:pos x="4" y="7"/>
                </a:cxn>
              </a:cxnLst>
              <a:rect l="0" t="0" r="r" b="b"/>
              <a:pathLst>
                <a:path w="7" h="7">
                  <a:moveTo>
                    <a:pt x="4" y="7"/>
                  </a:moveTo>
                  <a:lnTo>
                    <a:pt x="5" y="6"/>
                  </a:lnTo>
                  <a:lnTo>
                    <a:pt x="6" y="5"/>
                  </a:lnTo>
                  <a:lnTo>
                    <a:pt x="7" y="4"/>
                  </a:lnTo>
                  <a:lnTo>
                    <a:pt x="7" y="3"/>
                  </a:lnTo>
                  <a:lnTo>
                    <a:pt x="6" y="2"/>
                  </a:lnTo>
                  <a:lnTo>
                    <a:pt x="5" y="0"/>
                  </a:lnTo>
                  <a:lnTo>
                    <a:pt x="4" y="0"/>
                  </a:lnTo>
                  <a:lnTo>
                    <a:pt x="2" y="0"/>
                  </a:lnTo>
                  <a:lnTo>
                    <a:pt x="2" y="0"/>
                  </a:lnTo>
                  <a:lnTo>
                    <a:pt x="1" y="0"/>
                  </a:lnTo>
                  <a:lnTo>
                    <a:pt x="0" y="2"/>
                  </a:lnTo>
                  <a:lnTo>
                    <a:pt x="0" y="3"/>
                  </a:lnTo>
                  <a:lnTo>
                    <a:pt x="0" y="4"/>
                  </a:lnTo>
                  <a:lnTo>
                    <a:pt x="0" y="5"/>
                  </a:lnTo>
                  <a:lnTo>
                    <a:pt x="1" y="6"/>
                  </a:lnTo>
                  <a:lnTo>
                    <a:pt x="2" y="7"/>
                  </a:lnTo>
                  <a:lnTo>
                    <a:pt x="4" y="7"/>
                  </a:lnTo>
                  <a:close/>
                </a:path>
              </a:pathLst>
            </a:custGeom>
            <a:solidFill>
              <a:srgbClr val="000000"/>
            </a:solidFill>
            <a:ln w="9525">
              <a:noFill/>
              <a:round/>
              <a:headEnd/>
              <a:tailEnd/>
            </a:ln>
          </p:spPr>
          <p:txBody>
            <a:bodyPr/>
            <a:lstStyle/>
            <a:p>
              <a:endParaRPr lang="en-US"/>
            </a:p>
          </p:txBody>
        </p:sp>
        <p:sp>
          <p:nvSpPr>
            <p:cNvPr id="327405" name="Freeform 749"/>
            <p:cNvSpPr>
              <a:spLocks/>
            </p:cNvSpPr>
            <p:nvPr/>
          </p:nvSpPr>
          <p:spPr bwMode="auto">
            <a:xfrm>
              <a:off x="2635" y="1891"/>
              <a:ext cx="6" cy="6"/>
            </a:xfrm>
            <a:custGeom>
              <a:avLst/>
              <a:gdLst/>
              <a:ahLst/>
              <a:cxnLst>
                <a:cxn ang="0">
                  <a:pos x="3" y="6"/>
                </a:cxn>
                <a:cxn ang="0">
                  <a:pos x="4" y="5"/>
                </a:cxn>
                <a:cxn ang="0">
                  <a:pos x="5" y="4"/>
                </a:cxn>
                <a:cxn ang="0">
                  <a:pos x="6" y="3"/>
                </a:cxn>
                <a:cxn ang="0">
                  <a:pos x="6" y="2"/>
                </a:cxn>
                <a:cxn ang="0">
                  <a:pos x="5" y="1"/>
                </a:cxn>
                <a:cxn ang="0">
                  <a:pos x="4" y="0"/>
                </a:cxn>
                <a:cxn ang="0">
                  <a:pos x="3" y="0"/>
                </a:cxn>
                <a:cxn ang="0">
                  <a:pos x="2" y="0"/>
                </a:cxn>
                <a:cxn ang="0">
                  <a:pos x="2" y="0"/>
                </a:cxn>
                <a:cxn ang="0">
                  <a:pos x="1" y="0"/>
                </a:cxn>
                <a:cxn ang="0">
                  <a:pos x="0" y="1"/>
                </a:cxn>
                <a:cxn ang="0">
                  <a:pos x="0" y="2"/>
                </a:cxn>
                <a:cxn ang="0">
                  <a:pos x="0" y="3"/>
                </a:cxn>
                <a:cxn ang="0">
                  <a:pos x="0" y="4"/>
                </a:cxn>
                <a:cxn ang="0">
                  <a:pos x="1" y="5"/>
                </a:cxn>
                <a:cxn ang="0">
                  <a:pos x="2" y="6"/>
                </a:cxn>
                <a:cxn ang="0">
                  <a:pos x="3" y="6"/>
                </a:cxn>
              </a:cxnLst>
              <a:rect l="0" t="0" r="r" b="b"/>
              <a:pathLst>
                <a:path w="6" h="6">
                  <a:moveTo>
                    <a:pt x="3" y="6"/>
                  </a:moveTo>
                  <a:lnTo>
                    <a:pt x="4" y="5"/>
                  </a:lnTo>
                  <a:lnTo>
                    <a:pt x="5" y="4"/>
                  </a:lnTo>
                  <a:lnTo>
                    <a:pt x="6" y="3"/>
                  </a:lnTo>
                  <a:lnTo>
                    <a:pt x="6" y="2"/>
                  </a:lnTo>
                  <a:lnTo>
                    <a:pt x="5" y="1"/>
                  </a:lnTo>
                  <a:lnTo>
                    <a:pt x="4" y="0"/>
                  </a:lnTo>
                  <a:lnTo>
                    <a:pt x="3" y="0"/>
                  </a:lnTo>
                  <a:lnTo>
                    <a:pt x="2" y="0"/>
                  </a:lnTo>
                  <a:lnTo>
                    <a:pt x="2" y="0"/>
                  </a:lnTo>
                  <a:lnTo>
                    <a:pt x="1" y="0"/>
                  </a:lnTo>
                  <a:lnTo>
                    <a:pt x="0" y="1"/>
                  </a:lnTo>
                  <a:lnTo>
                    <a:pt x="0" y="2"/>
                  </a:lnTo>
                  <a:lnTo>
                    <a:pt x="0" y="3"/>
                  </a:lnTo>
                  <a:lnTo>
                    <a:pt x="0" y="4"/>
                  </a:lnTo>
                  <a:lnTo>
                    <a:pt x="1" y="5"/>
                  </a:lnTo>
                  <a:lnTo>
                    <a:pt x="2" y="6"/>
                  </a:lnTo>
                  <a:lnTo>
                    <a:pt x="3" y="6"/>
                  </a:lnTo>
                  <a:close/>
                </a:path>
              </a:pathLst>
            </a:custGeom>
            <a:solidFill>
              <a:srgbClr val="000000"/>
            </a:solidFill>
            <a:ln w="9525">
              <a:noFill/>
              <a:round/>
              <a:headEnd/>
              <a:tailEnd/>
            </a:ln>
          </p:spPr>
          <p:txBody>
            <a:bodyPr/>
            <a:lstStyle/>
            <a:p>
              <a:endParaRPr lang="en-US"/>
            </a:p>
          </p:txBody>
        </p:sp>
        <p:sp>
          <p:nvSpPr>
            <p:cNvPr id="327406" name="Freeform 750"/>
            <p:cNvSpPr>
              <a:spLocks/>
            </p:cNvSpPr>
            <p:nvPr/>
          </p:nvSpPr>
          <p:spPr bwMode="auto">
            <a:xfrm>
              <a:off x="2621" y="1893"/>
              <a:ext cx="7" cy="6"/>
            </a:xfrm>
            <a:custGeom>
              <a:avLst/>
              <a:gdLst/>
              <a:ahLst/>
              <a:cxnLst>
                <a:cxn ang="0">
                  <a:pos x="3" y="6"/>
                </a:cxn>
                <a:cxn ang="0">
                  <a:pos x="5" y="5"/>
                </a:cxn>
                <a:cxn ang="0">
                  <a:pos x="6" y="4"/>
                </a:cxn>
                <a:cxn ang="0">
                  <a:pos x="7" y="3"/>
                </a:cxn>
                <a:cxn ang="0">
                  <a:pos x="7" y="2"/>
                </a:cxn>
                <a:cxn ang="0">
                  <a:pos x="6" y="1"/>
                </a:cxn>
                <a:cxn ang="0">
                  <a:pos x="5" y="0"/>
                </a:cxn>
                <a:cxn ang="0">
                  <a:pos x="3" y="0"/>
                </a:cxn>
                <a:cxn ang="0">
                  <a:pos x="2" y="0"/>
                </a:cxn>
                <a:cxn ang="0">
                  <a:pos x="2" y="0"/>
                </a:cxn>
                <a:cxn ang="0">
                  <a:pos x="1" y="0"/>
                </a:cxn>
                <a:cxn ang="0">
                  <a:pos x="0" y="1"/>
                </a:cxn>
                <a:cxn ang="0">
                  <a:pos x="0" y="2"/>
                </a:cxn>
                <a:cxn ang="0">
                  <a:pos x="0" y="3"/>
                </a:cxn>
                <a:cxn ang="0">
                  <a:pos x="0" y="4"/>
                </a:cxn>
                <a:cxn ang="0">
                  <a:pos x="1" y="5"/>
                </a:cxn>
                <a:cxn ang="0">
                  <a:pos x="2" y="6"/>
                </a:cxn>
                <a:cxn ang="0">
                  <a:pos x="3" y="6"/>
                </a:cxn>
              </a:cxnLst>
              <a:rect l="0" t="0" r="r" b="b"/>
              <a:pathLst>
                <a:path w="7" h="6">
                  <a:moveTo>
                    <a:pt x="3" y="6"/>
                  </a:moveTo>
                  <a:lnTo>
                    <a:pt x="5" y="5"/>
                  </a:lnTo>
                  <a:lnTo>
                    <a:pt x="6" y="4"/>
                  </a:lnTo>
                  <a:lnTo>
                    <a:pt x="7" y="3"/>
                  </a:lnTo>
                  <a:lnTo>
                    <a:pt x="7" y="2"/>
                  </a:lnTo>
                  <a:lnTo>
                    <a:pt x="6" y="1"/>
                  </a:lnTo>
                  <a:lnTo>
                    <a:pt x="5" y="0"/>
                  </a:lnTo>
                  <a:lnTo>
                    <a:pt x="3" y="0"/>
                  </a:lnTo>
                  <a:lnTo>
                    <a:pt x="2" y="0"/>
                  </a:lnTo>
                  <a:lnTo>
                    <a:pt x="2" y="0"/>
                  </a:lnTo>
                  <a:lnTo>
                    <a:pt x="1" y="0"/>
                  </a:lnTo>
                  <a:lnTo>
                    <a:pt x="0" y="1"/>
                  </a:lnTo>
                  <a:lnTo>
                    <a:pt x="0" y="2"/>
                  </a:lnTo>
                  <a:lnTo>
                    <a:pt x="0" y="3"/>
                  </a:lnTo>
                  <a:lnTo>
                    <a:pt x="0" y="4"/>
                  </a:lnTo>
                  <a:lnTo>
                    <a:pt x="1" y="5"/>
                  </a:lnTo>
                  <a:lnTo>
                    <a:pt x="2" y="6"/>
                  </a:lnTo>
                  <a:lnTo>
                    <a:pt x="3" y="6"/>
                  </a:lnTo>
                  <a:close/>
                </a:path>
              </a:pathLst>
            </a:custGeom>
            <a:solidFill>
              <a:srgbClr val="000000"/>
            </a:solidFill>
            <a:ln w="9525">
              <a:noFill/>
              <a:round/>
              <a:headEnd/>
              <a:tailEnd/>
            </a:ln>
          </p:spPr>
          <p:txBody>
            <a:bodyPr/>
            <a:lstStyle/>
            <a:p>
              <a:endParaRPr lang="en-US"/>
            </a:p>
          </p:txBody>
        </p:sp>
        <p:sp>
          <p:nvSpPr>
            <p:cNvPr id="327407" name="Freeform 751"/>
            <p:cNvSpPr>
              <a:spLocks/>
            </p:cNvSpPr>
            <p:nvPr/>
          </p:nvSpPr>
          <p:spPr bwMode="auto">
            <a:xfrm>
              <a:off x="2607" y="1894"/>
              <a:ext cx="7" cy="6"/>
            </a:xfrm>
            <a:custGeom>
              <a:avLst/>
              <a:gdLst/>
              <a:ahLst/>
              <a:cxnLst>
                <a:cxn ang="0">
                  <a:pos x="5" y="6"/>
                </a:cxn>
                <a:cxn ang="0">
                  <a:pos x="6" y="6"/>
                </a:cxn>
                <a:cxn ang="0">
                  <a:pos x="7" y="5"/>
                </a:cxn>
                <a:cxn ang="0">
                  <a:pos x="7" y="4"/>
                </a:cxn>
                <a:cxn ang="0">
                  <a:pos x="7" y="3"/>
                </a:cxn>
                <a:cxn ang="0">
                  <a:pos x="7" y="2"/>
                </a:cxn>
                <a:cxn ang="0">
                  <a:pos x="6" y="1"/>
                </a:cxn>
                <a:cxn ang="0">
                  <a:pos x="5" y="0"/>
                </a:cxn>
                <a:cxn ang="0">
                  <a:pos x="4" y="0"/>
                </a:cxn>
                <a:cxn ang="0">
                  <a:pos x="4" y="0"/>
                </a:cxn>
                <a:cxn ang="0">
                  <a:pos x="3" y="1"/>
                </a:cxn>
                <a:cxn ang="0">
                  <a:pos x="2" y="2"/>
                </a:cxn>
                <a:cxn ang="0">
                  <a:pos x="0" y="3"/>
                </a:cxn>
                <a:cxn ang="0">
                  <a:pos x="0" y="4"/>
                </a:cxn>
                <a:cxn ang="0">
                  <a:pos x="2" y="5"/>
                </a:cxn>
                <a:cxn ang="0">
                  <a:pos x="3" y="6"/>
                </a:cxn>
                <a:cxn ang="0">
                  <a:pos x="4" y="6"/>
                </a:cxn>
                <a:cxn ang="0">
                  <a:pos x="5" y="6"/>
                </a:cxn>
              </a:cxnLst>
              <a:rect l="0" t="0" r="r" b="b"/>
              <a:pathLst>
                <a:path w="7" h="6">
                  <a:moveTo>
                    <a:pt x="5" y="6"/>
                  </a:moveTo>
                  <a:lnTo>
                    <a:pt x="6" y="6"/>
                  </a:lnTo>
                  <a:lnTo>
                    <a:pt x="7" y="5"/>
                  </a:lnTo>
                  <a:lnTo>
                    <a:pt x="7" y="4"/>
                  </a:lnTo>
                  <a:lnTo>
                    <a:pt x="7" y="3"/>
                  </a:lnTo>
                  <a:lnTo>
                    <a:pt x="7" y="2"/>
                  </a:lnTo>
                  <a:lnTo>
                    <a:pt x="6" y="1"/>
                  </a:lnTo>
                  <a:lnTo>
                    <a:pt x="5" y="0"/>
                  </a:lnTo>
                  <a:lnTo>
                    <a:pt x="4" y="0"/>
                  </a:lnTo>
                  <a:lnTo>
                    <a:pt x="4" y="0"/>
                  </a:lnTo>
                  <a:lnTo>
                    <a:pt x="3" y="1"/>
                  </a:lnTo>
                  <a:lnTo>
                    <a:pt x="2" y="2"/>
                  </a:lnTo>
                  <a:lnTo>
                    <a:pt x="0" y="3"/>
                  </a:lnTo>
                  <a:lnTo>
                    <a:pt x="0" y="4"/>
                  </a:lnTo>
                  <a:lnTo>
                    <a:pt x="2" y="5"/>
                  </a:lnTo>
                  <a:lnTo>
                    <a:pt x="3" y="6"/>
                  </a:lnTo>
                  <a:lnTo>
                    <a:pt x="4" y="6"/>
                  </a:lnTo>
                  <a:lnTo>
                    <a:pt x="5" y="6"/>
                  </a:lnTo>
                  <a:close/>
                </a:path>
              </a:pathLst>
            </a:custGeom>
            <a:solidFill>
              <a:srgbClr val="000000"/>
            </a:solidFill>
            <a:ln w="9525">
              <a:noFill/>
              <a:round/>
              <a:headEnd/>
              <a:tailEnd/>
            </a:ln>
          </p:spPr>
          <p:txBody>
            <a:bodyPr/>
            <a:lstStyle/>
            <a:p>
              <a:endParaRPr lang="en-US"/>
            </a:p>
          </p:txBody>
        </p:sp>
        <p:sp>
          <p:nvSpPr>
            <p:cNvPr id="327408" name="Freeform 752"/>
            <p:cNvSpPr>
              <a:spLocks/>
            </p:cNvSpPr>
            <p:nvPr/>
          </p:nvSpPr>
          <p:spPr bwMode="auto">
            <a:xfrm>
              <a:off x="2594" y="1896"/>
              <a:ext cx="7" cy="6"/>
            </a:xfrm>
            <a:custGeom>
              <a:avLst/>
              <a:gdLst/>
              <a:ahLst/>
              <a:cxnLst>
                <a:cxn ang="0">
                  <a:pos x="4" y="6"/>
                </a:cxn>
                <a:cxn ang="0">
                  <a:pos x="6" y="6"/>
                </a:cxn>
                <a:cxn ang="0">
                  <a:pos x="7" y="5"/>
                </a:cxn>
                <a:cxn ang="0">
                  <a:pos x="7" y="4"/>
                </a:cxn>
                <a:cxn ang="0">
                  <a:pos x="7" y="3"/>
                </a:cxn>
                <a:cxn ang="0">
                  <a:pos x="7" y="2"/>
                </a:cxn>
                <a:cxn ang="0">
                  <a:pos x="6" y="1"/>
                </a:cxn>
                <a:cxn ang="0">
                  <a:pos x="4" y="0"/>
                </a:cxn>
                <a:cxn ang="0">
                  <a:pos x="3" y="0"/>
                </a:cxn>
                <a:cxn ang="0">
                  <a:pos x="3" y="0"/>
                </a:cxn>
                <a:cxn ang="0">
                  <a:pos x="2" y="1"/>
                </a:cxn>
                <a:cxn ang="0">
                  <a:pos x="1" y="2"/>
                </a:cxn>
                <a:cxn ang="0">
                  <a:pos x="0" y="3"/>
                </a:cxn>
                <a:cxn ang="0">
                  <a:pos x="0" y="4"/>
                </a:cxn>
                <a:cxn ang="0">
                  <a:pos x="1" y="5"/>
                </a:cxn>
                <a:cxn ang="0">
                  <a:pos x="2" y="6"/>
                </a:cxn>
                <a:cxn ang="0">
                  <a:pos x="3" y="6"/>
                </a:cxn>
                <a:cxn ang="0">
                  <a:pos x="4" y="6"/>
                </a:cxn>
              </a:cxnLst>
              <a:rect l="0" t="0" r="r" b="b"/>
              <a:pathLst>
                <a:path w="7" h="6">
                  <a:moveTo>
                    <a:pt x="4" y="6"/>
                  </a:moveTo>
                  <a:lnTo>
                    <a:pt x="6" y="6"/>
                  </a:lnTo>
                  <a:lnTo>
                    <a:pt x="7" y="5"/>
                  </a:lnTo>
                  <a:lnTo>
                    <a:pt x="7" y="4"/>
                  </a:lnTo>
                  <a:lnTo>
                    <a:pt x="7" y="3"/>
                  </a:lnTo>
                  <a:lnTo>
                    <a:pt x="7" y="2"/>
                  </a:lnTo>
                  <a:lnTo>
                    <a:pt x="6" y="1"/>
                  </a:lnTo>
                  <a:lnTo>
                    <a:pt x="4" y="0"/>
                  </a:lnTo>
                  <a:lnTo>
                    <a:pt x="3" y="0"/>
                  </a:lnTo>
                  <a:lnTo>
                    <a:pt x="3" y="0"/>
                  </a:lnTo>
                  <a:lnTo>
                    <a:pt x="2" y="1"/>
                  </a:lnTo>
                  <a:lnTo>
                    <a:pt x="1" y="2"/>
                  </a:lnTo>
                  <a:lnTo>
                    <a:pt x="0" y="3"/>
                  </a:lnTo>
                  <a:lnTo>
                    <a:pt x="0" y="4"/>
                  </a:lnTo>
                  <a:lnTo>
                    <a:pt x="1" y="5"/>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409" name="Freeform 753"/>
            <p:cNvSpPr>
              <a:spLocks/>
            </p:cNvSpPr>
            <p:nvPr/>
          </p:nvSpPr>
          <p:spPr bwMode="auto">
            <a:xfrm>
              <a:off x="2580" y="1898"/>
              <a:ext cx="7" cy="6"/>
            </a:xfrm>
            <a:custGeom>
              <a:avLst/>
              <a:gdLst/>
              <a:ahLst/>
              <a:cxnLst>
                <a:cxn ang="0">
                  <a:pos x="5" y="6"/>
                </a:cxn>
                <a:cxn ang="0">
                  <a:pos x="6" y="6"/>
                </a:cxn>
                <a:cxn ang="0">
                  <a:pos x="7" y="5"/>
                </a:cxn>
                <a:cxn ang="0">
                  <a:pos x="7" y="4"/>
                </a:cxn>
                <a:cxn ang="0">
                  <a:pos x="7" y="3"/>
                </a:cxn>
                <a:cxn ang="0">
                  <a:pos x="7" y="2"/>
                </a:cxn>
                <a:cxn ang="0">
                  <a:pos x="6" y="1"/>
                </a:cxn>
                <a:cxn ang="0">
                  <a:pos x="5" y="0"/>
                </a:cxn>
                <a:cxn ang="0">
                  <a:pos x="4" y="0"/>
                </a:cxn>
                <a:cxn ang="0">
                  <a:pos x="4" y="0"/>
                </a:cxn>
                <a:cxn ang="0">
                  <a:pos x="3" y="1"/>
                </a:cxn>
                <a:cxn ang="0">
                  <a:pos x="1" y="2"/>
                </a:cxn>
                <a:cxn ang="0">
                  <a:pos x="0" y="3"/>
                </a:cxn>
                <a:cxn ang="0">
                  <a:pos x="0" y="4"/>
                </a:cxn>
                <a:cxn ang="0">
                  <a:pos x="1" y="5"/>
                </a:cxn>
                <a:cxn ang="0">
                  <a:pos x="3" y="6"/>
                </a:cxn>
                <a:cxn ang="0">
                  <a:pos x="4" y="6"/>
                </a:cxn>
                <a:cxn ang="0">
                  <a:pos x="5" y="6"/>
                </a:cxn>
              </a:cxnLst>
              <a:rect l="0" t="0" r="r" b="b"/>
              <a:pathLst>
                <a:path w="7" h="6">
                  <a:moveTo>
                    <a:pt x="5" y="6"/>
                  </a:moveTo>
                  <a:lnTo>
                    <a:pt x="6" y="6"/>
                  </a:lnTo>
                  <a:lnTo>
                    <a:pt x="7" y="5"/>
                  </a:lnTo>
                  <a:lnTo>
                    <a:pt x="7" y="4"/>
                  </a:lnTo>
                  <a:lnTo>
                    <a:pt x="7" y="3"/>
                  </a:lnTo>
                  <a:lnTo>
                    <a:pt x="7" y="2"/>
                  </a:lnTo>
                  <a:lnTo>
                    <a:pt x="6" y="1"/>
                  </a:lnTo>
                  <a:lnTo>
                    <a:pt x="5" y="0"/>
                  </a:lnTo>
                  <a:lnTo>
                    <a:pt x="4" y="0"/>
                  </a:lnTo>
                  <a:lnTo>
                    <a:pt x="4" y="0"/>
                  </a:lnTo>
                  <a:lnTo>
                    <a:pt x="3" y="1"/>
                  </a:lnTo>
                  <a:lnTo>
                    <a:pt x="1" y="2"/>
                  </a:lnTo>
                  <a:lnTo>
                    <a:pt x="0" y="3"/>
                  </a:lnTo>
                  <a:lnTo>
                    <a:pt x="0" y="4"/>
                  </a:lnTo>
                  <a:lnTo>
                    <a:pt x="1" y="5"/>
                  </a:lnTo>
                  <a:lnTo>
                    <a:pt x="3" y="6"/>
                  </a:lnTo>
                  <a:lnTo>
                    <a:pt x="4" y="6"/>
                  </a:lnTo>
                  <a:lnTo>
                    <a:pt x="5" y="6"/>
                  </a:lnTo>
                  <a:close/>
                </a:path>
              </a:pathLst>
            </a:custGeom>
            <a:solidFill>
              <a:srgbClr val="000000"/>
            </a:solidFill>
            <a:ln w="9525">
              <a:noFill/>
              <a:round/>
              <a:headEnd/>
              <a:tailEnd/>
            </a:ln>
          </p:spPr>
          <p:txBody>
            <a:bodyPr/>
            <a:lstStyle/>
            <a:p>
              <a:endParaRPr lang="en-US"/>
            </a:p>
          </p:txBody>
        </p:sp>
        <p:sp>
          <p:nvSpPr>
            <p:cNvPr id="327410" name="Freeform 754"/>
            <p:cNvSpPr>
              <a:spLocks/>
            </p:cNvSpPr>
            <p:nvPr/>
          </p:nvSpPr>
          <p:spPr bwMode="auto">
            <a:xfrm>
              <a:off x="2568" y="1900"/>
              <a:ext cx="7" cy="6"/>
            </a:xfrm>
            <a:custGeom>
              <a:avLst/>
              <a:gdLst/>
              <a:ahLst/>
              <a:cxnLst>
                <a:cxn ang="0">
                  <a:pos x="3" y="6"/>
                </a:cxn>
                <a:cxn ang="0">
                  <a:pos x="4" y="6"/>
                </a:cxn>
                <a:cxn ang="0">
                  <a:pos x="6" y="5"/>
                </a:cxn>
                <a:cxn ang="0">
                  <a:pos x="7" y="4"/>
                </a:cxn>
                <a:cxn ang="0">
                  <a:pos x="7" y="3"/>
                </a:cxn>
                <a:cxn ang="0">
                  <a:pos x="6" y="2"/>
                </a:cxn>
                <a:cxn ang="0">
                  <a:pos x="4" y="1"/>
                </a:cxn>
                <a:cxn ang="0">
                  <a:pos x="3" y="0"/>
                </a:cxn>
                <a:cxn ang="0">
                  <a:pos x="2" y="0"/>
                </a:cxn>
                <a:cxn ang="0">
                  <a:pos x="2" y="0"/>
                </a:cxn>
                <a:cxn ang="0">
                  <a:pos x="1" y="1"/>
                </a:cxn>
                <a:cxn ang="0">
                  <a:pos x="0" y="2"/>
                </a:cxn>
                <a:cxn ang="0">
                  <a:pos x="0" y="3"/>
                </a:cxn>
                <a:cxn ang="0">
                  <a:pos x="0" y="4"/>
                </a:cxn>
                <a:cxn ang="0">
                  <a:pos x="0" y="5"/>
                </a:cxn>
                <a:cxn ang="0">
                  <a:pos x="1" y="6"/>
                </a:cxn>
                <a:cxn ang="0">
                  <a:pos x="2" y="6"/>
                </a:cxn>
                <a:cxn ang="0">
                  <a:pos x="3" y="6"/>
                </a:cxn>
              </a:cxnLst>
              <a:rect l="0" t="0" r="r" b="b"/>
              <a:pathLst>
                <a:path w="7" h="6">
                  <a:moveTo>
                    <a:pt x="3" y="6"/>
                  </a:moveTo>
                  <a:lnTo>
                    <a:pt x="4" y="6"/>
                  </a:lnTo>
                  <a:lnTo>
                    <a:pt x="6" y="5"/>
                  </a:lnTo>
                  <a:lnTo>
                    <a:pt x="7" y="4"/>
                  </a:lnTo>
                  <a:lnTo>
                    <a:pt x="7" y="3"/>
                  </a:lnTo>
                  <a:lnTo>
                    <a:pt x="6" y="2"/>
                  </a:lnTo>
                  <a:lnTo>
                    <a:pt x="4" y="1"/>
                  </a:lnTo>
                  <a:lnTo>
                    <a:pt x="3" y="0"/>
                  </a:lnTo>
                  <a:lnTo>
                    <a:pt x="2" y="0"/>
                  </a:lnTo>
                  <a:lnTo>
                    <a:pt x="2" y="0"/>
                  </a:lnTo>
                  <a:lnTo>
                    <a:pt x="1" y="1"/>
                  </a:lnTo>
                  <a:lnTo>
                    <a:pt x="0" y="2"/>
                  </a:lnTo>
                  <a:lnTo>
                    <a:pt x="0" y="3"/>
                  </a:lnTo>
                  <a:lnTo>
                    <a:pt x="0" y="4"/>
                  </a:lnTo>
                  <a:lnTo>
                    <a:pt x="0" y="5"/>
                  </a:lnTo>
                  <a:lnTo>
                    <a:pt x="1" y="6"/>
                  </a:lnTo>
                  <a:lnTo>
                    <a:pt x="2" y="6"/>
                  </a:lnTo>
                  <a:lnTo>
                    <a:pt x="3" y="6"/>
                  </a:lnTo>
                  <a:close/>
                </a:path>
              </a:pathLst>
            </a:custGeom>
            <a:solidFill>
              <a:srgbClr val="000000"/>
            </a:solidFill>
            <a:ln w="9525">
              <a:noFill/>
              <a:round/>
              <a:headEnd/>
              <a:tailEnd/>
            </a:ln>
          </p:spPr>
          <p:txBody>
            <a:bodyPr/>
            <a:lstStyle/>
            <a:p>
              <a:endParaRPr lang="en-US"/>
            </a:p>
          </p:txBody>
        </p:sp>
        <p:sp>
          <p:nvSpPr>
            <p:cNvPr id="327411" name="Freeform 755"/>
            <p:cNvSpPr>
              <a:spLocks/>
            </p:cNvSpPr>
            <p:nvPr/>
          </p:nvSpPr>
          <p:spPr bwMode="auto">
            <a:xfrm>
              <a:off x="2554" y="1902"/>
              <a:ext cx="7" cy="6"/>
            </a:xfrm>
            <a:custGeom>
              <a:avLst/>
              <a:gdLst/>
              <a:ahLst/>
              <a:cxnLst>
                <a:cxn ang="0">
                  <a:pos x="4" y="6"/>
                </a:cxn>
                <a:cxn ang="0">
                  <a:pos x="5" y="6"/>
                </a:cxn>
                <a:cxn ang="0">
                  <a:pos x="6" y="5"/>
                </a:cxn>
                <a:cxn ang="0">
                  <a:pos x="7" y="4"/>
                </a:cxn>
                <a:cxn ang="0">
                  <a:pos x="7" y="3"/>
                </a:cxn>
                <a:cxn ang="0">
                  <a:pos x="6" y="2"/>
                </a:cxn>
                <a:cxn ang="0">
                  <a:pos x="5" y="1"/>
                </a:cxn>
                <a:cxn ang="0">
                  <a:pos x="4" y="0"/>
                </a:cxn>
                <a:cxn ang="0">
                  <a:pos x="3" y="0"/>
                </a:cxn>
                <a:cxn ang="0">
                  <a:pos x="3" y="0"/>
                </a:cxn>
                <a:cxn ang="0">
                  <a:pos x="1" y="1"/>
                </a:cxn>
                <a:cxn ang="0">
                  <a:pos x="0" y="2"/>
                </a:cxn>
                <a:cxn ang="0">
                  <a:pos x="0" y="3"/>
                </a:cxn>
                <a:cxn ang="0">
                  <a:pos x="0" y="4"/>
                </a:cxn>
                <a:cxn ang="0">
                  <a:pos x="0" y="5"/>
                </a:cxn>
                <a:cxn ang="0">
                  <a:pos x="1" y="6"/>
                </a:cxn>
                <a:cxn ang="0">
                  <a:pos x="3" y="6"/>
                </a:cxn>
                <a:cxn ang="0">
                  <a:pos x="4" y="6"/>
                </a:cxn>
              </a:cxnLst>
              <a:rect l="0" t="0" r="r" b="b"/>
              <a:pathLst>
                <a:path w="7" h="6">
                  <a:moveTo>
                    <a:pt x="4" y="6"/>
                  </a:moveTo>
                  <a:lnTo>
                    <a:pt x="5" y="6"/>
                  </a:lnTo>
                  <a:lnTo>
                    <a:pt x="6" y="5"/>
                  </a:lnTo>
                  <a:lnTo>
                    <a:pt x="7" y="4"/>
                  </a:lnTo>
                  <a:lnTo>
                    <a:pt x="7" y="3"/>
                  </a:lnTo>
                  <a:lnTo>
                    <a:pt x="6" y="2"/>
                  </a:lnTo>
                  <a:lnTo>
                    <a:pt x="5" y="1"/>
                  </a:lnTo>
                  <a:lnTo>
                    <a:pt x="4" y="0"/>
                  </a:lnTo>
                  <a:lnTo>
                    <a:pt x="3" y="0"/>
                  </a:lnTo>
                  <a:lnTo>
                    <a:pt x="3" y="0"/>
                  </a:lnTo>
                  <a:lnTo>
                    <a:pt x="1" y="1"/>
                  </a:lnTo>
                  <a:lnTo>
                    <a:pt x="0" y="2"/>
                  </a:lnTo>
                  <a:lnTo>
                    <a:pt x="0" y="3"/>
                  </a:lnTo>
                  <a:lnTo>
                    <a:pt x="0" y="4"/>
                  </a:lnTo>
                  <a:lnTo>
                    <a:pt x="0" y="5"/>
                  </a:lnTo>
                  <a:lnTo>
                    <a:pt x="1" y="6"/>
                  </a:lnTo>
                  <a:lnTo>
                    <a:pt x="3" y="6"/>
                  </a:lnTo>
                  <a:lnTo>
                    <a:pt x="4" y="6"/>
                  </a:lnTo>
                  <a:close/>
                </a:path>
              </a:pathLst>
            </a:custGeom>
            <a:solidFill>
              <a:srgbClr val="000000"/>
            </a:solidFill>
            <a:ln w="9525">
              <a:noFill/>
              <a:round/>
              <a:headEnd/>
              <a:tailEnd/>
            </a:ln>
          </p:spPr>
          <p:txBody>
            <a:bodyPr/>
            <a:lstStyle/>
            <a:p>
              <a:endParaRPr lang="en-US"/>
            </a:p>
          </p:txBody>
        </p:sp>
        <p:sp>
          <p:nvSpPr>
            <p:cNvPr id="327412" name="Freeform 756"/>
            <p:cNvSpPr>
              <a:spLocks/>
            </p:cNvSpPr>
            <p:nvPr/>
          </p:nvSpPr>
          <p:spPr bwMode="auto">
            <a:xfrm>
              <a:off x="2541" y="1904"/>
              <a:ext cx="7" cy="7"/>
            </a:xfrm>
            <a:custGeom>
              <a:avLst/>
              <a:gdLst/>
              <a:ahLst/>
              <a:cxnLst>
                <a:cxn ang="0">
                  <a:pos x="3" y="7"/>
                </a:cxn>
                <a:cxn ang="0">
                  <a:pos x="4" y="7"/>
                </a:cxn>
                <a:cxn ang="0">
                  <a:pos x="5" y="6"/>
                </a:cxn>
                <a:cxn ang="0">
                  <a:pos x="7" y="4"/>
                </a:cxn>
                <a:cxn ang="0">
                  <a:pos x="7" y="3"/>
                </a:cxn>
                <a:cxn ang="0">
                  <a:pos x="5" y="2"/>
                </a:cxn>
                <a:cxn ang="0">
                  <a:pos x="4" y="1"/>
                </a:cxn>
                <a:cxn ang="0">
                  <a:pos x="3" y="0"/>
                </a:cxn>
                <a:cxn ang="0">
                  <a:pos x="2" y="0"/>
                </a:cxn>
                <a:cxn ang="0">
                  <a:pos x="2" y="0"/>
                </a:cxn>
                <a:cxn ang="0">
                  <a:pos x="1" y="1"/>
                </a:cxn>
                <a:cxn ang="0">
                  <a:pos x="0" y="2"/>
                </a:cxn>
                <a:cxn ang="0">
                  <a:pos x="0" y="3"/>
                </a:cxn>
                <a:cxn ang="0">
                  <a:pos x="0" y="4"/>
                </a:cxn>
                <a:cxn ang="0">
                  <a:pos x="0" y="6"/>
                </a:cxn>
                <a:cxn ang="0">
                  <a:pos x="1" y="7"/>
                </a:cxn>
                <a:cxn ang="0">
                  <a:pos x="2" y="7"/>
                </a:cxn>
                <a:cxn ang="0">
                  <a:pos x="3" y="7"/>
                </a:cxn>
              </a:cxnLst>
              <a:rect l="0" t="0" r="r" b="b"/>
              <a:pathLst>
                <a:path w="7" h="7">
                  <a:moveTo>
                    <a:pt x="3" y="7"/>
                  </a:moveTo>
                  <a:lnTo>
                    <a:pt x="4" y="7"/>
                  </a:lnTo>
                  <a:lnTo>
                    <a:pt x="5" y="6"/>
                  </a:lnTo>
                  <a:lnTo>
                    <a:pt x="7" y="4"/>
                  </a:lnTo>
                  <a:lnTo>
                    <a:pt x="7" y="3"/>
                  </a:lnTo>
                  <a:lnTo>
                    <a:pt x="5" y="2"/>
                  </a:lnTo>
                  <a:lnTo>
                    <a:pt x="4" y="1"/>
                  </a:lnTo>
                  <a:lnTo>
                    <a:pt x="3" y="0"/>
                  </a:lnTo>
                  <a:lnTo>
                    <a:pt x="2" y="0"/>
                  </a:lnTo>
                  <a:lnTo>
                    <a:pt x="2" y="0"/>
                  </a:lnTo>
                  <a:lnTo>
                    <a:pt x="1" y="1"/>
                  </a:lnTo>
                  <a:lnTo>
                    <a:pt x="0" y="2"/>
                  </a:lnTo>
                  <a:lnTo>
                    <a:pt x="0" y="3"/>
                  </a:lnTo>
                  <a:lnTo>
                    <a:pt x="0" y="4"/>
                  </a:lnTo>
                  <a:lnTo>
                    <a:pt x="0" y="6"/>
                  </a:lnTo>
                  <a:lnTo>
                    <a:pt x="1" y="7"/>
                  </a:lnTo>
                  <a:lnTo>
                    <a:pt x="2" y="7"/>
                  </a:lnTo>
                  <a:lnTo>
                    <a:pt x="3" y="7"/>
                  </a:lnTo>
                  <a:close/>
                </a:path>
              </a:pathLst>
            </a:custGeom>
            <a:solidFill>
              <a:srgbClr val="000000"/>
            </a:solidFill>
            <a:ln w="9525">
              <a:noFill/>
              <a:round/>
              <a:headEnd/>
              <a:tailEnd/>
            </a:ln>
          </p:spPr>
          <p:txBody>
            <a:bodyPr/>
            <a:lstStyle/>
            <a:p>
              <a:endParaRPr lang="en-US"/>
            </a:p>
          </p:txBody>
        </p:sp>
        <p:sp>
          <p:nvSpPr>
            <p:cNvPr id="327413" name="Freeform 757"/>
            <p:cNvSpPr>
              <a:spLocks/>
            </p:cNvSpPr>
            <p:nvPr/>
          </p:nvSpPr>
          <p:spPr bwMode="auto">
            <a:xfrm>
              <a:off x="2527" y="1906"/>
              <a:ext cx="7" cy="7"/>
            </a:xfrm>
            <a:custGeom>
              <a:avLst/>
              <a:gdLst/>
              <a:ahLst/>
              <a:cxnLst>
                <a:cxn ang="0">
                  <a:pos x="4" y="7"/>
                </a:cxn>
                <a:cxn ang="0">
                  <a:pos x="5" y="6"/>
                </a:cxn>
                <a:cxn ang="0">
                  <a:pos x="6" y="5"/>
                </a:cxn>
                <a:cxn ang="0">
                  <a:pos x="7" y="4"/>
                </a:cxn>
                <a:cxn ang="0">
                  <a:pos x="7" y="2"/>
                </a:cxn>
                <a:cxn ang="0">
                  <a:pos x="6" y="1"/>
                </a:cxn>
                <a:cxn ang="0">
                  <a:pos x="5" y="0"/>
                </a:cxn>
                <a:cxn ang="0">
                  <a:pos x="4" y="0"/>
                </a:cxn>
                <a:cxn ang="0">
                  <a:pos x="3" y="0"/>
                </a:cxn>
                <a:cxn ang="0">
                  <a:pos x="3" y="0"/>
                </a:cxn>
                <a:cxn ang="0">
                  <a:pos x="1" y="0"/>
                </a:cxn>
                <a:cxn ang="0">
                  <a:pos x="0" y="1"/>
                </a:cxn>
                <a:cxn ang="0">
                  <a:pos x="0" y="2"/>
                </a:cxn>
                <a:cxn ang="0">
                  <a:pos x="0" y="4"/>
                </a:cxn>
                <a:cxn ang="0">
                  <a:pos x="0" y="5"/>
                </a:cxn>
                <a:cxn ang="0">
                  <a:pos x="1" y="6"/>
                </a:cxn>
                <a:cxn ang="0">
                  <a:pos x="3" y="7"/>
                </a:cxn>
                <a:cxn ang="0">
                  <a:pos x="4" y="7"/>
                </a:cxn>
              </a:cxnLst>
              <a:rect l="0" t="0" r="r" b="b"/>
              <a:pathLst>
                <a:path w="7" h="7">
                  <a:moveTo>
                    <a:pt x="4" y="7"/>
                  </a:moveTo>
                  <a:lnTo>
                    <a:pt x="5" y="6"/>
                  </a:lnTo>
                  <a:lnTo>
                    <a:pt x="6" y="5"/>
                  </a:lnTo>
                  <a:lnTo>
                    <a:pt x="7" y="4"/>
                  </a:lnTo>
                  <a:lnTo>
                    <a:pt x="7" y="2"/>
                  </a:lnTo>
                  <a:lnTo>
                    <a:pt x="6" y="1"/>
                  </a:lnTo>
                  <a:lnTo>
                    <a:pt x="5" y="0"/>
                  </a:lnTo>
                  <a:lnTo>
                    <a:pt x="4" y="0"/>
                  </a:lnTo>
                  <a:lnTo>
                    <a:pt x="3" y="0"/>
                  </a:lnTo>
                  <a:lnTo>
                    <a:pt x="3" y="0"/>
                  </a:lnTo>
                  <a:lnTo>
                    <a:pt x="1" y="0"/>
                  </a:lnTo>
                  <a:lnTo>
                    <a:pt x="0" y="1"/>
                  </a:lnTo>
                  <a:lnTo>
                    <a:pt x="0" y="2"/>
                  </a:lnTo>
                  <a:lnTo>
                    <a:pt x="0" y="4"/>
                  </a:lnTo>
                  <a:lnTo>
                    <a:pt x="0" y="5"/>
                  </a:lnTo>
                  <a:lnTo>
                    <a:pt x="1" y="6"/>
                  </a:lnTo>
                  <a:lnTo>
                    <a:pt x="3" y="7"/>
                  </a:lnTo>
                  <a:lnTo>
                    <a:pt x="4" y="7"/>
                  </a:lnTo>
                  <a:close/>
                </a:path>
              </a:pathLst>
            </a:custGeom>
            <a:solidFill>
              <a:srgbClr val="000000"/>
            </a:solidFill>
            <a:ln w="9525">
              <a:noFill/>
              <a:round/>
              <a:headEnd/>
              <a:tailEnd/>
            </a:ln>
          </p:spPr>
          <p:txBody>
            <a:bodyPr/>
            <a:lstStyle/>
            <a:p>
              <a:endParaRPr lang="en-US"/>
            </a:p>
          </p:txBody>
        </p:sp>
        <p:sp>
          <p:nvSpPr>
            <p:cNvPr id="327414" name="Freeform 758"/>
            <p:cNvSpPr>
              <a:spLocks/>
            </p:cNvSpPr>
            <p:nvPr/>
          </p:nvSpPr>
          <p:spPr bwMode="auto">
            <a:xfrm>
              <a:off x="2514" y="1908"/>
              <a:ext cx="6" cy="7"/>
            </a:xfrm>
            <a:custGeom>
              <a:avLst/>
              <a:gdLst/>
              <a:ahLst/>
              <a:cxnLst>
                <a:cxn ang="0">
                  <a:pos x="4" y="7"/>
                </a:cxn>
                <a:cxn ang="0">
                  <a:pos x="5" y="6"/>
                </a:cxn>
                <a:cxn ang="0">
                  <a:pos x="6" y="5"/>
                </a:cxn>
                <a:cxn ang="0">
                  <a:pos x="6" y="4"/>
                </a:cxn>
                <a:cxn ang="0">
                  <a:pos x="6" y="3"/>
                </a:cxn>
                <a:cxn ang="0">
                  <a:pos x="6" y="2"/>
                </a:cxn>
                <a:cxn ang="0">
                  <a:pos x="5" y="0"/>
                </a:cxn>
                <a:cxn ang="0">
                  <a:pos x="4" y="0"/>
                </a:cxn>
                <a:cxn ang="0">
                  <a:pos x="3" y="0"/>
                </a:cxn>
                <a:cxn ang="0">
                  <a:pos x="3" y="0"/>
                </a:cxn>
                <a:cxn ang="0">
                  <a:pos x="2" y="0"/>
                </a:cxn>
                <a:cxn ang="0">
                  <a:pos x="1" y="2"/>
                </a:cxn>
                <a:cxn ang="0">
                  <a:pos x="0" y="3"/>
                </a:cxn>
                <a:cxn ang="0">
                  <a:pos x="0" y="4"/>
                </a:cxn>
                <a:cxn ang="0">
                  <a:pos x="1" y="5"/>
                </a:cxn>
                <a:cxn ang="0">
                  <a:pos x="2" y="6"/>
                </a:cxn>
                <a:cxn ang="0">
                  <a:pos x="3" y="7"/>
                </a:cxn>
                <a:cxn ang="0">
                  <a:pos x="4" y="7"/>
                </a:cxn>
              </a:cxnLst>
              <a:rect l="0" t="0" r="r" b="b"/>
              <a:pathLst>
                <a:path w="6" h="7">
                  <a:moveTo>
                    <a:pt x="4" y="7"/>
                  </a:moveTo>
                  <a:lnTo>
                    <a:pt x="5" y="6"/>
                  </a:lnTo>
                  <a:lnTo>
                    <a:pt x="6" y="5"/>
                  </a:lnTo>
                  <a:lnTo>
                    <a:pt x="6" y="4"/>
                  </a:lnTo>
                  <a:lnTo>
                    <a:pt x="6" y="3"/>
                  </a:lnTo>
                  <a:lnTo>
                    <a:pt x="6" y="2"/>
                  </a:lnTo>
                  <a:lnTo>
                    <a:pt x="5" y="0"/>
                  </a:lnTo>
                  <a:lnTo>
                    <a:pt x="4" y="0"/>
                  </a:lnTo>
                  <a:lnTo>
                    <a:pt x="3" y="0"/>
                  </a:lnTo>
                  <a:lnTo>
                    <a:pt x="3" y="0"/>
                  </a:lnTo>
                  <a:lnTo>
                    <a:pt x="2" y="0"/>
                  </a:lnTo>
                  <a:lnTo>
                    <a:pt x="1" y="2"/>
                  </a:lnTo>
                  <a:lnTo>
                    <a:pt x="0" y="3"/>
                  </a:lnTo>
                  <a:lnTo>
                    <a:pt x="0" y="4"/>
                  </a:lnTo>
                  <a:lnTo>
                    <a:pt x="1" y="5"/>
                  </a:lnTo>
                  <a:lnTo>
                    <a:pt x="2" y="6"/>
                  </a:lnTo>
                  <a:lnTo>
                    <a:pt x="3" y="7"/>
                  </a:lnTo>
                  <a:lnTo>
                    <a:pt x="4" y="7"/>
                  </a:lnTo>
                  <a:close/>
                </a:path>
              </a:pathLst>
            </a:custGeom>
            <a:solidFill>
              <a:srgbClr val="000000"/>
            </a:solidFill>
            <a:ln w="9525">
              <a:noFill/>
              <a:round/>
              <a:headEnd/>
              <a:tailEnd/>
            </a:ln>
          </p:spPr>
          <p:txBody>
            <a:bodyPr/>
            <a:lstStyle/>
            <a:p>
              <a:endParaRPr lang="en-US"/>
            </a:p>
          </p:txBody>
        </p:sp>
        <p:sp>
          <p:nvSpPr>
            <p:cNvPr id="327415" name="Freeform 759"/>
            <p:cNvSpPr>
              <a:spLocks/>
            </p:cNvSpPr>
            <p:nvPr/>
          </p:nvSpPr>
          <p:spPr bwMode="auto">
            <a:xfrm>
              <a:off x="2500" y="1911"/>
              <a:ext cx="7" cy="6"/>
            </a:xfrm>
            <a:custGeom>
              <a:avLst/>
              <a:gdLst/>
              <a:ahLst/>
              <a:cxnLst>
                <a:cxn ang="0">
                  <a:pos x="5" y="6"/>
                </a:cxn>
                <a:cxn ang="0">
                  <a:pos x="6" y="5"/>
                </a:cxn>
                <a:cxn ang="0">
                  <a:pos x="7" y="4"/>
                </a:cxn>
                <a:cxn ang="0">
                  <a:pos x="7" y="3"/>
                </a:cxn>
                <a:cxn ang="0">
                  <a:pos x="7" y="2"/>
                </a:cxn>
                <a:cxn ang="0">
                  <a:pos x="7" y="1"/>
                </a:cxn>
                <a:cxn ang="0">
                  <a:pos x="6" y="0"/>
                </a:cxn>
                <a:cxn ang="0">
                  <a:pos x="5" y="0"/>
                </a:cxn>
                <a:cxn ang="0">
                  <a:pos x="4" y="0"/>
                </a:cxn>
                <a:cxn ang="0">
                  <a:pos x="4" y="0"/>
                </a:cxn>
                <a:cxn ang="0">
                  <a:pos x="2" y="0"/>
                </a:cxn>
                <a:cxn ang="0">
                  <a:pos x="1" y="1"/>
                </a:cxn>
                <a:cxn ang="0">
                  <a:pos x="0" y="2"/>
                </a:cxn>
                <a:cxn ang="0">
                  <a:pos x="0" y="3"/>
                </a:cxn>
                <a:cxn ang="0">
                  <a:pos x="1" y="4"/>
                </a:cxn>
                <a:cxn ang="0">
                  <a:pos x="2" y="5"/>
                </a:cxn>
                <a:cxn ang="0">
                  <a:pos x="4" y="6"/>
                </a:cxn>
                <a:cxn ang="0">
                  <a:pos x="5" y="6"/>
                </a:cxn>
              </a:cxnLst>
              <a:rect l="0" t="0" r="r" b="b"/>
              <a:pathLst>
                <a:path w="7" h="6">
                  <a:moveTo>
                    <a:pt x="5" y="6"/>
                  </a:moveTo>
                  <a:lnTo>
                    <a:pt x="6" y="5"/>
                  </a:lnTo>
                  <a:lnTo>
                    <a:pt x="7" y="4"/>
                  </a:lnTo>
                  <a:lnTo>
                    <a:pt x="7" y="3"/>
                  </a:lnTo>
                  <a:lnTo>
                    <a:pt x="7" y="2"/>
                  </a:lnTo>
                  <a:lnTo>
                    <a:pt x="7" y="1"/>
                  </a:lnTo>
                  <a:lnTo>
                    <a:pt x="6" y="0"/>
                  </a:lnTo>
                  <a:lnTo>
                    <a:pt x="5" y="0"/>
                  </a:lnTo>
                  <a:lnTo>
                    <a:pt x="4" y="0"/>
                  </a:lnTo>
                  <a:lnTo>
                    <a:pt x="4" y="0"/>
                  </a:lnTo>
                  <a:lnTo>
                    <a:pt x="2" y="0"/>
                  </a:lnTo>
                  <a:lnTo>
                    <a:pt x="1" y="1"/>
                  </a:lnTo>
                  <a:lnTo>
                    <a:pt x="0" y="2"/>
                  </a:lnTo>
                  <a:lnTo>
                    <a:pt x="0" y="3"/>
                  </a:lnTo>
                  <a:lnTo>
                    <a:pt x="1" y="4"/>
                  </a:lnTo>
                  <a:lnTo>
                    <a:pt x="2" y="5"/>
                  </a:lnTo>
                  <a:lnTo>
                    <a:pt x="4" y="6"/>
                  </a:lnTo>
                  <a:lnTo>
                    <a:pt x="5" y="6"/>
                  </a:lnTo>
                  <a:close/>
                </a:path>
              </a:pathLst>
            </a:custGeom>
            <a:solidFill>
              <a:srgbClr val="000000"/>
            </a:solidFill>
            <a:ln w="9525">
              <a:noFill/>
              <a:round/>
              <a:headEnd/>
              <a:tailEnd/>
            </a:ln>
          </p:spPr>
          <p:txBody>
            <a:bodyPr/>
            <a:lstStyle/>
            <a:p>
              <a:endParaRPr lang="en-US"/>
            </a:p>
          </p:txBody>
        </p:sp>
        <p:sp>
          <p:nvSpPr>
            <p:cNvPr id="327416" name="Freeform 760"/>
            <p:cNvSpPr>
              <a:spLocks/>
            </p:cNvSpPr>
            <p:nvPr/>
          </p:nvSpPr>
          <p:spPr bwMode="auto">
            <a:xfrm>
              <a:off x="2487" y="1913"/>
              <a:ext cx="6" cy="6"/>
            </a:xfrm>
            <a:custGeom>
              <a:avLst/>
              <a:gdLst/>
              <a:ahLst/>
              <a:cxnLst>
                <a:cxn ang="0">
                  <a:pos x="4" y="6"/>
                </a:cxn>
                <a:cxn ang="0">
                  <a:pos x="5" y="5"/>
                </a:cxn>
                <a:cxn ang="0">
                  <a:pos x="6" y="4"/>
                </a:cxn>
                <a:cxn ang="0">
                  <a:pos x="6" y="3"/>
                </a:cxn>
                <a:cxn ang="0">
                  <a:pos x="6" y="2"/>
                </a:cxn>
                <a:cxn ang="0">
                  <a:pos x="6" y="1"/>
                </a:cxn>
                <a:cxn ang="0">
                  <a:pos x="5" y="0"/>
                </a:cxn>
                <a:cxn ang="0">
                  <a:pos x="4" y="0"/>
                </a:cxn>
                <a:cxn ang="0">
                  <a:pos x="3" y="0"/>
                </a:cxn>
                <a:cxn ang="0">
                  <a:pos x="3" y="0"/>
                </a:cxn>
                <a:cxn ang="0">
                  <a:pos x="2" y="0"/>
                </a:cxn>
                <a:cxn ang="0">
                  <a:pos x="1" y="1"/>
                </a:cxn>
                <a:cxn ang="0">
                  <a:pos x="0" y="2"/>
                </a:cxn>
                <a:cxn ang="0">
                  <a:pos x="0" y="3"/>
                </a:cxn>
                <a:cxn ang="0">
                  <a:pos x="1" y="4"/>
                </a:cxn>
                <a:cxn ang="0">
                  <a:pos x="2" y="5"/>
                </a:cxn>
                <a:cxn ang="0">
                  <a:pos x="3" y="6"/>
                </a:cxn>
                <a:cxn ang="0">
                  <a:pos x="4" y="6"/>
                </a:cxn>
              </a:cxnLst>
              <a:rect l="0" t="0" r="r" b="b"/>
              <a:pathLst>
                <a:path w="6" h="6">
                  <a:moveTo>
                    <a:pt x="4" y="6"/>
                  </a:moveTo>
                  <a:lnTo>
                    <a:pt x="5" y="5"/>
                  </a:lnTo>
                  <a:lnTo>
                    <a:pt x="6" y="4"/>
                  </a:lnTo>
                  <a:lnTo>
                    <a:pt x="6" y="3"/>
                  </a:lnTo>
                  <a:lnTo>
                    <a:pt x="6" y="2"/>
                  </a:lnTo>
                  <a:lnTo>
                    <a:pt x="6" y="1"/>
                  </a:lnTo>
                  <a:lnTo>
                    <a:pt x="5" y="0"/>
                  </a:lnTo>
                  <a:lnTo>
                    <a:pt x="4" y="0"/>
                  </a:lnTo>
                  <a:lnTo>
                    <a:pt x="3" y="0"/>
                  </a:lnTo>
                  <a:lnTo>
                    <a:pt x="3" y="0"/>
                  </a:lnTo>
                  <a:lnTo>
                    <a:pt x="2" y="0"/>
                  </a:lnTo>
                  <a:lnTo>
                    <a:pt x="1" y="1"/>
                  </a:lnTo>
                  <a:lnTo>
                    <a:pt x="0" y="2"/>
                  </a:lnTo>
                  <a:lnTo>
                    <a:pt x="0" y="3"/>
                  </a:lnTo>
                  <a:lnTo>
                    <a:pt x="1" y="4"/>
                  </a:lnTo>
                  <a:lnTo>
                    <a:pt x="2" y="5"/>
                  </a:lnTo>
                  <a:lnTo>
                    <a:pt x="3" y="6"/>
                  </a:lnTo>
                  <a:lnTo>
                    <a:pt x="4" y="6"/>
                  </a:lnTo>
                  <a:close/>
                </a:path>
              </a:pathLst>
            </a:custGeom>
            <a:solidFill>
              <a:srgbClr val="000000"/>
            </a:solidFill>
            <a:ln w="9525">
              <a:noFill/>
              <a:round/>
              <a:headEnd/>
              <a:tailEnd/>
            </a:ln>
          </p:spPr>
          <p:txBody>
            <a:bodyPr/>
            <a:lstStyle/>
            <a:p>
              <a:endParaRPr lang="en-US"/>
            </a:p>
          </p:txBody>
        </p:sp>
        <p:sp>
          <p:nvSpPr>
            <p:cNvPr id="327417" name="Freeform 761"/>
            <p:cNvSpPr>
              <a:spLocks/>
            </p:cNvSpPr>
            <p:nvPr/>
          </p:nvSpPr>
          <p:spPr bwMode="auto">
            <a:xfrm>
              <a:off x="2474" y="1915"/>
              <a:ext cx="7" cy="6"/>
            </a:xfrm>
            <a:custGeom>
              <a:avLst/>
              <a:gdLst/>
              <a:ahLst/>
              <a:cxnLst>
                <a:cxn ang="0">
                  <a:pos x="4" y="6"/>
                </a:cxn>
                <a:cxn ang="0">
                  <a:pos x="5" y="5"/>
                </a:cxn>
                <a:cxn ang="0">
                  <a:pos x="6" y="4"/>
                </a:cxn>
                <a:cxn ang="0">
                  <a:pos x="7" y="3"/>
                </a:cxn>
                <a:cxn ang="0">
                  <a:pos x="7" y="2"/>
                </a:cxn>
                <a:cxn ang="0">
                  <a:pos x="6" y="1"/>
                </a:cxn>
                <a:cxn ang="0">
                  <a:pos x="5" y="0"/>
                </a:cxn>
                <a:cxn ang="0">
                  <a:pos x="4" y="0"/>
                </a:cxn>
                <a:cxn ang="0">
                  <a:pos x="2" y="0"/>
                </a:cxn>
                <a:cxn ang="0">
                  <a:pos x="2" y="0"/>
                </a:cxn>
                <a:cxn ang="0">
                  <a:pos x="1" y="0"/>
                </a:cxn>
                <a:cxn ang="0">
                  <a:pos x="0" y="1"/>
                </a:cxn>
                <a:cxn ang="0">
                  <a:pos x="0" y="2"/>
                </a:cxn>
                <a:cxn ang="0">
                  <a:pos x="0" y="3"/>
                </a:cxn>
                <a:cxn ang="0">
                  <a:pos x="0" y="4"/>
                </a:cxn>
                <a:cxn ang="0">
                  <a:pos x="1" y="5"/>
                </a:cxn>
                <a:cxn ang="0">
                  <a:pos x="2" y="6"/>
                </a:cxn>
                <a:cxn ang="0">
                  <a:pos x="4" y="6"/>
                </a:cxn>
              </a:cxnLst>
              <a:rect l="0" t="0" r="r" b="b"/>
              <a:pathLst>
                <a:path w="7" h="6">
                  <a:moveTo>
                    <a:pt x="4" y="6"/>
                  </a:moveTo>
                  <a:lnTo>
                    <a:pt x="5" y="5"/>
                  </a:lnTo>
                  <a:lnTo>
                    <a:pt x="6" y="4"/>
                  </a:lnTo>
                  <a:lnTo>
                    <a:pt x="7" y="3"/>
                  </a:lnTo>
                  <a:lnTo>
                    <a:pt x="7" y="2"/>
                  </a:lnTo>
                  <a:lnTo>
                    <a:pt x="6" y="1"/>
                  </a:lnTo>
                  <a:lnTo>
                    <a:pt x="5" y="0"/>
                  </a:lnTo>
                  <a:lnTo>
                    <a:pt x="4" y="0"/>
                  </a:lnTo>
                  <a:lnTo>
                    <a:pt x="2" y="0"/>
                  </a:lnTo>
                  <a:lnTo>
                    <a:pt x="2" y="0"/>
                  </a:lnTo>
                  <a:lnTo>
                    <a:pt x="1" y="0"/>
                  </a:lnTo>
                  <a:lnTo>
                    <a:pt x="0" y="1"/>
                  </a:lnTo>
                  <a:lnTo>
                    <a:pt x="0" y="2"/>
                  </a:lnTo>
                  <a:lnTo>
                    <a:pt x="0" y="3"/>
                  </a:lnTo>
                  <a:lnTo>
                    <a:pt x="0" y="4"/>
                  </a:lnTo>
                  <a:lnTo>
                    <a:pt x="1" y="5"/>
                  </a:lnTo>
                  <a:lnTo>
                    <a:pt x="2" y="6"/>
                  </a:lnTo>
                  <a:lnTo>
                    <a:pt x="4" y="6"/>
                  </a:lnTo>
                  <a:close/>
                </a:path>
              </a:pathLst>
            </a:custGeom>
            <a:solidFill>
              <a:srgbClr val="000000"/>
            </a:solidFill>
            <a:ln w="9525">
              <a:noFill/>
              <a:round/>
              <a:headEnd/>
              <a:tailEnd/>
            </a:ln>
          </p:spPr>
          <p:txBody>
            <a:bodyPr/>
            <a:lstStyle/>
            <a:p>
              <a:endParaRPr lang="en-US"/>
            </a:p>
          </p:txBody>
        </p:sp>
        <p:sp>
          <p:nvSpPr>
            <p:cNvPr id="327418" name="Freeform 762"/>
            <p:cNvSpPr>
              <a:spLocks/>
            </p:cNvSpPr>
            <p:nvPr/>
          </p:nvSpPr>
          <p:spPr bwMode="auto">
            <a:xfrm>
              <a:off x="2461" y="1916"/>
              <a:ext cx="6" cy="6"/>
            </a:xfrm>
            <a:custGeom>
              <a:avLst/>
              <a:gdLst/>
              <a:ahLst/>
              <a:cxnLst>
                <a:cxn ang="0">
                  <a:pos x="3" y="6"/>
                </a:cxn>
                <a:cxn ang="0">
                  <a:pos x="4" y="6"/>
                </a:cxn>
                <a:cxn ang="0">
                  <a:pos x="5" y="5"/>
                </a:cxn>
                <a:cxn ang="0">
                  <a:pos x="6" y="4"/>
                </a:cxn>
                <a:cxn ang="0">
                  <a:pos x="6" y="3"/>
                </a:cxn>
                <a:cxn ang="0">
                  <a:pos x="5" y="2"/>
                </a:cxn>
                <a:cxn ang="0">
                  <a:pos x="4" y="1"/>
                </a:cxn>
                <a:cxn ang="0">
                  <a:pos x="3" y="0"/>
                </a:cxn>
                <a:cxn ang="0">
                  <a:pos x="2" y="0"/>
                </a:cxn>
                <a:cxn ang="0">
                  <a:pos x="2" y="0"/>
                </a:cxn>
                <a:cxn ang="0">
                  <a:pos x="1" y="1"/>
                </a:cxn>
                <a:cxn ang="0">
                  <a:pos x="0" y="2"/>
                </a:cxn>
                <a:cxn ang="0">
                  <a:pos x="0" y="3"/>
                </a:cxn>
                <a:cxn ang="0">
                  <a:pos x="0" y="4"/>
                </a:cxn>
                <a:cxn ang="0">
                  <a:pos x="0" y="5"/>
                </a:cxn>
                <a:cxn ang="0">
                  <a:pos x="1" y="6"/>
                </a:cxn>
                <a:cxn ang="0">
                  <a:pos x="2" y="6"/>
                </a:cxn>
                <a:cxn ang="0">
                  <a:pos x="3" y="6"/>
                </a:cxn>
              </a:cxnLst>
              <a:rect l="0" t="0" r="r" b="b"/>
              <a:pathLst>
                <a:path w="6" h="6">
                  <a:moveTo>
                    <a:pt x="3" y="6"/>
                  </a:moveTo>
                  <a:lnTo>
                    <a:pt x="4" y="6"/>
                  </a:lnTo>
                  <a:lnTo>
                    <a:pt x="5" y="5"/>
                  </a:lnTo>
                  <a:lnTo>
                    <a:pt x="6" y="4"/>
                  </a:lnTo>
                  <a:lnTo>
                    <a:pt x="6" y="3"/>
                  </a:lnTo>
                  <a:lnTo>
                    <a:pt x="5" y="2"/>
                  </a:lnTo>
                  <a:lnTo>
                    <a:pt x="4" y="1"/>
                  </a:lnTo>
                  <a:lnTo>
                    <a:pt x="3" y="0"/>
                  </a:lnTo>
                  <a:lnTo>
                    <a:pt x="2" y="0"/>
                  </a:lnTo>
                  <a:lnTo>
                    <a:pt x="2" y="0"/>
                  </a:lnTo>
                  <a:lnTo>
                    <a:pt x="1" y="1"/>
                  </a:lnTo>
                  <a:lnTo>
                    <a:pt x="0" y="2"/>
                  </a:lnTo>
                  <a:lnTo>
                    <a:pt x="0" y="3"/>
                  </a:lnTo>
                  <a:lnTo>
                    <a:pt x="0" y="4"/>
                  </a:lnTo>
                  <a:lnTo>
                    <a:pt x="0" y="5"/>
                  </a:lnTo>
                  <a:lnTo>
                    <a:pt x="1" y="6"/>
                  </a:lnTo>
                  <a:lnTo>
                    <a:pt x="2" y="6"/>
                  </a:lnTo>
                  <a:lnTo>
                    <a:pt x="3" y="6"/>
                  </a:lnTo>
                  <a:close/>
                </a:path>
              </a:pathLst>
            </a:custGeom>
            <a:solidFill>
              <a:srgbClr val="000000"/>
            </a:solidFill>
            <a:ln w="9525">
              <a:noFill/>
              <a:round/>
              <a:headEnd/>
              <a:tailEnd/>
            </a:ln>
          </p:spPr>
          <p:txBody>
            <a:bodyPr/>
            <a:lstStyle/>
            <a:p>
              <a:endParaRPr lang="en-US"/>
            </a:p>
          </p:txBody>
        </p:sp>
        <p:sp>
          <p:nvSpPr>
            <p:cNvPr id="327419" name="Freeform 763"/>
            <p:cNvSpPr>
              <a:spLocks/>
            </p:cNvSpPr>
            <p:nvPr/>
          </p:nvSpPr>
          <p:spPr bwMode="auto">
            <a:xfrm>
              <a:off x="2447" y="1918"/>
              <a:ext cx="7" cy="6"/>
            </a:xfrm>
            <a:custGeom>
              <a:avLst/>
              <a:gdLst/>
              <a:ahLst/>
              <a:cxnLst>
                <a:cxn ang="0">
                  <a:pos x="3" y="6"/>
                </a:cxn>
                <a:cxn ang="0">
                  <a:pos x="5" y="6"/>
                </a:cxn>
                <a:cxn ang="0">
                  <a:pos x="6" y="5"/>
                </a:cxn>
                <a:cxn ang="0">
                  <a:pos x="7" y="4"/>
                </a:cxn>
                <a:cxn ang="0">
                  <a:pos x="7" y="3"/>
                </a:cxn>
                <a:cxn ang="0">
                  <a:pos x="6" y="2"/>
                </a:cxn>
                <a:cxn ang="0">
                  <a:pos x="5" y="1"/>
                </a:cxn>
                <a:cxn ang="0">
                  <a:pos x="3" y="0"/>
                </a:cxn>
                <a:cxn ang="0">
                  <a:pos x="2" y="0"/>
                </a:cxn>
                <a:cxn ang="0">
                  <a:pos x="2" y="0"/>
                </a:cxn>
                <a:cxn ang="0">
                  <a:pos x="1" y="1"/>
                </a:cxn>
                <a:cxn ang="0">
                  <a:pos x="0" y="2"/>
                </a:cxn>
                <a:cxn ang="0">
                  <a:pos x="0" y="3"/>
                </a:cxn>
                <a:cxn ang="0">
                  <a:pos x="0" y="4"/>
                </a:cxn>
                <a:cxn ang="0">
                  <a:pos x="0" y="5"/>
                </a:cxn>
                <a:cxn ang="0">
                  <a:pos x="1" y="6"/>
                </a:cxn>
                <a:cxn ang="0">
                  <a:pos x="2" y="6"/>
                </a:cxn>
                <a:cxn ang="0">
                  <a:pos x="3" y="6"/>
                </a:cxn>
              </a:cxnLst>
              <a:rect l="0" t="0" r="r" b="b"/>
              <a:pathLst>
                <a:path w="7" h="6">
                  <a:moveTo>
                    <a:pt x="3" y="6"/>
                  </a:moveTo>
                  <a:lnTo>
                    <a:pt x="5" y="6"/>
                  </a:lnTo>
                  <a:lnTo>
                    <a:pt x="6" y="5"/>
                  </a:lnTo>
                  <a:lnTo>
                    <a:pt x="7" y="4"/>
                  </a:lnTo>
                  <a:lnTo>
                    <a:pt x="7" y="3"/>
                  </a:lnTo>
                  <a:lnTo>
                    <a:pt x="6" y="2"/>
                  </a:lnTo>
                  <a:lnTo>
                    <a:pt x="5" y="1"/>
                  </a:lnTo>
                  <a:lnTo>
                    <a:pt x="3" y="0"/>
                  </a:lnTo>
                  <a:lnTo>
                    <a:pt x="2" y="0"/>
                  </a:lnTo>
                  <a:lnTo>
                    <a:pt x="2" y="0"/>
                  </a:lnTo>
                  <a:lnTo>
                    <a:pt x="1" y="1"/>
                  </a:lnTo>
                  <a:lnTo>
                    <a:pt x="0" y="2"/>
                  </a:lnTo>
                  <a:lnTo>
                    <a:pt x="0" y="3"/>
                  </a:lnTo>
                  <a:lnTo>
                    <a:pt x="0" y="4"/>
                  </a:lnTo>
                  <a:lnTo>
                    <a:pt x="0" y="5"/>
                  </a:lnTo>
                  <a:lnTo>
                    <a:pt x="1" y="6"/>
                  </a:lnTo>
                  <a:lnTo>
                    <a:pt x="2" y="6"/>
                  </a:lnTo>
                  <a:lnTo>
                    <a:pt x="3" y="6"/>
                  </a:lnTo>
                  <a:close/>
                </a:path>
              </a:pathLst>
            </a:custGeom>
            <a:solidFill>
              <a:srgbClr val="000000"/>
            </a:solidFill>
            <a:ln w="9525">
              <a:noFill/>
              <a:round/>
              <a:headEnd/>
              <a:tailEnd/>
            </a:ln>
          </p:spPr>
          <p:txBody>
            <a:bodyPr/>
            <a:lstStyle/>
            <a:p>
              <a:endParaRPr lang="en-US"/>
            </a:p>
          </p:txBody>
        </p:sp>
        <p:sp>
          <p:nvSpPr>
            <p:cNvPr id="327420" name="Freeform 764"/>
            <p:cNvSpPr>
              <a:spLocks/>
            </p:cNvSpPr>
            <p:nvPr/>
          </p:nvSpPr>
          <p:spPr bwMode="auto">
            <a:xfrm>
              <a:off x="2434" y="1920"/>
              <a:ext cx="6" cy="6"/>
            </a:xfrm>
            <a:custGeom>
              <a:avLst/>
              <a:gdLst/>
              <a:ahLst/>
              <a:cxnLst>
                <a:cxn ang="0">
                  <a:pos x="4" y="6"/>
                </a:cxn>
                <a:cxn ang="0">
                  <a:pos x="5" y="6"/>
                </a:cxn>
                <a:cxn ang="0">
                  <a:pos x="6" y="5"/>
                </a:cxn>
                <a:cxn ang="0">
                  <a:pos x="6" y="4"/>
                </a:cxn>
                <a:cxn ang="0">
                  <a:pos x="6" y="3"/>
                </a:cxn>
                <a:cxn ang="0">
                  <a:pos x="6" y="2"/>
                </a:cxn>
                <a:cxn ang="0">
                  <a:pos x="5" y="1"/>
                </a:cxn>
                <a:cxn ang="0">
                  <a:pos x="4" y="0"/>
                </a:cxn>
                <a:cxn ang="0">
                  <a:pos x="3" y="0"/>
                </a:cxn>
                <a:cxn ang="0">
                  <a:pos x="3" y="0"/>
                </a:cxn>
                <a:cxn ang="0">
                  <a:pos x="2" y="1"/>
                </a:cxn>
                <a:cxn ang="0">
                  <a:pos x="1" y="2"/>
                </a:cxn>
                <a:cxn ang="0">
                  <a:pos x="0" y="3"/>
                </a:cxn>
                <a:cxn ang="0">
                  <a:pos x="0" y="4"/>
                </a:cxn>
                <a:cxn ang="0">
                  <a:pos x="1" y="5"/>
                </a:cxn>
                <a:cxn ang="0">
                  <a:pos x="2" y="6"/>
                </a:cxn>
                <a:cxn ang="0">
                  <a:pos x="3" y="6"/>
                </a:cxn>
                <a:cxn ang="0">
                  <a:pos x="4" y="6"/>
                </a:cxn>
              </a:cxnLst>
              <a:rect l="0" t="0" r="r" b="b"/>
              <a:pathLst>
                <a:path w="6" h="6">
                  <a:moveTo>
                    <a:pt x="4" y="6"/>
                  </a:moveTo>
                  <a:lnTo>
                    <a:pt x="5" y="6"/>
                  </a:lnTo>
                  <a:lnTo>
                    <a:pt x="6" y="5"/>
                  </a:lnTo>
                  <a:lnTo>
                    <a:pt x="6" y="4"/>
                  </a:lnTo>
                  <a:lnTo>
                    <a:pt x="6" y="3"/>
                  </a:lnTo>
                  <a:lnTo>
                    <a:pt x="6" y="2"/>
                  </a:lnTo>
                  <a:lnTo>
                    <a:pt x="5" y="1"/>
                  </a:lnTo>
                  <a:lnTo>
                    <a:pt x="4" y="0"/>
                  </a:lnTo>
                  <a:lnTo>
                    <a:pt x="3" y="0"/>
                  </a:lnTo>
                  <a:lnTo>
                    <a:pt x="3" y="0"/>
                  </a:lnTo>
                  <a:lnTo>
                    <a:pt x="2" y="1"/>
                  </a:lnTo>
                  <a:lnTo>
                    <a:pt x="1" y="2"/>
                  </a:lnTo>
                  <a:lnTo>
                    <a:pt x="0" y="3"/>
                  </a:lnTo>
                  <a:lnTo>
                    <a:pt x="0" y="4"/>
                  </a:lnTo>
                  <a:lnTo>
                    <a:pt x="1" y="5"/>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421" name="Freeform 765"/>
            <p:cNvSpPr>
              <a:spLocks/>
            </p:cNvSpPr>
            <p:nvPr/>
          </p:nvSpPr>
          <p:spPr bwMode="auto">
            <a:xfrm>
              <a:off x="2420" y="1922"/>
              <a:ext cx="7" cy="6"/>
            </a:xfrm>
            <a:custGeom>
              <a:avLst/>
              <a:gdLst/>
              <a:ahLst/>
              <a:cxnLst>
                <a:cxn ang="0">
                  <a:pos x="4" y="6"/>
                </a:cxn>
                <a:cxn ang="0">
                  <a:pos x="6" y="6"/>
                </a:cxn>
                <a:cxn ang="0">
                  <a:pos x="7" y="5"/>
                </a:cxn>
                <a:cxn ang="0">
                  <a:pos x="7" y="4"/>
                </a:cxn>
                <a:cxn ang="0">
                  <a:pos x="7" y="3"/>
                </a:cxn>
                <a:cxn ang="0">
                  <a:pos x="7" y="2"/>
                </a:cxn>
                <a:cxn ang="0">
                  <a:pos x="6" y="1"/>
                </a:cxn>
                <a:cxn ang="0">
                  <a:pos x="4" y="0"/>
                </a:cxn>
                <a:cxn ang="0">
                  <a:pos x="3" y="0"/>
                </a:cxn>
                <a:cxn ang="0">
                  <a:pos x="3" y="0"/>
                </a:cxn>
                <a:cxn ang="0">
                  <a:pos x="2" y="1"/>
                </a:cxn>
                <a:cxn ang="0">
                  <a:pos x="1" y="2"/>
                </a:cxn>
                <a:cxn ang="0">
                  <a:pos x="0" y="3"/>
                </a:cxn>
                <a:cxn ang="0">
                  <a:pos x="0" y="4"/>
                </a:cxn>
                <a:cxn ang="0">
                  <a:pos x="1" y="5"/>
                </a:cxn>
                <a:cxn ang="0">
                  <a:pos x="2" y="6"/>
                </a:cxn>
                <a:cxn ang="0">
                  <a:pos x="3" y="6"/>
                </a:cxn>
                <a:cxn ang="0">
                  <a:pos x="4" y="6"/>
                </a:cxn>
              </a:cxnLst>
              <a:rect l="0" t="0" r="r" b="b"/>
              <a:pathLst>
                <a:path w="7" h="6">
                  <a:moveTo>
                    <a:pt x="4" y="6"/>
                  </a:moveTo>
                  <a:lnTo>
                    <a:pt x="6" y="6"/>
                  </a:lnTo>
                  <a:lnTo>
                    <a:pt x="7" y="5"/>
                  </a:lnTo>
                  <a:lnTo>
                    <a:pt x="7" y="4"/>
                  </a:lnTo>
                  <a:lnTo>
                    <a:pt x="7" y="3"/>
                  </a:lnTo>
                  <a:lnTo>
                    <a:pt x="7" y="2"/>
                  </a:lnTo>
                  <a:lnTo>
                    <a:pt x="6" y="1"/>
                  </a:lnTo>
                  <a:lnTo>
                    <a:pt x="4" y="0"/>
                  </a:lnTo>
                  <a:lnTo>
                    <a:pt x="3" y="0"/>
                  </a:lnTo>
                  <a:lnTo>
                    <a:pt x="3" y="0"/>
                  </a:lnTo>
                  <a:lnTo>
                    <a:pt x="2" y="1"/>
                  </a:lnTo>
                  <a:lnTo>
                    <a:pt x="1" y="2"/>
                  </a:lnTo>
                  <a:lnTo>
                    <a:pt x="0" y="3"/>
                  </a:lnTo>
                  <a:lnTo>
                    <a:pt x="0" y="4"/>
                  </a:lnTo>
                  <a:lnTo>
                    <a:pt x="1" y="5"/>
                  </a:lnTo>
                  <a:lnTo>
                    <a:pt x="2" y="6"/>
                  </a:lnTo>
                  <a:lnTo>
                    <a:pt x="3" y="6"/>
                  </a:lnTo>
                  <a:lnTo>
                    <a:pt x="4" y="6"/>
                  </a:lnTo>
                  <a:close/>
                </a:path>
              </a:pathLst>
            </a:custGeom>
            <a:solidFill>
              <a:srgbClr val="000000"/>
            </a:solidFill>
            <a:ln w="9525">
              <a:noFill/>
              <a:round/>
              <a:headEnd/>
              <a:tailEnd/>
            </a:ln>
          </p:spPr>
          <p:txBody>
            <a:bodyPr/>
            <a:lstStyle/>
            <a:p>
              <a:endParaRPr lang="en-US"/>
            </a:p>
          </p:txBody>
        </p:sp>
        <p:sp>
          <p:nvSpPr>
            <p:cNvPr id="327422" name="Freeform 766"/>
            <p:cNvSpPr>
              <a:spLocks/>
            </p:cNvSpPr>
            <p:nvPr/>
          </p:nvSpPr>
          <p:spPr bwMode="auto">
            <a:xfrm>
              <a:off x="2406" y="1924"/>
              <a:ext cx="7" cy="7"/>
            </a:xfrm>
            <a:custGeom>
              <a:avLst/>
              <a:gdLst/>
              <a:ahLst/>
              <a:cxnLst>
                <a:cxn ang="0">
                  <a:pos x="5" y="7"/>
                </a:cxn>
                <a:cxn ang="0">
                  <a:pos x="6" y="7"/>
                </a:cxn>
                <a:cxn ang="0">
                  <a:pos x="7" y="6"/>
                </a:cxn>
                <a:cxn ang="0">
                  <a:pos x="7" y="4"/>
                </a:cxn>
                <a:cxn ang="0">
                  <a:pos x="7" y="3"/>
                </a:cxn>
                <a:cxn ang="0">
                  <a:pos x="7" y="2"/>
                </a:cxn>
                <a:cxn ang="0">
                  <a:pos x="6" y="1"/>
                </a:cxn>
                <a:cxn ang="0">
                  <a:pos x="5" y="0"/>
                </a:cxn>
                <a:cxn ang="0">
                  <a:pos x="4" y="0"/>
                </a:cxn>
                <a:cxn ang="0">
                  <a:pos x="4" y="0"/>
                </a:cxn>
                <a:cxn ang="0">
                  <a:pos x="3" y="1"/>
                </a:cxn>
                <a:cxn ang="0">
                  <a:pos x="2" y="2"/>
                </a:cxn>
                <a:cxn ang="0">
                  <a:pos x="0" y="3"/>
                </a:cxn>
                <a:cxn ang="0">
                  <a:pos x="0" y="4"/>
                </a:cxn>
                <a:cxn ang="0">
                  <a:pos x="2" y="6"/>
                </a:cxn>
                <a:cxn ang="0">
                  <a:pos x="3" y="7"/>
                </a:cxn>
                <a:cxn ang="0">
                  <a:pos x="4" y="7"/>
                </a:cxn>
                <a:cxn ang="0">
                  <a:pos x="5" y="7"/>
                </a:cxn>
              </a:cxnLst>
              <a:rect l="0" t="0" r="r" b="b"/>
              <a:pathLst>
                <a:path w="7" h="7">
                  <a:moveTo>
                    <a:pt x="5" y="7"/>
                  </a:moveTo>
                  <a:lnTo>
                    <a:pt x="6" y="7"/>
                  </a:lnTo>
                  <a:lnTo>
                    <a:pt x="7" y="6"/>
                  </a:lnTo>
                  <a:lnTo>
                    <a:pt x="7" y="4"/>
                  </a:lnTo>
                  <a:lnTo>
                    <a:pt x="7" y="3"/>
                  </a:lnTo>
                  <a:lnTo>
                    <a:pt x="7" y="2"/>
                  </a:lnTo>
                  <a:lnTo>
                    <a:pt x="6" y="1"/>
                  </a:lnTo>
                  <a:lnTo>
                    <a:pt x="5" y="0"/>
                  </a:lnTo>
                  <a:lnTo>
                    <a:pt x="4" y="0"/>
                  </a:lnTo>
                  <a:lnTo>
                    <a:pt x="4" y="0"/>
                  </a:lnTo>
                  <a:lnTo>
                    <a:pt x="3" y="1"/>
                  </a:lnTo>
                  <a:lnTo>
                    <a:pt x="2" y="2"/>
                  </a:lnTo>
                  <a:lnTo>
                    <a:pt x="0" y="3"/>
                  </a:lnTo>
                  <a:lnTo>
                    <a:pt x="0" y="4"/>
                  </a:lnTo>
                  <a:lnTo>
                    <a:pt x="2" y="6"/>
                  </a:lnTo>
                  <a:lnTo>
                    <a:pt x="3" y="7"/>
                  </a:lnTo>
                  <a:lnTo>
                    <a:pt x="4" y="7"/>
                  </a:lnTo>
                  <a:lnTo>
                    <a:pt x="5" y="7"/>
                  </a:lnTo>
                  <a:close/>
                </a:path>
              </a:pathLst>
            </a:custGeom>
            <a:solidFill>
              <a:srgbClr val="000000"/>
            </a:solidFill>
            <a:ln w="9525">
              <a:noFill/>
              <a:round/>
              <a:headEnd/>
              <a:tailEnd/>
            </a:ln>
          </p:spPr>
          <p:txBody>
            <a:bodyPr/>
            <a:lstStyle/>
            <a:p>
              <a:endParaRPr lang="en-US"/>
            </a:p>
          </p:txBody>
        </p:sp>
        <p:sp>
          <p:nvSpPr>
            <p:cNvPr id="327423" name="Freeform 767"/>
            <p:cNvSpPr>
              <a:spLocks/>
            </p:cNvSpPr>
            <p:nvPr/>
          </p:nvSpPr>
          <p:spPr bwMode="auto">
            <a:xfrm>
              <a:off x="2394" y="1926"/>
              <a:ext cx="7" cy="7"/>
            </a:xfrm>
            <a:custGeom>
              <a:avLst/>
              <a:gdLst/>
              <a:ahLst/>
              <a:cxnLst>
                <a:cxn ang="0">
                  <a:pos x="3" y="7"/>
                </a:cxn>
                <a:cxn ang="0">
                  <a:pos x="4" y="7"/>
                </a:cxn>
                <a:cxn ang="0">
                  <a:pos x="6" y="6"/>
                </a:cxn>
                <a:cxn ang="0">
                  <a:pos x="7" y="5"/>
                </a:cxn>
                <a:cxn ang="0">
                  <a:pos x="7" y="4"/>
                </a:cxn>
                <a:cxn ang="0">
                  <a:pos x="6" y="2"/>
                </a:cxn>
                <a:cxn ang="0">
                  <a:pos x="4" y="1"/>
                </a:cxn>
                <a:cxn ang="0">
                  <a:pos x="3" y="0"/>
                </a:cxn>
                <a:cxn ang="0">
                  <a:pos x="2" y="0"/>
                </a:cxn>
                <a:cxn ang="0">
                  <a:pos x="2" y="0"/>
                </a:cxn>
                <a:cxn ang="0">
                  <a:pos x="1" y="1"/>
                </a:cxn>
                <a:cxn ang="0">
                  <a:pos x="0" y="2"/>
                </a:cxn>
                <a:cxn ang="0">
                  <a:pos x="0" y="4"/>
                </a:cxn>
                <a:cxn ang="0">
                  <a:pos x="0" y="5"/>
                </a:cxn>
                <a:cxn ang="0">
                  <a:pos x="0" y="6"/>
                </a:cxn>
                <a:cxn ang="0">
                  <a:pos x="1" y="7"/>
                </a:cxn>
                <a:cxn ang="0">
                  <a:pos x="2" y="7"/>
                </a:cxn>
                <a:cxn ang="0">
                  <a:pos x="3" y="7"/>
                </a:cxn>
              </a:cxnLst>
              <a:rect l="0" t="0" r="r" b="b"/>
              <a:pathLst>
                <a:path w="7" h="7">
                  <a:moveTo>
                    <a:pt x="3" y="7"/>
                  </a:moveTo>
                  <a:lnTo>
                    <a:pt x="4" y="7"/>
                  </a:lnTo>
                  <a:lnTo>
                    <a:pt x="6" y="6"/>
                  </a:lnTo>
                  <a:lnTo>
                    <a:pt x="7" y="5"/>
                  </a:lnTo>
                  <a:lnTo>
                    <a:pt x="7" y="4"/>
                  </a:lnTo>
                  <a:lnTo>
                    <a:pt x="6" y="2"/>
                  </a:lnTo>
                  <a:lnTo>
                    <a:pt x="4" y="1"/>
                  </a:lnTo>
                  <a:lnTo>
                    <a:pt x="3" y="0"/>
                  </a:lnTo>
                  <a:lnTo>
                    <a:pt x="2" y="0"/>
                  </a:lnTo>
                  <a:lnTo>
                    <a:pt x="2" y="0"/>
                  </a:lnTo>
                  <a:lnTo>
                    <a:pt x="1" y="1"/>
                  </a:lnTo>
                  <a:lnTo>
                    <a:pt x="0" y="2"/>
                  </a:lnTo>
                  <a:lnTo>
                    <a:pt x="0" y="4"/>
                  </a:lnTo>
                  <a:lnTo>
                    <a:pt x="0" y="5"/>
                  </a:lnTo>
                  <a:lnTo>
                    <a:pt x="0" y="6"/>
                  </a:lnTo>
                  <a:lnTo>
                    <a:pt x="1" y="7"/>
                  </a:lnTo>
                  <a:lnTo>
                    <a:pt x="2" y="7"/>
                  </a:lnTo>
                  <a:lnTo>
                    <a:pt x="3" y="7"/>
                  </a:lnTo>
                  <a:close/>
                </a:path>
              </a:pathLst>
            </a:custGeom>
            <a:solidFill>
              <a:srgbClr val="000000"/>
            </a:solidFill>
            <a:ln w="9525">
              <a:noFill/>
              <a:round/>
              <a:headEnd/>
              <a:tailEnd/>
            </a:ln>
          </p:spPr>
          <p:txBody>
            <a:bodyPr/>
            <a:lstStyle/>
            <a:p>
              <a:endParaRPr lang="en-US"/>
            </a:p>
          </p:txBody>
        </p:sp>
        <p:sp>
          <p:nvSpPr>
            <p:cNvPr id="327424" name="Freeform 768"/>
            <p:cNvSpPr>
              <a:spLocks/>
            </p:cNvSpPr>
            <p:nvPr/>
          </p:nvSpPr>
          <p:spPr bwMode="auto">
            <a:xfrm>
              <a:off x="2380" y="1928"/>
              <a:ext cx="7" cy="7"/>
            </a:xfrm>
            <a:custGeom>
              <a:avLst/>
              <a:gdLst/>
              <a:ahLst/>
              <a:cxnLst>
                <a:cxn ang="0">
                  <a:pos x="4" y="7"/>
                </a:cxn>
                <a:cxn ang="0">
                  <a:pos x="5" y="6"/>
                </a:cxn>
                <a:cxn ang="0">
                  <a:pos x="6" y="5"/>
                </a:cxn>
                <a:cxn ang="0">
                  <a:pos x="7" y="4"/>
                </a:cxn>
                <a:cxn ang="0">
                  <a:pos x="7" y="3"/>
                </a:cxn>
                <a:cxn ang="0">
                  <a:pos x="6" y="2"/>
                </a:cxn>
                <a:cxn ang="0">
                  <a:pos x="5" y="0"/>
                </a:cxn>
                <a:cxn ang="0">
                  <a:pos x="4" y="0"/>
                </a:cxn>
                <a:cxn ang="0">
                  <a:pos x="3" y="0"/>
                </a:cxn>
                <a:cxn ang="0">
                  <a:pos x="3" y="0"/>
                </a:cxn>
                <a:cxn ang="0">
                  <a:pos x="2" y="0"/>
                </a:cxn>
                <a:cxn ang="0">
                  <a:pos x="0" y="2"/>
                </a:cxn>
                <a:cxn ang="0">
                  <a:pos x="0" y="3"/>
                </a:cxn>
                <a:cxn ang="0">
                  <a:pos x="0" y="4"/>
                </a:cxn>
                <a:cxn ang="0">
                  <a:pos x="0" y="5"/>
                </a:cxn>
                <a:cxn ang="0">
                  <a:pos x="2" y="6"/>
                </a:cxn>
                <a:cxn ang="0">
                  <a:pos x="3" y="7"/>
                </a:cxn>
                <a:cxn ang="0">
                  <a:pos x="4" y="7"/>
                </a:cxn>
              </a:cxnLst>
              <a:rect l="0" t="0" r="r" b="b"/>
              <a:pathLst>
                <a:path w="7" h="7">
                  <a:moveTo>
                    <a:pt x="4" y="7"/>
                  </a:moveTo>
                  <a:lnTo>
                    <a:pt x="5" y="6"/>
                  </a:lnTo>
                  <a:lnTo>
                    <a:pt x="6" y="5"/>
                  </a:lnTo>
                  <a:lnTo>
                    <a:pt x="7" y="4"/>
                  </a:lnTo>
                  <a:lnTo>
                    <a:pt x="7" y="3"/>
                  </a:lnTo>
                  <a:lnTo>
                    <a:pt x="6" y="2"/>
                  </a:lnTo>
                  <a:lnTo>
                    <a:pt x="5" y="0"/>
                  </a:lnTo>
                  <a:lnTo>
                    <a:pt x="4" y="0"/>
                  </a:lnTo>
                  <a:lnTo>
                    <a:pt x="3" y="0"/>
                  </a:lnTo>
                  <a:lnTo>
                    <a:pt x="3" y="0"/>
                  </a:lnTo>
                  <a:lnTo>
                    <a:pt x="2" y="0"/>
                  </a:lnTo>
                  <a:lnTo>
                    <a:pt x="0" y="2"/>
                  </a:lnTo>
                  <a:lnTo>
                    <a:pt x="0" y="3"/>
                  </a:lnTo>
                  <a:lnTo>
                    <a:pt x="0" y="4"/>
                  </a:lnTo>
                  <a:lnTo>
                    <a:pt x="0" y="5"/>
                  </a:lnTo>
                  <a:lnTo>
                    <a:pt x="2" y="6"/>
                  </a:lnTo>
                  <a:lnTo>
                    <a:pt x="3" y="7"/>
                  </a:lnTo>
                  <a:lnTo>
                    <a:pt x="4" y="7"/>
                  </a:lnTo>
                  <a:close/>
                </a:path>
              </a:pathLst>
            </a:custGeom>
            <a:solidFill>
              <a:srgbClr val="000000"/>
            </a:solidFill>
            <a:ln w="9525">
              <a:noFill/>
              <a:round/>
              <a:headEnd/>
              <a:tailEnd/>
            </a:ln>
          </p:spPr>
          <p:txBody>
            <a:bodyPr/>
            <a:lstStyle/>
            <a:p>
              <a:endParaRPr lang="en-US"/>
            </a:p>
          </p:txBody>
        </p:sp>
        <p:sp>
          <p:nvSpPr>
            <p:cNvPr id="327425" name="Freeform 769"/>
            <p:cNvSpPr>
              <a:spLocks/>
            </p:cNvSpPr>
            <p:nvPr/>
          </p:nvSpPr>
          <p:spPr bwMode="auto">
            <a:xfrm>
              <a:off x="2367" y="1931"/>
              <a:ext cx="7" cy="6"/>
            </a:xfrm>
            <a:custGeom>
              <a:avLst/>
              <a:gdLst/>
              <a:ahLst/>
              <a:cxnLst>
                <a:cxn ang="0">
                  <a:pos x="3" y="6"/>
                </a:cxn>
                <a:cxn ang="0">
                  <a:pos x="4" y="5"/>
                </a:cxn>
                <a:cxn ang="0">
                  <a:pos x="6" y="4"/>
                </a:cxn>
                <a:cxn ang="0">
                  <a:pos x="7" y="3"/>
                </a:cxn>
                <a:cxn ang="0">
                  <a:pos x="7" y="2"/>
                </a:cxn>
                <a:cxn ang="0">
                  <a:pos x="6" y="1"/>
                </a:cxn>
                <a:cxn ang="0">
                  <a:pos x="4" y="0"/>
                </a:cxn>
                <a:cxn ang="0">
                  <a:pos x="3" y="0"/>
                </a:cxn>
                <a:cxn ang="0">
                  <a:pos x="2" y="0"/>
                </a:cxn>
                <a:cxn ang="0">
                  <a:pos x="2" y="0"/>
                </a:cxn>
                <a:cxn ang="0">
                  <a:pos x="1" y="0"/>
                </a:cxn>
                <a:cxn ang="0">
                  <a:pos x="0" y="1"/>
                </a:cxn>
                <a:cxn ang="0">
                  <a:pos x="0" y="2"/>
                </a:cxn>
                <a:cxn ang="0">
                  <a:pos x="0" y="3"/>
                </a:cxn>
                <a:cxn ang="0">
                  <a:pos x="0" y="4"/>
                </a:cxn>
                <a:cxn ang="0">
                  <a:pos x="1" y="5"/>
                </a:cxn>
                <a:cxn ang="0">
                  <a:pos x="2" y="6"/>
                </a:cxn>
                <a:cxn ang="0">
                  <a:pos x="3" y="6"/>
                </a:cxn>
              </a:cxnLst>
              <a:rect l="0" t="0" r="r" b="b"/>
              <a:pathLst>
                <a:path w="7" h="6">
                  <a:moveTo>
                    <a:pt x="3" y="6"/>
                  </a:moveTo>
                  <a:lnTo>
                    <a:pt x="4" y="5"/>
                  </a:lnTo>
                  <a:lnTo>
                    <a:pt x="6" y="4"/>
                  </a:lnTo>
                  <a:lnTo>
                    <a:pt x="7" y="3"/>
                  </a:lnTo>
                  <a:lnTo>
                    <a:pt x="7" y="2"/>
                  </a:lnTo>
                  <a:lnTo>
                    <a:pt x="6" y="1"/>
                  </a:lnTo>
                  <a:lnTo>
                    <a:pt x="4" y="0"/>
                  </a:lnTo>
                  <a:lnTo>
                    <a:pt x="3" y="0"/>
                  </a:lnTo>
                  <a:lnTo>
                    <a:pt x="2" y="0"/>
                  </a:lnTo>
                  <a:lnTo>
                    <a:pt x="2" y="0"/>
                  </a:lnTo>
                  <a:lnTo>
                    <a:pt x="1" y="0"/>
                  </a:lnTo>
                  <a:lnTo>
                    <a:pt x="0" y="1"/>
                  </a:lnTo>
                  <a:lnTo>
                    <a:pt x="0" y="2"/>
                  </a:lnTo>
                  <a:lnTo>
                    <a:pt x="0" y="3"/>
                  </a:lnTo>
                  <a:lnTo>
                    <a:pt x="0" y="4"/>
                  </a:lnTo>
                  <a:lnTo>
                    <a:pt x="1" y="5"/>
                  </a:lnTo>
                  <a:lnTo>
                    <a:pt x="2" y="6"/>
                  </a:lnTo>
                  <a:lnTo>
                    <a:pt x="3" y="6"/>
                  </a:lnTo>
                  <a:close/>
                </a:path>
              </a:pathLst>
            </a:custGeom>
            <a:solidFill>
              <a:srgbClr val="000000"/>
            </a:solidFill>
            <a:ln w="9525">
              <a:noFill/>
              <a:round/>
              <a:headEnd/>
              <a:tailEnd/>
            </a:ln>
          </p:spPr>
          <p:txBody>
            <a:bodyPr/>
            <a:lstStyle/>
            <a:p>
              <a:endParaRPr lang="en-US"/>
            </a:p>
          </p:txBody>
        </p:sp>
        <p:sp>
          <p:nvSpPr>
            <p:cNvPr id="327426" name="Freeform 770"/>
            <p:cNvSpPr>
              <a:spLocks/>
            </p:cNvSpPr>
            <p:nvPr/>
          </p:nvSpPr>
          <p:spPr bwMode="auto">
            <a:xfrm>
              <a:off x="2353" y="1933"/>
              <a:ext cx="7" cy="6"/>
            </a:xfrm>
            <a:custGeom>
              <a:avLst/>
              <a:gdLst/>
              <a:ahLst/>
              <a:cxnLst>
                <a:cxn ang="0">
                  <a:pos x="4" y="6"/>
                </a:cxn>
                <a:cxn ang="0">
                  <a:pos x="5" y="5"/>
                </a:cxn>
                <a:cxn ang="0">
                  <a:pos x="6" y="4"/>
                </a:cxn>
                <a:cxn ang="0">
                  <a:pos x="7" y="3"/>
                </a:cxn>
                <a:cxn ang="0">
                  <a:pos x="7" y="2"/>
                </a:cxn>
                <a:cxn ang="0">
                  <a:pos x="6" y="1"/>
                </a:cxn>
                <a:cxn ang="0">
                  <a:pos x="5" y="0"/>
                </a:cxn>
                <a:cxn ang="0">
                  <a:pos x="4" y="0"/>
                </a:cxn>
                <a:cxn ang="0">
                  <a:pos x="3" y="0"/>
                </a:cxn>
                <a:cxn ang="0">
                  <a:pos x="3" y="0"/>
                </a:cxn>
                <a:cxn ang="0">
                  <a:pos x="1" y="0"/>
                </a:cxn>
                <a:cxn ang="0">
                  <a:pos x="0" y="1"/>
                </a:cxn>
                <a:cxn ang="0">
                  <a:pos x="0" y="2"/>
                </a:cxn>
                <a:cxn ang="0">
                  <a:pos x="0" y="3"/>
                </a:cxn>
                <a:cxn ang="0">
                  <a:pos x="0" y="4"/>
                </a:cxn>
                <a:cxn ang="0">
                  <a:pos x="1" y="5"/>
                </a:cxn>
                <a:cxn ang="0">
                  <a:pos x="3" y="6"/>
                </a:cxn>
                <a:cxn ang="0">
                  <a:pos x="4" y="6"/>
                </a:cxn>
              </a:cxnLst>
              <a:rect l="0" t="0" r="r" b="b"/>
              <a:pathLst>
                <a:path w="7" h="6">
                  <a:moveTo>
                    <a:pt x="4" y="6"/>
                  </a:moveTo>
                  <a:lnTo>
                    <a:pt x="5" y="5"/>
                  </a:lnTo>
                  <a:lnTo>
                    <a:pt x="6" y="4"/>
                  </a:lnTo>
                  <a:lnTo>
                    <a:pt x="7" y="3"/>
                  </a:lnTo>
                  <a:lnTo>
                    <a:pt x="7" y="2"/>
                  </a:lnTo>
                  <a:lnTo>
                    <a:pt x="6" y="1"/>
                  </a:lnTo>
                  <a:lnTo>
                    <a:pt x="5" y="0"/>
                  </a:lnTo>
                  <a:lnTo>
                    <a:pt x="4" y="0"/>
                  </a:lnTo>
                  <a:lnTo>
                    <a:pt x="3" y="0"/>
                  </a:lnTo>
                  <a:lnTo>
                    <a:pt x="3" y="0"/>
                  </a:lnTo>
                  <a:lnTo>
                    <a:pt x="1" y="0"/>
                  </a:lnTo>
                  <a:lnTo>
                    <a:pt x="0" y="1"/>
                  </a:lnTo>
                  <a:lnTo>
                    <a:pt x="0" y="2"/>
                  </a:lnTo>
                  <a:lnTo>
                    <a:pt x="0" y="3"/>
                  </a:lnTo>
                  <a:lnTo>
                    <a:pt x="0" y="4"/>
                  </a:lnTo>
                  <a:lnTo>
                    <a:pt x="1" y="5"/>
                  </a:lnTo>
                  <a:lnTo>
                    <a:pt x="3" y="6"/>
                  </a:lnTo>
                  <a:lnTo>
                    <a:pt x="4" y="6"/>
                  </a:lnTo>
                  <a:close/>
                </a:path>
              </a:pathLst>
            </a:custGeom>
            <a:solidFill>
              <a:srgbClr val="000000"/>
            </a:solidFill>
            <a:ln w="9525">
              <a:noFill/>
              <a:round/>
              <a:headEnd/>
              <a:tailEnd/>
            </a:ln>
          </p:spPr>
          <p:txBody>
            <a:bodyPr/>
            <a:lstStyle/>
            <a:p>
              <a:endParaRPr lang="en-US"/>
            </a:p>
          </p:txBody>
        </p:sp>
        <p:sp>
          <p:nvSpPr>
            <p:cNvPr id="327427" name="Freeform 771"/>
            <p:cNvSpPr>
              <a:spLocks/>
            </p:cNvSpPr>
            <p:nvPr/>
          </p:nvSpPr>
          <p:spPr bwMode="auto">
            <a:xfrm>
              <a:off x="2340" y="1935"/>
              <a:ext cx="7" cy="6"/>
            </a:xfrm>
            <a:custGeom>
              <a:avLst/>
              <a:gdLst/>
              <a:ahLst/>
              <a:cxnLst>
                <a:cxn ang="0">
                  <a:pos x="4" y="6"/>
                </a:cxn>
                <a:cxn ang="0">
                  <a:pos x="5" y="5"/>
                </a:cxn>
                <a:cxn ang="0">
                  <a:pos x="7" y="4"/>
                </a:cxn>
                <a:cxn ang="0">
                  <a:pos x="7" y="3"/>
                </a:cxn>
                <a:cxn ang="0">
                  <a:pos x="7" y="2"/>
                </a:cxn>
                <a:cxn ang="0">
                  <a:pos x="7" y="1"/>
                </a:cxn>
                <a:cxn ang="0">
                  <a:pos x="5" y="0"/>
                </a:cxn>
                <a:cxn ang="0">
                  <a:pos x="4" y="0"/>
                </a:cxn>
                <a:cxn ang="0">
                  <a:pos x="3" y="0"/>
                </a:cxn>
                <a:cxn ang="0">
                  <a:pos x="3" y="0"/>
                </a:cxn>
                <a:cxn ang="0">
                  <a:pos x="2" y="0"/>
                </a:cxn>
                <a:cxn ang="0">
                  <a:pos x="1" y="1"/>
                </a:cxn>
                <a:cxn ang="0">
                  <a:pos x="0" y="2"/>
                </a:cxn>
                <a:cxn ang="0">
                  <a:pos x="0" y="3"/>
                </a:cxn>
                <a:cxn ang="0">
                  <a:pos x="1" y="4"/>
                </a:cxn>
                <a:cxn ang="0">
                  <a:pos x="2" y="5"/>
                </a:cxn>
                <a:cxn ang="0">
                  <a:pos x="3" y="6"/>
                </a:cxn>
                <a:cxn ang="0">
                  <a:pos x="4" y="6"/>
                </a:cxn>
              </a:cxnLst>
              <a:rect l="0" t="0" r="r" b="b"/>
              <a:pathLst>
                <a:path w="7" h="6">
                  <a:moveTo>
                    <a:pt x="4" y="6"/>
                  </a:moveTo>
                  <a:lnTo>
                    <a:pt x="5" y="5"/>
                  </a:lnTo>
                  <a:lnTo>
                    <a:pt x="7" y="4"/>
                  </a:lnTo>
                  <a:lnTo>
                    <a:pt x="7" y="3"/>
                  </a:lnTo>
                  <a:lnTo>
                    <a:pt x="7" y="2"/>
                  </a:lnTo>
                  <a:lnTo>
                    <a:pt x="7" y="1"/>
                  </a:lnTo>
                  <a:lnTo>
                    <a:pt x="5" y="0"/>
                  </a:lnTo>
                  <a:lnTo>
                    <a:pt x="4" y="0"/>
                  </a:lnTo>
                  <a:lnTo>
                    <a:pt x="3" y="0"/>
                  </a:lnTo>
                  <a:lnTo>
                    <a:pt x="3" y="0"/>
                  </a:lnTo>
                  <a:lnTo>
                    <a:pt x="2" y="0"/>
                  </a:lnTo>
                  <a:lnTo>
                    <a:pt x="1" y="1"/>
                  </a:lnTo>
                  <a:lnTo>
                    <a:pt x="0" y="2"/>
                  </a:lnTo>
                  <a:lnTo>
                    <a:pt x="0" y="3"/>
                  </a:lnTo>
                  <a:lnTo>
                    <a:pt x="1" y="4"/>
                  </a:lnTo>
                  <a:lnTo>
                    <a:pt x="2" y="5"/>
                  </a:lnTo>
                  <a:lnTo>
                    <a:pt x="3" y="6"/>
                  </a:lnTo>
                  <a:lnTo>
                    <a:pt x="4" y="6"/>
                  </a:lnTo>
                  <a:close/>
                </a:path>
              </a:pathLst>
            </a:custGeom>
            <a:solidFill>
              <a:srgbClr val="000000"/>
            </a:solidFill>
            <a:ln w="9525">
              <a:noFill/>
              <a:round/>
              <a:headEnd/>
              <a:tailEnd/>
            </a:ln>
          </p:spPr>
          <p:txBody>
            <a:bodyPr/>
            <a:lstStyle/>
            <a:p>
              <a:endParaRPr lang="en-US"/>
            </a:p>
          </p:txBody>
        </p:sp>
        <p:sp>
          <p:nvSpPr>
            <p:cNvPr id="327428" name="Freeform 772"/>
            <p:cNvSpPr>
              <a:spLocks/>
            </p:cNvSpPr>
            <p:nvPr/>
          </p:nvSpPr>
          <p:spPr bwMode="auto">
            <a:xfrm>
              <a:off x="2326" y="1937"/>
              <a:ext cx="7" cy="6"/>
            </a:xfrm>
            <a:custGeom>
              <a:avLst/>
              <a:gdLst/>
              <a:ahLst/>
              <a:cxnLst>
                <a:cxn ang="0">
                  <a:pos x="5" y="6"/>
                </a:cxn>
                <a:cxn ang="0">
                  <a:pos x="6" y="5"/>
                </a:cxn>
                <a:cxn ang="0">
                  <a:pos x="7" y="4"/>
                </a:cxn>
                <a:cxn ang="0">
                  <a:pos x="7" y="3"/>
                </a:cxn>
                <a:cxn ang="0">
                  <a:pos x="7" y="2"/>
                </a:cxn>
                <a:cxn ang="0">
                  <a:pos x="7" y="1"/>
                </a:cxn>
                <a:cxn ang="0">
                  <a:pos x="6" y="0"/>
                </a:cxn>
                <a:cxn ang="0">
                  <a:pos x="5" y="0"/>
                </a:cxn>
                <a:cxn ang="0">
                  <a:pos x="4" y="0"/>
                </a:cxn>
                <a:cxn ang="0">
                  <a:pos x="4" y="0"/>
                </a:cxn>
                <a:cxn ang="0">
                  <a:pos x="2" y="0"/>
                </a:cxn>
                <a:cxn ang="0">
                  <a:pos x="1" y="1"/>
                </a:cxn>
                <a:cxn ang="0">
                  <a:pos x="0" y="2"/>
                </a:cxn>
                <a:cxn ang="0">
                  <a:pos x="0" y="3"/>
                </a:cxn>
                <a:cxn ang="0">
                  <a:pos x="1" y="4"/>
                </a:cxn>
                <a:cxn ang="0">
                  <a:pos x="2" y="5"/>
                </a:cxn>
                <a:cxn ang="0">
                  <a:pos x="4" y="6"/>
                </a:cxn>
                <a:cxn ang="0">
                  <a:pos x="5" y="6"/>
                </a:cxn>
              </a:cxnLst>
              <a:rect l="0" t="0" r="r" b="b"/>
              <a:pathLst>
                <a:path w="7" h="6">
                  <a:moveTo>
                    <a:pt x="5" y="6"/>
                  </a:moveTo>
                  <a:lnTo>
                    <a:pt x="6" y="5"/>
                  </a:lnTo>
                  <a:lnTo>
                    <a:pt x="7" y="4"/>
                  </a:lnTo>
                  <a:lnTo>
                    <a:pt x="7" y="3"/>
                  </a:lnTo>
                  <a:lnTo>
                    <a:pt x="7" y="2"/>
                  </a:lnTo>
                  <a:lnTo>
                    <a:pt x="7" y="1"/>
                  </a:lnTo>
                  <a:lnTo>
                    <a:pt x="6" y="0"/>
                  </a:lnTo>
                  <a:lnTo>
                    <a:pt x="5" y="0"/>
                  </a:lnTo>
                  <a:lnTo>
                    <a:pt x="4" y="0"/>
                  </a:lnTo>
                  <a:lnTo>
                    <a:pt x="4" y="0"/>
                  </a:lnTo>
                  <a:lnTo>
                    <a:pt x="2" y="0"/>
                  </a:lnTo>
                  <a:lnTo>
                    <a:pt x="1" y="1"/>
                  </a:lnTo>
                  <a:lnTo>
                    <a:pt x="0" y="2"/>
                  </a:lnTo>
                  <a:lnTo>
                    <a:pt x="0" y="3"/>
                  </a:lnTo>
                  <a:lnTo>
                    <a:pt x="1" y="4"/>
                  </a:lnTo>
                  <a:lnTo>
                    <a:pt x="2" y="5"/>
                  </a:lnTo>
                  <a:lnTo>
                    <a:pt x="4" y="6"/>
                  </a:lnTo>
                  <a:lnTo>
                    <a:pt x="5" y="6"/>
                  </a:lnTo>
                  <a:close/>
                </a:path>
              </a:pathLst>
            </a:custGeom>
            <a:solidFill>
              <a:srgbClr val="000000"/>
            </a:solidFill>
            <a:ln w="9525">
              <a:noFill/>
              <a:round/>
              <a:headEnd/>
              <a:tailEnd/>
            </a:ln>
          </p:spPr>
          <p:txBody>
            <a:bodyPr/>
            <a:lstStyle/>
            <a:p>
              <a:endParaRPr lang="en-US"/>
            </a:p>
          </p:txBody>
        </p:sp>
        <p:sp>
          <p:nvSpPr>
            <p:cNvPr id="327429" name="Freeform 773"/>
            <p:cNvSpPr>
              <a:spLocks/>
            </p:cNvSpPr>
            <p:nvPr/>
          </p:nvSpPr>
          <p:spPr bwMode="auto">
            <a:xfrm>
              <a:off x="2313" y="1939"/>
              <a:ext cx="6" cy="6"/>
            </a:xfrm>
            <a:custGeom>
              <a:avLst/>
              <a:gdLst/>
              <a:ahLst/>
              <a:cxnLst>
                <a:cxn ang="0">
                  <a:pos x="4" y="6"/>
                </a:cxn>
                <a:cxn ang="0">
                  <a:pos x="5" y="5"/>
                </a:cxn>
                <a:cxn ang="0">
                  <a:pos x="6" y="4"/>
                </a:cxn>
                <a:cxn ang="0">
                  <a:pos x="6" y="3"/>
                </a:cxn>
                <a:cxn ang="0">
                  <a:pos x="6" y="2"/>
                </a:cxn>
                <a:cxn ang="0">
                  <a:pos x="6" y="1"/>
                </a:cxn>
                <a:cxn ang="0">
                  <a:pos x="5" y="0"/>
                </a:cxn>
                <a:cxn ang="0">
                  <a:pos x="4" y="0"/>
                </a:cxn>
                <a:cxn ang="0">
                  <a:pos x="3" y="0"/>
                </a:cxn>
                <a:cxn ang="0">
                  <a:pos x="3" y="0"/>
                </a:cxn>
                <a:cxn ang="0">
                  <a:pos x="2" y="0"/>
                </a:cxn>
                <a:cxn ang="0">
                  <a:pos x="1" y="1"/>
                </a:cxn>
                <a:cxn ang="0">
                  <a:pos x="0" y="2"/>
                </a:cxn>
                <a:cxn ang="0">
                  <a:pos x="0" y="3"/>
                </a:cxn>
                <a:cxn ang="0">
                  <a:pos x="1" y="4"/>
                </a:cxn>
                <a:cxn ang="0">
                  <a:pos x="2" y="5"/>
                </a:cxn>
                <a:cxn ang="0">
                  <a:pos x="3" y="6"/>
                </a:cxn>
                <a:cxn ang="0">
                  <a:pos x="4" y="6"/>
                </a:cxn>
              </a:cxnLst>
              <a:rect l="0" t="0" r="r" b="b"/>
              <a:pathLst>
                <a:path w="6" h="6">
                  <a:moveTo>
                    <a:pt x="4" y="6"/>
                  </a:moveTo>
                  <a:lnTo>
                    <a:pt x="5" y="5"/>
                  </a:lnTo>
                  <a:lnTo>
                    <a:pt x="6" y="4"/>
                  </a:lnTo>
                  <a:lnTo>
                    <a:pt x="6" y="3"/>
                  </a:lnTo>
                  <a:lnTo>
                    <a:pt x="6" y="2"/>
                  </a:lnTo>
                  <a:lnTo>
                    <a:pt x="6" y="1"/>
                  </a:lnTo>
                  <a:lnTo>
                    <a:pt x="5" y="0"/>
                  </a:lnTo>
                  <a:lnTo>
                    <a:pt x="4" y="0"/>
                  </a:lnTo>
                  <a:lnTo>
                    <a:pt x="3" y="0"/>
                  </a:lnTo>
                  <a:lnTo>
                    <a:pt x="3" y="0"/>
                  </a:lnTo>
                  <a:lnTo>
                    <a:pt x="2" y="0"/>
                  </a:lnTo>
                  <a:lnTo>
                    <a:pt x="1" y="1"/>
                  </a:lnTo>
                  <a:lnTo>
                    <a:pt x="0" y="2"/>
                  </a:lnTo>
                  <a:lnTo>
                    <a:pt x="0" y="3"/>
                  </a:lnTo>
                  <a:lnTo>
                    <a:pt x="1" y="4"/>
                  </a:lnTo>
                  <a:lnTo>
                    <a:pt x="2" y="5"/>
                  </a:lnTo>
                  <a:lnTo>
                    <a:pt x="3" y="6"/>
                  </a:lnTo>
                  <a:lnTo>
                    <a:pt x="4" y="6"/>
                  </a:lnTo>
                  <a:close/>
                </a:path>
              </a:pathLst>
            </a:custGeom>
            <a:solidFill>
              <a:srgbClr val="000000"/>
            </a:solidFill>
            <a:ln w="9525">
              <a:noFill/>
              <a:round/>
              <a:headEnd/>
              <a:tailEnd/>
            </a:ln>
          </p:spPr>
          <p:txBody>
            <a:bodyPr/>
            <a:lstStyle/>
            <a:p>
              <a:endParaRPr lang="en-US"/>
            </a:p>
          </p:txBody>
        </p:sp>
        <p:sp>
          <p:nvSpPr>
            <p:cNvPr id="327430" name="Freeform 774"/>
            <p:cNvSpPr>
              <a:spLocks/>
            </p:cNvSpPr>
            <p:nvPr/>
          </p:nvSpPr>
          <p:spPr bwMode="auto">
            <a:xfrm>
              <a:off x="2300" y="1940"/>
              <a:ext cx="7" cy="6"/>
            </a:xfrm>
            <a:custGeom>
              <a:avLst/>
              <a:gdLst/>
              <a:ahLst/>
              <a:cxnLst>
                <a:cxn ang="0">
                  <a:pos x="4" y="6"/>
                </a:cxn>
                <a:cxn ang="0">
                  <a:pos x="5" y="6"/>
                </a:cxn>
                <a:cxn ang="0">
                  <a:pos x="6" y="5"/>
                </a:cxn>
                <a:cxn ang="0">
                  <a:pos x="7" y="4"/>
                </a:cxn>
                <a:cxn ang="0">
                  <a:pos x="7" y="3"/>
                </a:cxn>
                <a:cxn ang="0">
                  <a:pos x="6" y="2"/>
                </a:cxn>
                <a:cxn ang="0">
                  <a:pos x="5" y="1"/>
                </a:cxn>
                <a:cxn ang="0">
                  <a:pos x="4" y="0"/>
                </a:cxn>
                <a:cxn ang="0">
                  <a:pos x="2" y="0"/>
                </a:cxn>
                <a:cxn ang="0">
                  <a:pos x="2" y="0"/>
                </a:cxn>
                <a:cxn ang="0">
                  <a:pos x="1" y="1"/>
                </a:cxn>
                <a:cxn ang="0">
                  <a:pos x="0" y="2"/>
                </a:cxn>
                <a:cxn ang="0">
                  <a:pos x="0" y="3"/>
                </a:cxn>
                <a:cxn ang="0">
                  <a:pos x="0" y="4"/>
                </a:cxn>
                <a:cxn ang="0">
                  <a:pos x="0" y="5"/>
                </a:cxn>
                <a:cxn ang="0">
                  <a:pos x="1" y="6"/>
                </a:cxn>
                <a:cxn ang="0">
                  <a:pos x="2" y="6"/>
                </a:cxn>
                <a:cxn ang="0">
                  <a:pos x="4" y="6"/>
                </a:cxn>
              </a:cxnLst>
              <a:rect l="0" t="0" r="r" b="b"/>
              <a:pathLst>
                <a:path w="7" h="6">
                  <a:moveTo>
                    <a:pt x="4" y="6"/>
                  </a:moveTo>
                  <a:lnTo>
                    <a:pt x="5" y="6"/>
                  </a:lnTo>
                  <a:lnTo>
                    <a:pt x="6" y="5"/>
                  </a:lnTo>
                  <a:lnTo>
                    <a:pt x="7" y="4"/>
                  </a:lnTo>
                  <a:lnTo>
                    <a:pt x="7" y="3"/>
                  </a:lnTo>
                  <a:lnTo>
                    <a:pt x="6" y="2"/>
                  </a:lnTo>
                  <a:lnTo>
                    <a:pt x="5" y="1"/>
                  </a:lnTo>
                  <a:lnTo>
                    <a:pt x="4" y="0"/>
                  </a:lnTo>
                  <a:lnTo>
                    <a:pt x="2" y="0"/>
                  </a:lnTo>
                  <a:lnTo>
                    <a:pt x="2" y="0"/>
                  </a:lnTo>
                  <a:lnTo>
                    <a:pt x="1" y="1"/>
                  </a:lnTo>
                  <a:lnTo>
                    <a:pt x="0" y="2"/>
                  </a:lnTo>
                  <a:lnTo>
                    <a:pt x="0" y="3"/>
                  </a:lnTo>
                  <a:lnTo>
                    <a:pt x="0" y="4"/>
                  </a:lnTo>
                  <a:lnTo>
                    <a:pt x="0" y="5"/>
                  </a:lnTo>
                  <a:lnTo>
                    <a:pt x="1" y="6"/>
                  </a:lnTo>
                  <a:lnTo>
                    <a:pt x="2" y="6"/>
                  </a:lnTo>
                  <a:lnTo>
                    <a:pt x="4" y="6"/>
                  </a:lnTo>
                  <a:close/>
                </a:path>
              </a:pathLst>
            </a:custGeom>
            <a:solidFill>
              <a:srgbClr val="000000"/>
            </a:solidFill>
            <a:ln w="9525">
              <a:noFill/>
              <a:round/>
              <a:headEnd/>
              <a:tailEnd/>
            </a:ln>
          </p:spPr>
          <p:txBody>
            <a:bodyPr/>
            <a:lstStyle/>
            <a:p>
              <a:endParaRPr lang="en-US"/>
            </a:p>
          </p:txBody>
        </p:sp>
        <p:sp>
          <p:nvSpPr>
            <p:cNvPr id="327431" name="Freeform 775"/>
            <p:cNvSpPr>
              <a:spLocks/>
            </p:cNvSpPr>
            <p:nvPr/>
          </p:nvSpPr>
          <p:spPr bwMode="auto">
            <a:xfrm>
              <a:off x="2287" y="1942"/>
              <a:ext cx="6" cy="6"/>
            </a:xfrm>
            <a:custGeom>
              <a:avLst/>
              <a:gdLst/>
              <a:ahLst/>
              <a:cxnLst>
                <a:cxn ang="0">
                  <a:pos x="3" y="6"/>
                </a:cxn>
                <a:cxn ang="0">
                  <a:pos x="4" y="6"/>
                </a:cxn>
                <a:cxn ang="0">
                  <a:pos x="5" y="5"/>
                </a:cxn>
                <a:cxn ang="0">
                  <a:pos x="6" y="4"/>
                </a:cxn>
                <a:cxn ang="0">
                  <a:pos x="6" y="3"/>
                </a:cxn>
                <a:cxn ang="0">
                  <a:pos x="5" y="2"/>
                </a:cxn>
                <a:cxn ang="0">
                  <a:pos x="4" y="1"/>
                </a:cxn>
                <a:cxn ang="0">
                  <a:pos x="3" y="0"/>
                </a:cxn>
                <a:cxn ang="0">
                  <a:pos x="2" y="0"/>
                </a:cxn>
                <a:cxn ang="0">
                  <a:pos x="2" y="0"/>
                </a:cxn>
                <a:cxn ang="0">
                  <a:pos x="1" y="1"/>
                </a:cxn>
                <a:cxn ang="0">
                  <a:pos x="0" y="2"/>
                </a:cxn>
                <a:cxn ang="0">
                  <a:pos x="0" y="3"/>
                </a:cxn>
                <a:cxn ang="0">
                  <a:pos x="0" y="4"/>
                </a:cxn>
                <a:cxn ang="0">
                  <a:pos x="0" y="5"/>
                </a:cxn>
                <a:cxn ang="0">
                  <a:pos x="1" y="6"/>
                </a:cxn>
                <a:cxn ang="0">
                  <a:pos x="2" y="6"/>
                </a:cxn>
                <a:cxn ang="0">
                  <a:pos x="3" y="6"/>
                </a:cxn>
              </a:cxnLst>
              <a:rect l="0" t="0" r="r" b="b"/>
              <a:pathLst>
                <a:path w="6" h="6">
                  <a:moveTo>
                    <a:pt x="3" y="6"/>
                  </a:moveTo>
                  <a:lnTo>
                    <a:pt x="4" y="6"/>
                  </a:lnTo>
                  <a:lnTo>
                    <a:pt x="5" y="5"/>
                  </a:lnTo>
                  <a:lnTo>
                    <a:pt x="6" y="4"/>
                  </a:lnTo>
                  <a:lnTo>
                    <a:pt x="6" y="3"/>
                  </a:lnTo>
                  <a:lnTo>
                    <a:pt x="5" y="2"/>
                  </a:lnTo>
                  <a:lnTo>
                    <a:pt x="4" y="1"/>
                  </a:lnTo>
                  <a:lnTo>
                    <a:pt x="3" y="0"/>
                  </a:lnTo>
                  <a:lnTo>
                    <a:pt x="2" y="0"/>
                  </a:lnTo>
                  <a:lnTo>
                    <a:pt x="2" y="0"/>
                  </a:lnTo>
                  <a:lnTo>
                    <a:pt x="1" y="1"/>
                  </a:lnTo>
                  <a:lnTo>
                    <a:pt x="0" y="2"/>
                  </a:lnTo>
                  <a:lnTo>
                    <a:pt x="0" y="3"/>
                  </a:lnTo>
                  <a:lnTo>
                    <a:pt x="0" y="4"/>
                  </a:lnTo>
                  <a:lnTo>
                    <a:pt x="0" y="5"/>
                  </a:lnTo>
                  <a:lnTo>
                    <a:pt x="1" y="6"/>
                  </a:lnTo>
                  <a:lnTo>
                    <a:pt x="2" y="6"/>
                  </a:lnTo>
                  <a:lnTo>
                    <a:pt x="3" y="6"/>
                  </a:lnTo>
                  <a:close/>
                </a:path>
              </a:pathLst>
            </a:custGeom>
            <a:solidFill>
              <a:srgbClr val="000000"/>
            </a:solidFill>
            <a:ln w="9525">
              <a:noFill/>
              <a:round/>
              <a:headEnd/>
              <a:tailEnd/>
            </a:ln>
          </p:spPr>
          <p:txBody>
            <a:bodyPr/>
            <a:lstStyle/>
            <a:p>
              <a:endParaRPr lang="en-US"/>
            </a:p>
          </p:txBody>
        </p:sp>
        <p:sp>
          <p:nvSpPr>
            <p:cNvPr id="327432" name="Freeform 776"/>
            <p:cNvSpPr>
              <a:spLocks/>
            </p:cNvSpPr>
            <p:nvPr/>
          </p:nvSpPr>
          <p:spPr bwMode="auto">
            <a:xfrm>
              <a:off x="2273" y="1944"/>
              <a:ext cx="7" cy="7"/>
            </a:xfrm>
            <a:custGeom>
              <a:avLst/>
              <a:gdLst/>
              <a:ahLst/>
              <a:cxnLst>
                <a:cxn ang="0">
                  <a:pos x="4" y="7"/>
                </a:cxn>
                <a:cxn ang="0">
                  <a:pos x="5" y="7"/>
                </a:cxn>
                <a:cxn ang="0">
                  <a:pos x="6" y="6"/>
                </a:cxn>
                <a:cxn ang="0">
                  <a:pos x="7" y="4"/>
                </a:cxn>
                <a:cxn ang="0">
                  <a:pos x="7" y="3"/>
                </a:cxn>
                <a:cxn ang="0">
                  <a:pos x="6" y="2"/>
                </a:cxn>
                <a:cxn ang="0">
                  <a:pos x="5" y="1"/>
                </a:cxn>
                <a:cxn ang="0">
                  <a:pos x="4" y="0"/>
                </a:cxn>
                <a:cxn ang="0">
                  <a:pos x="2" y="0"/>
                </a:cxn>
                <a:cxn ang="0">
                  <a:pos x="2" y="0"/>
                </a:cxn>
                <a:cxn ang="0">
                  <a:pos x="1" y="1"/>
                </a:cxn>
                <a:cxn ang="0">
                  <a:pos x="0" y="2"/>
                </a:cxn>
                <a:cxn ang="0">
                  <a:pos x="0" y="3"/>
                </a:cxn>
                <a:cxn ang="0">
                  <a:pos x="0" y="4"/>
                </a:cxn>
                <a:cxn ang="0">
                  <a:pos x="0" y="6"/>
                </a:cxn>
                <a:cxn ang="0">
                  <a:pos x="1" y="7"/>
                </a:cxn>
                <a:cxn ang="0">
                  <a:pos x="2" y="7"/>
                </a:cxn>
                <a:cxn ang="0">
                  <a:pos x="4" y="7"/>
                </a:cxn>
              </a:cxnLst>
              <a:rect l="0" t="0" r="r" b="b"/>
              <a:pathLst>
                <a:path w="7" h="7">
                  <a:moveTo>
                    <a:pt x="4" y="7"/>
                  </a:moveTo>
                  <a:lnTo>
                    <a:pt x="5" y="7"/>
                  </a:lnTo>
                  <a:lnTo>
                    <a:pt x="6" y="6"/>
                  </a:lnTo>
                  <a:lnTo>
                    <a:pt x="7" y="4"/>
                  </a:lnTo>
                  <a:lnTo>
                    <a:pt x="7" y="3"/>
                  </a:lnTo>
                  <a:lnTo>
                    <a:pt x="6" y="2"/>
                  </a:lnTo>
                  <a:lnTo>
                    <a:pt x="5" y="1"/>
                  </a:lnTo>
                  <a:lnTo>
                    <a:pt x="4" y="0"/>
                  </a:lnTo>
                  <a:lnTo>
                    <a:pt x="2" y="0"/>
                  </a:lnTo>
                  <a:lnTo>
                    <a:pt x="2" y="0"/>
                  </a:lnTo>
                  <a:lnTo>
                    <a:pt x="1" y="1"/>
                  </a:lnTo>
                  <a:lnTo>
                    <a:pt x="0" y="2"/>
                  </a:lnTo>
                  <a:lnTo>
                    <a:pt x="0" y="3"/>
                  </a:lnTo>
                  <a:lnTo>
                    <a:pt x="0" y="4"/>
                  </a:lnTo>
                  <a:lnTo>
                    <a:pt x="0" y="6"/>
                  </a:lnTo>
                  <a:lnTo>
                    <a:pt x="1" y="7"/>
                  </a:lnTo>
                  <a:lnTo>
                    <a:pt x="2" y="7"/>
                  </a:lnTo>
                  <a:lnTo>
                    <a:pt x="4" y="7"/>
                  </a:lnTo>
                  <a:close/>
                </a:path>
              </a:pathLst>
            </a:custGeom>
            <a:solidFill>
              <a:srgbClr val="000000"/>
            </a:solidFill>
            <a:ln w="9525">
              <a:noFill/>
              <a:round/>
              <a:headEnd/>
              <a:tailEnd/>
            </a:ln>
          </p:spPr>
          <p:txBody>
            <a:bodyPr/>
            <a:lstStyle/>
            <a:p>
              <a:endParaRPr lang="en-US"/>
            </a:p>
          </p:txBody>
        </p:sp>
        <p:sp>
          <p:nvSpPr>
            <p:cNvPr id="327433" name="Freeform 777"/>
            <p:cNvSpPr>
              <a:spLocks/>
            </p:cNvSpPr>
            <p:nvPr/>
          </p:nvSpPr>
          <p:spPr bwMode="auto">
            <a:xfrm>
              <a:off x="2260" y="1946"/>
              <a:ext cx="6" cy="7"/>
            </a:xfrm>
            <a:custGeom>
              <a:avLst/>
              <a:gdLst/>
              <a:ahLst/>
              <a:cxnLst>
                <a:cxn ang="0">
                  <a:pos x="4" y="7"/>
                </a:cxn>
                <a:cxn ang="0">
                  <a:pos x="5" y="7"/>
                </a:cxn>
                <a:cxn ang="0">
                  <a:pos x="6" y="6"/>
                </a:cxn>
                <a:cxn ang="0">
                  <a:pos x="6" y="5"/>
                </a:cxn>
                <a:cxn ang="0">
                  <a:pos x="6" y="4"/>
                </a:cxn>
                <a:cxn ang="0">
                  <a:pos x="6" y="2"/>
                </a:cxn>
                <a:cxn ang="0">
                  <a:pos x="5" y="1"/>
                </a:cxn>
                <a:cxn ang="0">
                  <a:pos x="4" y="0"/>
                </a:cxn>
                <a:cxn ang="0">
                  <a:pos x="3" y="0"/>
                </a:cxn>
                <a:cxn ang="0">
                  <a:pos x="3" y="0"/>
                </a:cxn>
                <a:cxn ang="0">
                  <a:pos x="2" y="1"/>
                </a:cxn>
                <a:cxn ang="0">
                  <a:pos x="1" y="2"/>
                </a:cxn>
                <a:cxn ang="0">
                  <a:pos x="0" y="4"/>
                </a:cxn>
                <a:cxn ang="0">
                  <a:pos x="0" y="5"/>
                </a:cxn>
                <a:cxn ang="0">
                  <a:pos x="1" y="6"/>
                </a:cxn>
                <a:cxn ang="0">
                  <a:pos x="2" y="7"/>
                </a:cxn>
                <a:cxn ang="0">
                  <a:pos x="3" y="7"/>
                </a:cxn>
                <a:cxn ang="0">
                  <a:pos x="4" y="7"/>
                </a:cxn>
              </a:cxnLst>
              <a:rect l="0" t="0" r="r" b="b"/>
              <a:pathLst>
                <a:path w="6" h="7">
                  <a:moveTo>
                    <a:pt x="4" y="7"/>
                  </a:moveTo>
                  <a:lnTo>
                    <a:pt x="5" y="7"/>
                  </a:lnTo>
                  <a:lnTo>
                    <a:pt x="6" y="6"/>
                  </a:lnTo>
                  <a:lnTo>
                    <a:pt x="6" y="5"/>
                  </a:lnTo>
                  <a:lnTo>
                    <a:pt x="6" y="4"/>
                  </a:lnTo>
                  <a:lnTo>
                    <a:pt x="6" y="2"/>
                  </a:lnTo>
                  <a:lnTo>
                    <a:pt x="5" y="1"/>
                  </a:lnTo>
                  <a:lnTo>
                    <a:pt x="4" y="0"/>
                  </a:lnTo>
                  <a:lnTo>
                    <a:pt x="3" y="0"/>
                  </a:lnTo>
                  <a:lnTo>
                    <a:pt x="3" y="0"/>
                  </a:lnTo>
                  <a:lnTo>
                    <a:pt x="2" y="1"/>
                  </a:lnTo>
                  <a:lnTo>
                    <a:pt x="1" y="2"/>
                  </a:lnTo>
                  <a:lnTo>
                    <a:pt x="0" y="4"/>
                  </a:lnTo>
                  <a:lnTo>
                    <a:pt x="0" y="5"/>
                  </a:lnTo>
                  <a:lnTo>
                    <a:pt x="1" y="6"/>
                  </a:lnTo>
                  <a:lnTo>
                    <a:pt x="2" y="7"/>
                  </a:lnTo>
                  <a:lnTo>
                    <a:pt x="3" y="7"/>
                  </a:lnTo>
                  <a:lnTo>
                    <a:pt x="4" y="7"/>
                  </a:lnTo>
                  <a:close/>
                </a:path>
              </a:pathLst>
            </a:custGeom>
            <a:solidFill>
              <a:srgbClr val="000000"/>
            </a:solidFill>
            <a:ln w="9525">
              <a:noFill/>
              <a:round/>
              <a:headEnd/>
              <a:tailEnd/>
            </a:ln>
          </p:spPr>
          <p:txBody>
            <a:bodyPr/>
            <a:lstStyle/>
            <a:p>
              <a:endParaRPr lang="en-US"/>
            </a:p>
          </p:txBody>
        </p:sp>
        <p:sp>
          <p:nvSpPr>
            <p:cNvPr id="327434" name="Freeform 778"/>
            <p:cNvSpPr>
              <a:spLocks/>
            </p:cNvSpPr>
            <p:nvPr/>
          </p:nvSpPr>
          <p:spPr bwMode="auto">
            <a:xfrm>
              <a:off x="2246" y="1948"/>
              <a:ext cx="7" cy="7"/>
            </a:xfrm>
            <a:custGeom>
              <a:avLst/>
              <a:gdLst/>
              <a:ahLst/>
              <a:cxnLst>
                <a:cxn ang="0">
                  <a:pos x="5" y="7"/>
                </a:cxn>
                <a:cxn ang="0">
                  <a:pos x="6" y="7"/>
                </a:cxn>
                <a:cxn ang="0">
                  <a:pos x="7" y="6"/>
                </a:cxn>
                <a:cxn ang="0">
                  <a:pos x="7" y="5"/>
                </a:cxn>
                <a:cxn ang="0">
                  <a:pos x="7" y="4"/>
                </a:cxn>
                <a:cxn ang="0">
                  <a:pos x="7" y="3"/>
                </a:cxn>
                <a:cxn ang="0">
                  <a:pos x="6" y="2"/>
                </a:cxn>
                <a:cxn ang="0">
                  <a:pos x="5" y="0"/>
                </a:cxn>
                <a:cxn ang="0">
                  <a:pos x="3" y="0"/>
                </a:cxn>
                <a:cxn ang="0">
                  <a:pos x="3" y="0"/>
                </a:cxn>
                <a:cxn ang="0">
                  <a:pos x="2" y="2"/>
                </a:cxn>
                <a:cxn ang="0">
                  <a:pos x="1" y="3"/>
                </a:cxn>
                <a:cxn ang="0">
                  <a:pos x="0" y="4"/>
                </a:cxn>
                <a:cxn ang="0">
                  <a:pos x="0" y="5"/>
                </a:cxn>
                <a:cxn ang="0">
                  <a:pos x="1" y="6"/>
                </a:cxn>
                <a:cxn ang="0">
                  <a:pos x="2" y="7"/>
                </a:cxn>
                <a:cxn ang="0">
                  <a:pos x="3" y="7"/>
                </a:cxn>
                <a:cxn ang="0">
                  <a:pos x="5" y="7"/>
                </a:cxn>
              </a:cxnLst>
              <a:rect l="0" t="0" r="r" b="b"/>
              <a:pathLst>
                <a:path w="7" h="7">
                  <a:moveTo>
                    <a:pt x="5" y="7"/>
                  </a:moveTo>
                  <a:lnTo>
                    <a:pt x="6" y="7"/>
                  </a:lnTo>
                  <a:lnTo>
                    <a:pt x="7" y="6"/>
                  </a:lnTo>
                  <a:lnTo>
                    <a:pt x="7" y="5"/>
                  </a:lnTo>
                  <a:lnTo>
                    <a:pt x="7" y="4"/>
                  </a:lnTo>
                  <a:lnTo>
                    <a:pt x="7" y="3"/>
                  </a:lnTo>
                  <a:lnTo>
                    <a:pt x="6" y="2"/>
                  </a:lnTo>
                  <a:lnTo>
                    <a:pt x="5" y="0"/>
                  </a:lnTo>
                  <a:lnTo>
                    <a:pt x="3" y="0"/>
                  </a:lnTo>
                  <a:lnTo>
                    <a:pt x="3" y="0"/>
                  </a:lnTo>
                  <a:lnTo>
                    <a:pt x="2" y="2"/>
                  </a:lnTo>
                  <a:lnTo>
                    <a:pt x="1" y="3"/>
                  </a:lnTo>
                  <a:lnTo>
                    <a:pt x="0" y="4"/>
                  </a:lnTo>
                  <a:lnTo>
                    <a:pt x="0" y="5"/>
                  </a:lnTo>
                  <a:lnTo>
                    <a:pt x="1" y="6"/>
                  </a:lnTo>
                  <a:lnTo>
                    <a:pt x="2" y="7"/>
                  </a:lnTo>
                  <a:lnTo>
                    <a:pt x="3" y="7"/>
                  </a:lnTo>
                  <a:lnTo>
                    <a:pt x="5" y="7"/>
                  </a:lnTo>
                  <a:close/>
                </a:path>
              </a:pathLst>
            </a:custGeom>
            <a:solidFill>
              <a:srgbClr val="000000"/>
            </a:solidFill>
            <a:ln w="9525">
              <a:noFill/>
              <a:round/>
              <a:headEnd/>
              <a:tailEnd/>
            </a:ln>
          </p:spPr>
          <p:txBody>
            <a:bodyPr/>
            <a:lstStyle/>
            <a:p>
              <a:endParaRPr lang="en-US"/>
            </a:p>
          </p:txBody>
        </p:sp>
        <p:sp>
          <p:nvSpPr>
            <p:cNvPr id="327435" name="Freeform 779"/>
            <p:cNvSpPr>
              <a:spLocks/>
            </p:cNvSpPr>
            <p:nvPr/>
          </p:nvSpPr>
          <p:spPr bwMode="auto">
            <a:xfrm>
              <a:off x="2232" y="1951"/>
              <a:ext cx="7" cy="6"/>
            </a:xfrm>
            <a:custGeom>
              <a:avLst/>
              <a:gdLst/>
              <a:ahLst/>
              <a:cxnLst>
                <a:cxn ang="0">
                  <a:pos x="5" y="6"/>
                </a:cxn>
                <a:cxn ang="0">
                  <a:pos x="6" y="5"/>
                </a:cxn>
                <a:cxn ang="0">
                  <a:pos x="7" y="4"/>
                </a:cxn>
                <a:cxn ang="0">
                  <a:pos x="7" y="3"/>
                </a:cxn>
                <a:cxn ang="0">
                  <a:pos x="7" y="2"/>
                </a:cxn>
                <a:cxn ang="0">
                  <a:pos x="7" y="1"/>
                </a:cxn>
                <a:cxn ang="0">
                  <a:pos x="6" y="0"/>
                </a:cxn>
                <a:cxn ang="0">
                  <a:pos x="5" y="0"/>
                </a:cxn>
                <a:cxn ang="0">
                  <a:pos x="4" y="0"/>
                </a:cxn>
                <a:cxn ang="0">
                  <a:pos x="4" y="0"/>
                </a:cxn>
                <a:cxn ang="0">
                  <a:pos x="3" y="0"/>
                </a:cxn>
                <a:cxn ang="0">
                  <a:pos x="2" y="1"/>
                </a:cxn>
                <a:cxn ang="0">
                  <a:pos x="0" y="2"/>
                </a:cxn>
                <a:cxn ang="0">
                  <a:pos x="0" y="3"/>
                </a:cxn>
                <a:cxn ang="0">
                  <a:pos x="2" y="4"/>
                </a:cxn>
                <a:cxn ang="0">
                  <a:pos x="3" y="5"/>
                </a:cxn>
                <a:cxn ang="0">
                  <a:pos x="4" y="6"/>
                </a:cxn>
                <a:cxn ang="0">
                  <a:pos x="5" y="6"/>
                </a:cxn>
              </a:cxnLst>
              <a:rect l="0" t="0" r="r" b="b"/>
              <a:pathLst>
                <a:path w="7" h="6">
                  <a:moveTo>
                    <a:pt x="5" y="6"/>
                  </a:moveTo>
                  <a:lnTo>
                    <a:pt x="6" y="5"/>
                  </a:lnTo>
                  <a:lnTo>
                    <a:pt x="7" y="4"/>
                  </a:lnTo>
                  <a:lnTo>
                    <a:pt x="7" y="3"/>
                  </a:lnTo>
                  <a:lnTo>
                    <a:pt x="7" y="2"/>
                  </a:lnTo>
                  <a:lnTo>
                    <a:pt x="7" y="1"/>
                  </a:lnTo>
                  <a:lnTo>
                    <a:pt x="6" y="0"/>
                  </a:lnTo>
                  <a:lnTo>
                    <a:pt x="5" y="0"/>
                  </a:lnTo>
                  <a:lnTo>
                    <a:pt x="4" y="0"/>
                  </a:lnTo>
                  <a:lnTo>
                    <a:pt x="4" y="0"/>
                  </a:lnTo>
                  <a:lnTo>
                    <a:pt x="3" y="0"/>
                  </a:lnTo>
                  <a:lnTo>
                    <a:pt x="2" y="1"/>
                  </a:lnTo>
                  <a:lnTo>
                    <a:pt x="0" y="2"/>
                  </a:lnTo>
                  <a:lnTo>
                    <a:pt x="0" y="3"/>
                  </a:lnTo>
                  <a:lnTo>
                    <a:pt x="2" y="4"/>
                  </a:lnTo>
                  <a:lnTo>
                    <a:pt x="3" y="5"/>
                  </a:lnTo>
                  <a:lnTo>
                    <a:pt x="4" y="6"/>
                  </a:lnTo>
                  <a:lnTo>
                    <a:pt x="5" y="6"/>
                  </a:lnTo>
                  <a:close/>
                </a:path>
              </a:pathLst>
            </a:custGeom>
            <a:solidFill>
              <a:srgbClr val="000000"/>
            </a:solidFill>
            <a:ln w="9525">
              <a:noFill/>
              <a:round/>
              <a:headEnd/>
              <a:tailEnd/>
            </a:ln>
          </p:spPr>
          <p:txBody>
            <a:bodyPr/>
            <a:lstStyle/>
            <a:p>
              <a:endParaRPr lang="en-US"/>
            </a:p>
          </p:txBody>
        </p:sp>
        <p:sp>
          <p:nvSpPr>
            <p:cNvPr id="327436" name="Freeform 780"/>
            <p:cNvSpPr>
              <a:spLocks/>
            </p:cNvSpPr>
            <p:nvPr/>
          </p:nvSpPr>
          <p:spPr bwMode="auto">
            <a:xfrm>
              <a:off x="2220" y="1953"/>
              <a:ext cx="7" cy="6"/>
            </a:xfrm>
            <a:custGeom>
              <a:avLst/>
              <a:gdLst/>
              <a:ahLst/>
              <a:cxnLst>
                <a:cxn ang="0">
                  <a:pos x="3" y="6"/>
                </a:cxn>
                <a:cxn ang="0">
                  <a:pos x="5" y="5"/>
                </a:cxn>
                <a:cxn ang="0">
                  <a:pos x="6" y="4"/>
                </a:cxn>
                <a:cxn ang="0">
                  <a:pos x="7" y="3"/>
                </a:cxn>
                <a:cxn ang="0">
                  <a:pos x="7" y="2"/>
                </a:cxn>
                <a:cxn ang="0">
                  <a:pos x="6" y="1"/>
                </a:cxn>
                <a:cxn ang="0">
                  <a:pos x="5" y="0"/>
                </a:cxn>
                <a:cxn ang="0">
                  <a:pos x="3" y="0"/>
                </a:cxn>
                <a:cxn ang="0">
                  <a:pos x="2" y="0"/>
                </a:cxn>
                <a:cxn ang="0">
                  <a:pos x="2" y="0"/>
                </a:cxn>
                <a:cxn ang="0">
                  <a:pos x="1" y="0"/>
                </a:cxn>
                <a:cxn ang="0">
                  <a:pos x="0" y="1"/>
                </a:cxn>
                <a:cxn ang="0">
                  <a:pos x="0" y="2"/>
                </a:cxn>
                <a:cxn ang="0">
                  <a:pos x="0" y="3"/>
                </a:cxn>
                <a:cxn ang="0">
                  <a:pos x="0" y="4"/>
                </a:cxn>
                <a:cxn ang="0">
                  <a:pos x="1" y="5"/>
                </a:cxn>
                <a:cxn ang="0">
                  <a:pos x="2" y="6"/>
                </a:cxn>
                <a:cxn ang="0">
                  <a:pos x="3" y="6"/>
                </a:cxn>
              </a:cxnLst>
              <a:rect l="0" t="0" r="r" b="b"/>
              <a:pathLst>
                <a:path w="7" h="6">
                  <a:moveTo>
                    <a:pt x="3" y="6"/>
                  </a:moveTo>
                  <a:lnTo>
                    <a:pt x="5" y="5"/>
                  </a:lnTo>
                  <a:lnTo>
                    <a:pt x="6" y="4"/>
                  </a:lnTo>
                  <a:lnTo>
                    <a:pt x="7" y="3"/>
                  </a:lnTo>
                  <a:lnTo>
                    <a:pt x="7" y="2"/>
                  </a:lnTo>
                  <a:lnTo>
                    <a:pt x="6" y="1"/>
                  </a:lnTo>
                  <a:lnTo>
                    <a:pt x="5" y="0"/>
                  </a:lnTo>
                  <a:lnTo>
                    <a:pt x="3" y="0"/>
                  </a:lnTo>
                  <a:lnTo>
                    <a:pt x="2" y="0"/>
                  </a:lnTo>
                  <a:lnTo>
                    <a:pt x="2" y="0"/>
                  </a:lnTo>
                  <a:lnTo>
                    <a:pt x="1" y="0"/>
                  </a:lnTo>
                  <a:lnTo>
                    <a:pt x="0" y="1"/>
                  </a:lnTo>
                  <a:lnTo>
                    <a:pt x="0" y="2"/>
                  </a:lnTo>
                  <a:lnTo>
                    <a:pt x="0" y="3"/>
                  </a:lnTo>
                  <a:lnTo>
                    <a:pt x="0" y="4"/>
                  </a:lnTo>
                  <a:lnTo>
                    <a:pt x="1" y="5"/>
                  </a:lnTo>
                  <a:lnTo>
                    <a:pt x="2" y="6"/>
                  </a:lnTo>
                  <a:lnTo>
                    <a:pt x="3" y="6"/>
                  </a:lnTo>
                  <a:close/>
                </a:path>
              </a:pathLst>
            </a:custGeom>
            <a:solidFill>
              <a:srgbClr val="000000"/>
            </a:solidFill>
            <a:ln w="9525">
              <a:noFill/>
              <a:round/>
              <a:headEnd/>
              <a:tailEnd/>
            </a:ln>
          </p:spPr>
          <p:txBody>
            <a:bodyPr/>
            <a:lstStyle/>
            <a:p>
              <a:endParaRPr lang="en-US"/>
            </a:p>
          </p:txBody>
        </p:sp>
        <p:sp>
          <p:nvSpPr>
            <p:cNvPr id="327437" name="Freeform 781"/>
            <p:cNvSpPr>
              <a:spLocks/>
            </p:cNvSpPr>
            <p:nvPr/>
          </p:nvSpPr>
          <p:spPr bwMode="auto">
            <a:xfrm>
              <a:off x="2206" y="1955"/>
              <a:ext cx="7" cy="6"/>
            </a:xfrm>
            <a:custGeom>
              <a:avLst/>
              <a:gdLst/>
              <a:ahLst/>
              <a:cxnLst>
                <a:cxn ang="0">
                  <a:pos x="4" y="6"/>
                </a:cxn>
                <a:cxn ang="0">
                  <a:pos x="5" y="5"/>
                </a:cxn>
                <a:cxn ang="0">
                  <a:pos x="6" y="4"/>
                </a:cxn>
                <a:cxn ang="0">
                  <a:pos x="7" y="3"/>
                </a:cxn>
                <a:cxn ang="0">
                  <a:pos x="7" y="2"/>
                </a:cxn>
                <a:cxn ang="0">
                  <a:pos x="6" y="1"/>
                </a:cxn>
                <a:cxn ang="0">
                  <a:pos x="5" y="0"/>
                </a:cxn>
                <a:cxn ang="0">
                  <a:pos x="4" y="0"/>
                </a:cxn>
                <a:cxn ang="0">
                  <a:pos x="3" y="0"/>
                </a:cxn>
                <a:cxn ang="0">
                  <a:pos x="3" y="0"/>
                </a:cxn>
                <a:cxn ang="0">
                  <a:pos x="2" y="0"/>
                </a:cxn>
                <a:cxn ang="0">
                  <a:pos x="0" y="1"/>
                </a:cxn>
                <a:cxn ang="0">
                  <a:pos x="0" y="2"/>
                </a:cxn>
                <a:cxn ang="0">
                  <a:pos x="0" y="3"/>
                </a:cxn>
                <a:cxn ang="0">
                  <a:pos x="0" y="4"/>
                </a:cxn>
                <a:cxn ang="0">
                  <a:pos x="2" y="5"/>
                </a:cxn>
                <a:cxn ang="0">
                  <a:pos x="3" y="6"/>
                </a:cxn>
                <a:cxn ang="0">
                  <a:pos x="4" y="6"/>
                </a:cxn>
              </a:cxnLst>
              <a:rect l="0" t="0" r="r" b="b"/>
              <a:pathLst>
                <a:path w="7" h="6">
                  <a:moveTo>
                    <a:pt x="4" y="6"/>
                  </a:moveTo>
                  <a:lnTo>
                    <a:pt x="5" y="5"/>
                  </a:lnTo>
                  <a:lnTo>
                    <a:pt x="6" y="4"/>
                  </a:lnTo>
                  <a:lnTo>
                    <a:pt x="7" y="3"/>
                  </a:lnTo>
                  <a:lnTo>
                    <a:pt x="7" y="2"/>
                  </a:lnTo>
                  <a:lnTo>
                    <a:pt x="6" y="1"/>
                  </a:lnTo>
                  <a:lnTo>
                    <a:pt x="5" y="0"/>
                  </a:lnTo>
                  <a:lnTo>
                    <a:pt x="4" y="0"/>
                  </a:lnTo>
                  <a:lnTo>
                    <a:pt x="3" y="0"/>
                  </a:lnTo>
                  <a:lnTo>
                    <a:pt x="3" y="0"/>
                  </a:lnTo>
                  <a:lnTo>
                    <a:pt x="2" y="0"/>
                  </a:lnTo>
                  <a:lnTo>
                    <a:pt x="0" y="1"/>
                  </a:lnTo>
                  <a:lnTo>
                    <a:pt x="0" y="2"/>
                  </a:lnTo>
                  <a:lnTo>
                    <a:pt x="0" y="3"/>
                  </a:lnTo>
                  <a:lnTo>
                    <a:pt x="0" y="4"/>
                  </a:lnTo>
                  <a:lnTo>
                    <a:pt x="2" y="5"/>
                  </a:lnTo>
                  <a:lnTo>
                    <a:pt x="3" y="6"/>
                  </a:lnTo>
                  <a:lnTo>
                    <a:pt x="4" y="6"/>
                  </a:lnTo>
                  <a:close/>
                </a:path>
              </a:pathLst>
            </a:custGeom>
            <a:solidFill>
              <a:srgbClr val="000000"/>
            </a:solidFill>
            <a:ln w="9525">
              <a:noFill/>
              <a:round/>
              <a:headEnd/>
              <a:tailEnd/>
            </a:ln>
          </p:spPr>
          <p:txBody>
            <a:bodyPr/>
            <a:lstStyle/>
            <a:p>
              <a:endParaRPr lang="en-US"/>
            </a:p>
          </p:txBody>
        </p:sp>
        <p:sp>
          <p:nvSpPr>
            <p:cNvPr id="327438" name="Freeform 782"/>
            <p:cNvSpPr>
              <a:spLocks/>
            </p:cNvSpPr>
            <p:nvPr/>
          </p:nvSpPr>
          <p:spPr bwMode="auto">
            <a:xfrm>
              <a:off x="2193" y="1957"/>
              <a:ext cx="7" cy="6"/>
            </a:xfrm>
            <a:custGeom>
              <a:avLst/>
              <a:gdLst/>
              <a:ahLst/>
              <a:cxnLst>
                <a:cxn ang="0">
                  <a:pos x="3" y="6"/>
                </a:cxn>
                <a:cxn ang="0">
                  <a:pos x="4" y="5"/>
                </a:cxn>
                <a:cxn ang="0">
                  <a:pos x="6" y="4"/>
                </a:cxn>
                <a:cxn ang="0">
                  <a:pos x="7" y="3"/>
                </a:cxn>
                <a:cxn ang="0">
                  <a:pos x="7" y="2"/>
                </a:cxn>
                <a:cxn ang="0">
                  <a:pos x="6" y="1"/>
                </a:cxn>
                <a:cxn ang="0">
                  <a:pos x="4" y="0"/>
                </a:cxn>
                <a:cxn ang="0">
                  <a:pos x="3" y="0"/>
                </a:cxn>
                <a:cxn ang="0">
                  <a:pos x="2" y="0"/>
                </a:cxn>
                <a:cxn ang="0">
                  <a:pos x="2" y="0"/>
                </a:cxn>
                <a:cxn ang="0">
                  <a:pos x="1" y="0"/>
                </a:cxn>
                <a:cxn ang="0">
                  <a:pos x="0" y="1"/>
                </a:cxn>
                <a:cxn ang="0">
                  <a:pos x="0" y="2"/>
                </a:cxn>
                <a:cxn ang="0">
                  <a:pos x="0" y="3"/>
                </a:cxn>
                <a:cxn ang="0">
                  <a:pos x="0" y="4"/>
                </a:cxn>
                <a:cxn ang="0">
                  <a:pos x="1" y="5"/>
                </a:cxn>
                <a:cxn ang="0">
                  <a:pos x="2" y="6"/>
                </a:cxn>
                <a:cxn ang="0">
                  <a:pos x="3" y="6"/>
                </a:cxn>
              </a:cxnLst>
              <a:rect l="0" t="0" r="r" b="b"/>
              <a:pathLst>
                <a:path w="7" h="6">
                  <a:moveTo>
                    <a:pt x="3" y="6"/>
                  </a:moveTo>
                  <a:lnTo>
                    <a:pt x="4" y="5"/>
                  </a:lnTo>
                  <a:lnTo>
                    <a:pt x="6" y="4"/>
                  </a:lnTo>
                  <a:lnTo>
                    <a:pt x="7" y="3"/>
                  </a:lnTo>
                  <a:lnTo>
                    <a:pt x="7" y="2"/>
                  </a:lnTo>
                  <a:lnTo>
                    <a:pt x="6" y="1"/>
                  </a:lnTo>
                  <a:lnTo>
                    <a:pt x="4" y="0"/>
                  </a:lnTo>
                  <a:lnTo>
                    <a:pt x="3" y="0"/>
                  </a:lnTo>
                  <a:lnTo>
                    <a:pt x="2" y="0"/>
                  </a:lnTo>
                  <a:lnTo>
                    <a:pt x="2" y="0"/>
                  </a:lnTo>
                  <a:lnTo>
                    <a:pt x="1" y="0"/>
                  </a:lnTo>
                  <a:lnTo>
                    <a:pt x="0" y="1"/>
                  </a:lnTo>
                  <a:lnTo>
                    <a:pt x="0" y="2"/>
                  </a:lnTo>
                  <a:lnTo>
                    <a:pt x="0" y="3"/>
                  </a:lnTo>
                  <a:lnTo>
                    <a:pt x="0" y="4"/>
                  </a:lnTo>
                  <a:lnTo>
                    <a:pt x="1" y="5"/>
                  </a:lnTo>
                  <a:lnTo>
                    <a:pt x="2" y="6"/>
                  </a:lnTo>
                  <a:lnTo>
                    <a:pt x="3" y="6"/>
                  </a:lnTo>
                  <a:close/>
                </a:path>
              </a:pathLst>
            </a:custGeom>
            <a:solidFill>
              <a:srgbClr val="000000"/>
            </a:solidFill>
            <a:ln w="9525">
              <a:noFill/>
              <a:round/>
              <a:headEnd/>
              <a:tailEnd/>
            </a:ln>
          </p:spPr>
          <p:txBody>
            <a:bodyPr/>
            <a:lstStyle/>
            <a:p>
              <a:endParaRPr lang="en-US"/>
            </a:p>
          </p:txBody>
        </p:sp>
        <p:sp>
          <p:nvSpPr>
            <p:cNvPr id="327439" name="Freeform 783"/>
            <p:cNvSpPr>
              <a:spLocks/>
            </p:cNvSpPr>
            <p:nvPr/>
          </p:nvSpPr>
          <p:spPr bwMode="auto">
            <a:xfrm>
              <a:off x="2179" y="1959"/>
              <a:ext cx="7" cy="6"/>
            </a:xfrm>
            <a:custGeom>
              <a:avLst/>
              <a:gdLst/>
              <a:ahLst/>
              <a:cxnLst>
                <a:cxn ang="0">
                  <a:pos x="4" y="6"/>
                </a:cxn>
                <a:cxn ang="0">
                  <a:pos x="5" y="5"/>
                </a:cxn>
                <a:cxn ang="0">
                  <a:pos x="6" y="4"/>
                </a:cxn>
                <a:cxn ang="0">
                  <a:pos x="7" y="3"/>
                </a:cxn>
                <a:cxn ang="0">
                  <a:pos x="7" y="2"/>
                </a:cxn>
                <a:cxn ang="0">
                  <a:pos x="6" y="1"/>
                </a:cxn>
                <a:cxn ang="0">
                  <a:pos x="5" y="0"/>
                </a:cxn>
                <a:cxn ang="0">
                  <a:pos x="4" y="0"/>
                </a:cxn>
                <a:cxn ang="0">
                  <a:pos x="3" y="0"/>
                </a:cxn>
                <a:cxn ang="0">
                  <a:pos x="3" y="0"/>
                </a:cxn>
                <a:cxn ang="0">
                  <a:pos x="1" y="0"/>
                </a:cxn>
                <a:cxn ang="0">
                  <a:pos x="0" y="1"/>
                </a:cxn>
                <a:cxn ang="0">
                  <a:pos x="0" y="2"/>
                </a:cxn>
                <a:cxn ang="0">
                  <a:pos x="0" y="3"/>
                </a:cxn>
                <a:cxn ang="0">
                  <a:pos x="0" y="4"/>
                </a:cxn>
                <a:cxn ang="0">
                  <a:pos x="1" y="5"/>
                </a:cxn>
                <a:cxn ang="0">
                  <a:pos x="3" y="6"/>
                </a:cxn>
                <a:cxn ang="0">
                  <a:pos x="4" y="6"/>
                </a:cxn>
              </a:cxnLst>
              <a:rect l="0" t="0" r="r" b="b"/>
              <a:pathLst>
                <a:path w="7" h="6">
                  <a:moveTo>
                    <a:pt x="4" y="6"/>
                  </a:moveTo>
                  <a:lnTo>
                    <a:pt x="5" y="5"/>
                  </a:lnTo>
                  <a:lnTo>
                    <a:pt x="6" y="4"/>
                  </a:lnTo>
                  <a:lnTo>
                    <a:pt x="7" y="3"/>
                  </a:lnTo>
                  <a:lnTo>
                    <a:pt x="7" y="2"/>
                  </a:lnTo>
                  <a:lnTo>
                    <a:pt x="6" y="1"/>
                  </a:lnTo>
                  <a:lnTo>
                    <a:pt x="5" y="0"/>
                  </a:lnTo>
                  <a:lnTo>
                    <a:pt x="4" y="0"/>
                  </a:lnTo>
                  <a:lnTo>
                    <a:pt x="3" y="0"/>
                  </a:lnTo>
                  <a:lnTo>
                    <a:pt x="3" y="0"/>
                  </a:lnTo>
                  <a:lnTo>
                    <a:pt x="1" y="0"/>
                  </a:lnTo>
                  <a:lnTo>
                    <a:pt x="0" y="1"/>
                  </a:lnTo>
                  <a:lnTo>
                    <a:pt x="0" y="2"/>
                  </a:lnTo>
                  <a:lnTo>
                    <a:pt x="0" y="3"/>
                  </a:lnTo>
                  <a:lnTo>
                    <a:pt x="0" y="4"/>
                  </a:lnTo>
                  <a:lnTo>
                    <a:pt x="1" y="5"/>
                  </a:lnTo>
                  <a:lnTo>
                    <a:pt x="3" y="6"/>
                  </a:lnTo>
                  <a:lnTo>
                    <a:pt x="4" y="6"/>
                  </a:lnTo>
                  <a:close/>
                </a:path>
              </a:pathLst>
            </a:custGeom>
            <a:solidFill>
              <a:srgbClr val="000000"/>
            </a:solidFill>
            <a:ln w="9525">
              <a:noFill/>
              <a:round/>
              <a:headEnd/>
              <a:tailEnd/>
            </a:ln>
          </p:spPr>
          <p:txBody>
            <a:bodyPr/>
            <a:lstStyle/>
            <a:p>
              <a:endParaRPr lang="en-US"/>
            </a:p>
          </p:txBody>
        </p:sp>
        <p:sp>
          <p:nvSpPr>
            <p:cNvPr id="327440" name="Freeform 784"/>
            <p:cNvSpPr>
              <a:spLocks/>
            </p:cNvSpPr>
            <p:nvPr/>
          </p:nvSpPr>
          <p:spPr bwMode="auto">
            <a:xfrm>
              <a:off x="2166" y="1961"/>
              <a:ext cx="7" cy="6"/>
            </a:xfrm>
            <a:custGeom>
              <a:avLst/>
              <a:gdLst/>
              <a:ahLst/>
              <a:cxnLst>
                <a:cxn ang="0">
                  <a:pos x="4" y="6"/>
                </a:cxn>
                <a:cxn ang="0">
                  <a:pos x="5" y="5"/>
                </a:cxn>
                <a:cxn ang="0">
                  <a:pos x="7" y="4"/>
                </a:cxn>
                <a:cxn ang="0">
                  <a:pos x="7" y="3"/>
                </a:cxn>
                <a:cxn ang="0">
                  <a:pos x="7" y="2"/>
                </a:cxn>
                <a:cxn ang="0">
                  <a:pos x="7" y="1"/>
                </a:cxn>
                <a:cxn ang="0">
                  <a:pos x="5" y="0"/>
                </a:cxn>
                <a:cxn ang="0">
                  <a:pos x="4" y="0"/>
                </a:cxn>
                <a:cxn ang="0">
                  <a:pos x="3" y="0"/>
                </a:cxn>
                <a:cxn ang="0">
                  <a:pos x="3" y="0"/>
                </a:cxn>
                <a:cxn ang="0">
                  <a:pos x="2" y="0"/>
                </a:cxn>
                <a:cxn ang="0">
                  <a:pos x="1" y="1"/>
                </a:cxn>
                <a:cxn ang="0">
                  <a:pos x="0" y="2"/>
                </a:cxn>
                <a:cxn ang="0">
                  <a:pos x="0" y="3"/>
                </a:cxn>
                <a:cxn ang="0">
                  <a:pos x="1" y="4"/>
                </a:cxn>
                <a:cxn ang="0">
                  <a:pos x="2" y="5"/>
                </a:cxn>
                <a:cxn ang="0">
                  <a:pos x="3" y="6"/>
                </a:cxn>
                <a:cxn ang="0">
                  <a:pos x="4" y="6"/>
                </a:cxn>
              </a:cxnLst>
              <a:rect l="0" t="0" r="r" b="b"/>
              <a:pathLst>
                <a:path w="7" h="6">
                  <a:moveTo>
                    <a:pt x="4" y="6"/>
                  </a:moveTo>
                  <a:lnTo>
                    <a:pt x="5" y="5"/>
                  </a:lnTo>
                  <a:lnTo>
                    <a:pt x="7" y="4"/>
                  </a:lnTo>
                  <a:lnTo>
                    <a:pt x="7" y="3"/>
                  </a:lnTo>
                  <a:lnTo>
                    <a:pt x="7" y="2"/>
                  </a:lnTo>
                  <a:lnTo>
                    <a:pt x="7" y="1"/>
                  </a:lnTo>
                  <a:lnTo>
                    <a:pt x="5" y="0"/>
                  </a:lnTo>
                  <a:lnTo>
                    <a:pt x="4" y="0"/>
                  </a:lnTo>
                  <a:lnTo>
                    <a:pt x="3" y="0"/>
                  </a:lnTo>
                  <a:lnTo>
                    <a:pt x="3" y="0"/>
                  </a:lnTo>
                  <a:lnTo>
                    <a:pt x="2" y="0"/>
                  </a:lnTo>
                  <a:lnTo>
                    <a:pt x="1" y="1"/>
                  </a:lnTo>
                  <a:lnTo>
                    <a:pt x="0" y="2"/>
                  </a:lnTo>
                  <a:lnTo>
                    <a:pt x="0" y="3"/>
                  </a:lnTo>
                  <a:lnTo>
                    <a:pt x="1" y="4"/>
                  </a:lnTo>
                  <a:lnTo>
                    <a:pt x="2" y="5"/>
                  </a:lnTo>
                  <a:lnTo>
                    <a:pt x="3" y="6"/>
                  </a:lnTo>
                  <a:lnTo>
                    <a:pt x="4" y="6"/>
                  </a:lnTo>
                  <a:close/>
                </a:path>
              </a:pathLst>
            </a:custGeom>
            <a:solidFill>
              <a:srgbClr val="000000"/>
            </a:solidFill>
            <a:ln w="9525">
              <a:noFill/>
              <a:round/>
              <a:headEnd/>
              <a:tailEnd/>
            </a:ln>
          </p:spPr>
          <p:txBody>
            <a:bodyPr/>
            <a:lstStyle/>
            <a:p>
              <a:endParaRPr lang="en-US"/>
            </a:p>
          </p:txBody>
        </p:sp>
        <p:sp>
          <p:nvSpPr>
            <p:cNvPr id="327441" name="Freeform 785"/>
            <p:cNvSpPr>
              <a:spLocks/>
            </p:cNvSpPr>
            <p:nvPr/>
          </p:nvSpPr>
          <p:spPr bwMode="auto">
            <a:xfrm>
              <a:off x="2090" y="1932"/>
              <a:ext cx="78" cy="68"/>
            </a:xfrm>
            <a:custGeom>
              <a:avLst/>
              <a:gdLst/>
              <a:ahLst/>
              <a:cxnLst>
                <a:cxn ang="0">
                  <a:pos x="67" y="0"/>
                </a:cxn>
                <a:cxn ang="0">
                  <a:pos x="0" y="44"/>
                </a:cxn>
                <a:cxn ang="0">
                  <a:pos x="78" y="68"/>
                </a:cxn>
                <a:cxn ang="0">
                  <a:pos x="67" y="0"/>
                </a:cxn>
              </a:cxnLst>
              <a:rect l="0" t="0" r="r" b="b"/>
              <a:pathLst>
                <a:path w="78" h="68">
                  <a:moveTo>
                    <a:pt x="67" y="0"/>
                  </a:moveTo>
                  <a:lnTo>
                    <a:pt x="0" y="44"/>
                  </a:lnTo>
                  <a:lnTo>
                    <a:pt x="78" y="68"/>
                  </a:lnTo>
                  <a:lnTo>
                    <a:pt x="67" y="0"/>
                  </a:lnTo>
                  <a:close/>
                </a:path>
              </a:pathLst>
            </a:custGeom>
            <a:solidFill>
              <a:srgbClr val="000000"/>
            </a:solidFill>
            <a:ln w="9525">
              <a:noFill/>
              <a:round/>
              <a:headEnd/>
              <a:tailEnd/>
            </a:ln>
          </p:spPr>
          <p:txBody>
            <a:bodyPr/>
            <a:lstStyle/>
            <a:p>
              <a:endParaRPr lang="en-US"/>
            </a:p>
          </p:txBody>
        </p:sp>
      </p:grpSp>
      <p:grpSp>
        <p:nvGrpSpPr>
          <p:cNvPr id="16" name="Group 786"/>
          <p:cNvGrpSpPr>
            <a:grpSpLocks/>
          </p:cNvGrpSpPr>
          <p:nvPr/>
        </p:nvGrpSpPr>
        <p:grpSpPr bwMode="auto">
          <a:xfrm>
            <a:off x="3103563" y="4940300"/>
            <a:ext cx="750887" cy="223838"/>
            <a:chOff x="1955" y="3112"/>
            <a:chExt cx="473" cy="141"/>
          </a:xfrm>
        </p:grpSpPr>
        <p:sp>
          <p:nvSpPr>
            <p:cNvPr id="327443" name="Line 787"/>
            <p:cNvSpPr>
              <a:spLocks noChangeShapeType="1"/>
            </p:cNvSpPr>
            <p:nvPr/>
          </p:nvSpPr>
          <p:spPr bwMode="auto">
            <a:xfrm flipH="1">
              <a:off x="2021" y="3112"/>
              <a:ext cx="407" cy="108"/>
            </a:xfrm>
            <a:prstGeom prst="line">
              <a:avLst/>
            </a:prstGeom>
            <a:noFill/>
            <a:ln w="11113">
              <a:solidFill>
                <a:srgbClr val="000000"/>
              </a:solidFill>
              <a:round/>
              <a:headEnd/>
              <a:tailEnd/>
            </a:ln>
          </p:spPr>
          <p:txBody>
            <a:bodyPr/>
            <a:lstStyle/>
            <a:p>
              <a:endParaRPr lang="en-US"/>
            </a:p>
          </p:txBody>
        </p:sp>
        <p:sp>
          <p:nvSpPr>
            <p:cNvPr id="327444" name="Freeform 788"/>
            <p:cNvSpPr>
              <a:spLocks/>
            </p:cNvSpPr>
            <p:nvPr/>
          </p:nvSpPr>
          <p:spPr bwMode="auto">
            <a:xfrm>
              <a:off x="1955" y="3187"/>
              <a:ext cx="81" cy="66"/>
            </a:xfrm>
            <a:custGeom>
              <a:avLst/>
              <a:gdLst/>
              <a:ahLst/>
              <a:cxnLst>
                <a:cxn ang="0">
                  <a:pos x="59" y="0"/>
                </a:cxn>
                <a:cxn ang="0">
                  <a:pos x="0" y="52"/>
                </a:cxn>
                <a:cxn ang="0">
                  <a:pos x="81" y="66"/>
                </a:cxn>
                <a:cxn ang="0">
                  <a:pos x="59" y="0"/>
                </a:cxn>
              </a:cxnLst>
              <a:rect l="0" t="0" r="r" b="b"/>
              <a:pathLst>
                <a:path w="81" h="66">
                  <a:moveTo>
                    <a:pt x="59" y="0"/>
                  </a:moveTo>
                  <a:lnTo>
                    <a:pt x="0" y="52"/>
                  </a:lnTo>
                  <a:lnTo>
                    <a:pt x="81" y="66"/>
                  </a:lnTo>
                  <a:lnTo>
                    <a:pt x="59" y="0"/>
                  </a:lnTo>
                  <a:close/>
                </a:path>
              </a:pathLst>
            </a:custGeom>
            <a:solidFill>
              <a:srgbClr val="000000"/>
            </a:solidFill>
            <a:ln w="9525">
              <a:noFill/>
              <a:round/>
              <a:headEnd/>
              <a:tailEnd/>
            </a:ln>
          </p:spPr>
          <p:txBody>
            <a:bodyPr/>
            <a:lstStyle/>
            <a:p>
              <a:endParaRPr lang="en-US"/>
            </a:p>
          </p:txBody>
        </p:sp>
      </p:grpSp>
      <p:sp>
        <p:nvSpPr>
          <p:cNvPr id="327445" name="Line 789"/>
          <p:cNvSpPr>
            <a:spLocks noChangeShapeType="1"/>
          </p:cNvSpPr>
          <p:nvPr/>
        </p:nvSpPr>
        <p:spPr bwMode="auto">
          <a:xfrm>
            <a:off x="2079625" y="5867400"/>
            <a:ext cx="1773238" cy="0"/>
          </a:xfrm>
          <a:prstGeom prst="line">
            <a:avLst/>
          </a:prstGeom>
          <a:noFill/>
          <a:ln w="9525">
            <a:solidFill>
              <a:srgbClr val="000000"/>
            </a:solidFill>
            <a:round/>
            <a:headEnd/>
            <a:tailEnd type="triangle" w="med" len="med"/>
          </a:ln>
        </p:spPr>
        <p:txBody>
          <a:bodyPr/>
          <a:lstStyle/>
          <a:p>
            <a:endParaRPr lang="en-US"/>
          </a:p>
        </p:txBody>
      </p:sp>
      <p:sp>
        <p:nvSpPr>
          <p:cNvPr id="327446" name="Text Box 790"/>
          <p:cNvSpPr txBox="1">
            <a:spLocks noChangeArrowheads="1"/>
          </p:cNvSpPr>
          <p:nvPr/>
        </p:nvSpPr>
        <p:spPr bwMode="auto">
          <a:xfrm>
            <a:off x="4125913" y="5737225"/>
            <a:ext cx="1392237" cy="282575"/>
          </a:xfrm>
          <a:prstGeom prst="rect">
            <a:avLst/>
          </a:prstGeom>
          <a:noFill/>
          <a:ln w="9525">
            <a:noFill/>
            <a:miter lim="800000"/>
            <a:headEnd/>
            <a:tailEnd/>
          </a:ln>
        </p:spPr>
        <p:txBody>
          <a:bodyPr/>
          <a:lstStyle/>
          <a:p>
            <a:pPr eaLnBrk="0" hangingPunct="0"/>
            <a:r>
              <a:rPr lang="en-US" sz="1200" b="0" i="0">
                <a:effectLst/>
              </a:rPr>
              <a:t>= Causal flows.</a:t>
            </a:r>
          </a:p>
        </p:txBody>
      </p:sp>
      <p:grpSp>
        <p:nvGrpSpPr>
          <p:cNvPr id="17" name="Group 791"/>
          <p:cNvGrpSpPr>
            <a:grpSpLocks/>
          </p:cNvGrpSpPr>
          <p:nvPr/>
        </p:nvGrpSpPr>
        <p:grpSpPr bwMode="auto">
          <a:xfrm>
            <a:off x="2057400" y="6172200"/>
            <a:ext cx="4516438" cy="293688"/>
            <a:chOff x="1296" y="4135"/>
            <a:chExt cx="2845" cy="185"/>
          </a:xfrm>
        </p:grpSpPr>
        <p:sp>
          <p:nvSpPr>
            <p:cNvPr id="327448" name="Line 792"/>
            <p:cNvSpPr>
              <a:spLocks noChangeShapeType="1"/>
            </p:cNvSpPr>
            <p:nvPr/>
          </p:nvSpPr>
          <p:spPr bwMode="auto">
            <a:xfrm>
              <a:off x="1296" y="4196"/>
              <a:ext cx="1111" cy="0"/>
            </a:xfrm>
            <a:prstGeom prst="line">
              <a:avLst/>
            </a:prstGeom>
            <a:noFill/>
            <a:ln w="9525">
              <a:solidFill>
                <a:srgbClr val="000000"/>
              </a:solidFill>
              <a:prstDash val="sysDot"/>
              <a:round/>
              <a:headEnd/>
              <a:tailEnd type="triangle" w="med" len="med"/>
            </a:ln>
          </p:spPr>
          <p:txBody>
            <a:bodyPr/>
            <a:lstStyle/>
            <a:p>
              <a:endParaRPr lang="en-US"/>
            </a:p>
          </p:txBody>
        </p:sp>
        <p:sp>
          <p:nvSpPr>
            <p:cNvPr id="327449" name="Text Box 793"/>
            <p:cNvSpPr txBox="1">
              <a:spLocks noChangeArrowheads="1"/>
            </p:cNvSpPr>
            <p:nvPr/>
          </p:nvSpPr>
          <p:spPr bwMode="auto">
            <a:xfrm>
              <a:off x="2626" y="4135"/>
              <a:ext cx="1515" cy="185"/>
            </a:xfrm>
            <a:prstGeom prst="rect">
              <a:avLst/>
            </a:prstGeom>
            <a:noFill/>
            <a:ln w="9525">
              <a:noFill/>
              <a:miter lim="800000"/>
              <a:headEnd/>
              <a:tailEnd/>
            </a:ln>
          </p:spPr>
          <p:txBody>
            <a:bodyPr/>
            <a:lstStyle/>
            <a:p>
              <a:pPr eaLnBrk="0" hangingPunct="0"/>
              <a:r>
                <a:rPr lang="en-US" sz="1200" b="0" i="0">
                  <a:effectLst/>
                </a:rPr>
                <a:t>= Information gathering &amp; use.</a:t>
              </a:r>
            </a:p>
          </p:txBody>
        </p:sp>
      </p:grpSp>
      <p:sp>
        <p:nvSpPr>
          <p:cNvPr id="797" name="Footer Placeholder 2"/>
          <p:cNvSpPr txBox="1">
            <a:spLocks/>
          </p:cNvSpPr>
          <p:nvPr/>
        </p:nvSpPr>
        <p:spPr bwMode="auto">
          <a:xfrm>
            <a:off x="457200" y="6537326"/>
            <a:ext cx="6035040" cy="32067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1" u="none" strike="noStrike" kern="1200" cap="none" spc="0" normalizeH="0" baseline="0" noProof="0" dirty="0">
                <a:ln>
                  <a:noFill/>
                </a:ln>
                <a:solidFill>
                  <a:schemeClr val="tx2"/>
                </a:solidFill>
                <a:effectLst/>
                <a:uLnTx/>
                <a:uFillTx/>
                <a:latin typeface="Arial" charset="0"/>
                <a:ea typeface="+mn-ea"/>
                <a:cs typeface="+mn-cs"/>
              </a:rPr>
              <a:t>Copyright © 2007 Thomson/South-Western, </a:t>
            </a:r>
            <a:r>
              <a:rPr kumimoji="0" lang="en-US" sz="1100" b="0" i="1" u="none" strike="noStrike" kern="1200" cap="none" spc="0" normalizeH="0" baseline="0" noProof="0" dirty="0" err="1">
                <a:ln>
                  <a:noFill/>
                </a:ln>
                <a:solidFill>
                  <a:schemeClr val="tx2"/>
                </a:solidFill>
                <a:effectLst/>
                <a:uLnTx/>
                <a:uFillTx/>
                <a:latin typeface="Arial" charset="0"/>
                <a:ea typeface="+mn-ea"/>
                <a:cs typeface="+mn-cs"/>
              </a:rPr>
              <a:t>Geltner</a:t>
            </a:r>
            <a:r>
              <a:rPr kumimoji="0" lang="en-US" sz="1100" b="0" i="1" u="none" strike="noStrike" kern="1200" cap="none" spc="0" normalizeH="0" baseline="0" noProof="0" dirty="0">
                <a:ln>
                  <a:noFill/>
                </a:ln>
                <a:solidFill>
                  <a:schemeClr val="tx2"/>
                </a:solidFill>
                <a:effectLst/>
                <a:uLnTx/>
                <a:uFillTx/>
                <a:latin typeface="Arial" charset="0"/>
                <a:ea typeface="+mn-ea"/>
                <a:cs typeface="+mn-cs"/>
              </a:rPr>
              <a:t>/Miller/Clayton/</a:t>
            </a:r>
            <a:r>
              <a:rPr kumimoji="0" lang="en-US" sz="1100" b="0" i="1" u="none" strike="noStrike" kern="1200" cap="none" spc="0" normalizeH="0" baseline="0" noProof="0" dirty="0" err="1">
                <a:ln>
                  <a:noFill/>
                </a:ln>
                <a:solidFill>
                  <a:schemeClr val="tx2"/>
                </a:solidFill>
                <a:effectLst/>
                <a:uLnTx/>
                <a:uFillTx/>
                <a:latin typeface="Arial" charset="0"/>
                <a:ea typeface="+mn-ea"/>
                <a:cs typeface="+mn-cs"/>
              </a:rPr>
              <a:t>Eichholtz</a:t>
            </a:r>
            <a:r>
              <a:rPr kumimoji="0" lang="en-US" sz="1100" b="0" i="1" u="none" strike="noStrike" kern="1200" cap="none" spc="0" normalizeH="0" baseline="0" noProof="0" dirty="0">
                <a:ln>
                  <a:noFill/>
                </a:ln>
                <a:solidFill>
                  <a:schemeClr val="tx2"/>
                </a:solidFill>
                <a:effectLst/>
                <a:uLnTx/>
                <a:uFillTx/>
                <a:latin typeface="Arial" charset="0"/>
                <a:ea typeface="+mn-ea"/>
                <a:cs typeface="+mn-cs"/>
              </a:rPr>
              <a:t>, 2e</a:t>
            </a:r>
          </a:p>
        </p:txBody>
      </p:sp>
    </p:spTree>
    <p:extLst>
      <p:ext uri="{BB962C8B-B14F-4D97-AF65-F5344CB8AC3E}">
        <p14:creationId xmlns:p14="http://schemas.microsoft.com/office/powerpoint/2010/main" val="3430348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Development is an</a:t>
            </a:r>
            <a:br>
              <a:rPr lang="en-US" dirty="0"/>
            </a:br>
            <a:r>
              <a:rPr lang="en-US" dirty="0"/>
              <a:t>Iterative Process</a:t>
            </a:r>
          </a:p>
        </p:txBody>
      </p:sp>
      <p:sp>
        <p:nvSpPr>
          <p:cNvPr id="3" name="Content Placeholder 2"/>
          <p:cNvSpPr>
            <a:spLocks noGrp="1"/>
          </p:cNvSpPr>
          <p:nvPr>
            <p:ph idx="1"/>
          </p:nvPr>
        </p:nvSpPr>
        <p:spPr>
          <a:xfrm>
            <a:off x="457200" y="1752600"/>
            <a:ext cx="7848600" cy="1249363"/>
          </a:xfrm>
        </p:spPr>
        <p:txBody>
          <a:bodyPr/>
          <a:lstStyle/>
          <a:p>
            <a:r>
              <a:rPr lang="en-US" sz="2400" dirty="0"/>
              <a:t>A Repetitive process of Market Analysis, Design, Political Approval and Finance</a:t>
            </a:r>
          </a:p>
        </p:txBody>
      </p:sp>
      <p:sp>
        <p:nvSpPr>
          <p:cNvPr id="4" name="Slide Number Placeholder 3"/>
          <p:cNvSpPr>
            <a:spLocks noGrp="1"/>
          </p:cNvSpPr>
          <p:nvPr>
            <p:ph type="sldNum" sz="quarter" idx="10"/>
          </p:nvPr>
        </p:nvSpPr>
        <p:spPr/>
        <p:txBody>
          <a:bodyPr/>
          <a:lstStyle/>
          <a:p>
            <a:fld id="{C674EDA7-B996-475E-B155-5CBB23D664FF}" type="slidenum">
              <a:rPr lang="en-US" smtClean="0"/>
              <a:pPr/>
              <a:t>6</a:t>
            </a:fld>
            <a:endParaRPr lang="en-US" dirty="0"/>
          </a:p>
        </p:txBody>
      </p:sp>
      <p:sp>
        <p:nvSpPr>
          <p:cNvPr id="5" name="Footer Placeholder 4"/>
          <p:cNvSpPr>
            <a:spLocks noGrp="1"/>
          </p:cNvSpPr>
          <p:nvPr>
            <p:ph type="ftr" sz="quarter" idx="11"/>
          </p:nvPr>
        </p:nvSpPr>
        <p:spPr/>
        <p:txBody>
          <a:bodyPr/>
          <a:lstStyle/>
          <a:p>
            <a:r>
              <a:rPr lang="en-US" dirty="0"/>
              <a:t>©Joe Walsh, - Do not distribute without explicit permission.</a:t>
            </a:r>
          </a:p>
        </p:txBody>
      </p:sp>
      <p:grpSp>
        <p:nvGrpSpPr>
          <p:cNvPr id="6" name="Group 2"/>
          <p:cNvGrpSpPr>
            <a:grpSpLocks/>
          </p:cNvGrpSpPr>
          <p:nvPr/>
        </p:nvGrpSpPr>
        <p:grpSpPr bwMode="auto">
          <a:xfrm>
            <a:off x="762000" y="2667000"/>
            <a:ext cx="6781800" cy="3810000"/>
            <a:chOff x="192" y="1056"/>
            <a:chExt cx="5424" cy="2986"/>
          </a:xfrm>
        </p:grpSpPr>
        <p:sp>
          <p:nvSpPr>
            <p:cNvPr id="7" name="Text Box 3"/>
            <p:cNvSpPr txBox="1">
              <a:spLocks noChangeArrowheads="1"/>
            </p:cNvSpPr>
            <p:nvPr/>
          </p:nvSpPr>
          <p:spPr bwMode="auto">
            <a:xfrm>
              <a:off x="288" y="1056"/>
              <a:ext cx="5328" cy="250"/>
            </a:xfrm>
            <a:prstGeom prst="rect">
              <a:avLst/>
            </a:prstGeom>
            <a:noFill/>
            <a:ln w="9525">
              <a:noFill/>
              <a:miter lim="800000"/>
              <a:headEnd/>
              <a:tailEnd/>
            </a:ln>
            <a:effectLst/>
          </p:spPr>
          <p:txBody>
            <a:bodyPr>
              <a:spAutoFit/>
            </a:bodyPr>
            <a:lstStyle/>
            <a:p>
              <a:pPr>
                <a:spcBef>
                  <a:spcPct val="50000"/>
                </a:spcBef>
              </a:pPr>
              <a:r>
                <a:rPr lang="en-US" i="0" dirty="0">
                  <a:effectLst>
                    <a:outerShdw blurRad="38100" dist="38100" dir="2700000" algn="tl">
                      <a:srgbClr val="FFFFFF"/>
                    </a:outerShdw>
                  </a:effectLst>
                </a:rPr>
                <a:t>Development is a multi-disciplinary, iterative process </a:t>
              </a:r>
            </a:p>
          </p:txBody>
        </p:sp>
        <p:grpSp>
          <p:nvGrpSpPr>
            <p:cNvPr id="8" name="Group 4"/>
            <p:cNvGrpSpPr>
              <a:grpSpLocks/>
            </p:cNvGrpSpPr>
            <p:nvPr/>
          </p:nvGrpSpPr>
          <p:grpSpPr bwMode="auto">
            <a:xfrm>
              <a:off x="192" y="1296"/>
              <a:ext cx="5376" cy="2746"/>
              <a:chOff x="192" y="1296"/>
              <a:chExt cx="5376" cy="2746"/>
            </a:xfrm>
          </p:grpSpPr>
          <p:pic>
            <p:nvPicPr>
              <p:cNvPr id="9" name="Picture 5" descr="ex29-1"/>
              <p:cNvPicPr>
                <a:picLocks noChangeAspect="1" noChangeArrowheads="1"/>
              </p:cNvPicPr>
              <p:nvPr/>
            </p:nvPicPr>
            <p:blipFill>
              <a:blip r:embed="rId2" cstate="print"/>
              <a:srcRect/>
              <a:stretch>
                <a:fillRect/>
              </a:stretch>
            </p:blipFill>
            <p:spPr bwMode="auto">
              <a:xfrm>
                <a:off x="1680" y="1296"/>
                <a:ext cx="2428" cy="2496"/>
              </a:xfrm>
              <a:prstGeom prst="rect">
                <a:avLst/>
              </a:prstGeom>
              <a:solidFill>
                <a:srgbClr val="CCFFFF"/>
              </a:solidFill>
            </p:spPr>
          </p:pic>
          <p:sp>
            <p:nvSpPr>
              <p:cNvPr id="10" name="Text Box 6"/>
              <p:cNvSpPr txBox="1">
                <a:spLocks noChangeArrowheads="1"/>
              </p:cNvSpPr>
              <p:nvPr/>
            </p:nvSpPr>
            <p:spPr bwMode="auto">
              <a:xfrm>
                <a:off x="192" y="3792"/>
                <a:ext cx="5376" cy="250"/>
              </a:xfrm>
              <a:prstGeom prst="rect">
                <a:avLst/>
              </a:prstGeom>
              <a:noFill/>
              <a:ln w="9525">
                <a:noFill/>
                <a:miter lim="800000"/>
                <a:headEnd/>
                <a:tailEnd/>
              </a:ln>
              <a:effectLst/>
            </p:spPr>
            <p:txBody>
              <a:bodyPr>
                <a:spAutoFit/>
              </a:bodyPr>
              <a:lstStyle/>
              <a:p>
                <a:pPr algn="ctr">
                  <a:spcBef>
                    <a:spcPct val="50000"/>
                  </a:spcBef>
                </a:pPr>
                <a:r>
                  <a:rPr lang="en-US" i="0">
                    <a:effectLst>
                      <a:outerShdw blurRad="38100" dist="38100" dir="2700000" algn="tl">
                        <a:srgbClr val="FFFFFF"/>
                      </a:outerShdw>
                    </a:effectLst>
                  </a:rPr>
                  <a:t>The (famous) </a:t>
                </a:r>
                <a:r>
                  <a:rPr lang="en-US">
                    <a:effectLst>
                      <a:outerShdw blurRad="38100" dist="38100" dir="2700000" algn="tl">
                        <a:srgbClr val="FFFFFF"/>
                      </a:outerShdw>
                    </a:effectLst>
                  </a:rPr>
                  <a:t>Graaskampian Spiral</a:t>
                </a:r>
                <a:r>
                  <a:rPr lang="en-US" i="0">
                    <a:effectLst>
                      <a:outerShdw blurRad="38100" dist="38100" dir="2700000" algn="tl">
                        <a:srgbClr val="FFFFFF"/>
                      </a:outerShdw>
                    </a:effectLst>
                  </a:rPr>
                  <a:t>.</a:t>
                </a:r>
              </a:p>
            </p:txBody>
          </p:sp>
        </p:grpSp>
      </p:grpSp>
    </p:spTree>
    <p:extLst>
      <p:ext uri="{BB962C8B-B14F-4D97-AF65-F5344CB8AC3E}">
        <p14:creationId xmlns:p14="http://schemas.microsoft.com/office/powerpoint/2010/main" val="21623390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Graaskamp: 3 Types of RE Development Problems</a:t>
            </a:r>
          </a:p>
        </p:txBody>
      </p:sp>
      <p:sp>
        <p:nvSpPr>
          <p:cNvPr id="3" name="Content Placeholder 2"/>
          <p:cNvSpPr>
            <a:spLocks noGrp="1"/>
          </p:cNvSpPr>
          <p:nvPr>
            <p:ph idx="1"/>
          </p:nvPr>
        </p:nvSpPr>
        <p:spPr/>
        <p:txBody>
          <a:bodyPr/>
          <a:lstStyle/>
          <a:p>
            <a:pPr lvl="0">
              <a:defRPr/>
            </a:pPr>
            <a:r>
              <a:rPr lang="en-US" sz="2000" dirty="0"/>
              <a:t>Use in Search of a Site</a:t>
            </a:r>
          </a:p>
          <a:p>
            <a:pPr lvl="1">
              <a:defRPr/>
            </a:pPr>
            <a:r>
              <a:rPr lang="en-US" sz="2000" dirty="0"/>
              <a:t>Developer has a particular development specialization, or</a:t>
            </a:r>
          </a:p>
          <a:p>
            <a:pPr lvl="1">
              <a:defRPr/>
            </a:pPr>
            <a:r>
              <a:rPr lang="en-US" sz="2000" dirty="0"/>
              <a:t>Developer is working for a specific user.</a:t>
            </a:r>
          </a:p>
          <a:p>
            <a:r>
              <a:rPr lang="en-US" sz="2000" dirty="0"/>
              <a:t>Site in Search of a Use</a:t>
            </a:r>
          </a:p>
          <a:p>
            <a:pPr lvl="1"/>
            <a:r>
              <a:rPr lang="en-US" sz="2000" dirty="0"/>
              <a:t>Developer/Site Owner tries to determine &amp; build the “Highest and Best Use” (HBU), or</a:t>
            </a:r>
          </a:p>
          <a:p>
            <a:pPr lvl="2"/>
            <a:r>
              <a:rPr lang="en-US" sz="1600" dirty="0"/>
              <a:t>Highest and Best Use – The Physically Possible, Legally Permissible Use that results in the Highest Value</a:t>
            </a:r>
          </a:p>
          <a:p>
            <a:pPr lvl="1"/>
            <a:r>
              <a:rPr lang="en-US" sz="2000" dirty="0"/>
              <a:t>Public entity seeks developer to build a use determined through a political process (presumably also “HBU”).</a:t>
            </a:r>
          </a:p>
          <a:p>
            <a:pPr lvl="0">
              <a:defRPr/>
            </a:pPr>
            <a:r>
              <a:rPr lang="en-US" sz="2000" dirty="0"/>
              <a:t>Capital in Search of a Return</a:t>
            </a:r>
          </a:p>
          <a:p>
            <a:endParaRPr lang="en-US" sz="2000" dirty="0"/>
          </a:p>
        </p:txBody>
      </p:sp>
      <p:sp>
        <p:nvSpPr>
          <p:cNvPr id="4" name="Slide Number Placeholder 3"/>
          <p:cNvSpPr>
            <a:spLocks noGrp="1"/>
          </p:cNvSpPr>
          <p:nvPr>
            <p:ph type="sldNum" sz="quarter" idx="10"/>
          </p:nvPr>
        </p:nvSpPr>
        <p:spPr/>
        <p:txBody>
          <a:bodyPr/>
          <a:lstStyle/>
          <a:p>
            <a:fld id="{C674EDA7-B996-475E-B155-5CBB23D664FF}" type="slidenum">
              <a:rPr lang="en-US" smtClean="0"/>
              <a:pPr/>
              <a:t>7</a:t>
            </a:fld>
            <a:endParaRPr lang="en-US" dirty="0"/>
          </a:p>
        </p:txBody>
      </p:sp>
      <p:sp>
        <p:nvSpPr>
          <p:cNvPr id="5" name="Footer Placeholder 4"/>
          <p:cNvSpPr>
            <a:spLocks noGrp="1"/>
          </p:cNvSpPr>
          <p:nvPr>
            <p:ph type="ftr" sz="quarter" idx="11"/>
          </p:nvPr>
        </p:nvSpPr>
        <p:spPr/>
        <p:txBody>
          <a:bodyPr/>
          <a:lstStyle/>
          <a:p>
            <a:r>
              <a:rPr lang="en-US" dirty="0"/>
              <a:t>©Joe Walsh, - Do not distribute without explicit permission.</a:t>
            </a:r>
          </a:p>
        </p:txBody>
      </p:sp>
    </p:spTree>
    <p:extLst>
      <p:ext uri="{BB962C8B-B14F-4D97-AF65-F5344CB8AC3E}">
        <p14:creationId xmlns:p14="http://schemas.microsoft.com/office/powerpoint/2010/main" val="157105692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Slide Number Placeholder 3"/>
          <p:cNvSpPr>
            <a:spLocks noGrp="1"/>
          </p:cNvSpPr>
          <p:nvPr>
            <p:ph type="sldNum" sz="quarter" idx="4294967295"/>
          </p:nvPr>
        </p:nvSpPr>
        <p:spPr>
          <a:xfrm>
            <a:off x="6553200" y="6245225"/>
            <a:ext cx="2133600" cy="476250"/>
          </a:xfrm>
          <a:prstGeom prst="rect">
            <a:avLst/>
          </a:prstGeom>
        </p:spPr>
        <p:txBody>
          <a:bodyPr/>
          <a:lstStyle/>
          <a:p>
            <a:fld id="{EEE82B2A-75D0-4B9B-B8F7-A5AA0E9F283C}" type="slidenum">
              <a:rPr lang="en-US"/>
              <a:pPr/>
              <a:t>8</a:t>
            </a:fld>
            <a:endParaRPr lang="en-US"/>
          </a:p>
        </p:txBody>
      </p:sp>
      <p:sp>
        <p:nvSpPr>
          <p:cNvPr id="331778" name="AutoShape 2"/>
          <p:cNvSpPr>
            <a:spLocks noChangeAspect="1" noChangeArrowheads="1"/>
          </p:cNvSpPr>
          <p:nvPr/>
        </p:nvSpPr>
        <p:spPr bwMode="auto">
          <a:xfrm>
            <a:off x="609600" y="304800"/>
            <a:ext cx="8123238" cy="5991225"/>
          </a:xfrm>
          <a:prstGeom prst="rect">
            <a:avLst/>
          </a:prstGeom>
          <a:noFill/>
          <a:ln w="9525">
            <a:noFill/>
            <a:miter lim="800000"/>
            <a:headEnd/>
            <a:tailEnd/>
          </a:ln>
        </p:spPr>
        <p:txBody>
          <a:bodyPr/>
          <a:lstStyle/>
          <a:p>
            <a:endParaRPr lang="en-US"/>
          </a:p>
        </p:txBody>
      </p:sp>
      <p:sp>
        <p:nvSpPr>
          <p:cNvPr id="331779" name="Line 3"/>
          <p:cNvSpPr>
            <a:spLocks noChangeShapeType="1"/>
          </p:cNvSpPr>
          <p:nvPr/>
        </p:nvSpPr>
        <p:spPr bwMode="auto">
          <a:xfrm>
            <a:off x="944563" y="687388"/>
            <a:ext cx="0" cy="4367212"/>
          </a:xfrm>
          <a:prstGeom prst="line">
            <a:avLst/>
          </a:prstGeom>
          <a:noFill/>
          <a:ln w="9525">
            <a:solidFill>
              <a:srgbClr val="000000"/>
            </a:solidFill>
            <a:round/>
            <a:headEnd/>
            <a:tailEnd/>
          </a:ln>
        </p:spPr>
        <p:txBody>
          <a:bodyPr/>
          <a:lstStyle/>
          <a:p>
            <a:endParaRPr lang="en-US"/>
          </a:p>
        </p:txBody>
      </p:sp>
      <p:sp>
        <p:nvSpPr>
          <p:cNvPr id="331780" name="Line 4"/>
          <p:cNvSpPr>
            <a:spLocks noChangeShapeType="1"/>
          </p:cNvSpPr>
          <p:nvPr/>
        </p:nvSpPr>
        <p:spPr bwMode="auto">
          <a:xfrm flipV="1">
            <a:off x="944563" y="4749800"/>
            <a:ext cx="1928812" cy="304800"/>
          </a:xfrm>
          <a:prstGeom prst="line">
            <a:avLst/>
          </a:prstGeom>
          <a:noFill/>
          <a:ln w="38100">
            <a:solidFill>
              <a:srgbClr val="000000"/>
            </a:solidFill>
            <a:round/>
            <a:headEnd/>
            <a:tailEnd/>
          </a:ln>
        </p:spPr>
        <p:txBody>
          <a:bodyPr/>
          <a:lstStyle/>
          <a:p>
            <a:endParaRPr lang="en-US"/>
          </a:p>
        </p:txBody>
      </p:sp>
      <p:sp>
        <p:nvSpPr>
          <p:cNvPr id="331781" name="Line 5"/>
          <p:cNvSpPr>
            <a:spLocks noChangeShapeType="1"/>
          </p:cNvSpPr>
          <p:nvPr/>
        </p:nvSpPr>
        <p:spPr bwMode="auto">
          <a:xfrm flipV="1">
            <a:off x="2873375" y="3835400"/>
            <a:ext cx="0" cy="914400"/>
          </a:xfrm>
          <a:prstGeom prst="line">
            <a:avLst/>
          </a:prstGeom>
          <a:noFill/>
          <a:ln w="38100">
            <a:solidFill>
              <a:srgbClr val="000000"/>
            </a:solidFill>
            <a:round/>
            <a:headEnd/>
            <a:tailEnd/>
          </a:ln>
        </p:spPr>
        <p:txBody>
          <a:bodyPr/>
          <a:lstStyle/>
          <a:p>
            <a:endParaRPr lang="en-US"/>
          </a:p>
        </p:txBody>
      </p:sp>
      <p:sp>
        <p:nvSpPr>
          <p:cNvPr id="331782" name="Line 6"/>
          <p:cNvSpPr>
            <a:spLocks noChangeShapeType="1"/>
          </p:cNvSpPr>
          <p:nvPr/>
        </p:nvSpPr>
        <p:spPr bwMode="auto">
          <a:xfrm flipV="1">
            <a:off x="2873375" y="1093788"/>
            <a:ext cx="1828800" cy="2741612"/>
          </a:xfrm>
          <a:prstGeom prst="line">
            <a:avLst/>
          </a:prstGeom>
          <a:noFill/>
          <a:ln w="38100">
            <a:solidFill>
              <a:srgbClr val="000000"/>
            </a:solidFill>
            <a:round/>
            <a:headEnd/>
            <a:tailEnd/>
          </a:ln>
        </p:spPr>
        <p:txBody>
          <a:bodyPr/>
          <a:lstStyle/>
          <a:p>
            <a:endParaRPr lang="en-US"/>
          </a:p>
        </p:txBody>
      </p:sp>
      <p:sp>
        <p:nvSpPr>
          <p:cNvPr id="331783" name="Line 7"/>
          <p:cNvSpPr>
            <a:spLocks noChangeShapeType="1"/>
          </p:cNvSpPr>
          <p:nvPr/>
        </p:nvSpPr>
        <p:spPr bwMode="auto">
          <a:xfrm flipV="1">
            <a:off x="4702175" y="687388"/>
            <a:ext cx="1420813" cy="406400"/>
          </a:xfrm>
          <a:prstGeom prst="line">
            <a:avLst/>
          </a:prstGeom>
          <a:noFill/>
          <a:ln w="38100">
            <a:solidFill>
              <a:srgbClr val="000000"/>
            </a:solidFill>
            <a:round/>
            <a:headEnd/>
            <a:tailEnd/>
          </a:ln>
        </p:spPr>
        <p:txBody>
          <a:bodyPr/>
          <a:lstStyle/>
          <a:p>
            <a:endParaRPr lang="en-US"/>
          </a:p>
        </p:txBody>
      </p:sp>
      <p:sp>
        <p:nvSpPr>
          <p:cNvPr id="331784" name="Line 8"/>
          <p:cNvSpPr>
            <a:spLocks noChangeShapeType="1"/>
          </p:cNvSpPr>
          <p:nvPr/>
        </p:nvSpPr>
        <p:spPr bwMode="auto">
          <a:xfrm>
            <a:off x="6122988" y="687388"/>
            <a:ext cx="914400" cy="0"/>
          </a:xfrm>
          <a:prstGeom prst="line">
            <a:avLst/>
          </a:prstGeom>
          <a:noFill/>
          <a:ln w="38100">
            <a:solidFill>
              <a:srgbClr val="000000"/>
            </a:solidFill>
            <a:round/>
            <a:headEnd/>
            <a:tailEnd/>
          </a:ln>
        </p:spPr>
        <p:txBody>
          <a:bodyPr/>
          <a:lstStyle/>
          <a:p>
            <a:endParaRPr lang="en-US"/>
          </a:p>
        </p:txBody>
      </p:sp>
      <p:sp>
        <p:nvSpPr>
          <p:cNvPr id="331785" name="Text Box 9"/>
          <p:cNvSpPr txBox="1">
            <a:spLocks noChangeArrowheads="1"/>
          </p:cNvSpPr>
          <p:nvPr/>
        </p:nvSpPr>
        <p:spPr bwMode="auto">
          <a:xfrm>
            <a:off x="1046163" y="5156200"/>
            <a:ext cx="1725612" cy="304800"/>
          </a:xfrm>
          <a:prstGeom prst="rect">
            <a:avLst/>
          </a:prstGeom>
          <a:solidFill>
            <a:srgbClr val="FFFFFF"/>
          </a:solidFill>
          <a:ln w="9525">
            <a:noFill/>
            <a:miter lim="800000"/>
            <a:headEnd/>
            <a:tailEnd/>
          </a:ln>
        </p:spPr>
        <p:txBody>
          <a:bodyPr/>
          <a:lstStyle/>
          <a:p>
            <a:pPr algn="ctr"/>
            <a:r>
              <a:rPr lang="en-US" sz="800" b="0" i="0">
                <a:effectLst/>
                <a:latin typeface="Arial" charset="0"/>
              </a:rPr>
              <a:t>LAND OPTIONING &amp; ASSEMBLY, PERMITTING, &amp; DEVLPT DESIGN</a:t>
            </a:r>
            <a:endParaRPr lang="en-US" sz="1800" b="0" i="0">
              <a:effectLst/>
              <a:latin typeface="Arial" charset="0"/>
            </a:endParaRPr>
          </a:p>
        </p:txBody>
      </p:sp>
      <p:sp>
        <p:nvSpPr>
          <p:cNvPr id="331786" name="Text Box 10"/>
          <p:cNvSpPr txBox="1">
            <a:spLocks noChangeArrowheads="1"/>
          </p:cNvSpPr>
          <p:nvPr/>
        </p:nvSpPr>
        <p:spPr bwMode="auto">
          <a:xfrm>
            <a:off x="2974975" y="5156200"/>
            <a:ext cx="1625600" cy="203200"/>
          </a:xfrm>
          <a:prstGeom prst="rect">
            <a:avLst/>
          </a:prstGeom>
          <a:solidFill>
            <a:srgbClr val="FFFFFF"/>
          </a:solidFill>
          <a:ln w="9525">
            <a:noFill/>
            <a:miter lim="800000"/>
            <a:headEnd/>
            <a:tailEnd/>
          </a:ln>
        </p:spPr>
        <p:txBody>
          <a:bodyPr/>
          <a:lstStyle/>
          <a:p>
            <a:pPr algn="ctr"/>
            <a:r>
              <a:rPr lang="en-US" sz="800" b="0" i="0">
                <a:effectLst/>
                <a:latin typeface="Arial" charset="0"/>
                <a:sym typeface="Wingdings" pitchFamily="2" charset="2"/>
              </a:rPr>
              <a:t></a:t>
            </a:r>
            <a:r>
              <a:rPr lang="en-US" sz="800" b="0" i="0">
                <a:effectLst/>
                <a:latin typeface="Arial" charset="0"/>
              </a:rPr>
              <a:t> CONSTRUCTION </a:t>
            </a:r>
            <a:r>
              <a:rPr lang="en-US" sz="800" b="0" i="0">
                <a:effectLst/>
                <a:latin typeface="Arial" charset="0"/>
                <a:sym typeface="Wingdings" pitchFamily="2" charset="2"/>
              </a:rPr>
              <a:t></a:t>
            </a:r>
            <a:endParaRPr lang="en-US" sz="1800" b="0" i="0">
              <a:effectLst/>
              <a:latin typeface="Arial" charset="0"/>
            </a:endParaRPr>
          </a:p>
        </p:txBody>
      </p:sp>
      <p:sp>
        <p:nvSpPr>
          <p:cNvPr id="331787" name="Text Box 11"/>
          <p:cNvSpPr txBox="1">
            <a:spLocks noChangeArrowheads="1"/>
          </p:cNvSpPr>
          <p:nvPr/>
        </p:nvSpPr>
        <p:spPr bwMode="auto">
          <a:xfrm>
            <a:off x="2568575" y="5562600"/>
            <a:ext cx="860425" cy="504825"/>
          </a:xfrm>
          <a:prstGeom prst="rect">
            <a:avLst/>
          </a:prstGeom>
          <a:solidFill>
            <a:srgbClr val="FFFFFF"/>
          </a:solidFill>
          <a:ln w="9525">
            <a:solidFill>
              <a:srgbClr val="000000"/>
            </a:solidFill>
            <a:miter lim="800000"/>
            <a:headEnd/>
            <a:tailEnd/>
          </a:ln>
        </p:spPr>
        <p:txBody>
          <a:bodyPr/>
          <a:lstStyle/>
          <a:p>
            <a:pPr algn="ctr"/>
            <a:r>
              <a:rPr lang="en-US" sz="800" b="0" i="0">
                <a:effectLst/>
                <a:latin typeface="Arial" charset="0"/>
              </a:rPr>
              <a:t>LAND</a:t>
            </a:r>
          </a:p>
          <a:p>
            <a:pPr algn="ctr"/>
            <a:r>
              <a:rPr lang="en-US" sz="800" b="0" i="0">
                <a:effectLst/>
                <a:latin typeface="Arial" charset="0"/>
              </a:rPr>
              <a:t>PURCHASE</a:t>
            </a:r>
          </a:p>
          <a:p>
            <a:pPr algn="ctr"/>
            <a:r>
              <a:rPr lang="en-US" sz="900">
                <a:effectLst/>
                <a:latin typeface="Arial" charset="0"/>
              </a:rPr>
              <a:t>“Time 0”</a:t>
            </a:r>
            <a:endParaRPr lang="en-US" sz="1800" b="0" i="0">
              <a:effectLst/>
              <a:latin typeface="Arial" charset="0"/>
            </a:endParaRPr>
          </a:p>
        </p:txBody>
      </p:sp>
      <p:sp>
        <p:nvSpPr>
          <p:cNvPr id="331788" name="Line 12"/>
          <p:cNvSpPr>
            <a:spLocks noChangeShapeType="1"/>
          </p:cNvSpPr>
          <p:nvPr/>
        </p:nvSpPr>
        <p:spPr bwMode="auto">
          <a:xfrm flipV="1">
            <a:off x="2873375" y="5054600"/>
            <a:ext cx="0" cy="508000"/>
          </a:xfrm>
          <a:prstGeom prst="line">
            <a:avLst/>
          </a:prstGeom>
          <a:noFill/>
          <a:ln w="9525">
            <a:solidFill>
              <a:srgbClr val="000000"/>
            </a:solidFill>
            <a:round/>
            <a:headEnd/>
            <a:tailEnd type="triangle" w="med" len="med"/>
          </a:ln>
        </p:spPr>
        <p:txBody>
          <a:bodyPr/>
          <a:lstStyle/>
          <a:p>
            <a:endParaRPr lang="en-US"/>
          </a:p>
        </p:txBody>
      </p:sp>
      <p:sp>
        <p:nvSpPr>
          <p:cNvPr id="331789" name="Text Box 13"/>
          <p:cNvSpPr txBox="1">
            <a:spLocks noChangeArrowheads="1"/>
          </p:cNvSpPr>
          <p:nvPr/>
        </p:nvSpPr>
        <p:spPr bwMode="auto">
          <a:xfrm>
            <a:off x="4038600" y="5562600"/>
            <a:ext cx="1068388" cy="504825"/>
          </a:xfrm>
          <a:prstGeom prst="rect">
            <a:avLst/>
          </a:prstGeom>
          <a:solidFill>
            <a:srgbClr val="FFFFFF"/>
          </a:solidFill>
          <a:ln w="9525">
            <a:solidFill>
              <a:srgbClr val="000000"/>
            </a:solidFill>
            <a:miter lim="800000"/>
            <a:headEnd/>
            <a:tailEnd/>
          </a:ln>
        </p:spPr>
        <p:txBody>
          <a:bodyPr/>
          <a:lstStyle/>
          <a:p>
            <a:pPr algn="ctr"/>
            <a:r>
              <a:rPr lang="en-US" sz="800" b="0" i="0">
                <a:effectLst/>
                <a:latin typeface="Arial" charset="0"/>
              </a:rPr>
              <a:t>SHELL COMPLETION</a:t>
            </a:r>
          </a:p>
          <a:p>
            <a:pPr algn="ctr"/>
            <a:r>
              <a:rPr lang="en-US" sz="900">
                <a:effectLst/>
                <a:latin typeface="Arial" charset="0"/>
              </a:rPr>
              <a:t>“Time T</a:t>
            </a:r>
            <a:r>
              <a:rPr lang="en-US" sz="900" baseline="-25000">
                <a:effectLst/>
                <a:latin typeface="Arial" charset="0"/>
              </a:rPr>
              <a:t>1</a:t>
            </a:r>
            <a:r>
              <a:rPr lang="en-US" sz="900">
                <a:effectLst/>
                <a:latin typeface="Arial" charset="0"/>
              </a:rPr>
              <a:t>”</a:t>
            </a:r>
          </a:p>
          <a:p>
            <a:pPr algn="ctr"/>
            <a:endParaRPr lang="en-US" sz="800" b="0" i="0">
              <a:effectLst/>
              <a:latin typeface="Arial" charset="0"/>
            </a:endParaRPr>
          </a:p>
          <a:p>
            <a:endParaRPr lang="en-US" sz="1800" b="0" i="0">
              <a:effectLst/>
              <a:latin typeface="Arial" charset="0"/>
            </a:endParaRPr>
          </a:p>
        </p:txBody>
      </p:sp>
      <p:sp>
        <p:nvSpPr>
          <p:cNvPr id="331790" name="Line 14"/>
          <p:cNvSpPr>
            <a:spLocks noChangeShapeType="1"/>
          </p:cNvSpPr>
          <p:nvPr/>
        </p:nvSpPr>
        <p:spPr bwMode="auto">
          <a:xfrm flipV="1">
            <a:off x="4702175" y="5054600"/>
            <a:ext cx="0" cy="508000"/>
          </a:xfrm>
          <a:prstGeom prst="line">
            <a:avLst/>
          </a:prstGeom>
          <a:noFill/>
          <a:ln w="9525">
            <a:solidFill>
              <a:srgbClr val="000000"/>
            </a:solidFill>
            <a:round/>
            <a:headEnd/>
            <a:tailEnd type="triangle" w="med" len="med"/>
          </a:ln>
        </p:spPr>
        <p:txBody>
          <a:bodyPr/>
          <a:lstStyle/>
          <a:p>
            <a:endParaRPr lang="en-US"/>
          </a:p>
        </p:txBody>
      </p:sp>
      <p:sp>
        <p:nvSpPr>
          <p:cNvPr id="331791" name="Text Box 15"/>
          <p:cNvSpPr txBox="1">
            <a:spLocks noChangeArrowheads="1"/>
          </p:cNvSpPr>
          <p:nvPr/>
        </p:nvSpPr>
        <p:spPr bwMode="auto">
          <a:xfrm>
            <a:off x="4802188" y="5156200"/>
            <a:ext cx="1219200" cy="304800"/>
          </a:xfrm>
          <a:prstGeom prst="rect">
            <a:avLst/>
          </a:prstGeom>
          <a:solidFill>
            <a:srgbClr val="FFFFFF"/>
          </a:solidFill>
          <a:ln w="9525">
            <a:noFill/>
            <a:miter lim="800000"/>
            <a:headEnd/>
            <a:tailEnd/>
          </a:ln>
        </p:spPr>
        <p:txBody>
          <a:bodyPr/>
          <a:lstStyle/>
          <a:p>
            <a:pPr algn="ctr"/>
            <a:r>
              <a:rPr lang="en-US" sz="800" b="0" i="0">
                <a:effectLst/>
                <a:latin typeface="Arial" charset="0"/>
              </a:rPr>
              <a:t>LEASE-UP &amp; TENANT FINISHES</a:t>
            </a:r>
            <a:endParaRPr lang="en-US" sz="1800" b="0" i="0">
              <a:effectLst/>
              <a:latin typeface="Arial" charset="0"/>
            </a:endParaRPr>
          </a:p>
        </p:txBody>
      </p:sp>
      <p:sp>
        <p:nvSpPr>
          <p:cNvPr id="331792" name="Line 16"/>
          <p:cNvSpPr>
            <a:spLocks noChangeShapeType="1"/>
          </p:cNvSpPr>
          <p:nvPr/>
        </p:nvSpPr>
        <p:spPr bwMode="auto">
          <a:xfrm>
            <a:off x="2873375" y="2921000"/>
            <a:ext cx="1588" cy="2133600"/>
          </a:xfrm>
          <a:prstGeom prst="line">
            <a:avLst/>
          </a:prstGeom>
          <a:noFill/>
          <a:ln w="9525" cap="rnd">
            <a:solidFill>
              <a:srgbClr val="000000"/>
            </a:solidFill>
            <a:prstDash val="sysDot"/>
            <a:round/>
            <a:headEnd/>
            <a:tailEnd/>
          </a:ln>
        </p:spPr>
        <p:txBody>
          <a:bodyPr/>
          <a:lstStyle/>
          <a:p>
            <a:endParaRPr lang="en-US"/>
          </a:p>
        </p:txBody>
      </p:sp>
      <p:sp>
        <p:nvSpPr>
          <p:cNvPr id="331793" name="Line 17"/>
          <p:cNvSpPr>
            <a:spLocks noChangeShapeType="1"/>
          </p:cNvSpPr>
          <p:nvPr/>
        </p:nvSpPr>
        <p:spPr bwMode="auto">
          <a:xfrm>
            <a:off x="4702175" y="4140200"/>
            <a:ext cx="0" cy="914400"/>
          </a:xfrm>
          <a:prstGeom prst="line">
            <a:avLst/>
          </a:prstGeom>
          <a:noFill/>
          <a:ln w="9525" cap="rnd">
            <a:solidFill>
              <a:srgbClr val="000000"/>
            </a:solidFill>
            <a:prstDash val="sysDot"/>
            <a:round/>
            <a:headEnd/>
            <a:tailEnd/>
          </a:ln>
        </p:spPr>
        <p:txBody>
          <a:bodyPr/>
          <a:lstStyle/>
          <a:p>
            <a:endParaRPr lang="en-US"/>
          </a:p>
        </p:txBody>
      </p:sp>
      <p:sp>
        <p:nvSpPr>
          <p:cNvPr id="331794" name="Line 18"/>
          <p:cNvSpPr>
            <a:spLocks noChangeShapeType="1"/>
          </p:cNvSpPr>
          <p:nvPr/>
        </p:nvSpPr>
        <p:spPr bwMode="auto">
          <a:xfrm>
            <a:off x="6122988" y="4445000"/>
            <a:ext cx="1587" cy="609600"/>
          </a:xfrm>
          <a:prstGeom prst="line">
            <a:avLst/>
          </a:prstGeom>
          <a:noFill/>
          <a:ln w="9525" cap="rnd">
            <a:solidFill>
              <a:srgbClr val="000000"/>
            </a:solidFill>
            <a:prstDash val="sysDot"/>
            <a:round/>
            <a:headEnd/>
            <a:tailEnd/>
          </a:ln>
        </p:spPr>
        <p:txBody>
          <a:bodyPr/>
          <a:lstStyle/>
          <a:p>
            <a:endParaRPr lang="en-US"/>
          </a:p>
        </p:txBody>
      </p:sp>
      <p:sp>
        <p:nvSpPr>
          <p:cNvPr id="331795" name="Text Box 19"/>
          <p:cNvSpPr txBox="1">
            <a:spLocks noChangeArrowheads="1"/>
          </p:cNvSpPr>
          <p:nvPr/>
        </p:nvSpPr>
        <p:spPr bwMode="auto">
          <a:xfrm>
            <a:off x="6224588" y="5156200"/>
            <a:ext cx="812800" cy="304800"/>
          </a:xfrm>
          <a:prstGeom prst="rect">
            <a:avLst/>
          </a:prstGeom>
          <a:noFill/>
          <a:ln w="9525">
            <a:noFill/>
            <a:miter lim="800000"/>
            <a:headEnd/>
            <a:tailEnd/>
          </a:ln>
        </p:spPr>
        <p:txBody>
          <a:bodyPr/>
          <a:lstStyle/>
          <a:p>
            <a:r>
              <a:rPr lang="en-US" sz="800" b="0" i="0">
                <a:effectLst/>
                <a:latin typeface="Arial" charset="0"/>
              </a:rPr>
              <a:t>STABILIZED </a:t>
            </a:r>
            <a:r>
              <a:rPr lang="en-US" sz="800" b="0" i="0">
                <a:effectLst/>
                <a:latin typeface="Arial" charset="0"/>
                <a:sym typeface="Wingdings" pitchFamily="2" charset="2"/>
              </a:rPr>
              <a:t></a:t>
            </a:r>
            <a:endParaRPr lang="en-US" sz="800" b="0" i="0">
              <a:effectLst/>
              <a:latin typeface="Arial" charset="0"/>
            </a:endParaRPr>
          </a:p>
          <a:p>
            <a:r>
              <a:rPr lang="en-US" sz="800" b="0" i="0">
                <a:effectLst/>
                <a:latin typeface="Arial" charset="0"/>
              </a:rPr>
              <a:t>OPERATION </a:t>
            </a:r>
            <a:r>
              <a:rPr lang="en-US" sz="800" b="0" i="0">
                <a:effectLst/>
                <a:latin typeface="Arial" charset="0"/>
                <a:sym typeface="Wingdings" pitchFamily="2" charset="2"/>
              </a:rPr>
              <a:t></a:t>
            </a:r>
            <a:endParaRPr lang="en-US" sz="1800" b="0" i="0">
              <a:effectLst/>
              <a:latin typeface="Arial" charset="0"/>
            </a:endParaRPr>
          </a:p>
        </p:txBody>
      </p:sp>
      <p:sp>
        <p:nvSpPr>
          <p:cNvPr id="331796" name="Text Box 20"/>
          <p:cNvSpPr txBox="1">
            <a:spLocks noChangeArrowheads="1"/>
          </p:cNvSpPr>
          <p:nvPr/>
        </p:nvSpPr>
        <p:spPr bwMode="auto">
          <a:xfrm>
            <a:off x="639763" y="890588"/>
            <a:ext cx="304800" cy="4062412"/>
          </a:xfrm>
          <a:prstGeom prst="rect">
            <a:avLst/>
          </a:prstGeom>
          <a:noFill/>
          <a:ln w="9525">
            <a:noFill/>
            <a:miter lim="800000"/>
            <a:headEnd/>
            <a:tailEnd/>
          </a:ln>
        </p:spPr>
        <p:txBody>
          <a:bodyPr/>
          <a:lstStyle/>
          <a:p>
            <a:pPr algn="ctr"/>
            <a:r>
              <a:rPr lang="en-US" sz="1200" b="0" i="0">
                <a:effectLst/>
                <a:latin typeface="Arial" charset="0"/>
              </a:rPr>
              <a:t>$</a:t>
            </a:r>
          </a:p>
          <a:p>
            <a:pPr algn="ctr"/>
            <a:endParaRPr lang="en-US" sz="1200" b="0" i="0">
              <a:effectLst/>
              <a:latin typeface="Arial" charset="0"/>
            </a:endParaRPr>
          </a:p>
          <a:p>
            <a:pPr algn="ctr"/>
            <a:r>
              <a:rPr lang="en-US" sz="1200" b="0" i="0">
                <a:effectLst/>
                <a:latin typeface="Arial" charset="0"/>
              </a:rPr>
              <a:t>C</a:t>
            </a:r>
          </a:p>
          <a:p>
            <a:pPr algn="ctr"/>
            <a:r>
              <a:rPr lang="en-US" sz="1200" b="0" i="0">
                <a:effectLst/>
                <a:latin typeface="Arial" charset="0"/>
              </a:rPr>
              <a:t>UMULAT</a:t>
            </a:r>
          </a:p>
          <a:p>
            <a:pPr algn="ctr"/>
            <a:r>
              <a:rPr lang="en-US" sz="1200" b="0" i="0">
                <a:effectLst/>
                <a:latin typeface="Arial" charset="0"/>
              </a:rPr>
              <a:t>IVE</a:t>
            </a:r>
          </a:p>
          <a:p>
            <a:pPr algn="ctr"/>
            <a:r>
              <a:rPr lang="en-US" sz="1200" b="0" i="0">
                <a:effectLst/>
                <a:latin typeface="Arial" charset="0"/>
              </a:rPr>
              <a:t> INVESTME NT</a:t>
            </a:r>
          </a:p>
          <a:p>
            <a:pPr algn="ctr"/>
            <a:endParaRPr lang="en-US" sz="1200" b="0" i="0">
              <a:effectLst/>
              <a:latin typeface="Arial" charset="0"/>
            </a:endParaRPr>
          </a:p>
          <a:p>
            <a:pPr algn="ctr"/>
            <a:r>
              <a:rPr lang="en-US" sz="1200" b="0" i="0">
                <a:effectLst/>
                <a:latin typeface="Arial" charset="0"/>
              </a:rPr>
              <a:t>$</a:t>
            </a:r>
            <a:endParaRPr lang="en-US" sz="1800" b="0" i="0">
              <a:effectLst/>
              <a:latin typeface="Arial" charset="0"/>
            </a:endParaRPr>
          </a:p>
        </p:txBody>
      </p:sp>
      <p:sp>
        <p:nvSpPr>
          <p:cNvPr id="331797" name="Line 21"/>
          <p:cNvSpPr>
            <a:spLocks noChangeShapeType="1"/>
          </p:cNvSpPr>
          <p:nvPr/>
        </p:nvSpPr>
        <p:spPr bwMode="auto">
          <a:xfrm flipV="1">
            <a:off x="7037388" y="484188"/>
            <a:ext cx="0" cy="4570412"/>
          </a:xfrm>
          <a:prstGeom prst="line">
            <a:avLst/>
          </a:prstGeom>
          <a:noFill/>
          <a:ln w="6350">
            <a:solidFill>
              <a:srgbClr val="000000"/>
            </a:solidFill>
            <a:round/>
            <a:headEnd/>
            <a:tailEnd/>
          </a:ln>
        </p:spPr>
        <p:txBody>
          <a:bodyPr/>
          <a:lstStyle/>
          <a:p>
            <a:endParaRPr lang="en-US"/>
          </a:p>
        </p:txBody>
      </p:sp>
      <p:sp>
        <p:nvSpPr>
          <p:cNvPr id="331798" name="Text Box 22"/>
          <p:cNvSpPr txBox="1">
            <a:spLocks noChangeArrowheads="1"/>
          </p:cNvSpPr>
          <p:nvPr/>
        </p:nvSpPr>
        <p:spPr bwMode="auto">
          <a:xfrm>
            <a:off x="5562600" y="5562600"/>
            <a:ext cx="966788" cy="504825"/>
          </a:xfrm>
          <a:prstGeom prst="rect">
            <a:avLst/>
          </a:prstGeom>
          <a:solidFill>
            <a:srgbClr val="FFFFFF"/>
          </a:solidFill>
          <a:ln w="9525">
            <a:solidFill>
              <a:srgbClr val="000000"/>
            </a:solidFill>
            <a:miter lim="800000"/>
            <a:headEnd/>
            <a:tailEnd/>
          </a:ln>
        </p:spPr>
        <p:txBody>
          <a:bodyPr/>
          <a:lstStyle/>
          <a:p>
            <a:pPr algn="ctr"/>
            <a:r>
              <a:rPr lang="en-US" sz="800" b="0" i="0" dirty="0">
                <a:effectLst/>
              </a:rPr>
              <a:t>DEVLPMT COMPLETION</a:t>
            </a:r>
          </a:p>
          <a:p>
            <a:pPr algn="ctr"/>
            <a:r>
              <a:rPr lang="en-US" sz="800" dirty="0">
                <a:effectLst/>
              </a:rPr>
              <a:t>“Time T</a:t>
            </a:r>
            <a:r>
              <a:rPr lang="en-US" sz="800" baseline="-25000" dirty="0">
                <a:effectLst/>
              </a:rPr>
              <a:t>2</a:t>
            </a:r>
            <a:r>
              <a:rPr lang="en-US" sz="800" dirty="0">
                <a:effectLst/>
              </a:rPr>
              <a:t>”</a:t>
            </a:r>
            <a:endParaRPr lang="en-US" sz="800" b="0" i="0" dirty="0">
              <a:effectLst/>
            </a:endParaRPr>
          </a:p>
          <a:p>
            <a:pPr algn="ctr"/>
            <a:endParaRPr lang="en-US" sz="800" b="0" i="0" dirty="0">
              <a:effectLst/>
            </a:endParaRPr>
          </a:p>
          <a:p>
            <a:endParaRPr lang="en-US" sz="800" b="0" i="0" dirty="0">
              <a:effectLst/>
            </a:endParaRPr>
          </a:p>
        </p:txBody>
      </p:sp>
      <p:sp>
        <p:nvSpPr>
          <p:cNvPr id="331799" name="Line 23"/>
          <p:cNvSpPr>
            <a:spLocks noChangeShapeType="1"/>
          </p:cNvSpPr>
          <p:nvPr/>
        </p:nvSpPr>
        <p:spPr bwMode="auto">
          <a:xfrm flipV="1">
            <a:off x="6122988" y="5054600"/>
            <a:ext cx="1587" cy="508000"/>
          </a:xfrm>
          <a:prstGeom prst="line">
            <a:avLst/>
          </a:prstGeom>
          <a:noFill/>
          <a:ln w="9525">
            <a:solidFill>
              <a:srgbClr val="000000"/>
            </a:solidFill>
            <a:round/>
            <a:headEnd/>
            <a:tailEnd type="triangle" w="med" len="med"/>
          </a:ln>
        </p:spPr>
        <p:txBody>
          <a:bodyPr/>
          <a:lstStyle/>
          <a:p>
            <a:endParaRPr lang="en-US"/>
          </a:p>
        </p:txBody>
      </p:sp>
      <p:sp>
        <p:nvSpPr>
          <p:cNvPr id="331800" name="Text Box 24"/>
          <p:cNvSpPr txBox="1">
            <a:spLocks noChangeArrowheads="1"/>
          </p:cNvSpPr>
          <p:nvPr/>
        </p:nvSpPr>
        <p:spPr bwMode="auto">
          <a:xfrm>
            <a:off x="914400" y="5610225"/>
            <a:ext cx="914400" cy="204788"/>
          </a:xfrm>
          <a:prstGeom prst="rect">
            <a:avLst/>
          </a:prstGeom>
          <a:noFill/>
          <a:ln w="9525">
            <a:noFill/>
            <a:miter lim="800000"/>
            <a:headEnd/>
            <a:tailEnd/>
          </a:ln>
        </p:spPr>
        <p:txBody>
          <a:bodyPr/>
          <a:lstStyle/>
          <a:p>
            <a:r>
              <a:rPr lang="en-US" sz="1200">
                <a:effectLst/>
                <a:latin typeface="Arial" charset="0"/>
              </a:rPr>
              <a:t>Time </a:t>
            </a:r>
            <a:r>
              <a:rPr lang="en-US" sz="1200">
                <a:effectLst/>
                <a:latin typeface="Arial" charset="0"/>
                <a:sym typeface="Wingdings" pitchFamily="2" charset="2"/>
              </a:rPr>
              <a:t></a:t>
            </a:r>
            <a:endParaRPr lang="en-US" sz="1800" b="0" i="0">
              <a:effectLst/>
              <a:latin typeface="Arial" charset="0"/>
            </a:endParaRPr>
          </a:p>
        </p:txBody>
      </p:sp>
      <p:sp>
        <p:nvSpPr>
          <p:cNvPr id="331801" name="Line 25"/>
          <p:cNvSpPr>
            <a:spLocks noChangeShapeType="1"/>
          </p:cNvSpPr>
          <p:nvPr/>
        </p:nvSpPr>
        <p:spPr bwMode="auto">
          <a:xfrm>
            <a:off x="944563" y="5054600"/>
            <a:ext cx="6092825" cy="0"/>
          </a:xfrm>
          <a:prstGeom prst="line">
            <a:avLst/>
          </a:prstGeom>
          <a:noFill/>
          <a:ln w="9525">
            <a:solidFill>
              <a:srgbClr val="000000"/>
            </a:solidFill>
            <a:round/>
            <a:headEnd/>
            <a:tailEnd/>
          </a:ln>
        </p:spPr>
        <p:txBody>
          <a:bodyPr/>
          <a:lstStyle/>
          <a:p>
            <a:endParaRPr lang="en-US"/>
          </a:p>
        </p:txBody>
      </p:sp>
      <p:sp>
        <p:nvSpPr>
          <p:cNvPr id="331802" name="Line 26"/>
          <p:cNvSpPr>
            <a:spLocks noChangeShapeType="1"/>
          </p:cNvSpPr>
          <p:nvPr/>
        </p:nvSpPr>
        <p:spPr bwMode="auto">
          <a:xfrm>
            <a:off x="1452563" y="1093788"/>
            <a:ext cx="1420812" cy="1827212"/>
          </a:xfrm>
          <a:prstGeom prst="line">
            <a:avLst/>
          </a:prstGeom>
          <a:noFill/>
          <a:ln w="38100">
            <a:solidFill>
              <a:srgbClr val="000000"/>
            </a:solidFill>
            <a:prstDash val="dash"/>
            <a:round/>
            <a:headEnd/>
            <a:tailEnd/>
          </a:ln>
        </p:spPr>
        <p:txBody>
          <a:bodyPr/>
          <a:lstStyle/>
          <a:p>
            <a:endParaRPr lang="en-US"/>
          </a:p>
        </p:txBody>
      </p:sp>
      <p:sp>
        <p:nvSpPr>
          <p:cNvPr id="331803" name="Line 27"/>
          <p:cNvSpPr>
            <a:spLocks noChangeShapeType="1"/>
          </p:cNvSpPr>
          <p:nvPr/>
        </p:nvSpPr>
        <p:spPr bwMode="auto">
          <a:xfrm>
            <a:off x="2873375" y="2921000"/>
            <a:ext cx="1828800" cy="1219200"/>
          </a:xfrm>
          <a:prstGeom prst="line">
            <a:avLst/>
          </a:prstGeom>
          <a:noFill/>
          <a:ln w="38100">
            <a:solidFill>
              <a:srgbClr val="000000"/>
            </a:solidFill>
            <a:prstDash val="dash"/>
            <a:round/>
            <a:headEnd/>
            <a:tailEnd/>
          </a:ln>
        </p:spPr>
        <p:txBody>
          <a:bodyPr/>
          <a:lstStyle/>
          <a:p>
            <a:endParaRPr lang="en-US"/>
          </a:p>
        </p:txBody>
      </p:sp>
      <p:sp>
        <p:nvSpPr>
          <p:cNvPr id="331804" name="Line 28"/>
          <p:cNvSpPr>
            <a:spLocks noChangeShapeType="1"/>
          </p:cNvSpPr>
          <p:nvPr/>
        </p:nvSpPr>
        <p:spPr bwMode="auto">
          <a:xfrm>
            <a:off x="4702175" y="4140200"/>
            <a:ext cx="1420813" cy="304800"/>
          </a:xfrm>
          <a:prstGeom prst="line">
            <a:avLst/>
          </a:prstGeom>
          <a:noFill/>
          <a:ln w="38100">
            <a:solidFill>
              <a:srgbClr val="000000"/>
            </a:solidFill>
            <a:prstDash val="dash"/>
            <a:round/>
            <a:headEnd/>
            <a:tailEnd/>
          </a:ln>
        </p:spPr>
        <p:txBody>
          <a:bodyPr/>
          <a:lstStyle/>
          <a:p>
            <a:endParaRPr lang="en-US"/>
          </a:p>
        </p:txBody>
      </p:sp>
      <p:sp>
        <p:nvSpPr>
          <p:cNvPr id="331805" name="Line 29"/>
          <p:cNvSpPr>
            <a:spLocks noChangeShapeType="1"/>
          </p:cNvSpPr>
          <p:nvPr/>
        </p:nvSpPr>
        <p:spPr bwMode="auto">
          <a:xfrm>
            <a:off x="6122988" y="4445000"/>
            <a:ext cx="914400" cy="1588"/>
          </a:xfrm>
          <a:prstGeom prst="line">
            <a:avLst/>
          </a:prstGeom>
          <a:noFill/>
          <a:ln w="38100">
            <a:solidFill>
              <a:srgbClr val="000000"/>
            </a:solidFill>
            <a:prstDash val="dash"/>
            <a:round/>
            <a:headEnd/>
            <a:tailEnd/>
          </a:ln>
        </p:spPr>
        <p:txBody>
          <a:bodyPr/>
          <a:lstStyle/>
          <a:p>
            <a:endParaRPr lang="en-US"/>
          </a:p>
        </p:txBody>
      </p:sp>
      <p:sp>
        <p:nvSpPr>
          <p:cNvPr id="331806" name="Line 30"/>
          <p:cNvSpPr>
            <a:spLocks noChangeShapeType="1"/>
          </p:cNvSpPr>
          <p:nvPr/>
        </p:nvSpPr>
        <p:spPr bwMode="auto">
          <a:xfrm flipH="1">
            <a:off x="1046163" y="2209800"/>
            <a:ext cx="2843212" cy="0"/>
          </a:xfrm>
          <a:prstGeom prst="line">
            <a:avLst/>
          </a:prstGeom>
          <a:noFill/>
          <a:ln w="9525" cap="rnd">
            <a:solidFill>
              <a:srgbClr val="000000"/>
            </a:solidFill>
            <a:prstDash val="sysDot"/>
            <a:round/>
            <a:headEnd/>
            <a:tailEnd type="triangle" w="med" len="med"/>
          </a:ln>
        </p:spPr>
        <p:txBody>
          <a:bodyPr/>
          <a:lstStyle/>
          <a:p>
            <a:endParaRPr lang="en-US"/>
          </a:p>
        </p:txBody>
      </p:sp>
      <p:sp>
        <p:nvSpPr>
          <p:cNvPr id="331807" name="Line 31"/>
          <p:cNvSpPr>
            <a:spLocks noChangeShapeType="1"/>
          </p:cNvSpPr>
          <p:nvPr/>
        </p:nvSpPr>
        <p:spPr bwMode="auto">
          <a:xfrm>
            <a:off x="1960563" y="1703388"/>
            <a:ext cx="4975225" cy="0"/>
          </a:xfrm>
          <a:prstGeom prst="line">
            <a:avLst/>
          </a:prstGeom>
          <a:noFill/>
          <a:ln w="9525" cap="rnd">
            <a:solidFill>
              <a:srgbClr val="000000"/>
            </a:solidFill>
            <a:prstDash val="sysDot"/>
            <a:round/>
            <a:headEnd/>
            <a:tailEnd type="triangle" w="med" len="med"/>
          </a:ln>
        </p:spPr>
        <p:txBody>
          <a:bodyPr/>
          <a:lstStyle/>
          <a:p>
            <a:endParaRPr lang="en-US"/>
          </a:p>
        </p:txBody>
      </p:sp>
      <p:sp>
        <p:nvSpPr>
          <p:cNvPr id="331808" name="Text Box 32"/>
          <p:cNvSpPr txBox="1">
            <a:spLocks noChangeArrowheads="1"/>
          </p:cNvSpPr>
          <p:nvPr/>
        </p:nvSpPr>
        <p:spPr bwMode="auto">
          <a:xfrm>
            <a:off x="7924800" y="657225"/>
            <a:ext cx="304800" cy="4368800"/>
          </a:xfrm>
          <a:prstGeom prst="rect">
            <a:avLst/>
          </a:prstGeom>
          <a:noFill/>
          <a:ln w="9525">
            <a:noFill/>
            <a:miter lim="800000"/>
            <a:headEnd/>
            <a:tailEnd/>
          </a:ln>
        </p:spPr>
        <p:txBody>
          <a:bodyPr/>
          <a:lstStyle/>
          <a:p>
            <a:pPr algn="ctr"/>
            <a:r>
              <a:rPr lang="en-US" sz="1100" b="0" i="0">
                <a:effectLst/>
                <a:latin typeface="Arial" charset="0"/>
              </a:rPr>
              <a:t>R</a:t>
            </a:r>
          </a:p>
          <a:p>
            <a:pPr algn="ctr"/>
            <a:r>
              <a:rPr lang="en-US" sz="1100" b="0" i="0">
                <a:effectLst/>
                <a:latin typeface="Arial" charset="0"/>
              </a:rPr>
              <a:t>I</a:t>
            </a:r>
          </a:p>
          <a:p>
            <a:pPr algn="ctr"/>
            <a:r>
              <a:rPr lang="en-US" sz="1100" b="0" i="0">
                <a:effectLst/>
                <a:latin typeface="Arial" charset="0"/>
              </a:rPr>
              <a:t>S</a:t>
            </a:r>
          </a:p>
          <a:p>
            <a:pPr algn="ctr"/>
            <a:r>
              <a:rPr lang="en-US" sz="1100" b="0" i="0">
                <a:effectLst/>
                <a:latin typeface="Arial" charset="0"/>
              </a:rPr>
              <a:t>K</a:t>
            </a:r>
          </a:p>
          <a:p>
            <a:pPr algn="ctr"/>
            <a:endParaRPr lang="en-US" sz="1100" b="0" i="0">
              <a:effectLst/>
              <a:latin typeface="Arial" charset="0"/>
            </a:endParaRPr>
          </a:p>
          <a:p>
            <a:pPr algn="ctr"/>
            <a:r>
              <a:rPr lang="en-US" sz="1100" b="0" i="0">
                <a:effectLst/>
                <a:latin typeface="Arial" charset="0"/>
              </a:rPr>
              <a:t>AS</a:t>
            </a:r>
          </a:p>
          <a:p>
            <a:pPr algn="ctr"/>
            <a:endParaRPr lang="en-US" sz="1100" b="0" i="0">
              <a:effectLst/>
              <a:latin typeface="Arial" charset="0"/>
            </a:endParaRPr>
          </a:p>
          <a:p>
            <a:pPr algn="ctr"/>
            <a:r>
              <a:rPr lang="en-US" sz="1100" b="0" i="0">
                <a:effectLst/>
                <a:latin typeface="Arial" charset="0"/>
              </a:rPr>
              <a:t>I</a:t>
            </a:r>
          </a:p>
          <a:p>
            <a:pPr algn="ctr"/>
            <a:r>
              <a:rPr lang="en-US" sz="1100" b="0" i="0">
                <a:effectLst/>
                <a:latin typeface="Arial" charset="0"/>
              </a:rPr>
              <a:t>N</a:t>
            </a:r>
          </a:p>
          <a:p>
            <a:pPr algn="ctr"/>
            <a:r>
              <a:rPr lang="en-US" sz="1100" b="0" i="0">
                <a:effectLst/>
                <a:latin typeface="Arial" charset="0"/>
              </a:rPr>
              <a:t>V</a:t>
            </a:r>
          </a:p>
          <a:p>
            <a:pPr algn="ctr"/>
            <a:r>
              <a:rPr lang="en-US" sz="1100" b="0" i="0">
                <a:effectLst/>
                <a:latin typeface="Arial" charset="0"/>
              </a:rPr>
              <a:t>E</a:t>
            </a:r>
          </a:p>
          <a:p>
            <a:pPr algn="ctr"/>
            <a:r>
              <a:rPr lang="en-US" sz="1100" b="0" i="0">
                <a:effectLst/>
                <a:latin typeface="Arial" charset="0"/>
              </a:rPr>
              <a:t>R</a:t>
            </a:r>
          </a:p>
          <a:p>
            <a:pPr algn="ctr"/>
            <a:r>
              <a:rPr lang="en-US" sz="1100" b="0" i="0">
                <a:effectLst/>
                <a:latin typeface="Arial" charset="0"/>
              </a:rPr>
              <a:t>S</a:t>
            </a:r>
          </a:p>
          <a:p>
            <a:pPr algn="ctr"/>
            <a:r>
              <a:rPr lang="en-US" sz="1100" b="0" i="0">
                <a:effectLst/>
                <a:latin typeface="Arial" charset="0"/>
              </a:rPr>
              <a:t>E </a:t>
            </a:r>
          </a:p>
          <a:p>
            <a:pPr algn="ctr"/>
            <a:endParaRPr lang="en-US" sz="1100" b="0" i="0">
              <a:effectLst/>
              <a:latin typeface="Arial" charset="0"/>
            </a:endParaRPr>
          </a:p>
          <a:p>
            <a:pPr algn="ctr"/>
            <a:r>
              <a:rPr lang="en-US" sz="1100" b="0" i="0">
                <a:effectLst/>
                <a:latin typeface="Arial" charset="0"/>
              </a:rPr>
              <a:t>S</a:t>
            </a:r>
          </a:p>
          <a:p>
            <a:pPr algn="ctr"/>
            <a:r>
              <a:rPr lang="en-US" sz="1100" b="0" i="0">
                <a:effectLst/>
                <a:latin typeface="Arial" charset="0"/>
              </a:rPr>
              <a:t>U</a:t>
            </a:r>
          </a:p>
          <a:p>
            <a:pPr algn="ctr"/>
            <a:r>
              <a:rPr lang="en-US" sz="1100" b="0" i="0">
                <a:effectLst/>
                <a:latin typeface="Arial" charset="0"/>
              </a:rPr>
              <a:t>C</a:t>
            </a:r>
          </a:p>
          <a:p>
            <a:pPr algn="ctr"/>
            <a:r>
              <a:rPr lang="en-US" sz="1100" b="0" i="0">
                <a:effectLst/>
                <a:latin typeface="Arial" charset="0"/>
              </a:rPr>
              <a:t>C</a:t>
            </a:r>
          </a:p>
          <a:p>
            <a:pPr algn="ctr"/>
            <a:r>
              <a:rPr lang="en-US" sz="1100" b="0" i="0">
                <a:effectLst/>
                <a:latin typeface="Arial" charset="0"/>
              </a:rPr>
              <a:t>E</a:t>
            </a:r>
          </a:p>
          <a:p>
            <a:pPr algn="ctr"/>
            <a:r>
              <a:rPr lang="en-US" sz="1100" b="0" i="0">
                <a:effectLst/>
                <a:latin typeface="Arial" charset="0"/>
              </a:rPr>
              <a:t>S</a:t>
            </a:r>
          </a:p>
          <a:p>
            <a:pPr algn="ctr"/>
            <a:r>
              <a:rPr lang="en-US" sz="1100" b="0" i="0">
                <a:effectLst/>
                <a:latin typeface="Arial" charset="0"/>
              </a:rPr>
              <a:t>S</a:t>
            </a:r>
          </a:p>
          <a:p>
            <a:pPr algn="ctr"/>
            <a:endParaRPr lang="en-US" sz="1100" b="0" i="0">
              <a:effectLst/>
              <a:latin typeface="Arial" charset="0"/>
            </a:endParaRPr>
          </a:p>
          <a:p>
            <a:pPr algn="ctr"/>
            <a:r>
              <a:rPr lang="en-US" sz="1100" b="0" i="0">
                <a:effectLst/>
                <a:latin typeface="Arial" charset="0"/>
              </a:rPr>
              <a:t>P</a:t>
            </a:r>
          </a:p>
          <a:p>
            <a:pPr algn="ctr"/>
            <a:r>
              <a:rPr lang="en-US" sz="1100" b="0" i="0">
                <a:effectLst/>
                <a:latin typeface="Arial" charset="0"/>
              </a:rPr>
              <a:t>R</a:t>
            </a:r>
          </a:p>
          <a:p>
            <a:pPr algn="ctr"/>
            <a:r>
              <a:rPr lang="en-US" sz="1100" b="0" i="0">
                <a:effectLst/>
                <a:latin typeface="Arial" charset="0"/>
              </a:rPr>
              <a:t>O</a:t>
            </a:r>
          </a:p>
          <a:p>
            <a:pPr algn="ctr"/>
            <a:r>
              <a:rPr lang="en-US" sz="1100" b="0" i="0">
                <a:effectLst/>
                <a:latin typeface="Arial" charset="0"/>
              </a:rPr>
              <a:t>B</a:t>
            </a:r>
          </a:p>
          <a:p>
            <a:endParaRPr lang="en-US" sz="1800" b="0" i="0">
              <a:effectLst/>
              <a:latin typeface="Arial" charset="0"/>
            </a:endParaRPr>
          </a:p>
        </p:txBody>
      </p:sp>
      <p:sp>
        <p:nvSpPr>
          <p:cNvPr id="331809" name="Text Box 33"/>
          <p:cNvSpPr txBox="1">
            <a:spLocks noChangeArrowheads="1"/>
          </p:cNvSpPr>
          <p:nvPr/>
        </p:nvSpPr>
        <p:spPr bwMode="auto">
          <a:xfrm>
            <a:off x="7086600" y="1343025"/>
            <a:ext cx="709613" cy="563563"/>
          </a:xfrm>
          <a:prstGeom prst="rect">
            <a:avLst/>
          </a:prstGeom>
          <a:noFill/>
          <a:ln w="9525">
            <a:noFill/>
            <a:miter lim="800000"/>
            <a:headEnd/>
            <a:tailEnd/>
          </a:ln>
        </p:spPr>
        <p:txBody>
          <a:bodyPr/>
          <a:lstStyle/>
          <a:p>
            <a:pPr algn="ctr"/>
            <a:r>
              <a:rPr lang="en-US" sz="800" b="0" i="0">
                <a:effectLst/>
                <a:latin typeface="Arial" charset="0"/>
              </a:rPr>
              <a:t>VERY HIGH RISK</a:t>
            </a:r>
          </a:p>
          <a:p>
            <a:pPr algn="ctr"/>
            <a:r>
              <a:rPr lang="en-US" sz="900">
                <a:effectLst/>
                <a:latin typeface="Arial" charset="0"/>
              </a:rPr>
              <a:t>e.g.: 40% OCC</a:t>
            </a:r>
            <a:endParaRPr lang="en-US" sz="1800" b="0" i="0">
              <a:effectLst/>
              <a:latin typeface="Arial" charset="0"/>
            </a:endParaRPr>
          </a:p>
        </p:txBody>
      </p:sp>
      <p:sp>
        <p:nvSpPr>
          <p:cNvPr id="331810" name="Text Box 34"/>
          <p:cNvSpPr txBox="1">
            <a:spLocks noChangeArrowheads="1"/>
          </p:cNvSpPr>
          <p:nvPr/>
        </p:nvSpPr>
        <p:spPr bwMode="auto">
          <a:xfrm>
            <a:off x="7010400" y="3248025"/>
            <a:ext cx="709613" cy="406400"/>
          </a:xfrm>
          <a:prstGeom prst="rect">
            <a:avLst/>
          </a:prstGeom>
          <a:noFill/>
          <a:ln w="9525">
            <a:noFill/>
            <a:miter lim="800000"/>
            <a:headEnd/>
            <a:tailEnd/>
          </a:ln>
        </p:spPr>
        <p:txBody>
          <a:bodyPr/>
          <a:lstStyle/>
          <a:p>
            <a:pPr algn="ctr"/>
            <a:r>
              <a:rPr lang="en-US" sz="800" b="0" i="0">
                <a:effectLst/>
                <a:latin typeface="Arial" charset="0"/>
              </a:rPr>
              <a:t>HIGH RISK</a:t>
            </a:r>
          </a:p>
          <a:p>
            <a:pPr algn="ctr"/>
            <a:r>
              <a:rPr lang="en-US" sz="900">
                <a:effectLst/>
                <a:latin typeface="Arial" charset="0"/>
              </a:rPr>
              <a:t>e.g.: 20% OCC</a:t>
            </a:r>
            <a:endParaRPr lang="en-US" sz="1800" b="0" i="0">
              <a:effectLst/>
              <a:latin typeface="Arial" charset="0"/>
            </a:endParaRPr>
          </a:p>
        </p:txBody>
      </p:sp>
      <p:sp>
        <p:nvSpPr>
          <p:cNvPr id="331811" name="Line 35"/>
          <p:cNvSpPr>
            <a:spLocks noChangeShapeType="1"/>
          </p:cNvSpPr>
          <p:nvPr/>
        </p:nvSpPr>
        <p:spPr bwMode="auto">
          <a:xfrm>
            <a:off x="3686175" y="3429000"/>
            <a:ext cx="3249613" cy="0"/>
          </a:xfrm>
          <a:prstGeom prst="line">
            <a:avLst/>
          </a:prstGeom>
          <a:noFill/>
          <a:ln w="9525" cap="rnd">
            <a:solidFill>
              <a:srgbClr val="000000"/>
            </a:solidFill>
            <a:prstDash val="sysDot"/>
            <a:round/>
            <a:headEnd/>
            <a:tailEnd type="triangle" w="med" len="med"/>
          </a:ln>
        </p:spPr>
        <p:txBody>
          <a:bodyPr/>
          <a:lstStyle/>
          <a:p>
            <a:endParaRPr lang="en-US"/>
          </a:p>
        </p:txBody>
      </p:sp>
      <p:sp>
        <p:nvSpPr>
          <p:cNvPr id="331812" name="Text Box 36"/>
          <p:cNvSpPr txBox="1">
            <a:spLocks noChangeArrowheads="1"/>
          </p:cNvSpPr>
          <p:nvPr/>
        </p:nvSpPr>
        <p:spPr bwMode="auto">
          <a:xfrm>
            <a:off x="6934200" y="4010025"/>
            <a:ext cx="1219200" cy="457200"/>
          </a:xfrm>
          <a:prstGeom prst="rect">
            <a:avLst/>
          </a:prstGeom>
          <a:noFill/>
          <a:ln w="9525">
            <a:noFill/>
            <a:miter lim="800000"/>
            <a:headEnd/>
            <a:tailEnd/>
          </a:ln>
        </p:spPr>
        <p:txBody>
          <a:bodyPr/>
          <a:lstStyle/>
          <a:p>
            <a:pPr algn="ctr"/>
            <a:r>
              <a:rPr lang="en-US" sz="800" b="0" i="0">
                <a:effectLst/>
                <a:latin typeface="Arial" charset="0"/>
              </a:rPr>
              <a:t>MODERATE RISK</a:t>
            </a:r>
          </a:p>
          <a:p>
            <a:pPr algn="ctr"/>
            <a:r>
              <a:rPr lang="en-US" sz="900">
                <a:effectLst/>
                <a:latin typeface="Arial" charset="0"/>
              </a:rPr>
              <a:t>e.g.: 10% OCC</a:t>
            </a:r>
            <a:endParaRPr lang="en-US" sz="1800" b="0" i="0">
              <a:effectLst/>
              <a:latin typeface="Arial" charset="0"/>
            </a:endParaRPr>
          </a:p>
        </p:txBody>
      </p:sp>
      <p:sp>
        <p:nvSpPr>
          <p:cNvPr id="331813" name="Line 37"/>
          <p:cNvSpPr>
            <a:spLocks noChangeShapeType="1"/>
          </p:cNvSpPr>
          <p:nvPr/>
        </p:nvSpPr>
        <p:spPr bwMode="auto">
          <a:xfrm>
            <a:off x="5208588" y="4241800"/>
            <a:ext cx="1727200" cy="0"/>
          </a:xfrm>
          <a:prstGeom prst="line">
            <a:avLst/>
          </a:prstGeom>
          <a:noFill/>
          <a:ln w="9525" cap="rnd">
            <a:solidFill>
              <a:srgbClr val="000000"/>
            </a:solidFill>
            <a:prstDash val="sysDot"/>
            <a:round/>
            <a:headEnd/>
            <a:tailEnd type="triangle" w="med" len="med"/>
          </a:ln>
        </p:spPr>
        <p:txBody>
          <a:bodyPr/>
          <a:lstStyle/>
          <a:p>
            <a:endParaRPr lang="en-US"/>
          </a:p>
        </p:txBody>
      </p:sp>
      <p:sp>
        <p:nvSpPr>
          <p:cNvPr id="331814" name="Text Box 38"/>
          <p:cNvSpPr txBox="1">
            <a:spLocks noChangeArrowheads="1"/>
          </p:cNvSpPr>
          <p:nvPr/>
        </p:nvSpPr>
        <p:spPr bwMode="auto">
          <a:xfrm>
            <a:off x="6934200" y="4391025"/>
            <a:ext cx="912813" cy="303213"/>
          </a:xfrm>
          <a:prstGeom prst="rect">
            <a:avLst/>
          </a:prstGeom>
          <a:noFill/>
          <a:ln w="9525">
            <a:noFill/>
            <a:miter lim="800000"/>
            <a:headEnd/>
            <a:tailEnd/>
          </a:ln>
        </p:spPr>
        <p:txBody>
          <a:bodyPr/>
          <a:lstStyle/>
          <a:p>
            <a:pPr algn="ctr"/>
            <a:r>
              <a:rPr lang="en-US" sz="800" b="0" i="0">
                <a:effectLst/>
                <a:latin typeface="Arial" charset="0"/>
              </a:rPr>
              <a:t>LOW RISK</a:t>
            </a:r>
          </a:p>
          <a:p>
            <a:pPr algn="ctr"/>
            <a:r>
              <a:rPr lang="en-US" sz="900">
                <a:effectLst/>
                <a:latin typeface="Arial" charset="0"/>
              </a:rPr>
              <a:t>e.g.: 8% OCC</a:t>
            </a:r>
            <a:endParaRPr lang="en-US" sz="1800" b="0" i="0">
              <a:effectLst/>
              <a:latin typeface="Arial" charset="0"/>
            </a:endParaRPr>
          </a:p>
        </p:txBody>
      </p:sp>
      <p:sp>
        <p:nvSpPr>
          <p:cNvPr id="331815" name="Text Box 39"/>
          <p:cNvSpPr txBox="1">
            <a:spLocks noChangeArrowheads="1"/>
          </p:cNvSpPr>
          <p:nvPr/>
        </p:nvSpPr>
        <p:spPr bwMode="auto">
          <a:xfrm>
            <a:off x="1757363" y="585788"/>
            <a:ext cx="3044825" cy="609600"/>
          </a:xfrm>
          <a:prstGeom prst="rect">
            <a:avLst/>
          </a:prstGeom>
          <a:noFill/>
          <a:ln w="9525">
            <a:noFill/>
            <a:miter lim="800000"/>
            <a:headEnd/>
            <a:tailEnd/>
          </a:ln>
        </p:spPr>
        <p:txBody>
          <a:bodyPr/>
          <a:lstStyle/>
          <a:p>
            <a:r>
              <a:rPr lang="en-US" sz="1000" b="0" i="0">
                <a:effectLst/>
                <a:latin typeface="Arial" charset="0"/>
              </a:rPr>
              <a:t>Exhibit 29-1a: Development Project Phases: </a:t>
            </a:r>
          </a:p>
          <a:p>
            <a:r>
              <a:rPr lang="en-US" sz="1000" b="0" i="0">
                <a:effectLst/>
                <a:latin typeface="Arial" charset="0"/>
              </a:rPr>
              <a:t>Typical Cumulative Capital Investment Profile and Investment Risk Regimes</a:t>
            </a:r>
            <a:endParaRPr lang="en-US" sz="1800" b="0" i="0">
              <a:effectLst/>
              <a:latin typeface="Arial" charset="0"/>
            </a:endParaRPr>
          </a:p>
        </p:txBody>
      </p:sp>
      <p:sp>
        <p:nvSpPr>
          <p:cNvPr id="331816" name="Line 40"/>
          <p:cNvSpPr>
            <a:spLocks noChangeShapeType="1"/>
          </p:cNvSpPr>
          <p:nvPr/>
        </p:nvSpPr>
        <p:spPr bwMode="auto">
          <a:xfrm>
            <a:off x="1981200" y="6219825"/>
            <a:ext cx="1157288" cy="1588"/>
          </a:xfrm>
          <a:prstGeom prst="line">
            <a:avLst/>
          </a:prstGeom>
          <a:noFill/>
          <a:ln w="38100">
            <a:solidFill>
              <a:srgbClr val="000000"/>
            </a:solidFill>
            <a:round/>
            <a:headEnd/>
            <a:tailEnd/>
          </a:ln>
        </p:spPr>
        <p:txBody>
          <a:bodyPr/>
          <a:lstStyle/>
          <a:p>
            <a:endParaRPr lang="en-US"/>
          </a:p>
        </p:txBody>
      </p:sp>
      <p:sp>
        <p:nvSpPr>
          <p:cNvPr id="331817" name="Text Box 41"/>
          <p:cNvSpPr txBox="1">
            <a:spLocks noChangeArrowheads="1"/>
          </p:cNvSpPr>
          <p:nvPr/>
        </p:nvSpPr>
        <p:spPr bwMode="auto">
          <a:xfrm>
            <a:off x="3084513" y="6118225"/>
            <a:ext cx="1577975" cy="328613"/>
          </a:xfrm>
          <a:prstGeom prst="rect">
            <a:avLst/>
          </a:prstGeom>
          <a:noFill/>
          <a:ln w="9525">
            <a:noFill/>
            <a:miter lim="800000"/>
            <a:headEnd/>
            <a:tailEnd/>
          </a:ln>
        </p:spPr>
        <p:txBody>
          <a:bodyPr/>
          <a:lstStyle/>
          <a:p>
            <a:r>
              <a:rPr lang="en-US" sz="1200" b="0" i="0">
                <a:effectLst/>
                <a:latin typeface="Arial" charset="0"/>
              </a:rPr>
              <a:t>= </a:t>
            </a:r>
            <a:r>
              <a:rPr lang="en-US" sz="800" b="0" i="0">
                <a:effectLst/>
                <a:latin typeface="Arial" charset="0"/>
              </a:rPr>
              <a:t> CUMULATIVE INVESTMENT</a:t>
            </a:r>
            <a:endParaRPr lang="en-US" sz="1800" b="0" i="0">
              <a:effectLst/>
              <a:latin typeface="Arial" charset="0"/>
            </a:endParaRPr>
          </a:p>
        </p:txBody>
      </p:sp>
      <p:sp>
        <p:nvSpPr>
          <p:cNvPr id="331818" name="Line 42"/>
          <p:cNvSpPr>
            <a:spLocks noChangeShapeType="1"/>
          </p:cNvSpPr>
          <p:nvPr/>
        </p:nvSpPr>
        <p:spPr bwMode="auto">
          <a:xfrm>
            <a:off x="4978400" y="6245225"/>
            <a:ext cx="1117600" cy="1588"/>
          </a:xfrm>
          <a:prstGeom prst="line">
            <a:avLst/>
          </a:prstGeom>
          <a:noFill/>
          <a:ln w="38100">
            <a:solidFill>
              <a:srgbClr val="000000"/>
            </a:solidFill>
            <a:prstDash val="dash"/>
            <a:round/>
            <a:headEnd/>
            <a:tailEnd/>
          </a:ln>
        </p:spPr>
        <p:txBody>
          <a:bodyPr/>
          <a:lstStyle/>
          <a:p>
            <a:endParaRPr lang="en-US"/>
          </a:p>
        </p:txBody>
      </p:sp>
      <p:sp>
        <p:nvSpPr>
          <p:cNvPr id="331819" name="Text Box 43"/>
          <p:cNvSpPr txBox="1">
            <a:spLocks noChangeArrowheads="1"/>
          </p:cNvSpPr>
          <p:nvPr/>
        </p:nvSpPr>
        <p:spPr bwMode="auto">
          <a:xfrm>
            <a:off x="6096000" y="6143625"/>
            <a:ext cx="1522413" cy="303213"/>
          </a:xfrm>
          <a:prstGeom prst="rect">
            <a:avLst/>
          </a:prstGeom>
          <a:noFill/>
          <a:ln w="9525">
            <a:noFill/>
            <a:miter lim="800000"/>
            <a:headEnd/>
            <a:tailEnd/>
          </a:ln>
        </p:spPr>
        <p:txBody>
          <a:bodyPr/>
          <a:lstStyle/>
          <a:p>
            <a:r>
              <a:rPr lang="en-US" sz="1200" b="0" i="0">
                <a:effectLst/>
                <a:latin typeface="Arial" charset="0"/>
              </a:rPr>
              <a:t>= </a:t>
            </a:r>
            <a:r>
              <a:rPr lang="en-US" sz="800" b="0" i="0">
                <a:effectLst/>
                <a:latin typeface="Arial" charset="0"/>
              </a:rPr>
              <a:t> RISK LEVEL</a:t>
            </a:r>
            <a:endParaRPr lang="en-US" sz="1800" b="0" i="0">
              <a:effectLst/>
              <a:latin typeface="Arial" charset="0"/>
            </a:endParaRPr>
          </a:p>
        </p:txBody>
      </p:sp>
      <p:sp>
        <p:nvSpPr>
          <p:cNvPr id="47" name="Footer Placeholder 2"/>
          <p:cNvSpPr txBox="1">
            <a:spLocks/>
          </p:cNvSpPr>
          <p:nvPr/>
        </p:nvSpPr>
        <p:spPr bwMode="auto">
          <a:xfrm>
            <a:off x="457200" y="6537326"/>
            <a:ext cx="6035040" cy="32067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1" u="none" strike="noStrike" kern="1200" cap="none" spc="0" normalizeH="0" baseline="0" noProof="0" dirty="0">
                <a:ln>
                  <a:noFill/>
                </a:ln>
                <a:solidFill>
                  <a:schemeClr val="tx2"/>
                </a:solidFill>
                <a:effectLst/>
                <a:uLnTx/>
                <a:uFillTx/>
                <a:latin typeface="Arial" charset="0"/>
                <a:ea typeface="+mn-ea"/>
                <a:cs typeface="+mn-cs"/>
              </a:rPr>
              <a:t>Copyright © 2007 Thomson/South-Western, </a:t>
            </a:r>
            <a:r>
              <a:rPr kumimoji="0" lang="en-US" sz="1100" b="0" i="1" u="none" strike="noStrike" kern="1200" cap="none" spc="0" normalizeH="0" baseline="0" noProof="0" dirty="0" err="1">
                <a:ln>
                  <a:noFill/>
                </a:ln>
                <a:solidFill>
                  <a:schemeClr val="tx2"/>
                </a:solidFill>
                <a:effectLst/>
                <a:uLnTx/>
                <a:uFillTx/>
                <a:latin typeface="Arial" charset="0"/>
                <a:ea typeface="+mn-ea"/>
                <a:cs typeface="+mn-cs"/>
              </a:rPr>
              <a:t>Geltner</a:t>
            </a:r>
            <a:r>
              <a:rPr kumimoji="0" lang="en-US" sz="1100" b="0" i="1" u="none" strike="noStrike" kern="1200" cap="none" spc="0" normalizeH="0" baseline="0" noProof="0" dirty="0">
                <a:ln>
                  <a:noFill/>
                </a:ln>
                <a:solidFill>
                  <a:schemeClr val="tx2"/>
                </a:solidFill>
                <a:effectLst/>
                <a:uLnTx/>
                <a:uFillTx/>
                <a:latin typeface="Arial" charset="0"/>
                <a:ea typeface="+mn-ea"/>
                <a:cs typeface="+mn-cs"/>
              </a:rPr>
              <a:t>/Miller/Clayton/</a:t>
            </a:r>
            <a:r>
              <a:rPr kumimoji="0" lang="en-US" sz="1100" b="0" i="1" u="none" strike="noStrike" kern="1200" cap="none" spc="0" normalizeH="0" baseline="0" noProof="0" dirty="0" err="1">
                <a:ln>
                  <a:noFill/>
                </a:ln>
                <a:solidFill>
                  <a:schemeClr val="tx2"/>
                </a:solidFill>
                <a:effectLst/>
                <a:uLnTx/>
                <a:uFillTx/>
                <a:latin typeface="Arial" charset="0"/>
                <a:ea typeface="+mn-ea"/>
                <a:cs typeface="+mn-cs"/>
              </a:rPr>
              <a:t>Eichholtz</a:t>
            </a:r>
            <a:r>
              <a:rPr kumimoji="0" lang="en-US" sz="1100" b="0" i="1" u="none" strike="noStrike" kern="1200" cap="none" spc="0" normalizeH="0" baseline="0" noProof="0" dirty="0">
                <a:ln>
                  <a:noFill/>
                </a:ln>
                <a:solidFill>
                  <a:schemeClr val="tx2"/>
                </a:solidFill>
                <a:effectLst/>
                <a:uLnTx/>
                <a:uFillTx/>
                <a:latin typeface="Arial" charset="0"/>
                <a:ea typeface="+mn-ea"/>
                <a:cs typeface="+mn-cs"/>
              </a:rPr>
              <a:t>, 2e</a:t>
            </a:r>
          </a:p>
        </p:txBody>
      </p:sp>
    </p:spTree>
    <p:extLst>
      <p:ext uri="{BB962C8B-B14F-4D97-AF65-F5344CB8AC3E}">
        <p14:creationId xmlns:p14="http://schemas.microsoft.com/office/powerpoint/2010/main" val="1327917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Slide Number Placeholder 3"/>
          <p:cNvSpPr>
            <a:spLocks noGrp="1"/>
          </p:cNvSpPr>
          <p:nvPr>
            <p:ph type="sldNum" sz="quarter" idx="4294967295"/>
          </p:nvPr>
        </p:nvSpPr>
        <p:spPr>
          <a:xfrm>
            <a:off x="6553200" y="6245225"/>
            <a:ext cx="2133600" cy="476250"/>
          </a:xfrm>
          <a:prstGeom prst="rect">
            <a:avLst/>
          </a:prstGeom>
        </p:spPr>
        <p:txBody>
          <a:bodyPr/>
          <a:lstStyle/>
          <a:p>
            <a:fld id="{FA847F86-A125-4F66-B7C9-C761CBC97C6A}" type="slidenum">
              <a:rPr lang="en-US"/>
              <a:pPr/>
              <a:t>9</a:t>
            </a:fld>
            <a:endParaRPr lang="en-US"/>
          </a:p>
        </p:txBody>
      </p:sp>
      <p:sp>
        <p:nvSpPr>
          <p:cNvPr id="332802" name="AutoShape 2"/>
          <p:cNvSpPr>
            <a:spLocks noChangeAspect="1" noChangeArrowheads="1"/>
          </p:cNvSpPr>
          <p:nvPr/>
        </p:nvSpPr>
        <p:spPr bwMode="auto">
          <a:xfrm>
            <a:off x="381000" y="609600"/>
            <a:ext cx="8504238" cy="5953125"/>
          </a:xfrm>
          <a:prstGeom prst="rect">
            <a:avLst/>
          </a:prstGeom>
          <a:noFill/>
          <a:ln w="9525">
            <a:noFill/>
            <a:miter lim="800000"/>
            <a:headEnd/>
            <a:tailEnd/>
          </a:ln>
        </p:spPr>
        <p:txBody>
          <a:bodyPr/>
          <a:lstStyle/>
          <a:p>
            <a:endParaRPr lang="en-US"/>
          </a:p>
        </p:txBody>
      </p:sp>
      <p:sp>
        <p:nvSpPr>
          <p:cNvPr id="332803" name="Line 3"/>
          <p:cNvSpPr>
            <a:spLocks noChangeShapeType="1"/>
          </p:cNvSpPr>
          <p:nvPr/>
        </p:nvSpPr>
        <p:spPr bwMode="auto">
          <a:xfrm>
            <a:off x="700088" y="928688"/>
            <a:ext cx="0" cy="4572000"/>
          </a:xfrm>
          <a:prstGeom prst="line">
            <a:avLst/>
          </a:prstGeom>
          <a:noFill/>
          <a:ln w="9525">
            <a:solidFill>
              <a:srgbClr val="000000"/>
            </a:solidFill>
            <a:round/>
            <a:headEnd/>
            <a:tailEnd/>
          </a:ln>
        </p:spPr>
        <p:txBody>
          <a:bodyPr/>
          <a:lstStyle/>
          <a:p>
            <a:endParaRPr lang="en-US"/>
          </a:p>
        </p:txBody>
      </p:sp>
      <p:sp>
        <p:nvSpPr>
          <p:cNvPr id="332804" name="Line 4"/>
          <p:cNvSpPr>
            <a:spLocks noChangeShapeType="1"/>
          </p:cNvSpPr>
          <p:nvPr/>
        </p:nvSpPr>
        <p:spPr bwMode="auto">
          <a:xfrm>
            <a:off x="700088" y="5500688"/>
            <a:ext cx="7546975" cy="0"/>
          </a:xfrm>
          <a:prstGeom prst="line">
            <a:avLst/>
          </a:prstGeom>
          <a:noFill/>
          <a:ln w="9525">
            <a:solidFill>
              <a:srgbClr val="000000"/>
            </a:solidFill>
            <a:round/>
            <a:headEnd/>
            <a:tailEnd/>
          </a:ln>
        </p:spPr>
        <p:txBody>
          <a:bodyPr/>
          <a:lstStyle/>
          <a:p>
            <a:endParaRPr lang="en-US"/>
          </a:p>
        </p:txBody>
      </p:sp>
      <p:sp>
        <p:nvSpPr>
          <p:cNvPr id="332805" name="Line 5"/>
          <p:cNvSpPr>
            <a:spLocks noChangeShapeType="1"/>
          </p:cNvSpPr>
          <p:nvPr/>
        </p:nvSpPr>
        <p:spPr bwMode="auto">
          <a:xfrm flipV="1">
            <a:off x="700088" y="5181600"/>
            <a:ext cx="2019300" cy="319088"/>
          </a:xfrm>
          <a:prstGeom prst="line">
            <a:avLst/>
          </a:prstGeom>
          <a:noFill/>
          <a:ln w="38100">
            <a:solidFill>
              <a:srgbClr val="000000"/>
            </a:solidFill>
            <a:round/>
            <a:headEnd/>
            <a:tailEnd/>
          </a:ln>
        </p:spPr>
        <p:txBody>
          <a:bodyPr/>
          <a:lstStyle/>
          <a:p>
            <a:endParaRPr lang="en-US"/>
          </a:p>
        </p:txBody>
      </p:sp>
      <p:sp>
        <p:nvSpPr>
          <p:cNvPr id="332806" name="Line 6"/>
          <p:cNvSpPr>
            <a:spLocks noChangeShapeType="1"/>
          </p:cNvSpPr>
          <p:nvPr/>
        </p:nvSpPr>
        <p:spPr bwMode="auto">
          <a:xfrm flipV="1">
            <a:off x="2719388" y="4224338"/>
            <a:ext cx="0" cy="957262"/>
          </a:xfrm>
          <a:prstGeom prst="line">
            <a:avLst/>
          </a:prstGeom>
          <a:noFill/>
          <a:ln w="38100">
            <a:solidFill>
              <a:srgbClr val="000000"/>
            </a:solidFill>
            <a:round/>
            <a:headEnd/>
            <a:tailEnd/>
          </a:ln>
        </p:spPr>
        <p:txBody>
          <a:bodyPr/>
          <a:lstStyle/>
          <a:p>
            <a:endParaRPr lang="en-US"/>
          </a:p>
        </p:txBody>
      </p:sp>
      <p:sp>
        <p:nvSpPr>
          <p:cNvPr id="332807" name="Line 7"/>
          <p:cNvSpPr>
            <a:spLocks noChangeShapeType="1"/>
          </p:cNvSpPr>
          <p:nvPr/>
        </p:nvSpPr>
        <p:spPr bwMode="auto">
          <a:xfrm flipV="1">
            <a:off x="2719388" y="1354138"/>
            <a:ext cx="1914525" cy="2870200"/>
          </a:xfrm>
          <a:prstGeom prst="line">
            <a:avLst/>
          </a:prstGeom>
          <a:noFill/>
          <a:ln w="38100">
            <a:solidFill>
              <a:srgbClr val="000000"/>
            </a:solidFill>
            <a:round/>
            <a:headEnd/>
            <a:tailEnd/>
          </a:ln>
        </p:spPr>
        <p:txBody>
          <a:bodyPr/>
          <a:lstStyle/>
          <a:p>
            <a:endParaRPr lang="en-US"/>
          </a:p>
        </p:txBody>
      </p:sp>
      <p:sp>
        <p:nvSpPr>
          <p:cNvPr id="332808" name="Line 8"/>
          <p:cNvSpPr>
            <a:spLocks noChangeShapeType="1"/>
          </p:cNvSpPr>
          <p:nvPr/>
        </p:nvSpPr>
        <p:spPr bwMode="auto">
          <a:xfrm flipV="1">
            <a:off x="4633913" y="928688"/>
            <a:ext cx="1487487" cy="425450"/>
          </a:xfrm>
          <a:prstGeom prst="line">
            <a:avLst/>
          </a:prstGeom>
          <a:noFill/>
          <a:ln w="38100">
            <a:solidFill>
              <a:srgbClr val="000000"/>
            </a:solidFill>
            <a:round/>
            <a:headEnd/>
            <a:tailEnd/>
          </a:ln>
        </p:spPr>
        <p:txBody>
          <a:bodyPr/>
          <a:lstStyle/>
          <a:p>
            <a:endParaRPr lang="en-US"/>
          </a:p>
        </p:txBody>
      </p:sp>
      <p:sp>
        <p:nvSpPr>
          <p:cNvPr id="332809" name="Line 9"/>
          <p:cNvSpPr>
            <a:spLocks noChangeShapeType="1"/>
          </p:cNvSpPr>
          <p:nvPr/>
        </p:nvSpPr>
        <p:spPr bwMode="auto">
          <a:xfrm>
            <a:off x="6121400" y="928688"/>
            <a:ext cx="957263" cy="0"/>
          </a:xfrm>
          <a:prstGeom prst="line">
            <a:avLst/>
          </a:prstGeom>
          <a:noFill/>
          <a:ln w="38100">
            <a:solidFill>
              <a:srgbClr val="000000"/>
            </a:solidFill>
            <a:round/>
            <a:headEnd/>
            <a:tailEnd/>
          </a:ln>
        </p:spPr>
        <p:txBody>
          <a:bodyPr/>
          <a:lstStyle/>
          <a:p>
            <a:endParaRPr lang="en-US"/>
          </a:p>
        </p:txBody>
      </p:sp>
      <p:sp>
        <p:nvSpPr>
          <p:cNvPr id="332810" name="Text Box 10"/>
          <p:cNvSpPr txBox="1">
            <a:spLocks noChangeArrowheads="1"/>
          </p:cNvSpPr>
          <p:nvPr/>
        </p:nvSpPr>
        <p:spPr bwMode="auto">
          <a:xfrm>
            <a:off x="806450" y="5607050"/>
            <a:ext cx="1806575" cy="319088"/>
          </a:xfrm>
          <a:prstGeom prst="rect">
            <a:avLst/>
          </a:prstGeom>
          <a:solidFill>
            <a:srgbClr val="FFFFFF"/>
          </a:solidFill>
          <a:ln w="9525">
            <a:noFill/>
            <a:miter lim="800000"/>
            <a:headEnd/>
            <a:tailEnd/>
          </a:ln>
        </p:spPr>
        <p:txBody>
          <a:bodyPr/>
          <a:lstStyle/>
          <a:p>
            <a:pPr algn="ctr"/>
            <a:r>
              <a:rPr lang="en-US" sz="800" b="0" i="0">
                <a:effectLst/>
                <a:latin typeface="Arial" charset="0"/>
              </a:rPr>
              <a:t>LAND OPTIONING &amp; ASSEMBLY, PERMITTING, &amp; DEVLPT DESIGN</a:t>
            </a:r>
            <a:endParaRPr lang="en-US" sz="1800" b="0" i="0">
              <a:effectLst/>
              <a:latin typeface="Arial" charset="0"/>
            </a:endParaRPr>
          </a:p>
        </p:txBody>
      </p:sp>
      <p:sp>
        <p:nvSpPr>
          <p:cNvPr id="332811" name="Text Box 11"/>
          <p:cNvSpPr txBox="1">
            <a:spLocks noChangeArrowheads="1"/>
          </p:cNvSpPr>
          <p:nvPr/>
        </p:nvSpPr>
        <p:spPr bwMode="auto">
          <a:xfrm>
            <a:off x="2825750" y="5605463"/>
            <a:ext cx="1701800" cy="212725"/>
          </a:xfrm>
          <a:prstGeom prst="rect">
            <a:avLst/>
          </a:prstGeom>
          <a:solidFill>
            <a:srgbClr val="FFFFFF"/>
          </a:solidFill>
          <a:ln w="9525">
            <a:noFill/>
            <a:miter lim="800000"/>
            <a:headEnd/>
            <a:tailEnd/>
          </a:ln>
        </p:spPr>
        <p:txBody>
          <a:bodyPr/>
          <a:lstStyle/>
          <a:p>
            <a:pPr algn="ctr"/>
            <a:r>
              <a:rPr lang="en-US" sz="800" b="0" i="0">
                <a:effectLst/>
                <a:latin typeface="Arial" charset="0"/>
                <a:sym typeface="Wingdings" pitchFamily="2" charset="2"/>
              </a:rPr>
              <a:t></a:t>
            </a:r>
            <a:r>
              <a:rPr lang="en-US" sz="800" b="0" i="0">
                <a:effectLst/>
                <a:latin typeface="Arial" charset="0"/>
              </a:rPr>
              <a:t> CONSTRUCTION </a:t>
            </a:r>
            <a:r>
              <a:rPr lang="en-US" sz="800" b="0" i="0">
                <a:effectLst/>
                <a:latin typeface="Arial" charset="0"/>
                <a:sym typeface="Wingdings" pitchFamily="2" charset="2"/>
              </a:rPr>
              <a:t></a:t>
            </a:r>
            <a:endParaRPr lang="en-US" sz="1800" b="0" i="0">
              <a:effectLst/>
              <a:latin typeface="Arial" charset="0"/>
            </a:endParaRPr>
          </a:p>
        </p:txBody>
      </p:sp>
      <p:sp>
        <p:nvSpPr>
          <p:cNvPr id="332812" name="Text Box 12"/>
          <p:cNvSpPr txBox="1">
            <a:spLocks noChangeArrowheads="1"/>
          </p:cNvSpPr>
          <p:nvPr/>
        </p:nvSpPr>
        <p:spPr bwMode="auto">
          <a:xfrm>
            <a:off x="2286000" y="6019800"/>
            <a:ext cx="990600" cy="533400"/>
          </a:xfrm>
          <a:prstGeom prst="rect">
            <a:avLst/>
          </a:prstGeom>
          <a:solidFill>
            <a:srgbClr val="FFFFFF"/>
          </a:solidFill>
          <a:ln w="9525">
            <a:solidFill>
              <a:srgbClr val="000000"/>
            </a:solidFill>
            <a:miter lim="800000"/>
            <a:headEnd/>
            <a:tailEnd/>
          </a:ln>
        </p:spPr>
        <p:txBody>
          <a:bodyPr/>
          <a:lstStyle/>
          <a:p>
            <a:pPr algn="ctr"/>
            <a:r>
              <a:rPr lang="en-US" sz="800" b="0" i="0">
                <a:effectLst/>
                <a:latin typeface="Arial" charset="0"/>
              </a:rPr>
              <a:t>LAND</a:t>
            </a:r>
          </a:p>
          <a:p>
            <a:pPr algn="ctr"/>
            <a:r>
              <a:rPr lang="en-US" sz="800" b="0" i="0">
                <a:effectLst/>
                <a:latin typeface="Arial" charset="0"/>
              </a:rPr>
              <a:t>PURCHASE</a:t>
            </a:r>
          </a:p>
          <a:p>
            <a:pPr algn="ctr"/>
            <a:r>
              <a:rPr lang="en-US" sz="900">
                <a:effectLst/>
                <a:latin typeface="Arial" charset="0"/>
              </a:rPr>
              <a:t>“Time 0”</a:t>
            </a:r>
            <a:endParaRPr lang="en-US" sz="1800" b="0" i="0">
              <a:effectLst/>
              <a:latin typeface="Arial" charset="0"/>
            </a:endParaRPr>
          </a:p>
        </p:txBody>
      </p:sp>
      <p:sp>
        <p:nvSpPr>
          <p:cNvPr id="332813" name="Line 13"/>
          <p:cNvSpPr>
            <a:spLocks noChangeShapeType="1"/>
          </p:cNvSpPr>
          <p:nvPr/>
        </p:nvSpPr>
        <p:spPr bwMode="auto">
          <a:xfrm flipV="1">
            <a:off x="2719388" y="5500688"/>
            <a:ext cx="0" cy="530225"/>
          </a:xfrm>
          <a:prstGeom prst="line">
            <a:avLst/>
          </a:prstGeom>
          <a:noFill/>
          <a:ln w="9525">
            <a:solidFill>
              <a:srgbClr val="000000"/>
            </a:solidFill>
            <a:round/>
            <a:headEnd/>
            <a:tailEnd type="triangle" w="med" len="med"/>
          </a:ln>
        </p:spPr>
        <p:txBody>
          <a:bodyPr/>
          <a:lstStyle/>
          <a:p>
            <a:endParaRPr lang="en-US"/>
          </a:p>
        </p:txBody>
      </p:sp>
      <p:sp>
        <p:nvSpPr>
          <p:cNvPr id="332814" name="Text Box 14"/>
          <p:cNvSpPr txBox="1">
            <a:spLocks noChangeArrowheads="1"/>
          </p:cNvSpPr>
          <p:nvPr/>
        </p:nvSpPr>
        <p:spPr bwMode="auto">
          <a:xfrm>
            <a:off x="3962400" y="6030913"/>
            <a:ext cx="1095375" cy="522287"/>
          </a:xfrm>
          <a:prstGeom prst="rect">
            <a:avLst/>
          </a:prstGeom>
          <a:solidFill>
            <a:srgbClr val="FFFFFF"/>
          </a:solidFill>
          <a:ln w="9525">
            <a:solidFill>
              <a:srgbClr val="000000"/>
            </a:solidFill>
            <a:miter lim="800000"/>
            <a:headEnd/>
            <a:tailEnd/>
          </a:ln>
        </p:spPr>
        <p:txBody>
          <a:bodyPr/>
          <a:lstStyle/>
          <a:p>
            <a:pPr algn="ctr"/>
            <a:r>
              <a:rPr lang="en-US" sz="800" b="0" i="0">
                <a:effectLst/>
                <a:latin typeface="Arial" charset="0"/>
              </a:rPr>
              <a:t>SHELL COMPLETION</a:t>
            </a:r>
          </a:p>
          <a:p>
            <a:pPr algn="ctr"/>
            <a:r>
              <a:rPr lang="en-US" sz="900">
                <a:effectLst/>
                <a:latin typeface="Arial" charset="0"/>
              </a:rPr>
              <a:t>“Time T</a:t>
            </a:r>
            <a:r>
              <a:rPr lang="en-US" sz="900" baseline="-25000">
                <a:effectLst/>
                <a:latin typeface="Arial" charset="0"/>
              </a:rPr>
              <a:t>1</a:t>
            </a:r>
            <a:r>
              <a:rPr lang="en-US" sz="900">
                <a:effectLst/>
                <a:latin typeface="Arial" charset="0"/>
              </a:rPr>
              <a:t>”</a:t>
            </a:r>
          </a:p>
          <a:p>
            <a:pPr algn="ctr"/>
            <a:endParaRPr lang="en-US" sz="800" b="0" i="0">
              <a:effectLst/>
              <a:latin typeface="Arial" charset="0"/>
            </a:endParaRPr>
          </a:p>
          <a:p>
            <a:endParaRPr lang="en-US" sz="1800" b="0" i="0">
              <a:effectLst/>
              <a:latin typeface="Arial" charset="0"/>
            </a:endParaRPr>
          </a:p>
        </p:txBody>
      </p:sp>
      <p:sp>
        <p:nvSpPr>
          <p:cNvPr id="332815" name="Line 15"/>
          <p:cNvSpPr>
            <a:spLocks noChangeShapeType="1"/>
          </p:cNvSpPr>
          <p:nvPr/>
        </p:nvSpPr>
        <p:spPr bwMode="auto">
          <a:xfrm flipV="1">
            <a:off x="4633913" y="5500688"/>
            <a:ext cx="0" cy="530225"/>
          </a:xfrm>
          <a:prstGeom prst="line">
            <a:avLst/>
          </a:prstGeom>
          <a:noFill/>
          <a:ln w="9525">
            <a:solidFill>
              <a:srgbClr val="000000"/>
            </a:solidFill>
            <a:round/>
            <a:headEnd/>
            <a:tailEnd type="triangle" w="med" len="med"/>
          </a:ln>
        </p:spPr>
        <p:txBody>
          <a:bodyPr/>
          <a:lstStyle/>
          <a:p>
            <a:endParaRPr lang="en-US"/>
          </a:p>
        </p:txBody>
      </p:sp>
      <p:sp>
        <p:nvSpPr>
          <p:cNvPr id="332816" name="Text Box 16"/>
          <p:cNvSpPr txBox="1">
            <a:spLocks noChangeArrowheads="1"/>
          </p:cNvSpPr>
          <p:nvPr/>
        </p:nvSpPr>
        <p:spPr bwMode="auto">
          <a:xfrm>
            <a:off x="4738688" y="5605463"/>
            <a:ext cx="1276350" cy="320675"/>
          </a:xfrm>
          <a:prstGeom prst="rect">
            <a:avLst/>
          </a:prstGeom>
          <a:solidFill>
            <a:srgbClr val="FFFFFF"/>
          </a:solidFill>
          <a:ln w="9525">
            <a:noFill/>
            <a:miter lim="800000"/>
            <a:headEnd/>
            <a:tailEnd/>
          </a:ln>
        </p:spPr>
        <p:txBody>
          <a:bodyPr/>
          <a:lstStyle/>
          <a:p>
            <a:pPr algn="ctr"/>
            <a:r>
              <a:rPr lang="en-US" sz="800" b="0" i="0">
                <a:effectLst/>
                <a:latin typeface="Arial" charset="0"/>
              </a:rPr>
              <a:t>LEASE-UP &amp; TENANT FINISHES</a:t>
            </a:r>
            <a:endParaRPr lang="en-US" sz="1800" b="0" i="0">
              <a:effectLst/>
              <a:latin typeface="Arial" charset="0"/>
            </a:endParaRPr>
          </a:p>
        </p:txBody>
      </p:sp>
      <p:sp>
        <p:nvSpPr>
          <p:cNvPr id="332817" name="Line 17"/>
          <p:cNvSpPr>
            <a:spLocks noChangeShapeType="1"/>
          </p:cNvSpPr>
          <p:nvPr/>
        </p:nvSpPr>
        <p:spPr bwMode="auto">
          <a:xfrm>
            <a:off x="2719388" y="5181600"/>
            <a:ext cx="0" cy="319088"/>
          </a:xfrm>
          <a:prstGeom prst="line">
            <a:avLst/>
          </a:prstGeom>
          <a:noFill/>
          <a:ln w="9525" cap="rnd">
            <a:solidFill>
              <a:srgbClr val="000000"/>
            </a:solidFill>
            <a:prstDash val="sysDot"/>
            <a:round/>
            <a:headEnd/>
            <a:tailEnd/>
          </a:ln>
        </p:spPr>
        <p:txBody>
          <a:bodyPr/>
          <a:lstStyle/>
          <a:p>
            <a:endParaRPr lang="en-US"/>
          </a:p>
        </p:txBody>
      </p:sp>
      <p:sp>
        <p:nvSpPr>
          <p:cNvPr id="332818" name="Line 18"/>
          <p:cNvSpPr>
            <a:spLocks noChangeShapeType="1"/>
          </p:cNvSpPr>
          <p:nvPr/>
        </p:nvSpPr>
        <p:spPr bwMode="auto">
          <a:xfrm>
            <a:off x="4633913" y="1354138"/>
            <a:ext cx="0" cy="4146550"/>
          </a:xfrm>
          <a:prstGeom prst="line">
            <a:avLst/>
          </a:prstGeom>
          <a:noFill/>
          <a:ln w="9525" cap="rnd">
            <a:solidFill>
              <a:srgbClr val="000000"/>
            </a:solidFill>
            <a:prstDash val="sysDot"/>
            <a:round/>
            <a:headEnd/>
            <a:tailEnd/>
          </a:ln>
        </p:spPr>
        <p:txBody>
          <a:bodyPr/>
          <a:lstStyle/>
          <a:p>
            <a:endParaRPr lang="en-US"/>
          </a:p>
        </p:txBody>
      </p:sp>
      <p:sp>
        <p:nvSpPr>
          <p:cNvPr id="332819" name="Line 19"/>
          <p:cNvSpPr>
            <a:spLocks noChangeShapeType="1"/>
          </p:cNvSpPr>
          <p:nvPr/>
        </p:nvSpPr>
        <p:spPr bwMode="auto">
          <a:xfrm>
            <a:off x="6121400" y="928688"/>
            <a:ext cx="0" cy="4572000"/>
          </a:xfrm>
          <a:prstGeom prst="line">
            <a:avLst/>
          </a:prstGeom>
          <a:noFill/>
          <a:ln w="9525" cap="rnd">
            <a:solidFill>
              <a:srgbClr val="000000"/>
            </a:solidFill>
            <a:prstDash val="sysDot"/>
            <a:round/>
            <a:headEnd/>
            <a:tailEnd/>
          </a:ln>
        </p:spPr>
        <p:txBody>
          <a:bodyPr/>
          <a:lstStyle/>
          <a:p>
            <a:endParaRPr lang="en-US"/>
          </a:p>
        </p:txBody>
      </p:sp>
      <p:sp>
        <p:nvSpPr>
          <p:cNvPr id="332820" name="Text Box 20"/>
          <p:cNvSpPr txBox="1">
            <a:spLocks noChangeArrowheads="1"/>
          </p:cNvSpPr>
          <p:nvPr/>
        </p:nvSpPr>
        <p:spPr bwMode="auto">
          <a:xfrm>
            <a:off x="6227763" y="5605463"/>
            <a:ext cx="850900" cy="320675"/>
          </a:xfrm>
          <a:prstGeom prst="rect">
            <a:avLst/>
          </a:prstGeom>
          <a:noFill/>
          <a:ln w="9525">
            <a:noFill/>
            <a:miter lim="800000"/>
            <a:headEnd/>
            <a:tailEnd/>
          </a:ln>
        </p:spPr>
        <p:txBody>
          <a:bodyPr/>
          <a:lstStyle/>
          <a:p>
            <a:r>
              <a:rPr lang="en-US" sz="800" b="0" i="0">
                <a:effectLst/>
                <a:latin typeface="Arial" charset="0"/>
              </a:rPr>
              <a:t>STABILIZED </a:t>
            </a:r>
            <a:r>
              <a:rPr lang="en-US" sz="800" b="0" i="0">
                <a:effectLst/>
                <a:latin typeface="Arial" charset="0"/>
                <a:sym typeface="Wingdings" pitchFamily="2" charset="2"/>
              </a:rPr>
              <a:t></a:t>
            </a:r>
            <a:endParaRPr lang="en-US" sz="800" b="0" i="0">
              <a:effectLst/>
              <a:latin typeface="Arial" charset="0"/>
            </a:endParaRPr>
          </a:p>
          <a:p>
            <a:r>
              <a:rPr lang="en-US" sz="800" b="0" i="0">
                <a:effectLst/>
                <a:latin typeface="Arial" charset="0"/>
              </a:rPr>
              <a:t>OPERATION </a:t>
            </a:r>
            <a:r>
              <a:rPr lang="en-US" sz="800" b="0" i="0">
                <a:effectLst/>
                <a:latin typeface="Arial" charset="0"/>
                <a:sym typeface="Wingdings" pitchFamily="2" charset="2"/>
              </a:rPr>
              <a:t></a:t>
            </a:r>
            <a:endParaRPr lang="en-US" sz="1800" b="0" i="0">
              <a:effectLst/>
              <a:latin typeface="Arial" charset="0"/>
            </a:endParaRPr>
          </a:p>
        </p:txBody>
      </p:sp>
      <p:sp>
        <p:nvSpPr>
          <p:cNvPr id="332821" name="Text Box 21"/>
          <p:cNvSpPr txBox="1">
            <a:spLocks noChangeArrowheads="1"/>
          </p:cNvSpPr>
          <p:nvPr/>
        </p:nvSpPr>
        <p:spPr bwMode="auto">
          <a:xfrm>
            <a:off x="381000" y="1141413"/>
            <a:ext cx="319088" cy="4251325"/>
          </a:xfrm>
          <a:prstGeom prst="rect">
            <a:avLst/>
          </a:prstGeom>
          <a:noFill/>
          <a:ln w="9525">
            <a:noFill/>
            <a:miter lim="800000"/>
            <a:headEnd/>
            <a:tailEnd/>
          </a:ln>
        </p:spPr>
        <p:txBody>
          <a:bodyPr/>
          <a:lstStyle/>
          <a:p>
            <a:pPr algn="ctr"/>
            <a:r>
              <a:rPr lang="en-US" sz="1200" b="0" i="0">
                <a:effectLst/>
                <a:latin typeface="Arial" charset="0"/>
              </a:rPr>
              <a:t>$</a:t>
            </a:r>
          </a:p>
          <a:p>
            <a:pPr algn="ctr"/>
            <a:endParaRPr lang="en-US" sz="1200" b="0" i="0">
              <a:effectLst/>
              <a:latin typeface="Arial" charset="0"/>
            </a:endParaRPr>
          </a:p>
          <a:p>
            <a:pPr algn="ctr"/>
            <a:r>
              <a:rPr lang="en-US" sz="1200" b="0" i="0">
                <a:effectLst/>
                <a:latin typeface="Arial" charset="0"/>
              </a:rPr>
              <a:t>C</a:t>
            </a:r>
          </a:p>
          <a:p>
            <a:pPr algn="ctr"/>
            <a:r>
              <a:rPr lang="en-US" sz="1200" b="0" i="0">
                <a:effectLst/>
                <a:latin typeface="Arial" charset="0"/>
              </a:rPr>
              <a:t>UMULAT</a:t>
            </a:r>
          </a:p>
          <a:p>
            <a:pPr algn="ctr"/>
            <a:r>
              <a:rPr lang="en-US" sz="1200" b="0" i="0">
                <a:effectLst/>
                <a:latin typeface="Arial" charset="0"/>
              </a:rPr>
              <a:t>IVE</a:t>
            </a:r>
          </a:p>
          <a:p>
            <a:pPr algn="ctr"/>
            <a:r>
              <a:rPr lang="en-US" sz="1200" b="0" i="0">
                <a:effectLst/>
                <a:latin typeface="Arial" charset="0"/>
              </a:rPr>
              <a:t> INVESTME NT</a:t>
            </a:r>
          </a:p>
          <a:p>
            <a:pPr algn="ctr"/>
            <a:endParaRPr lang="en-US" sz="1200" b="0" i="0">
              <a:effectLst/>
              <a:latin typeface="Arial" charset="0"/>
            </a:endParaRPr>
          </a:p>
          <a:p>
            <a:pPr algn="ctr"/>
            <a:r>
              <a:rPr lang="en-US" sz="1200" b="0" i="0">
                <a:effectLst/>
                <a:latin typeface="Arial" charset="0"/>
              </a:rPr>
              <a:t>$</a:t>
            </a:r>
            <a:endParaRPr lang="en-US" sz="1800" b="0" i="0">
              <a:effectLst/>
              <a:latin typeface="Arial" charset="0"/>
            </a:endParaRPr>
          </a:p>
        </p:txBody>
      </p:sp>
      <p:sp>
        <p:nvSpPr>
          <p:cNvPr id="332822" name="Line 22"/>
          <p:cNvSpPr>
            <a:spLocks noChangeShapeType="1"/>
          </p:cNvSpPr>
          <p:nvPr/>
        </p:nvSpPr>
        <p:spPr bwMode="auto">
          <a:xfrm flipV="1">
            <a:off x="7078663" y="715963"/>
            <a:ext cx="0" cy="5314950"/>
          </a:xfrm>
          <a:prstGeom prst="line">
            <a:avLst/>
          </a:prstGeom>
          <a:noFill/>
          <a:ln w="38100" cmpd="dbl">
            <a:solidFill>
              <a:srgbClr val="000000"/>
            </a:solidFill>
            <a:round/>
            <a:headEnd/>
            <a:tailEnd/>
          </a:ln>
        </p:spPr>
        <p:txBody>
          <a:bodyPr/>
          <a:lstStyle/>
          <a:p>
            <a:endParaRPr lang="en-US"/>
          </a:p>
        </p:txBody>
      </p:sp>
      <p:sp>
        <p:nvSpPr>
          <p:cNvPr id="332823" name="Line 23"/>
          <p:cNvSpPr>
            <a:spLocks noChangeShapeType="1"/>
          </p:cNvSpPr>
          <p:nvPr/>
        </p:nvSpPr>
        <p:spPr bwMode="auto">
          <a:xfrm>
            <a:off x="2719388" y="5181600"/>
            <a:ext cx="4359275" cy="0"/>
          </a:xfrm>
          <a:prstGeom prst="line">
            <a:avLst/>
          </a:prstGeom>
          <a:noFill/>
          <a:ln w="9525" cap="rnd">
            <a:solidFill>
              <a:srgbClr val="000000"/>
            </a:solidFill>
            <a:prstDash val="sysDot"/>
            <a:round/>
            <a:headEnd/>
            <a:tailEnd/>
          </a:ln>
        </p:spPr>
        <p:txBody>
          <a:bodyPr/>
          <a:lstStyle/>
          <a:p>
            <a:endParaRPr lang="en-US"/>
          </a:p>
        </p:txBody>
      </p:sp>
      <p:sp>
        <p:nvSpPr>
          <p:cNvPr id="332824" name="Line 24"/>
          <p:cNvSpPr>
            <a:spLocks noChangeShapeType="1"/>
          </p:cNvSpPr>
          <p:nvPr/>
        </p:nvSpPr>
        <p:spPr bwMode="auto">
          <a:xfrm>
            <a:off x="2719388" y="4224338"/>
            <a:ext cx="4359275" cy="0"/>
          </a:xfrm>
          <a:prstGeom prst="line">
            <a:avLst/>
          </a:prstGeom>
          <a:noFill/>
          <a:ln w="9525" cap="rnd">
            <a:solidFill>
              <a:srgbClr val="000000"/>
            </a:solidFill>
            <a:prstDash val="sysDot"/>
            <a:round/>
            <a:headEnd/>
            <a:tailEnd/>
          </a:ln>
        </p:spPr>
        <p:txBody>
          <a:bodyPr/>
          <a:lstStyle/>
          <a:p>
            <a:endParaRPr lang="en-US"/>
          </a:p>
        </p:txBody>
      </p:sp>
      <p:sp>
        <p:nvSpPr>
          <p:cNvPr id="332825" name="Text Box 25"/>
          <p:cNvSpPr txBox="1">
            <a:spLocks noChangeArrowheads="1"/>
          </p:cNvSpPr>
          <p:nvPr/>
        </p:nvSpPr>
        <p:spPr bwMode="auto">
          <a:xfrm>
            <a:off x="5562600" y="6030913"/>
            <a:ext cx="984250" cy="522287"/>
          </a:xfrm>
          <a:prstGeom prst="rect">
            <a:avLst/>
          </a:prstGeom>
          <a:solidFill>
            <a:srgbClr val="FFFFFF"/>
          </a:solidFill>
          <a:ln w="9525">
            <a:solidFill>
              <a:srgbClr val="000000"/>
            </a:solidFill>
            <a:miter lim="800000"/>
            <a:headEnd/>
            <a:tailEnd/>
          </a:ln>
        </p:spPr>
        <p:txBody>
          <a:bodyPr/>
          <a:lstStyle/>
          <a:p>
            <a:pPr algn="ctr"/>
            <a:r>
              <a:rPr lang="en-US" sz="800" b="0" i="0">
                <a:effectLst/>
                <a:latin typeface="Arial" charset="0"/>
              </a:rPr>
              <a:t>DEVLPMT COMPLETION</a:t>
            </a:r>
          </a:p>
          <a:p>
            <a:pPr algn="ctr"/>
            <a:r>
              <a:rPr lang="en-US" sz="900">
                <a:effectLst/>
                <a:latin typeface="Arial" charset="0"/>
              </a:rPr>
              <a:t>“Time T</a:t>
            </a:r>
            <a:r>
              <a:rPr lang="en-US" sz="900" baseline="-25000">
                <a:effectLst/>
                <a:latin typeface="Arial" charset="0"/>
              </a:rPr>
              <a:t>2</a:t>
            </a:r>
            <a:r>
              <a:rPr lang="en-US" sz="900">
                <a:effectLst/>
                <a:latin typeface="Arial" charset="0"/>
              </a:rPr>
              <a:t>”</a:t>
            </a:r>
          </a:p>
          <a:p>
            <a:pPr algn="ctr"/>
            <a:endParaRPr lang="en-US" sz="800" b="0" i="0">
              <a:effectLst/>
              <a:latin typeface="Arial" charset="0"/>
            </a:endParaRPr>
          </a:p>
          <a:p>
            <a:pPr algn="ctr"/>
            <a:endParaRPr lang="en-US" sz="800" b="0" i="0">
              <a:effectLst/>
              <a:latin typeface="Arial" charset="0"/>
            </a:endParaRPr>
          </a:p>
          <a:p>
            <a:endParaRPr lang="en-US" sz="1800" b="0" i="0">
              <a:effectLst/>
              <a:latin typeface="Arial" charset="0"/>
            </a:endParaRPr>
          </a:p>
        </p:txBody>
      </p:sp>
      <p:sp>
        <p:nvSpPr>
          <p:cNvPr id="332826" name="Line 26"/>
          <p:cNvSpPr>
            <a:spLocks noChangeShapeType="1"/>
          </p:cNvSpPr>
          <p:nvPr/>
        </p:nvSpPr>
        <p:spPr bwMode="auto">
          <a:xfrm flipV="1">
            <a:off x="6121400" y="5500688"/>
            <a:ext cx="1588" cy="530225"/>
          </a:xfrm>
          <a:prstGeom prst="line">
            <a:avLst/>
          </a:prstGeom>
          <a:noFill/>
          <a:ln w="9525">
            <a:solidFill>
              <a:srgbClr val="000000"/>
            </a:solidFill>
            <a:round/>
            <a:headEnd/>
            <a:tailEnd type="triangle" w="med" len="med"/>
          </a:ln>
        </p:spPr>
        <p:txBody>
          <a:bodyPr/>
          <a:lstStyle/>
          <a:p>
            <a:endParaRPr lang="en-US"/>
          </a:p>
        </p:txBody>
      </p:sp>
      <p:sp>
        <p:nvSpPr>
          <p:cNvPr id="332827" name="Text Box 27"/>
          <p:cNvSpPr txBox="1">
            <a:spLocks noChangeArrowheads="1"/>
          </p:cNvSpPr>
          <p:nvPr/>
        </p:nvSpPr>
        <p:spPr bwMode="auto">
          <a:xfrm>
            <a:off x="7078663" y="5181600"/>
            <a:ext cx="1379537" cy="457200"/>
          </a:xfrm>
          <a:prstGeom prst="rect">
            <a:avLst/>
          </a:prstGeom>
          <a:noFill/>
          <a:ln w="9525">
            <a:noFill/>
            <a:miter lim="800000"/>
            <a:headEnd/>
            <a:tailEnd/>
          </a:ln>
        </p:spPr>
        <p:txBody>
          <a:bodyPr/>
          <a:lstStyle/>
          <a:p>
            <a:r>
              <a:rPr lang="en-US" sz="800" b="0" i="0">
                <a:effectLst/>
                <a:latin typeface="Arial" charset="0"/>
              </a:rPr>
              <a:t>ENTREPRENEURIAL</a:t>
            </a:r>
          </a:p>
          <a:p>
            <a:r>
              <a:rPr lang="en-US" sz="800" b="0" i="0">
                <a:effectLst/>
                <a:latin typeface="Arial" charset="0"/>
              </a:rPr>
              <a:t>DEVLPR SEED EQUITY</a:t>
            </a:r>
            <a:endParaRPr lang="en-US" sz="1800" b="0" i="0">
              <a:effectLst/>
              <a:latin typeface="Arial" charset="0"/>
            </a:endParaRPr>
          </a:p>
        </p:txBody>
      </p:sp>
      <p:sp>
        <p:nvSpPr>
          <p:cNvPr id="332828" name="Line 28"/>
          <p:cNvSpPr>
            <a:spLocks noChangeShapeType="1"/>
          </p:cNvSpPr>
          <p:nvPr/>
        </p:nvSpPr>
        <p:spPr bwMode="auto">
          <a:xfrm>
            <a:off x="7078663" y="5181600"/>
            <a:ext cx="1168400" cy="0"/>
          </a:xfrm>
          <a:prstGeom prst="line">
            <a:avLst/>
          </a:prstGeom>
          <a:noFill/>
          <a:ln w="9525">
            <a:solidFill>
              <a:srgbClr val="000000"/>
            </a:solidFill>
            <a:round/>
            <a:headEnd/>
            <a:tailEnd/>
          </a:ln>
        </p:spPr>
        <p:txBody>
          <a:bodyPr/>
          <a:lstStyle/>
          <a:p>
            <a:endParaRPr lang="en-US"/>
          </a:p>
        </p:txBody>
      </p:sp>
      <p:sp>
        <p:nvSpPr>
          <p:cNvPr id="332829" name="Text Box 29"/>
          <p:cNvSpPr txBox="1">
            <a:spLocks noChangeArrowheads="1"/>
          </p:cNvSpPr>
          <p:nvPr/>
        </p:nvSpPr>
        <p:spPr bwMode="auto">
          <a:xfrm>
            <a:off x="7086600" y="381000"/>
            <a:ext cx="1274763" cy="457200"/>
          </a:xfrm>
          <a:prstGeom prst="rect">
            <a:avLst/>
          </a:prstGeom>
          <a:noFill/>
          <a:ln w="9525">
            <a:noFill/>
            <a:miter lim="800000"/>
            <a:headEnd/>
            <a:tailEnd/>
          </a:ln>
        </p:spPr>
        <p:txBody>
          <a:bodyPr/>
          <a:lstStyle/>
          <a:p>
            <a:pPr algn="ctr"/>
            <a:endParaRPr lang="en-US" sz="800" b="0" i="0">
              <a:effectLst/>
              <a:latin typeface="Arial" charset="0"/>
            </a:endParaRPr>
          </a:p>
          <a:p>
            <a:pPr algn="ctr"/>
            <a:r>
              <a:rPr lang="en-US" sz="800" b="0" i="0">
                <a:effectLst/>
                <a:latin typeface="Arial" charset="0"/>
              </a:rPr>
              <a:t>SOURCES OF CAPITAL:</a:t>
            </a:r>
            <a:endParaRPr lang="en-US" sz="1800" b="0" i="0">
              <a:effectLst/>
              <a:latin typeface="Arial" charset="0"/>
            </a:endParaRPr>
          </a:p>
        </p:txBody>
      </p:sp>
      <p:sp>
        <p:nvSpPr>
          <p:cNvPr id="332830" name="Text Box 30"/>
          <p:cNvSpPr txBox="1">
            <a:spLocks noChangeArrowheads="1"/>
          </p:cNvSpPr>
          <p:nvPr/>
        </p:nvSpPr>
        <p:spPr bwMode="auto">
          <a:xfrm>
            <a:off x="7078663" y="4224338"/>
            <a:ext cx="1274762" cy="955675"/>
          </a:xfrm>
          <a:prstGeom prst="rect">
            <a:avLst/>
          </a:prstGeom>
          <a:noFill/>
          <a:ln w="9525">
            <a:noFill/>
            <a:miter lim="800000"/>
            <a:headEnd/>
            <a:tailEnd/>
          </a:ln>
        </p:spPr>
        <p:txBody>
          <a:bodyPr/>
          <a:lstStyle/>
          <a:p>
            <a:r>
              <a:rPr lang="en-US" sz="800" b="0" i="0">
                <a:effectLst/>
              </a:rPr>
              <a:t>EXTERNAL EQUITY &amp;/OR MEZZ DEBT INVESTORS:</a:t>
            </a:r>
          </a:p>
          <a:p>
            <a:r>
              <a:rPr lang="en-US" sz="800" b="0" i="0">
                <a:effectLst/>
              </a:rPr>
              <a:t>OPPTY FUNDS, INSTNS, FOREIGN INVSTRS, WEALTHY INDIVIDUALS, REITS</a:t>
            </a:r>
          </a:p>
        </p:txBody>
      </p:sp>
      <p:sp>
        <p:nvSpPr>
          <p:cNvPr id="332831" name="Text Box 31"/>
          <p:cNvSpPr txBox="1">
            <a:spLocks noChangeArrowheads="1"/>
          </p:cNvSpPr>
          <p:nvPr/>
        </p:nvSpPr>
        <p:spPr bwMode="auto">
          <a:xfrm>
            <a:off x="7078663" y="928688"/>
            <a:ext cx="1455737" cy="2957512"/>
          </a:xfrm>
          <a:prstGeom prst="rect">
            <a:avLst/>
          </a:prstGeom>
          <a:noFill/>
          <a:ln w="9525">
            <a:noFill/>
            <a:miter lim="800000"/>
            <a:headEnd/>
            <a:tailEnd/>
          </a:ln>
        </p:spPr>
        <p:txBody>
          <a:bodyPr/>
          <a:lstStyle/>
          <a:p>
            <a:r>
              <a:rPr lang="en-US" sz="800" b="0" i="0" u="sng" dirty="0">
                <a:effectLst/>
              </a:rPr>
              <a:t>DEVLPT CAPITAL</a:t>
            </a:r>
          </a:p>
          <a:p>
            <a:r>
              <a:rPr lang="en-US" sz="800" b="0" dirty="0" err="1">
                <a:effectLst/>
              </a:rPr>
              <a:t>Betw</a:t>
            </a:r>
            <a:r>
              <a:rPr lang="en-US" sz="800" b="0" dirty="0">
                <a:effectLst/>
              </a:rPr>
              <a:t> 0 &amp; T…</a:t>
            </a:r>
          </a:p>
          <a:p>
            <a:r>
              <a:rPr lang="en-US" sz="800" b="0" i="0" dirty="0">
                <a:effectLst/>
              </a:rPr>
              <a:t>FROM COMMERCIAL BANKS:</a:t>
            </a:r>
          </a:p>
          <a:p>
            <a:r>
              <a:rPr lang="en-US" sz="800" b="0" i="0" dirty="0">
                <a:effectLst/>
              </a:rPr>
              <a:t>TRADITIONAL CONSTRUCTION LOAN DEBT, </a:t>
            </a:r>
          </a:p>
          <a:p>
            <a:r>
              <a:rPr lang="en-US" sz="800" b="0" i="0" dirty="0">
                <a:effectLst/>
              </a:rPr>
              <a:t>FROM </a:t>
            </a:r>
            <a:r>
              <a:rPr lang="en-US" sz="800" b="0" dirty="0">
                <a:effectLst/>
              </a:rPr>
              <a:t>Time 0</a:t>
            </a:r>
            <a:r>
              <a:rPr lang="en-US" sz="800" b="0" i="0" dirty="0">
                <a:effectLst/>
              </a:rPr>
              <a:t>  TO </a:t>
            </a:r>
            <a:r>
              <a:rPr lang="en-US" sz="800" b="0" dirty="0">
                <a:effectLst/>
              </a:rPr>
              <a:t>Time T</a:t>
            </a:r>
            <a:r>
              <a:rPr lang="en-US" sz="800" b="0" baseline="-25000" dirty="0">
                <a:effectLst/>
              </a:rPr>
              <a:t>1</a:t>
            </a:r>
            <a:r>
              <a:rPr lang="en-US" sz="800" b="0" i="0" dirty="0">
                <a:effectLst/>
              </a:rPr>
              <a:t>;</a:t>
            </a:r>
          </a:p>
          <a:p>
            <a:r>
              <a:rPr lang="en-US" sz="800" b="0" i="0" dirty="0">
                <a:effectLst/>
              </a:rPr>
              <a:t>AND/OR</a:t>
            </a:r>
          </a:p>
          <a:p>
            <a:r>
              <a:rPr lang="en-US" sz="800" b="0" i="0" dirty="0">
                <a:effectLst/>
              </a:rPr>
              <a:t>MINI-PERM LOAN DEBT</a:t>
            </a:r>
          </a:p>
          <a:p>
            <a:r>
              <a:rPr lang="en-US" sz="800" b="0" i="0" dirty="0">
                <a:effectLst/>
              </a:rPr>
              <a:t>FROM </a:t>
            </a:r>
            <a:r>
              <a:rPr lang="en-US" sz="800" b="0" dirty="0">
                <a:effectLst/>
              </a:rPr>
              <a:t>Time 0</a:t>
            </a:r>
            <a:r>
              <a:rPr lang="en-US" sz="800" b="0" i="0" dirty="0">
                <a:effectLst/>
              </a:rPr>
              <a:t>  TO </a:t>
            </a:r>
            <a:r>
              <a:rPr lang="en-US" sz="800" b="0" dirty="0">
                <a:effectLst/>
              </a:rPr>
              <a:t>Time T</a:t>
            </a:r>
            <a:r>
              <a:rPr lang="en-US" sz="800" b="0" baseline="-25000" dirty="0">
                <a:effectLst/>
              </a:rPr>
              <a:t>2</a:t>
            </a:r>
            <a:r>
              <a:rPr lang="en-US" sz="800" b="0" i="0" dirty="0">
                <a:effectLst/>
              </a:rPr>
              <a:t>.</a:t>
            </a:r>
          </a:p>
          <a:p>
            <a:endParaRPr lang="en-US" sz="800" b="0" i="0" dirty="0">
              <a:effectLst/>
            </a:endParaRPr>
          </a:p>
          <a:p>
            <a:r>
              <a:rPr lang="fr-FR" sz="800" b="0" i="0" u="sng" dirty="0">
                <a:effectLst/>
              </a:rPr>
              <a:t>PERMANENT FINANCE</a:t>
            </a:r>
          </a:p>
          <a:p>
            <a:r>
              <a:rPr lang="fr-FR" sz="800" b="0" dirty="0" err="1">
                <a:effectLst/>
              </a:rPr>
              <a:t>Beyond</a:t>
            </a:r>
            <a:r>
              <a:rPr lang="fr-FR" sz="800" b="0" dirty="0">
                <a:effectLst/>
              </a:rPr>
              <a:t> Time T…</a:t>
            </a:r>
          </a:p>
          <a:p>
            <a:r>
              <a:rPr lang="en-US" sz="800" b="0" i="0" dirty="0">
                <a:effectLst/>
              </a:rPr>
              <a:t>FROM LICs, PFs, PRIV EQUITY :</a:t>
            </a:r>
          </a:p>
          <a:p>
            <a:r>
              <a:rPr lang="en-US" sz="800" b="0" i="0" dirty="0">
                <a:effectLst/>
              </a:rPr>
              <a:t>L.T. EQUITY</a:t>
            </a:r>
          </a:p>
          <a:p>
            <a:r>
              <a:rPr lang="en-US" sz="800" b="0" i="0" dirty="0">
                <a:effectLst/>
              </a:rPr>
              <a:t>OR</a:t>
            </a:r>
          </a:p>
          <a:p>
            <a:r>
              <a:rPr lang="en-US" sz="800" b="0" i="0" dirty="0">
                <a:effectLst/>
              </a:rPr>
              <a:t>COMMERCIAL MORTGAGE (EITHER CMBS CONDUIT OR WHOLE LOAN)</a:t>
            </a:r>
            <a:endParaRPr lang="en-US" sz="800" b="0" dirty="0">
              <a:effectLst/>
            </a:endParaRPr>
          </a:p>
          <a:p>
            <a:endParaRPr lang="en-US" sz="800" b="0" i="0" dirty="0">
              <a:effectLst/>
            </a:endParaRPr>
          </a:p>
        </p:txBody>
      </p:sp>
      <p:sp>
        <p:nvSpPr>
          <p:cNvPr id="332832" name="Line 32"/>
          <p:cNvSpPr>
            <a:spLocks noChangeShapeType="1"/>
          </p:cNvSpPr>
          <p:nvPr/>
        </p:nvSpPr>
        <p:spPr bwMode="auto">
          <a:xfrm>
            <a:off x="7078663" y="4224338"/>
            <a:ext cx="1168400" cy="0"/>
          </a:xfrm>
          <a:prstGeom prst="line">
            <a:avLst/>
          </a:prstGeom>
          <a:noFill/>
          <a:ln w="9525">
            <a:solidFill>
              <a:srgbClr val="000000"/>
            </a:solidFill>
            <a:round/>
            <a:headEnd/>
            <a:tailEnd/>
          </a:ln>
        </p:spPr>
        <p:txBody>
          <a:bodyPr/>
          <a:lstStyle/>
          <a:p>
            <a:endParaRPr lang="en-US"/>
          </a:p>
        </p:txBody>
      </p:sp>
      <p:sp>
        <p:nvSpPr>
          <p:cNvPr id="332833" name="Text Box 33"/>
          <p:cNvSpPr txBox="1">
            <a:spLocks noChangeArrowheads="1"/>
          </p:cNvSpPr>
          <p:nvPr/>
        </p:nvSpPr>
        <p:spPr bwMode="auto">
          <a:xfrm>
            <a:off x="685800" y="6096000"/>
            <a:ext cx="957263" cy="214313"/>
          </a:xfrm>
          <a:prstGeom prst="rect">
            <a:avLst/>
          </a:prstGeom>
          <a:solidFill>
            <a:srgbClr val="FFFFFF"/>
          </a:solidFill>
          <a:ln w="9525">
            <a:noFill/>
            <a:miter lim="800000"/>
            <a:headEnd/>
            <a:tailEnd/>
          </a:ln>
        </p:spPr>
        <p:txBody>
          <a:bodyPr/>
          <a:lstStyle/>
          <a:p>
            <a:r>
              <a:rPr lang="en-US" sz="1200">
                <a:effectLst/>
                <a:latin typeface="Arial" charset="0"/>
              </a:rPr>
              <a:t>Time </a:t>
            </a:r>
            <a:r>
              <a:rPr lang="en-US" sz="1200">
                <a:effectLst/>
                <a:latin typeface="Arial" charset="0"/>
                <a:sym typeface="Wingdings" pitchFamily="2" charset="2"/>
              </a:rPr>
              <a:t></a:t>
            </a:r>
            <a:endParaRPr lang="en-US" sz="1800" b="0" i="0">
              <a:effectLst/>
              <a:latin typeface="Arial" charset="0"/>
            </a:endParaRPr>
          </a:p>
        </p:txBody>
      </p:sp>
      <p:sp>
        <p:nvSpPr>
          <p:cNvPr id="332834" name="Line 34"/>
          <p:cNvSpPr>
            <a:spLocks noChangeShapeType="1"/>
          </p:cNvSpPr>
          <p:nvPr/>
        </p:nvSpPr>
        <p:spPr bwMode="auto">
          <a:xfrm>
            <a:off x="7078663" y="928688"/>
            <a:ext cx="1274762" cy="0"/>
          </a:xfrm>
          <a:prstGeom prst="line">
            <a:avLst/>
          </a:prstGeom>
          <a:noFill/>
          <a:ln w="9525">
            <a:solidFill>
              <a:srgbClr val="000000"/>
            </a:solidFill>
            <a:round/>
            <a:headEnd/>
            <a:tailEnd/>
          </a:ln>
        </p:spPr>
        <p:txBody>
          <a:bodyPr/>
          <a:lstStyle/>
          <a:p>
            <a:endParaRPr lang="en-US"/>
          </a:p>
        </p:txBody>
      </p:sp>
      <p:sp>
        <p:nvSpPr>
          <p:cNvPr id="332835" name="Line 35"/>
          <p:cNvSpPr>
            <a:spLocks noChangeShapeType="1"/>
          </p:cNvSpPr>
          <p:nvPr/>
        </p:nvSpPr>
        <p:spPr bwMode="auto">
          <a:xfrm flipV="1">
            <a:off x="8459788" y="1247775"/>
            <a:ext cx="1587" cy="4252913"/>
          </a:xfrm>
          <a:prstGeom prst="line">
            <a:avLst/>
          </a:prstGeom>
          <a:noFill/>
          <a:ln w="9525">
            <a:solidFill>
              <a:srgbClr val="000000"/>
            </a:solidFill>
            <a:round/>
            <a:headEnd/>
            <a:tailEnd type="triangle" w="med" len="med"/>
          </a:ln>
        </p:spPr>
        <p:txBody>
          <a:bodyPr/>
          <a:lstStyle/>
          <a:p>
            <a:endParaRPr lang="en-US"/>
          </a:p>
        </p:txBody>
      </p:sp>
      <p:sp>
        <p:nvSpPr>
          <p:cNvPr id="332836" name="Text Box 36"/>
          <p:cNvSpPr txBox="1">
            <a:spLocks noChangeArrowheads="1"/>
          </p:cNvSpPr>
          <p:nvPr/>
        </p:nvSpPr>
        <p:spPr bwMode="auto">
          <a:xfrm>
            <a:off x="8247063" y="2417763"/>
            <a:ext cx="212725" cy="2335212"/>
          </a:xfrm>
          <a:prstGeom prst="rect">
            <a:avLst/>
          </a:prstGeom>
          <a:solidFill>
            <a:srgbClr val="FFFFFF"/>
          </a:solidFill>
          <a:ln w="9525">
            <a:noFill/>
            <a:miter lim="800000"/>
            <a:headEnd/>
            <a:tailEnd/>
          </a:ln>
        </p:spPr>
        <p:txBody>
          <a:bodyPr/>
          <a:lstStyle/>
          <a:p>
            <a:pPr algn="ctr"/>
            <a:r>
              <a:rPr lang="en-US" sz="800" b="0" i="0">
                <a:effectLst/>
                <a:latin typeface="Arial" charset="0"/>
              </a:rPr>
              <a:t>ORDER OF INVESTMENT</a:t>
            </a:r>
            <a:endParaRPr lang="en-US" sz="1800" b="0" i="0">
              <a:effectLst/>
              <a:latin typeface="Arial" charset="0"/>
            </a:endParaRPr>
          </a:p>
        </p:txBody>
      </p:sp>
      <p:sp>
        <p:nvSpPr>
          <p:cNvPr id="332837" name="Line 37"/>
          <p:cNvSpPr>
            <a:spLocks noChangeShapeType="1"/>
          </p:cNvSpPr>
          <p:nvPr/>
        </p:nvSpPr>
        <p:spPr bwMode="auto">
          <a:xfrm>
            <a:off x="8672513" y="1460500"/>
            <a:ext cx="1587" cy="3932238"/>
          </a:xfrm>
          <a:prstGeom prst="line">
            <a:avLst/>
          </a:prstGeom>
          <a:noFill/>
          <a:ln w="9525">
            <a:solidFill>
              <a:srgbClr val="000000"/>
            </a:solidFill>
            <a:round/>
            <a:headEnd/>
            <a:tailEnd type="triangle" w="med" len="med"/>
          </a:ln>
        </p:spPr>
        <p:txBody>
          <a:bodyPr/>
          <a:lstStyle/>
          <a:p>
            <a:endParaRPr lang="en-US"/>
          </a:p>
        </p:txBody>
      </p:sp>
      <p:sp>
        <p:nvSpPr>
          <p:cNvPr id="332838" name="Text Box 38"/>
          <p:cNvSpPr txBox="1">
            <a:spLocks noChangeArrowheads="1"/>
          </p:cNvSpPr>
          <p:nvPr/>
        </p:nvSpPr>
        <p:spPr bwMode="auto">
          <a:xfrm>
            <a:off x="8672513" y="1671638"/>
            <a:ext cx="212725" cy="3295650"/>
          </a:xfrm>
          <a:prstGeom prst="rect">
            <a:avLst/>
          </a:prstGeom>
          <a:noFill/>
          <a:ln w="9525">
            <a:noFill/>
            <a:miter lim="800000"/>
            <a:headEnd/>
            <a:tailEnd/>
          </a:ln>
        </p:spPr>
        <p:txBody>
          <a:bodyPr/>
          <a:lstStyle/>
          <a:p>
            <a:pPr algn="ctr"/>
            <a:r>
              <a:rPr lang="en-US" sz="800" b="0" i="0">
                <a:effectLst/>
                <a:latin typeface="Arial" charset="0"/>
              </a:rPr>
              <a:t>ORDER OF PRIORITY IN PAYBACK</a:t>
            </a:r>
            <a:endParaRPr lang="en-US" sz="1800" b="0" i="0">
              <a:effectLst/>
              <a:latin typeface="Arial" charset="0"/>
            </a:endParaRPr>
          </a:p>
        </p:txBody>
      </p:sp>
      <p:sp>
        <p:nvSpPr>
          <p:cNvPr id="332839" name="Text Box 39"/>
          <p:cNvSpPr txBox="1">
            <a:spLocks noChangeArrowheads="1"/>
          </p:cNvSpPr>
          <p:nvPr/>
        </p:nvSpPr>
        <p:spPr bwMode="auto">
          <a:xfrm>
            <a:off x="1019175" y="822325"/>
            <a:ext cx="2976563" cy="319088"/>
          </a:xfrm>
          <a:prstGeom prst="rect">
            <a:avLst/>
          </a:prstGeom>
          <a:noFill/>
          <a:ln w="9525">
            <a:noFill/>
            <a:miter lim="800000"/>
            <a:headEnd/>
            <a:tailEnd/>
          </a:ln>
        </p:spPr>
        <p:txBody>
          <a:bodyPr/>
          <a:lstStyle/>
          <a:p>
            <a:r>
              <a:rPr lang="en-US" sz="1000" b="0" i="0">
                <a:effectLst/>
                <a:latin typeface="Arial" charset="0"/>
              </a:rPr>
              <a:t>Exhibit 29-1b: Development Project Typical Sources of Investment Capital</a:t>
            </a:r>
            <a:endParaRPr lang="en-US" sz="1800" b="0" i="0">
              <a:effectLst/>
              <a:latin typeface="Arial" charset="0"/>
            </a:endParaRPr>
          </a:p>
        </p:txBody>
      </p:sp>
      <p:sp>
        <p:nvSpPr>
          <p:cNvPr id="332840" name="Text Box 40"/>
          <p:cNvSpPr txBox="1">
            <a:spLocks noChangeArrowheads="1"/>
          </p:cNvSpPr>
          <p:nvPr/>
        </p:nvSpPr>
        <p:spPr bwMode="auto">
          <a:xfrm>
            <a:off x="2400300" y="4967288"/>
            <a:ext cx="319088" cy="320675"/>
          </a:xfrm>
          <a:prstGeom prst="rect">
            <a:avLst/>
          </a:prstGeom>
          <a:noFill/>
          <a:ln w="9525">
            <a:noFill/>
            <a:miter lim="800000"/>
            <a:headEnd/>
            <a:tailEnd/>
          </a:ln>
        </p:spPr>
        <p:txBody>
          <a:bodyPr/>
          <a:lstStyle/>
          <a:p>
            <a:pPr algn="ctr"/>
            <a:r>
              <a:rPr lang="en-US" sz="1000" i="0">
                <a:effectLst/>
                <a:latin typeface="Arial" charset="0"/>
              </a:rPr>
              <a:t>A</a:t>
            </a:r>
            <a:endParaRPr lang="en-US" sz="1800" b="0" i="0">
              <a:effectLst/>
              <a:latin typeface="Arial" charset="0"/>
            </a:endParaRPr>
          </a:p>
        </p:txBody>
      </p:sp>
      <p:sp>
        <p:nvSpPr>
          <p:cNvPr id="332841" name="Text Box 41"/>
          <p:cNvSpPr txBox="1">
            <a:spLocks noChangeArrowheads="1"/>
          </p:cNvSpPr>
          <p:nvPr/>
        </p:nvSpPr>
        <p:spPr bwMode="auto">
          <a:xfrm>
            <a:off x="2400300" y="4010025"/>
            <a:ext cx="319088" cy="320675"/>
          </a:xfrm>
          <a:prstGeom prst="rect">
            <a:avLst/>
          </a:prstGeom>
          <a:noFill/>
          <a:ln w="9525">
            <a:noFill/>
            <a:miter lim="800000"/>
            <a:headEnd/>
            <a:tailEnd/>
          </a:ln>
        </p:spPr>
        <p:txBody>
          <a:bodyPr/>
          <a:lstStyle/>
          <a:p>
            <a:pPr algn="ctr"/>
            <a:r>
              <a:rPr lang="en-US" sz="1000" i="0">
                <a:effectLst/>
                <a:latin typeface="Arial" charset="0"/>
              </a:rPr>
              <a:t>B</a:t>
            </a:r>
            <a:endParaRPr lang="en-US" sz="1800" b="0" i="0">
              <a:effectLst/>
              <a:latin typeface="Arial" charset="0"/>
            </a:endParaRPr>
          </a:p>
        </p:txBody>
      </p:sp>
      <p:sp>
        <p:nvSpPr>
          <p:cNvPr id="332842" name="Text Box 42"/>
          <p:cNvSpPr txBox="1">
            <a:spLocks noChangeArrowheads="1"/>
          </p:cNvSpPr>
          <p:nvPr/>
        </p:nvSpPr>
        <p:spPr bwMode="auto">
          <a:xfrm>
            <a:off x="4314825" y="1141413"/>
            <a:ext cx="319088" cy="320675"/>
          </a:xfrm>
          <a:prstGeom prst="rect">
            <a:avLst/>
          </a:prstGeom>
          <a:noFill/>
          <a:ln w="9525">
            <a:noFill/>
            <a:miter lim="800000"/>
            <a:headEnd/>
            <a:tailEnd/>
          </a:ln>
        </p:spPr>
        <p:txBody>
          <a:bodyPr/>
          <a:lstStyle/>
          <a:p>
            <a:pPr algn="ctr"/>
            <a:r>
              <a:rPr lang="en-US" sz="1000" i="0">
                <a:effectLst/>
                <a:latin typeface="Arial" charset="0"/>
              </a:rPr>
              <a:t>C</a:t>
            </a:r>
            <a:endParaRPr lang="en-US" sz="1800" b="0" i="0">
              <a:effectLst/>
              <a:latin typeface="Arial" charset="0"/>
            </a:endParaRPr>
          </a:p>
        </p:txBody>
      </p:sp>
      <p:sp>
        <p:nvSpPr>
          <p:cNvPr id="332843" name="Text Box 43"/>
          <p:cNvSpPr txBox="1">
            <a:spLocks noChangeArrowheads="1"/>
          </p:cNvSpPr>
          <p:nvPr/>
        </p:nvSpPr>
        <p:spPr bwMode="auto">
          <a:xfrm>
            <a:off x="5908675" y="715963"/>
            <a:ext cx="319088" cy="320675"/>
          </a:xfrm>
          <a:prstGeom prst="rect">
            <a:avLst/>
          </a:prstGeom>
          <a:noFill/>
          <a:ln w="9525">
            <a:noFill/>
            <a:miter lim="800000"/>
            <a:headEnd/>
            <a:tailEnd/>
          </a:ln>
        </p:spPr>
        <p:txBody>
          <a:bodyPr/>
          <a:lstStyle/>
          <a:p>
            <a:pPr algn="ctr"/>
            <a:r>
              <a:rPr lang="en-US" sz="1000" i="0">
                <a:effectLst/>
                <a:latin typeface="Arial" charset="0"/>
              </a:rPr>
              <a:t>D</a:t>
            </a:r>
            <a:endParaRPr lang="en-US" sz="1800" b="0" i="0">
              <a:effectLst/>
              <a:latin typeface="Arial" charset="0"/>
            </a:endParaRPr>
          </a:p>
        </p:txBody>
      </p:sp>
      <p:sp>
        <p:nvSpPr>
          <p:cNvPr id="332844" name="Text Box 44"/>
          <p:cNvSpPr txBox="1">
            <a:spLocks noChangeArrowheads="1"/>
          </p:cNvSpPr>
          <p:nvPr/>
        </p:nvSpPr>
        <p:spPr bwMode="auto">
          <a:xfrm>
            <a:off x="6865938" y="715963"/>
            <a:ext cx="319087" cy="320675"/>
          </a:xfrm>
          <a:prstGeom prst="rect">
            <a:avLst/>
          </a:prstGeom>
          <a:noFill/>
          <a:ln w="9525">
            <a:noFill/>
            <a:miter lim="800000"/>
            <a:headEnd/>
            <a:tailEnd/>
          </a:ln>
        </p:spPr>
        <p:txBody>
          <a:bodyPr/>
          <a:lstStyle/>
          <a:p>
            <a:pPr algn="ctr"/>
            <a:r>
              <a:rPr lang="en-US" sz="1000" i="0">
                <a:effectLst/>
                <a:latin typeface="Arial" charset="0"/>
              </a:rPr>
              <a:t>E</a:t>
            </a:r>
            <a:endParaRPr lang="en-US" sz="1800" b="0" i="0">
              <a:effectLst/>
              <a:latin typeface="Arial" charset="0"/>
            </a:endParaRPr>
          </a:p>
        </p:txBody>
      </p:sp>
      <p:sp>
        <p:nvSpPr>
          <p:cNvPr id="332845" name="Text Box 45"/>
          <p:cNvSpPr txBox="1">
            <a:spLocks noChangeArrowheads="1"/>
          </p:cNvSpPr>
          <p:nvPr/>
        </p:nvSpPr>
        <p:spPr bwMode="auto">
          <a:xfrm>
            <a:off x="5908675" y="4967288"/>
            <a:ext cx="319088" cy="320675"/>
          </a:xfrm>
          <a:prstGeom prst="rect">
            <a:avLst/>
          </a:prstGeom>
          <a:noFill/>
          <a:ln w="9525">
            <a:noFill/>
            <a:miter lim="800000"/>
            <a:headEnd/>
            <a:tailEnd/>
          </a:ln>
        </p:spPr>
        <p:txBody>
          <a:bodyPr/>
          <a:lstStyle/>
          <a:p>
            <a:pPr algn="ctr"/>
            <a:r>
              <a:rPr lang="en-US" sz="1000" i="0">
                <a:effectLst/>
                <a:latin typeface="Arial" charset="0"/>
              </a:rPr>
              <a:t>F</a:t>
            </a:r>
            <a:endParaRPr lang="en-US" sz="1800" b="0" i="0">
              <a:effectLst/>
              <a:latin typeface="Arial" charset="0"/>
            </a:endParaRPr>
          </a:p>
        </p:txBody>
      </p:sp>
      <p:sp>
        <p:nvSpPr>
          <p:cNvPr id="332846" name="Text Box 46"/>
          <p:cNvSpPr txBox="1">
            <a:spLocks noChangeArrowheads="1"/>
          </p:cNvSpPr>
          <p:nvPr/>
        </p:nvSpPr>
        <p:spPr bwMode="auto">
          <a:xfrm>
            <a:off x="4421188" y="4010025"/>
            <a:ext cx="317500" cy="320675"/>
          </a:xfrm>
          <a:prstGeom prst="rect">
            <a:avLst/>
          </a:prstGeom>
          <a:noFill/>
          <a:ln w="9525">
            <a:noFill/>
            <a:miter lim="800000"/>
            <a:headEnd/>
            <a:tailEnd/>
          </a:ln>
        </p:spPr>
        <p:txBody>
          <a:bodyPr/>
          <a:lstStyle/>
          <a:p>
            <a:pPr algn="ctr"/>
            <a:r>
              <a:rPr lang="en-US" sz="1000" i="0" dirty="0">
                <a:effectLst/>
                <a:latin typeface="Arial" charset="0"/>
              </a:rPr>
              <a:t>G</a:t>
            </a:r>
            <a:endParaRPr lang="en-US" sz="1800" b="0" i="0" dirty="0">
              <a:effectLst/>
              <a:latin typeface="Arial" charset="0"/>
            </a:endParaRPr>
          </a:p>
        </p:txBody>
      </p:sp>
      <p:sp>
        <p:nvSpPr>
          <p:cNvPr id="332847" name="Text Box 47"/>
          <p:cNvSpPr txBox="1">
            <a:spLocks noChangeArrowheads="1"/>
          </p:cNvSpPr>
          <p:nvPr/>
        </p:nvSpPr>
        <p:spPr bwMode="auto">
          <a:xfrm>
            <a:off x="5908675" y="4010025"/>
            <a:ext cx="319088" cy="320675"/>
          </a:xfrm>
          <a:prstGeom prst="rect">
            <a:avLst/>
          </a:prstGeom>
          <a:noFill/>
          <a:ln w="9525">
            <a:noFill/>
            <a:miter lim="800000"/>
            <a:headEnd/>
            <a:tailEnd/>
          </a:ln>
        </p:spPr>
        <p:txBody>
          <a:bodyPr/>
          <a:lstStyle/>
          <a:p>
            <a:pPr algn="ctr"/>
            <a:r>
              <a:rPr lang="en-US" sz="1000" i="0">
                <a:effectLst/>
                <a:latin typeface="Arial" charset="0"/>
              </a:rPr>
              <a:t>H</a:t>
            </a:r>
            <a:endParaRPr lang="en-US" sz="1800" b="0" i="0">
              <a:effectLst/>
              <a:latin typeface="Arial" charset="0"/>
            </a:endParaRPr>
          </a:p>
        </p:txBody>
      </p:sp>
      <p:sp>
        <p:nvSpPr>
          <p:cNvPr id="332848" name="Text Box 48"/>
          <p:cNvSpPr txBox="1">
            <a:spLocks noChangeArrowheads="1"/>
          </p:cNvSpPr>
          <p:nvPr/>
        </p:nvSpPr>
        <p:spPr bwMode="auto">
          <a:xfrm>
            <a:off x="6865938" y="4010025"/>
            <a:ext cx="319087" cy="320675"/>
          </a:xfrm>
          <a:prstGeom prst="rect">
            <a:avLst/>
          </a:prstGeom>
          <a:noFill/>
          <a:ln w="9525">
            <a:noFill/>
            <a:miter lim="800000"/>
            <a:headEnd/>
            <a:tailEnd/>
          </a:ln>
        </p:spPr>
        <p:txBody>
          <a:bodyPr/>
          <a:lstStyle/>
          <a:p>
            <a:pPr algn="ctr"/>
            <a:r>
              <a:rPr lang="en-US" sz="1000" i="0">
                <a:effectLst/>
                <a:latin typeface="Arial" charset="0"/>
              </a:rPr>
              <a:t>I</a:t>
            </a:r>
            <a:endParaRPr lang="en-US" sz="1800" b="0" i="0">
              <a:effectLst/>
              <a:latin typeface="Arial" charset="0"/>
            </a:endParaRPr>
          </a:p>
        </p:txBody>
      </p:sp>
      <p:sp>
        <p:nvSpPr>
          <p:cNvPr id="332849" name="Text Box 49"/>
          <p:cNvSpPr txBox="1">
            <a:spLocks noChangeArrowheads="1"/>
          </p:cNvSpPr>
          <p:nvPr/>
        </p:nvSpPr>
        <p:spPr bwMode="auto">
          <a:xfrm>
            <a:off x="487363" y="5392738"/>
            <a:ext cx="319087" cy="320675"/>
          </a:xfrm>
          <a:prstGeom prst="rect">
            <a:avLst/>
          </a:prstGeom>
          <a:noFill/>
          <a:ln w="9525">
            <a:noFill/>
            <a:miter lim="800000"/>
            <a:headEnd/>
            <a:tailEnd/>
          </a:ln>
        </p:spPr>
        <p:txBody>
          <a:bodyPr/>
          <a:lstStyle/>
          <a:p>
            <a:pPr algn="ctr"/>
            <a:r>
              <a:rPr lang="en-US" sz="1000" i="0">
                <a:effectLst/>
                <a:latin typeface="Arial" charset="0"/>
              </a:rPr>
              <a:t>O</a:t>
            </a:r>
            <a:endParaRPr lang="en-US" sz="1800" b="0" i="0">
              <a:effectLst/>
              <a:latin typeface="Arial" charset="0"/>
            </a:endParaRPr>
          </a:p>
        </p:txBody>
      </p:sp>
      <p:sp>
        <p:nvSpPr>
          <p:cNvPr id="332850" name="Text Box 50"/>
          <p:cNvSpPr txBox="1">
            <a:spLocks noChangeArrowheads="1"/>
          </p:cNvSpPr>
          <p:nvPr/>
        </p:nvSpPr>
        <p:spPr bwMode="auto">
          <a:xfrm>
            <a:off x="5908675" y="5287963"/>
            <a:ext cx="319088" cy="319087"/>
          </a:xfrm>
          <a:prstGeom prst="rect">
            <a:avLst/>
          </a:prstGeom>
          <a:noFill/>
          <a:ln w="9525">
            <a:noFill/>
            <a:miter lim="800000"/>
            <a:headEnd/>
            <a:tailEnd/>
          </a:ln>
        </p:spPr>
        <p:txBody>
          <a:bodyPr/>
          <a:lstStyle/>
          <a:p>
            <a:pPr algn="ctr"/>
            <a:r>
              <a:rPr lang="en-US" sz="1000" i="0">
                <a:effectLst/>
                <a:latin typeface="Arial" charset="0"/>
              </a:rPr>
              <a:t>Z</a:t>
            </a:r>
            <a:endParaRPr lang="en-US" sz="1800" b="0" i="0">
              <a:effectLst/>
              <a:latin typeface="Arial" charset="0"/>
            </a:endParaRPr>
          </a:p>
        </p:txBody>
      </p:sp>
      <p:sp>
        <p:nvSpPr>
          <p:cNvPr id="54" name="Footer Placeholder 2"/>
          <p:cNvSpPr txBox="1">
            <a:spLocks/>
          </p:cNvSpPr>
          <p:nvPr/>
        </p:nvSpPr>
        <p:spPr bwMode="auto">
          <a:xfrm>
            <a:off x="457200" y="6537326"/>
            <a:ext cx="6035040" cy="32067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1" u="none" strike="noStrike" kern="1200" cap="none" spc="0" normalizeH="0" baseline="0" noProof="0" dirty="0">
                <a:ln>
                  <a:noFill/>
                </a:ln>
                <a:solidFill>
                  <a:schemeClr val="tx2"/>
                </a:solidFill>
                <a:effectLst/>
                <a:uLnTx/>
                <a:uFillTx/>
                <a:latin typeface="Arial" charset="0"/>
                <a:ea typeface="+mn-ea"/>
                <a:cs typeface="+mn-cs"/>
              </a:rPr>
              <a:t>Copyright © 2007 Thomson/South-Western, </a:t>
            </a:r>
            <a:r>
              <a:rPr kumimoji="0" lang="en-US" sz="1100" b="0" i="1" u="none" strike="noStrike" kern="1200" cap="none" spc="0" normalizeH="0" baseline="0" noProof="0" dirty="0" err="1">
                <a:ln>
                  <a:noFill/>
                </a:ln>
                <a:solidFill>
                  <a:schemeClr val="tx2"/>
                </a:solidFill>
                <a:effectLst/>
                <a:uLnTx/>
                <a:uFillTx/>
                <a:latin typeface="Arial" charset="0"/>
                <a:ea typeface="+mn-ea"/>
                <a:cs typeface="+mn-cs"/>
              </a:rPr>
              <a:t>Geltner</a:t>
            </a:r>
            <a:r>
              <a:rPr kumimoji="0" lang="en-US" sz="1100" b="0" i="1" u="none" strike="noStrike" kern="1200" cap="none" spc="0" normalizeH="0" baseline="0" noProof="0" dirty="0">
                <a:ln>
                  <a:noFill/>
                </a:ln>
                <a:solidFill>
                  <a:schemeClr val="tx2"/>
                </a:solidFill>
                <a:effectLst/>
                <a:uLnTx/>
                <a:uFillTx/>
                <a:latin typeface="Arial" charset="0"/>
                <a:ea typeface="+mn-ea"/>
                <a:cs typeface="+mn-cs"/>
              </a:rPr>
              <a:t>/Miller/Clayton/</a:t>
            </a:r>
            <a:r>
              <a:rPr kumimoji="0" lang="en-US" sz="1100" b="0" i="1" u="none" strike="noStrike" kern="1200" cap="none" spc="0" normalizeH="0" baseline="0" noProof="0" dirty="0" err="1">
                <a:ln>
                  <a:noFill/>
                </a:ln>
                <a:solidFill>
                  <a:schemeClr val="tx2"/>
                </a:solidFill>
                <a:effectLst/>
                <a:uLnTx/>
                <a:uFillTx/>
                <a:latin typeface="Arial" charset="0"/>
                <a:ea typeface="+mn-ea"/>
                <a:cs typeface="+mn-cs"/>
              </a:rPr>
              <a:t>Eichholtz</a:t>
            </a:r>
            <a:r>
              <a:rPr kumimoji="0" lang="en-US" sz="1100" b="0" i="1" u="none" strike="noStrike" kern="1200" cap="none" spc="0" normalizeH="0" baseline="0" noProof="0" dirty="0">
                <a:ln>
                  <a:noFill/>
                </a:ln>
                <a:solidFill>
                  <a:schemeClr val="tx2"/>
                </a:solidFill>
                <a:effectLst/>
                <a:uLnTx/>
                <a:uFillTx/>
                <a:latin typeface="Arial" charset="0"/>
                <a:ea typeface="+mn-ea"/>
                <a:cs typeface="+mn-cs"/>
              </a:rPr>
              <a:t>, 2e</a:t>
            </a:r>
          </a:p>
        </p:txBody>
      </p:sp>
    </p:spTree>
    <p:extLst>
      <p:ext uri="{BB962C8B-B14F-4D97-AF65-F5344CB8AC3E}">
        <p14:creationId xmlns:p14="http://schemas.microsoft.com/office/powerpoint/2010/main" val="1608347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4294967295"/>
          </p:nvPr>
        </p:nvSpPr>
        <p:spPr>
          <a:xfrm>
            <a:off x="6553200" y="6245225"/>
            <a:ext cx="2133600" cy="476250"/>
          </a:xfrm>
          <a:prstGeom prst="rect">
            <a:avLst/>
          </a:prstGeom>
        </p:spPr>
        <p:txBody>
          <a:bodyPr/>
          <a:lstStyle/>
          <a:p>
            <a:fld id="{014D3B61-45AD-4EC2-9178-6A7591B3001D}" type="slidenum">
              <a:rPr lang="en-US"/>
              <a:pPr/>
              <a:t>10</a:t>
            </a:fld>
            <a:endParaRPr lang="en-US"/>
          </a:p>
        </p:txBody>
      </p:sp>
      <p:pic>
        <p:nvPicPr>
          <p:cNvPr id="333826" name="Picture 2"/>
          <p:cNvPicPr>
            <a:picLocks noChangeAspect="1" noChangeArrowheads="1"/>
          </p:cNvPicPr>
          <p:nvPr/>
        </p:nvPicPr>
        <p:blipFill>
          <a:blip r:embed="rId2" cstate="print"/>
          <a:srcRect/>
          <a:stretch>
            <a:fillRect/>
          </a:stretch>
        </p:blipFill>
        <p:spPr bwMode="auto">
          <a:xfrm>
            <a:off x="1281113" y="676275"/>
            <a:ext cx="6581775" cy="5505450"/>
          </a:xfrm>
          <a:prstGeom prst="rect">
            <a:avLst/>
          </a:prstGeom>
          <a:noFill/>
        </p:spPr>
      </p:pic>
      <p:sp>
        <p:nvSpPr>
          <p:cNvPr id="333827" name="Text Box 3"/>
          <p:cNvSpPr txBox="1">
            <a:spLocks noChangeArrowheads="1"/>
          </p:cNvSpPr>
          <p:nvPr/>
        </p:nvSpPr>
        <p:spPr bwMode="auto">
          <a:xfrm>
            <a:off x="228600" y="228600"/>
            <a:ext cx="8686800" cy="369332"/>
          </a:xfrm>
          <a:prstGeom prst="rect">
            <a:avLst/>
          </a:prstGeom>
          <a:noFill/>
          <a:ln w="9525">
            <a:noFill/>
            <a:miter lim="800000"/>
            <a:headEnd/>
            <a:tailEnd/>
          </a:ln>
          <a:effectLst/>
        </p:spPr>
        <p:txBody>
          <a:bodyPr wrap="square">
            <a:spAutoFit/>
          </a:bodyPr>
          <a:lstStyle/>
          <a:p>
            <a:pPr>
              <a:spcBef>
                <a:spcPct val="50000"/>
              </a:spcBef>
            </a:pPr>
            <a:r>
              <a:rPr lang="en-US" b="0" dirty="0">
                <a:effectLst/>
              </a:rPr>
              <a:t>From </a:t>
            </a:r>
            <a:r>
              <a:rPr lang="en-US" b="0" dirty="0" err="1">
                <a:effectLst/>
              </a:rPr>
              <a:t>Tod</a:t>
            </a:r>
            <a:r>
              <a:rPr lang="en-US" b="0" dirty="0">
                <a:effectLst/>
              </a:rPr>
              <a:t> McGrath’s analysis of Massachusetts 40B (Low Income Housing) projects</a:t>
            </a:r>
          </a:p>
        </p:txBody>
      </p:sp>
      <p:sp>
        <p:nvSpPr>
          <p:cNvPr id="7" name="Footer Placeholder 2"/>
          <p:cNvSpPr txBox="1">
            <a:spLocks/>
          </p:cNvSpPr>
          <p:nvPr/>
        </p:nvSpPr>
        <p:spPr bwMode="auto">
          <a:xfrm>
            <a:off x="457200" y="6537326"/>
            <a:ext cx="6035040" cy="32067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1" u="none" strike="noStrike" kern="1200" cap="none" spc="0" normalizeH="0" baseline="0" noProof="0" dirty="0">
                <a:ln>
                  <a:noFill/>
                </a:ln>
                <a:solidFill>
                  <a:schemeClr val="tx2"/>
                </a:solidFill>
                <a:effectLst/>
                <a:uLnTx/>
                <a:uFillTx/>
                <a:latin typeface="Arial" charset="0"/>
                <a:ea typeface="+mn-ea"/>
                <a:cs typeface="+mn-cs"/>
              </a:rPr>
              <a:t>Copyright © 2007 Thomson/South-Western, </a:t>
            </a:r>
            <a:r>
              <a:rPr kumimoji="0" lang="en-US" sz="1100" b="0" i="1" u="none" strike="noStrike" kern="1200" cap="none" spc="0" normalizeH="0" baseline="0" noProof="0" dirty="0" err="1">
                <a:ln>
                  <a:noFill/>
                </a:ln>
                <a:solidFill>
                  <a:schemeClr val="tx2"/>
                </a:solidFill>
                <a:effectLst/>
                <a:uLnTx/>
                <a:uFillTx/>
                <a:latin typeface="Arial" charset="0"/>
                <a:ea typeface="+mn-ea"/>
                <a:cs typeface="+mn-cs"/>
              </a:rPr>
              <a:t>Geltner</a:t>
            </a:r>
            <a:r>
              <a:rPr kumimoji="0" lang="en-US" sz="1100" b="0" i="1" u="none" strike="noStrike" kern="1200" cap="none" spc="0" normalizeH="0" baseline="0" noProof="0" dirty="0">
                <a:ln>
                  <a:noFill/>
                </a:ln>
                <a:solidFill>
                  <a:schemeClr val="tx2"/>
                </a:solidFill>
                <a:effectLst/>
                <a:uLnTx/>
                <a:uFillTx/>
                <a:latin typeface="Arial" charset="0"/>
                <a:ea typeface="+mn-ea"/>
                <a:cs typeface="+mn-cs"/>
              </a:rPr>
              <a:t>/Miller/Clayton/</a:t>
            </a:r>
            <a:r>
              <a:rPr kumimoji="0" lang="en-US" sz="1100" b="0" i="1" u="none" strike="noStrike" kern="1200" cap="none" spc="0" normalizeH="0" baseline="0" noProof="0" dirty="0" err="1">
                <a:ln>
                  <a:noFill/>
                </a:ln>
                <a:solidFill>
                  <a:schemeClr val="tx2"/>
                </a:solidFill>
                <a:effectLst/>
                <a:uLnTx/>
                <a:uFillTx/>
                <a:latin typeface="Arial" charset="0"/>
                <a:ea typeface="+mn-ea"/>
                <a:cs typeface="+mn-cs"/>
              </a:rPr>
              <a:t>Eichholtz</a:t>
            </a:r>
            <a:r>
              <a:rPr kumimoji="0" lang="en-US" sz="1100" b="0" i="1" u="none" strike="noStrike" kern="1200" cap="none" spc="0" normalizeH="0" baseline="0" noProof="0" dirty="0">
                <a:ln>
                  <a:noFill/>
                </a:ln>
                <a:solidFill>
                  <a:schemeClr val="tx2"/>
                </a:solidFill>
                <a:effectLst/>
                <a:uLnTx/>
                <a:uFillTx/>
                <a:latin typeface="Arial" charset="0"/>
                <a:ea typeface="+mn-ea"/>
                <a:cs typeface="+mn-cs"/>
              </a:rPr>
              <a:t>, 2e</a:t>
            </a:r>
          </a:p>
        </p:txBody>
      </p:sp>
    </p:spTree>
    <p:extLst>
      <p:ext uri="{BB962C8B-B14F-4D97-AF65-F5344CB8AC3E}">
        <p14:creationId xmlns:p14="http://schemas.microsoft.com/office/powerpoint/2010/main" val="3268919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533400"/>
            <a:ext cx="8229600" cy="1143000"/>
          </a:xfrm>
        </p:spPr>
        <p:txBody>
          <a:bodyPr/>
          <a:lstStyle/>
          <a:p>
            <a:r>
              <a:rPr lang="en-US" sz="3600" b="1" dirty="0"/>
              <a:t>Development Project Risks</a:t>
            </a:r>
          </a:p>
        </p:txBody>
      </p:sp>
      <p:sp>
        <p:nvSpPr>
          <p:cNvPr id="6147" name="Rectangle 3"/>
          <p:cNvSpPr>
            <a:spLocks noGrp="1" noChangeArrowheads="1"/>
          </p:cNvSpPr>
          <p:nvPr>
            <p:ph idx="1"/>
          </p:nvPr>
        </p:nvSpPr>
        <p:spPr>
          <a:xfrm>
            <a:off x="457200" y="1524000"/>
            <a:ext cx="8229600" cy="4525963"/>
          </a:xfrm>
        </p:spPr>
        <p:txBody>
          <a:bodyPr/>
          <a:lstStyle/>
          <a:p>
            <a:endParaRPr lang="en-US" sz="1200" dirty="0"/>
          </a:p>
          <a:p>
            <a:endParaRPr lang="en-US" sz="1200" dirty="0"/>
          </a:p>
          <a:p>
            <a:r>
              <a:rPr lang="en-US" sz="1400" dirty="0"/>
              <a:t>Entitlement, Approval, or Permitting Risk</a:t>
            </a:r>
          </a:p>
          <a:p>
            <a:pPr lvl="1"/>
            <a:r>
              <a:rPr lang="en-US" sz="1400" dirty="0"/>
              <a:t>Cost, Timing and Uncertainty – Risk of obtaining appropriate land entitlements, construction permits, and possibly zoning variances.</a:t>
            </a:r>
          </a:p>
          <a:p>
            <a:pPr lvl="1"/>
            <a:endParaRPr lang="en-US" sz="1400" dirty="0"/>
          </a:p>
          <a:p>
            <a:pPr lvl="1"/>
            <a:endParaRPr lang="en-US" sz="1400" dirty="0"/>
          </a:p>
          <a:p>
            <a:r>
              <a:rPr lang="en-US" sz="1400" dirty="0"/>
              <a:t>Construction Risk</a:t>
            </a:r>
          </a:p>
          <a:p>
            <a:pPr lvl="1"/>
            <a:r>
              <a:rPr lang="en-US" sz="1400" dirty="0"/>
              <a:t>Materials pricing – risk that the cost of materials may change significantly from the original construction budget.</a:t>
            </a:r>
          </a:p>
          <a:p>
            <a:pPr lvl="1"/>
            <a:r>
              <a:rPr lang="en-US" sz="1400" dirty="0"/>
              <a:t>Physical Issues – Unforeseen physical issues that can impact costs (Geotechnical, environmental)</a:t>
            </a:r>
          </a:p>
          <a:p>
            <a:pPr lvl="1"/>
            <a:r>
              <a:rPr lang="en-US" sz="1400" dirty="0"/>
              <a:t>Design and Bidding – Risk of errors or omissions in the design and bidding process (i.e. between architect and contractors or between subcontractors) </a:t>
            </a:r>
          </a:p>
          <a:p>
            <a:pPr lvl="1"/>
            <a:r>
              <a:rPr lang="en-US" sz="1400" dirty="0"/>
              <a:t>Scheduling – risk that planned construction completion could be prolonged due to weather delays, labor disputes, material delivery delays, planning/scheduling errors, etc.</a:t>
            </a:r>
          </a:p>
        </p:txBody>
      </p:sp>
      <p:sp>
        <p:nvSpPr>
          <p:cNvPr id="6" name="Slide Number Placeholder 5"/>
          <p:cNvSpPr>
            <a:spLocks noGrp="1"/>
          </p:cNvSpPr>
          <p:nvPr>
            <p:ph type="sldNum" sz="quarter" idx="4294967295"/>
          </p:nvPr>
        </p:nvSpPr>
        <p:spPr>
          <a:xfrm>
            <a:off x="6553200" y="6245225"/>
            <a:ext cx="2133600" cy="476250"/>
          </a:xfrm>
          <a:prstGeom prst="rect">
            <a:avLst/>
          </a:prstGeom>
        </p:spPr>
        <p:txBody>
          <a:bodyPr/>
          <a:lstStyle/>
          <a:p>
            <a:fld id="{3409C8D0-776A-43C4-9479-FEE41C208373}" type="slidenum">
              <a:rPr lang="en-US"/>
              <a:pPr/>
              <a:t>11</a:t>
            </a:fld>
            <a:endParaRPr lang="en-US"/>
          </a:p>
        </p:txBody>
      </p:sp>
      <p:sp>
        <p:nvSpPr>
          <p:cNvPr id="7" name="Footer Placeholder 4"/>
          <p:cNvSpPr>
            <a:spLocks noGrp="1"/>
          </p:cNvSpPr>
          <p:nvPr>
            <p:ph type="ftr" sz="quarter" idx="11"/>
          </p:nvPr>
        </p:nvSpPr>
        <p:spPr>
          <a:xfrm>
            <a:off x="457200" y="6537326"/>
            <a:ext cx="6035040" cy="320674"/>
          </a:xfrm>
        </p:spPr>
        <p:txBody>
          <a:bodyPr/>
          <a:lstStyle/>
          <a:p>
            <a:r>
              <a:rPr lang="en-US" dirty="0"/>
              <a:t>©Joe Walsh, - Do not distribute without explicit permission.</a:t>
            </a:r>
          </a:p>
        </p:txBody>
      </p:sp>
    </p:spTree>
    <p:extLst>
      <p:ext uri="{BB962C8B-B14F-4D97-AF65-F5344CB8AC3E}">
        <p14:creationId xmlns:p14="http://schemas.microsoft.com/office/powerpoint/2010/main" val="3179442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533400"/>
            <a:ext cx="8229600" cy="1143000"/>
          </a:xfrm>
        </p:spPr>
        <p:txBody>
          <a:bodyPr/>
          <a:lstStyle/>
          <a:p>
            <a:r>
              <a:rPr lang="en-US" sz="3600" b="1" dirty="0"/>
              <a:t>Development </a:t>
            </a:r>
            <a:r>
              <a:rPr lang="en-US" sz="3600" b="1"/>
              <a:t>Project Risks (cont.)</a:t>
            </a:r>
            <a:endParaRPr lang="en-US" sz="3600" b="1" dirty="0"/>
          </a:p>
        </p:txBody>
      </p:sp>
      <p:sp>
        <p:nvSpPr>
          <p:cNvPr id="6147" name="Rectangle 3"/>
          <p:cNvSpPr>
            <a:spLocks noGrp="1" noChangeArrowheads="1"/>
          </p:cNvSpPr>
          <p:nvPr>
            <p:ph idx="1"/>
          </p:nvPr>
        </p:nvSpPr>
        <p:spPr>
          <a:xfrm>
            <a:off x="457200" y="1524000"/>
            <a:ext cx="8229600" cy="4525963"/>
          </a:xfrm>
        </p:spPr>
        <p:txBody>
          <a:bodyPr/>
          <a:lstStyle/>
          <a:p>
            <a:endParaRPr lang="en-US" sz="1200" dirty="0"/>
          </a:p>
          <a:p>
            <a:endParaRPr lang="en-US" sz="1200" dirty="0"/>
          </a:p>
          <a:p>
            <a:r>
              <a:rPr lang="en-US" sz="1400" dirty="0"/>
              <a:t>Leasing/Sales Risk</a:t>
            </a:r>
          </a:p>
          <a:p>
            <a:pPr lvl="1"/>
            <a:r>
              <a:rPr lang="en-US" sz="1400" dirty="0"/>
              <a:t>Market Rent Risk – Risk that market rents may change unexpectedly from budget projections</a:t>
            </a:r>
          </a:p>
          <a:p>
            <a:pPr lvl="1"/>
            <a:r>
              <a:rPr lang="en-US" sz="1400" dirty="0"/>
              <a:t>Absorption Risk – Risk that forecasted absorption (leasing or unit sales) rates will not be realized.</a:t>
            </a:r>
          </a:p>
          <a:p>
            <a:pPr lvl="1"/>
            <a:r>
              <a:rPr lang="en-US" sz="1400" dirty="0"/>
              <a:t>Transaction Terms – Risk that transaction terms available in the market might change (e.g. escalations, early termination clauses, etc.)</a:t>
            </a:r>
          </a:p>
          <a:p>
            <a:pPr lvl="1"/>
            <a:r>
              <a:rPr lang="en-US" sz="1400" dirty="0"/>
              <a:t>Leasing/Sales Cost Risk – Risk of a market-driven restructure of leasing or sales commission rates.</a:t>
            </a:r>
          </a:p>
          <a:p>
            <a:pPr lvl="1"/>
            <a:endParaRPr lang="en-US" sz="1400" dirty="0"/>
          </a:p>
          <a:p>
            <a:pPr lvl="1"/>
            <a:endParaRPr lang="en-US" sz="1400" dirty="0"/>
          </a:p>
          <a:p>
            <a:r>
              <a:rPr lang="en-US" sz="1400" dirty="0"/>
              <a:t>Operating Expense Risk</a:t>
            </a:r>
          </a:p>
          <a:p>
            <a:pPr lvl="1"/>
            <a:r>
              <a:rPr lang="en-US" sz="1400" dirty="0"/>
              <a:t>Risk of a significant change in one or more fixed or variable expense categories such as insurance, utilities, electricity, real estate taxes, etc. (</a:t>
            </a:r>
            <a:r>
              <a:rPr lang="en-US" sz="1400" dirty="0" err="1"/>
              <a:t>e.g</a:t>
            </a:r>
            <a:r>
              <a:rPr lang="en-US" sz="1400" dirty="0"/>
              <a:t> builders risk insurance after 9/11 and/or hurricanes)</a:t>
            </a:r>
          </a:p>
        </p:txBody>
      </p:sp>
      <p:sp>
        <p:nvSpPr>
          <p:cNvPr id="6" name="Slide Number Placeholder 5"/>
          <p:cNvSpPr>
            <a:spLocks noGrp="1"/>
          </p:cNvSpPr>
          <p:nvPr>
            <p:ph type="sldNum" sz="quarter" idx="4294967295"/>
          </p:nvPr>
        </p:nvSpPr>
        <p:spPr>
          <a:xfrm>
            <a:off x="6553200" y="6245225"/>
            <a:ext cx="2133600" cy="476250"/>
          </a:xfrm>
          <a:prstGeom prst="rect">
            <a:avLst/>
          </a:prstGeom>
        </p:spPr>
        <p:txBody>
          <a:bodyPr/>
          <a:lstStyle/>
          <a:p>
            <a:fld id="{3409C8D0-776A-43C4-9479-FEE41C208373}" type="slidenum">
              <a:rPr lang="en-US"/>
              <a:pPr/>
              <a:t>12</a:t>
            </a:fld>
            <a:endParaRPr lang="en-US"/>
          </a:p>
        </p:txBody>
      </p:sp>
      <p:sp>
        <p:nvSpPr>
          <p:cNvPr id="7" name="Footer Placeholder 4"/>
          <p:cNvSpPr>
            <a:spLocks noGrp="1"/>
          </p:cNvSpPr>
          <p:nvPr>
            <p:ph type="ftr" sz="quarter" idx="11"/>
          </p:nvPr>
        </p:nvSpPr>
        <p:spPr>
          <a:xfrm>
            <a:off x="457200" y="6537326"/>
            <a:ext cx="6035040" cy="320674"/>
          </a:xfrm>
        </p:spPr>
        <p:txBody>
          <a:bodyPr/>
          <a:lstStyle/>
          <a:p>
            <a:r>
              <a:rPr lang="en-US" dirty="0"/>
              <a:t>©Joe Walsh, - Do not distribute without explicit permission.</a:t>
            </a:r>
          </a:p>
        </p:txBody>
      </p:sp>
    </p:spTree>
    <p:extLst>
      <p:ext uri="{BB962C8B-B14F-4D97-AF65-F5344CB8AC3E}">
        <p14:creationId xmlns:p14="http://schemas.microsoft.com/office/powerpoint/2010/main" val="897511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533400"/>
            <a:ext cx="8229600" cy="1143000"/>
          </a:xfrm>
        </p:spPr>
        <p:txBody>
          <a:bodyPr/>
          <a:lstStyle/>
          <a:p>
            <a:r>
              <a:rPr lang="en-US" sz="3600" b="1" dirty="0"/>
              <a:t>Development Project Risks (cont.)</a:t>
            </a:r>
          </a:p>
        </p:txBody>
      </p:sp>
      <p:sp>
        <p:nvSpPr>
          <p:cNvPr id="6147" name="Rectangle 3"/>
          <p:cNvSpPr>
            <a:spLocks noGrp="1" noChangeArrowheads="1"/>
          </p:cNvSpPr>
          <p:nvPr>
            <p:ph idx="1"/>
          </p:nvPr>
        </p:nvSpPr>
        <p:spPr>
          <a:xfrm>
            <a:off x="457200" y="1524000"/>
            <a:ext cx="8229600" cy="4525963"/>
          </a:xfrm>
        </p:spPr>
        <p:txBody>
          <a:bodyPr/>
          <a:lstStyle/>
          <a:p>
            <a:pPr>
              <a:lnSpc>
                <a:spcPct val="96000"/>
              </a:lnSpc>
              <a:spcBef>
                <a:spcPct val="50000"/>
              </a:spcBef>
            </a:pPr>
            <a:r>
              <a:rPr lang="en-US" sz="1600" dirty="0">
                <a:latin typeface="CG Omega" pitchFamily="34" charset="0"/>
              </a:rPr>
              <a:t>Credit Risk</a:t>
            </a:r>
          </a:p>
          <a:p>
            <a:pPr lvl="1"/>
            <a:r>
              <a:rPr lang="en-US" sz="1200" dirty="0"/>
              <a:t>Risk that pre-lease tenants and/or tenants’ industry segment is negatively impacted during development.</a:t>
            </a:r>
          </a:p>
          <a:p>
            <a:pPr lvl="1"/>
            <a:endParaRPr lang="en-US" sz="1200" dirty="0"/>
          </a:p>
          <a:p>
            <a:pPr>
              <a:lnSpc>
                <a:spcPct val="96000"/>
              </a:lnSpc>
              <a:spcBef>
                <a:spcPct val="50000"/>
              </a:spcBef>
            </a:pPr>
            <a:r>
              <a:rPr lang="en-US" sz="1600" dirty="0">
                <a:latin typeface="CG Omega" pitchFamily="34" charset="0"/>
              </a:rPr>
              <a:t>Partnership Risk (if applicable)</a:t>
            </a:r>
          </a:p>
          <a:p>
            <a:pPr lvl="1"/>
            <a:r>
              <a:rPr lang="en-US" sz="1200" dirty="0"/>
              <a:t>Risk that accompanies any ownership less than 100% due to a myriad of factors regarding control, revenue distributions, etc.</a:t>
            </a:r>
          </a:p>
          <a:p>
            <a:pPr lvl="1"/>
            <a:endParaRPr lang="en-US" sz="1200" dirty="0"/>
          </a:p>
          <a:p>
            <a:pPr>
              <a:lnSpc>
                <a:spcPct val="96000"/>
              </a:lnSpc>
              <a:spcBef>
                <a:spcPct val="50000"/>
              </a:spcBef>
            </a:pPr>
            <a:r>
              <a:rPr lang="en-US" sz="1600" dirty="0">
                <a:latin typeface="CG Omega" pitchFamily="34" charset="0"/>
              </a:rPr>
              <a:t>Capital Market Risk</a:t>
            </a:r>
          </a:p>
          <a:p>
            <a:pPr lvl="1">
              <a:lnSpc>
                <a:spcPct val="96000"/>
              </a:lnSpc>
            </a:pPr>
            <a:r>
              <a:rPr lang="en-US" sz="1200" dirty="0"/>
              <a:t>Financing Risk – risk that terms, conditions and availability of debt and equity may change unexpectedly. </a:t>
            </a:r>
          </a:p>
          <a:p>
            <a:pPr lvl="1">
              <a:lnSpc>
                <a:spcPct val="96000"/>
              </a:lnSpc>
            </a:pPr>
            <a:r>
              <a:rPr lang="en-US" sz="1200" dirty="0"/>
              <a:t>Interest Rates – risk of a significant change in interest rates during the development period. This could affect the cost of construction or, in the case of a condominium project, the buyer’s ability to obtain suitable purchase price financing.</a:t>
            </a:r>
          </a:p>
          <a:p>
            <a:pPr lvl="1"/>
            <a:r>
              <a:rPr lang="en-US" sz="1200" dirty="0"/>
              <a:t>Alternative investment risk – risk that investor allocations or rates of return for alternative investments will change resulting in shifts in capitalization and discount rates.</a:t>
            </a:r>
          </a:p>
          <a:p>
            <a:pPr lvl="1"/>
            <a:endParaRPr lang="en-US" sz="1200" dirty="0"/>
          </a:p>
          <a:p>
            <a:pPr>
              <a:lnSpc>
                <a:spcPct val="80000"/>
              </a:lnSpc>
              <a:spcBef>
                <a:spcPct val="50000"/>
              </a:spcBef>
            </a:pPr>
            <a:r>
              <a:rPr lang="en-US" sz="1600" dirty="0">
                <a:latin typeface="CG Omega" pitchFamily="34" charset="0"/>
              </a:rPr>
              <a:t>Pricing Risk</a:t>
            </a:r>
          </a:p>
          <a:p>
            <a:pPr lvl="1">
              <a:lnSpc>
                <a:spcPct val="96000"/>
              </a:lnSpc>
            </a:pPr>
            <a:r>
              <a:rPr lang="en-US" sz="1200" dirty="0"/>
              <a:t>Supply Risk – risk that unanticipated competitive supply will enter the market before lease-up or sellout is achieved resulting in short-, mid-, or long-term concessions, absorption, pricing, etc.</a:t>
            </a:r>
          </a:p>
          <a:p>
            <a:pPr lvl="1"/>
            <a:r>
              <a:rPr lang="en-US" sz="1200" dirty="0"/>
              <a:t>Real Estate Cycle Issues – risk that rental rates may be negatively affected by changes in market supply/demand dynamics.</a:t>
            </a:r>
          </a:p>
        </p:txBody>
      </p:sp>
      <p:sp>
        <p:nvSpPr>
          <p:cNvPr id="6" name="Slide Number Placeholder 5"/>
          <p:cNvSpPr>
            <a:spLocks noGrp="1"/>
          </p:cNvSpPr>
          <p:nvPr>
            <p:ph type="sldNum" sz="quarter" idx="4294967295"/>
          </p:nvPr>
        </p:nvSpPr>
        <p:spPr>
          <a:xfrm>
            <a:off x="6553200" y="6245225"/>
            <a:ext cx="2133600" cy="476250"/>
          </a:xfrm>
          <a:prstGeom prst="rect">
            <a:avLst/>
          </a:prstGeom>
        </p:spPr>
        <p:txBody>
          <a:bodyPr/>
          <a:lstStyle/>
          <a:p>
            <a:fld id="{3409C8D0-776A-43C4-9479-FEE41C208373}" type="slidenum">
              <a:rPr lang="en-US"/>
              <a:pPr/>
              <a:t>13</a:t>
            </a:fld>
            <a:endParaRPr lang="en-US"/>
          </a:p>
        </p:txBody>
      </p:sp>
      <p:sp>
        <p:nvSpPr>
          <p:cNvPr id="7" name="Footer Placeholder 4"/>
          <p:cNvSpPr>
            <a:spLocks noGrp="1"/>
          </p:cNvSpPr>
          <p:nvPr>
            <p:ph type="ftr" sz="quarter" idx="11"/>
          </p:nvPr>
        </p:nvSpPr>
        <p:spPr>
          <a:xfrm>
            <a:off x="457200" y="6537326"/>
            <a:ext cx="6035040" cy="320674"/>
          </a:xfrm>
        </p:spPr>
        <p:txBody>
          <a:bodyPr/>
          <a:lstStyle/>
          <a:p>
            <a:r>
              <a:rPr lang="en-US" dirty="0"/>
              <a:t>©Joe Walsh, - Do not distribute without explicit permission.</a:t>
            </a:r>
          </a:p>
        </p:txBody>
      </p:sp>
    </p:spTree>
    <p:extLst>
      <p:ext uri="{BB962C8B-B14F-4D97-AF65-F5344CB8AC3E}">
        <p14:creationId xmlns:p14="http://schemas.microsoft.com/office/powerpoint/2010/main" val="3099283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533400"/>
            <a:ext cx="8229600" cy="1143000"/>
          </a:xfrm>
        </p:spPr>
        <p:txBody>
          <a:bodyPr/>
          <a:lstStyle/>
          <a:p>
            <a:r>
              <a:rPr lang="en-US" sz="3600" b="1" dirty="0"/>
              <a:t>Development Project Risks (cont.)</a:t>
            </a:r>
          </a:p>
        </p:txBody>
      </p:sp>
      <p:sp>
        <p:nvSpPr>
          <p:cNvPr id="6147" name="Rectangle 3"/>
          <p:cNvSpPr>
            <a:spLocks noGrp="1" noChangeArrowheads="1"/>
          </p:cNvSpPr>
          <p:nvPr>
            <p:ph idx="1"/>
          </p:nvPr>
        </p:nvSpPr>
        <p:spPr>
          <a:xfrm>
            <a:off x="457200" y="1524000"/>
            <a:ext cx="8229600" cy="4525963"/>
          </a:xfrm>
        </p:spPr>
        <p:txBody>
          <a:bodyPr/>
          <a:lstStyle/>
          <a:p>
            <a:pPr>
              <a:lnSpc>
                <a:spcPct val="80000"/>
              </a:lnSpc>
              <a:spcBef>
                <a:spcPct val="50000"/>
              </a:spcBef>
            </a:pPr>
            <a:endParaRPr lang="en-US" sz="1600" dirty="0">
              <a:latin typeface="CG Omega" pitchFamily="34" charset="0"/>
            </a:endParaRPr>
          </a:p>
          <a:p>
            <a:pPr>
              <a:lnSpc>
                <a:spcPct val="80000"/>
              </a:lnSpc>
              <a:spcBef>
                <a:spcPct val="50000"/>
              </a:spcBef>
            </a:pPr>
            <a:r>
              <a:rPr lang="en-US" sz="1600" dirty="0">
                <a:latin typeface="CG Omega" pitchFamily="34" charset="0"/>
              </a:rPr>
              <a:t>Event Risk</a:t>
            </a:r>
          </a:p>
          <a:p>
            <a:pPr lvl="1">
              <a:lnSpc>
                <a:spcPct val="96000"/>
              </a:lnSpc>
              <a:spcBef>
                <a:spcPct val="50000"/>
              </a:spcBef>
            </a:pPr>
            <a:r>
              <a:rPr lang="en-US" sz="1600" dirty="0">
                <a:latin typeface="CG Omega" pitchFamily="34" charset="0"/>
              </a:rPr>
              <a:t>Risk of a material physical, economic, or other event occurring that significantly impacts asset operations and value. Weather, discovery of previously unknown environmental contamination, exodus of major employment providers, and terrorism comprise a sampling of such events. (“Force Majeure”)</a:t>
            </a:r>
          </a:p>
          <a:p>
            <a:pPr lvl="1">
              <a:lnSpc>
                <a:spcPct val="96000"/>
              </a:lnSpc>
              <a:spcBef>
                <a:spcPct val="50000"/>
              </a:spcBef>
            </a:pPr>
            <a:endParaRPr lang="en-US" sz="1600" dirty="0">
              <a:latin typeface="CG Omega" pitchFamily="34" charset="0"/>
            </a:endParaRPr>
          </a:p>
          <a:p>
            <a:pPr lvl="1">
              <a:lnSpc>
                <a:spcPct val="96000"/>
              </a:lnSpc>
              <a:spcBef>
                <a:spcPct val="50000"/>
              </a:spcBef>
            </a:pPr>
            <a:endParaRPr lang="en-US" sz="1600" dirty="0">
              <a:latin typeface="CG Omega" pitchFamily="34" charset="0"/>
            </a:endParaRPr>
          </a:p>
          <a:p>
            <a:pPr marL="342900" lvl="1" indent="-342900">
              <a:lnSpc>
                <a:spcPct val="80000"/>
              </a:lnSpc>
              <a:spcBef>
                <a:spcPct val="50000"/>
              </a:spcBef>
              <a:buChar char="•"/>
            </a:pPr>
            <a:r>
              <a:rPr lang="en-US" sz="1600" dirty="0">
                <a:latin typeface="CG Omega" pitchFamily="34" charset="0"/>
                <a:ea typeface="+mn-ea"/>
                <a:cs typeface="+mn-cs"/>
              </a:rPr>
              <a:t>Valuation Risk</a:t>
            </a:r>
          </a:p>
          <a:p>
            <a:pPr lvl="1">
              <a:lnSpc>
                <a:spcPct val="96000"/>
              </a:lnSpc>
              <a:spcBef>
                <a:spcPct val="50000"/>
              </a:spcBef>
            </a:pPr>
            <a:r>
              <a:rPr lang="en-US" sz="1600" dirty="0">
                <a:latin typeface="CG Omega" pitchFamily="34" charset="0"/>
              </a:rPr>
              <a:t>Risk that a lack of applicable, current market data exists to accurately value the subject property.</a:t>
            </a:r>
          </a:p>
          <a:p>
            <a:pPr lvl="1">
              <a:lnSpc>
                <a:spcPct val="96000"/>
              </a:lnSpc>
              <a:spcBef>
                <a:spcPct val="50000"/>
              </a:spcBef>
            </a:pPr>
            <a:r>
              <a:rPr lang="en-US" sz="1600" dirty="0">
                <a:latin typeface="CG Omega" pitchFamily="34" charset="0"/>
              </a:rPr>
              <a:t>Risk that a lack of competency exists with the appraiser engaged to specifically address issues of property type, geography, valuation analytics, market research, etc.</a:t>
            </a:r>
          </a:p>
          <a:p>
            <a:endParaRPr lang="en-US" sz="1200" dirty="0"/>
          </a:p>
        </p:txBody>
      </p:sp>
      <p:sp>
        <p:nvSpPr>
          <p:cNvPr id="6" name="Slide Number Placeholder 5"/>
          <p:cNvSpPr>
            <a:spLocks noGrp="1"/>
          </p:cNvSpPr>
          <p:nvPr>
            <p:ph type="sldNum" sz="quarter" idx="4294967295"/>
          </p:nvPr>
        </p:nvSpPr>
        <p:spPr>
          <a:xfrm>
            <a:off x="6553200" y="6245225"/>
            <a:ext cx="2133600" cy="476250"/>
          </a:xfrm>
          <a:prstGeom prst="rect">
            <a:avLst/>
          </a:prstGeom>
        </p:spPr>
        <p:txBody>
          <a:bodyPr/>
          <a:lstStyle/>
          <a:p>
            <a:fld id="{3409C8D0-776A-43C4-9479-FEE41C208373}" type="slidenum">
              <a:rPr lang="en-US"/>
              <a:pPr/>
              <a:t>14</a:t>
            </a:fld>
            <a:endParaRPr lang="en-US"/>
          </a:p>
        </p:txBody>
      </p:sp>
      <p:sp>
        <p:nvSpPr>
          <p:cNvPr id="7" name="Footer Placeholder 4"/>
          <p:cNvSpPr>
            <a:spLocks noGrp="1"/>
          </p:cNvSpPr>
          <p:nvPr>
            <p:ph type="ftr" sz="quarter" idx="11"/>
          </p:nvPr>
        </p:nvSpPr>
        <p:spPr>
          <a:xfrm>
            <a:off x="457200" y="6537326"/>
            <a:ext cx="6035040" cy="320674"/>
          </a:xfrm>
        </p:spPr>
        <p:txBody>
          <a:bodyPr/>
          <a:lstStyle/>
          <a:p>
            <a:r>
              <a:rPr lang="en-US" dirty="0"/>
              <a:t>©Joe Walsh, - Do not distribute without explicit permission.</a:t>
            </a:r>
          </a:p>
        </p:txBody>
      </p:sp>
    </p:spTree>
    <p:extLst>
      <p:ext uri="{BB962C8B-B14F-4D97-AF65-F5344CB8AC3E}">
        <p14:creationId xmlns:p14="http://schemas.microsoft.com/office/powerpoint/2010/main" val="1723333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Development Project Budgeting</a:t>
            </a:r>
          </a:p>
        </p:txBody>
      </p:sp>
      <p:sp>
        <p:nvSpPr>
          <p:cNvPr id="3" name="Content Placeholder 2"/>
          <p:cNvSpPr>
            <a:spLocks noGrp="1"/>
          </p:cNvSpPr>
          <p:nvPr>
            <p:ph sz="half" idx="1"/>
          </p:nvPr>
        </p:nvSpPr>
        <p:spPr/>
        <p:txBody>
          <a:bodyPr/>
          <a:lstStyle/>
          <a:p>
            <a:r>
              <a:rPr lang="en-US" sz="1600" dirty="0"/>
              <a:t>Hard Costs</a:t>
            </a:r>
          </a:p>
          <a:p>
            <a:pPr lvl="1"/>
            <a:r>
              <a:rPr lang="en-US" sz="1400" dirty="0"/>
              <a:t>Land cost</a:t>
            </a:r>
          </a:p>
          <a:p>
            <a:pPr lvl="1"/>
            <a:r>
              <a:rPr lang="en-US" sz="1400" dirty="0"/>
              <a:t>Site preparation costs (e.g., excavation, utilities installation)</a:t>
            </a:r>
          </a:p>
          <a:p>
            <a:pPr lvl="1"/>
            <a:r>
              <a:rPr lang="en-US" sz="1400" dirty="0"/>
              <a:t>Shell costs of existing structure in rehab projects</a:t>
            </a:r>
          </a:p>
          <a:p>
            <a:pPr lvl="1"/>
            <a:r>
              <a:rPr lang="en-US" sz="1400" dirty="0"/>
              <a:t>Contractor fees (overhead and profit)</a:t>
            </a:r>
          </a:p>
          <a:p>
            <a:pPr lvl="1"/>
            <a:r>
              <a:rPr lang="en-US" sz="1400" dirty="0"/>
              <a:t>Materials</a:t>
            </a:r>
          </a:p>
          <a:p>
            <a:pPr lvl="1"/>
            <a:r>
              <a:rPr lang="en-US" sz="1400" dirty="0"/>
              <a:t>Labor</a:t>
            </a:r>
          </a:p>
          <a:p>
            <a:pPr lvl="1"/>
            <a:r>
              <a:rPr lang="en-US" sz="1400" dirty="0"/>
              <a:t>Equipment rental</a:t>
            </a:r>
          </a:p>
          <a:p>
            <a:pPr lvl="1"/>
            <a:r>
              <a:rPr lang="en-US" sz="1400" dirty="0"/>
              <a:t>Tenant finish</a:t>
            </a:r>
          </a:p>
          <a:p>
            <a:r>
              <a:rPr lang="en-US" sz="1600" dirty="0"/>
              <a:t>Soft Costs – Fees and Permits</a:t>
            </a:r>
          </a:p>
          <a:p>
            <a:pPr lvl="1"/>
            <a:r>
              <a:rPr lang="en-US" sz="1400" dirty="0"/>
              <a:t>Soil testing</a:t>
            </a:r>
          </a:p>
          <a:p>
            <a:pPr lvl="1"/>
            <a:r>
              <a:rPr lang="en-US" sz="1400" dirty="0"/>
              <a:t>Environmental studies</a:t>
            </a:r>
          </a:p>
          <a:p>
            <a:pPr lvl="1"/>
            <a:r>
              <a:rPr lang="en-US" sz="1400" dirty="0"/>
              <a:t>Land planner fees</a:t>
            </a:r>
          </a:p>
          <a:p>
            <a:pPr lvl="1"/>
            <a:r>
              <a:rPr lang="en-US" sz="1400" dirty="0"/>
              <a:t>Architectural fees</a:t>
            </a:r>
          </a:p>
          <a:p>
            <a:pPr lvl="1"/>
            <a:r>
              <a:rPr lang="en-US" sz="1400" dirty="0"/>
              <a:t>Engineering fees</a:t>
            </a:r>
          </a:p>
          <a:p>
            <a:pPr lvl="1"/>
            <a:r>
              <a:rPr lang="en-US" sz="1400" dirty="0"/>
              <a:t>Permits</a:t>
            </a:r>
          </a:p>
          <a:p>
            <a:pPr lvl="1"/>
            <a:endParaRPr lang="en-US" sz="1200" dirty="0"/>
          </a:p>
        </p:txBody>
      </p:sp>
      <p:sp>
        <p:nvSpPr>
          <p:cNvPr id="6" name="Content Placeholder 5"/>
          <p:cNvSpPr>
            <a:spLocks noGrp="1"/>
          </p:cNvSpPr>
          <p:nvPr>
            <p:ph sz="half" idx="2"/>
          </p:nvPr>
        </p:nvSpPr>
        <p:spPr/>
        <p:txBody>
          <a:bodyPr/>
          <a:lstStyle/>
          <a:p>
            <a:r>
              <a:rPr lang="en-US" sz="1600" dirty="0"/>
              <a:t>Soft Costs – Financing Costs</a:t>
            </a:r>
          </a:p>
          <a:p>
            <a:pPr lvl="1"/>
            <a:r>
              <a:rPr lang="en-US" sz="1400" dirty="0"/>
              <a:t>Loan fees</a:t>
            </a:r>
          </a:p>
          <a:p>
            <a:pPr lvl="1"/>
            <a:r>
              <a:rPr lang="en-US" sz="1400" dirty="0"/>
              <a:t>Construction loan interest</a:t>
            </a:r>
          </a:p>
          <a:p>
            <a:pPr lvl="1"/>
            <a:r>
              <a:rPr lang="en-US" sz="1400" dirty="0"/>
              <a:t>Legal fees</a:t>
            </a:r>
          </a:p>
          <a:p>
            <a:r>
              <a:rPr lang="en-US" sz="1600" dirty="0"/>
              <a:t>Soft Cost – Development and Management</a:t>
            </a:r>
          </a:p>
          <a:p>
            <a:pPr lvl="1"/>
            <a:r>
              <a:rPr lang="en-US" sz="1400" dirty="0"/>
              <a:t>Construction management and overhead costs</a:t>
            </a:r>
          </a:p>
          <a:p>
            <a:pPr lvl="1"/>
            <a:r>
              <a:rPr lang="en-US" sz="1400" dirty="0"/>
              <a:t>Developer fees</a:t>
            </a:r>
          </a:p>
          <a:p>
            <a:r>
              <a:rPr lang="en-US" sz="1600" dirty="0"/>
              <a:t>Lease-Up Costs</a:t>
            </a:r>
          </a:p>
          <a:p>
            <a:pPr lvl="1"/>
            <a:r>
              <a:rPr lang="en-US" sz="1400" dirty="0"/>
              <a:t>Marketing costs &amp; advertising</a:t>
            </a:r>
          </a:p>
          <a:p>
            <a:pPr lvl="1"/>
            <a:r>
              <a:rPr lang="en-US" sz="1400" dirty="0"/>
              <a:t>Leasing expenses (commissions)</a:t>
            </a:r>
          </a:p>
          <a:p>
            <a:pPr lvl="1"/>
            <a:r>
              <a:rPr lang="en-US" sz="1400" dirty="0"/>
              <a:t>Tenant improvement expenditures (“build-outs”)</a:t>
            </a:r>
          </a:p>
          <a:p>
            <a:pPr lvl="1"/>
            <a:r>
              <a:rPr lang="en-US" sz="1400" dirty="0"/>
              <a:t>Working capital during lease-up (until break-even)</a:t>
            </a:r>
          </a:p>
          <a:p>
            <a:pPr lvl="1"/>
            <a:endParaRPr lang="en-US" sz="1400" dirty="0"/>
          </a:p>
        </p:txBody>
      </p:sp>
      <p:sp>
        <p:nvSpPr>
          <p:cNvPr id="4" name="Slide Number Placeholder 3"/>
          <p:cNvSpPr>
            <a:spLocks noGrp="1"/>
          </p:cNvSpPr>
          <p:nvPr>
            <p:ph type="sldNum" sz="quarter" idx="10"/>
          </p:nvPr>
        </p:nvSpPr>
        <p:spPr/>
        <p:txBody>
          <a:bodyPr/>
          <a:lstStyle/>
          <a:p>
            <a:fld id="{C674EDA7-B996-475E-B155-5CBB23D664FF}" type="slidenum">
              <a:rPr lang="en-US" smtClean="0"/>
              <a:pPr/>
              <a:t>15</a:t>
            </a:fld>
            <a:endParaRPr lang="en-US" dirty="0"/>
          </a:p>
        </p:txBody>
      </p:sp>
      <p:sp>
        <p:nvSpPr>
          <p:cNvPr id="5" name="Footer Placeholder 4"/>
          <p:cNvSpPr>
            <a:spLocks noGrp="1"/>
          </p:cNvSpPr>
          <p:nvPr>
            <p:ph type="ftr" sz="quarter" idx="11"/>
          </p:nvPr>
        </p:nvSpPr>
        <p:spPr/>
        <p:txBody>
          <a:bodyPr/>
          <a:lstStyle/>
          <a:p>
            <a:r>
              <a:rPr lang="en-US" dirty="0"/>
              <a:t>©Joe Walsh, - Do not distribute without explicit permission.</a:t>
            </a:r>
          </a:p>
        </p:txBody>
      </p:sp>
    </p:spTree>
    <p:extLst>
      <p:ext uri="{BB962C8B-B14F-4D97-AF65-F5344CB8AC3E}">
        <p14:creationId xmlns:p14="http://schemas.microsoft.com/office/powerpoint/2010/main" val="417769362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38"/>
          <p:cNvSpPr>
            <a:spLocks noGrp="1"/>
          </p:cNvSpPr>
          <p:nvPr>
            <p:ph type="title"/>
          </p:nvPr>
        </p:nvSpPr>
        <p:spPr>
          <a:xfrm>
            <a:off x="457200" y="274638"/>
            <a:ext cx="8229600" cy="563562"/>
          </a:xfrm>
        </p:spPr>
        <p:txBody>
          <a:bodyPr/>
          <a:lstStyle/>
          <a:p>
            <a:r>
              <a:rPr lang="en-US" sz="2800" dirty="0"/>
              <a:t>Typical Construction Finance Structure</a:t>
            </a:r>
          </a:p>
        </p:txBody>
      </p:sp>
      <p:sp>
        <p:nvSpPr>
          <p:cNvPr id="38" name="Slide Number Placeholder 3"/>
          <p:cNvSpPr>
            <a:spLocks noGrp="1"/>
          </p:cNvSpPr>
          <p:nvPr>
            <p:ph type="sldNum" sz="quarter" idx="10"/>
          </p:nvPr>
        </p:nvSpPr>
        <p:spPr>
          <a:prstGeom prst="rect">
            <a:avLst/>
          </a:prstGeom>
        </p:spPr>
        <p:txBody>
          <a:bodyPr/>
          <a:lstStyle/>
          <a:p>
            <a:fld id="{9E08C4EB-6482-4DA0-A5BF-5CD6948D2C51}" type="slidenum">
              <a:rPr lang="en-US"/>
              <a:pPr/>
              <a:t>16</a:t>
            </a:fld>
            <a:endParaRPr lang="en-US"/>
          </a:p>
        </p:txBody>
      </p:sp>
      <p:sp>
        <p:nvSpPr>
          <p:cNvPr id="348163" name="Text Box 3"/>
          <p:cNvSpPr txBox="1">
            <a:spLocks noChangeArrowheads="1"/>
          </p:cNvSpPr>
          <p:nvPr/>
        </p:nvSpPr>
        <p:spPr bwMode="auto">
          <a:xfrm>
            <a:off x="304800" y="685800"/>
            <a:ext cx="5410200" cy="396875"/>
          </a:xfrm>
          <a:prstGeom prst="rect">
            <a:avLst/>
          </a:prstGeom>
          <a:noFill/>
          <a:ln w="9525">
            <a:noFill/>
            <a:miter lim="800000"/>
            <a:headEnd/>
            <a:tailEnd/>
          </a:ln>
          <a:effectLst/>
        </p:spPr>
        <p:txBody>
          <a:bodyPr>
            <a:spAutoFit/>
          </a:bodyPr>
          <a:lstStyle/>
          <a:p>
            <a:pPr>
              <a:spcBef>
                <a:spcPct val="50000"/>
              </a:spcBef>
            </a:pPr>
            <a:r>
              <a:rPr lang="en-US">
                <a:effectLst>
                  <a:outerShdw blurRad="38100" dist="38100" dir="2700000" algn="tl">
                    <a:srgbClr val="FFFFFF"/>
                  </a:outerShdw>
                </a:effectLst>
              </a:rPr>
              <a:t>Phase:</a:t>
            </a:r>
          </a:p>
        </p:txBody>
      </p:sp>
      <p:sp>
        <p:nvSpPr>
          <p:cNvPr id="348164" name="Text Box 4"/>
          <p:cNvSpPr txBox="1">
            <a:spLocks noChangeArrowheads="1"/>
          </p:cNvSpPr>
          <p:nvPr/>
        </p:nvSpPr>
        <p:spPr bwMode="auto">
          <a:xfrm>
            <a:off x="304800" y="2133600"/>
            <a:ext cx="5410200" cy="396875"/>
          </a:xfrm>
          <a:prstGeom prst="rect">
            <a:avLst/>
          </a:prstGeom>
          <a:noFill/>
          <a:ln w="9525">
            <a:noFill/>
            <a:miter lim="800000"/>
            <a:headEnd/>
            <a:tailEnd/>
          </a:ln>
          <a:effectLst/>
        </p:spPr>
        <p:txBody>
          <a:bodyPr>
            <a:spAutoFit/>
          </a:bodyPr>
          <a:lstStyle/>
          <a:p>
            <a:pPr>
              <a:spcBef>
                <a:spcPct val="50000"/>
              </a:spcBef>
            </a:pPr>
            <a:r>
              <a:rPr lang="en-US">
                <a:effectLst>
                  <a:outerShdw blurRad="38100" dist="38100" dir="2700000" algn="tl">
                    <a:srgbClr val="FFFFFF"/>
                  </a:outerShdw>
                </a:effectLst>
              </a:rPr>
              <a:t>Financing:</a:t>
            </a:r>
          </a:p>
        </p:txBody>
      </p:sp>
      <p:grpSp>
        <p:nvGrpSpPr>
          <p:cNvPr id="2" name="Group 5"/>
          <p:cNvGrpSpPr>
            <a:grpSpLocks/>
          </p:cNvGrpSpPr>
          <p:nvPr/>
        </p:nvGrpSpPr>
        <p:grpSpPr bwMode="auto">
          <a:xfrm>
            <a:off x="381000" y="1143000"/>
            <a:ext cx="8382000" cy="1260475"/>
            <a:chOff x="240" y="912"/>
            <a:chExt cx="5280" cy="794"/>
          </a:xfrm>
        </p:grpSpPr>
        <p:grpSp>
          <p:nvGrpSpPr>
            <p:cNvPr id="3" name="Group 6"/>
            <p:cNvGrpSpPr>
              <a:grpSpLocks/>
            </p:cNvGrpSpPr>
            <p:nvPr/>
          </p:nvGrpSpPr>
          <p:grpSpPr bwMode="auto">
            <a:xfrm>
              <a:off x="240" y="912"/>
              <a:ext cx="5280" cy="432"/>
              <a:chOff x="240" y="1008"/>
              <a:chExt cx="5280" cy="432"/>
            </a:xfrm>
          </p:grpSpPr>
          <p:sp>
            <p:nvSpPr>
              <p:cNvPr id="348167" name="Line 7"/>
              <p:cNvSpPr>
                <a:spLocks noChangeShapeType="1"/>
              </p:cNvSpPr>
              <p:nvPr/>
            </p:nvSpPr>
            <p:spPr bwMode="auto">
              <a:xfrm flipV="1">
                <a:off x="240" y="1344"/>
                <a:ext cx="5184" cy="0"/>
              </a:xfrm>
              <a:prstGeom prst="line">
                <a:avLst/>
              </a:prstGeom>
              <a:noFill/>
              <a:ln w="38100">
                <a:solidFill>
                  <a:schemeClr val="tx1"/>
                </a:solidFill>
                <a:round/>
                <a:headEnd/>
                <a:tailEnd/>
              </a:ln>
              <a:effectLst/>
            </p:spPr>
            <p:txBody>
              <a:bodyPr/>
              <a:lstStyle/>
              <a:p>
                <a:endParaRPr lang="en-US"/>
              </a:p>
            </p:txBody>
          </p:sp>
          <p:sp>
            <p:nvSpPr>
              <p:cNvPr id="348168" name="Line 8"/>
              <p:cNvSpPr>
                <a:spLocks noChangeShapeType="1"/>
              </p:cNvSpPr>
              <p:nvPr/>
            </p:nvSpPr>
            <p:spPr bwMode="auto">
              <a:xfrm>
                <a:off x="240" y="1104"/>
                <a:ext cx="0" cy="336"/>
              </a:xfrm>
              <a:prstGeom prst="line">
                <a:avLst/>
              </a:prstGeom>
              <a:noFill/>
              <a:ln w="28575">
                <a:solidFill>
                  <a:schemeClr val="tx1"/>
                </a:solidFill>
                <a:round/>
                <a:headEnd/>
                <a:tailEnd/>
              </a:ln>
              <a:effectLst/>
            </p:spPr>
            <p:txBody>
              <a:bodyPr/>
              <a:lstStyle/>
              <a:p>
                <a:endParaRPr lang="en-US"/>
              </a:p>
            </p:txBody>
          </p:sp>
          <p:sp>
            <p:nvSpPr>
              <p:cNvPr id="348169" name="Line 9"/>
              <p:cNvSpPr>
                <a:spLocks noChangeShapeType="1"/>
              </p:cNvSpPr>
              <p:nvPr/>
            </p:nvSpPr>
            <p:spPr bwMode="auto">
              <a:xfrm>
                <a:off x="2544" y="1104"/>
                <a:ext cx="0" cy="336"/>
              </a:xfrm>
              <a:prstGeom prst="line">
                <a:avLst/>
              </a:prstGeom>
              <a:noFill/>
              <a:ln w="28575">
                <a:solidFill>
                  <a:schemeClr val="tx1"/>
                </a:solidFill>
                <a:round/>
                <a:headEnd/>
                <a:tailEnd/>
              </a:ln>
              <a:effectLst/>
            </p:spPr>
            <p:txBody>
              <a:bodyPr/>
              <a:lstStyle/>
              <a:p>
                <a:endParaRPr lang="en-US"/>
              </a:p>
            </p:txBody>
          </p:sp>
          <p:sp>
            <p:nvSpPr>
              <p:cNvPr id="348170" name="Line 10"/>
              <p:cNvSpPr>
                <a:spLocks noChangeShapeType="1"/>
              </p:cNvSpPr>
              <p:nvPr/>
            </p:nvSpPr>
            <p:spPr bwMode="auto">
              <a:xfrm>
                <a:off x="3984" y="1104"/>
                <a:ext cx="0" cy="336"/>
              </a:xfrm>
              <a:prstGeom prst="line">
                <a:avLst/>
              </a:prstGeom>
              <a:noFill/>
              <a:ln w="28575">
                <a:solidFill>
                  <a:schemeClr val="tx1"/>
                </a:solidFill>
                <a:round/>
                <a:headEnd/>
                <a:tailEnd/>
              </a:ln>
              <a:effectLst/>
            </p:spPr>
            <p:txBody>
              <a:bodyPr/>
              <a:lstStyle/>
              <a:p>
                <a:endParaRPr lang="en-US"/>
              </a:p>
            </p:txBody>
          </p:sp>
          <p:sp>
            <p:nvSpPr>
              <p:cNvPr id="348171" name="Line 11"/>
              <p:cNvSpPr>
                <a:spLocks noChangeShapeType="1"/>
              </p:cNvSpPr>
              <p:nvPr/>
            </p:nvSpPr>
            <p:spPr bwMode="auto">
              <a:xfrm>
                <a:off x="5184" y="1344"/>
                <a:ext cx="288" cy="0"/>
              </a:xfrm>
              <a:prstGeom prst="line">
                <a:avLst/>
              </a:prstGeom>
              <a:noFill/>
              <a:ln w="38100">
                <a:solidFill>
                  <a:schemeClr val="tx1"/>
                </a:solidFill>
                <a:round/>
                <a:headEnd/>
                <a:tailEnd type="triangle" w="med" len="med"/>
              </a:ln>
              <a:effectLst/>
            </p:spPr>
            <p:txBody>
              <a:bodyPr/>
              <a:lstStyle/>
              <a:p>
                <a:endParaRPr lang="en-US"/>
              </a:p>
            </p:txBody>
          </p:sp>
          <p:sp>
            <p:nvSpPr>
              <p:cNvPr id="348172" name="Text Box 12"/>
              <p:cNvSpPr txBox="1">
                <a:spLocks noChangeArrowheads="1"/>
              </p:cNvSpPr>
              <p:nvPr/>
            </p:nvSpPr>
            <p:spPr bwMode="auto">
              <a:xfrm>
                <a:off x="624" y="1008"/>
                <a:ext cx="1440" cy="212"/>
              </a:xfrm>
              <a:prstGeom prst="rect">
                <a:avLst/>
              </a:prstGeom>
              <a:noFill/>
              <a:ln w="9525">
                <a:noFill/>
                <a:miter lim="800000"/>
                <a:headEnd/>
                <a:tailEnd/>
              </a:ln>
              <a:effectLst/>
            </p:spPr>
            <p:txBody>
              <a:bodyPr>
                <a:spAutoFit/>
              </a:bodyPr>
              <a:lstStyle/>
              <a:p>
                <a:pPr algn="ctr">
                  <a:spcBef>
                    <a:spcPct val="50000"/>
                  </a:spcBef>
                </a:pPr>
                <a:r>
                  <a:rPr lang="en-US" sz="1600">
                    <a:effectLst>
                      <a:outerShdw blurRad="38100" dist="38100" dir="2700000" algn="tl">
                        <a:srgbClr val="FFFFFF"/>
                      </a:outerShdw>
                    </a:effectLst>
                  </a:rPr>
                  <a:t>Construction</a:t>
                </a:r>
              </a:p>
            </p:txBody>
          </p:sp>
          <p:sp>
            <p:nvSpPr>
              <p:cNvPr id="348173" name="Text Box 13"/>
              <p:cNvSpPr txBox="1">
                <a:spLocks noChangeArrowheads="1"/>
              </p:cNvSpPr>
              <p:nvPr/>
            </p:nvSpPr>
            <p:spPr bwMode="auto">
              <a:xfrm>
                <a:off x="2640" y="1008"/>
                <a:ext cx="1152" cy="212"/>
              </a:xfrm>
              <a:prstGeom prst="rect">
                <a:avLst/>
              </a:prstGeom>
              <a:noFill/>
              <a:ln w="9525">
                <a:noFill/>
                <a:miter lim="800000"/>
                <a:headEnd/>
                <a:tailEnd/>
              </a:ln>
              <a:effectLst/>
            </p:spPr>
            <p:txBody>
              <a:bodyPr>
                <a:spAutoFit/>
              </a:bodyPr>
              <a:lstStyle/>
              <a:p>
                <a:pPr algn="ctr">
                  <a:spcBef>
                    <a:spcPct val="50000"/>
                  </a:spcBef>
                </a:pPr>
                <a:r>
                  <a:rPr lang="en-US" sz="1600">
                    <a:effectLst>
                      <a:outerShdw blurRad="38100" dist="38100" dir="2700000" algn="tl">
                        <a:srgbClr val="FFFFFF"/>
                      </a:outerShdw>
                    </a:effectLst>
                  </a:rPr>
                  <a:t>Lease-Up</a:t>
                </a:r>
              </a:p>
            </p:txBody>
          </p:sp>
          <p:sp>
            <p:nvSpPr>
              <p:cNvPr id="348174" name="Text Box 14"/>
              <p:cNvSpPr txBox="1">
                <a:spLocks noChangeArrowheads="1"/>
              </p:cNvSpPr>
              <p:nvPr/>
            </p:nvSpPr>
            <p:spPr bwMode="auto">
              <a:xfrm>
                <a:off x="4128" y="1008"/>
                <a:ext cx="1392" cy="212"/>
              </a:xfrm>
              <a:prstGeom prst="rect">
                <a:avLst/>
              </a:prstGeom>
              <a:noFill/>
              <a:ln w="9525">
                <a:noFill/>
                <a:miter lim="800000"/>
                <a:headEnd/>
                <a:tailEnd/>
              </a:ln>
              <a:effectLst/>
            </p:spPr>
            <p:txBody>
              <a:bodyPr>
                <a:spAutoFit/>
              </a:bodyPr>
              <a:lstStyle/>
              <a:p>
                <a:pPr algn="ctr">
                  <a:spcBef>
                    <a:spcPct val="50000"/>
                  </a:spcBef>
                </a:pPr>
                <a:r>
                  <a:rPr lang="en-US" sz="1600">
                    <a:effectLst>
                      <a:outerShdw blurRad="38100" dist="38100" dir="2700000" algn="tl">
                        <a:srgbClr val="FFFFFF"/>
                      </a:outerShdw>
                    </a:effectLst>
                  </a:rPr>
                  <a:t>Stabilized Operation…</a:t>
                </a:r>
              </a:p>
            </p:txBody>
          </p:sp>
        </p:grpSp>
        <p:sp>
          <p:nvSpPr>
            <p:cNvPr id="348175" name="Text Box 15"/>
            <p:cNvSpPr txBox="1">
              <a:spLocks noChangeArrowheads="1"/>
            </p:cNvSpPr>
            <p:nvPr/>
          </p:nvSpPr>
          <p:spPr bwMode="auto">
            <a:xfrm>
              <a:off x="2352" y="1488"/>
              <a:ext cx="384" cy="218"/>
            </a:xfrm>
            <a:prstGeom prst="rect">
              <a:avLst/>
            </a:prstGeom>
            <a:noFill/>
            <a:ln w="9525">
              <a:solidFill>
                <a:schemeClr val="tx1"/>
              </a:solidFill>
              <a:miter lim="800000"/>
              <a:headEnd/>
              <a:tailEnd/>
            </a:ln>
            <a:effectLst/>
          </p:spPr>
          <p:txBody>
            <a:bodyPr>
              <a:spAutoFit/>
            </a:bodyPr>
            <a:lstStyle/>
            <a:p>
              <a:pPr algn="ctr">
                <a:spcBef>
                  <a:spcPct val="50000"/>
                </a:spcBef>
              </a:pPr>
              <a:r>
                <a:rPr lang="en-US" sz="1600" i="0">
                  <a:effectLst>
                    <a:outerShdw blurRad="38100" dist="38100" dir="2700000" algn="tl">
                      <a:srgbClr val="FFFFFF"/>
                    </a:outerShdw>
                  </a:effectLst>
                </a:rPr>
                <a:t>C.O.</a:t>
              </a:r>
            </a:p>
          </p:txBody>
        </p:sp>
        <p:sp>
          <p:nvSpPr>
            <p:cNvPr id="348176" name="Line 16"/>
            <p:cNvSpPr>
              <a:spLocks noChangeShapeType="1"/>
            </p:cNvSpPr>
            <p:nvPr/>
          </p:nvSpPr>
          <p:spPr bwMode="auto">
            <a:xfrm flipV="1">
              <a:off x="2544" y="1344"/>
              <a:ext cx="0" cy="144"/>
            </a:xfrm>
            <a:prstGeom prst="line">
              <a:avLst/>
            </a:prstGeom>
            <a:noFill/>
            <a:ln w="9525">
              <a:solidFill>
                <a:schemeClr val="tx1"/>
              </a:solidFill>
              <a:round/>
              <a:headEnd/>
              <a:tailEnd type="triangle" w="med" len="med"/>
            </a:ln>
            <a:effectLst/>
          </p:spPr>
          <p:txBody>
            <a:bodyPr/>
            <a:lstStyle/>
            <a:p>
              <a:endParaRPr lang="en-US"/>
            </a:p>
          </p:txBody>
        </p:sp>
      </p:grpSp>
      <p:grpSp>
        <p:nvGrpSpPr>
          <p:cNvPr id="4" name="Group 17"/>
          <p:cNvGrpSpPr>
            <a:grpSpLocks/>
          </p:cNvGrpSpPr>
          <p:nvPr/>
        </p:nvGrpSpPr>
        <p:grpSpPr bwMode="auto">
          <a:xfrm>
            <a:off x="533400" y="2514600"/>
            <a:ext cx="8305800" cy="955675"/>
            <a:chOff x="336" y="1776"/>
            <a:chExt cx="5232" cy="602"/>
          </a:xfrm>
        </p:grpSpPr>
        <p:sp>
          <p:nvSpPr>
            <p:cNvPr id="348178" name="AutoShape 18"/>
            <p:cNvSpPr>
              <a:spLocks/>
            </p:cNvSpPr>
            <p:nvPr/>
          </p:nvSpPr>
          <p:spPr bwMode="auto">
            <a:xfrm rot="16200000">
              <a:off x="1224" y="888"/>
              <a:ext cx="384" cy="2160"/>
            </a:xfrm>
            <a:prstGeom prst="leftBrace">
              <a:avLst>
                <a:gd name="adj1" fmla="val 46875"/>
                <a:gd name="adj2" fmla="val 50000"/>
              </a:avLst>
            </a:prstGeom>
            <a:noFill/>
            <a:ln w="19050">
              <a:solidFill>
                <a:schemeClr val="tx1"/>
              </a:solidFill>
              <a:round/>
              <a:headEnd/>
              <a:tailEnd/>
            </a:ln>
            <a:effectLst/>
          </p:spPr>
          <p:txBody>
            <a:bodyPr wrap="none" anchor="ctr"/>
            <a:lstStyle/>
            <a:p>
              <a:endParaRPr lang="en-US"/>
            </a:p>
          </p:txBody>
        </p:sp>
        <p:sp>
          <p:nvSpPr>
            <p:cNvPr id="348179" name="AutoShape 19"/>
            <p:cNvSpPr>
              <a:spLocks/>
            </p:cNvSpPr>
            <p:nvPr/>
          </p:nvSpPr>
          <p:spPr bwMode="auto">
            <a:xfrm rot="16200000">
              <a:off x="3096" y="1272"/>
              <a:ext cx="384" cy="1392"/>
            </a:xfrm>
            <a:prstGeom prst="leftBrace">
              <a:avLst>
                <a:gd name="adj1" fmla="val 30208"/>
                <a:gd name="adj2" fmla="val 50000"/>
              </a:avLst>
            </a:prstGeom>
            <a:noFill/>
            <a:ln w="19050">
              <a:solidFill>
                <a:schemeClr val="tx1"/>
              </a:solidFill>
              <a:round/>
              <a:headEnd/>
              <a:tailEnd/>
            </a:ln>
            <a:effectLst/>
          </p:spPr>
          <p:txBody>
            <a:bodyPr wrap="none" anchor="ctr"/>
            <a:lstStyle/>
            <a:p>
              <a:endParaRPr lang="en-US"/>
            </a:p>
          </p:txBody>
        </p:sp>
        <p:sp>
          <p:nvSpPr>
            <p:cNvPr id="348180" name="AutoShape 20"/>
            <p:cNvSpPr>
              <a:spLocks/>
            </p:cNvSpPr>
            <p:nvPr/>
          </p:nvSpPr>
          <p:spPr bwMode="auto">
            <a:xfrm rot="16200000">
              <a:off x="4608" y="1200"/>
              <a:ext cx="384" cy="1536"/>
            </a:xfrm>
            <a:prstGeom prst="leftBrace">
              <a:avLst>
                <a:gd name="adj1" fmla="val 33333"/>
                <a:gd name="adj2" fmla="val 50000"/>
              </a:avLst>
            </a:prstGeom>
            <a:noFill/>
            <a:ln w="19050">
              <a:solidFill>
                <a:schemeClr val="tx1"/>
              </a:solidFill>
              <a:round/>
              <a:headEnd/>
              <a:tailEnd/>
            </a:ln>
            <a:effectLst/>
          </p:spPr>
          <p:txBody>
            <a:bodyPr wrap="none" anchor="ctr"/>
            <a:lstStyle/>
            <a:p>
              <a:endParaRPr lang="en-US"/>
            </a:p>
          </p:txBody>
        </p:sp>
        <p:sp>
          <p:nvSpPr>
            <p:cNvPr id="348181" name="Text Box 21"/>
            <p:cNvSpPr txBox="1">
              <a:spLocks noChangeArrowheads="1"/>
            </p:cNvSpPr>
            <p:nvPr/>
          </p:nvSpPr>
          <p:spPr bwMode="auto">
            <a:xfrm>
              <a:off x="720" y="2160"/>
              <a:ext cx="1392" cy="218"/>
            </a:xfrm>
            <a:prstGeom prst="rect">
              <a:avLst/>
            </a:prstGeom>
            <a:noFill/>
            <a:ln w="9525">
              <a:solidFill>
                <a:schemeClr val="tx1"/>
              </a:solidFill>
              <a:miter lim="800000"/>
              <a:headEnd/>
              <a:tailEnd/>
            </a:ln>
            <a:effectLst/>
          </p:spPr>
          <p:txBody>
            <a:bodyPr>
              <a:spAutoFit/>
            </a:bodyPr>
            <a:lstStyle/>
            <a:p>
              <a:pPr algn="ctr">
                <a:spcBef>
                  <a:spcPct val="50000"/>
                </a:spcBef>
              </a:pPr>
              <a:r>
                <a:rPr lang="en-US" sz="1600" i="0">
                  <a:effectLst>
                    <a:outerShdw blurRad="38100" dist="38100" dir="2700000" algn="tl">
                      <a:srgbClr val="FFFFFF"/>
                    </a:outerShdw>
                  </a:effectLst>
                </a:rPr>
                <a:t>Construction Loan</a:t>
              </a:r>
            </a:p>
          </p:txBody>
        </p:sp>
        <p:sp>
          <p:nvSpPr>
            <p:cNvPr id="348182" name="Text Box 22"/>
            <p:cNvSpPr txBox="1">
              <a:spLocks noChangeArrowheads="1"/>
            </p:cNvSpPr>
            <p:nvPr/>
          </p:nvSpPr>
          <p:spPr bwMode="auto">
            <a:xfrm>
              <a:off x="2544" y="2160"/>
              <a:ext cx="1392" cy="218"/>
            </a:xfrm>
            <a:prstGeom prst="rect">
              <a:avLst/>
            </a:prstGeom>
            <a:noFill/>
            <a:ln w="9525">
              <a:solidFill>
                <a:schemeClr val="tx1"/>
              </a:solidFill>
              <a:miter lim="800000"/>
              <a:headEnd/>
              <a:tailEnd/>
            </a:ln>
            <a:effectLst/>
          </p:spPr>
          <p:txBody>
            <a:bodyPr>
              <a:spAutoFit/>
            </a:bodyPr>
            <a:lstStyle/>
            <a:p>
              <a:pPr algn="ctr">
                <a:spcBef>
                  <a:spcPct val="50000"/>
                </a:spcBef>
              </a:pPr>
              <a:r>
                <a:rPr lang="en-US" sz="1600" i="0">
                  <a:effectLst>
                    <a:outerShdw blurRad="38100" dist="38100" dir="2700000" algn="tl">
                      <a:srgbClr val="FFFFFF"/>
                    </a:outerShdw>
                  </a:effectLst>
                </a:rPr>
                <a:t>Bridge Loan</a:t>
              </a:r>
            </a:p>
          </p:txBody>
        </p:sp>
        <p:sp>
          <p:nvSpPr>
            <p:cNvPr id="348183" name="Text Box 23"/>
            <p:cNvSpPr txBox="1">
              <a:spLocks noChangeArrowheads="1"/>
            </p:cNvSpPr>
            <p:nvPr/>
          </p:nvSpPr>
          <p:spPr bwMode="auto">
            <a:xfrm>
              <a:off x="4128" y="2160"/>
              <a:ext cx="1392" cy="218"/>
            </a:xfrm>
            <a:prstGeom prst="rect">
              <a:avLst/>
            </a:prstGeom>
            <a:noFill/>
            <a:ln w="9525">
              <a:solidFill>
                <a:schemeClr val="tx1"/>
              </a:solidFill>
              <a:miter lim="800000"/>
              <a:headEnd/>
              <a:tailEnd/>
            </a:ln>
            <a:effectLst/>
          </p:spPr>
          <p:txBody>
            <a:bodyPr>
              <a:spAutoFit/>
            </a:bodyPr>
            <a:lstStyle/>
            <a:p>
              <a:pPr algn="ctr">
                <a:spcBef>
                  <a:spcPct val="50000"/>
                </a:spcBef>
              </a:pPr>
              <a:r>
                <a:rPr lang="en-US" sz="1600" i="0">
                  <a:effectLst>
                    <a:outerShdw blurRad="38100" dist="38100" dir="2700000" algn="tl">
                      <a:srgbClr val="FFFFFF"/>
                    </a:outerShdw>
                  </a:effectLst>
                </a:rPr>
                <a:t>Permanent Mortgage</a:t>
              </a:r>
            </a:p>
          </p:txBody>
        </p:sp>
      </p:grpSp>
      <p:sp>
        <p:nvSpPr>
          <p:cNvPr id="348184" name="Text Box 24"/>
          <p:cNvSpPr txBox="1">
            <a:spLocks noChangeArrowheads="1"/>
          </p:cNvSpPr>
          <p:nvPr/>
        </p:nvSpPr>
        <p:spPr bwMode="auto">
          <a:xfrm>
            <a:off x="304800" y="3581400"/>
            <a:ext cx="5410200" cy="396875"/>
          </a:xfrm>
          <a:prstGeom prst="rect">
            <a:avLst/>
          </a:prstGeom>
          <a:noFill/>
          <a:ln w="9525">
            <a:noFill/>
            <a:miter lim="800000"/>
            <a:headEnd/>
            <a:tailEnd/>
          </a:ln>
          <a:effectLst/>
        </p:spPr>
        <p:txBody>
          <a:bodyPr>
            <a:spAutoFit/>
          </a:bodyPr>
          <a:lstStyle/>
          <a:p>
            <a:pPr>
              <a:spcBef>
                <a:spcPct val="50000"/>
              </a:spcBef>
            </a:pPr>
            <a:r>
              <a:rPr lang="en-US">
                <a:effectLst>
                  <a:outerShdw blurRad="38100" dist="38100" dir="2700000" algn="tl">
                    <a:srgbClr val="FFFFFF"/>
                  </a:outerShdw>
                </a:effectLst>
              </a:rPr>
              <a:t>Source:</a:t>
            </a:r>
          </a:p>
        </p:txBody>
      </p:sp>
      <p:grpSp>
        <p:nvGrpSpPr>
          <p:cNvPr id="5" name="Group 25"/>
          <p:cNvGrpSpPr>
            <a:grpSpLocks/>
          </p:cNvGrpSpPr>
          <p:nvPr/>
        </p:nvGrpSpPr>
        <p:grpSpPr bwMode="auto">
          <a:xfrm>
            <a:off x="1524000" y="3505200"/>
            <a:ext cx="7086600" cy="2012950"/>
            <a:chOff x="960" y="2400"/>
            <a:chExt cx="4464" cy="1268"/>
          </a:xfrm>
        </p:grpSpPr>
        <p:grpSp>
          <p:nvGrpSpPr>
            <p:cNvPr id="6" name="Group 26"/>
            <p:cNvGrpSpPr>
              <a:grpSpLocks/>
            </p:cNvGrpSpPr>
            <p:nvPr/>
          </p:nvGrpSpPr>
          <p:grpSpPr bwMode="auto">
            <a:xfrm>
              <a:off x="960" y="2400"/>
              <a:ext cx="912" cy="715"/>
              <a:chOff x="960" y="2400"/>
              <a:chExt cx="912" cy="715"/>
            </a:xfrm>
          </p:grpSpPr>
          <p:sp>
            <p:nvSpPr>
              <p:cNvPr id="348187" name="Text Box 27"/>
              <p:cNvSpPr txBox="1">
                <a:spLocks noChangeArrowheads="1"/>
              </p:cNvSpPr>
              <p:nvPr/>
            </p:nvSpPr>
            <p:spPr bwMode="auto">
              <a:xfrm>
                <a:off x="960" y="2688"/>
                <a:ext cx="912" cy="427"/>
              </a:xfrm>
              <a:prstGeom prst="rect">
                <a:avLst/>
              </a:prstGeom>
              <a:noFill/>
              <a:ln w="9525">
                <a:solidFill>
                  <a:schemeClr val="tx1"/>
                </a:solidFill>
                <a:miter lim="800000"/>
                <a:headEnd/>
                <a:tailEnd/>
              </a:ln>
              <a:effectLst/>
            </p:spPr>
            <p:txBody>
              <a:bodyPr>
                <a:spAutoFit/>
              </a:bodyPr>
              <a:lstStyle/>
              <a:p>
                <a:pPr algn="ctr">
                  <a:spcBef>
                    <a:spcPct val="10000"/>
                  </a:spcBef>
                </a:pPr>
                <a:r>
                  <a:rPr lang="en-US" sz="1800" i="0">
                    <a:effectLst>
                      <a:outerShdw blurRad="38100" dist="38100" dir="2700000" algn="tl">
                        <a:srgbClr val="FFFFFF"/>
                      </a:outerShdw>
                    </a:effectLst>
                  </a:rPr>
                  <a:t>Commercial</a:t>
                </a:r>
              </a:p>
              <a:p>
                <a:pPr algn="ctr">
                  <a:spcBef>
                    <a:spcPct val="10000"/>
                  </a:spcBef>
                </a:pPr>
                <a:r>
                  <a:rPr lang="en-US" sz="1800" i="0">
                    <a:effectLst>
                      <a:outerShdw blurRad="38100" dist="38100" dir="2700000" algn="tl">
                        <a:srgbClr val="FFFFFF"/>
                      </a:outerShdw>
                    </a:effectLst>
                  </a:rPr>
                  <a:t>Bank</a:t>
                </a:r>
              </a:p>
            </p:txBody>
          </p:sp>
          <p:sp>
            <p:nvSpPr>
              <p:cNvPr id="348188" name="Line 28"/>
              <p:cNvSpPr>
                <a:spLocks noChangeShapeType="1"/>
              </p:cNvSpPr>
              <p:nvPr/>
            </p:nvSpPr>
            <p:spPr bwMode="auto">
              <a:xfrm flipV="1">
                <a:off x="1392" y="2400"/>
                <a:ext cx="0" cy="288"/>
              </a:xfrm>
              <a:prstGeom prst="line">
                <a:avLst/>
              </a:prstGeom>
              <a:noFill/>
              <a:ln w="9525">
                <a:solidFill>
                  <a:schemeClr val="tx1"/>
                </a:solidFill>
                <a:round/>
                <a:headEnd/>
                <a:tailEnd type="triangle" w="med" len="med"/>
              </a:ln>
              <a:effectLst/>
            </p:spPr>
            <p:txBody>
              <a:bodyPr/>
              <a:lstStyle/>
              <a:p>
                <a:endParaRPr lang="en-US"/>
              </a:p>
            </p:txBody>
          </p:sp>
        </p:grpSp>
        <p:sp>
          <p:nvSpPr>
            <p:cNvPr id="348189" name="Text Box 29"/>
            <p:cNvSpPr txBox="1">
              <a:spLocks noChangeArrowheads="1"/>
            </p:cNvSpPr>
            <p:nvPr/>
          </p:nvSpPr>
          <p:spPr bwMode="auto">
            <a:xfrm>
              <a:off x="2736" y="2688"/>
              <a:ext cx="1056" cy="427"/>
            </a:xfrm>
            <a:prstGeom prst="rect">
              <a:avLst/>
            </a:prstGeom>
            <a:noFill/>
            <a:ln w="9525">
              <a:solidFill>
                <a:schemeClr val="tx1"/>
              </a:solidFill>
              <a:miter lim="800000"/>
              <a:headEnd/>
              <a:tailEnd/>
            </a:ln>
            <a:effectLst/>
          </p:spPr>
          <p:txBody>
            <a:bodyPr>
              <a:spAutoFit/>
            </a:bodyPr>
            <a:lstStyle/>
            <a:p>
              <a:pPr>
                <a:spcBef>
                  <a:spcPct val="10000"/>
                </a:spcBef>
                <a:buFontTx/>
                <a:buChar char="•"/>
              </a:pPr>
              <a:r>
                <a:rPr lang="en-US" sz="1800" i="0">
                  <a:effectLst>
                    <a:outerShdw blurRad="38100" dist="38100" dir="2700000" algn="tl">
                      <a:srgbClr val="FFFFFF"/>
                    </a:outerShdw>
                  </a:effectLst>
                </a:rPr>
                <a:t> Comm. Bank</a:t>
              </a:r>
            </a:p>
            <a:p>
              <a:pPr>
                <a:spcBef>
                  <a:spcPct val="10000"/>
                </a:spcBef>
                <a:buFontTx/>
                <a:buChar char="•"/>
              </a:pPr>
              <a:r>
                <a:rPr lang="en-US" sz="1800" i="0">
                  <a:effectLst>
                    <a:outerShdw blurRad="38100" dist="38100" dir="2700000" algn="tl">
                      <a:srgbClr val="FFFFFF"/>
                    </a:outerShdw>
                  </a:effectLst>
                </a:rPr>
                <a:t> Insur Co.</a:t>
              </a:r>
            </a:p>
          </p:txBody>
        </p:sp>
        <p:sp>
          <p:nvSpPr>
            <p:cNvPr id="348190" name="Line 30"/>
            <p:cNvSpPr>
              <a:spLocks noChangeShapeType="1"/>
            </p:cNvSpPr>
            <p:nvPr/>
          </p:nvSpPr>
          <p:spPr bwMode="auto">
            <a:xfrm flipV="1">
              <a:off x="3264" y="2400"/>
              <a:ext cx="0" cy="288"/>
            </a:xfrm>
            <a:prstGeom prst="line">
              <a:avLst/>
            </a:prstGeom>
            <a:noFill/>
            <a:ln w="9525">
              <a:solidFill>
                <a:schemeClr val="tx1"/>
              </a:solidFill>
              <a:round/>
              <a:headEnd/>
              <a:tailEnd type="triangle" w="med" len="med"/>
            </a:ln>
            <a:effectLst/>
          </p:spPr>
          <p:txBody>
            <a:bodyPr/>
            <a:lstStyle/>
            <a:p>
              <a:endParaRPr lang="en-US"/>
            </a:p>
          </p:txBody>
        </p:sp>
        <p:sp>
          <p:nvSpPr>
            <p:cNvPr id="348191" name="Text Box 31"/>
            <p:cNvSpPr txBox="1">
              <a:spLocks noChangeArrowheads="1"/>
            </p:cNvSpPr>
            <p:nvPr/>
          </p:nvSpPr>
          <p:spPr bwMode="auto">
            <a:xfrm>
              <a:off x="4224" y="2688"/>
              <a:ext cx="1200" cy="980"/>
            </a:xfrm>
            <a:prstGeom prst="rect">
              <a:avLst/>
            </a:prstGeom>
            <a:noFill/>
            <a:ln w="9525">
              <a:solidFill>
                <a:schemeClr val="tx1"/>
              </a:solidFill>
              <a:miter lim="800000"/>
              <a:headEnd/>
              <a:tailEnd/>
            </a:ln>
            <a:effectLst/>
          </p:spPr>
          <p:txBody>
            <a:bodyPr>
              <a:spAutoFit/>
            </a:bodyPr>
            <a:lstStyle/>
            <a:p>
              <a:pPr>
                <a:spcBef>
                  <a:spcPct val="10000"/>
                </a:spcBef>
              </a:pPr>
              <a:r>
                <a:rPr lang="en-US" sz="1800">
                  <a:effectLst>
                    <a:outerShdw blurRad="38100" dist="38100" dir="2700000" algn="tl">
                      <a:srgbClr val="FFFFFF"/>
                    </a:outerShdw>
                  </a:effectLst>
                </a:rPr>
                <a:t>Via Mortg Brkr or Mortg Banker:</a:t>
              </a:r>
            </a:p>
            <a:p>
              <a:pPr>
                <a:spcBef>
                  <a:spcPct val="10000"/>
                </a:spcBef>
                <a:buFontTx/>
                <a:buChar char="•"/>
              </a:pPr>
              <a:r>
                <a:rPr lang="en-US" sz="1800" i="0">
                  <a:effectLst>
                    <a:outerShdw blurRad="38100" dist="38100" dir="2700000" algn="tl">
                      <a:srgbClr val="FFFFFF"/>
                    </a:outerShdw>
                  </a:effectLst>
                </a:rPr>
                <a:t> Life Insur. Co.</a:t>
              </a:r>
            </a:p>
            <a:p>
              <a:pPr>
                <a:spcBef>
                  <a:spcPct val="10000"/>
                </a:spcBef>
                <a:buFontTx/>
                <a:buChar char="•"/>
              </a:pPr>
              <a:r>
                <a:rPr lang="en-US" sz="1800" i="0">
                  <a:effectLst>
                    <a:outerShdw blurRad="38100" dist="38100" dir="2700000" algn="tl">
                      <a:srgbClr val="FFFFFF"/>
                    </a:outerShdw>
                  </a:effectLst>
                </a:rPr>
                <a:t> Pension Fund</a:t>
              </a:r>
            </a:p>
            <a:p>
              <a:pPr>
                <a:spcBef>
                  <a:spcPct val="10000"/>
                </a:spcBef>
                <a:buFontTx/>
                <a:buChar char="•"/>
              </a:pPr>
              <a:r>
                <a:rPr lang="en-US" sz="1800" i="0">
                  <a:effectLst>
                    <a:outerShdw blurRad="38100" dist="38100" dir="2700000" algn="tl">
                      <a:srgbClr val="FFFFFF"/>
                    </a:outerShdw>
                  </a:effectLst>
                </a:rPr>
                <a:t> Conduit </a:t>
              </a:r>
              <a:r>
                <a:rPr lang="en-US" sz="1400" b="0" i="0">
                  <a:effectLst>
                    <a:outerShdw blurRad="38100" dist="38100" dir="2700000" algn="tl">
                      <a:srgbClr val="FFFFFF"/>
                    </a:outerShdw>
                  </a:effectLst>
                  <a:sym typeface="Wingdings" pitchFamily="2" charset="2"/>
                </a:rPr>
                <a:t>CMBS</a:t>
              </a:r>
              <a:endParaRPr lang="en-US" sz="1400" b="0" i="0">
                <a:effectLst>
                  <a:outerShdw blurRad="38100" dist="38100" dir="2700000" algn="tl">
                    <a:srgbClr val="FFFFFF"/>
                  </a:outerShdw>
                </a:effectLst>
              </a:endParaRPr>
            </a:p>
          </p:txBody>
        </p:sp>
        <p:sp>
          <p:nvSpPr>
            <p:cNvPr id="348192" name="Line 32"/>
            <p:cNvSpPr>
              <a:spLocks noChangeShapeType="1"/>
            </p:cNvSpPr>
            <p:nvPr/>
          </p:nvSpPr>
          <p:spPr bwMode="auto">
            <a:xfrm flipV="1">
              <a:off x="4800" y="2400"/>
              <a:ext cx="0" cy="288"/>
            </a:xfrm>
            <a:prstGeom prst="line">
              <a:avLst/>
            </a:prstGeom>
            <a:noFill/>
            <a:ln w="9525">
              <a:solidFill>
                <a:schemeClr val="tx1"/>
              </a:solidFill>
              <a:round/>
              <a:headEnd/>
              <a:tailEnd type="triangle" w="med" len="med"/>
            </a:ln>
            <a:effectLst/>
          </p:spPr>
          <p:txBody>
            <a:bodyPr/>
            <a:lstStyle/>
            <a:p>
              <a:endParaRPr lang="en-US"/>
            </a:p>
          </p:txBody>
        </p:sp>
      </p:grpSp>
      <p:sp>
        <p:nvSpPr>
          <p:cNvPr id="348193" name="Text Box 33"/>
          <p:cNvSpPr txBox="1">
            <a:spLocks noChangeArrowheads="1"/>
          </p:cNvSpPr>
          <p:nvPr/>
        </p:nvSpPr>
        <p:spPr bwMode="auto">
          <a:xfrm>
            <a:off x="990600" y="4800600"/>
            <a:ext cx="5334000" cy="1016000"/>
          </a:xfrm>
          <a:prstGeom prst="rect">
            <a:avLst/>
          </a:prstGeom>
          <a:noFill/>
          <a:ln w="9525">
            <a:solidFill>
              <a:schemeClr val="tx1"/>
            </a:solidFill>
            <a:miter lim="800000"/>
            <a:headEnd/>
            <a:tailEnd/>
          </a:ln>
          <a:effectLst/>
        </p:spPr>
        <p:txBody>
          <a:bodyPr>
            <a:spAutoFit/>
          </a:bodyPr>
          <a:lstStyle/>
          <a:p>
            <a:pPr>
              <a:spcBef>
                <a:spcPct val="50000"/>
              </a:spcBef>
            </a:pPr>
            <a:r>
              <a:rPr lang="en-US">
                <a:effectLst>
                  <a:outerShdw blurRad="38100" dist="38100" dir="2700000" algn="tl">
                    <a:srgbClr val="FFFFFF"/>
                  </a:outerShdw>
                </a:effectLst>
              </a:rPr>
              <a:t>Construction lender won’t approve construction loan until permanent lender has conditionally approved a “take-out” loan.</a:t>
            </a:r>
          </a:p>
        </p:txBody>
      </p:sp>
      <p:sp>
        <p:nvSpPr>
          <p:cNvPr id="348194" name="Line 34"/>
          <p:cNvSpPr>
            <a:spLocks noChangeShapeType="1"/>
          </p:cNvSpPr>
          <p:nvPr/>
        </p:nvSpPr>
        <p:spPr bwMode="auto">
          <a:xfrm>
            <a:off x="4114800" y="5791200"/>
            <a:ext cx="0" cy="457200"/>
          </a:xfrm>
          <a:prstGeom prst="line">
            <a:avLst/>
          </a:prstGeom>
          <a:noFill/>
          <a:ln w="9525">
            <a:solidFill>
              <a:schemeClr val="tx1"/>
            </a:solidFill>
            <a:round/>
            <a:headEnd type="triangle" w="med" len="med"/>
            <a:tailEnd type="triangle" w="med" len="med"/>
          </a:ln>
          <a:effectLst/>
        </p:spPr>
        <p:txBody>
          <a:bodyPr/>
          <a:lstStyle/>
          <a:p>
            <a:endParaRPr lang="en-US"/>
          </a:p>
        </p:txBody>
      </p:sp>
      <p:sp>
        <p:nvSpPr>
          <p:cNvPr id="348195" name="Line 35"/>
          <p:cNvSpPr>
            <a:spLocks noChangeShapeType="1"/>
          </p:cNvSpPr>
          <p:nvPr/>
        </p:nvSpPr>
        <p:spPr bwMode="auto">
          <a:xfrm>
            <a:off x="1219200" y="6248400"/>
            <a:ext cx="5638800" cy="0"/>
          </a:xfrm>
          <a:prstGeom prst="line">
            <a:avLst/>
          </a:prstGeom>
          <a:noFill/>
          <a:ln w="9525">
            <a:solidFill>
              <a:schemeClr val="tx1"/>
            </a:solidFill>
            <a:round/>
            <a:headEnd type="triangle" w="med" len="med"/>
            <a:tailEnd type="triangle" w="med" len="med"/>
          </a:ln>
          <a:effectLst/>
        </p:spPr>
        <p:txBody>
          <a:bodyPr/>
          <a:lstStyle/>
          <a:p>
            <a:endParaRPr lang="en-US"/>
          </a:p>
        </p:txBody>
      </p:sp>
      <p:sp>
        <p:nvSpPr>
          <p:cNvPr id="40" name="Footer Placeholder 2"/>
          <p:cNvSpPr txBox="1">
            <a:spLocks/>
          </p:cNvSpPr>
          <p:nvPr/>
        </p:nvSpPr>
        <p:spPr bwMode="auto">
          <a:xfrm>
            <a:off x="457200" y="6537326"/>
            <a:ext cx="6035040" cy="32067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1" u="none" strike="noStrike" kern="1200" cap="none" spc="0" normalizeH="0" baseline="0" noProof="0" dirty="0">
                <a:ln>
                  <a:noFill/>
                </a:ln>
                <a:solidFill>
                  <a:schemeClr val="tx2"/>
                </a:solidFill>
                <a:effectLst/>
                <a:uLnTx/>
                <a:uFillTx/>
                <a:latin typeface="Arial" charset="0"/>
                <a:ea typeface="+mn-ea"/>
                <a:cs typeface="+mn-cs"/>
              </a:rPr>
              <a:t>Copyright © 2007 Thomson/South-Western, </a:t>
            </a:r>
            <a:r>
              <a:rPr kumimoji="0" lang="en-US" sz="1100" b="0" i="1" u="none" strike="noStrike" kern="1200" cap="none" spc="0" normalizeH="0" baseline="0" noProof="0" dirty="0" err="1">
                <a:ln>
                  <a:noFill/>
                </a:ln>
                <a:solidFill>
                  <a:schemeClr val="tx2"/>
                </a:solidFill>
                <a:effectLst/>
                <a:uLnTx/>
                <a:uFillTx/>
                <a:latin typeface="Arial" charset="0"/>
                <a:ea typeface="+mn-ea"/>
                <a:cs typeface="+mn-cs"/>
              </a:rPr>
              <a:t>Geltner</a:t>
            </a:r>
            <a:r>
              <a:rPr kumimoji="0" lang="en-US" sz="1100" b="0" i="1" u="none" strike="noStrike" kern="1200" cap="none" spc="0" normalizeH="0" baseline="0" noProof="0" dirty="0">
                <a:ln>
                  <a:noFill/>
                </a:ln>
                <a:solidFill>
                  <a:schemeClr val="tx2"/>
                </a:solidFill>
                <a:effectLst/>
                <a:uLnTx/>
                <a:uFillTx/>
                <a:latin typeface="Arial" charset="0"/>
                <a:ea typeface="+mn-ea"/>
                <a:cs typeface="+mn-cs"/>
              </a:rPr>
              <a:t>/Miller/Clayton/</a:t>
            </a:r>
            <a:r>
              <a:rPr kumimoji="0" lang="en-US" sz="1100" b="0" i="1" u="none" strike="noStrike" kern="1200" cap="none" spc="0" normalizeH="0" baseline="0" noProof="0" dirty="0" err="1">
                <a:ln>
                  <a:noFill/>
                </a:ln>
                <a:solidFill>
                  <a:schemeClr val="tx2"/>
                </a:solidFill>
                <a:effectLst/>
                <a:uLnTx/>
                <a:uFillTx/>
                <a:latin typeface="Arial" charset="0"/>
                <a:ea typeface="+mn-ea"/>
                <a:cs typeface="+mn-cs"/>
              </a:rPr>
              <a:t>Eichholtz</a:t>
            </a:r>
            <a:r>
              <a:rPr kumimoji="0" lang="en-US" sz="1100" b="0" i="1" u="none" strike="noStrike" kern="1200" cap="none" spc="0" normalizeH="0" baseline="0" noProof="0" dirty="0">
                <a:ln>
                  <a:noFill/>
                </a:ln>
                <a:solidFill>
                  <a:schemeClr val="tx2"/>
                </a:solidFill>
                <a:effectLst/>
                <a:uLnTx/>
                <a:uFillTx/>
                <a:latin typeface="Arial" charset="0"/>
                <a:ea typeface="+mn-ea"/>
                <a:cs typeface="+mn-cs"/>
              </a:rPr>
              <a:t>, 2e</a:t>
            </a:r>
          </a:p>
        </p:txBody>
      </p:sp>
    </p:spTree>
    <p:extLst>
      <p:ext uri="{BB962C8B-B14F-4D97-AF65-F5344CB8AC3E}">
        <p14:creationId xmlns:p14="http://schemas.microsoft.com/office/powerpoint/2010/main" val="3992173108"/>
      </p:ext>
    </p:extLst>
  </p:cSld>
  <p:clrMapOvr>
    <a:masterClrMapping/>
  </p:clrMapOvr>
</p:sld>
</file>

<file path=ppt/theme/theme1.xml><?xml version="1.0" encoding="utf-8"?>
<a:theme xmlns:a="http://schemas.openxmlformats.org/drawingml/2006/main" name="Joe Walsh, Generic Copyright">
  <a:themeElements>
    <a:clrScheme name="">
      <a:dk1>
        <a:srgbClr val="000000"/>
      </a:dk1>
      <a:lt1>
        <a:srgbClr val="FFFFFF"/>
      </a:lt1>
      <a:dk2>
        <a:srgbClr val="A92026"/>
      </a:dk2>
      <a:lt2>
        <a:srgbClr val="808080"/>
      </a:lt2>
      <a:accent1>
        <a:srgbClr val="C19A25"/>
      </a:accent1>
      <a:accent2>
        <a:srgbClr val="A41E21"/>
      </a:accent2>
      <a:accent3>
        <a:srgbClr val="FFFFFF"/>
      </a:accent3>
      <a:accent4>
        <a:srgbClr val="000000"/>
      </a:accent4>
      <a:accent5>
        <a:srgbClr val="DDCAAC"/>
      </a:accent5>
      <a:accent6>
        <a:srgbClr val="941A1D"/>
      </a:accent6>
      <a:hlink>
        <a:srgbClr val="929199"/>
      </a:hlink>
      <a:folHlink>
        <a:srgbClr val="6F6E6D"/>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UW_PPT_white</Template>
  <TotalTime>3963</TotalTime>
  <Words>2209</Words>
  <Application>Microsoft Office PowerPoint</Application>
  <PresentationFormat>On-screen Show (4:3)</PresentationFormat>
  <Paragraphs>403</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CG Omega</vt:lpstr>
      <vt:lpstr>Times New Roman</vt:lpstr>
      <vt:lpstr>Joe Walsh, Generic Copyright</vt:lpstr>
      <vt:lpstr>Real options</vt:lpstr>
      <vt:lpstr>Land development option exercise</vt:lpstr>
      <vt:lpstr>NPV Decision</vt:lpstr>
      <vt:lpstr>Development Finance - Overview</vt:lpstr>
      <vt:lpstr>Exhibit 2-2: The “Real Estate System”: Interaction of the Space Market, Asset Market, &amp; Development Industry </vt:lpstr>
      <vt:lpstr>Development is an Iterative Process</vt:lpstr>
      <vt:lpstr>Graaskamp: 3 Types of RE Development Problems</vt:lpstr>
      <vt:lpstr>PowerPoint Presentation</vt:lpstr>
      <vt:lpstr>PowerPoint Presentation</vt:lpstr>
      <vt:lpstr>PowerPoint Presentation</vt:lpstr>
      <vt:lpstr>Development Project Risks</vt:lpstr>
      <vt:lpstr>Development Project Risks (cont.)</vt:lpstr>
      <vt:lpstr>Development Project Risks (cont.)</vt:lpstr>
      <vt:lpstr>Development Project Risks (cont.)</vt:lpstr>
      <vt:lpstr>Development Project Budgeting</vt:lpstr>
      <vt:lpstr>Typical Construction Finance Structure</vt:lpstr>
    </vt:vector>
  </TitlesOfParts>
  <Company>The Yates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 Lecture:</dc:title>
  <dc:creator>Joe Walsh</dc:creator>
  <cp:lastModifiedBy>Jaime Pérez Luque</cp:lastModifiedBy>
  <cp:revision>191</cp:revision>
  <dcterms:created xsi:type="dcterms:W3CDTF">2000-11-21T12:50:15Z</dcterms:created>
  <dcterms:modified xsi:type="dcterms:W3CDTF">2020-08-20T07:58:23Z</dcterms:modified>
</cp:coreProperties>
</file>