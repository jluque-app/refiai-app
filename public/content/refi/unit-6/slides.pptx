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5"/>
  </p:notesMasterIdLst>
  <p:handoutMasterIdLst>
    <p:handoutMasterId r:id="rId26"/>
  </p:handoutMasterIdLst>
  <p:sldIdLst>
    <p:sldId id="256" r:id="rId2"/>
    <p:sldId id="369" r:id="rId3"/>
    <p:sldId id="372" r:id="rId4"/>
    <p:sldId id="373" r:id="rId5"/>
    <p:sldId id="374" r:id="rId6"/>
    <p:sldId id="376" r:id="rId7"/>
    <p:sldId id="377" r:id="rId8"/>
    <p:sldId id="378" r:id="rId9"/>
    <p:sldId id="379" r:id="rId10"/>
    <p:sldId id="380" r:id="rId11"/>
    <p:sldId id="391" r:id="rId12"/>
    <p:sldId id="392" r:id="rId13"/>
    <p:sldId id="381" r:id="rId14"/>
    <p:sldId id="382" r:id="rId15"/>
    <p:sldId id="383" r:id="rId16"/>
    <p:sldId id="384" r:id="rId17"/>
    <p:sldId id="385" r:id="rId18"/>
    <p:sldId id="386" r:id="rId19"/>
    <p:sldId id="393" r:id="rId20"/>
    <p:sldId id="390" r:id="rId21"/>
    <p:sldId id="387" r:id="rId22"/>
    <p:sldId id="388" r:id="rId23"/>
    <p:sldId id="389" r:id="rId24"/>
  </p:sldIdLst>
  <p:sldSz cx="9144000" cy="6858000" type="screen4x3"/>
  <p:notesSz cx="6997700" cy="92837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652" autoAdjust="0"/>
  </p:normalViewPr>
  <p:slideViewPr>
    <p:cSldViewPr>
      <p:cViewPr varScale="1">
        <p:scale>
          <a:sx n="62" d="100"/>
          <a:sy n="62" d="100"/>
        </p:scale>
        <p:origin x="140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2125" cy="46355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63988" y="0"/>
            <a:ext cx="3032125" cy="463550"/>
          </a:xfrm>
          <a:prstGeom prst="rect">
            <a:avLst/>
          </a:prstGeom>
        </p:spPr>
        <p:txBody>
          <a:bodyPr vert="horz" lIns="91440" tIns="45720" rIns="91440" bIns="45720" rtlCol="0"/>
          <a:lstStyle>
            <a:lvl1pPr algn="r">
              <a:defRPr sz="1200" smtClean="0"/>
            </a:lvl1pPr>
          </a:lstStyle>
          <a:p>
            <a:pPr>
              <a:defRPr/>
            </a:pPr>
            <a:fld id="{75DBB393-6E79-429E-87AA-F33DF9BC0F21}" type="datetimeFigureOut">
              <a:rPr lang="en-US"/>
              <a:pPr>
                <a:defRPr/>
              </a:pPr>
              <a:t>8/20/2020</a:t>
            </a:fld>
            <a:endParaRPr lang="en-US"/>
          </a:p>
        </p:txBody>
      </p:sp>
      <p:sp>
        <p:nvSpPr>
          <p:cNvPr id="4" name="Footer Placeholder 3"/>
          <p:cNvSpPr>
            <a:spLocks noGrp="1"/>
          </p:cNvSpPr>
          <p:nvPr>
            <p:ph type="ftr" sz="quarter" idx="2"/>
          </p:nvPr>
        </p:nvSpPr>
        <p:spPr>
          <a:xfrm>
            <a:off x="0" y="8818563"/>
            <a:ext cx="3032125" cy="46355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63988" y="8818563"/>
            <a:ext cx="3032125" cy="463550"/>
          </a:xfrm>
          <a:prstGeom prst="rect">
            <a:avLst/>
          </a:prstGeom>
        </p:spPr>
        <p:txBody>
          <a:bodyPr vert="horz" lIns="91440" tIns="45720" rIns="91440" bIns="45720" rtlCol="0" anchor="b"/>
          <a:lstStyle>
            <a:lvl1pPr algn="r">
              <a:defRPr sz="1200" smtClean="0"/>
            </a:lvl1pPr>
          </a:lstStyle>
          <a:p>
            <a:pPr>
              <a:defRPr/>
            </a:pPr>
            <a:fld id="{CE8301FE-B4B8-4666-9A6A-CABB6B079B13}" type="slidenum">
              <a:rPr lang="en-US"/>
              <a:pPr>
                <a:defRPr/>
              </a:pPr>
              <a:t>‹#›</a:t>
            </a:fld>
            <a:endParaRPr lang="en-US"/>
          </a:p>
        </p:txBody>
      </p:sp>
    </p:spTree>
    <p:extLst>
      <p:ext uri="{BB962C8B-B14F-4D97-AF65-F5344CB8AC3E}">
        <p14:creationId xmlns:p14="http://schemas.microsoft.com/office/powerpoint/2010/main" val="14327918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6834"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437">
              <a:defRPr sz="1300">
                <a:latin typeface="Times New Roman" pitchFamily="18" charset="0"/>
              </a:defRPr>
            </a:lvl1pPr>
          </a:lstStyle>
          <a:p>
            <a:pPr>
              <a:defRPr/>
            </a:pPr>
            <a:endParaRPr lang="en-US"/>
          </a:p>
        </p:txBody>
      </p:sp>
      <p:sp>
        <p:nvSpPr>
          <p:cNvPr id="376835" name="Rectangle 3"/>
          <p:cNvSpPr>
            <a:spLocks noGrp="1" noChangeArrowheads="1"/>
          </p:cNvSpPr>
          <p:nvPr>
            <p:ph type="dt" idx="1"/>
          </p:nvPr>
        </p:nvSpPr>
        <p:spPr bwMode="auto">
          <a:xfrm>
            <a:off x="3963988"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437">
              <a:defRPr sz="1300">
                <a:latin typeface="Times New Roman" pitchFamily="18" charset="0"/>
              </a:defRPr>
            </a:lvl1pPr>
          </a:lstStyle>
          <a:p>
            <a:pPr>
              <a:defRPr/>
            </a:pPr>
            <a:endParaRPr lang="en-US"/>
          </a:p>
        </p:txBody>
      </p:sp>
      <p:sp>
        <p:nvSpPr>
          <p:cNvPr id="22532"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p:spPr>
      </p:sp>
      <p:sp>
        <p:nvSpPr>
          <p:cNvPr id="376837" name="Rectangle 5"/>
          <p:cNvSpPr>
            <a:spLocks noGrp="1" noChangeArrowheads="1"/>
          </p:cNvSpPr>
          <p:nvPr>
            <p:ph type="body" sz="quarter" idx="3"/>
          </p:nvPr>
        </p:nvSpPr>
        <p:spPr bwMode="auto">
          <a:xfrm>
            <a:off x="700088" y="4410075"/>
            <a:ext cx="5597525" cy="4176713"/>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76838" name="Rectangle 6"/>
          <p:cNvSpPr>
            <a:spLocks noGrp="1" noChangeArrowheads="1"/>
          </p:cNvSpPr>
          <p:nvPr>
            <p:ph type="ftr" sz="quarter" idx="4"/>
          </p:nvPr>
        </p:nvSpPr>
        <p:spPr bwMode="auto">
          <a:xfrm>
            <a:off x="0" y="8818563"/>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437">
              <a:defRPr sz="1300">
                <a:latin typeface="Times New Roman" pitchFamily="18" charset="0"/>
              </a:defRPr>
            </a:lvl1pPr>
          </a:lstStyle>
          <a:p>
            <a:pPr>
              <a:defRPr/>
            </a:pPr>
            <a:endParaRPr lang="en-US"/>
          </a:p>
        </p:txBody>
      </p:sp>
      <p:sp>
        <p:nvSpPr>
          <p:cNvPr id="376839" name="Rectangle 7"/>
          <p:cNvSpPr>
            <a:spLocks noGrp="1" noChangeArrowheads="1"/>
          </p:cNvSpPr>
          <p:nvPr>
            <p:ph type="sldNum" sz="quarter" idx="5"/>
          </p:nvPr>
        </p:nvSpPr>
        <p:spPr bwMode="auto">
          <a:xfrm>
            <a:off x="3963988" y="8818563"/>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437">
              <a:defRPr sz="1300">
                <a:latin typeface="Times New Roman" pitchFamily="18" charset="0"/>
              </a:defRPr>
            </a:lvl1pPr>
          </a:lstStyle>
          <a:p>
            <a:pPr>
              <a:defRPr/>
            </a:pPr>
            <a:fld id="{90AA55C7-700E-4218-B790-90BFEBDC25DA}" type="slidenum">
              <a:rPr lang="en-US"/>
              <a:pPr>
                <a:defRPr/>
              </a:pPr>
              <a:t>‹#›</a:t>
            </a:fld>
            <a:endParaRPr lang="en-US"/>
          </a:p>
        </p:txBody>
      </p:sp>
    </p:spTree>
    <p:extLst>
      <p:ext uri="{BB962C8B-B14F-4D97-AF65-F5344CB8AC3E}">
        <p14:creationId xmlns:p14="http://schemas.microsoft.com/office/powerpoint/2010/main" val="64973075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p:spPr>
        <p:txBody>
          <a:bodyPr/>
          <a:lstStyle/>
          <a:p>
            <a:pPr eaLnBrk="1" hangingPunct="1"/>
            <a:endParaRPr lang="en-US"/>
          </a:p>
        </p:txBody>
      </p:sp>
      <p:sp>
        <p:nvSpPr>
          <p:cNvPr id="23556" name="Slide Number Placeholder 3"/>
          <p:cNvSpPr>
            <a:spLocks noGrp="1"/>
          </p:cNvSpPr>
          <p:nvPr>
            <p:ph type="sldNum" sz="quarter" idx="5"/>
          </p:nvPr>
        </p:nvSpPr>
        <p:spPr>
          <a:noFill/>
        </p:spPr>
        <p:txBody>
          <a:bodyPr/>
          <a:lstStyle/>
          <a:p>
            <a:pPr defTabSz="930275"/>
            <a:fld id="{B4C5DEF9-EEB4-47F2-ADDE-0BAFACDA2459}" type="slidenum">
              <a:rPr lang="en-US" smtClean="0"/>
              <a:pPr defTabSz="930275"/>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5" name="Rectangle 6"/>
          <p:cNvSpPr>
            <a:spLocks noGrp="1" noChangeArrowheads="1"/>
          </p:cNvSpPr>
          <p:nvPr>
            <p:ph type="sldNum" sz="quarter" idx="11"/>
          </p:nvPr>
        </p:nvSpPr>
        <p:spPr>
          <a:ln/>
        </p:spPr>
        <p:txBody>
          <a:bodyPr/>
          <a:lstStyle>
            <a:lvl1pPr>
              <a:defRPr/>
            </a:lvl1pPr>
          </a:lstStyle>
          <a:p>
            <a:pPr>
              <a:defRPr/>
            </a:pPr>
            <a:fld id="{E7637851-6CEF-4FEF-B332-64ABA05969B2}"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5" name="Rectangle 6"/>
          <p:cNvSpPr>
            <a:spLocks noGrp="1" noChangeArrowheads="1"/>
          </p:cNvSpPr>
          <p:nvPr>
            <p:ph type="sldNum" sz="quarter" idx="11"/>
          </p:nvPr>
        </p:nvSpPr>
        <p:spPr>
          <a:ln/>
        </p:spPr>
        <p:txBody>
          <a:bodyPr/>
          <a:lstStyle>
            <a:lvl1pPr>
              <a:defRPr/>
            </a:lvl1pPr>
          </a:lstStyle>
          <a:p>
            <a:pPr>
              <a:defRPr/>
            </a:pPr>
            <a:fld id="{DF5D9ABE-B040-4BE2-B21A-1DD102F3E1A7}"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5" name="Rectangle 6"/>
          <p:cNvSpPr>
            <a:spLocks noGrp="1" noChangeArrowheads="1"/>
          </p:cNvSpPr>
          <p:nvPr>
            <p:ph type="sldNum" sz="quarter" idx="11"/>
          </p:nvPr>
        </p:nvSpPr>
        <p:spPr>
          <a:ln/>
        </p:spPr>
        <p:txBody>
          <a:bodyPr/>
          <a:lstStyle>
            <a:lvl1pPr>
              <a:defRPr/>
            </a:lvl1pPr>
          </a:lstStyle>
          <a:p>
            <a:pPr>
              <a:defRPr/>
            </a:pPr>
            <a:fld id="{D71802BF-1E17-4659-BC14-CE0F5D1975F0}"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6" name="Rectangle 6"/>
          <p:cNvSpPr>
            <a:spLocks noGrp="1" noChangeArrowheads="1"/>
          </p:cNvSpPr>
          <p:nvPr>
            <p:ph type="sldNum" sz="quarter" idx="11"/>
          </p:nvPr>
        </p:nvSpPr>
        <p:spPr>
          <a:ln/>
        </p:spPr>
        <p:txBody>
          <a:bodyPr/>
          <a:lstStyle>
            <a:lvl1pPr>
              <a:defRPr/>
            </a:lvl1pPr>
          </a:lstStyle>
          <a:p>
            <a:pPr>
              <a:defRPr/>
            </a:pPr>
            <a:fld id="{D0776AB5-1B1E-4C82-8981-FE3F0080C392}"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8" name="Rectangle 6"/>
          <p:cNvSpPr>
            <a:spLocks noGrp="1" noChangeArrowheads="1"/>
          </p:cNvSpPr>
          <p:nvPr>
            <p:ph type="sldNum" sz="quarter" idx="11"/>
          </p:nvPr>
        </p:nvSpPr>
        <p:spPr>
          <a:ln/>
        </p:spPr>
        <p:txBody>
          <a:bodyPr/>
          <a:lstStyle>
            <a:lvl1pPr>
              <a:defRPr/>
            </a:lvl1pPr>
          </a:lstStyle>
          <a:p>
            <a:pPr>
              <a:defRPr/>
            </a:pPr>
            <a:fld id="{73EDDF83-038E-4464-AC2F-9083960F3ACA}"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4" name="Rectangle 6"/>
          <p:cNvSpPr>
            <a:spLocks noGrp="1" noChangeArrowheads="1"/>
          </p:cNvSpPr>
          <p:nvPr>
            <p:ph type="sldNum" sz="quarter" idx="11"/>
          </p:nvPr>
        </p:nvSpPr>
        <p:spPr>
          <a:ln/>
        </p:spPr>
        <p:txBody>
          <a:bodyPr/>
          <a:lstStyle>
            <a:lvl1pPr>
              <a:defRPr/>
            </a:lvl1pPr>
          </a:lstStyle>
          <a:p>
            <a:pPr>
              <a:defRPr/>
            </a:pPr>
            <a:fld id="{3F6B4F38-53AA-407C-9FF3-FC214BB4EA8D}"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3" name="Rectangle 6"/>
          <p:cNvSpPr>
            <a:spLocks noGrp="1" noChangeArrowheads="1"/>
          </p:cNvSpPr>
          <p:nvPr>
            <p:ph type="sldNum" sz="quarter" idx="11"/>
          </p:nvPr>
        </p:nvSpPr>
        <p:spPr>
          <a:ln/>
        </p:spPr>
        <p:txBody>
          <a:bodyPr/>
          <a:lstStyle>
            <a:lvl1pPr>
              <a:defRPr/>
            </a:lvl1pPr>
          </a:lstStyle>
          <a:p>
            <a:pPr>
              <a:defRPr/>
            </a:pPr>
            <a:fld id="{E29345A1-D508-4D0B-A2AC-AD31E4C1A010}"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6" name="Rectangle 6"/>
          <p:cNvSpPr>
            <a:spLocks noGrp="1" noChangeArrowheads="1"/>
          </p:cNvSpPr>
          <p:nvPr>
            <p:ph type="sldNum" sz="quarter" idx="11"/>
          </p:nvPr>
        </p:nvSpPr>
        <p:spPr>
          <a:ln/>
        </p:spPr>
        <p:txBody>
          <a:bodyPr/>
          <a:lstStyle>
            <a:lvl1pPr>
              <a:defRPr/>
            </a:lvl1pPr>
          </a:lstStyle>
          <a:p>
            <a:pPr>
              <a:defRPr/>
            </a:pPr>
            <a:fld id="{F9D23067-A463-4D66-BACA-8844304CD5A2}"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6" name="Rectangle 6"/>
          <p:cNvSpPr>
            <a:spLocks noGrp="1" noChangeArrowheads="1"/>
          </p:cNvSpPr>
          <p:nvPr>
            <p:ph type="sldNum" sz="quarter" idx="11"/>
          </p:nvPr>
        </p:nvSpPr>
        <p:spPr>
          <a:ln/>
        </p:spPr>
        <p:txBody>
          <a:bodyPr/>
          <a:lstStyle>
            <a:lvl1pPr>
              <a:defRPr/>
            </a:lvl1pPr>
          </a:lstStyle>
          <a:p>
            <a:pPr>
              <a:defRPr/>
            </a:pPr>
            <a:fld id="{18CADD7F-57D4-4926-904D-2E4046C9F9B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5" name="Rectangle 6"/>
          <p:cNvSpPr>
            <a:spLocks noGrp="1" noChangeArrowheads="1"/>
          </p:cNvSpPr>
          <p:nvPr>
            <p:ph type="sldNum" sz="quarter" idx="11"/>
          </p:nvPr>
        </p:nvSpPr>
        <p:spPr>
          <a:ln/>
        </p:spPr>
        <p:txBody>
          <a:bodyPr/>
          <a:lstStyle>
            <a:lvl1pPr>
              <a:defRPr/>
            </a:lvl1pPr>
          </a:lstStyle>
          <a:p>
            <a:pPr>
              <a:defRPr/>
            </a:pPr>
            <a:fld id="{40CC1BD7-D0F7-46E6-B1EA-FECC2FFAE87B}"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a:t>©Joe Walsh- Do not distribute without explicit permission.</a:t>
            </a:r>
          </a:p>
        </p:txBody>
      </p:sp>
      <p:sp>
        <p:nvSpPr>
          <p:cNvPr id="5" name="Rectangle 6"/>
          <p:cNvSpPr>
            <a:spLocks noGrp="1" noChangeArrowheads="1"/>
          </p:cNvSpPr>
          <p:nvPr>
            <p:ph type="sldNum" sz="quarter" idx="11"/>
          </p:nvPr>
        </p:nvSpPr>
        <p:spPr>
          <a:ln/>
        </p:spPr>
        <p:txBody>
          <a:bodyPr/>
          <a:lstStyle>
            <a:lvl1pPr>
              <a:defRPr/>
            </a:lvl1pPr>
          </a:lstStyle>
          <a:p>
            <a:pPr>
              <a:defRPr/>
            </a:pPr>
            <a:fld id="{F8A499E0-A96C-4CED-BDFF-8DE11181AB11}" type="slidenum">
              <a:rPr lang="en-US"/>
              <a:pPr>
                <a:defRPr/>
              </a:pPr>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457200" y="6537325"/>
            <a:ext cx="6035675"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100" i="1" dirty="0" smtClean="0">
                <a:solidFill>
                  <a:schemeClr val="tx2"/>
                </a:solidFill>
              </a:defRPr>
            </a:lvl1pPr>
          </a:lstStyle>
          <a:p>
            <a:pPr>
              <a:defRPr/>
            </a:pPr>
            <a:r>
              <a:rPr lang="en-US" dirty="0"/>
              <a:t>©Joe Walsh- Do not distribute without explicit permission.</a:t>
            </a:r>
          </a:p>
        </p:txBody>
      </p:sp>
      <p:sp>
        <p:nvSpPr>
          <p:cNvPr id="1030" name="Rectangle 6"/>
          <p:cNvSpPr>
            <a:spLocks noGrp="1" noChangeArrowheads="1"/>
          </p:cNvSpPr>
          <p:nvPr>
            <p:ph type="sldNum" sz="quarter" idx="4"/>
          </p:nvPr>
        </p:nvSpPr>
        <p:spPr bwMode="auto">
          <a:xfrm>
            <a:off x="6553200" y="65532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solidFill>
                  <a:schemeClr val="tx2"/>
                </a:solidFill>
              </a:defRPr>
            </a:lvl1pPr>
          </a:lstStyle>
          <a:p>
            <a:pPr>
              <a:defRPr/>
            </a:pPr>
            <a:fld id="{16CA1328-5D95-49D8-8A9F-9F164BB022E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ransition/>
  <p:hf hd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a:solidFill>
            <a:schemeClr val="tx1"/>
          </a:solidFill>
          <a:latin typeface="+mn-lt"/>
        </a:defRPr>
      </a:lvl2pPr>
      <a:lvl3pPr marL="1143000" indent="-228600" algn="l" rtl="0" fontAlgn="base">
        <a:spcBef>
          <a:spcPct val="20000"/>
        </a:spcBef>
        <a:spcAft>
          <a:spcPct val="0"/>
        </a:spcAft>
        <a:buClr>
          <a:schemeClr val="tx2"/>
        </a:buClr>
        <a:buChar char="•"/>
        <a:defRPr sz="2400">
          <a:solidFill>
            <a:schemeClr val="tx1"/>
          </a:solidFill>
          <a:latin typeface="+mn-lt"/>
        </a:defRPr>
      </a:lvl3pPr>
      <a:lvl4pPr marL="1600200" indent="-228600" algn="l" rtl="0" fontAlgn="base">
        <a:spcBef>
          <a:spcPct val="20000"/>
        </a:spcBef>
        <a:spcAft>
          <a:spcPct val="0"/>
        </a:spcAft>
        <a:buClr>
          <a:schemeClr val="tx2"/>
        </a:buClr>
        <a:buChar char="–"/>
        <a:defRPr sz="2000">
          <a:solidFill>
            <a:schemeClr val="tx1"/>
          </a:solidFill>
          <a:latin typeface="+mn-lt"/>
        </a:defRPr>
      </a:lvl4pPr>
      <a:lvl5pPr marL="2057400" indent="-228600" algn="l" rtl="0" fontAlgn="base">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r>
              <a:rPr lang="en-US" b="1"/>
              <a:t>Real Estate Debt, Leverage and Risk</a:t>
            </a:r>
          </a:p>
        </p:txBody>
      </p:sp>
      <p:sp>
        <p:nvSpPr>
          <p:cNvPr id="3075" name="Rectangle 3"/>
          <p:cNvSpPr>
            <a:spLocks noGrp="1" noChangeArrowheads="1"/>
          </p:cNvSpPr>
          <p:nvPr>
            <p:ph type="subTitle" idx="1"/>
          </p:nvPr>
        </p:nvSpPr>
        <p:spPr/>
        <p:txBody>
          <a:bodyPr/>
          <a:lstStyle/>
          <a:p>
            <a:r>
              <a:rPr lang="en-US" b="1" dirty="0"/>
              <a:t>Debt and Equity Structures</a:t>
            </a:r>
            <a:endParaRPr lang="en-US" dirty="0"/>
          </a:p>
        </p:txBody>
      </p:sp>
      <p:sp>
        <p:nvSpPr>
          <p:cNvPr id="3076" name="Slide Number Placeholder 5"/>
          <p:cNvSpPr>
            <a:spLocks noGrp="1"/>
          </p:cNvSpPr>
          <p:nvPr>
            <p:ph type="sldNum" sz="quarter" idx="11"/>
          </p:nvPr>
        </p:nvSpPr>
        <p:spPr>
          <a:noFill/>
        </p:spPr>
        <p:txBody>
          <a:bodyPr/>
          <a:lstStyle/>
          <a:p>
            <a:fld id="{D1725BDA-964C-49CB-8467-536AC9B91292}" type="slidenum">
              <a:rPr lang="en-US"/>
              <a:pPr/>
              <a:t>1</a:t>
            </a:fld>
            <a:endParaRPr lang="en-US"/>
          </a:p>
        </p:txBody>
      </p:sp>
      <p:sp>
        <p:nvSpPr>
          <p:cNvPr id="3077"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t>Topics</a:t>
            </a:r>
          </a:p>
        </p:txBody>
      </p:sp>
      <p:sp>
        <p:nvSpPr>
          <p:cNvPr id="4099" name="Content Placeholder 2"/>
          <p:cNvSpPr>
            <a:spLocks noGrp="1"/>
          </p:cNvSpPr>
          <p:nvPr>
            <p:ph idx="1"/>
          </p:nvPr>
        </p:nvSpPr>
        <p:spPr/>
        <p:txBody>
          <a:bodyPr/>
          <a:lstStyle/>
          <a:p>
            <a:r>
              <a:rPr lang="en-US" sz="2200" dirty="0"/>
              <a:t>Mechanics of Leverage (“Gearing” in UK English)</a:t>
            </a:r>
          </a:p>
          <a:p>
            <a:pPr lvl="1"/>
            <a:r>
              <a:rPr lang="en-US" sz="1800" dirty="0"/>
              <a:t>Effects on Expected Return</a:t>
            </a:r>
          </a:p>
          <a:p>
            <a:pPr lvl="1"/>
            <a:r>
              <a:rPr lang="en-US" sz="1800" dirty="0"/>
              <a:t>Effects on Risk in Return</a:t>
            </a:r>
          </a:p>
          <a:p>
            <a:pPr lvl="1"/>
            <a:r>
              <a:rPr lang="en-US" sz="1800" dirty="0"/>
              <a:t>Weighted Average Cost of Capital</a:t>
            </a:r>
          </a:p>
          <a:p>
            <a:r>
              <a:rPr lang="en-US" sz="2200" dirty="0"/>
              <a:t>Negative and Positive Leverage</a:t>
            </a:r>
          </a:p>
          <a:p>
            <a:r>
              <a:rPr lang="en-US" sz="2200" dirty="0"/>
              <a:t>Effect of Leverage on Growth and Yield</a:t>
            </a:r>
          </a:p>
          <a:p>
            <a:r>
              <a:rPr lang="en-US" sz="2200" dirty="0"/>
              <a:t>Conclusion</a:t>
            </a:r>
          </a:p>
        </p:txBody>
      </p:sp>
      <p:sp>
        <p:nvSpPr>
          <p:cNvPr id="4100" name="Slide Number Placeholder 3"/>
          <p:cNvSpPr>
            <a:spLocks noGrp="1"/>
          </p:cNvSpPr>
          <p:nvPr>
            <p:ph type="sldNum" sz="quarter" idx="11"/>
          </p:nvPr>
        </p:nvSpPr>
        <p:spPr>
          <a:noFill/>
        </p:spPr>
        <p:txBody>
          <a:bodyPr/>
          <a:lstStyle/>
          <a:p>
            <a:fld id="{60043975-F0F2-47AD-BA50-552FFE3B97DD}" type="slidenum">
              <a:rPr lang="en-US"/>
              <a:pPr/>
              <a:t>2</a:t>
            </a:fld>
            <a:endParaRPr lang="en-US"/>
          </a:p>
        </p:txBody>
      </p:sp>
      <p:sp>
        <p:nvSpPr>
          <p:cNvPr id="4101"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0"/>
          </p:nvPr>
        </p:nvSpPr>
        <p:spPr>
          <a:noFill/>
        </p:spPr>
        <p:txBody>
          <a:bodyPr/>
          <a:lstStyle/>
          <a:p>
            <a:r>
              <a:rPr lang="en-US"/>
              <a:t>Copyright © 2007 Thomson/South-Western, Geltner/Miller/Clayton/Eichholtz, 2e</a:t>
            </a:r>
          </a:p>
        </p:txBody>
      </p:sp>
      <p:sp>
        <p:nvSpPr>
          <p:cNvPr id="5123" name="Slide Number Placeholder 5"/>
          <p:cNvSpPr>
            <a:spLocks noGrp="1"/>
          </p:cNvSpPr>
          <p:nvPr>
            <p:ph type="sldNum" sz="quarter" idx="11"/>
          </p:nvPr>
        </p:nvSpPr>
        <p:spPr>
          <a:xfrm>
            <a:off x="6553200" y="6245225"/>
            <a:ext cx="2133600" cy="476250"/>
          </a:xfrm>
          <a:noFill/>
        </p:spPr>
        <p:txBody>
          <a:bodyPr/>
          <a:lstStyle/>
          <a:p>
            <a:fld id="{3E998E96-F294-4E50-933D-6CBA46AE9147}" type="slidenum">
              <a:rPr lang="en-US"/>
              <a:pPr/>
              <a:t>3</a:t>
            </a:fld>
            <a:endParaRPr lang="en-US"/>
          </a:p>
        </p:txBody>
      </p:sp>
      <p:sp>
        <p:nvSpPr>
          <p:cNvPr id="5124" name="Rectangle 2"/>
          <p:cNvSpPr>
            <a:spLocks noGrp="1" noChangeArrowheads="1"/>
          </p:cNvSpPr>
          <p:nvPr>
            <p:ph type="title"/>
          </p:nvPr>
        </p:nvSpPr>
        <p:spPr>
          <a:xfrm>
            <a:off x="457200" y="228600"/>
            <a:ext cx="8382000" cy="609600"/>
          </a:xfrm>
        </p:spPr>
        <p:txBody>
          <a:bodyPr/>
          <a:lstStyle/>
          <a:p>
            <a:r>
              <a:rPr lang="en-US" sz="2800" b="1">
                <a:latin typeface="Times New Roman" pitchFamily="18" charset="0"/>
              </a:rPr>
              <a:t>The analogy of physical leverage &amp; financial leverage</a:t>
            </a:r>
          </a:p>
        </p:txBody>
      </p:sp>
      <p:grpSp>
        <p:nvGrpSpPr>
          <p:cNvPr id="5125" name="Group 109"/>
          <p:cNvGrpSpPr>
            <a:grpSpLocks/>
          </p:cNvGrpSpPr>
          <p:nvPr/>
        </p:nvGrpSpPr>
        <p:grpSpPr bwMode="auto">
          <a:xfrm>
            <a:off x="533400" y="990600"/>
            <a:ext cx="8085138" cy="4111625"/>
            <a:chOff x="336" y="624"/>
            <a:chExt cx="5093" cy="2590"/>
          </a:xfrm>
        </p:grpSpPr>
        <p:sp>
          <p:nvSpPr>
            <p:cNvPr id="5126" name="AutoShape 9"/>
            <p:cNvSpPr>
              <a:spLocks noChangeAspect="1" noChangeArrowheads="1" noTextEdit="1"/>
            </p:cNvSpPr>
            <p:nvPr/>
          </p:nvSpPr>
          <p:spPr bwMode="auto">
            <a:xfrm>
              <a:off x="336" y="624"/>
              <a:ext cx="5040" cy="2436"/>
            </a:xfrm>
            <a:prstGeom prst="rect">
              <a:avLst/>
            </a:prstGeom>
            <a:noFill/>
            <a:ln w="9525">
              <a:noFill/>
              <a:miter lim="800000"/>
              <a:headEnd/>
              <a:tailEnd/>
            </a:ln>
          </p:spPr>
          <p:txBody>
            <a:bodyPr/>
            <a:lstStyle/>
            <a:p>
              <a:endParaRPr lang="en-US"/>
            </a:p>
          </p:txBody>
        </p:sp>
        <p:sp>
          <p:nvSpPr>
            <p:cNvPr id="5127" name="Freeform 11"/>
            <p:cNvSpPr>
              <a:spLocks/>
            </p:cNvSpPr>
            <p:nvPr/>
          </p:nvSpPr>
          <p:spPr bwMode="auto">
            <a:xfrm>
              <a:off x="1921" y="1700"/>
              <a:ext cx="791" cy="645"/>
            </a:xfrm>
            <a:custGeom>
              <a:avLst/>
              <a:gdLst>
                <a:gd name="T0" fmla="*/ 396 w 791"/>
                <a:gd name="T1" fmla="*/ 0 h 645"/>
                <a:gd name="T2" fmla="*/ 0 w 791"/>
                <a:gd name="T3" fmla="*/ 645 h 645"/>
                <a:gd name="T4" fmla="*/ 791 w 791"/>
                <a:gd name="T5" fmla="*/ 645 h 645"/>
                <a:gd name="T6" fmla="*/ 396 w 791"/>
                <a:gd name="T7" fmla="*/ 0 h 645"/>
                <a:gd name="T8" fmla="*/ 0 60000 65536"/>
                <a:gd name="T9" fmla="*/ 0 60000 65536"/>
                <a:gd name="T10" fmla="*/ 0 60000 65536"/>
                <a:gd name="T11" fmla="*/ 0 60000 65536"/>
                <a:gd name="T12" fmla="*/ 0 w 791"/>
                <a:gd name="T13" fmla="*/ 0 h 645"/>
                <a:gd name="T14" fmla="*/ 791 w 791"/>
                <a:gd name="T15" fmla="*/ 645 h 645"/>
              </a:gdLst>
              <a:ahLst/>
              <a:cxnLst>
                <a:cxn ang="T8">
                  <a:pos x="T0" y="T1"/>
                </a:cxn>
                <a:cxn ang="T9">
                  <a:pos x="T2" y="T3"/>
                </a:cxn>
                <a:cxn ang="T10">
                  <a:pos x="T4" y="T5"/>
                </a:cxn>
                <a:cxn ang="T11">
                  <a:pos x="T6" y="T7"/>
                </a:cxn>
              </a:cxnLst>
              <a:rect l="T12" t="T13" r="T14" b="T15"/>
              <a:pathLst>
                <a:path w="791" h="645">
                  <a:moveTo>
                    <a:pt x="396" y="0"/>
                  </a:moveTo>
                  <a:lnTo>
                    <a:pt x="0" y="645"/>
                  </a:lnTo>
                  <a:lnTo>
                    <a:pt x="791" y="645"/>
                  </a:lnTo>
                  <a:lnTo>
                    <a:pt x="396" y="0"/>
                  </a:lnTo>
                  <a:close/>
                </a:path>
              </a:pathLst>
            </a:custGeom>
            <a:solidFill>
              <a:srgbClr val="FFFFFF"/>
            </a:solidFill>
            <a:ln w="11113">
              <a:solidFill>
                <a:srgbClr val="000000"/>
              </a:solidFill>
              <a:prstDash val="solid"/>
              <a:round/>
              <a:headEnd/>
              <a:tailEnd/>
            </a:ln>
          </p:spPr>
          <p:txBody>
            <a:bodyPr/>
            <a:lstStyle/>
            <a:p>
              <a:endParaRPr lang="en-US"/>
            </a:p>
          </p:txBody>
        </p:sp>
        <p:sp>
          <p:nvSpPr>
            <p:cNvPr id="5128" name="Line 12"/>
            <p:cNvSpPr>
              <a:spLocks noChangeShapeType="1"/>
            </p:cNvSpPr>
            <p:nvPr/>
          </p:nvSpPr>
          <p:spPr bwMode="auto">
            <a:xfrm>
              <a:off x="772" y="1340"/>
              <a:ext cx="4314" cy="1005"/>
            </a:xfrm>
            <a:prstGeom prst="line">
              <a:avLst/>
            </a:prstGeom>
            <a:noFill/>
            <a:ln w="11113">
              <a:solidFill>
                <a:srgbClr val="000000"/>
              </a:solidFill>
              <a:round/>
              <a:headEnd/>
              <a:tailEnd/>
            </a:ln>
          </p:spPr>
          <p:txBody>
            <a:bodyPr/>
            <a:lstStyle/>
            <a:p>
              <a:endParaRPr lang="en-US"/>
            </a:p>
          </p:txBody>
        </p:sp>
        <p:sp>
          <p:nvSpPr>
            <p:cNvPr id="5129" name="Rectangle 13"/>
            <p:cNvSpPr>
              <a:spLocks noChangeArrowheads="1"/>
            </p:cNvSpPr>
            <p:nvPr/>
          </p:nvSpPr>
          <p:spPr bwMode="auto">
            <a:xfrm>
              <a:off x="340" y="984"/>
              <a:ext cx="1010" cy="359"/>
            </a:xfrm>
            <a:prstGeom prst="rect">
              <a:avLst/>
            </a:prstGeom>
            <a:solidFill>
              <a:srgbClr val="FFFFFF"/>
            </a:solidFill>
            <a:ln w="11113">
              <a:solidFill>
                <a:srgbClr val="000000"/>
              </a:solidFill>
              <a:miter lim="800000"/>
              <a:headEnd/>
              <a:tailEnd/>
            </a:ln>
          </p:spPr>
          <p:txBody>
            <a:bodyPr/>
            <a:lstStyle/>
            <a:p>
              <a:endParaRPr lang="en-US"/>
            </a:p>
          </p:txBody>
        </p:sp>
        <p:sp>
          <p:nvSpPr>
            <p:cNvPr id="5130" name="Rectangle 14"/>
            <p:cNvSpPr>
              <a:spLocks noChangeArrowheads="1"/>
            </p:cNvSpPr>
            <p:nvPr/>
          </p:nvSpPr>
          <p:spPr bwMode="auto">
            <a:xfrm>
              <a:off x="416" y="1028"/>
              <a:ext cx="557" cy="257"/>
            </a:xfrm>
            <a:prstGeom prst="rect">
              <a:avLst/>
            </a:prstGeom>
            <a:noFill/>
            <a:ln w="9525">
              <a:noFill/>
              <a:miter lim="800000"/>
              <a:headEnd/>
              <a:tailEnd/>
            </a:ln>
          </p:spPr>
          <p:txBody>
            <a:bodyPr/>
            <a:lstStyle/>
            <a:p>
              <a:endParaRPr lang="en-US"/>
            </a:p>
          </p:txBody>
        </p:sp>
        <p:sp>
          <p:nvSpPr>
            <p:cNvPr id="5131" name="Rectangle 15"/>
            <p:cNvSpPr>
              <a:spLocks noChangeArrowheads="1"/>
            </p:cNvSpPr>
            <p:nvPr/>
          </p:nvSpPr>
          <p:spPr bwMode="auto">
            <a:xfrm>
              <a:off x="416" y="1026"/>
              <a:ext cx="318" cy="211"/>
            </a:xfrm>
            <a:prstGeom prst="rect">
              <a:avLst/>
            </a:prstGeom>
            <a:noFill/>
            <a:ln w="9525">
              <a:noFill/>
              <a:miter lim="800000"/>
              <a:headEnd/>
              <a:tailEnd/>
            </a:ln>
          </p:spPr>
          <p:txBody>
            <a:bodyPr wrap="none" lIns="0" tIns="0" rIns="0" bIns="0">
              <a:spAutoFit/>
            </a:bodyPr>
            <a:lstStyle/>
            <a:p>
              <a:r>
                <a:rPr lang="en-US" sz="2200" b="1">
                  <a:solidFill>
                    <a:srgbClr val="000000"/>
                  </a:solidFill>
                  <a:latin typeface="Courier New" pitchFamily="49" charset="0"/>
                </a:rPr>
                <a:t>500</a:t>
              </a:r>
              <a:endParaRPr lang="en-US"/>
            </a:p>
          </p:txBody>
        </p:sp>
        <p:sp>
          <p:nvSpPr>
            <p:cNvPr id="5132" name="Rectangle 16"/>
            <p:cNvSpPr>
              <a:spLocks noChangeArrowheads="1"/>
            </p:cNvSpPr>
            <p:nvPr/>
          </p:nvSpPr>
          <p:spPr bwMode="auto">
            <a:xfrm>
              <a:off x="886" y="1072"/>
              <a:ext cx="515" cy="257"/>
            </a:xfrm>
            <a:prstGeom prst="rect">
              <a:avLst/>
            </a:prstGeom>
            <a:noFill/>
            <a:ln w="9525">
              <a:noFill/>
              <a:miter lim="800000"/>
              <a:headEnd/>
              <a:tailEnd/>
            </a:ln>
          </p:spPr>
          <p:txBody>
            <a:bodyPr/>
            <a:lstStyle/>
            <a:p>
              <a:endParaRPr lang="en-US"/>
            </a:p>
          </p:txBody>
        </p:sp>
        <p:sp>
          <p:nvSpPr>
            <p:cNvPr id="5133" name="Rectangle 17"/>
            <p:cNvSpPr>
              <a:spLocks noChangeArrowheads="1"/>
            </p:cNvSpPr>
            <p:nvPr/>
          </p:nvSpPr>
          <p:spPr bwMode="auto">
            <a:xfrm>
              <a:off x="886" y="1071"/>
              <a:ext cx="318" cy="211"/>
            </a:xfrm>
            <a:prstGeom prst="rect">
              <a:avLst/>
            </a:prstGeom>
            <a:noFill/>
            <a:ln w="9525">
              <a:noFill/>
              <a:miter lim="800000"/>
              <a:headEnd/>
              <a:tailEnd/>
            </a:ln>
          </p:spPr>
          <p:txBody>
            <a:bodyPr wrap="none" lIns="0" tIns="0" rIns="0" bIns="0">
              <a:spAutoFit/>
            </a:bodyPr>
            <a:lstStyle/>
            <a:p>
              <a:r>
                <a:rPr lang="en-US" sz="2200" b="1">
                  <a:solidFill>
                    <a:srgbClr val="000000"/>
                  </a:solidFill>
                  <a:latin typeface="Courier New" pitchFamily="49" charset="0"/>
                </a:rPr>
                <a:t>lbs</a:t>
              </a:r>
              <a:endParaRPr lang="en-US"/>
            </a:p>
          </p:txBody>
        </p:sp>
        <p:sp>
          <p:nvSpPr>
            <p:cNvPr id="5134" name="Rectangle 18"/>
            <p:cNvSpPr>
              <a:spLocks noChangeArrowheads="1"/>
            </p:cNvSpPr>
            <p:nvPr/>
          </p:nvSpPr>
          <p:spPr bwMode="auto">
            <a:xfrm>
              <a:off x="4656" y="1843"/>
              <a:ext cx="721" cy="429"/>
            </a:xfrm>
            <a:prstGeom prst="rect">
              <a:avLst/>
            </a:prstGeom>
            <a:solidFill>
              <a:srgbClr val="FFFFFF"/>
            </a:solidFill>
            <a:ln w="11113">
              <a:solidFill>
                <a:srgbClr val="000000"/>
              </a:solidFill>
              <a:miter lim="800000"/>
              <a:headEnd/>
              <a:tailEnd/>
            </a:ln>
          </p:spPr>
          <p:txBody>
            <a:bodyPr/>
            <a:lstStyle/>
            <a:p>
              <a:endParaRPr lang="en-US"/>
            </a:p>
          </p:txBody>
        </p:sp>
        <p:sp>
          <p:nvSpPr>
            <p:cNvPr id="5135" name="Rectangle 19"/>
            <p:cNvSpPr>
              <a:spLocks noChangeArrowheads="1"/>
            </p:cNvSpPr>
            <p:nvPr/>
          </p:nvSpPr>
          <p:spPr bwMode="auto">
            <a:xfrm>
              <a:off x="4742" y="1843"/>
              <a:ext cx="281" cy="225"/>
            </a:xfrm>
            <a:prstGeom prst="rect">
              <a:avLst/>
            </a:prstGeom>
            <a:noFill/>
            <a:ln w="9525">
              <a:noFill/>
              <a:miter lim="800000"/>
              <a:headEnd/>
              <a:tailEnd/>
            </a:ln>
          </p:spPr>
          <p:txBody>
            <a:bodyPr/>
            <a:lstStyle/>
            <a:p>
              <a:endParaRPr lang="en-US"/>
            </a:p>
          </p:txBody>
        </p:sp>
        <p:sp>
          <p:nvSpPr>
            <p:cNvPr id="5136" name="Rectangle 20"/>
            <p:cNvSpPr>
              <a:spLocks noChangeArrowheads="1"/>
            </p:cNvSpPr>
            <p:nvPr/>
          </p:nvSpPr>
          <p:spPr bwMode="auto">
            <a:xfrm>
              <a:off x="4742" y="1841"/>
              <a:ext cx="273" cy="182"/>
            </a:xfrm>
            <a:prstGeom prst="rect">
              <a:avLst/>
            </a:prstGeom>
            <a:noFill/>
            <a:ln w="9525">
              <a:noFill/>
              <a:miter lim="800000"/>
              <a:headEnd/>
              <a:tailEnd/>
            </a:ln>
          </p:spPr>
          <p:txBody>
            <a:bodyPr wrap="none" lIns="0" tIns="0" rIns="0" bIns="0">
              <a:spAutoFit/>
            </a:bodyPr>
            <a:lstStyle/>
            <a:p>
              <a:r>
                <a:rPr lang="en-US" sz="1900" b="1">
                  <a:solidFill>
                    <a:srgbClr val="000000"/>
                  </a:solidFill>
                  <a:latin typeface="Courier New" pitchFamily="49" charset="0"/>
                </a:rPr>
                <a:t>200</a:t>
              </a:r>
              <a:endParaRPr lang="en-US"/>
            </a:p>
          </p:txBody>
        </p:sp>
        <p:sp>
          <p:nvSpPr>
            <p:cNvPr id="5137" name="Rectangle 21"/>
            <p:cNvSpPr>
              <a:spLocks noChangeArrowheads="1"/>
            </p:cNvSpPr>
            <p:nvPr/>
          </p:nvSpPr>
          <p:spPr bwMode="auto">
            <a:xfrm>
              <a:off x="5085" y="1843"/>
              <a:ext cx="327" cy="225"/>
            </a:xfrm>
            <a:prstGeom prst="rect">
              <a:avLst/>
            </a:prstGeom>
            <a:noFill/>
            <a:ln w="9525">
              <a:noFill/>
              <a:miter lim="800000"/>
              <a:headEnd/>
              <a:tailEnd/>
            </a:ln>
          </p:spPr>
          <p:txBody>
            <a:bodyPr/>
            <a:lstStyle/>
            <a:p>
              <a:endParaRPr lang="en-US"/>
            </a:p>
          </p:txBody>
        </p:sp>
        <p:sp>
          <p:nvSpPr>
            <p:cNvPr id="5138" name="Rectangle 22"/>
            <p:cNvSpPr>
              <a:spLocks noChangeArrowheads="1"/>
            </p:cNvSpPr>
            <p:nvPr/>
          </p:nvSpPr>
          <p:spPr bwMode="auto">
            <a:xfrm>
              <a:off x="5085" y="1841"/>
              <a:ext cx="273" cy="182"/>
            </a:xfrm>
            <a:prstGeom prst="rect">
              <a:avLst/>
            </a:prstGeom>
            <a:noFill/>
            <a:ln w="9525">
              <a:noFill/>
              <a:miter lim="800000"/>
              <a:headEnd/>
              <a:tailEnd/>
            </a:ln>
          </p:spPr>
          <p:txBody>
            <a:bodyPr wrap="none" lIns="0" tIns="0" rIns="0" bIns="0">
              <a:spAutoFit/>
            </a:bodyPr>
            <a:lstStyle/>
            <a:p>
              <a:r>
                <a:rPr lang="en-US" sz="1900" b="1">
                  <a:solidFill>
                    <a:srgbClr val="000000"/>
                  </a:solidFill>
                  <a:latin typeface="Courier New" pitchFamily="49" charset="0"/>
                </a:rPr>
                <a:t>lbs</a:t>
              </a:r>
              <a:endParaRPr lang="en-US"/>
            </a:p>
          </p:txBody>
        </p:sp>
        <p:sp>
          <p:nvSpPr>
            <p:cNvPr id="5139" name="Rectangle 23"/>
            <p:cNvSpPr>
              <a:spLocks noChangeArrowheads="1"/>
            </p:cNvSpPr>
            <p:nvPr/>
          </p:nvSpPr>
          <p:spPr bwMode="auto">
            <a:xfrm>
              <a:off x="1563" y="624"/>
              <a:ext cx="3019" cy="287"/>
            </a:xfrm>
            <a:prstGeom prst="rect">
              <a:avLst/>
            </a:prstGeom>
            <a:solidFill>
              <a:srgbClr val="FFFF66"/>
            </a:solidFill>
            <a:ln w="9525">
              <a:noFill/>
              <a:miter lim="800000"/>
              <a:headEnd/>
              <a:tailEnd/>
            </a:ln>
          </p:spPr>
          <p:txBody>
            <a:bodyPr/>
            <a:lstStyle/>
            <a:p>
              <a:endParaRPr lang="en-US" dirty="0"/>
            </a:p>
          </p:txBody>
        </p:sp>
        <p:sp>
          <p:nvSpPr>
            <p:cNvPr id="5140" name="Rectangle 24"/>
            <p:cNvSpPr>
              <a:spLocks noChangeArrowheads="1"/>
            </p:cNvSpPr>
            <p:nvPr/>
          </p:nvSpPr>
          <p:spPr bwMode="auto">
            <a:xfrm>
              <a:off x="1634" y="667"/>
              <a:ext cx="2595" cy="222"/>
            </a:xfrm>
            <a:prstGeom prst="rect">
              <a:avLst/>
            </a:prstGeom>
            <a:noFill/>
            <a:ln w="9525">
              <a:noFill/>
              <a:miter lim="800000"/>
              <a:headEnd/>
              <a:tailEnd/>
            </a:ln>
          </p:spPr>
          <p:txBody>
            <a:bodyPr/>
            <a:lstStyle/>
            <a:p>
              <a:endParaRPr lang="en-US"/>
            </a:p>
          </p:txBody>
        </p:sp>
        <p:sp>
          <p:nvSpPr>
            <p:cNvPr id="5141" name="Rectangle 25"/>
            <p:cNvSpPr>
              <a:spLocks noChangeArrowheads="1"/>
            </p:cNvSpPr>
            <p:nvPr/>
          </p:nvSpPr>
          <p:spPr bwMode="auto">
            <a:xfrm>
              <a:off x="1634" y="664"/>
              <a:ext cx="1729" cy="182"/>
            </a:xfrm>
            <a:prstGeom prst="rect">
              <a:avLst/>
            </a:prstGeom>
            <a:noFill/>
            <a:ln w="9525">
              <a:noFill/>
              <a:miter lim="800000"/>
              <a:headEnd/>
              <a:tailEnd/>
            </a:ln>
          </p:spPr>
          <p:txBody>
            <a:bodyPr wrap="none" lIns="0" tIns="0" rIns="0" bIns="0">
              <a:spAutoFit/>
            </a:bodyPr>
            <a:lstStyle/>
            <a:p>
              <a:r>
                <a:rPr lang="en-US" sz="1900" b="1" i="1">
                  <a:solidFill>
                    <a:srgbClr val="000000"/>
                  </a:solidFill>
                  <a:latin typeface="Courier New" pitchFamily="49" charset="0"/>
                </a:rPr>
                <a:t>A Physical Lever...</a:t>
              </a:r>
              <a:endParaRPr lang="en-US"/>
            </a:p>
          </p:txBody>
        </p:sp>
        <p:sp>
          <p:nvSpPr>
            <p:cNvPr id="5142" name="Rectangle 26"/>
            <p:cNvSpPr>
              <a:spLocks noChangeArrowheads="1"/>
            </p:cNvSpPr>
            <p:nvPr/>
          </p:nvSpPr>
          <p:spPr bwMode="auto">
            <a:xfrm>
              <a:off x="1131" y="2846"/>
              <a:ext cx="3739" cy="215"/>
            </a:xfrm>
            <a:prstGeom prst="rect">
              <a:avLst/>
            </a:prstGeom>
            <a:solidFill>
              <a:srgbClr val="FFFF66"/>
            </a:solidFill>
            <a:ln w="9525">
              <a:noFill/>
              <a:miter lim="800000"/>
              <a:headEnd/>
              <a:tailEnd/>
            </a:ln>
          </p:spPr>
          <p:txBody>
            <a:bodyPr/>
            <a:lstStyle/>
            <a:p>
              <a:endParaRPr lang="en-US"/>
            </a:p>
          </p:txBody>
        </p:sp>
        <p:sp>
          <p:nvSpPr>
            <p:cNvPr id="5143" name="Rectangle 27"/>
            <p:cNvSpPr>
              <a:spLocks noChangeArrowheads="1"/>
            </p:cNvSpPr>
            <p:nvPr/>
          </p:nvSpPr>
          <p:spPr bwMode="auto">
            <a:xfrm>
              <a:off x="1057" y="2887"/>
              <a:ext cx="3686" cy="327"/>
            </a:xfrm>
            <a:prstGeom prst="rect">
              <a:avLst/>
            </a:prstGeom>
            <a:noFill/>
            <a:ln w="9525">
              <a:noFill/>
              <a:miter lim="800000"/>
              <a:headEnd/>
              <a:tailEnd/>
            </a:ln>
          </p:spPr>
          <p:txBody>
            <a:bodyPr/>
            <a:lstStyle/>
            <a:p>
              <a:endParaRPr lang="en-US"/>
            </a:p>
          </p:txBody>
        </p:sp>
        <p:sp>
          <p:nvSpPr>
            <p:cNvPr id="5144" name="Rectangle 28"/>
            <p:cNvSpPr>
              <a:spLocks noChangeArrowheads="1"/>
            </p:cNvSpPr>
            <p:nvPr/>
          </p:nvSpPr>
          <p:spPr bwMode="auto">
            <a:xfrm>
              <a:off x="1057" y="2886"/>
              <a:ext cx="2912" cy="182"/>
            </a:xfrm>
            <a:prstGeom prst="rect">
              <a:avLst/>
            </a:prstGeom>
            <a:noFill/>
            <a:ln w="9525">
              <a:noFill/>
              <a:miter lim="800000"/>
              <a:headEnd/>
              <a:tailEnd/>
            </a:ln>
          </p:spPr>
          <p:txBody>
            <a:bodyPr wrap="none" lIns="0" tIns="0" rIns="0" bIns="0">
              <a:spAutoFit/>
            </a:bodyPr>
            <a:lstStyle/>
            <a:p>
              <a:r>
                <a:rPr lang="en-US" sz="1900" b="1" i="1">
                  <a:solidFill>
                    <a:srgbClr val="000000"/>
                  </a:solidFill>
                  <a:latin typeface="Courier New" pitchFamily="49" charset="0"/>
                </a:rPr>
                <a:t>"Leverage Ratio" = 500/200 = 2.5</a:t>
              </a:r>
              <a:endParaRPr lang="en-US"/>
            </a:p>
          </p:txBody>
        </p:sp>
        <p:grpSp>
          <p:nvGrpSpPr>
            <p:cNvPr id="5145" name="Group 102"/>
            <p:cNvGrpSpPr>
              <a:grpSpLocks/>
            </p:cNvGrpSpPr>
            <p:nvPr/>
          </p:nvGrpSpPr>
          <p:grpSpPr bwMode="auto">
            <a:xfrm>
              <a:off x="4576" y="731"/>
              <a:ext cx="773" cy="1110"/>
              <a:chOff x="4576" y="731"/>
              <a:chExt cx="773" cy="1110"/>
            </a:xfrm>
          </p:grpSpPr>
          <p:grpSp>
            <p:nvGrpSpPr>
              <p:cNvPr id="5152" name="Group 55"/>
              <p:cNvGrpSpPr>
                <a:grpSpLocks/>
              </p:cNvGrpSpPr>
              <p:nvPr/>
            </p:nvGrpSpPr>
            <p:grpSpPr bwMode="auto">
              <a:xfrm>
                <a:off x="4893" y="825"/>
                <a:ext cx="138" cy="212"/>
                <a:chOff x="4893" y="825"/>
                <a:chExt cx="138" cy="212"/>
              </a:xfrm>
            </p:grpSpPr>
            <p:grpSp>
              <p:nvGrpSpPr>
                <p:cNvPr id="5199" name="Group 31"/>
                <p:cNvGrpSpPr>
                  <a:grpSpLocks/>
                </p:cNvGrpSpPr>
                <p:nvPr/>
              </p:nvGrpSpPr>
              <p:grpSpPr bwMode="auto">
                <a:xfrm>
                  <a:off x="4893" y="905"/>
                  <a:ext cx="135" cy="35"/>
                  <a:chOff x="4893" y="905"/>
                  <a:chExt cx="135" cy="35"/>
                </a:xfrm>
              </p:grpSpPr>
              <p:sp>
                <p:nvSpPr>
                  <p:cNvPr id="5223" name="Freeform 29"/>
                  <p:cNvSpPr>
                    <a:spLocks/>
                  </p:cNvSpPr>
                  <p:nvPr/>
                </p:nvSpPr>
                <p:spPr bwMode="auto">
                  <a:xfrm>
                    <a:off x="5016" y="905"/>
                    <a:ext cx="12" cy="35"/>
                  </a:xfrm>
                  <a:custGeom>
                    <a:avLst/>
                    <a:gdLst>
                      <a:gd name="T0" fmla="*/ 1 w 47"/>
                      <a:gd name="T1" fmla="*/ 9 h 138"/>
                      <a:gd name="T2" fmla="*/ 19 w 47"/>
                      <a:gd name="T3" fmla="*/ 1 h 138"/>
                      <a:gd name="T4" fmla="*/ 28 w 47"/>
                      <a:gd name="T5" fmla="*/ 0 h 138"/>
                      <a:gd name="T6" fmla="*/ 35 w 47"/>
                      <a:gd name="T7" fmla="*/ 0 h 138"/>
                      <a:gd name="T8" fmla="*/ 38 w 47"/>
                      <a:gd name="T9" fmla="*/ 1 h 138"/>
                      <a:gd name="T10" fmla="*/ 42 w 47"/>
                      <a:gd name="T11" fmla="*/ 4 h 138"/>
                      <a:gd name="T12" fmla="*/ 46 w 47"/>
                      <a:gd name="T13" fmla="*/ 12 h 138"/>
                      <a:gd name="T14" fmla="*/ 47 w 47"/>
                      <a:gd name="T15" fmla="*/ 19 h 138"/>
                      <a:gd name="T16" fmla="*/ 46 w 47"/>
                      <a:gd name="T17" fmla="*/ 30 h 138"/>
                      <a:gd name="T18" fmla="*/ 45 w 47"/>
                      <a:gd name="T19" fmla="*/ 37 h 138"/>
                      <a:gd name="T20" fmla="*/ 40 w 47"/>
                      <a:gd name="T21" fmla="*/ 46 h 138"/>
                      <a:gd name="T22" fmla="*/ 36 w 47"/>
                      <a:gd name="T23" fmla="*/ 53 h 138"/>
                      <a:gd name="T24" fmla="*/ 31 w 47"/>
                      <a:gd name="T25" fmla="*/ 59 h 138"/>
                      <a:gd name="T26" fmla="*/ 28 w 47"/>
                      <a:gd name="T27" fmla="*/ 68 h 138"/>
                      <a:gd name="T28" fmla="*/ 28 w 47"/>
                      <a:gd name="T29" fmla="*/ 75 h 138"/>
                      <a:gd name="T30" fmla="*/ 28 w 47"/>
                      <a:gd name="T31" fmla="*/ 88 h 138"/>
                      <a:gd name="T32" fmla="*/ 28 w 47"/>
                      <a:gd name="T33" fmla="*/ 98 h 138"/>
                      <a:gd name="T34" fmla="*/ 29 w 47"/>
                      <a:gd name="T35" fmla="*/ 107 h 138"/>
                      <a:gd name="T36" fmla="*/ 28 w 47"/>
                      <a:gd name="T37" fmla="*/ 115 h 138"/>
                      <a:gd name="T38" fmla="*/ 24 w 47"/>
                      <a:gd name="T39" fmla="*/ 124 h 138"/>
                      <a:gd name="T40" fmla="*/ 19 w 47"/>
                      <a:gd name="T41" fmla="*/ 129 h 138"/>
                      <a:gd name="T42" fmla="*/ 11 w 47"/>
                      <a:gd name="T43" fmla="*/ 134 h 138"/>
                      <a:gd name="T44" fmla="*/ 0 w 47"/>
                      <a:gd name="T45" fmla="*/ 138 h 138"/>
                      <a:gd name="T46" fmla="*/ 1 w 47"/>
                      <a:gd name="T47" fmla="*/ 9 h 13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7"/>
                      <a:gd name="T73" fmla="*/ 0 h 138"/>
                      <a:gd name="T74" fmla="*/ 47 w 47"/>
                      <a:gd name="T75" fmla="*/ 138 h 13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7" h="138">
                        <a:moveTo>
                          <a:pt x="1" y="9"/>
                        </a:moveTo>
                        <a:lnTo>
                          <a:pt x="19" y="1"/>
                        </a:lnTo>
                        <a:lnTo>
                          <a:pt x="28" y="0"/>
                        </a:lnTo>
                        <a:lnTo>
                          <a:pt x="35" y="0"/>
                        </a:lnTo>
                        <a:lnTo>
                          <a:pt x="38" y="1"/>
                        </a:lnTo>
                        <a:lnTo>
                          <a:pt x="42" y="4"/>
                        </a:lnTo>
                        <a:lnTo>
                          <a:pt x="46" y="12"/>
                        </a:lnTo>
                        <a:lnTo>
                          <a:pt x="47" y="19"/>
                        </a:lnTo>
                        <a:lnTo>
                          <a:pt x="46" y="30"/>
                        </a:lnTo>
                        <a:lnTo>
                          <a:pt x="45" y="37"/>
                        </a:lnTo>
                        <a:lnTo>
                          <a:pt x="40" y="46"/>
                        </a:lnTo>
                        <a:lnTo>
                          <a:pt x="36" y="53"/>
                        </a:lnTo>
                        <a:lnTo>
                          <a:pt x="31" y="59"/>
                        </a:lnTo>
                        <a:lnTo>
                          <a:pt x="28" y="68"/>
                        </a:lnTo>
                        <a:lnTo>
                          <a:pt x="28" y="75"/>
                        </a:lnTo>
                        <a:lnTo>
                          <a:pt x="28" y="88"/>
                        </a:lnTo>
                        <a:lnTo>
                          <a:pt x="28" y="98"/>
                        </a:lnTo>
                        <a:lnTo>
                          <a:pt x="29" y="107"/>
                        </a:lnTo>
                        <a:lnTo>
                          <a:pt x="28" y="115"/>
                        </a:lnTo>
                        <a:lnTo>
                          <a:pt x="24" y="124"/>
                        </a:lnTo>
                        <a:lnTo>
                          <a:pt x="19" y="129"/>
                        </a:lnTo>
                        <a:lnTo>
                          <a:pt x="11" y="134"/>
                        </a:lnTo>
                        <a:lnTo>
                          <a:pt x="0" y="138"/>
                        </a:lnTo>
                        <a:lnTo>
                          <a:pt x="1" y="9"/>
                        </a:lnTo>
                        <a:close/>
                      </a:path>
                    </a:pathLst>
                  </a:custGeom>
                  <a:solidFill>
                    <a:srgbClr val="FFC080"/>
                  </a:solidFill>
                  <a:ln w="4763">
                    <a:solidFill>
                      <a:srgbClr val="000000"/>
                    </a:solidFill>
                    <a:prstDash val="solid"/>
                    <a:round/>
                    <a:headEnd/>
                    <a:tailEnd/>
                  </a:ln>
                </p:spPr>
                <p:txBody>
                  <a:bodyPr/>
                  <a:lstStyle/>
                  <a:p>
                    <a:endParaRPr lang="en-US"/>
                  </a:p>
                </p:txBody>
              </p:sp>
              <p:sp>
                <p:nvSpPr>
                  <p:cNvPr id="5224" name="Freeform 30"/>
                  <p:cNvSpPr>
                    <a:spLocks/>
                  </p:cNvSpPr>
                  <p:nvPr/>
                </p:nvSpPr>
                <p:spPr bwMode="auto">
                  <a:xfrm>
                    <a:off x="4893" y="905"/>
                    <a:ext cx="12" cy="35"/>
                  </a:xfrm>
                  <a:custGeom>
                    <a:avLst/>
                    <a:gdLst>
                      <a:gd name="T0" fmla="*/ 46 w 46"/>
                      <a:gd name="T1" fmla="*/ 9 h 138"/>
                      <a:gd name="T2" fmla="*/ 27 w 46"/>
                      <a:gd name="T3" fmla="*/ 1 h 138"/>
                      <a:gd name="T4" fmla="*/ 19 w 46"/>
                      <a:gd name="T5" fmla="*/ 0 h 138"/>
                      <a:gd name="T6" fmla="*/ 11 w 46"/>
                      <a:gd name="T7" fmla="*/ 0 h 138"/>
                      <a:gd name="T8" fmla="*/ 7 w 46"/>
                      <a:gd name="T9" fmla="*/ 1 h 138"/>
                      <a:gd name="T10" fmla="*/ 4 w 46"/>
                      <a:gd name="T11" fmla="*/ 4 h 138"/>
                      <a:gd name="T12" fmla="*/ 1 w 46"/>
                      <a:gd name="T13" fmla="*/ 12 h 138"/>
                      <a:gd name="T14" fmla="*/ 0 w 46"/>
                      <a:gd name="T15" fmla="*/ 19 h 138"/>
                      <a:gd name="T16" fmla="*/ 0 w 46"/>
                      <a:gd name="T17" fmla="*/ 30 h 138"/>
                      <a:gd name="T18" fmla="*/ 1 w 46"/>
                      <a:gd name="T19" fmla="*/ 37 h 138"/>
                      <a:gd name="T20" fmla="*/ 6 w 46"/>
                      <a:gd name="T21" fmla="*/ 46 h 138"/>
                      <a:gd name="T22" fmla="*/ 11 w 46"/>
                      <a:gd name="T23" fmla="*/ 53 h 138"/>
                      <a:gd name="T24" fmla="*/ 15 w 46"/>
                      <a:gd name="T25" fmla="*/ 59 h 138"/>
                      <a:gd name="T26" fmla="*/ 18 w 46"/>
                      <a:gd name="T27" fmla="*/ 68 h 138"/>
                      <a:gd name="T28" fmla="*/ 19 w 46"/>
                      <a:gd name="T29" fmla="*/ 75 h 138"/>
                      <a:gd name="T30" fmla="*/ 18 w 46"/>
                      <a:gd name="T31" fmla="*/ 88 h 138"/>
                      <a:gd name="T32" fmla="*/ 18 w 46"/>
                      <a:gd name="T33" fmla="*/ 98 h 138"/>
                      <a:gd name="T34" fmla="*/ 16 w 46"/>
                      <a:gd name="T35" fmla="*/ 107 h 138"/>
                      <a:gd name="T36" fmla="*/ 18 w 46"/>
                      <a:gd name="T37" fmla="*/ 115 h 138"/>
                      <a:gd name="T38" fmla="*/ 22 w 46"/>
                      <a:gd name="T39" fmla="*/ 124 h 138"/>
                      <a:gd name="T40" fmla="*/ 27 w 46"/>
                      <a:gd name="T41" fmla="*/ 129 h 138"/>
                      <a:gd name="T42" fmla="*/ 35 w 46"/>
                      <a:gd name="T43" fmla="*/ 134 h 138"/>
                      <a:gd name="T44" fmla="*/ 46 w 46"/>
                      <a:gd name="T45" fmla="*/ 138 h 138"/>
                      <a:gd name="T46" fmla="*/ 46 w 46"/>
                      <a:gd name="T47" fmla="*/ 9 h 13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6"/>
                      <a:gd name="T73" fmla="*/ 0 h 138"/>
                      <a:gd name="T74" fmla="*/ 46 w 46"/>
                      <a:gd name="T75" fmla="*/ 138 h 13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6" h="138">
                        <a:moveTo>
                          <a:pt x="46" y="9"/>
                        </a:moveTo>
                        <a:lnTo>
                          <a:pt x="27" y="1"/>
                        </a:lnTo>
                        <a:lnTo>
                          <a:pt x="19" y="0"/>
                        </a:lnTo>
                        <a:lnTo>
                          <a:pt x="11" y="0"/>
                        </a:lnTo>
                        <a:lnTo>
                          <a:pt x="7" y="1"/>
                        </a:lnTo>
                        <a:lnTo>
                          <a:pt x="4" y="4"/>
                        </a:lnTo>
                        <a:lnTo>
                          <a:pt x="1" y="12"/>
                        </a:lnTo>
                        <a:lnTo>
                          <a:pt x="0" y="19"/>
                        </a:lnTo>
                        <a:lnTo>
                          <a:pt x="0" y="30"/>
                        </a:lnTo>
                        <a:lnTo>
                          <a:pt x="1" y="37"/>
                        </a:lnTo>
                        <a:lnTo>
                          <a:pt x="6" y="46"/>
                        </a:lnTo>
                        <a:lnTo>
                          <a:pt x="11" y="53"/>
                        </a:lnTo>
                        <a:lnTo>
                          <a:pt x="15" y="59"/>
                        </a:lnTo>
                        <a:lnTo>
                          <a:pt x="18" y="68"/>
                        </a:lnTo>
                        <a:lnTo>
                          <a:pt x="19" y="75"/>
                        </a:lnTo>
                        <a:lnTo>
                          <a:pt x="18" y="88"/>
                        </a:lnTo>
                        <a:lnTo>
                          <a:pt x="18" y="98"/>
                        </a:lnTo>
                        <a:lnTo>
                          <a:pt x="16" y="107"/>
                        </a:lnTo>
                        <a:lnTo>
                          <a:pt x="18" y="115"/>
                        </a:lnTo>
                        <a:lnTo>
                          <a:pt x="22" y="124"/>
                        </a:lnTo>
                        <a:lnTo>
                          <a:pt x="27" y="129"/>
                        </a:lnTo>
                        <a:lnTo>
                          <a:pt x="35" y="134"/>
                        </a:lnTo>
                        <a:lnTo>
                          <a:pt x="46" y="138"/>
                        </a:lnTo>
                        <a:lnTo>
                          <a:pt x="46" y="9"/>
                        </a:lnTo>
                        <a:close/>
                      </a:path>
                    </a:pathLst>
                  </a:custGeom>
                  <a:solidFill>
                    <a:srgbClr val="FFC080"/>
                  </a:solidFill>
                  <a:ln w="4763">
                    <a:solidFill>
                      <a:srgbClr val="000000"/>
                    </a:solidFill>
                    <a:prstDash val="solid"/>
                    <a:round/>
                    <a:headEnd/>
                    <a:tailEnd/>
                  </a:ln>
                </p:spPr>
                <p:txBody>
                  <a:bodyPr/>
                  <a:lstStyle/>
                  <a:p>
                    <a:endParaRPr lang="en-US"/>
                  </a:p>
                </p:txBody>
              </p:sp>
            </p:grpSp>
            <p:sp>
              <p:nvSpPr>
                <p:cNvPr id="5200" name="Rectangle 32"/>
                <p:cNvSpPr>
                  <a:spLocks noChangeArrowheads="1"/>
                </p:cNvSpPr>
                <p:nvPr/>
              </p:nvSpPr>
              <p:spPr bwMode="auto">
                <a:xfrm>
                  <a:off x="4929" y="999"/>
                  <a:ext cx="65" cy="38"/>
                </a:xfrm>
                <a:prstGeom prst="rect">
                  <a:avLst/>
                </a:prstGeom>
                <a:solidFill>
                  <a:srgbClr val="FFC080"/>
                </a:solidFill>
                <a:ln w="4763">
                  <a:solidFill>
                    <a:srgbClr val="000000"/>
                  </a:solidFill>
                  <a:miter lim="800000"/>
                  <a:headEnd/>
                  <a:tailEnd/>
                </a:ln>
              </p:spPr>
              <p:txBody>
                <a:bodyPr/>
                <a:lstStyle/>
                <a:p>
                  <a:endParaRPr lang="en-US"/>
                </a:p>
              </p:txBody>
            </p:sp>
            <p:sp>
              <p:nvSpPr>
                <p:cNvPr id="5201" name="Freeform 33"/>
                <p:cNvSpPr>
                  <a:spLocks/>
                </p:cNvSpPr>
                <p:nvPr/>
              </p:nvSpPr>
              <p:spPr bwMode="auto">
                <a:xfrm>
                  <a:off x="4903" y="841"/>
                  <a:ext cx="117" cy="173"/>
                </a:xfrm>
                <a:custGeom>
                  <a:avLst/>
                  <a:gdLst>
                    <a:gd name="T0" fmla="*/ 31 w 470"/>
                    <a:gd name="T1" fmla="*/ 140 h 690"/>
                    <a:gd name="T2" fmla="*/ 12 w 470"/>
                    <a:gd name="T3" fmla="*/ 201 h 690"/>
                    <a:gd name="T4" fmla="*/ 3 w 470"/>
                    <a:gd name="T5" fmla="*/ 279 h 690"/>
                    <a:gd name="T6" fmla="*/ 0 w 470"/>
                    <a:gd name="T7" fmla="*/ 354 h 690"/>
                    <a:gd name="T8" fmla="*/ 3 w 470"/>
                    <a:gd name="T9" fmla="*/ 438 h 690"/>
                    <a:gd name="T10" fmla="*/ 14 w 470"/>
                    <a:gd name="T11" fmla="*/ 503 h 690"/>
                    <a:gd name="T12" fmla="*/ 41 w 470"/>
                    <a:gd name="T13" fmla="*/ 561 h 690"/>
                    <a:gd name="T14" fmla="*/ 78 w 470"/>
                    <a:gd name="T15" fmla="*/ 608 h 690"/>
                    <a:gd name="T16" fmla="*/ 128 w 470"/>
                    <a:gd name="T17" fmla="*/ 652 h 690"/>
                    <a:gd name="T18" fmla="*/ 182 w 470"/>
                    <a:gd name="T19" fmla="*/ 678 h 690"/>
                    <a:gd name="T20" fmla="*/ 212 w 470"/>
                    <a:gd name="T21" fmla="*/ 688 h 690"/>
                    <a:gd name="T22" fmla="*/ 247 w 470"/>
                    <a:gd name="T23" fmla="*/ 688 h 690"/>
                    <a:gd name="T24" fmla="*/ 288 w 470"/>
                    <a:gd name="T25" fmla="*/ 679 h 690"/>
                    <a:gd name="T26" fmla="*/ 326 w 470"/>
                    <a:gd name="T27" fmla="*/ 663 h 690"/>
                    <a:gd name="T28" fmla="*/ 362 w 470"/>
                    <a:gd name="T29" fmla="*/ 637 h 690"/>
                    <a:gd name="T30" fmla="*/ 393 w 470"/>
                    <a:gd name="T31" fmla="*/ 606 h 690"/>
                    <a:gd name="T32" fmla="*/ 421 w 470"/>
                    <a:gd name="T33" fmla="*/ 571 h 690"/>
                    <a:gd name="T34" fmla="*/ 442 w 470"/>
                    <a:gd name="T35" fmla="*/ 539 h 690"/>
                    <a:gd name="T36" fmla="*/ 452 w 470"/>
                    <a:gd name="T37" fmla="*/ 513 h 690"/>
                    <a:gd name="T38" fmla="*/ 463 w 470"/>
                    <a:gd name="T39" fmla="*/ 473 h 690"/>
                    <a:gd name="T40" fmla="*/ 469 w 470"/>
                    <a:gd name="T41" fmla="*/ 421 h 690"/>
                    <a:gd name="T42" fmla="*/ 470 w 470"/>
                    <a:gd name="T43" fmla="*/ 370 h 690"/>
                    <a:gd name="T44" fmla="*/ 468 w 470"/>
                    <a:gd name="T45" fmla="*/ 307 h 690"/>
                    <a:gd name="T46" fmla="*/ 464 w 470"/>
                    <a:gd name="T47" fmla="*/ 251 h 690"/>
                    <a:gd name="T48" fmla="*/ 459 w 470"/>
                    <a:gd name="T49" fmla="*/ 205 h 690"/>
                    <a:gd name="T50" fmla="*/ 448 w 470"/>
                    <a:gd name="T51" fmla="*/ 165 h 690"/>
                    <a:gd name="T52" fmla="*/ 436 w 470"/>
                    <a:gd name="T53" fmla="*/ 135 h 690"/>
                    <a:gd name="T54" fmla="*/ 417 w 470"/>
                    <a:gd name="T55" fmla="*/ 103 h 690"/>
                    <a:gd name="T56" fmla="*/ 398 w 470"/>
                    <a:gd name="T57" fmla="*/ 78 h 690"/>
                    <a:gd name="T58" fmla="*/ 374 w 470"/>
                    <a:gd name="T59" fmla="*/ 55 h 690"/>
                    <a:gd name="T60" fmla="*/ 344 w 470"/>
                    <a:gd name="T61" fmla="*/ 34 h 690"/>
                    <a:gd name="T62" fmla="*/ 306 w 470"/>
                    <a:gd name="T63" fmla="*/ 15 h 690"/>
                    <a:gd name="T64" fmla="*/ 260 w 470"/>
                    <a:gd name="T65" fmla="*/ 3 h 690"/>
                    <a:gd name="T66" fmla="*/ 200 w 470"/>
                    <a:gd name="T67" fmla="*/ 3 h 690"/>
                    <a:gd name="T68" fmla="*/ 140 w 470"/>
                    <a:gd name="T69" fmla="*/ 25 h 690"/>
                    <a:gd name="T70" fmla="*/ 89 w 470"/>
                    <a:gd name="T71" fmla="*/ 59 h 690"/>
                    <a:gd name="T72" fmla="*/ 47 w 470"/>
                    <a:gd name="T73" fmla="*/ 110 h 69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70"/>
                    <a:gd name="T112" fmla="*/ 0 h 690"/>
                    <a:gd name="T113" fmla="*/ 470 w 470"/>
                    <a:gd name="T114" fmla="*/ 690 h 69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70" h="690">
                      <a:moveTo>
                        <a:pt x="47" y="110"/>
                      </a:moveTo>
                      <a:lnTo>
                        <a:pt x="31" y="140"/>
                      </a:lnTo>
                      <a:lnTo>
                        <a:pt x="20" y="171"/>
                      </a:lnTo>
                      <a:lnTo>
                        <a:pt x="12" y="201"/>
                      </a:lnTo>
                      <a:lnTo>
                        <a:pt x="7" y="238"/>
                      </a:lnTo>
                      <a:lnTo>
                        <a:pt x="3" y="279"/>
                      </a:lnTo>
                      <a:lnTo>
                        <a:pt x="1" y="317"/>
                      </a:lnTo>
                      <a:lnTo>
                        <a:pt x="0" y="354"/>
                      </a:lnTo>
                      <a:lnTo>
                        <a:pt x="0" y="401"/>
                      </a:lnTo>
                      <a:lnTo>
                        <a:pt x="3" y="438"/>
                      </a:lnTo>
                      <a:lnTo>
                        <a:pt x="8" y="476"/>
                      </a:lnTo>
                      <a:lnTo>
                        <a:pt x="14" y="503"/>
                      </a:lnTo>
                      <a:lnTo>
                        <a:pt x="26" y="535"/>
                      </a:lnTo>
                      <a:lnTo>
                        <a:pt x="41" y="561"/>
                      </a:lnTo>
                      <a:lnTo>
                        <a:pt x="56" y="583"/>
                      </a:lnTo>
                      <a:lnTo>
                        <a:pt x="78" y="608"/>
                      </a:lnTo>
                      <a:lnTo>
                        <a:pt x="101" y="630"/>
                      </a:lnTo>
                      <a:lnTo>
                        <a:pt x="128" y="652"/>
                      </a:lnTo>
                      <a:lnTo>
                        <a:pt x="155" y="666"/>
                      </a:lnTo>
                      <a:lnTo>
                        <a:pt x="182" y="678"/>
                      </a:lnTo>
                      <a:lnTo>
                        <a:pt x="195" y="683"/>
                      </a:lnTo>
                      <a:lnTo>
                        <a:pt x="212" y="688"/>
                      </a:lnTo>
                      <a:lnTo>
                        <a:pt x="234" y="690"/>
                      </a:lnTo>
                      <a:lnTo>
                        <a:pt x="247" y="688"/>
                      </a:lnTo>
                      <a:lnTo>
                        <a:pt x="266" y="686"/>
                      </a:lnTo>
                      <a:lnTo>
                        <a:pt x="288" y="679"/>
                      </a:lnTo>
                      <a:lnTo>
                        <a:pt x="306" y="673"/>
                      </a:lnTo>
                      <a:lnTo>
                        <a:pt x="326" y="663"/>
                      </a:lnTo>
                      <a:lnTo>
                        <a:pt x="345" y="650"/>
                      </a:lnTo>
                      <a:lnTo>
                        <a:pt x="362" y="637"/>
                      </a:lnTo>
                      <a:lnTo>
                        <a:pt x="379" y="621"/>
                      </a:lnTo>
                      <a:lnTo>
                        <a:pt x="393" y="606"/>
                      </a:lnTo>
                      <a:lnTo>
                        <a:pt x="405" y="590"/>
                      </a:lnTo>
                      <a:lnTo>
                        <a:pt x="421" y="571"/>
                      </a:lnTo>
                      <a:lnTo>
                        <a:pt x="432" y="556"/>
                      </a:lnTo>
                      <a:lnTo>
                        <a:pt x="442" y="539"/>
                      </a:lnTo>
                      <a:lnTo>
                        <a:pt x="447" y="526"/>
                      </a:lnTo>
                      <a:lnTo>
                        <a:pt x="452" y="513"/>
                      </a:lnTo>
                      <a:lnTo>
                        <a:pt x="458" y="495"/>
                      </a:lnTo>
                      <a:lnTo>
                        <a:pt x="463" y="473"/>
                      </a:lnTo>
                      <a:lnTo>
                        <a:pt x="467" y="445"/>
                      </a:lnTo>
                      <a:lnTo>
                        <a:pt x="469" y="421"/>
                      </a:lnTo>
                      <a:lnTo>
                        <a:pt x="470" y="396"/>
                      </a:lnTo>
                      <a:lnTo>
                        <a:pt x="470" y="370"/>
                      </a:lnTo>
                      <a:lnTo>
                        <a:pt x="469" y="334"/>
                      </a:lnTo>
                      <a:lnTo>
                        <a:pt x="468" y="307"/>
                      </a:lnTo>
                      <a:lnTo>
                        <a:pt x="465" y="281"/>
                      </a:lnTo>
                      <a:lnTo>
                        <a:pt x="464" y="251"/>
                      </a:lnTo>
                      <a:lnTo>
                        <a:pt x="463" y="229"/>
                      </a:lnTo>
                      <a:lnTo>
                        <a:pt x="459" y="205"/>
                      </a:lnTo>
                      <a:lnTo>
                        <a:pt x="455" y="185"/>
                      </a:lnTo>
                      <a:lnTo>
                        <a:pt x="448" y="165"/>
                      </a:lnTo>
                      <a:lnTo>
                        <a:pt x="442" y="148"/>
                      </a:lnTo>
                      <a:lnTo>
                        <a:pt x="436" y="135"/>
                      </a:lnTo>
                      <a:lnTo>
                        <a:pt x="429" y="123"/>
                      </a:lnTo>
                      <a:lnTo>
                        <a:pt x="417" y="103"/>
                      </a:lnTo>
                      <a:lnTo>
                        <a:pt x="408" y="90"/>
                      </a:lnTo>
                      <a:lnTo>
                        <a:pt x="398" y="78"/>
                      </a:lnTo>
                      <a:lnTo>
                        <a:pt x="385" y="65"/>
                      </a:lnTo>
                      <a:lnTo>
                        <a:pt x="374" y="55"/>
                      </a:lnTo>
                      <a:lnTo>
                        <a:pt x="361" y="45"/>
                      </a:lnTo>
                      <a:lnTo>
                        <a:pt x="344" y="34"/>
                      </a:lnTo>
                      <a:lnTo>
                        <a:pt x="327" y="24"/>
                      </a:lnTo>
                      <a:lnTo>
                        <a:pt x="306" y="15"/>
                      </a:lnTo>
                      <a:lnTo>
                        <a:pt x="284" y="9"/>
                      </a:lnTo>
                      <a:lnTo>
                        <a:pt x="260" y="3"/>
                      </a:lnTo>
                      <a:lnTo>
                        <a:pt x="235" y="0"/>
                      </a:lnTo>
                      <a:lnTo>
                        <a:pt x="200" y="3"/>
                      </a:lnTo>
                      <a:lnTo>
                        <a:pt x="171" y="12"/>
                      </a:lnTo>
                      <a:lnTo>
                        <a:pt x="140" y="25"/>
                      </a:lnTo>
                      <a:lnTo>
                        <a:pt x="114" y="41"/>
                      </a:lnTo>
                      <a:lnTo>
                        <a:pt x="89" y="59"/>
                      </a:lnTo>
                      <a:lnTo>
                        <a:pt x="66" y="83"/>
                      </a:lnTo>
                      <a:lnTo>
                        <a:pt x="47" y="110"/>
                      </a:lnTo>
                      <a:close/>
                    </a:path>
                  </a:pathLst>
                </a:custGeom>
                <a:solidFill>
                  <a:srgbClr val="FFC080"/>
                </a:solidFill>
                <a:ln w="4763">
                  <a:solidFill>
                    <a:srgbClr val="000000"/>
                  </a:solidFill>
                  <a:prstDash val="solid"/>
                  <a:round/>
                  <a:headEnd/>
                  <a:tailEnd/>
                </a:ln>
              </p:spPr>
              <p:txBody>
                <a:bodyPr/>
                <a:lstStyle/>
                <a:p>
                  <a:endParaRPr lang="en-US"/>
                </a:p>
              </p:txBody>
            </p:sp>
            <p:sp>
              <p:nvSpPr>
                <p:cNvPr id="5202" name="Freeform 34"/>
                <p:cNvSpPr>
                  <a:spLocks/>
                </p:cNvSpPr>
                <p:nvPr/>
              </p:nvSpPr>
              <p:spPr bwMode="auto">
                <a:xfrm>
                  <a:off x="4937" y="972"/>
                  <a:ext cx="48" cy="10"/>
                </a:xfrm>
                <a:custGeom>
                  <a:avLst/>
                  <a:gdLst>
                    <a:gd name="T0" fmla="*/ 0 w 191"/>
                    <a:gd name="T1" fmla="*/ 28 h 41"/>
                    <a:gd name="T2" fmla="*/ 6 w 191"/>
                    <a:gd name="T3" fmla="*/ 23 h 41"/>
                    <a:gd name="T4" fmla="*/ 15 w 191"/>
                    <a:gd name="T5" fmla="*/ 15 h 41"/>
                    <a:gd name="T6" fmla="*/ 32 w 191"/>
                    <a:gd name="T7" fmla="*/ 7 h 41"/>
                    <a:gd name="T8" fmla="*/ 51 w 191"/>
                    <a:gd name="T9" fmla="*/ 2 h 41"/>
                    <a:gd name="T10" fmla="*/ 71 w 191"/>
                    <a:gd name="T11" fmla="*/ 0 h 41"/>
                    <a:gd name="T12" fmla="*/ 88 w 191"/>
                    <a:gd name="T13" fmla="*/ 0 h 41"/>
                    <a:gd name="T14" fmla="*/ 99 w 191"/>
                    <a:gd name="T15" fmla="*/ 1 h 41"/>
                    <a:gd name="T16" fmla="*/ 108 w 191"/>
                    <a:gd name="T17" fmla="*/ 0 h 41"/>
                    <a:gd name="T18" fmla="*/ 117 w 191"/>
                    <a:gd name="T19" fmla="*/ 0 h 41"/>
                    <a:gd name="T20" fmla="*/ 129 w 191"/>
                    <a:gd name="T21" fmla="*/ 1 h 41"/>
                    <a:gd name="T22" fmla="*/ 143 w 191"/>
                    <a:gd name="T23" fmla="*/ 4 h 41"/>
                    <a:gd name="T24" fmla="*/ 156 w 191"/>
                    <a:gd name="T25" fmla="*/ 7 h 41"/>
                    <a:gd name="T26" fmla="*/ 172 w 191"/>
                    <a:gd name="T27" fmla="*/ 13 h 41"/>
                    <a:gd name="T28" fmla="*/ 179 w 191"/>
                    <a:gd name="T29" fmla="*/ 18 h 41"/>
                    <a:gd name="T30" fmla="*/ 186 w 191"/>
                    <a:gd name="T31" fmla="*/ 23 h 41"/>
                    <a:gd name="T32" fmla="*/ 191 w 191"/>
                    <a:gd name="T33" fmla="*/ 31 h 41"/>
                    <a:gd name="T34" fmla="*/ 190 w 191"/>
                    <a:gd name="T35" fmla="*/ 33 h 41"/>
                    <a:gd name="T36" fmla="*/ 172 w 191"/>
                    <a:gd name="T37" fmla="*/ 38 h 41"/>
                    <a:gd name="T38" fmla="*/ 141 w 191"/>
                    <a:gd name="T39" fmla="*/ 41 h 41"/>
                    <a:gd name="T40" fmla="*/ 111 w 191"/>
                    <a:gd name="T41" fmla="*/ 41 h 41"/>
                    <a:gd name="T42" fmla="*/ 80 w 191"/>
                    <a:gd name="T43" fmla="*/ 41 h 41"/>
                    <a:gd name="T44" fmla="*/ 38 w 191"/>
                    <a:gd name="T45" fmla="*/ 38 h 41"/>
                    <a:gd name="T46" fmla="*/ 11 w 191"/>
                    <a:gd name="T47" fmla="*/ 36 h 41"/>
                    <a:gd name="T48" fmla="*/ 4 w 191"/>
                    <a:gd name="T49" fmla="*/ 33 h 41"/>
                    <a:gd name="T50" fmla="*/ 0 w 191"/>
                    <a:gd name="T51" fmla="*/ 28 h 4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1"/>
                    <a:gd name="T79" fmla="*/ 0 h 41"/>
                    <a:gd name="T80" fmla="*/ 191 w 191"/>
                    <a:gd name="T81" fmla="*/ 41 h 4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1" h="41">
                      <a:moveTo>
                        <a:pt x="0" y="28"/>
                      </a:moveTo>
                      <a:lnTo>
                        <a:pt x="6" y="23"/>
                      </a:lnTo>
                      <a:lnTo>
                        <a:pt x="15" y="15"/>
                      </a:lnTo>
                      <a:lnTo>
                        <a:pt x="32" y="7"/>
                      </a:lnTo>
                      <a:lnTo>
                        <a:pt x="51" y="2"/>
                      </a:lnTo>
                      <a:lnTo>
                        <a:pt x="71" y="0"/>
                      </a:lnTo>
                      <a:lnTo>
                        <a:pt x="88" y="0"/>
                      </a:lnTo>
                      <a:lnTo>
                        <a:pt x="99" y="1"/>
                      </a:lnTo>
                      <a:lnTo>
                        <a:pt x="108" y="0"/>
                      </a:lnTo>
                      <a:lnTo>
                        <a:pt x="117" y="0"/>
                      </a:lnTo>
                      <a:lnTo>
                        <a:pt x="129" y="1"/>
                      </a:lnTo>
                      <a:lnTo>
                        <a:pt x="143" y="4"/>
                      </a:lnTo>
                      <a:lnTo>
                        <a:pt x="156" y="7"/>
                      </a:lnTo>
                      <a:lnTo>
                        <a:pt x="172" y="13"/>
                      </a:lnTo>
                      <a:lnTo>
                        <a:pt x="179" y="18"/>
                      </a:lnTo>
                      <a:lnTo>
                        <a:pt x="186" y="23"/>
                      </a:lnTo>
                      <a:lnTo>
                        <a:pt x="191" y="31"/>
                      </a:lnTo>
                      <a:lnTo>
                        <a:pt x="190" y="33"/>
                      </a:lnTo>
                      <a:lnTo>
                        <a:pt x="172" y="38"/>
                      </a:lnTo>
                      <a:lnTo>
                        <a:pt x="141" y="41"/>
                      </a:lnTo>
                      <a:lnTo>
                        <a:pt x="111" y="41"/>
                      </a:lnTo>
                      <a:lnTo>
                        <a:pt x="80" y="41"/>
                      </a:lnTo>
                      <a:lnTo>
                        <a:pt x="38" y="38"/>
                      </a:lnTo>
                      <a:lnTo>
                        <a:pt x="11" y="36"/>
                      </a:lnTo>
                      <a:lnTo>
                        <a:pt x="4" y="33"/>
                      </a:lnTo>
                      <a:lnTo>
                        <a:pt x="0" y="28"/>
                      </a:lnTo>
                      <a:close/>
                    </a:path>
                  </a:pathLst>
                </a:custGeom>
                <a:solidFill>
                  <a:srgbClr val="FFE0C0"/>
                </a:solidFill>
                <a:ln w="4763">
                  <a:solidFill>
                    <a:srgbClr val="000000"/>
                  </a:solidFill>
                  <a:prstDash val="solid"/>
                  <a:round/>
                  <a:headEnd/>
                  <a:tailEnd/>
                </a:ln>
              </p:spPr>
              <p:txBody>
                <a:bodyPr/>
                <a:lstStyle/>
                <a:p>
                  <a:endParaRPr lang="en-US"/>
                </a:p>
              </p:txBody>
            </p:sp>
            <p:sp>
              <p:nvSpPr>
                <p:cNvPr id="5203" name="Freeform 35"/>
                <p:cNvSpPr>
                  <a:spLocks/>
                </p:cNvSpPr>
                <p:nvPr/>
              </p:nvSpPr>
              <p:spPr bwMode="auto">
                <a:xfrm>
                  <a:off x="4895" y="825"/>
                  <a:ext cx="136" cy="93"/>
                </a:xfrm>
                <a:custGeom>
                  <a:avLst/>
                  <a:gdLst>
                    <a:gd name="T0" fmla="*/ 17 w 544"/>
                    <a:gd name="T1" fmla="*/ 353 h 372"/>
                    <a:gd name="T2" fmla="*/ 15 w 544"/>
                    <a:gd name="T3" fmla="*/ 326 h 372"/>
                    <a:gd name="T4" fmla="*/ 20 w 544"/>
                    <a:gd name="T5" fmla="*/ 307 h 372"/>
                    <a:gd name="T6" fmla="*/ 16 w 544"/>
                    <a:gd name="T7" fmla="*/ 281 h 372"/>
                    <a:gd name="T8" fmla="*/ 15 w 544"/>
                    <a:gd name="T9" fmla="*/ 261 h 372"/>
                    <a:gd name="T10" fmla="*/ 13 w 544"/>
                    <a:gd name="T11" fmla="*/ 246 h 372"/>
                    <a:gd name="T12" fmla="*/ 25 w 544"/>
                    <a:gd name="T13" fmla="*/ 233 h 372"/>
                    <a:gd name="T14" fmla="*/ 16 w 544"/>
                    <a:gd name="T15" fmla="*/ 199 h 372"/>
                    <a:gd name="T16" fmla="*/ 28 w 544"/>
                    <a:gd name="T17" fmla="*/ 194 h 372"/>
                    <a:gd name="T18" fmla="*/ 42 w 544"/>
                    <a:gd name="T19" fmla="*/ 183 h 372"/>
                    <a:gd name="T20" fmla="*/ 39 w 544"/>
                    <a:gd name="T21" fmla="*/ 164 h 372"/>
                    <a:gd name="T22" fmla="*/ 51 w 544"/>
                    <a:gd name="T23" fmla="*/ 155 h 372"/>
                    <a:gd name="T24" fmla="*/ 47 w 544"/>
                    <a:gd name="T25" fmla="*/ 130 h 372"/>
                    <a:gd name="T26" fmla="*/ 50 w 544"/>
                    <a:gd name="T27" fmla="*/ 115 h 372"/>
                    <a:gd name="T28" fmla="*/ 61 w 544"/>
                    <a:gd name="T29" fmla="*/ 90 h 372"/>
                    <a:gd name="T30" fmla="*/ 68 w 544"/>
                    <a:gd name="T31" fmla="*/ 71 h 372"/>
                    <a:gd name="T32" fmla="*/ 95 w 544"/>
                    <a:gd name="T33" fmla="*/ 81 h 372"/>
                    <a:gd name="T34" fmla="*/ 104 w 544"/>
                    <a:gd name="T35" fmla="*/ 48 h 372"/>
                    <a:gd name="T36" fmla="*/ 121 w 544"/>
                    <a:gd name="T37" fmla="*/ 67 h 372"/>
                    <a:gd name="T38" fmla="*/ 144 w 544"/>
                    <a:gd name="T39" fmla="*/ 40 h 372"/>
                    <a:gd name="T40" fmla="*/ 183 w 544"/>
                    <a:gd name="T41" fmla="*/ 18 h 372"/>
                    <a:gd name="T42" fmla="*/ 252 w 544"/>
                    <a:gd name="T43" fmla="*/ 3 h 372"/>
                    <a:gd name="T44" fmla="*/ 301 w 544"/>
                    <a:gd name="T45" fmla="*/ 0 h 372"/>
                    <a:gd name="T46" fmla="*/ 317 w 544"/>
                    <a:gd name="T47" fmla="*/ 14 h 372"/>
                    <a:gd name="T48" fmla="*/ 343 w 544"/>
                    <a:gd name="T49" fmla="*/ 23 h 372"/>
                    <a:gd name="T50" fmla="*/ 384 w 544"/>
                    <a:gd name="T51" fmla="*/ 18 h 372"/>
                    <a:gd name="T52" fmla="*/ 380 w 544"/>
                    <a:gd name="T53" fmla="*/ 34 h 372"/>
                    <a:gd name="T54" fmla="*/ 418 w 544"/>
                    <a:gd name="T55" fmla="*/ 35 h 372"/>
                    <a:gd name="T56" fmla="*/ 415 w 544"/>
                    <a:gd name="T57" fmla="*/ 48 h 372"/>
                    <a:gd name="T58" fmla="*/ 437 w 544"/>
                    <a:gd name="T59" fmla="*/ 57 h 372"/>
                    <a:gd name="T60" fmla="*/ 475 w 544"/>
                    <a:gd name="T61" fmla="*/ 71 h 372"/>
                    <a:gd name="T62" fmla="*/ 473 w 544"/>
                    <a:gd name="T63" fmla="*/ 88 h 372"/>
                    <a:gd name="T64" fmla="*/ 475 w 544"/>
                    <a:gd name="T65" fmla="*/ 101 h 372"/>
                    <a:gd name="T66" fmla="*/ 511 w 544"/>
                    <a:gd name="T67" fmla="*/ 114 h 372"/>
                    <a:gd name="T68" fmla="*/ 511 w 544"/>
                    <a:gd name="T69" fmla="*/ 138 h 372"/>
                    <a:gd name="T70" fmla="*/ 522 w 544"/>
                    <a:gd name="T71" fmla="*/ 173 h 372"/>
                    <a:gd name="T72" fmla="*/ 517 w 544"/>
                    <a:gd name="T73" fmla="*/ 209 h 372"/>
                    <a:gd name="T74" fmla="*/ 517 w 544"/>
                    <a:gd name="T75" fmla="*/ 250 h 372"/>
                    <a:gd name="T76" fmla="*/ 517 w 544"/>
                    <a:gd name="T77" fmla="*/ 294 h 372"/>
                    <a:gd name="T78" fmla="*/ 493 w 544"/>
                    <a:gd name="T79" fmla="*/ 369 h 372"/>
                    <a:gd name="T80" fmla="*/ 446 w 544"/>
                    <a:gd name="T81" fmla="*/ 182 h 372"/>
                    <a:gd name="T82" fmla="*/ 358 w 544"/>
                    <a:gd name="T83" fmla="*/ 152 h 372"/>
                    <a:gd name="T84" fmla="*/ 251 w 544"/>
                    <a:gd name="T85" fmla="*/ 126 h 372"/>
                    <a:gd name="T86" fmla="*/ 144 w 544"/>
                    <a:gd name="T87" fmla="*/ 129 h 372"/>
                    <a:gd name="T88" fmla="*/ 115 w 544"/>
                    <a:gd name="T89" fmla="*/ 143 h 372"/>
                    <a:gd name="T90" fmla="*/ 87 w 544"/>
                    <a:gd name="T91" fmla="*/ 181 h 372"/>
                    <a:gd name="T92" fmla="*/ 69 w 544"/>
                    <a:gd name="T93" fmla="*/ 237 h 372"/>
                    <a:gd name="T94" fmla="*/ 47 w 544"/>
                    <a:gd name="T95" fmla="*/ 281 h 37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4"/>
                    <a:gd name="T145" fmla="*/ 0 h 372"/>
                    <a:gd name="T146" fmla="*/ 544 w 544"/>
                    <a:gd name="T147" fmla="*/ 372 h 37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4" h="372">
                      <a:moveTo>
                        <a:pt x="33" y="372"/>
                      </a:moveTo>
                      <a:lnTo>
                        <a:pt x="28" y="365"/>
                      </a:lnTo>
                      <a:lnTo>
                        <a:pt x="17" y="353"/>
                      </a:lnTo>
                      <a:lnTo>
                        <a:pt x="28" y="348"/>
                      </a:lnTo>
                      <a:lnTo>
                        <a:pt x="21" y="338"/>
                      </a:lnTo>
                      <a:lnTo>
                        <a:pt x="15" y="326"/>
                      </a:lnTo>
                      <a:lnTo>
                        <a:pt x="9" y="319"/>
                      </a:lnTo>
                      <a:lnTo>
                        <a:pt x="24" y="319"/>
                      </a:lnTo>
                      <a:lnTo>
                        <a:pt x="20" y="307"/>
                      </a:lnTo>
                      <a:lnTo>
                        <a:pt x="12" y="294"/>
                      </a:lnTo>
                      <a:lnTo>
                        <a:pt x="0" y="283"/>
                      </a:lnTo>
                      <a:lnTo>
                        <a:pt x="16" y="281"/>
                      </a:lnTo>
                      <a:lnTo>
                        <a:pt x="12" y="271"/>
                      </a:lnTo>
                      <a:lnTo>
                        <a:pt x="6" y="258"/>
                      </a:lnTo>
                      <a:lnTo>
                        <a:pt x="15" y="261"/>
                      </a:lnTo>
                      <a:lnTo>
                        <a:pt x="22" y="263"/>
                      </a:lnTo>
                      <a:lnTo>
                        <a:pt x="20" y="255"/>
                      </a:lnTo>
                      <a:lnTo>
                        <a:pt x="13" y="246"/>
                      </a:lnTo>
                      <a:lnTo>
                        <a:pt x="21" y="246"/>
                      </a:lnTo>
                      <a:lnTo>
                        <a:pt x="17" y="232"/>
                      </a:lnTo>
                      <a:lnTo>
                        <a:pt x="25" y="233"/>
                      </a:lnTo>
                      <a:lnTo>
                        <a:pt x="25" y="223"/>
                      </a:lnTo>
                      <a:lnTo>
                        <a:pt x="22" y="214"/>
                      </a:lnTo>
                      <a:lnTo>
                        <a:pt x="16" y="199"/>
                      </a:lnTo>
                      <a:lnTo>
                        <a:pt x="25" y="201"/>
                      </a:lnTo>
                      <a:lnTo>
                        <a:pt x="34" y="204"/>
                      </a:lnTo>
                      <a:lnTo>
                        <a:pt x="28" y="194"/>
                      </a:lnTo>
                      <a:lnTo>
                        <a:pt x="40" y="195"/>
                      </a:lnTo>
                      <a:lnTo>
                        <a:pt x="51" y="196"/>
                      </a:lnTo>
                      <a:lnTo>
                        <a:pt x="42" y="183"/>
                      </a:lnTo>
                      <a:lnTo>
                        <a:pt x="37" y="175"/>
                      </a:lnTo>
                      <a:lnTo>
                        <a:pt x="29" y="165"/>
                      </a:lnTo>
                      <a:lnTo>
                        <a:pt x="39" y="164"/>
                      </a:lnTo>
                      <a:lnTo>
                        <a:pt x="50" y="164"/>
                      </a:lnTo>
                      <a:lnTo>
                        <a:pt x="59" y="163"/>
                      </a:lnTo>
                      <a:lnTo>
                        <a:pt x="51" y="155"/>
                      </a:lnTo>
                      <a:lnTo>
                        <a:pt x="42" y="147"/>
                      </a:lnTo>
                      <a:lnTo>
                        <a:pt x="52" y="143"/>
                      </a:lnTo>
                      <a:lnTo>
                        <a:pt x="47" y="130"/>
                      </a:lnTo>
                      <a:lnTo>
                        <a:pt x="42" y="121"/>
                      </a:lnTo>
                      <a:lnTo>
                        <a:pt x="38" y="114"/>
                      </a:lnTo>
                      <a:lnTo>
                        <a:pt x="50" y="115"/>
                      </a:lnTo>
                      <a:lnTo>
                        <a:pt x="60" y="117"/>
                      </a:lnTo>
                      <a:lnTo>
                        <a:pt x="62" y="104"/>
                      </a:lnTo>
                      <a:lnTo>
                        <a:pt x="61" y="90"/>
                      </a:lnTo>
                      <a:lnTo>
                        <a:pt x="59" y="77"/>
                      </a:lnTo>
                      <a:lnTo>
                        <a:pt x="50" y="62"/>
                      </a:lnTo>
                      <a:lnTo>
                        <a:pt x="68" y="71"/>
                      </a:lnTo>
                      <a:lnTo>
                        <a:pt x="75" y="75"/>
                      </a:lnTo>
                      <a:lnTo>
                        <a:pt x="84" y="81"/>
                      </a:lnTo>
                      <a:lnTo>
                        <a:pt x="95" y="81"/>
                      </a:lnTo>
                      <a:lnTo>
                        <a:pt x="95" y="71"/>
                      </a:lnTo>
                      <a:lnTo>
                        <a:pt x="97" y="61"/>
                      </a:lnTo>
                      <a:lnTo>
                        <a:pt x="104" y="48"/>
                      </a:lnTo>
                      <a:lnTo>
                        <a:pt x="109" y="57"/>
                      </a:lnTo>
                      <a:lnTo>
                        <a:pt x="113" y="62"/>
                      </a:lnTo>
                      <a:lnTo>
                        <a:pt x="121" y="67"/>
                      </a:lnTo>
                      <a:lnTo>
                        <a:pt x="126" y="58"/>
                      </a:lnTo>
                      <a:lnTo>
                        <a:pt x="132" y="49"/>
                      </a:lnTo>
                      <a:lnTo>
                        <a:pt x="144" y="40"/>
                      </a:lnTo>
                      <a:lnTo>
                        <a:pt x="154" y="30"/>
                      </a:lnTo>
                      <a:lnTo>
                        <a:pt x="167" y="22"/>
                      </a:lnTo>
                      <a:lnTo>
                        <a:pt x="183" y="18"/>
                      </a:lnTo>
                      <a:lnTo>
                        <a:pt x="203" y="14"/>
                      </a:lnTo>
                      <a:lnTo>
                        <a:pt x="233" y="6"/>
                      </a:lnTo>
                      <a:lnTo>
                        <a:pt x="252" y="3"/>
                      </a:lnTo>
                      <a:lnTo>
                        <a:pt x="269" y="1"/>
                      </a:lnTo>
                      <a:lnTo>
                        <a:pt x="282" y="0"/>
                      </a:lnTo>
                      <a:lnTo>
                        <a:pt x="301" y="0"/>
                      </a:lnTo>
                      <a:lnTo>
                        <a:pt x="338" y="1"/>
                      </a:lnTo>
                      <a:lnTo>
                        <a:pt x="325" y="6"/>
                      </a:lnTo>
                      <a:lnTo>
                        <a:pt x="317" y="14"/>
                      </a:lnTo>
                      <a:lnTo>
                        <a:pt x="314" y="18"/>
                      </a:lnTo>
                      <a:lnTo>
                        <a:pt x="327" y="22"/>
                      </a:lnTo>
                      <a:lnTo>
                        <a:pt x="343" y="23"/>
                      </a:lnTo>
                      <a:lnTo>
                        <a:pt x="358" y="22"/>
                      </a:lnTo>
                      <a:lnTo>
                        <a:pt x="373" y="21"/>
                      </a:lnTo>
                      <a:lnTo>
                        <a:pt x="384" y="18"/>
                      </a:lnTo>
                      <a:lnTo>
                        <a:pt x="406" y="19"/>
                      </a:lnTo>
                      <a:lnTo>
                        <a:pt x="392" y="25"/>
                      </a:lnTo>
                      <a:lnTo>
                        <a:pt x="380" y="34"/>
                      </a:lnTo>
                      <a:lnTo>
                        <a:pt x="392" y="35"/>
                      </a:lnTo>
                      <a:lnTo>
                        <a:pt x="402" y="34"/>
                      </a:lnTo>
                      <a:lnTo>
                        <a:pt x="418" y="35"/>
                      </a:lnTo>
                      <a:lnTo>
                        <a:pt x="442" y="43"/>
                      </a:lnTo>
                      <a:lnTo>
                        <a:pt x="428" y="45"/>
                      </a:lnTo>
                      <a:lnTo>
                        <a:pt x="415" y="48"/>
                      </a:lnTo>
                      <a:lnTo>
                        <a:pt x="407" y="52"/>
                      </a:lnTo>
                      <a:lnTo>
                        <a:pt x="424" y="54"/>
                      </a:lnTo>
                      <a:lnTo>
                        <a:pt x="437" y="57"/>
                      </a:lnTo>
                      <a:lnTo>
                        <a:pt x="446" y="58"/>
                      </a:lnTo>
                      <a:lnTo>
                        <a:pt x="459" y="63"/>
                      </a:lnTo>
                      <a:lnTo>
                        <a:pt x="475" y="71"/>
                      </a:lnTo>
                      <a:lnTo>
                        <a:pt x="498" y="79"/>
                      </a:lnTo>
                      <a:lnTo>
                        <a:pt x="484" y="83"/>
                      </a:lnTo>
                      <a:lnTo>
                        <a:pt x="473" y="88"/>
                      </a:lnTo>
                      <a:lnTo>
                        <a:pt x="466" y="93"/>
                      </a:lnTo>
                      <a:lnTo>
                        <a:pt x="464" y="99"/>
                      </a:lnTo>
                      <a:lnTo>
                        <a:pt x="475" y="101"/>
                      </a:lnTo>
                      <a:lnTo>
                        <a:pt x="485" y="104"/>
                      </a:lnTo>
                      <a:lnTo>
                        <a:pt x="495" y="110"/>
                      </a:lnTo>
                      <a:lnTo>
                        <a:pt x="511" y="114"/>
                      </a:lnTo>
                      <a:lnTo>
                        <a:pt x="522" y="112"/>
                      </a:lnTo>
                      <a:lnTo>
                        <a:pt x="513" y="123"/>
                      </a:lnTo>
                      <a:lnTo>
                        <a:pt x="511" y="138"/>
                      </a:lnTo>
                      <a:lnTo>
                        <a:pt x="516" y="151"/>
                      </a:lnTo>
                      <a:lnTo>
                        <a:pt x="520" y="163"/>
                      </a:lnTo>
                      <a:lnTo>
                        <a:pt x="522" y="173"/>
                      </a:lnTo>
                      <a:lnTo>
                        <a:pt x="513" y="192"/>
                      </a:lnTo>
                      <a:lnTo>
                        <a:pt x="544" y="191"/>
                      </a:lnTo>
                      <a:lnTo>
                        <a:pt x="517" y="209"/>
                      </a:lnTo>
                      <a:lnTo>
                        <a:pt x="508" y="221"/>
                      </a:lnTo>
                      <a:lnTo>
                        <a:pt x="504" y="241"/>
                      </a:lnTo>
                      <a:lnTo>
                        <a:pt x="517" y="250"/>
                      </a:lnTo>
                      <a:lnTo>
                        <a:pt x="512" y="263"/>
                      </a:lnTo>
                      <a:lnTo>
                        <a:pt x="508" y="280"/>
                      </a:lnTo>
                      <a:lnTo>
                        <a:pt x="517" y="294"/>
                      </a:lnTo>
                      <a:lnTo>
                        <a:pt x="504" y="315"/>
                      </a:lnTo>
                      <a:lnTo>
                        <a:pt x="499" y="328"/>
                      </a:lnTo>
                      <a:lnTo>
                        <a:pt x="493" y="369"/>
                      </a:lnTo>
                      <a:lnTo>
                        <a:pt x="482" y="272"/>
                      </a:lnTo>
                      <a:lnTo>
                        <a:pt x="471" y="236"/>
                      </a:lnTo>
                      <a:lnTo>
                        <a:pt x="446" y="182"/>
                      </a:lnTo>
                      <a:lnTo>
                        <a:pt x="426" y="164"/>
                      </a:lnTo>
                      <a:lnTo>
                        <a:pt x="393" y="155"/>
                      </a:lnTo>
                      <a:lnTo>
                        <a:pt x="358" y="152"/>
                      </a:lnTo>
                      <a:lnTo>
                        <a:pt x="321" y="143"/>
                      </a:lnTo>
                      <a:lnTo>
                        <a:pt x="289" y="135"/>
                      </a:lnTo>
                      <a:lnTo>
                        <a:pt x="251" y="126"/>
                      </a:lnTo>
                      <a:lnTo>
                        <a:pt x="216" y="124"/>
                      </a:lnTo>
                      <a:lnTo>
                        <a:pt x="152" y="121"/>
                      </a:lnTo>
                      <a:lnTo>
                        <a:pt x="144" y="129"/>
                      </a:lnTo>
                      <a:lnTo>
                        <a:pt x="133" y="137"/>
                      </a:lnTo>
                      <a:lnTo>
                        <a:pt x="123" y="143"/>
                      </a:lnTo>
                      <a:lnTo>
                        <a:pt x="115" y="143"/>
                      </a:lnTo>
                      <a:lnTo>
                        <a:pt x="106" y="147"/>
                      </a:lnTo>
                      <a:lnTo>
                        <a:pt x="97" y="164"/>
                      </a:lnTo>
                      <a:lnTo>
                        <a:pt x="87" y="181"/>
                      </a:lnTo>
                      <a:lnTo>
                        <a:pt x="84" y="204"/>
                      </a:lnTo>
                      <a:lnTo>
                        <a:pt x="77" y="219"/>
                      </a:lnTo>
                      <a:lnTo>
                        <a:pt x="69" y="237"/>
                      </a:lnTo>
                      <a:lnTo>
                        <a:pt x="60" y="250"/>
                      </a:lnTo>
                      <a:lnTo>
                        <a:pt x="52" y="264"/>
                      </a:lnTo>
                      <a:lnTo>
                        <a:pt x="47" y="281"/>
                      </a:lnTo>
                      <a:lnTo>
                        <a:pt x="43" y="301"/>
                      </a:lnTo>
                      <a:lnTo>
                        <a:pt x="33" y="372"/>
                      </a:lnTo>
                      <a:close/>
                    </a:path>
                  </a:pathLst>
                </a:custGeom>
                <a:solidFill>
                  <a:srgbClr val="201000"/>
                </a:solidFill>
                <a:ln w="4763">
                  <a:solidFill>
                    <a:srgbClr val="000000"/>
                  </a:solidFill>
                  <a:prstDash val="solid"/>
                  <a:round/>
                  <a:headEnd/>
                  <a:tailEnd/>
                </a:ln>
              </p:spPr>
              <p:txBody>
                <a:bodyPr/>
                <a:lstStyle/>
                <a:p>
                  <a:endParaRPr lang="en-US"/>
                </a:p>
              </p:txBody>
            </p:sp>
            <p:grpSp>
              <p:nvGrpSpPr>
                <p:cNvPr id="5204" name="Group 42"/>
                <p:cNvGrpSpPr>
                  <a:grpSpLocks/>
                </p:cNvGrpSpPr>
                <p:nvPr/>
              </p:nvGrpSpPr>
              <p:grpSpPr bwMode="auto">
                <a:xfrm>
                  <a:off x="4931" y="916"/>
                  <a:ext cx="57" cy="10"/>
                  <a:chOff x="4931" y="916"/>
                  <a:chExt cx="57" cy="10"/>
                </a:xfrm>
              </p:grpSpPr>
              <p:grpSp>
                <p:nvGrpSpPr>
                  <p:cNvPr id="5217" name="Group 38"/>
                  <p:cNvGrpSpPr>
                    <a:grpSpLocks/>
                  </p:cNvGrpSpPr>
                  <p:nvPr/>
                </p:nvGrpSpPr>
                <p:grpSpPr bwMode="auto">
                  <a:xfrm>
                    <a:off x="4931" y="916"/>
                    <a:ext cx="10" cy="10"/>
                    <a:chOff x="4931" y="916"/>
                    <a:chExt cx="10" cy="10"/>
                  </a:xfrm>
                </p:grpSpPr>
                <p:sp>
                  <p:nvSpPr>
                    <p:cNvPr id="5221" name="Oval 36"/>
                    <p:cNvSpPr>
                      <a:spLocks noChangeArrowheads="1"/>
                    </p:cNvSpPr>
                    <p:nvPr/>
                  </p:nvSpPr>
                  <p:spPr bwMode="auto">
                    <a:xfrm>
                      <a:off x="4931" y="916"/>
                      <a:ext cx="10" cy="10"/>
                    </a:xfrm>
                    <a:prstGeom prst="ellipse">
                      <a:avLst/>
                    </a:prstGeom>
                    <a:solidFill>
                      <a:srgbClr val="4040FF"/>
                    </a:solidFill>
                    <a:ln w="4763">
                      <a:solidFill>
                        <a:srgbClr val="000080"/>
                      </a:solidFill>
                      <a:round/>
                      <a:headEnd/>
                      <a:tailEnd/>
                    </a:ln>
                  </p:spPr>
                  <p:txBody>
                    <a:bodyPr/>
                    <a:lstStyle/>
                    <a:p>
                      <a:endParaRPr lang="en-US"/>
                    </a:p>
                  </p:txBody>
                </p:sp>
                <p:sp>
                  <p:nvSpPr>
                    <p:cNvPr id="5222" name="Oval 37"/>
                    <p:cNvSpPr>
                      <a:spLocks noChangeArrowheads="1"/>
                    </p:cNvSpPr>
                    <p:nvPr/>
                  </p:nvSpPr>
                  <p:spPr bwMode="auto">
                    <a:xfrm>
                      <a:off x="4934" y="917"/>
                      <a:ext cx="4" cy="5"/>
                    </a:xfrm>
                    <a:prstGeom prst="ellipse">
                      <a:avLst/>
                    </a:prstGeom>
                    <a:solidFill>
                      <a:srgbClr val="FFFFFF"/>
                    </a:solidFill>
                    <a:ln w="9525">
                      <a:noFill/>
                      <a:round/>
                      <a:headEnd/>
                      <a:tailEnd/>
                    </a:ln>
                  </p:spPr>
                  <p:txBody>
                    <a:bodyPr/>
                    <a:lstStyle/>
                    <a:p>
                      <a:endParaRPr lang="en-US"/>
                    </a:p>
                  </p:txBody>
                </p:sp>
              </p:grpSp>
              <p:grpSp>
                <p:nvGrpSpPr>
                  <p:cNvPr id="5218" name="Group 41"/>
                  <p:cNvGrpSpPr>
                    <a:grpSpLocks/>
                  </p:cNvGrpSpPr>
                  <p:nvPr/>
                </p:nvGrpSpPr>
                <p:grpSpPr bwMode="auto">
                  <a:xfrm>
                    <a:off x="4978" y="916"/>
                    <a:ext cx="10" cy="10"/>
                    <a:chOff x="4978" y="916"/>
                    <a:chExt cx="10" cy="10"/>
                  </a:xfrm>
                </p:grpSpPr>
                <p:sp>
                  <p:nvSpPr>
                    <p:cNvPr id="5219" name="Oval 39"/>
                    <p:cNvSpPr>
                      <a:spLocks noChangeArrowheads="1"/>
                    </p:cNvSpPr>
                    <p:nvPr/>
                  </p:nvSpPr>
                  <p:spPr bwMode="auto">
                    <a:xfrm>
                      <a:off x="4978" y="916"/>
                      <a:ext cx="10" cy="10"/>
                    </a:xfrm>
                    <a:prstGeom prst="ellipse">
                      <a:avLst/>
                    </a:prstGeom>
                    <a:solidFill>
                      <a:srgbClr val="4040FF"/>
                    </a:solidFill>
                    <a:ln w="4763">
                      <a:solidFill>
                        <a:srgbClr val="000080"/>
                      </a:solidFill>
                      <a:round/>
                      <a:headEnd/>
                      <a:tailEnd/>
                    </a:ln>
                  </p:spPr>
                  <p:txBody>
                    <a:bodyPr/>
                    <a:lstStyle/>
                    <a:p>
                      <a:endParaRPr lang="en-US"/>
                    </a:p>
                  </p:txBody>
                </p:sp>
                <p:sp>
                  <p:nvSpPr>
                    <p:cNvPr id="5220" name="Oval 40"/>
                    <p:cNvSpPr>
                      <a:spLocks noChangeArrowheads="1"/>
                    </p:cNvSpPr>
                    <p:nvPr/>
                  </p:nvSpPr>
                  <p:spPr bwMode="auto">
                    <a:xfrm>
                      <a:off x="4981" y="917"/>
                      <a:ext cx="4" cy="6"/>
                    </a:xfrm>
                    <a:prstGeom prst="ellipse">
                      <a:avLst/>
                    </a:prstGeom>
                    <a:solidFill>
                      <a:srgbClr val="FFFFFF"/>
                    </a:solidFill>
                    <a:ln w="9525">
                      <a:noFill/>
                      <a:round/>
                      <a:headEnd/>
                      <a:tailEnd/>
                    </a:ln>
                  </p:spPr>
                  <p:txBody>
                    <a:bodyPr/>
                    <a:lstStyle/>
                    <a:p>
                      <a:endParaRPr lang="en-US"/>
                    </a:p>
                  </p:txBody>
                </p:sp>
              </p:grpSp>
            </p:grpSp>
            <p:sp>
              <p:nvSpPr>
                <p:cNvPr id="5205" name="Arc 43"/>
                <p:cNvSpPr>
                  <a:spLocks/>
                </p:cNvSpPr>
                <p:nvPr/>
              </p:nvSpPr>
              <p:spPr bwMode="auto">
                <a:xfrm>
                  <a:off x="4947" y="947"/>
                  <a:ext cx="27" cy="14"/>
                </a:xfrm>
                <a:custGeom>
                  <a:avLst/>
                  <a:gdLst>
                    <a:gd name="T0" fmla="*/ 27 w 43200"/>
                    <a:gd name="T1" fmla="*/ 0 h 23139"/>
                    <a:gd name="T2" fmla="*/ 0 w 43200"/>
                    <a:gd name="T3" fmla="*/ 0 h 23139"/>
                    <a:gd name="T4" fmla="*/ 13 w 43200"/>
                    <a:gd name="T5" fmla="*/ 1 h 23139"/>
                    <a:gd name="T6" fmla="*/ 0 60000 65536"/>
                    <a:gd name="T7" fmla="*/ 0 60000 65536"/>
                    <a:gd name="T8" fmla="*/ 0 60000 65536"/>
                    <a:gd name="T9" fmla="*/ 0 w 43200"/>
                    <a:gd name="T10" fmla="*/ 0 h 23139"/>
                    <a:gd name="T11" fmla="*/ 43200 w 43200"/>
                    <a:gd name="T12" fmla="*/ 23139 h 23139"/>
                  </a:gdLst>
                  <a:ahLst/>
                  <a:cxnLst>
                    <a:cxn ang="T6">
                      <a:pos x="T0" y="T1"/>
                    </a:cxn>
                    <a:cxn ang="T7">
                      <a:pos x="T2" y="T3"/>
                    </a:cxn>
                    <a:cxn ang="T8">
                      <a:pos x="T4" y="T5"/>
                    </a:cxn>
                  </a:cxnLst>
                  <a:rect l="T9" t="T10" r="T11" b="T12"/>
                  <a:pathLst>
                    <a:path w="43200" h="23139" fill="none" extrusionOk="0">
                      <a:moveTo>
                        <a:pt x="43145" y="-1"/>
                      </a:moveTo>
                      <a:cubicBezTo>
                        <a:pt x="43181" y="512"/>
                        <a:pt x="43200" y="1025"/>
                        <a:pt x="43200" y="1539"/>
                      </a:cubicBezTo>
                      <a:cubicBezTo>
                        <a:pt x="43200" y="13468"/>
                        <a:pt x="33529" y="23139"/>
                        <a:pt x="21600" y="23139"/>
                      </a:cubicBezTo>
                      <a:cubicBezTo>
                        <a:pt x="9670" y="23139"/>
                        <a:pt x="0" y="13468"/>
                        <a:pt x="0" y="1539"/>
                      </a:cubicBezTo>
                      <a:cubicBezTo>
                        <a:pt x="-1" y="1059"/>
                        <a:pt x="15" y="580"/>
                        <a:pt x="47" y="101"/>
                      </a:cubicBezTo>
                    </a:path>
                    <a:path w="43200" h="23139" stroke="0" extrusionOk="0">
                      <a:moveTo>
                        <a:pt x="43145" y="-1"/>
                      </a:moveTo>
                      <a:cubicBezTo>
                        <a:pt x="43181" y="512"/>
                        <a:pt x="43200" y="1025"/>
                        <a:pt x="43200" y="1539"/>
                      </a:cubicBezTo>
                      <a:cubicBezTo>
                        <a:pt x="43200" y="13468"/>
                        <a:pt x="33529" y="23139"/>
                        <a:pt x="21600" y="23139"/>
                      </a:cubicBezTo>
                      <a:cubicBezTo>
                        <a:pt x="9670" y="23139"/>
                        <a:pt x="0" y="13468"/>
                        <a:pt x="0" y="1539"/>
                      </a:cubicBezTo>
                      <a:cubicBezTo>
                        <a:pt x="-1" y="1059"/>
                        <a:pt x="15" y="580"/>
                        <a:pt x="47" y="101"/>
                      </a:cubicBezTo>
                      <a:lnTo>
                        <a:pt x="21600" y="1539"/>
                      </a:lnTo>
                      <a:close/>
                    </a:path>
                  </a:pathLst>
                </a:custGeom>
                <a:noFill/>
                <a:ln w="4763">
                  <a:solidFill>
                    <a:srgbClr val="000000"/>
                  </a:solidFill>
                  <a:round/>
                  <a:headEnd/>
                  <a:tailEnd/>
                </a:ln>
              </p:spPr>
              <p:txBody>
                <a:bodyPr/>
                <a:lstStyle/>
                <a:p>
                  <a:endParaRPr lang="en-US"/>
                </a:p>
              </p:txBody>
            </p:sp>
            <p:grpSp>
              <p:nvGrpSpPr>
                <p:cNvPr id="5206" name="Group 46"/>
                <p:cNvGrpSpPr>
                  <a:grpSpLocks/>
                </p:cNvGrpSpPr>
                <p:nvPr/>
              </p:nvGrpSpPr>
              <p:grpSpPr bwMode="auto">
                <a:xfrm>
                  <a:off x="4921" y="885"/>
                  <a:ext cx="82" cy="23"/>
                  <a:chOff x="4921" y="885"/>
                  <a:chExt cx="82" cy="23"/>
                </a:xfrm>
              </p:grpSpPr>
              <p:sp>
                <p:nvSpPr>
                  <p:cNvPr id="5215" name="Freeform 44"/>
                  <p:cNvSpPr>
                    <a:spLocks/>
                  </p:cNvSpPr>
                  <p:nvPr/>
                </p:nvSpPr>
                <p:spPr bwMode="auto">
                  <a:xfrm>
                    <a:off x="4921" y="885"/>
                    <a:ext cx="25" cy="22"/>
                  </a:xfrm>
                  <a:custGeom>
                    <a:avLst/>
                    <a:gdLst>
                      <a:gd name="T0" fmla="*/ 87 w 101"/>
                      <a:gd name="T1" fmla="*/ 6 h 85"/>
                      <a:gd name="T2" fmla="*/ 77 w 101"/>
                      <a:gd name="T3" fmla="*/ 10 h 85"/>
                      <a:gd name="T4" fmla="*/ 66 w 101"/>
                      <a:gd name="T5" fmla="*/ 15 h 85"/>
                      <a:gd name="T6" fmla="*/ 59 w 101"/>
                      <a:gd name="T7" fmla="*/ 21 h 85"/>
                      <a:gd name="T8" fmla="*/ 52 w 101"/>
                      <a:gd name="T9" fmla="*/ 26 h 85"/>
                      <a:gd name="T10" fmla="*/ 46 w 101"/>
                      <a:gd name="T11" fmla="*/ 36 h 85"/>
                      <a:gd name="T12" fmla="*/ 39 w 101"/>
                      <a:gd name="T13" fmla="*/ 48 h 85"/>
                      <a:gd name="T14" fmla="*/ 34 w 101"/>
                      <a:gd name="T15" fmla="*/ 57 h 85"/>
                      <a:gd name="T16" fmla="*/ 29 w 101"/>
                      <a:gd name="T17" fmla="*/ 63 h 85"/>
                      <a:gd name="T18" fmla="*/ 22 w 101"/>
                      <a:gd name="T19" fmla="*/ 71 h 85"/>
                      <a:gd name="T20" fmla="*/ 0 w 101"/>
                      <a:gd name="T21" fmla="*/ 85 h 85"/>
                      <a:gd name="T22" fmla="*/ 15 w 101"/>
                      <a:gd name="T23" fmla="*/ 81 h 85"/>
                      <a:gd name="T24" fmla="*/ 24 w 101"/>
                      <a:gd name="T25" fmla="*/ 79 h 85"/>
                      <a:gd name="T26" fmla="*/ 33 w 101"/>
                      <a:gd name="T27" fmla="*/ 73 h 85"/>
                      <a:gd name="T28" fmla="*/ 43 w 101"/>
                      <a:gd name="T29" fmla="*/ 64 h 85"/>
                      <a:gd name="T30" fmla="*/ 48 w 101"/>
                      <a:gd name="T31" fmla="*/ 58 h 85"/>
                      <a:gd name="T32" fmla="*/ 56 w 101"/>
                      <a:gd name="T33" fmla="*/ 48 h 85"/>
                      <a:gd name="T34" fmla="*/ 60 w 101"/>
                      <a:gd name="T35" fmla="*/ 39 h 85"/>
                      <a:gd name="T36" fmla="*/ 65 w 101"/>
                      <a:gd name="T37" fmla="*/ 31 h 85"/>
                      <a:gd name="T38" fmla="*/ 72 w 101"/>
                      <a:gd name="T39" fmla="*/ 22 h 85"/>
                      <a:gd name="T40" fmla="*/ 78 w 101"/>
                      <a:gd name="T41" fmla="*/ 18 h 85"/>
                      <a:gd name="T42" fmla="*/ 88 w 101"/>
                      <a:gd name="T43" fmla="*/ 13 h 85"/>
                      <a:gd name="T44" fmla="*/ 96 w 101"/>
                      <a:gd name="T45" fmla="*/ 9 h 85"/>
                      <a:gd name="T46" fmla="*/ 101 w 101"/>
                      <a:gd name="T47" fmla="*/ 0 h 85"/>
                      <a:gd name="T48" fmla="*/ 87 w 101"/>
                      <a:gd name="T49" fmla="*/ 6 h 8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1"/>
                      <a:gd name="T76" fmla="*/ 0 h 85"/>
                      <a:gd name="T77" fmla="*/ 101 w 101"/>
                      <a:gd name="T78" fmla="*/ 85 h 8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1" h="85">
                        <a:moveTo>
                          <a:pt x="87" y="6"/>
                        </a:moveTo>
                        <a:lnTo>
                          <a:pt x="77" y="10"/>
                        </a:lnTo>
                        <a:lnTo>
                          <a:pt x="66" y="15"/>
                        </a:lnTo>
                        <a:lnTo>
                          <a:pt x="59" y="21"/>
                        </a:lnTo>
                        <a:lnTo>
                          <a:pt x="52" y="26"/>
                        </a:lnTo>
                        <a:lnTo>
                          <a:pt x="46" y="36"/>
                        </a:lnTo>
                        <a:lnTo>
                          <a:pt x="39" y="48"/>
                        </a:lnTo>
                        <a:lnTo>
                          <a:pt x="34" y="57"/>
                        </a:lnTo>
                        <a:lnTo>
                          <a:pt x="29" y="63"/>
                        </a:lnTo>
                        <a:lnTo>
                          <a:pt x="22" y="71"/>
                        </a:lnTo>
                        <a:lnTo>
                          <a:pt x="0" y="85"/>
                        </a:lnTo>
                        <a:lnTo>
                          <a:pt x="15" y="81"/>
                        </a:lnTo>
                        <a:lnTo>
                          <a:pt x="24" y="79"/>
                        </a:lnTo>
                        <a:lnTo>
                          <a:pt x="33" y="73"/>
                        </a:lnTo>
                        <a:lnTo>
                          <a:pt x="43" y="64"/>
                        </a:lnTo>
                        <a:lnTo>
                          <a:pt x="48" y="58"/>
                        </a:lnTo>
                        <a:lnTo>
                          <a:pt x="56" y="48"/>
                        </a:lnTo>
                        <a:lnTo>
                          <a:pt x="60" y="39"/>
                        </a:lnTo>
                        <a:lnTo>
                          <a:pt x="65" y="31"/>
                        </a:lnTo>
                        <a:lnTo>
                          <a:pt x="72" y="22"/>
                        </a:lnTo>
                        <a:lnTo>
                          <a:pt x="78" y="18"/>
                        </a:lnTo>
                        <a:lnTo>
                          <a:pt x="88" y="13"/>
                        </a:lnTo>
                        <a:lnTo>
                          <a:pt x="96" y="9"/>
                        </a:lnTo>
                        <a:lnTo>
                          <a:pt x="101" y="0"/>
                        </a:lnTo>
                        <a:lnTo>
                          <a:pt x="87" y="6"/>
                        </a:lnTo>
                        <a:close/>
                      </a:path>
                    </a:pathLst>
                  </a:custGeom>
                  <a:solidFill>
                    <a:srgbClr val="201000"/>
                  </a:solidFill>
                  <a:ln w="9525">
                    <a:noFill/>
                    <a:round/>
                    <a:headEnd/>
                    <a:tailEnd/>
                  </a:ln>
                </p:spPr>
                <p:txBody>
                  <a:bodyPr/>
                  <a:lstStyle/>
                  <a:p>
                    <a:endParaRPr lang="en-US"/>
                  </a:p>
                </p:txBody>
              </p:sp>
              <p:sp>
                <p:nvSpPr>
                  <p:cNvPr id="5216" name="Freeform 45"/>
                  <p:cNvSpPr>
                    <a:spLocks/>
                  </p:cNvSpPr>
                  <p:nvPr/>
                </p:nvSpPr>
                <p:spPr bwMode="auto">
                  <a:xfrm>
                    <a:off x="4978" y="887"/>
                    <a:ext cx="25" cy="21"/>
                  </a:xfrm>
                  <a:custGeom>
                    <a:avLst/>
                    <a:gdLst>
                      <a:gd name="T0" fmla="*/ 14 w 101"/>
                      <a:gd name="T1" fmla="*/ 7 h 86"/>
                      <a:gd name="T2" fmla="*/ 26 w 101"/>
                      <a:gd name="T3" fmla="*/ 11 h 86"/>
                      <a:gd name="T4" fmla="*/ 35 w 101"/>
                      <a:gd name="T5" fmla="*/ 15 h 86"/>
                      <a:gd name="T6" fmla="*/ 43 w 101"/>
                      <a:gd name="T7" fmla="*/ 20 h 86"/>
                      <a:gd name="T8" fmla="*/ 49 w 101"/>
                      <a:gd name="T9" fmla="*/ 26 h 86"/>
                      <a:gd name="T10" fmla="*/ 56 w 101"/>
                      <a:gd name="T11" fmla="*/ 37 h 86"/>
                      <a:gd name="T12" fmla="*/ 62 w 101"/>
                      <a:gd name="T13" fmla="*/ 48 h 86"/>
                      <a:gd name="T14" fmla="*/ 67 w 101"/>
                      <a:gd name="T15" fmla="*/ 57 h 86"/>
                      <a:gd name="T16" fmla="*/ 73 w 101"/>
                      <a:gd name="T17" fmla="*/ 64 h 86"/>
                      <a:gd name="T18" fmla="*/ 79 w 101"/>
                      <a:gd name="T19" fmla="*/ 71 h 86"/>
                      <a:gd name="T20" fmla="*/ 101 w 101"/>
                      <a:gd name="T21" fmla="*/ 86 h 86"/>
                      <a:gd name="T22" fmla="*/ 87 w 101"/>
                      <a:gd name="T23" fmla="*/ 82 h 86"/>
                      <a:gd name="T24" fmla="*/ 78 w 101"/>
                      <a:gd name="T25" fmla="*/ 78 h 86"/>
                      <a:gd name="T26" fmla="*/ 69 w 101"/>
                      <a:gd name="T27" fmla="*/ 73 h 86"/>
                      <a:gd name="T28" fmla="*/ 58 w 101"/>
                      <a:gd name="T29" fmla="*/ 65 h 86"/>
                      <a:gd name="T30" fmla="*/ 53 w 101"/>
                      <a:gd name="T31" fmla="*/ 58 h 86"/>
                      <a:gd name="T32" fmla="*/ 45 w 101"/>
                      <a:gd name="T33" fmla="*/ 47 h 86"/>
                      <a:gd name="T34" fmla="*/ 42 w 101"/>
                      <a:gd name="T35" fmla="*/ 39 h 86"/>
                      <a:gd name="T36" fmla="*/ 36 w 101"/>
                      <a:gd name="T37" fmla="*/ 31 h 86"/>
                      <a:gd name="T38" fmla="*/ 30 w 101"/>
                      <a:gd name="T39" fmla="*/ 22 h 86"/>
                      <a:gd name="T40" fmla="*/ 23 w 101"/>
                      <a:gd name="T41" fmla="*/ 18 h 86"/>
                      <a:gd name="T42" fmla="*/ 13 w 101"/>
                      <a:gd name="T43" fmla="*/ 13 h 86"/>
                      <a:gd name="T44" fmla="*/ 5 w 101"/>
                      <a:gd name="T45" fmla="*/ 9 h 86"/>
                      <a:gd name="T46" fmla="*/ 0 w 101"/>
                      <a:gd name="T47" fmla="*/ 0 h 86"/>
                      <a:gd name="T48" fmla="*/ 14 w 101"/>
                      <a:gd name="T49" fmla="*/ 7 h 8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1"/>
                      <a:gd name="T76" fmla="*/ 0 h 86"/>
                      <a:gd name="T77" fmla="*/ 101 w 101"/>
                      <a:gd name="T78" fmla="*/ 86 h 8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1" h="86">
                        <a:moveTo>
                          <a:pt x="14" y="7"/>
                        </a:moveTo>
                        <a:lnTo>
                          <a:pt x="26" y="11"/>
                        </a:lnTo>
                        <a:lnTo>
                          <a:pt x="35" y="15"/>
                        </a:lnTo>
                        <a:lnTo>
                          <a:pt x="43" y="20"/>
                        </a:lnTo>
                        <a:lnTo>
                          <a:pt x="49" y="26"/>
                        </a:lnTo>
                        <a:lnTo>
                          <a:pt x="56" y="37"/>
                        </a:lnTo>
                        <a:lnTo>
                          <a:pt x="62" y="48"/>
                        </a:lnTo>
                        <a:lnTo>
                          <a:pt x="67" y="57"/>
                        </a:lnTo>
                        <a:lnTo>
                          <a:pt x="73" y="64"/>
                        </a:lnTo>
                        <a:lnTo>
                          <a:pt x="79" y="71"/>
                        </a:lnTo>
                        <a:lnTo>
                          <a:pt x="101" y="86"/>
                        </a:lnTo>
                        <a:lnTo>
                          <a:pt x="87" y="82"/>
                        </a:lnTo>
                        <a:lnTo>
                          <a:pt x="78" y="78"/>
                        </a:lnTo>
                        <a:lnTo>
                          <a:pt x="69" y="73"/>
                        </a:lnTo>
                        <a:lnTo>
                          <a:pt x="58" y="65"/>
                        </a:lnTo>
                        <a:lnTo>
                          <a:pt x="53" y="58"/>
                        </a:lnTo>
                        <a:lnTo>
                          <a:pt x="45" y="47"/>
                        </a:lnTo>
                        <a:lnTo>
                          <a:pt x="42" y="39"/>
                        </a:lnTo>
                        <a:lnTo>
                          <a:pt x="36" y="31"/>
                        </a:lnTo>
                        <a:lnTo>
                          <a:pt x="30" y="22"/>
                        </a:lnTo>
                        <a:lnTo>
                          <a:pt x="23" y="18"/>
                        </a:lnTo>
                        <a:lnTo>
                          <a:pt x="13" y="13"/>
                        </a:lnTo>
                        <a:lnTo>
                          <a:pt x="5" y="9"/>
                        </a:lnTo>
                        <a:lnTo>
                          <a:pt x="0" y="0"/>
                        </a:lnTo>
                        <a:lnTo>
                          <a:pt x="14" y="7"/>
                        </a:lnTo>
                        <a:close/>
                      </a:path>
                    </a:pathLst>
                  </a:custGeom>
                  <a:solidFill>
                    <a:srgbClr val="201000"/>
                  </a:solidFill>
                  <a:ln w="9525">
                    <a:noFill/>
                    <a:round/>
                    <a:headEnd/>
                    <a:tailEnd/>
                  </a:ln>
                </p:spPr>
                <p:txBody>
                  <a:bodyPr/>
                  <a:lstStyle/>
                  <a:p>
                    <a:endParaRPr lang="en-US"/>
                  </a:p>
                </p:txBody>
              </p:sp>
            </p:grpSp>
            <p:grpSp>
              <p:nvGrpSpPr>
                <p:cNvPr id="5207" name="Group 53"/>
                <p:cNvGrpSpPr>
                  <a:grpSpLocks/>
                </p:cNvGrpSpPr>
                <p:nvPr/>
              </p:nvGrpSpPr>
              <p:grpSpPr bwMode="auto">
                <a:xfrm>
                  <a:off x="4903" y="904"/>
                  <a:ext cx="120" cy="34"/>
                  <a:chOff x="4903" y="904"/>
                  <a:chExt cx="120" cy="34"/>
                </a:xfrm>
              </p:grpSpPr>
              <p:grpSp>
                <p:nvGrpSpPr>
                  <p:cNvPr id="5209" name="Group 49"/>
                  <p:cNvGrpSpPr>
                    <a:grpSpLocks/>
                  </p:cNvGrpSpPr>
                  <p:nvPr/>
                </p:nvGrpSpPr>
                <p:grpSpPr bwMode="auto">
                  <a:xfrm>
                    <a:off x="4919" y="904"/>
                    <a:ext cx="84" cy="34"/>
                    <a:chOff x="4919" y="904"/>
                    <a:chExt cx="84" cy="34"/>
                  </a:xfrm>
                </p:grpSpPr>
                <p:sp>
                  <p:nvSpPr>
                    <p:cNvPr id="5213" name="Oval 47"/>
                    <p:cNvSpPr>
                      <a:spLocks noChangeArrowheads="1"/>
                    </p:cNvSpPr>
                    <p:nvPr/>
                  </p:nvSpPr>
                  <p:spPr bwMode="auto">
                    <a:xfrm>
                      <a:off x="4968" y="904"/>
                      <a:ext cx="35" cy="34"/>
                    </a:xfrm>
                    <a:prstGeom prst="ellipse">
                      <a:avLst/>
                    </a:prstGeom>
                    <a:noFill/>
                    <a:ln w="4763">
                      <a:solidFill>
                        <a:srgbClr val="000000"/>
                      </a:solidFill>
                      <a:round/>
                      <a:headEnd/>
                      <a:tailEnd/>
                    </a:ln>
                  </p:spPr>
                  <p:txBody>
                    <a:bodyPr/>
                    <a:lstStyle/>
                    <a:p>
                      <a:endParaRPr lang="en-US"/>
                    </a:p>
                  </p:txBody>
                </p:sp>
                <p:sp>
                  <p:nvSpPr>
                    <p:cNvPr id="5214" name="Oval 48"/>
                    <p:cNvSpPr>
                      <a:spLocks noChangeArrowheads="1"/>
                    </p:cNvSpPr>
                    <p:nvPr/>
                  </p:nvSpPr>
                  <p:spPr bwMode="auto">
                    <a:xfrm>
                      <a:off x="4919" y="904"/>
                      <a:ext cx="34" cy="34"/>
                    </a:xfrm>
                    <a:prstGeom prst="ellipse">
                      <a:avLst/>
                    </a:prstGeom>
                    <a:noFill/>
                    <a:ln w="4763">
                      <a:solidFill>
                        <a:srgbClr val="000000"/>
                      </a:solidFill>
                      <a:round/>
                      <a:headEnd/>
                      <a:tailEnd/>
                    </a:ln>
                  </p:spPr>
                  <p:txBody>
                    <a:bodyPr/>
                    <a:lstStyle/>
                    <a:p>
                      <a:endParaRPr lang="en-US"/>
                    </a:p>
                  </p:txBody>
                </p:sp>
              </p:grpSp>
              <p:sp>
                <p:nvSpPr>
                  <p:cNvPr id="5210" name="Arc 50"/>
                  <p:cNvSpPr>
                    <a:spLocks/>
                  </p:cNvSpPr>
                  <p:nvPr/>
                </p:nvSpPr>
                <p:spPr bwMode="auto">
                  <a:xfrm>
                    <a:off x="4953" y="914"/>
                    <a:ext cx="15" cy="10"/>
                  </a:xfrm>
                  <a:custGeom>
                    <a:avLst/>
                    <a:gdLst>
                      <a:gd name="T0" fmla="*/ 0 w 31489"/>
                      <a:gd name="T1" fmla="*/ 4 h 21600"/>
                      <a:gd name="T2" fmla="*/ 15 w 31489"/>
                      <a:gd name="T3" fmla="*/ 2 h 21600"/>
                      <a:gd name="T4" fmla="*/ 8 w 31489"/>
                      <a:gd name="T5" fmla="*/ 10 h 21600"/>
                      <a:gd name="T6" fmla="*/ 0 60000 65536"/>
                      <a:gd name="T7" fmla="*/ 0 60000 65536"/>
                      <a:gd name="T8" fmla="*/ 0 60000 65536"/>
                      <a:gd name="T9" fmla="*/ 0 w 31489"/>
                      <a:gd name="T10" fmla="*/ 0 h 21600"/>
                      <a:gd name="T11" fmla="*/ 31489 w 31489"/>
                      <a:gd name="T12" fmla="*/ 21600 h 21600"/>
                    </a:gdLst>
                    <a:ahLst/>
                    <a:cxnLst>
                      <a:cxn ang="T6">
                        <a:pos x="T0" y="T1"/>
                      </a:cxn>
                      <a:cxn ang="T7">
                        <a:pos x="T2" y="T3"/>
                      </a:cxn>
                      <a:cxn ang="T8">
                        <a:pos x="T4" y="T5"/>
                      </a:cxn>
                    </a:cxnLst>
                    <a:rect l="T9" t="T10" r="T11" b="T12"/>
                    <a:pathLst>
                      <a:path w="31489" h="21600" fill="none" extrusionOk="0">
                        <a:moveTo>
                          <a:pt x="0" y="9192"/>
                        </a:moveTo>
                        <a:cubicBezTo>
                          <a:pt x="4043" y="3430"/>
                          <a:pt x="10641" y="-1"/>
                          <a:pt x="17681" y="0"/>
                        </a:cubicBezTo>
                        <a:cubicBezTo>
                          <a:pt x="22724" y="0"/>
                          <a:pt x="27609" y="1765"/>
                          <a:pt x="31488" y="4989"/>
                        </a:cubicBezTo>
                      </a:path>
                      <a:path w="31489" h="21600" stroke="0" extrusionOk="0">
                        <a:moveTo>
                          <a:pt x="0" y="9192"/>
                        </a:moveTo>
                        <a:cubicBezTo>
                          <a:pt x="4043" y="3430"/>
                          <a:pt x="10641" y="-1"/>
                          <a:pt x="17681" y="0"/>
                        </a:cubicBezTo>
                        <a:cubicBezTo>
                          <a:pt x="22724" y="0"/>
                          <a:pt x="27609" y="1765"/>
                          <a:pt x="31488" y="4989"/>
                        </a:cubicBezTo>
                        <a:lnTo>
                          <a:pt x="17681" y="21600"/>
                        </a:lnTo>
                        <a:close/>
                      </a:path>
                    </a:pathLst>
                  </a:custGeom>
                  <a:noFill/>
                  <a:ln w="4763">
                    <a:solidFill>
                      <a:srgbClr val="000000"/>
                    </a:solidFill>
                    <a:round/>
                    <a:headEnd/>
                    <a:tailEnd/>
                  </a:ln>
                </p:spPr>
                <p:txBody>
                  <a:bodyPr/>
                  <a:lstStyle/>
                  <a:p>
                    <a:endParaRPr lang="en-US"/>
                  </a:p>
                </p:txBody>
              </p:sp>
              <p:sp>
                <p:nvSpPr>
                  <p:cNvPr id="5211" name="Line 51"/>
                  <p:cNvSpPr>
                    <a:spLocks noChangeShapeType="1"/>
                  </p:cNvSpPr>
                  <p:nvPr/>
                </p:nvSpPr>
                <p:spPr bwMode="auto">
                  <a:xfrm>
                    <a:off x="4903" y="913"/>
                    <a:ext cx="19" cy="3"/>
                  </a:xfrm>
                  <a:prstGeom prst="line">
                    <a:avLst/>
                  </a:prstGeom>
                  <a:noFill/>
                  <a:ln w="4763">
                    <a:solidFill>
                      <a:srgbClr val="000000"/>
                    </a:solidFill>
                    <a:round/>
                    <a:headEnd/>
                    <a:tailEnd/>
                  </a:ln>
                </p:spPr>
                <p:txBody>
                  <a:bodyPr/>
                  <a:lstStyle/>
                  <a:p>
                    <a:endParaRPr lang="en-US"/>
                  </a:p>
                </p:txBody>
              </p:sp>
              <p:sp>
                <p:nvSpPr>
                  <p:cNvPr id="5212" name="Line 52"/>
                  <p:cNvSpPr>
                    <a:spLocks noChangeShapeType="1"/>
                  </p:cNvSpPr>
                  <p:nvPr/>
                </p:nvSpPr>
                <p:spPr bwMode="auto">
                  <a:xfrm flipV="1">
                    <a:off x="5002" y="909"/>
                    <a:ext cx="21" cy="7"/>
                  </a:xfrm>
                  <a:prstGeom prst="line">
                    <a:avLst/>
                  </a:prstGeom>
                  <a:noFill/>
                  <a:ln w="4763">
                    <a:solidFill>
                      <a:srgbClr val="000000"/>
                    </a:solidFill>
                    <a:round/>
                    <a:headEnd/>
                    <a:tailEnd/>
                  </a:ln>
                </p:spPr>
                <p:txBody>
                  <a:bodyPr/>
                  <a:lstStyle/>
                  <a:p>
                    <a:endParaRPr lang="en-US"/>
                  </a:p>
                </p:txBody>
              </p:sp>
            </p:grpSp>
            <p:sp>
              <p:nvSpPr>
                <p:cNvPr id="5208" name="Freeform 54"/>
                <p:cNvSpPr>
                  <a:spLocks/>
                </p:cNvSpPr>
                <p:nvPr/>
              </p:nvSpPr>
              <p:spPr bwMode="auto">
                <a:xfrm>
                  <a:off x="4958" y="990"/>
                  <a:ext cx="7" cy="1"/>
                </a:xfrm>
                <a:custGeom>
                  <a:avLst/>
                  <a:gdLst>
                    <a:gd name="T0" fmla="*/ 0 w 27"/>
                    <a:gd name="T1" fmla="*/ 2 h 3"/>
                    <a:gd name="T2" fmla="*/ 11 w 27"/>
                    <a:gd name="T3" fmla="*/ 0 h 3"/>
                    <a:gd name="T4" fmla="*/ 20 w 27"/>
                    <a:gd name="T5" fmla="*/ 2 h 3"/>
                    <a:gd name="T6" fmla="*/ 27 w 27"/>
                    <a:gd name="T7" fmla="*/ 3 h 3"/>
                    <a:gd name="T8" fmla="*/ 0 60000 65536"/>
                    <a:gd name="T9" fmla="*/ 0 60000 65536"/>
                    <a:gd name="T10" fmla="*/ 0 60000 65536"/>
                    <a:gd name="T11" fmla="*/ 0 60000 65536"/>
                    <a:gd name="T12" fmla="*/ 0 w 27"/>
                    <a:gd name="T13" fmla="*/ 0 h 3"/>
                    <a:gd name="T14" fmla="*/ 27 w 27"/>
                    <a:gd name="T15" fmla="*/ 3 h 3"/>
                  </a:gdLst>
                  <a:ahLst/>
                  <a:cxnLst>
                    <a:cxn ang="T8">
                      <a:pos x="T0" y="T1"/>
                    </a:cxn>
                    <a:cxn ang="T9">
                      <a:pos x="T2" y="T3"/>
                    </a:cxn>
                    <a:cxn ang="T10">
                      <a:pos x="T4" y="T5"/>
                    </a:cxn>
                    <a:cxn ang="T11">
                      <a:pos x="T6" y="T7"/>
                    </a:cxn>
                  </a:cxnLst>
                  <a:rect l="T12" t="T13" r="T14" b="T15"/>
                  <a:pathLst>
                    <a:path w="27" h="3">
                      <a:moveTo>
                        <a:pt x="0" y="2"/>
                      </a:moveTo>
                      <a:lnTo>
                        <a:pt x="11" y="0"/>
                      </a:lnTo>
                      <a:lnTo>
                        <a:pt x="20" y="2"/>
                      </a:lnTo>
                      <a:lnTo>
                        <a:pt x="27" y="3"/>
                      </a:lnTo>
                    </a:path>
                  </a:pathLst>
                </a:custGeom>
                <a:noFill/>
                <a:ln w="4763">
                  <a:solidFill>
                    <a:srgbClr val="000000"/>
                  </a:solidFill>
                  <a:prstDash val="solid"/>
                  <a:round/>
                  <a:headEnd/>
                  <a:tailEnd/>
                </a:ln>
              </p:spPr>
              <p:txBody>
                <a:bodyPr/>
                <a:lstStyle/>
                <a:p>
                  <a:endParaRPr lang="en-US"/>
                </a:p>
              </p:txBody>
            </p:sp>
          </p:grpSp>
          <p:grpSp>
            <p:nvGrpSpPr>
              <p:cNvPr id="5153" name="Group 91"/>
              <p:cNvGrpSpPr>
                <a:grpSpLocks/>
              </p:cNvGrpSpPr>
              <p:nvPr/>
            </p:nvGrpSpPr>
            <p:grpSpPr bwMode="auto">
              <a:xfrm>
                <a:off x="4576" y="1003"/>
                <a:ext cx="773" cy="838"/>
                <a:chOff x="4576" y="1003"/>
                <a:chExt cx="773" cy="838"/>
              </a:xfrm>
            </p:grpSpPr>
            <p:sp>
              <p:nvSpPr>
                <p:cNvPr id="5164" name="Freeform 56"/>
                <p:cNvSpPr>
                  <a:spLocks/>
                </p:cNvSpPr>
                <p:nvPr/>
              </p:nvSpPr>
              <p:spPr bwMode="auto">
                <a:xfrm>
                  <a:off x="4863" y="1008"/>
                  <a:ext cx="202" cy="325"/>
                </a:xfrm>
                <a:custGeom>
                  <a:avLst/>
                  <a:gdLst>
                    <a:gd name="T0" fmla="*/ 241 w 809"/>
                    <a:gd name="T1" fmla="*/ 19 h 1296"/>
                    <a:gd name="T2" fmla="*/ 163 w 809"/>
                    <a:gd name="T3" fmla="*/ 11 h 1296"/>
                    <a:gd name="T4" fmla="*/ 109 w 809"/>
                    <a:gd name="T5" fmla="*/ 4 h 1296"/>
                    <a:gd name="T6" fmla="*/ 78 w 809"/>
                    <a:gd name="T7" fmla="*/ 0 h 1296"/>
                    <a:gd name="T8" fmla="*/ 78 w 809"/>
                    <a:gd name="T9" fmla="*/ 201 h 1296"/>
                    <a:gd name="T10" fmla="*/ 66 w 809"/>
                    <a:gd name="T11" fmla="*/ 379 h 1296"/>
                    <a:gd name="T12" fmla="*/ 59 w 809"/>
                    <a:gd name="T13" fmla="*/ 422 h 1296"/>
                    <a:gd name="T14" fmla="*/ 35 w 809"/>
                    <a:gd name="T15" fmla="*/ 681 h 1296"/>
                    <a:gd name="T16" fmla="*/ 0 w 809"/>
                    <a:gd name="T17" fmla="*/ 834 h 1296"/>
                    <a:gd name="T18" fmla="*/ 28 w 809"/>
                    <a:gd name="T19" fmla="*/ 1090 h 1296"/>
                    <a:gd name="T20" fmla="*/ 51 w 809"/>
                    <a:gd name="T21" fmla="*/ 1227 h 1296"/>
                    <a:gd name="T22" fmla="*/ 78 w 809"/>
                    <a:gd name="T23" fmla="*/ 1261 h 1296"/>
                    <a:gd name="T24" fmla="*/ 132 w 809"/>
                    <a:gd name="T25" fmla="*/ 1265 h 1296"/>
                    <a:gd name="T26" fmla="*/ 283 w 809"/>
                    <a:gd name="T27" fmla="*/ 1281 h 1296"/>
                    <a:gd name="T28" fmla="*/ 396 w 809"/>
                    <a:gd name="T29" fmla="*/ 1296 h 1296"/>
                    <a:gd name="T30" fmla="*/ 561 w 809"/>
                    <a:gd name="T31" fmla="*/ 1281 h 1296"/>
                    <a:gd name="T32" fmla="*/ 724 w 809"/>
                    <a:gd name="T33" fmla="*/ 1258 h 1296"/>
                    <a:gd name="T34" fmla="*/ 786 w 809"/>
                    <a:gd name="T35" fmla="*/ 1242 h 1296"/>
                    <a:gd name="T36" fmla="*/ 782 w 809"/>
                    <a:gd name="T37" fmla="*/ 1090 h 1296"/>
                    <a:gd name="T38" fmla="*/ 809 w 809"/>
                    <a:gd name="T39" fmla="*/ 811 h 1296"/>
                    <a:gd name="T40" fmla="*/ 802 w 809"/>
                    <a:gd name="T41" fmla="*/ 604 h 1296"/>
                    <a:gd name="T42" fmla="*/ 771 w 809"/>
                    <a:gd name="T43" fmla="*/ 387 h 1296"/>
                    <a:gd name="T44" fmla="*/ 716 w 809"/>
                    <a:gd name="T45" fmla="*/ 189 h 1296"/>
                    <a:gd name="T46" fmla="*/ 697 w 809"/>
                    <a:gd name="T47" fmla="*/ 42 h 1296"/>
                    <a:gd name="T48" fmla="*/ 689 w 809"/>
                    <a:gd name="T49" fmla="*/ 4 h 1296"/>
                    <a:gd name="T50" fmla="*/ 557 w 809"/>
                    <a:gd name="T51" fmla="*/ 38 h 1296"/>
                    <a:gd name="T52" fmla="*/ 484 w 809"/>
                    <a:gd name="T53" fmla="*/ 69 h 1296"/>
                    <a:gd name="T54" fmla="*/ 373 w 809"/>
                    <a:gd name="T55" fmla="*/ 77 h 1296"/>
                    <a:gd name="T56" fmla="*/ 287 w 809"/>
                    <a:gd name="T57" fmla="*/ 62 h 1296"/>
                    <a:gd name="T58" fmla="*/ 241 w 809"/>
                    <a:gd name="T59" fmla="*/ 19 h 129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09"/>
                    <a:gd name="T91" fmla="*/ 0 h 1296"/>
                    <a:gd name="T92" fmla="*/ 809 w 809"/>
                    <a:gd name="T93" fmla="*/ 1296 h 129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09" h="1296">
                      <a:moveTo>
                        <a:pt x="241" y="19"/>
                      </a:moveTo>
                      <a:lnTo>
                        <a:pt x="163" y="11"/>
                      </a:lnTo>
                      <a:lnTo>
                        <a:pt x="109" y="4"/>
                      </a:lnTo>
                      <a:lnTo>
                        <a:pt x="78" y="0"/>
                      </a:lnTo>
                      <a:lnTo>
                        <a:pt x="78" y="201"/>
                      </a:lnTo>
                      <a:lnTo>
                        <a:pt x="66" y="379"/>
                      </a:lnTo>
                      <a:lnTo>
                        <a:pt x="59" y="422"/>
                      </a:lnTo>
                      <a:lnTo>
                        <a:pt x="35" y="681"/>
                      </a:lnTo>
                      <a:lnTo>
                        <a:pt x="0" y="834"/>
                      </a:lnTo>
                      <a:lnTo>
                        <a:pt x="28" y="1090"/>
                      </a:lnTo>
                      <a:lnTo>
                        <a:pt x="51" y="1227"/>
                      </a:lnTo>
                      <a:lnTo>
                        <a:pt x="78" y="1261"/>
                      </a:lnTo>
                      <a:lnTo>
                        <a:pt x="132" y="1265"/>
                      </a:lnTo>
                      <a:lnTo>
                        <a:pt x="283" y="1281"/>
                      </a:lnTo>
                      <a:lnTo>
                        <a:pt x="396" y="1296"/>
                      </a:lnTo>
                      <a:lnTo>
                        <a:pt x="561" y="1281"/>
                      </a:lnTo>
                      <a:lnTo>
                        <a:pt x="724" y="1258"/>
                      </a:lnTo>
                      <a:lnTo>
                        <a:pt x="786" y="1242"/>
                      </a:lnTo>
                      <a:lnTo>
                        <a:pt x="782" y="1090"/>
                      </a:lnTo>
                      <a:lnTo>
                        <a:pt x="809" y="811"/>
                      </a:lnTo>
                      <a:lnTo>
                        <a:pt x="802" y="604"/>
                      </a:lnTo>
                      <a:lnTo>
                        <a:pt x="771" y="387"/>
                      </a:lnTo>
                      <a:lnTo>
                        <a:pt x="716" y="189"/>
                      </a:lnTo>
                      <a:lnTo>
                        <a:pt x="697" y="42"/>
                      </a:lnTo>
                      <a:lnTo>
                        <a:pt x="689" y="4"/>
                      </a:lnTo>
                      <a:lnTo>
                        <a:pt x="557" y="38"/>
                      </a:lnTo>
                      <a:lnTo>
                        <a:pt x="484" y="69"/>
                      </a:lnTo>
                      <a:lnTo>
                        <a:pt x="373" y="77"/>
                      </a:lnTo>
                      <a:lnTo>
                        <a:pt x="287" y="62"/>
                      </a:lnTo>
                      <a:lnTo>
                        <a:pt x="241" y="19"/>
                      </a:lnTo>
                      <a:close/>
                    </a:path>
                  </a:pathLst>
                </a:custGeom>
                <a:solidFill>
                  <a:srgbClr val="E0E0E0"/>
                </a:solidFill>
                <a:ln w="4763">
                  <a:solidFill>
                    <a:srgbClr val="000000"/>
                  </a:solidFill>
                  <a:prstDash val="solid"/>
                  <a:round/>
                  <a:headEnd/>
                  <a:tailEnd/>
                </a:ln>
              </p:spPr>
              <p:txBody>
                <a:bodyPr/>
                <a:lstStyle/>
                <a:p>
                  <a:endParaRPr lang="en-US"/>
                </a:p>
              </p:txBody>
            </p:sp>
            <p:grpSp>
              <p:nvGrpSpPr>
                <p:cNvPr id="5165" name="Group 61"/>
                <p:cNvGrpSpPr>
                  <a:grpSpLocks/>
                </p:cNvGrpSpPr>
                <p:nvPr/>
              </p:nvGrpSpPr>
              <p:grpSpPr bwMode="auto">
                <a:xfrm>
                  <a:off x="4787" y="1321"/>
                  <a:ext cx="391" cy="520"/>
                  <a:chOff x="4787" y="1321"/>
                  <a:chExt cx="391" cy="520"/>
                </a:xfrm>
              </p:grpSpPr>
              <p:grpSp>
                <p:nvGrpSpPr>
                  <p:cNvPr id="5195" name="Group 59"/>
                  <p:cNvGrpSpPr>
                    <a:grpSpLocks/>
                  </p:cNvGrpSpPr>
                  <p:nvPr/>
                </p:nvGrpSpPr>
                <p:grpSpPr bwMode="auto">
                  <a:xfrm>
                    <a:off x="4787" y="1738"/>
                    <a:ext cx="391" cy="103"/>
                    <a:chOff x="4787" y="1738"/>
                    <a:chExt cx="391" cy="103"/>
                  </a:xfrm>
                </p:grpSpPr>
                <p:sp>
                  <p:nvSpPr>
                    <p:cNvPr id="5197" name="Freeform 57"/>
                    <p:cNvSpPr>
                      <a:spLocks/>
                    </p:cNvSpPr>
                    <p:nvPr/>
                  </p:nvSpPr>
                  <p:spPr bwMode="auto">
                    <a:xfrm>
                      <a:off x="5038" y="1756"/>
                      <a:ext cx="140" cy="85"/>
                    </a:xfrm>
                    <a:custGeom>
                      <a:avLst/>
                      <a:gdLst>
                        <a:gd name="T0" fmla="*/ 1 w 559"/>
                        <a:gd name="T1" fmla="*/ 43 h 342"/>
                        <a:gd name="T2" fmla="*/ 0 w 559"/>
                        <a:gd name="T3" fmla="*/ 85 h 342"/>
                        <a:gd name="T4" fmla="*/ 1 w 559"/>
                        <a:gd name="T5" fmla="*/ 115 h 342"/>
                        <a:gd name="T6" fmla="*/ 3 w 559"/>
                        <a:gd name="T7" fmla="*/ 142 h 342"/>
                        <a:gd name="T8" fmla="*/ 16 w 559"/>
                        <a:gd name="T9" fmla="*/ 181 h 342"/>
                        <a:gd name="T10" fmla="*/ 76 w 559"/>
                        <a:gd name="T11" fmla="*/ 213 h 342"/>
                        <a:gd name="T12" fmla="*/ 107 w 559"/>
                        <a:gd name="T13" fmla="*/ 212 h 342"/>
                        <a:gd name="T14" fmla="*/ 113 w 559"/>
                        <a:gd name="T15" fmla="*/ 239 h 342"/>
                        <a:gd name="T16" fmla="*/ 131 w 559"/>
                        <a:gd name="T17" fmla="*/ 254 h 342"/>
                        <a:gd name="T18" fmla="*/ 158 w 559"/>
                        <a:gd name="T19" fmla="*/ 272 h 342"/>
                        <a:gd name="T20" fmla="*/ 200 w 559"/>
                        <a:gd name="T21" fmla="*/ 292 h 342"/>
                        <a:gd name="T22" fmla="*/ 312 w 559"/>
                        <a:gd name="T23" fmla="*/ 323 h 342"/>
                        <a:gd name="T24" fmla="*/ 366 w 559"/>
                        <a:gd name="T25" fmla="*/ 336 h 342"/>
                        <a:gd name="T26" fmla="*/ 428 w 559"/>
                        <a:gd name="T27" fmla="*/ 342 h 342"/>
                        <a:gd name="T28" fmla="*/ 484 w 559"/>
                        <a:gd name="T29" fmla="*/ 338 h 342"/>
                        <a:gd name="T30" fmla="*/ 514 w 559"/>
                        <a:gd name="T31" fmla="*/ 329 h 342"/>
                        <a:gd name="T32" fmla="*/ 540 w 559"/>
                        <a:gd name="T33" fmla="*/ 311 h 342"/>
                        <a:gd name="T34" fmla="*/ 554 w 559"/>
                        <a:gd name="T35" fmla="*/ 288 h 342"/>
                        <a:gd name="T36" fmla="*/ 558 w 559"/>
                        <a:gd name="T37" fmla="*/ 261 h 342"/>
                        <a:gd name="T38" fmla="*/ 559 w 559"/>
                        <a:gd name="T39" fmla="*/ 247 h 342"/>
                        <a:gd name="T40" fmla="*/ 558 w 559"/>
                        <a:gd name="T41" fmla="*/ 232 h 342"/>
                        <a:gd name="T42" fmla="*/ 553 w 559"/>
                        <a:gd name="T43" fmla="*/ 221 h 342"/>
                        <a:gd name="T44" fmla="*/ 543 w 559"/>
                        <a:gd name="T45" fmla="*/ 208 h 342"/>
                        <a:gd name="T46" fmla="*/ 478 w 559"/>
                        <a:gd name="T47" fmla="*/ 173 h 342"/>
                        <a:gd name="T48" fmla="*/ 419 w 559"/>
                        <a:gd name="T49" fmla="*/ 134 h 342"/>
                        <a:gd name="T50" fmla="*/ 301 w 559"/>
                        <a:gd name="T51" fmla="*/ 0 h 342"/>
                        <a:gd name="T52" fmla="*/ 1 w 559"/>
                        <a:gd name="T53" fmla="*/ 43 h 3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59"/>
                        <a:gd name="T82" fmla="*/ 0 h 342"/>
                        <a:gd name="T83" fmla="*/ 559 w 559"/>
                        <a:gd name="T84" fmla="*/ 342 h 3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59" h="342">
                          <a:moveTo>
                            <a:pt x="1" y="43"/>
                          </a:moveTo>
                          <a:lnTo>
                            <a:pt x="0" y="85"/>
                          </a:lnTo>
                          <a:lnTo>
                            <a:pt x="1" y="115"/>
                          </a:lnTo>
                          <a:lnTo>
                            <a:pt x="3" y="142"/>
                          </a:lnTo>
                          <a:lnTo>
                            <a:pt x="16" y="181"/>
                          </a:lnTo>
                          <a:lnTo>
                            <a:pt x="76" y="213"/>
                          </a:lnTo>
                          <a:lnTo>
                            <a:pt x="107" y="212"/>
                          </a:lnTo>
                          <a:lnTo>
                            <a:pt x="113" y="239"/>
                          </a:lnTo>
                          <a:lnTo>
                            <a:pt x="131" y="254"/>
                          </a:lnTo>
                          <a:lnTo>
                            <a:pt x="158" y="272"/>
                          </a:lnTo>
                          <a:lnTo>
                            <a:pt x="200" y="292"/>
                          </a:lnTo>
                          <a:lnTo>
                            <a:pt x="312" y="323"/>
                          </a:lnTo>
                          <a:lnTo>
                            <a:pt x="366" y="336"/>
                          </a:lnTo>
                          <a:lnTo>
                            <a:pt x="428" y="342"/>
                          </a:lnTo>
                          <a:lnTo>
                            <a:pt x="484" y="338"/>
                          </a:lnTo>
                          <a:lnTo>
                            <a:pt x="514" y="329"/>
                          </a:lnTo>
                          <a:lnTo>
                            <a:pt x="540" y="311"/>
                          </a:lnTo>
                          <a:lnTo>
                            <a:pt x="554" y="288"/>
                          </a:lnTo>
                          <a:lnTo>
                            <a:pt x="558" y="261"/>
                          </a:lnTo>
                          <a:lnTo>
                            <a:pt x="559" y="247"/>
                          </a:lnTo>
                          <a:lnTo>
                            <a:pt x="558" y="232"/>
                          </a:lnTo>
                          <a:lnTo>
                            <a:pt x="553" y="221"/>
                          </a:lnTo>
                          <a:lnTo>
                            <a:pt x="543" y="208"/>
                          </a:lnTo>
                          <a:lnTo>
                            <a:pt x="478" y="173"/>
                          </a:lnTo>
                          <a:lnTo>
                            <a:pt x="419" y="134"/>
                          </a:lnTo>
                          <a:lnTo>
                            <a:pt x="301" y="0"/>
                          </a:lnTo>
                          <a:lnTo>
                            <a:pt x="1" y="43"/>
                          </a:lnTo>
                          <a:close/>
                        </a:path>
                      </a:pathLst>
                    </a:custGeom>
                    <a:solidFill>
                      <a:srgbClr val="000000"/>
                    </a:solidFill>
                    <a:ln w="9525">
                      <a:noFill/>
                      <a:round/>
                      <a:headEnd/>
                      <a:tailEnd/>
                    </a:ln>
                  </p:spPr>
                  <p:txBody>
                    <a:bodyPr/>
                    <a:lstStyle/>
                    <a:p>
                      <a:endParaRPr lang="en-US"/>
                    </a:p>
                  </p:txBody>
                </p:sp>
                <p:sp>
                  <p:nvSpPr>
                    <p:cNvPr id="5198" name="Freeform 58"/>
                    <p:cNvSpPr>
                      <a:spLocks/>
                    </p:cNvSpPr>
                    <p:nvPr/>
                  </p:nvSpPr>
                  <p:spPr bwMode="auto">
                    <a:xfrm>
                      <a:off x="4787" y="1738"/>
                      <a:ext cx="163" cy="68"/>
                    </a:xfrm>
                    <a:custGeom>
                      <a:avLst/>
                      <a:gdLst>
                        <a:gd name="T0" fmla="*/ 323 w 655"/>
                        <a:gd name="T1" fmla="*/ 0 h 271"/>
                        <a:gd name="T2" fmla="*/ 259 w 655"/>
                        <a:gd name="T3" fmla="*/ 54 h 271"/>
                        <a:gd name="T4" fmla="*/ 189 w 655"/>
                        <a:gd name="T5" fmla="*/ 94 h 271"/>
                        <a:gd name="T6" fmla="*/ 129 w 655"/>
                        <a:gd name="T7" fmla="*/ 114 h 271"/>
                        <a:gd name="T8" fmla="*/ 29 w 655"/>
                        <a:gd name="T9" fmla="*/ 146 h 271"/>
                        <a:gd name="T10" fmla="*/ 13 w 655"/>
                        <a:gd name="T11" fmla="*/ 155 h 271"/>
                        <a:gd name="T12" fmla="*/ 5 w 655"/>
                        <a:gd name="T13" fmla="*/ 165 h 271"/>
                        <a:gd name="T14" fmla="*/ 0 w 655"/>
                        <a:gd name="T15" fmla="*/ 181 h 271"/>
                        <a:gd name="T16" fmla="*/ 0 w 655"/>
                        <a:gd name="T17" fmla="*/ 199 h 271"/>
                        <a:gd name="T18" fmla="*/ 5 w 655"/>
                        <a:gd name="T19" fmla="*/ 225 h 271"/>
                        <a:gd name="T20" fmla="*/ 12 w 655"/>
                        <a:gd name="T21" fmla="*/ 244 h 271"/>
                        <a:gd name="T22" fmla="*/ 29 w 655"/>
                        <a:gd name="T23" fmla="*/ 254 h 271"/>
                        <a:gd name="T24" fmla="*/ 56 w 655"/>
                        <a:gd name="T25" fmla="*/ 263 h 271"/>
                        <a:gd name="T26" fmla="*/ 98 w 655"/>
                        <a:gd name="T27" fmla="*/ 267 h 271"/>
                        <a:gd name="T28" fmla="*/ 148 w 655"/>
                        <a:gd name="T29" fmla="*/ 270 h 271"/>
                        <a:gd name="T30" fmla="*/ 190 w 655"/>
                        <a:gd name="T31" fmla="*/ 271 h 271"/>
                        <a:gd name="T32" fmla="*/ 239 w 655"/>
                        <a:gd name="T33" fmla="*/ 270 h 271"/>
                        <a:gd name="T34" fmla="*/ 282 w 655"/>
                        <a:gd name="T35" fmla="*/ 267 h 271"/>
                        <a:gd name="T36" fmla="*/ 325 w 655"/>
                        <a:gd name="T37" fmla="*/ 259 h 271"/>
                        <a:gd name="T38" fmla="*/ 359 w 655"/>
                        <a:gd name="T39" fmla="*/ 249 h 271"/>
                        <a:gd name="T40" fmla="*/ 392 w 655"/>
                        <a:gd name="T41" fmla="*/ 236 h 271"/>
                        <a:gd name="T42" fmla="*/ 436 w 655"/>
                        <a:gd name="T43" fmla="*/ 226 h 271"/>
                        <a:gd name="T44" fmla="*/ 440 w 655"/>
                        <a:gd name="T45" fmla="*/ 241 h 271"/>
                        <a:gd name="T46" fmla="*/ 471 w 655"/>
                        <a:gd name="T47" fmla="*/ 243 h 271"/>
                        <a:gd name="T48" fmla="*/ 500 w 655"/>
                        <a:gd name="T49" fmla="*/ 243 h 271"/>
                        <a:gd name="T50" fmla="*/ 531 w 655"/>
                        <a:gd name="T51" fmla="*/ 241 h 271"/>
                        <a:gd name="T52" fmla="*/ 557 w 655"/>
                        <a:gd name="T53" fmla="*/ 239 h 271"/>
                        <a:gd name="T54" fmla="*/ 582 w 655"/>
                        <a:gd name="T55" fmla="*/ 235 h 271"/>
                        <a:gd name="T56" fmla="*/ 614 w 655"/>
                        <a:gd name="T57" fmla="*/ 226 h 271"/>
                        <a:gd name="T58" fmla="*/ 642 w 655"/>
                        <a:gd name="T59" fmla="*/ 213 h 271"/>
                        <a:gd name="T60" fmla="*/ 642 w 655"/>
                        <a:gd name="T61" fmla="*/ 181 h 271"/>
                        <a:gd name="T62" fmla="*/ 648 w 655"/>
                        <a:gd name="T63" fmla="*/ 169 h 271"/>
                        <a:gd name="T64" fmla="*/ 650 w 655"/>
                        <a:gd name="T65" fmla="*/ 159 h 271"/>
                        <a:gd name="T66" fmla="*/ 651 w 655"/>
                        <a:gd name="T67" fmla="*/ 96 h 271"/>
                        <a:gd name="T68" fmla="*/ 655 w 655"/>
                        <a:gd name="T69" fmla="*/ 32 h 271"/>
                        <a:gd name="T70" fmla="*/ 508 w 655"/>
                        <a:gd name="T71" fmla="*/ 47 h 271"/>
                        <a:gd name="T72" fmla="*/ 323 w 655"/>
                        <a:gd name="T73" fmla="*/ 0 h 27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55"/>
                        <a:gd name="T112" fmla="*/ 0 h 271"/>
                        <a:gd name="T113" fmla="*/ 655 w 655"/>
                        <a:gd name="T114" fmla="*/ 271 h 27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55" h="271">
                          <a:moveTo>
                            <a:pt x="323" y="0"/>
                          </a:moveTo>
                          <a:lnTo>
                            <a:pt x="259" y="54"/>
                          </a:lnTo>
                          <a:lnTo>
                            <a:pt x="189" y="94"/>
                          </a:lnTo>
                          <a:lnTo>
                            <a:pt x="129" y="114"/>
                          </a:lnTo>
                          <a:lnTo>
                            <a:pt x="29" y="146"/>
                          </a:lnTo>
                          <a:lnTo>
                            <a:pt x="13" y="155"/>
                          </a:lnTo>
                          <a:lnTo>
                            <a:pt x="5" y="165"/>
                          </a:lnTo>
                          <a:lnTo>
                            <a:pt x="0" y="181"/>
                          </a:lnTo>
                          <a:lnTo>
                            <a:pt x="0" y="199"/>
                          </a:lnTo>
                          <a:lnTo>
                            <a:pt x="5" y="225"/>
                          </a:lnTo>
                          <a:lnTo>
                            <a:pt x="12" y="244"/>
                          </a:lnTo>
                          <a:lnTo>
                            <a:pt x="29" y="254"/>
                          </a:lnTo>
                          <a:lnTo>
                            <a:pt x="56" y="263"/>
                          </a:lnTo>
                          <a:lnTo>
                            <a:pt x="98" y="267"/>
                          </a:lnTo>
                          <a:lnTo>
                            <a:pt x="148" y="270"/>
                          </a:lnTo>
                          <a:lnTo>
                            <a:pt x="190" y="271"/>
                          </a:lnTo>
                          <a:lnTo>
                            <a:pt x="239" y="270"/>
                          </a:lnTo>
                          <a:lnTo>
                            <a:pt x="282" y="267"/>
                          </a:lnTo>
                          <a:lnTo>
                            <a:pt x="325" y="259"/>
                          </a:lnTo>
                          <a:lnTo>
                            <a:pt x="359" y="249"/>
                          </a:lnTo>
                          <a:lnTo>
                            <a:pt x="392" y="236"/>
                          </a:lnTo>
                          <a:lnTo>
                            <a:pt x="436" y="226"/>
                          </a:lnTo>
                          <a:lnTo>
                            <a:pt x="440" y="241"/>
                          </a:lnTo>
                          <a:lnTo>
                            <a:pt x="471" y="243"/>
                          </a:lnTo>
                          <a:lnTo>
                            <a:pt x="500" y="243"/>
                          </a:lnTo>
                          <a:lnTo>
                            <a:pt x="531" y="241"/>
                          </a:lnTo>
                          <a:lnTo>
                            <a:pt x="557" y="239"/>
                          </a:lnTo>
                          <a:lnTo>
                            <a:pt x="582" y="235"/>
                          </a:lnTo>
                          <a:lnTo>
                            <a:pt x="614" y="226"/>
                          </a:lnTo>
                          <a:lnTo>
                            <a:pt x="642" y="213"/>
                          </a:lnTo>
                          <a:lnTo>
                            <a:pt x="642" y="181"/>
                          </a:lnTo>
                          <a:lnTo>
                            <a:pt x="648" y="169"/>
                          </a:lnTo>
                          <a:lnTo>
                            <a:pt x="650" y="159"/>
                          </a:lnTo>
                          <a:lnTo>
                            <a:pt x="651" y="96"/>
                          </a:lnTo>
                          <a:lnTo>
                            <a:pt x="655" y="32"/>
                          </a:lnTo>
                          <a:lnTo>
                            <a:pt x="508" y="47"/>
                          </a:lnTo>
                          <a:lnTo>
                            <a:pt x="323" y="0"/>
                          </a:lnTo>
                          <a:close/>
                        </a:path>
                      </a:pathLst>
                    </a:custGeom>
                    <a:solidFill>
                      <a:srgbClr val="000000"/>
                    </a:solidFill>
                    <a:ln w="9525">
                      <a:noFill/>
                      <a:round/>
                      <a:headEnd/>
                      <a:tailEnd/>
                    </a:ln>
                  </p:spPr>
                  <p:txBody>
                    <a:bodyPr/>
                    <a:lstStyle/>
                    <a:p>
                      <a:endParaRPr lang="en-US"/>
                    </a:p>
                  </p:txBody>
                </p:sp>
              </p:grpSp>
              <p:sp>
                <p:nvSpPr>
                  <p:cNvPr id="5196" name="Freeform 60"/>
                  <p:cNvSpPr>
                    <a:spLocks/>
                  </p:cNvSpPr>
                  <p:nvPr/>
                </p:nvSpPr>
                <p:spPr bwMode="auto">
                  <a:xfrm>
                    <a:off x="4867" y="1321"/>
                    <a:ext cx="256" cy="455"/>
                  </a:xfrm>
                  <a:custGeom>
                    <a:avLst/>
                    <a:gdLst>
                      <a:gd name="T0" fmla="*/ 39 w 1022"/>
                      <a:gd name="T1" fmla="*/ 0 h 1822"/>
                      <a:gd name="T2" fmla="*/ 8 w 1022"/>
                      <a:gd name="T3" fmla="*/ 548 h 1822"/>
                      <a:gd name="T4" fmla="*/ 16 w 1022"/>
                      <a:gd name="T5" fmla="*/ 988 h 1822"/>
                      <a:gd name="T6" fmla="*/ 31 w 1022"/>
                      <a:gd name="T7" fmla="*/ 1158 h 1822"/>
                      <a:gd name="T8" fmla="*/ 55 w 1022"/>
                      <a:gd name="T9" fmla="*/ 1344 h 1822"/>
                      <a:gd name="T10" fmla="*/ 39 w 1022"/>
                      <a:gd name="T11" fmla="*/ 1522 h 1822"/>
                      <a:gd name="T12" fmla="*/ 0 w 1022"/>
                      <a:gd name="T13" fmla="*/ 1669 h 1822"/>
                      <a:gd name="T14" fmla="*/ 21 w 1022"/>
                      <a:gd name="T15" fmla="*/ 1692 h 1822"/>
                      <a:gd name="T16" fmla="*/ 40 w 1022"/>
                      <a:gd name="T17" fmla="*/ 1708 h 1822"/>
                      <a:gd name="T18" fmla="*/ 71 w 1022"/>
                      <a:gd name="T19" fmla="*/ 1722 h 1822"/>
                      <a:gd name="T20" fmla="*/ 101 w 1022"/>
                      <a:gd name="T21" fmla="*/ 1735 h 1822"/>
                      <a:gd name="T22" fmla="*/ 139 w 1022"/>
                      <a:gd name="T23" fmla="*/ 1748 h 1822"/>
                      <a:gd name="T24" fmla="*/ 179 w 1022"/>
                      <a:gd name="T25" fmla="*/ 1757 h 1822"/>
                      <a:gd name="T26" fmla="*/ 208 w 1022"/>
                      <a:gd name="T27" fmla="*/ 1763 h 1822"/>
                      <a:gd name="T28" fmla="*/ 246 w 1022"/>
                      <a:gd name="T29" fmla="*/ 1768 h 1822"/>
                      <a:gd name="T30" fmla="*/ 292 w 1022"/>
                      <a:gd name="T31" fmla="*/ 1777 h 1822"/>
                      <a:gd name="T32" fmla="*/ 343 w 1022"/>
                      <a:gd name="T33" fmla="*/ 1789 h 1822"/>
                      <a:gd name="T34" fmla="*/ 362 w 1022"/>
                      <a:gd name="T35" fmla="*/ 1793 h 1822"/>
                      <a:gd name="T36" fmla="*/ 370 w 1022"/>
                      <a:gd name="T37" fmla="*/ 1769 h 1822"/>
                      <a:gd name="T38" fmla="*/ 384 w 1022"/>
                      <a:gd name="T39" fmla="*/ 1726 h 1822"/>
                      <a:gd name="T40" fmla="*/ 396 w 1022"/>
                      <a:gd name="T41" fmla="*/ 1692 h 1822"/>
                      <a:gd name="T42" fmla="*/ 406 w 1022"/>
                      <a:gd name="T43" fmla="*/ 1647 h 1822"/>
                      <a:gd name="T44" fmla="*/ 410 w 1022"/>
                      <a:gd name="T45" fmla="*/ 1321 h 1822"/>
                      <a:gd name="T46" fmla="*/ 410 w 1022"/>
                      <a:gd name="T47" fmla="*/ 1026 h 1822"/>
                      <a:gd name="T48" fmla="*/ 387 w 1022"/>
                      <a:gd name="T49" fmla="*/ 695 h 1822"/>
                      <a:gd name="T50" fmla="*/ 394 w 1022"/>
                      <a:gd name="T51" fmla="*/ 486 h 1822"/>
                      <a:gd name="T52" fmla="*/ 402 w 1022"/>
                      <a:gd name="T53" fmla="*/ 420 h 1822"/>
                      <a:gd name="T54" fmla="*/ 480 w 1022"/>
                      <a:gd name="T55" fmla="*/ 734 h 1822"/>
                      <a:gd name="T56" fmla="*/ 549 w 1022"/>
                      <a:gd name="T57" fmla="*/ 1073 h 1822"/>
                      <a:gd name="T58" fmla="*/ 596 w 1022"/>
                      <a:gd name="T59" fmla="*/ 1266 h 1822"/>
                      <a:gd name="T60" fmla="*/ 627 w 1022"/>
                      <a:gd name="T61" fmla="*/ 1607 h 1822"/>
                      <a:gd name="T62" fmla="*/ 671 w 1022"/>
                      <a:gd name="T63" fmla="*/ 1800 h 1822"/>
                      <a:gd name="T64" fmla="*/ 715 w 1022"/>
                      <a:gd name="T65" fmla="*/ 1803 h 1822"/>
                      <a:gd name="T66" fmla="*/ 759 w 1022"/>
                      <a:gd name="T67" fmla="*/ 1807 h 1822"/>
                      <a:gd name="T68" fmla="*/ 803 w 1022"/>
                      <a:gd name="T69" fmla="*/ 1813 h 1822"/>
                      <a:gd name="T70" fmla="*/ 861 w 1022"/>
                      <a:gd name="T71" fmla="*/ 1820 h 1822"/>
                      <a:gd name="T72" fmla="*/ 901 w 1022"/>
                      <a:gd name="T73" fmla="*/ 1822 h 1822"/>
                      <a:gd name="T74" fmla="*/ 941 w 1022"/>
                      <a:gd name="T75" fmla="*/ 1815 h 1822"/>
                      <a:gd name="T76" fmla="*/ 980 w 1022"/>
                      <a:gd name="T77" fmla="*/ 1799 h 1822"/>
                      <a:gd name="T78" fmla="*/ 994 w 1022"/>
                      <a:gd name="T79" fmla="*/ 1788 h 1822"/>
                      <a:gd name="T80" fmla="*/ 1009 w 1022"/>
                      <a:gd name="T81" fmla="*/ 1777 h 1822"/>
                      <a:gd name="T82" fmla="*/ 1022 w 1022"/>
                      <a:gd name="T83" fmla="*/ 1764 h 1822"/>
                      <a:gd name="T84" fmla="*/ 1000 w 1022"/>
                      <a:gd name="T85" fmla="*/ 1533 h 1822"/>
                      <a:gd name="T86" fmla="*/ 944 w 1022"/>
                      <a:gd name="T87" fmla="*/ 1213 h 1822"/>
                      <a:gd name="T88" fmla="*/ 912 w 1022"/>
                      <a:gd name="T89" fmla="*/ 967 h 1822"/>
                      <a:gd name="T90" fmla="*/ 805 w 1022"/>
                      <a:gd name="T91" fmla="*/ 410 h 1822"/>
                      <a:gd name="T92" fmla="*/ 759 w 1022"/>
                      <a:gd name="T93" fmla="*/ 0 h 1822"/>
                      <a:gd name="T94" fmla="*/ 573 w 1022"/>
                      <a:gd name="T95" fmla="*/ 33 h 1822"/>
                      <a:gd name="T96" fmla="*/ 397 w 1022"/>
                      <a:gd name="T97" fmla="*/ 43 h 1822"/>
                      <a:gd name="T98" fmla="*/ 192 w 1022"/>
                      <a:gd name="T99" fmla="*/ 33 h 1822"/>
                      <a:gd name="T100" fmla="*/ 39 w 1022"/>
                      <a:gd name="T101" fmla="*/ 0 h 182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22"/>
                      <a:gd name="T154" fmla="*/ 0 h 1822"/>
                      <a:gd name="T155" fmla="*/ 1022 w 1022"/>
                      <a:gd name="T156" fmla="*/ 1822 h 182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22" h="1822">
                        <a:moveTo>
                          <a:pt x="39" y="0"/>
                        </a:moveTo>
                        <a:lnTo>
                          <a:pt x="8" y="548"/>
                        </a:lnTo>
                        <a:lnTo>
                          <a:pt x="16" y="988"/>
                        </a:lnTo>
                        <a:lnTo>
                          <a:pt x="31" y="1158"/>
                        </a:lnTo>
                        <a:lnTo>
                          <a:pt x="55" y="1344"/>
                        </a:lnTo>
                        <a:lnTo>
                          <a:pt x="39" y="1522"/>
                        </a:lnTo>
                        <a:lnTo>
                          <a:pt x="0" y="1669"/>
                        </a:lnTo>
                        <a:lnTo>
                          <a:pt x="21" y="1692"/>
                        </a:lnTo>
                        <a:lnTo>
                          <a:pt x="40" y="1708"/>
                        </a:lnTo>
                        <a:lnTo>
                          <a:pt x="71" y="1722"/>
                        </a:lnTo>
                        <a:lnTo>
                          <a:pt x="101" y="1735"/>
                        </a:lnTo>
                        <a:lnTo>
                          <a:pt x="139" y="1748"/>
                        </a:lnTo>
                        <a:lnTo>
                          <a:pt x="179" y="1757"/>
                        </a:lnTo>
                        <a:lnTo>
                          <a:pt x="208" y="1763"/>
                        </a:lnTo>
                        <a:lnTo>
                          <a:pt x="246" y="1768"/>
                        </a:lnTo>
                        <a:lnTo>
                          <a:pt x="292" y="1777"/>
                        </a:lnTo>
                        <a:lnTo>
                          <a:pt x="343" y="1789"/>
                        </a:lnTo>
                        <a:lnTo>
                          <a:pt x="362" y="1793"/>
                        </a:lnTo>
                        <a:lnTo>
                          <a:pt x="370" y="1769"/>
                        </a:lnTo>
                        <a:lnTo>
                          <a:pt x="384" y="1726"/>
                        </a:lnTo>
                        <a:lnTo>
                          <a:pt x="396" y="1692"/>
                        </a:lnTo>
                        <a:lnTo>
                          <a:pt x="406" y="1647"/>
                        </a:lnTo>
                        <a:lnTo>
                          <a:pt x="410" y="1321"/>
                        </a:lnTo>
                        <a:lnTo>
                          <a:pt x="410" y="1026"/>
                        </a:lnTo>
                        <a:lnTo>
                          <a:pt x="387" y="695"/>
                        </a:lnTo>
                        <a:lnTo>
                          <a:pt x="394" y="486"/>
                        </a:lnTo>
                        <a:lnTo>
                          <a:pt x="402" y="420"/>
                        </a:lnTo>
                        <a:lnTo>
                          <a:pt x="480" y="734"/>
                        </a:lnTo>
                        <a:lnTo>
                          <a:pt x="549" y="1073"/>
                        </a:lnTo>
                        <a:lnTo>
                          <a:pt x="596" y="1266"/>
                        </a:lnTo>
                        <a:lnTo>
                          <a:pt x="627" y="1607"/>
                        </a:lnTo>
                        <a:lnTo>
                          <a:pt x="671" y="1800"/>
                        </a:lnTo>
                        <a:lnTo>
                          <a:pt x="715" y="1803"/>
                        </a:lnTo>
                        <a:lnTo>
                          <a:pt x="759" y="1807"/>
                        </a:lnTo>
                        <a:lnTo>
                          <a:pt x="803" y="1813"/>
                        </a:lnTo>
                        <a:lnTo>
                          <a:pt x="861" y="1820"/>
                        </a:lnTo>
                        <a:lnTo>
                          <a:pt x="901" y="1822"/>
                        </a:lnTo>
                        <a:lnTo>
                          <a:pt x="941" y="1815"/>
                        </a:lnTo>
                        <a:lnTo>
                          <a:pt x="980" y="1799"/>
                        </a:lnTo>
                        <a:lnTo>
                          <a:pt x="994" y="1788"/>
                        </a:lnTo>
                        <a:lnTo>
                          <a:pt x="1009" y="1777"/>
                        </a:lnTo>
                        <a:lnTo>
                          <a:pt x="1022" y="1764"/>
                        </a:lnTo>
                        <a:lnTo>
                          <a:pt x="1000" y="1533"/>
                        </a:lnTo>
                        <a:lnTo>
                          <a:pt x="944" y="1213"/>
                        </a:lnTo>
                        <a:lnTo>
                          <a:pt x="912" y="967"/>
                        </a:lnTo>
                        <a:lnTo>
                          <a:pt x="805" y="410"/>
                        </a:lnTo>
                        <a:lnTo>
                          <a:pt x="759" y="0"/>
                        </a:lnTo>
                        <a:lnTo>
                          <a:pt x="573" y="33"/>
                        </a:lnTo>
                        <a:lnTo>
                          <a:pt x="397" y="43"/>
                        </a:lnTo>
                        <a:lnTo>
                          <a:pt x="192" y="33"/>
                        </a:lnTo>
                        <a:lnTo>
                          <a:pt x="39" y="0"/>
                        </a:lnTo>
                        <a:close/>
                      </a:path>
                    </a:pathLst>
                  </a:custGeom>
                  <a:solidFill>
                    <a:srgbClr val="808080"/>
                  </a:solidFill>
                  <a:ln w="4763">
                    <a:solidFill>
                      <a:srgbClr val="000000"/>
                    </a:solidFill>
                    <a:prstDash val="solid"/>
                    <a:round/>
                    <a:headEnd/>
                    <a:tailEnd/>
                  </a:ln>
                </p:spPr>
                <p:txBody>
                  <a:bodyPr/>
                  <a:lstStyle/>
                  <a:p>
                    <a:endParaRPr lang="en-US"/>
                  </a:p>
                </p:txBody>
              </p:sp>
            </p:grpSp>
            <p:grpSp>
              <p:nvGrpSpPr>
                <p:cNvPr id="5166" name="Group 67"/>
                <p:cNvGrpSpPr>
                  <a:grpSpLocks/>
                </p:cNvGrpSpPr>
                <p:nvPr/>
              </p:nvGrpSpPr>
              <p:grpSpPr bwMode="auto">
                <a:xfrm>
                  <a:off x="4693" y="1003"/>
                  <a:ext cx="250" cy="388"/>
                  <a:chOff x="4693" y="1003"/>
                  <a:chExt cx="250" cy="388"/>
                </a:xfrm>
              </p:grpSpPr>
              <p:grpSp>
                <p:nvGrpSpPr>
                  <p:cNvPr id="5190" name="Group 64"/>
                  <p:cNvGrpSpPr>
                    <a:grpSpLocks/>
                  </p:cNvGrpSpPr>
                  <p:nvPr/>
                </p:nvGrpSpPr>
                <p:grpSpPr bwMode="auto">
                  <a:xfrm>
                    <a:off x="4693" y="1003"/>
                    <a:ext cx="250" cy="388"/>
                    <a:chOff x="4693" y="1003"/>
                    <a:chExt cx="250" cy="388"/>
                  </a:xfrm>
                </p:grpSpPr>
                <p:sp>
                  <p:nvSpPr>
                    <p:cNvPr id="5193" name="Freeform 62"/>
                    <p:cNvSpPr>
                      <a:spLocks/>
                    </p:cNvSpPr>
                    <p:nvPr/>
                  </p:nvSpPr>
                  <p:spPr bwMode="auto">
                    <a:xfrm>
                      <a:off x="4693" y="1003"/>
                      <a:ext cx="250" cy="388"/>
                    </a:xfrm>
                    <a:custGeom>
                      <a:avLst/>
                      <a:gdLst>
                        <a:gd name="T0" fmla="*/ 383 w 1000"/>
                        <a:gd name="T1" fmla="*/ 579 h 1552"/>
                        <a:gd name="T2" fmla="*/ 272 w 1000"/>
                        <a:gd name="T3" fmla="*/ 545 h 1552"/>
                        <a:gd name="T4" fmla="*/ 95 w 1000"/>
                        <a:gd name="T5" fmla="*/ 494 h 1552"/>
                        <a:gd name="T6" fmla="*/ 50 w 1000"/>
                        <a:gd name="T7" fmla="*/ 517 h 1552"/>
                        <a:gd name="T8" fmla="*/ 20 w 1000"/>
                        <a:gd name="T9" fmla="*/ 556 h 1552"/>
                        <a:gd name="T10" fmla="*/ 3 w 1000"/>
                        <a:gd name="T11" fmla="*/ 617 h 1552"/>
                        <a:gd name="T12" fmla="*/ 0 w 1000"/>
                        <a:gd name="T13" fmla="*/ 675 h 1552"/>
                        <a:gd name="T14" fmla="*/ 5 w 1000"/>
                        <a:gd name="T15" fmla="*/ 742 h 1552"/>
                        <a:gd name="T16" fmla="*/ 134 w 1000"/>
                        <a:gd name="T17" fmla="*/ 806 h 1552"/>
                        <a:gd name="T18" fmla="*/ 219 w 1000"/>
                        <a:gd name="T19" fmla="*/ 850 h 1552"/>
                        <a:gd name="T20" fmla="*/ 272 w 1000"/>
                        <a:gd name="T21" fmla="*/ 876 h 1552"/>
                        <a:gd name="T22" fmla="*/ 381 w 1000"/>
                        <a:gd name="T23" fmla="*/ 907 h 1552"/>
                        <a:gd name="T24" fmla="*/ 591 w 1000"/>
                        <a:gd name="T25" fmla="*/ 950 h 1552"/>
                        <a:gd name="T26" fmla="*/ 628 w 1000"/>
                        <a:gd name="T27" fmla="*/ 928 h 1552"/>
                        <a:gd name="T28" fmla="*/ 666 w 1000"/>
                        <a:gd name="T29" fmla="*/ 841 h 1552"/>
                        <a:gd name="T30" fmla="*/ 679 w 1000"/>
                        <a:gd name="T31" fmla="*/ 979 h 1552"/>
                        <a:gd name="T32" fmla="*/ 666 w 1000"/>
                        <a:gd name="T33" fmla="*/ 1097 h 1552"/>
                        <a:gd name="T34" fmla="*/ 665 w 1000"/>
                        <a:gd name="T35" fmla="*/ 1181 h 1552"/>
                        <a:gd name="T36" fmla="*/ 649 w 1000"/>
                        <a:gd name="T37" fmla="*/ 1277 h 1552"/>
                        <a:gd name="T38" fmla="*/ 640 w 1000"/>
                        <a:gd name="T39" fmla="*/ 1437 h 1552"/>
                        <a:gd name="T40" fmla="*/ 708 w 1000"/>
                        <a:gd name="T41" fmla="*/ 1471 h 1552"/>
                        <a:gd name="T42" fmla="*/ 783 w 1000"/>
                        <a:gd name="T43" fmla="*/ 1491 h 1552"/>
                        <a:gd name="T44" fmla="*/ 854 w 1000"/>
                        <a:gd name="T45" fmla="*/ 1517 h 1552"/>
                        <a:gd name="T46" fmla="*/ 939 w 1000"/>
                        <a:gd name="T47" fmla="*/ 1543 h 1552"/>
                        <a:gd name="T48" fmla="*/ 971 w 1000"/>
                        <a:gd name="T49" fmla="*/ 1371 h 1552"/>
                        <a:gd name="T50" fmla="*/ 956 w 1000"/>
                        <a:gd name="T51" fmla="*/ 1279 h 1552"/>
                        <a:gd name="T52" fmla="*/ 951 w 1000"/>
                        <a:gd name="T53" fmla="*/ 1157 h 1552"/>
                        <a:gd name="T54" fmla="*/ 973 w 1000"/>
                        <a:gd name="T55" fmla="*/ 750 h 1552"/>
                        <a:gd name="T56" fmla="*/ 916 w 1000"/>
                        <a:gd name="T57" fmla="*/ 43 h 1552"/>
                        <a:gd name="T58" fmla="*/ 757 w 1000"/>
                        <a:gd name="T59" fmla="*/ 13 h 1552"/>
                        <a:gd name="T60" fmla="*/ 710 w 1000"/>
                        <a:gd name="T61" fmla="*/ 0 h 1552"/>
                        <a:gd name="T62" fmla="*/ 670 w 1000"/>
                        <a:gd name="T63" fmla="*/ 3 h 1552"/>
                        <a:gd name="T64" fmla="*/ 633 w 1000"/>
                        <a:gd name="T65" fmla="*/ 17 h 1552"/>
                        <a:gd name="T66" fmla="*/ 595 w 1000"/>
                        <a:gd name="T67" fmla="*/ 53 h 1552"/>
                        <a:gd name="T68" fmla="*/ 578 w 1000"/>
                        <a:gd name="T69" fmla="*/ 99 h 1552"/>
                        <a:gd name="T70" fmla="*/ 572 w 1000"/>
                        <a:gd name="T71" fmla="*/ 183 h 1552"/>
                        <a:gd name="T72" fmla="*/ 489 w 1000"/>
                        <a:gd name="T73" fmla="*/ 542 h 1552"/>
                        <a:gd name="T74" fmla="*/ 452 w 1000"/>
                        <a:gd name="T75" fmla="*/ 581 h 155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00"/>
                        <a:gd name="T115" fmla="*/ 0 h 1552"/>
                        <a:gd name="T116" fmla="*/ 1000 w 1000"/>
                        <a:gd name="T117" fmla="*/ 1552 h 155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00" h="1552">
                          <a:moveTo>
                            <a:pt x="413" y="581"/>
                          </a:moveTo>
                          <a:lnTo>
                            <a:pt x="383" y="579"/>
                          </a:lnTo>
                          <a:lnTo>
                            <a:pt x="342" y="573"/>
                          </a:lnTo>
                          <a:lnTo>
                            <a:pt x="272" y="545"/>
                          </a:lnTo>
                          <a:lnTo>
                            <a:pt x="118" y="490"/>
                          </a:lnTo>
                          <a:lnTo>
                            <a:pt x="95" y="494"/>
                          </a:lnTo>
                          <a:lnTo>
                            <a:pt x="73" y="503"/>
                          </a:lnTo>
                          <a:lnTo>
                            <a:pt x="50" y="517"/>
                          </a:lnTo>
                          <a:lnTo>
                            <a:pt x="34" y="533"/>
                          </a:lnTo>
                          <a:lnTo>
                            <a:pt x="20" y="556"/>
                          </a:lnTo>
                          <a:lnTo>
                            <a:pt x="11" y="582"/>
                          </a:lnTo>
                          <a:lnTo>
                            <a:pt x="3" y="617"/>
                          </a:lnTo>
                          <a:lnTo>
                            <a:pt x="1" y="645"/>
                          </a:lnTo>
                          <a:lnTo>
                            <a:pt x="0" y="675"/>
                          </a:lnTo>
                          <a:lnTo>
                            <a:pt x="1" y="710"/>
                          </a:lnTo>
                          <a:lnTo>
                            <a:pt x="5" y="742"/>
                          </a:lnTo>
                          <a:lnTo>
                            <a:pt x="11" y="769"/>
                          </a:lnTo>
                          <a:lnTo>
                            <a:pt x="134" y="806"/>
                          </a:lnTo>
                          <a:lnTo>
                            <a:pt x="186" y="831"/>
                          </a:lnTo>
                          <a:lnTo>
                            <a:pt x="219" y="850"/>
                          </a:lnTo>
                          <a:lnTo>
                            <a:pt x="248" y="866"/>
                          </a:lnTo>
                          <a:lnTo>
                            <a:pt x="272" y="876"/>
                          </a:lnTo>
                          <a:lnTo>
                            <a:pt x="308" y="886"/>
                          </a:lnTo>
                          <a:lnTo>
                            <a:pt x="381" y="907"/>
                          </a:lnTo>
                          <a:lnTo>
                            <a:pt x="502" y="934"/>
                          </a:lnTo>
                          <a:lnTo>
                            <a:pt x="591" y="950"/>
                          </a:lnTo>
                          <a:lnTo>
                            <a:pt x="613" y="943"/>
                          </a:lnTo>
                          <a:lnTo>
                            <a:pt x="628" y="928"/>
                          </a:lnTo>
                          <a:lnTo>
                            <a:pt x="638" y="903"/>
                          </a:lnTo>
                          <a:lnTo>
                            <a:pt x="666" y="841"/>
                          </a:lnTo>
                          <a:lnTo>
                            <a:pt x="673" y="880"/>
                          </a:lnTo>
                          <a:lnTo>
                            <a:pt x="679" y="979"/>
                          </a:lnTo>
                          <a:lnTo>
                            <a:pt x="675" y="1057"/>
                          </a:lnTo>
                          <a:lnTo>
                            <a:pt x="666" y="1097"/>
                          </a:lnTo>
                          <a:lnTo>
                            <a:pt x="665" y="1139"/>
                          </a:lnTo>
                          <a:lnTo>
                            <a:pt x="665" y="1181"/>
                          </a:lnTo>
                          <a:lnTo>
                            <a:pt x="660" y="1231"/>
                          </a:lnTo>
                          <a:lnTo>
                            <a:pt x="649" y="1277"/>
                          </a:lnTo>
                          <a:lnTo>
                            <a:pt x="621" y="1414"/>
                          </a:lnTo>
                          <a:lnTo>
                            <a:pt x="640" y="1437"/>
                          </a:lnTo>
                          <a:lnTo>
                            <a:pt x="668" y="1455"/>
                          </a:lnTo>
                          <a:lnTo>
                            <a:pt x="708" y="1471"/>
                          </a:lnTo>
                          <a:lnTo>
                            <a:pt x="749" y="1480"/>
                          </a:lnTo>
                          <a:lnTo>
                            <a:pt x="783" y="1491"/>
                          </a:lnTo>
                          <a:lnTo>
                            <a:pt x="820" y="1504"/>
                          </a:lnTo>
                          <a:lnTo>
                            <a:pt x="854" y="1517"/>
                          </a:lnTo>
                          <a:lnTo>
                            <a:pt x="891" y="1529"/>
                          </a:lnTo>
                          <a:lnTo>
                            <a:pt x="939" y="1543"/>
                          </a:lnTo>
                          <a:lnTo>
                            <a:pt x="1000" y="1552"/>
                          </a:lnTo>
                          <a:lnTo>
                            <a:pt x="971" y="1371"/>
                          </a:lnTo>
                          <a:lnTo>
                            <a:pt x="961" y="1313"/>
                          </a:lnTo>
                          <a:lnTo>
                            <a:pt x="956" y="1279"/>
                          </a:lnTo>
                          <a:lnTo>
                            <a:pt x="954" y="1240"/>
                          </a:lnTo>
                          <a:lnTo>
                            <a:pt x="951" y="1157"/>
                          </a:lnTo>
                          <a:lnTo>
                            <a:pt x="953" y="1042"/>
                          </a:lnTo>
                          <a:lnTo>
                            <a:pt x="973" y="750"/>
                          </a:lnTo>
                          <a:lnTo>
                            <a:pt x="961" y="293"/>
                          </a:lnTo>
                          <a:lnTo>
                            <a:pt x="916" y="43"/>
                          </a:lnTo>
                          <a:lnTo>
                            <a:pt x="798" y="22"/>
                          </a:lnTo>
                          <a:lnTo>
                            <a:pt x="757" y="13"/>
                          </a:lnTo>
                          <a:lnTo>
                            <a:pt x="728" y="4"/>
                          </a:lnTo>
                          <a:lnTo>
                            <a:pt x="710" y="0"/>
                          </a:lnTo>
                          <a:lnTo>
                            <a:pt x="688" y="0"/>
                          </a:lnTo>
                          <a:lnTo>
                            <a:pt x="670" y="3"/>
                          </a:lnTo>
                          <a:lnTo>
                            <a:pt x="652" y="8"/>
                          </a:lnTo>
                          <a:lnTo>
                            <a:pt x="633" y="17"/>
                          </a:lnTo>
                          <a:lnTo>
                            <a:pt x="613" y="32"/>
                          </a:lnTo>
                          <a:lnTo>
                            <a:pt x="595" y="53"/>
                          </a:lnTo>
                          <a:lnTo>
                            <a:pt x="585" y="72"/>
                          </a:lnTo>
                          <a:lnTo>
                            <a:pt x="578" y="99"/>
                          </a:lnTo>
                          <a:lnTo>
                            <a:pt x="578" y="136"/>
                          </a:lnTo>
                          <a:lnTo>
                            <a:pt x="572" y="183"/>
                          </a:lnTo>
                          <a:lnTo>
                            <a:pt x="551" y="287"/>
                          </a:lnTo>
                          <a:lnTo>
                            <a:pt x="489" y="542"/>
                          </a:lnTo>
                          <a:lnTo>
                            <a:pt x="480" y="577"/>
                          </a:lnTo>
                          <a:lnTo>
                            <a:pt x="452" y="581"/>
                          </a:lnTo>
                          <a:lnTo>
                            <a:pt x="413" y="581"/>
                          </a:lnTo>
                          <a:close/>
                        </a:path>
                      </a:pathLst>
                    </a:custGeom>
                    <a:solidFill>
                      <a:srgbClr val="808080"/>
                    </a:solidFill>
                    <a:ln w="4763">
                      <a:solidFill>
                        <a:srgbClr val="000000"/>
                      </a:solidFill>
                      <a:prstDash val="solid"/>
                      <a:round/>
                      <a:headEnd/>
                      <a:tailEnd/>
                    </a:ln>
                  </p:spPr>
                  <p:txBody>
                    <a:bodyPr/>
                    <a:lstStyle/>
                    <a:p>
                      <a:endParaRPr lang="en-US"/>
                    </a:p>
                  </p:txBody>
                </p:sp>
                <p:sp>
                  <p:nvSpPr>
                    <p:cNvPr id="5194" name="Freeform 63"/>
                    <p:cNvSpPr>
                      <a:spLocks/>
                    </p:cNvSpPr>
                    <p:nvPr/>
                  </p:nvSpPr>
                  <p:spPr bwMode="auto">
                    <a:xfrm>
                      <a:off x="4862" y="1107"/>
                      <a:ext cx="27" cy="104"/>
                    </a:xfrm>
                    <a:custGeom>
                      <a:avLst/>
                      <a:gdLst>
                        <a:gd name="T0" fmla="*/ 0 w 109"/>
                        <a:gd name="T1" fmla="*/ 416 h 416"/>
                        <a:gd name="T2" fmla="*/ 39 w 109"/>
                        <a:gd name="T3" fmla="*/ 278 h 416"/>
                        <a:gd name="T4" fmla="*/ 78 w 109"/>
                        <a:gd name="T5" fmla="*/ 139 h 416"/>
                        <a:gd name="T6" fmla="*/ 70 w 109"/>
                        <a:gd name="T7" fmla="*/ 23 h 416"/>
                        <a:gd name="T8" fmla="*/ 109 w 109"/>
                        <a:gd name="T9" fmla="*/ 0 h 416"/>
                        <a:gd name="T10" fmla="*/ 0 60000 65536"/>
                        <a:gd name="T11" fmla="*/ 0 60000 65536"/>
                        <a:gd name="T12" fmla="*/ 0 60000 65536"/>
                        <a:gd name="T13" fmla="*/ 0 60000 65536"/>
                        <a:gd name="T14" fmla="*/ 0 60000 65536"/>
                        <a:gd name="T15" fmla="*/ 0 w 109"/>
                        <a:gd name="T16" fmla="*/ 0 h 416"/>
                        <a:gd name="T17" fmla="*/ 109 w 109"/>
                        <a:gd name="T18" fmla="*/ 416 h 416"/>
                      </a:gdLst>
                      <a:ahLst/>
                      <a:cxnLst>
                        <a:cxn ang="T10">
                          <a:pos x="T0" y="T1"/>
                        </a:cxn>
                        <a:cxn ang="T11">
                          <a:pos x="T2" y="T3"/>
                        </a:cxn>
                        <a:cxn ang="T12">
                          <a:pos x="T4" y="T5"/>
                        </a:cxn>
                        <a:cxn ang="T13">
                          <a:pos x="T6" y="T7"/>
                        </a:cxn>
                        <a:cxn ang="T14">
                          <a:pos x="T8" y="T9"/>
                        </a:cxn>
                      </a:cxnLst>
                      <a:rect l="T15" t="T16" r="T17" b="T18"/>
                      <a:pathLst>
                        <a:path w="109" h="416">
                          <a:moveTo>
                            <a:pt x="0" y="416"/>
                          </a:moveTo>
                          <a:lnTo>
                            <a:pt x="39" y="278"/>
                          </a:lnTo>
                          <a:lnTo>
                            <a:pt x="78" y="139"/>
                          </a:lnTo>
                          <a:lnTo>
                            <a:pt x="70" y="23"/>
                          </a:lnTo>
                          <a:lnTo>
                            <a:pt x="109" y="0"/>
                          </a:lnTo>
                        </a:path>
                      </a:pathLst>
                    </a:custGeom>
                    <a:noFill/>
                    <a:ln w="4763">
                      <a:solidFill>
                        <a:srgbClr val="000000"/>
                      </a:solidFill>
                      <a:prstDash val="solid"/>
                      <a:round/>
                      <a:headEnd/>
                      <a:tailEnd/>
                    </a:ln>
                  </p:spPr>
                  <p:txBody>
                    <a:bodyPr/>
                    <a:lstStyle/>
                    <a:p>
                      <a:endParaRPr lang="en-US"/>
                    </a:p>
                  </p:txBody>
                </p:sp>
              </p:grpSp>
              <p:sp>
                <p:nvSpPr>
                  <p:cNvPr id="5191" name="Freeform 65"/>
                  <p:cNvSpPr>
                    <a:spLocks/>
                  </p:cNvSpPr>
                  <p:nvPr/>
                </p:nvSpPr>
                <p:spPr bwMode="auto">
                  <a:xfrm>
                    <a:off x="4814" y="1148"/>
                    <a:ext cx="22" cy="21"/>
                  </a:xfrm>
                  <a:custGeom>
                    <a:avLst/>
                    <a:gdLst>
                      <a:gd name="T0" fmla="*/ 0 w 90"/>
                      <a:gd name="T1" fmla="*/ 3 h 85"/>
                      <a:gd name="T2" fmla="*/ 42 w 90"/>
                      <a:gd name="T3" fmla="*/ 0 h 85"/>
                      <a:gd name="T4" fmla="*/ 66 w 90"/>
                      <a:gd name="T5" fmla="*/ 10 h 85"/>
                      <a:gd name="T6" fmla="*/ 82 w 90"/>
                      <a:gd name="T7" fmla="*/ 31 h 85"/>
                      <a:gd name="T8" fmla="*/ 90 w 90"/>
                      <a:gd name="T9" fmla="*/ 62 h 85"/>
                      <a:gd name="T10" fmla="*/ 89 w 90"/>
                      <a:gd name="T11" fmla="*/ 85 h 85"/>
                      <a:gd name="T12" fmla="*/ 0 60000 65536"/>
                      <a:gd name="T13" fmla="*/ 0 60000 65536"/>
                      <a:gd name="T14" fmla="*/ 0 60000 65536"/>
                      <a:gd name="T15" fmla="*/ 0 60000 65536"/>
                      <a:gd name="T16" fmla="*/ 0 60000 65536"/>
                      <a:gd name="T17" fmla="*/ 0 60000 65536"/>
                      <a:gd name="T18" fmla="*/ 0 w 90"/>
                      <a:gd name="T19" fmla="*/ 0 h 85"/>
                      <a:gd name="T20" fmla="*/ 90 w 90"/>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90" h="85">
                        <a:moveTo>
                          <a:pt x="0" y="3"/>
                        </a:moveTo>
                        <a:lnTo>
                          <a:pt x="42" y="0"/>
                        </a:lnTo>
                        <a:lnTo>
                          <a:pt x="66" y="10"/>
                        </a:lnTo>
                        <a:lnTo>
                          <a:pt x="82" y="31"/>
                        </a:lnTo>
                        <a:lnTo>
                          <a:pt x="90" y="62"/>
                        </a:lnTo>
                        <a:lnTo>
                          <a:pt x="89" y="85"/>
                        </a:lnTo>
                      </a:path>
                    </a:pathLst>
                  </a:custGeom>
                  <a:noFill/>
                  <a:ln w="4763">
                    <a:solidFill>
                      <a:srgbClr val="000000"/>
                    </a:solidFill>
                    <a:prstDash val="solid"/>
                    <a:round/>
                    <a:headEnd/>
                    <a:tailEnd/>
                  </a:ln>
                </p:spPr>
                <p:txBody>
                  <a:bodyPr/>
                  <a:lstStyle/>
                  <a:p>
                    <a:endParaRPr lang="en-US"/>
                  </a:p>
                </p:txBody>
              </p:sp>
              <p:sp>
                <p:nvSpPr>
                  <p:cNvPr id="5192" name="Freeform 66"/>
                  <p:cNvSpPr>
                    <a:spLocks/>
                  </p:cNvSpPr>
                  <p:nvPr/>
                </p:nvSpPr>
                <p:spPr bwMode="auto">
                  <a:xfrm>
                    <a:off x="4890" y="1014"/>
                    <a:ext cx="52" cy="301"/>
                  </a:xfrm>
                  <a:custGeom>
                    <a:avLst/>
                    <a:gdLst>
                      <a:gd name="T0" fmla="*/ 128 w 210"/>
                      <a:gd name="T1" fmla="*/ 0 h 1205"/>
                      <a:gd name="T2" fmla="*/ 96 w 210"/>
                      <a:gd name="T3" fmla="*/ 80 h 1205"/>
                      <a:gd name="T4" fmla="*/ 83 w 210"/>
                      <a:gd name="T5" fmla="*/ 110 h 1205"/>
                      <a:gd name="T6" fmla="*/ 70 w 210"/>
                      <a:gd name="T7" fmla="*/ 135 h 1205"/>
                      <a:gd name="T8" fmla="*/ 47 w 210"/>
                      <a:gd name="T9" fmla="*/ 169 h 1205"/>
                      <a:gd name="T10" fmla="*/ 29 w 210"/>
                      <a:gd name="T11" fmla="*/ 190 h 1205"/>
                      <a:gd name="T12" fmla="*/ 0 w 210"/>
                      <a:gd name="T13" fmla="*/ 221 h 1205"/>
                      <a:gd name="T14" fmla="*/ 97 w 210"/>
                      <a:gd name="T15" fmla="*/ 224 h 1205"/>
                      <a:gd name="T16" fmla="*/ 31 w 210"/>
                      <a:gd name="T17" fmla="*/ 313 h 1205"/>
                      <a:gd name="T18" fmla="*/ 68 w 210"/>
                      <a:gd name="T19" fmla="*/ 404 h 1205"/>
                      <a:gd name="T20" fmla="*/ 82 w 210"/>
                      <a:gd name="T21" fmla="*/ 442 h 1205"/>
                      <a:gd name="T22" fmla="*/ 93 w 210"/>
                      <a:gd name="T23" fmla="*/ 484 h 1205"/>
                      <a:gd name="T24" fmla="*/ 104 w 210"/>
                      <a:gd name="T25" fmla="*/ 535 h 1205"/>
                      <a:gd name="T26" fmla="*/ 123 w 210"/>
                      <a:gd name="T27" fmla="*/ 657 h 1205"/>
                      <a:gd name="T28" fmla="*/ 132 w 210"/>
                      <a:gd name="T29" fmla="*/ 724 h 1205"/>
                      <a:gd name="T30" fmla="*/ 137 w 210"/>
                      <a:gd name="T31" fmla="*/ 793 h 1205"/>
                      <a:gd name="T32" fmla="*/ 140 w 210"/>
                      <a:gd name="T33" fmla="*/ 846 h 1205"/>
                      <a:gd name="T34" fmla="*/ 140 w 210"/>
                      <a:gd name="T35" fmla="*/ 993 h 1205"/>
                      <a:gd name="T36" fmla="*/ 143 w 210"/>
                      <a:gd name="T37" fmla="*/ 1033 h 1205"/>
                      <a:gd name="T38" fmla="*/ 149 w 210"/>
                      <a:gd name="T39" fmla="*/ 1086 h 1205"/>
                      <a:gd name="T40" fmla="*/ 166 w 210"/>
                      <a:gd name="T41" fmla="*/ 1205 h 1205"/>
                      <a:gd name="T42" fmla="*/ 187 w 210"/>
                      <a:gd name="T43" fmla="*/ 920 h 1205"/>
                      <a:gd name="T44" fmla="*/ 193 w 210"/>
                      <a:gd name="T45" fmla="*/ 846 h 1205"/>
                      <a:gd name="T46" fmla="*/ 202 w 210"/>
                      <a:gd name="T47" fmla="*/ 742 h 1205"/>
                      <a:gd name="T48" fmla="*/ 206 w 210"/>
                      <a:gd name="T49" fmla="*/ 686 h 1205"/>
                      <a:gd name="T50" fmla="*/ 208 w 210"/>
                      <a:gd name="T51" fmla="*/ 632 h 1205"/>
                      <a:gd name="T52" fmla="*/ 208 w 210"/>
                      <a:gd name="T53" fmla="*/ 561 h 1205"/>
                      <a:gd name="T54" fmla="*/ 210 w 210"/>
                      <a:gd name="T55" fmla="*/ 481 h 1205"/>
                      <a:gd name="T56" fmla="*/ 210 w 210"/>
                      <a:gd name="T57" fmla="*/ 402 h 1205"/>
                      <a:gd name="T58" fmla="*/ 208 w 210"/>
                      <a:gd name="T59" fmla="*/ 355 h 1205"/>
                      <a:gd name="T60" fmla="*/ 203 w 210"/>
                      <a:gd name="T61" fmla="*/ 273 h 1205"/>
                      <a:gd name="T62" fmla="*/ 201 w 210"/>
                      <a:gd name="T63" fmla="*/ 231 h 1205"/>
                      <a:gd name="T64" fmla="*/ 194 w 210"/>
                      <a:gd name="T65" fmla="*/ 182 h 1205"/>
                      <a:gd name="T66" fmla="*/ 188 w 210"/>
                      <a:gd name="T67" fmla="*/ 153 h 1205"/>
                      <a:gd name="T68" fmla="*/ 180 w 210"/>
                      <a:gd name="T69" fmla="*/ 123 h 1205"/>
                      <a:gd name="T70" fmla="*/ 172 w 210"/>
                      <a:gd name="T71" fmla="*/ 98 h 1205"/>
                      <a:gd name="T72" fmla="*/ 165 w 210"/>
                      <a:gd name="T73" fmla="*/ 74 h 1205"/>
                      <a:gd name="T74" fmla="*/ 128 w 210"/>
                      <a:gd name="T75" fmla="*/ 0 h 120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10"/>
                      <a:gd name="T115" fmla="*/ 0 h 1205"/>
                      <a:gd name="T116" fmla="*/ 210 w 210"/>
                      <a:gd name="T117" fmla="*/ 1205 h 120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10" h="1205">
                        <a:moveTo>
                          <a:pt x="128" y="0"/>
                        </a:moveTo>
                        <a:lnTo>
                          <a:pt x="96" y="80"/>
                        </a:lnTo>
                        <a:lnTo>
                          <a:pt x="83" y="110"/>
                        </a:lnTo>
                        <a:lnTo>
                          <a:pt x="70" y="135"/>
                        </a:lnTo>
                        <a:lnTo>
                          <a:pt x="47" y="169"/>
                        </a:lnTo>
                        <a:lnTo>
                          <a:pt x="29" y="190"/>
                        </a:lnTo>
                        <a:lnTo>
                          <a:pt x="0" y="221"/>
                        </a:lnTo>
                        <a:lnTo>
                          <a:pt x="97" y="224"/>
                        </a:lnTo>
                        <a:lnTo>
                          <a:pt x="31" y="313"/>
                        </a:lnTo>
                        <a:lnTo>
                          <a:pt x="68" y="404"/>
                        </a:lnTo>
                        <a:lnTo>
                          <a:pt x="82" y="442"/>
                        </a:lnTo>
                        <a:lnTo>
                          <a:pt x="93" y="484"/>
                        </a:lnTo>
                        <a:lnTo>
                          <a:pt x="104" y="535"/>
                        </a:lnTo>
                        <a:lnTo>
                          <a:pt x="123" y="657"/>
                        </a:lnTo>
                        <a:lnTo>
                          <a:pt x="132" y="724"/>
                        </a:lnTo>
                        <a:lnTo>
                          <a:pt x="137" y="793"/>
                        </a:lnTo>
                        <a:lnTo>
                          <a:pt x="140" y="846"/>
                        </a:lnTo>
                        <a:lnTo>
                          <a:pt x="140" y="993"/>
                        </a:lnTo>
                        <a:lnTo>
                          <a:pt x="143" y="1033"/>
                        </a:lnTo>
                        <a:lnTo>
                          <a:pt x="149" y="1086"/>
                        </a:lnTo>
                        <a:lnTo>
                          <a:pt x="166" y="1205"/>
                        </a:lnTo>
                        <a:lnTo>
                          <a:pt x="187" y="920"/>
                        </a:lnTo>
                        <a:lnTo>
                          <a:pt x="193" y="846"/>
                        </a:lnTo>
                        <a:lnTo>
                          <a:pt x="202" y="742"/>
                        </a:lnTo>
                        <a:lnTo>
                          <a:pt x="206" y="686"/>
                        </a:lnTo>
                        <a:lnTo>
                          <a:pt x="208" y="632"/>
                        </a:lnTo>
                        <a:lnTo>
                          <a:pt x="208" y="561"/>
                        </a:lnTo>
                        <a:lnTo>
                          <a:pt x="210" y="481"/>
                        </a:lnTo>
                        <a:lnTo>
                          <a:pt x="210" y="402"/>
                        </a:lnTo>
                        <a:lnTo>
                          <a:pt x="208" y="355"/>
                        </a:lnTo>
                        <a:lnTo>
                          <a:pt x="203" y="273"/>
                        </a:lnTo>
                        <a:lnTo>
                          <a:pt x="201" y="231"/>
                        </a:lnTo>
                        <a:lnTo>
                          <a:pt x="194" y="182"/>
                        </a:lnTo>
                        <a:lnTo>
                          <a:pt x="188" y="153"/>
                        </a:lnTo>
                        <a:lnTo>
                          <a:pt x="180" y="123"/>
                        </a:lnTo>
                        <a:lnTo>
                          <a:pt x="172" y="98"/>
                        </a:lnTo>
                        <a:lnTo>
                          <a:pt x="165" y="74"/>
                        </a:lnTo>
                        <a:lnTo>
                          <a:pt x="128" y="0"/>
                        </a:lnTo>
                        <a:close/>
                      </a:path>
                    </a:pathLst>
                  </a:custGeom>
                  <a:solidFill>
                    <a:srgbClr val="808080"/>
                  </a:solidFill>
                  <a:ln w="4763">
                    <a:solidFill>
                      <a:srgbClr val="000000"/>
                    </a:solidFill>
                    <a:prstDash val="solid"/>
                    <a:round/>
                    <a:headEnd/>
                    <a:tailEnd/>
                  </a:ln>
                </p:spPr>
                <p:txBody>
                  <a:bodyPr/>
                  <a:lstStyle/>
                  <a:p>
                    <a:endParaRPr lang="en-US"/>
                  </a:p>
                </p:txBody>
              </p:sp>
            </p:grpSp>
            <p:sp>
              <p:nvSpPr>
                <p:cNvPr id="5167" name="Freeform 68"/>
                <p:cNvSpPr>
                  <a:spLocks/>
                </p:cNvSpPr>
                <p:nvPr/>
              </p:nvSpPr>
              <p:spPr bwMode="auto">
                <a:xfrm>
                  <a:off x="4943" y="1040"/>
                  <a:ext cx="40" cy="302"/>
                </a:xfrm>
                <a:custGeom>
                  <a:avLst/>
                  <a:gdLst>
                    <a:gd name="T0" fmla="*/ 52 w 163"/>
                    <a:gd name="T1" fmla="*/ 0 h 1210"/>
                    <a:gd name="T2" fmla="*/ 25 w 163"/>
                    <a:gd name="T3" fmla="*/ 174 h 1210"/>
                    <a:gd name="T4" fmla="*/ 6 w 163"/>
                    <a:gd name="T5" fmla="*/ 402 h 1210"/>
                    <a:gd name="T6" fmla="*/ 9 w 163"/>
                    <a:gd name="T7" fmla="*/ 866 h 1210"/>
                    <a:gd name="T8" fmla="*/ 0 w 163"/>
                    <a:gd name="T9" fmla="*/ 1082 h 1210"/>
                    <a:gd name="T10" fmla="*/ 78 w 163"/>
                    <a:gd name="T11" fmla="*/ 1210 h 1210"/>
                    <a:gd name="T12" fmla="*/ 158 w 163"/>
                    <a:gd name="T13" fmla="*/ 1082 h 1210"/>
                    <a:gd name="T14" fmla="*/ 155 w 163"/>
                    <a:gd name="T15" fmla="*/ 866 h 1210"/>
                    <a:gd name="T16" fmla="*/ 163 w 163"/>
                    <a:gd name="T17" fmla="*/ 399 h 1210"/>
                    <a:gd name="T18" fmla="*/ 132 w 163"/>
                    <a:gd name="T19" fmla="*/ 155 h 1210"/>
                    <a:gd name="T20" fmla="*/ 93 w 163"/>
                    <a:gd name="T21" fmla="*/ 0 h 1210"/>
                    <a:gd name="T22" fmla="*/ 52 w 163"/>
                    <a:gd name="T23" fmla="*/ 0 h 12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3"/>
                    <a:gd name="T37" fmla="*/ 0 h 1210"/>
                    <a:gd name="T38" fmla="*/ 163 w 163"/>
                    <a:gd name="T39" fmla="*/ 1210 h 12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3" h="1210">
                      <a:moveTo>
                        <a:pt x="52" y="0"/>
                      </a:moveTo>
                      <a:lnTo>
                        <a:pt x="25" y="174"/>
                      </a:lnTo>
                      <a:lnTo>
                        <a:pt x="6" y="402"/>
                      </a:lnTo>
                      <a:lnTo>
                        <a:pt x="9" y="866"/>
                      </a:lnTo>
                      <a:lnTo>
                        <a:pt x="0" y="1082"/>
                      </a:lnTo>
                      <a:lnTo>
                        <a:pt x="78" y="1210"/>
                      </a:lnTo>
                      <a:lnTo>
                        <a:pt x="158" y="1082"/>
                      </a:lnTo>
                      <a:lnTo>
                        <a:pt x="155" y="866"/>
                      </a:lnTo>
                      <a:lnTo>
                        <a:pt x="163" y="399"/>
                      </a:lnTo>
                      <a:lnTo>
                        <a:pt x="132" y="155"/>
                      </a:lnTo>
                      <a:lnTo>
                        <a:pt x="93" y="0"/>
                      </a:lnTo>
                      <a:lnTo>
                        <a:pt x="52" y="0"/>
                      </a:lnTo>
                      <a:close/>
                    </a:path>
                  </a:pathLst>
                </a:custGeom>
                <a:solidFill>
                  <a:srgbClr val="E00000"/>
                </a:solidFill>
                <a:ln w="4763">
                  <a:solidFill>
                    <a:srgbClr val="000000"/>
                  </a:solidFill>
                  <a:prstDash val="solid"/>
                  <a:round/>
                  <a:headEnd/>
                  <a:tailEnd/>
                </a:ln>
              </p:spPr>
              <p:txBody>
                <a:bodyPr/>
                <a:lstStyle/>
                <a:p>
                  <a:endParaRPr lang="en-US"/>
                </a:p>
              </p:txBody>
            </p:sp>
            <p:sp>
              <p:nvSpPr>
                <p:cNvPr id="5168" name="Freeform 69"/>
                <p:cNvSpPr>
                  <a:spLocks/>
                </p:cNvSpPr>
                <p:nvPr/>
              </p:nvSpPr>
              <p:spPr bwMode="auto">
                <a:xfrm>
                  <a:off x="4948" y="1019"/>
                  <a:ext cx="26" cy="23"/>
                </a:xfrm>
                <a:custGeom>
                  <a:avLst/>
                  <a:gdLst>
                    <a:gd name="T0" fmla="*/ 2 w 79"/>
                    <a:gd name="T1" fmla="*/ 7 h 72"/>
                    <a:gd name="T2" fmla="*/ 0 w 79"/>
                    <a:gd name="T3" fmla="*/ 23 h 72"/>
                    <a:gd name="T4" fmla="*/ 39 w 79"/>
                    <a:gd name="T5" fmla="*/ 72 h 72"/>
                    <a:gd name="T6" fmla="*/ 79 w 79"/>
                    <a:gd name="T7" fmla="*/ 23 h 72"/>
                    <a:gd name="T8" fmla="*/ 74 w 79"/>
                    <a:gd name="T9" fmla="*/ 0 h 72"/>
                    <a:gd name="T10" fmla="*/ 40 w 79"/>
                    <a:gd name="T11" fmla="*/ 24 h 72"/>
                    <a:gd name="T12" fmla="*/ 2 w 79"/>
                    <a:gd name="T13" fmla="*/ 7 h 72"/>
                    <a:gd name="T14" fmla="*/ 0 60000 65536"/>
                    <a:gd name="T15" fmla="*/ 0 60000 65536"/>
                    <a:gd name="T16" fmla="*/ 0 60000 65536"/>
                    <a:gd name="T17" fmla="*/ 0 60000 65536"/>
                    <a:gd name="T18" fmla="*/ 0 60000 65536"/>
                    <a:gd name="T19" fmla="*/ 0 60000 65536"/>
                    <a:gd name="T20" fmla="*/ 0 60000 65536"/>
                    <a:gd name="T21" fmla="*/ 0 w 79"/>
                    <a:gd name="T22" fmla="*/ 0 h 72"/>
                    <a:gd name="T23" fmla="*/ 79 w 79"/>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 h="72">
                      <a:moveTo>
                        <a:pt x="2" y="7"/>
                      </a:moveTo>
                      <a:cubicBezTo>
                        <a:pt x="0" y="12"/>
                        <a:pt x="0" y="17"/>
                        <a:pt x="0" y="23"/>
                      </a:cubicBezTo>
                      <a:cubicBezTo>
                        <a:pt x="0" y="50"/>
                        <a:pt x="17" y="72"/>
                        <a:pt x="39" y="72"/>
                      </a:cubicBezTo>
                      <a:cubicBezTo>
                        <a:pt x="61" y="72"/>
                        <a:pt x="79" y="50"/>
                        <a:pt x="79" y="23"/>
                      </a:cubicBezTo>
                      <a:cubicBezTo>
                        <a:pt x="79" y="15"/>
                        <a:pt x="77" y="7"/>
                        <a:pt x="74" y="0"/>
                      </a:cubicBezTo>
                      <a:lnTo>
                        <a:pt x="40" y="24"/>
                      </a:lnTo>
                      <a:lnTo>
                        <a:pt x="2" y="7"/>
                      </a:lnTo>
                      <a:close/>
                    </a:path>
                  </a:pathLst>
                </a:custGeom>
                <a:noFill/>
                <a:ln w="4763">
                  <a:solidFill>
                    <a:srgbClr val="000000"/>
                  </a:solidFill>
                  <a:prstDash val="solid"/>
                  <a:round/>
                  <a:headEnd/>
                  <a:tailEnd/>
                </a:ln>
              </p:spPr>
              <p:txBody>
                <a:bodyPr/>
                <a:lstStyle/>
                <a:p>
                  <a:endParaRPr lang="en-US"/>
                </a:p>
              </p:txBody>
            </p:sp>
            <p:sp>
              <p:nvSpPr>
                <p:cNvPr id="5169" name="Freeform 70"/>
                <p:cNvSpPr>
                  <a:spLocks/>
                </p:cNvSpPr>
                <p:nvPr/>
              </p:nvSpPr>
              <p:spPr bwMode="auto">
                <a:xfrm>
                  <a:off x="4922" y="1005"/>
                  <a:ext cx="78" cy="47"/>
                </a:xfrm>
                <a:custGeom>
                  <a:avLst/>
                  <a:gdLst>
                    <a:gd name="T0" fmla="*/ 29 w 314"/>
                    <a:gd name="T1" fmla="*/ 0 h 186"/>
                    <a:gd name="T2" fmla="*/ 156 w 314"/>
                    <a:gd name="T3" fmla="*/ 80 h 186"/>
                    <a:gd name="T4" fmla="*/ 290 w 314"/>
                    <a:gd name="T5" fmla="*/ 0 h 186"/>
                    <a:gd name="T6" fmla="*/ 314 w 314"/>
                    <a:gd name="T7" fmla="*/ 39 h 186"/>
                    <a:gd name="T8" fmla="*/ 226 w 314"/>
                    <a:gd name="T9" fmla="*/ 186 h 186"/>
                    <a:gd name="T10" fmla="*/ 156 w 314"/>
                    <a:gd name="T11" fmla="*/ 85 h 186"/>
                    <a:gd name="T12" fmla="*/ 89 w 314"/>
                    <a:gd name="T13" fmla="*/ 184 h 186"/>
                    <a:gd name="T14" fmla="*/ 0 w 314"/>
                    <a:gd name="T15" fmla="*/ 37 h 186"/>
                    <a:gd name="T16" fmla="*/ 29 w 314"/>
                    <a:gd name="T17" fmla="*/ 0 h 1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4"/>
                    <a:gd name="T28" fmla="*/ 0 h 186"/>
                    <a:gd name="T29" fmla="*/ 314 w 314"/>
                    <a:gd name="T30" fmla="*/ 186 h 18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4" h="186">
                      <a:moveTo>
                        <a:pt x="29" y="0"/>
                      </a:moveTo>
                      <a:lnTo>
                        <a:pt x="156" y="80"/>
                      </a:lnTo>
                      <a:lnTo>
                        <a:pt x="290" y="0"/>
                      </a:lnTo>
                      <a:lnTo>
                        <a:pt x="314" y="39"/>
                      </a:lnTo>
                      <a:lnTo>
                        <a:pt x="226" y="186"/>
                      </a:lnTo>
                      <a:lnTo>
                        <a:pt x="156" y="85"/>
                      </a:lnTo>
                      <a:lnTo>
                        <a:pt x="89" y="184"/>
                      </a:lnTo>
                      <a:lnTo>
                        <a:pt x="0" y="37"/>
                      </a:lnTo>
                      <a:lnTo>
                        <a:pt x="29" y="0"/>
                      </a:lnTo>
                      <a:close/>
                    </a:path>
                  </a:pathLst>
                </a:custGeom>
                <a:solidFill>
                  <a:srgbClr val="FFFFFF"/>
                </a:solidFill>
                <a:ln w="4763">
                  <a:solidFill>
                    <a:srgbClr val="000000"/>
                  </a:solidFill>
                  <a:prstDash val="solid"/>
                  <a:round/>
                  <a:headEnd/>
                  <a:tailEnd/>
                </a:ln>
              </p:spPr>
              <p:txBody>
                <a:bodyPr/>
                <a:lstStyle/>
                <a:p>
                  <a:endParaRPr lang="en-US"/>
                </a:p>
              </p:txBody>
            </p:sp>
            <p:sp>
              <p:nvSpPr>
                <p:cNvPr id="5170" name="Freeform 71"/>
                <p:cNvSpPr>
                  <a:spLocks/>
                </p:cNvSpPr>
                <p:nvPr/>
              </p:nvSpPr>
              <p:spPr bwMode="auto">
                <a:xfrm>
                  <a:off x="4698" y="1132"/>
                  <a:ext cx="22" cy="61"/>
                </a:xfrm>
                <a:custGeom>
                  <a:avLst/>
                  <a:gdLst>
                    <a:gd name="T0" fmla="*/ 74 w 89"/>
                    <a:gd name="T1" fmla="*/ 0 h 246"/>
                    <a:gd name="T2" fmla="*/ 82 w 89"/>
                    <a:gd name="T3" fmla="*/ 24 h 246"/>
                    <a:gd name="T4" fmla="*/ 86 w 89"/>
                    <a:gd name="T5" fmla="*/ 46 h 246"/>
                    <a:gd name="T6" fmla="*/ 89 w 89"/>
                    <a:gd name="T7" fmla="*/ 76 h 246"/>
                    <a:gd name="T8" fmla="*/ 89 w 89"/>
                    <a:gd name="T9" fmla="*/ 95 h 246"/>
                    <a:gd name="T10" fmla="*/ 89 w 89"/>
                    <a:gd name="T11" fmla="*/ 118 h 246"/>
                    <a:gd name="T12" fmla="*/ 83 w 89"/>
                    <a:gd name="T13" fmla="*/ 148 h 246"/>
                    <a:gd name="T14" fmla="*/ 74 w 89"/>
                    <a:gd name="T15" fmla="*/ 180 h 246"/>
                    <a:gd name="T16" fmla="*/ 65 w 89"/>
                    <a:gd name="T17" fmla="*/ 202 h 246"/>
                    <a:gd name="T18" fmla="*/ 55 w 89"/>
                    <a:gd name="T19" fmla="*/ 223 h 246"/>
                    <a:gd name="T20" fmla="*/ 40 w 89"/>
                    <a:gd name="T21" fmla="*/ 237 h 246"/>
                    <a:gd name="T22" fmla="*/ 23 w 89"/>
                    <a:gd name="T23" fmla="*/ 245 h 246"/>
                    <a:gd name="T24" fmla="*/ 9 w 89"/>
                    <a:gd name="T25" fmla="*/ 246 h 246"/>
                    <a:gd name="T26" fmla="*/ 4 w 89"/>
                    <a:gd name="T27" fmla="*/ 230 h 246"/>
                    <a:gd name="T28" fmla="*/ 3 w 89"/>
                    <a:gd name="T29" fmla="*/ 218 h 246"/>
                    <a:gd name="T30" fmla="*/ 0 w 89"/>
                    <a:gd name="T31" fmla="*/ 196 h 246"/>
                    <a:gd name="T32" fmla="*/ 0 w 89"/>
                    <a:gd name="T33" fmla="*/ 176 h 246"/>
                    <a:gd name="T34" fmla="*/ 5 w 89"/>
                    <a:gd name="T35" fmla="*/ 125 h 246"/>
                    <a:gd name="T36" fmla="*/ 40 w 89"/>
                    <a:gd name="T37" fmla="*/ 14 h 246"/>
                    <a:gd name="T38" fmla="*/ 58 w 89"/>
                    <a:gd name="T39" fmla="*/ 2 h 246"/>
                    <a:gd name="T40" fmla="*/ 74 w 89"/>
                    <a:gd name="T41" fmla="*/ 0 h 2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246"/>
                    <a:gd name="T65" fmla="*/ 89 w 89"/>
                    <a:gd name="T66" fmla="*/ 246 h 2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246">
                      <a:moveTo>
                        <a:pt x="74" y="0"/>
                      </a:moveTo>
                      <a:lnTo>
                        <a:pt x="82" y="24"/>
                      </a:lnTo>
                      <a:lnTo>
                        <a:pt x="86" y="46"/>
                      </a:lnTo>
                      <a:lnTo>
                        <a:pt x="89" y="76"/>
                      </a:lnTo>
                      <a:lnTo>
                        <a:pt x="89" y="95"/>
                      </a:lnTo>
                      <a:lnTo>
                        <a:pt x="89" y="118"/>
                      </a:lnTo>
                      <a:lnTo>
                        <a:pt x="83" y="148"/>
                      </a:lnTo>
                      <a:lnTo>
                        <a:pt x="74" y="180"/>
                      </a:lnTo>
                      <a:lnTo>
                        <a:pt x="65" y="202"/>
                      </a:lnTo>
                      <a:lnTo>
                        <a:pt x="55" y="223"/>
                      </a:lnTo>
                      <a:lnTo>
                        <a:pt x="40" y="237"/>
                      </a:lnTo>
                      <a:lnTo>
                        <a:pt x="23" y="245"/>
                      </a:lnTo>
                      <a:lnTo>
                        <a:pt x="9" y="246"/>
                      </a:lnTo>
                      <a:lnTo>
                        <a:pt x="4" y="230"/>
                      </a:lnTo>
                      <a:lnTo>
                        <a:pt x="3" y="218"/>
                      </a:lnTo>
                      <a:lnTo>
                        <a:pt x="0" y="196"/>
                      </a:lnTo>
                      <a:lnTo>
                        <a:pt x="0" y="176"/>
                      </a:lnTo>
                      <a:lnTo>
                        <a:pt x="5" y="125"/>
                      </a:lnTo>
                      <a:lnTo>
                        <a:pt x="40" y="14"/>
                      </a:lnTo>
                      <a:lnTo>
                        <a:pt x="58" y="2"/>
                      </a:lnTo>
                      <a:lnTo>
                        <a:pt x="74" y="0"/>
                      </a:lnTo>
                      <a:close/>
                    </a:path>
                  </a:pathLst>
                </a:custGeom>
                <a:solidFill>
                  <a:srgbClr val="202020"/>
                </a:solidFill>
                <a:ln w="4763">
                  <a:solidFill>
                    <a:srgbClr val="000000"/>
                  </a:solidFill>
                  <a:prstDash val="solid"/>
                  <a:round/>
                  <a:headEnd/>
                  <a:tailEnd/>
                </a:ln>
              </p:spPr>
              <p:txBody>
                <a:bodyPr/>
                <a:lstStyle/>
                <a:p>
                  <a:endParaRPr lang="en-US"/>
                </a:p>
              </p:txBody>
            </p:sp>
            <p:grpSp>
              <p:nvGrpSpPr>
                <p:cNvPr id="5171" name="Group 78"/>
                <p:cNvGrpSpPr>
                  <a:grpSpLocks/>
                </p:cNvGrpSpPr>
                <p:nvPr/>
              </p:nvGrpSpPr>
              <p:grpSpPr bwMode="auto">
                <a:xfrm>
                  <a:off x="4982" y="1005"/>
                  <a:ext cx="250" cy="388"/>
                  <a:chOff x="4982" y="1005"/>
                  <a:chExt cx="250" cy="388"/>
                </a:xfrm>
              </p:grpSpPr>
              <p:grpSp>
                <p:nvGrpSpPr>
                  <p:cNvPr id="5184" name="Group 76"/>
                  <p:cNvGrpSpPr>
                    <a:grpSpLocks/>
                  </p:cNvGrpSpPr>
                  <p:nvPr/>
                </p:nvGrpSpPr>
                <p:grpSpPr bwMode="auto">
                  <a:xfrm>
                    <a:off x="4982" y="1005"/>
                    <a:ext cx="250" cy="388"/>
                    <a:chOff x="4982" y="1005"/>
                    <a:chExt cx="250" cy="388"/>
                  </a:xfrm>
                </p:grpSpPr>
                <p:grpSp>
                  <p:nvGrpSpPr>
                    <p:cNvPr id="5186" name="Group 74"/>
                    <p:cNvGrpSpPr>
                      <a:grpSpLocks/>
                    </p:cNvGrpSpPr>
                    <p:nvPr/>
                  </p:nvGrpSpPr>
                  <p:grpSpPr bwMode="auto">
                    <a:xfrm>
                      <a:off x="4982" y="1005"/>
                      <a:ext cx="250" cy="388"/>
                      <a:chOff x="4982" y="1005"/>
                      <a:chExt cx="250" cy="388"/>
                    </a:xfrm>
                  </p:grpSpPr>
                  <p:sp>
                    <p:nvSpPr>
                      <p:cNvPr id="5188" name="Freeform 72"/>
                      <p:cNvSpPr>
                        <a:spLocks/>
                      </p:cNvSpPr>
                      <p:nvPr/>
                    </p:nvSpPr>
                    <p:spPr bwMode="auto">
                      <a:xfrm>
                        <a:off x="4982" y="1005"/>
                        <a:ext cx="250" cy="388"/>
                      </a:xfrm>
                      <a:custGeom>
                        <a:avLst/>
                        <a:gdLst>
                          <a:gd name="T0" fmla="*/ 616 w 1000"/>
                          <a:gd name="T1" fmla="*/ 579 h 1552"/>
                          <a:gd name="T2" fmla="*/ 727 w 1000"/>
                          <a:gd name="T3" fmla="*/ 544 h 1552"/>
                          <a:gd name="T4" fmla="*/ 904 w 1000"/>
                          <a:gd name="T5" fmla="*/ 494 h 1552"/>
                          <a:gd name="T6" fmla="*/ 950 w 1000"/>
                          <a:gd name="T7" fmla="*/ 517 h 1552"/>
                          <a:gd name="T8" fmla="*/ 979 w 1000"/>
                          <a:gd name="T9" fmla="*/ 556 h 1552"/>
                          <a:gd name="T10" fmla="*/ 996 w 1000"/>
                          <a:gd name="T11" fmla="*/ 617 h 1552"/>
                          <a:gd name="T12" fmla="*/ 1000 w 1000"/>
                          <a:gd name="T13" fmla="*/ 675 h 1552"/>
                          <a:gd name="T14" fmla="*/ 995 w 1000"/>
                          <a:gd name="T15" fmla="*/ 742 h 1552"/>
                          <a:gd name="T16" fmla="*/ 866 w 1000"/>
                          <a:gd name="T17" fmla="*/ 806 h 1552"/>
                          <a:gd name="T18" fmla="*/ 780 w 1000"/>
                          <a:gd name="T19" fmla="*/ 850 h 1552"/>
                          <a:gd name="T20" fmla="*/ 727 w 1000"/>
                          <a:gd name="T21" fmla="*/ 876 h 1552"/>
                          <a:gd name="T22" fmla="*/ 619 w 1000"/>
                          <a:gd name="T23" fmla="*/ 907 h 1552"/>
                          <a:gd name="T24" fmla="*/ 408 w 1000"/>
                          <a:gd name="T25" fmla="*/ 949 h 1552"/>
                          <a:gd name="T26" fmla="*/ 372 w 1000"/>
                          <a:gd name="T27" fmla="*/ 927 h 1552"/>
                          <a:gd name="T28" fmla="*/ 333 w 1000"/>
                          <a:gd name="T29" fmla="*/ 841 h 1552"/>
                          <a:gd name="T30" fmla="*/ 320 w 1000"/>
                          <a:gd name="T31" fmla="*/ 979 h 1552"/>
                          <a:gd name="T32" fmla="*/ 333 w 1000"/>
                          <a:gd name="T33" fmla="*/ 1096 h 1552"/>
                          <a:gd name="T34" fmla="*/ 335 w 1000"/>
                          <a:gd name="T35" fmla="*/ 1180 h 1552"/>
                          <a:gd name="T36" fmla="*/ 350 w 1000"/>
                          <a:gd name="T37" fmla="*/ 1277 h 1552"/>
                          <a:gd name="T38" fmla="*/ 359 w 1000"/>
                          <a:gd name="T39" fmla="*/ 1437 h 1552"/>
                          <a:gd name="T40" fmla="*/ 292 w 1000"/>
                          <a:gd name="T41" fmla="*/ 1471 h 1552"/>
                          <a:gd name="T42" fmla="*/ 217 w 1000"/>
                          <a:gd name="T43" fmla="*/ 1491 h 1552"/>
                          <a:gd name="T44" fmla="*/ 146 w 1000"/>
                          <a:gd name="T45" fmla="*/ 1517 h 1552"/>
                          <a:gd name="T46" fmla="*/ 61 w 1000"/>
                          <a:gd name="T47" fmla="*/ 1543 h 1552"/>
                          <a:gd name="T48" fmla="*/ 28 w 1000"/>
                          <a:gd name="T49" fmla="*/ 1371 h 1552"/>
                          <a:gd name="T50" fmla="*/ 44 w 1000"/>
                          <a:gd name="T51" fmla="*/ 1278 h 1552"/>
                          <a:gd name="T52" fmla="*/ 49 w 1000"/>
                          <a:gd name="T53" fmla="*/ 1157 h 1552"/>
                          <a:gd name="T54" fmla="*/ 27 w 1000"/>
                          <a:gd name="T55" fmla="*/ 748 h 1552"/>
                          <a:gd name="T56" fmla="*/ 84 w 1000"/>
                          <a:gd name="T57" fmla="*/ 42 h 1552"/>
                          <a:gd name="T58" fmla="*/ 243 w 1000"/>
                          <a:gd name="T59" fmla="*/ 11 h 1552"/>
                          <a:gd name="T60" fmla="*/ 289 w 1000"/>
                          <a:gd name="T61" fmla="*/ 0 h 1552"/>
                          <a:gd name="T62" fmla="*/ 329 w 1000"/>
                          <a:gd name="T63" fmla="*/ 2 h 1552"/>
                          <a:gd name="T64" fmla="*/ 367 w 1000"/>
                          <a:gd name="T65" fmla="*/ 17 h 1552"/>
                          <a:gd name="T66" fmla="*/ 404 w 1000"/>
                          <a:gd name="T67" fmla="*/ 53 h 1552"/>
                          <a:gd name="T68" fmla="*/ 421 w 1000"/>
                          <a:gd name="T69" fmla="*/ 99 h 1552"/>
                          <a:gd name="T70" fmla="*/ 428 w 1000"/>
                          <a:gd name="T71" fmla="*/ 183 h 1552"/>
                          <a:gd name="T72" fmla="*/ 510 w 1000"/>
                          <a:gd name="T73" fmla="*/ 542 h 1552"/>
                          <a:gd name="T74" fmla="*/ 548 w 1000"/>
                          <a:gd name="T75" fmla="*/ 580 h 155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00"/>
                          <a:gd name="T115" fmla="*/ 0 h 1552"/>
                          <a:gd name="T116" fmla="*/ 1000 w 1000"/>
                          <a:gd name="T117" fmla="*/ 1552 h 155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00" h="1552">
                            <a:moveTo>
                              <a:pt x="587" y="580"/>
                            </a:moveTo>
                            <a:lnTo>
                              <a:pt x="616" y="579"/>
                            </a:lnTo>
                            <a:lnTo>
                              <a:pt x="658" y="573"/>
                            </a:lnTo>
                            <a:lnTo>
                              <a:pt x="727" y="544"/>
                            </a:lnTo>
                            <a:lnTo>
                              <a:pt x="881" y="490"/>
                            </a:lnTo>
                            <a:lnTo>
                              <a:pt x="904" y="494"/>
                            </a:lnTo>
                            <a:lnTo>
                              <a:pt x="926" y="503"/>
                            </a:lnTo>
                            <a:lnTo>
                              <a:pt x="950" y="517"/>
                            </a:lnTo>
                            <a:lnTo>
                              <a:pt x="965" y="533"/>
                            </a:lnTo>
                            <a:lnTo>
                              <a:pt x="979" y="556"/>
                            </a:lnTo>
                            <a:lnTo>
                              <a:pt x="988" y="582"/>
                            </a:lnTo>
                            <a:lnTo>
                              <a:pt x="996" y="617"/>
                            </a:lnTo>
                            <a:lnTo>
                              <a:pt x="999" y="645"/>
                            </a:lnTo>
                            <a:lnTo>
                              <a:pt x="1000" y="675"/>
                            </a:lnTo>
                            <a:lnTo>
                              <a:pt x="999" y="709"/>
                            </a:lnTo>
                            <a:lnTo>
                              <a:pt x="995" y="742"/>
                            </a:lnTo>
                            <a:lnTo>
                              <a:pt x="988" y="769"/>
                            </a:lnTo>
                            <a:lnTo>
                              <a:pt x="866" y="806"/>
                            </a:lnTo>
                            <a:lnTo>
                              <a:pt x="814" y="831"/>
                            </a:lnTo>
                            <a:lnTo>
                              <a:pt x="780" y="850"/>
                            </a:lnTo>
                            <a:lnTo>
                              <a:pt x="752" y="865"/>
                            </a:lnTo>
                            <a:lnTo>
                              <a:pt x="727" y="876"/>
                            </a:lnTo>
                            <a:lnTo>
                              <a:pt x="691" y="886"/>
                            </a:lnTo>
                            <a:lnTo>
                              <a:pt x="619" y="907"/>
                            </a:lnTo>
                            <a:lnTo>
                              <a:pt x="497" y="934"/>
                            </a:lnTo>
                            <a:lnTo>
                              <a:pt x="408" y="949"/>
                            </a:lnTo>
                            <a:lnTo>
                              <a:pt x="386" y="943"/>
                            </a:lnTo>
                            <a:lnTo>
                              <a:pt x="372" y="927"/>
                            </a:lnTo>
                            <a:lnTo>
                              <a:pt x="362" y="903"/>
                            </a:lnTo>
                            <a:lnTo>
                              <a:pt x="333" y="841"/>
                            </a:lnTo>
                            <a:lnTo>
                              <a:pt x="327" y="880"/>
                            </a:lnTo>
                            <a:lnTo>
                              <a:pt x="320" y="979"/>
                            </a:lnTo>
                            <a:lnTo>
                              <a:pt x="324" y="1056"/>
                            </a:lnTo>
                            <a:lnTo>
                              <a:pt x="333" y="1096"/>
                            </a:lnTo>
                            <a:lnTo>
                              <a:pt x="335" y="1139"/>
                            </a:lnTo>
                            <a:lnTo>
                              <a:pt x="335" y="1180"/>
                            </a:lnTo>
                            <a:lnTo>
                              <a:pt x="340" y="1231"/>
                            </a:lnTo>
                            <a:lnTo>
                              <a:pt x="350" y="1277"/>
                            </a:lnTo>
                            <a:lnTo>
                              <a:pt x="379" y="1414"/>
                            </a:lnTo>
                            <a:lnTo>
                              <a:pt x="359" y="1437"/>
                            </a:lnTo>
                            <a:lnTo>
                              <a:pt x="332" y="1455"/>
                            </a:lnTo>
                            <a:lnTo>
                              <a:pt x="292" y="1471"/>
                            </a:lnTo>
                            <a:lnTo>
                              <a:pt x="251" y="1480"/>
                            </a:lnTo>
                            <a:lnTo>
                              <a:pt x="217" y="1491"/>
                            </a:lnTo>
                            <a:lnTo>
                              <a:pt x="180" y="1504"/>
                            </a:lnTo>
                            <a:lnTo>
                              <a:pt x="146" y="1517"/>
                            </a:lnTo>
                            <a:lnTo>
                              <a:pt x="109" y="1529"/>
                            </a:lnTo>
                            <a:lnTo>
                              <a:pt x="61" y="1543"/>
                            </a:lnTo>
                            <a:lnTo>
                              <a:pt x="0" y="1552"/>
                            </a:lnTo>
                            <a:lnTo>
                              <a:pt x="28" y="1371"/>
                            </a:lnTo>
                            <a:lnTo>
                              <a:pt x="39" y="1313"/>
                            </a:lnTo>
                            <a:lnTo>
                              <a:pt x="44" y="1278"/>
                            </a:lnTo>
                            <a:lnTo>
                              <a:pt x="45" y="1240"/>
                            </a:lnTo>
                            <a:lnTo>
                              <a:pt x="49" y="1157"/>
                            </a:lnTo>
                            <a:lnTo>
                              <a:pt x="46" y="1042"/>
                            </a:lnTo>
                            <a:lnTo>
                              <a:pt x="27" y="748"/>
                            </a:lnTo>
                            <a:lnTo>
                              <a:pt x="39" y="293"/>
                            </a:lnTo>
                            <a:lnTo>
                              <a:pt x="84" y="42"/>
                            </a:lnTo>
                            <a:lnTo>
                              <a:pt x="202" y="22"/>
                            </a:lnTo>
                            <a:lnTo>
                              <a:pt x="243" y="11"/>
                            </a:lnTo>
                            <a:lnTo>
                              <a:pt x="271" y="4"/>
                            </a:lnTo>
                            <a:lnTo>
                              <a:pt x="289" y="0"/>
                            </a:lnTo>
                            <a:lnTo>
                              <a:pt x="311" y="0"/>
                            </a:lnTo>
                            <a:lnTo>
                              <a:pt x="329" y="2"/>
                            </a:lnTo>
                            <a:lnTo>
                              <a:pt x="348" y="6"/>
                            </a:lnTo>
                            <a:lnTo>
                              <a:pt x="367" y="17"/>
                            </a:lnTo>
                            <a:lnTo>
                              <a:pt x="386" y="32"/>
                            </a:lnTo>
                            <a:lnTo>
                              <a:pt x="404" y="53"/>
                            </a:lnTo>
                            <a:lnTo>
                              <a:pt x="415" y="72"/>
                            </a:lnTo>
                            <a:lnTo>
                              <a:pt x="421" y="99"/>
                            </a:lnTo>
                            <a:lnTo>
                              <a:pt x="421" y="135"/>
                            </a:lnTo>
                            <a:lnTo>
                              <a:pt x="428" y="183"/>
                            </a:lnTo>
                            <a:lnTo>
                              <a:pt x="448" y="286"/>
                            </a:lnTo>
                            <a:lnTo>
                              <a:pt x="510" y="542"/>
                            </a:lnTo>
                            <a:lnTo>
                              <a:pt x="519" y="577"/>
                            </a:lnTo>
                            <a:lnTo>
                              <a:pt x="548" y="580"/>
                            </a:lnTo>
                            <a:lnTo>
                              <a:pt x="587" y="580"/>
                            </a:lnTo>
                            <a:close/>
                          </a:path>
                        </a:pathLst>
                      </a:custGeom>
                      <a:solidFill>
                        <a:srgbClr val="808080"/>
                      </a:solidFill>
                      <a:ln w="4763">
                        <a:solidFill>
                          <a:srgbClr val="000000"/>
                        </a:solidFill>
                        <a:prstDash val="solid"/>
                        <a:round/>
                        <a:headEnd/>
                        <a:tailEnd/>
                      </a:ln>
                    </p:spPr>
                    <p:txBody>
                      <a:bodyPr/>
                      <a:lstStyle/>
                      <a:p>
                        <a:endParaRPr lang="en-US"/>
                      </a:p>
                    </p:txBody>
                  </p:sp>
                  <p:sp>
                    <p:nvSpPr>
                      <p:cNvPr id="5189" name="Freeform 73"/>
                      <p:cNvSpPr>
                        <a:spLocks/>
                      </p:cNvSpPr>
                      <p:nvPr/>
                    </p:nvSpPr>
                    <p:spPr bwMode="auto">
                      <a:xfrm>
                        <a:off x="5036" y="1109"/>
                        <a:ext cx="27" cy="104"/>
                      </a:xfrm>
                      <a:custGeom>
                        <a:avLst/>
                        <a:gdLst>
                          <a:gd name="T0" fmla="*/ 109 w 109"/>
                          <a:gd name="T1" fmla="*/ 417 h 417"/>
                          <a:gd name="T2" fmla="*/ 70 w 109"/>
                          <a:gd name="T3" fmla="*/ 279 h 417"/>
                          <a:gd name="T4" fmla="*/ 31 w 109"/>
                          <a:gd name="T5" fmla="*/ 140 h 417"/>
                          <a:gd name="T6" fmla="*/ 39 w 109"/>
                          <a:gd name="T7" fmla="*/ 23 h 417"/>
                          <a:gd name="T8" fmla="*/ 0 w 109"/>
                          <a:gd name="T9" fmla="*/ 0 h 417"/>
                          <a:gd name="T10" fmla="*/ 0 60000 65536"/>
                          <a:gd name="T11" fmla="*/ 0 60000 65536"/>
                          <a:gd name="T12" fmla="*/ 0 60000 65536"/>
                          <a:gd name="T13" fmla="*/ 0 60000 65536"/>
                          <a:gd name="T14" fmla="*/ 0 60000 65536"/>
                          <a:gd name="T15" fmla="*/ 0 w 109"/>
                          <a:gd name="T16" fmla="*/ 0 h 417"/>
                          <a:gd name="T17" fmla="*/ 109 w 109"/>
                          <a:gd name="T18" fmla="*/ 417 h 417"/>
                        </a:gdLst>
                        <a:ahLst/>
                        <a:cxnLst>
                          <a:cxn ang="T10">
                            <a:pos x="T0" y="T1"/>
                          </a:cxn>
                          <a:cxn ang="T11">
                            <a:pos x="T2" y="T3"/>
                          </a:cxn>
                          <a:cxn ang="T12">
                            <a:pos x="T4" y="T5"/>
                          </a:cxn>
                          <a:cxn ang="T13">
                            <a:pos x="T6" y="T7"/>
                          </a:cxn>
                          <a:cxn ang="T14">
                            <a:pos x="T8" y="T9"/>
                          </a:cxn>
                        </a:cxnLst>
                        <a:rect l="T15" t="T16" r="T17" b="T18"/>
                        <a:pathLst>
                          <a:path w="109" h="417">
                            <a:moveTo>
                              <a:pt x="109" y="417"/>
                            </a:moveTo>
                            <a:lnTo>
                              <a:pt x="70" y="279"/>
                            </a:lnTo>
                            <a:lnTo>
                              <a:pt x="31" y="140"/>
                            </a:lnTo>
                            <a:lnTo>
                              <a:pt x="39" y="23"/>
                            </a:lnTo>
                            <a:lnTo>
                              <a:pt x="0" y="0"/>
                            </a:lnTo>
                          </a:path>
                        </a:pathLst>
                      </a:custGeom>
                      <a:noFill/>
                      <a:ln w="4763">
                        <a:solidFill>
                          <a:srgbClr val="000000"/>
                        </a:solidFill>
                        <a:prstDash val="solid"/>
                        <a:round/>
                        <a:headEnd/>
                        <a:tailEnd/>
                      </a:ln>
                    </p:spPr>
                    <p:txBody>
                      <a:bodyPr/>
                      <a:lstStyle/>
                      <a:p>
                        <a:endParaRPr lang="en-US"/>
                      </a:p>
                    </p:txBody>
                  </p:sp>
                </p:grpSp>
                <p:sp>
                  <p:nvSpPr>
                    <p:cNvPr id="5187" name="Freeform 75"/>
                    <p:cNvSpPr>
                      <a:spLocks/>
                    </p:cNvSpPr>
                    <p:nvPr/>
                  </p:nvSpPr>
                  <p:spPr bwMode="auto">
                    <a:xfrm>
                      <a:off x="5089" y="1150"/>
                      <a:ext cx="22" cy="21"/>
                    </a:xfrm>
                    <a:custGeom>
                      <a:avLst/>
                      <a:gdLst>
                        <a:gd name="T0" fmla="*/ 91 w 91"/>
                        <a:gd name="T1" fmla="*/ 2 h 85"/>
                        <a:gd name="T2" fmla="*/ 48 w 91"/>
                        <a:gd name="T3" fmla="*/ 0 h 85"/>
                        <a:gd name="T4" fmla="*/ 25 w 91"/>
                        <a:gd name="T5" fmla="*/ 10 h 85"/>
                        <a:gd name="T6" fmla="*/ 8 w 91"/>
                        <a:gd name="T7" fmla="*/ 31 h 85"/>
                        <a:gd name="T8" fmla="*/ 0 w 91"/>
                        <a:gd name="T9" fmla="*/ 62 h 85"/>
                        <a:gd name="T10" fmla="*/ 2 w 91"/>
                        <a:gd name="T11" fmla="*/ 85 h 85"/>
                        <a:gd name="T12" fmla="*/ 0 60000 65536"/>
                        <a:gd name="T13" fmla="*/ 0 60000 65536"/>
                        <a:gd name="T14" fmla="*/ 0 60000 65536"/>
                        <a:gd name="T15" fmla="*/ 0 60000 65536"/>
                        <a:gd name="T16" fmla="*/ 0 60000 65536"/>
                        <a:gd name="T17" fmla="*/ 0 60000 65536"/>
                        <a:gd name="T18" fmla="*/ 0 w 91"/>
                        <a:gd name="T19" fmla="*/ 0 h 85"/>
                        <a:gd name="T20" fmla="*/ 91 w 91"/>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91" h="85">
                          <a:moveTo>
                            <a:pt x="91" y="2"/>
                          </a:moveTo>
                          <a:lnTo>
                            <a:pt x="48" y="0"/>
                          </a:lnTo>
                          <a:lnTo>
                            <a:pt x="25" y="10"/>
                          </a:lnTo>
                          <a:lnTo>
                            <a:pt x="8" y="31"/>
                          </a:lnTo>
                          <a:lnTo>
                            <a:pt x="0" y="62"/>
                          </a:lnTo>
                          <a:lnTo>
                            <a:pt x="2" y="85"/>
                          </a:lnTo>
                        </a:path>
                      </a:pathLst>
                    </a:custGeom>
                    <a:noFill/>
                    <a:ln w="4763">
                      <a:solidFill>
                        <a:srgbClr val="000000"/>
                      </a:solidFill>
                      <a:prstDash val="solid"/>
                      <a:round/>
                      <a:headEnd/>
                      <a:tailEnd/>
                    </a:ln>
                  </p:spPr>
                  <p:txBody>
                    <a:bodyPr/>
                    <a:lstStyle/>
                    <a:p>
                      <a:endParaRPr lang="en-US"/>
                    </a:p>
                  </p:txBody>
                </p:sp>
              </p:grpSp>
              <p:sp>
                <p:nvSpPr>
                  <p:cNvPr id="5185" name="Freeform 77"/>
                  <p:cNvSpPr>
                    <a:spLocks/>
                  </p:cNvSpPr>
                  <p:nvPr/>
                </p:nvSpPr>
                <p:spPr bwMode="auto">
                  <a:xfrm>
                    <a:off x="4983" y="1016"/>
                    <a:ext cx="52" cy="301"/>
                  </a:xfrm>
                  <a:custGeom>
                    <a:avLst/>
                    <a:gdLst>
                      <a:gd name="T0" fmla="*/ 81 w 209"/>
                      <a:gd name="T1" fmla="*/ 0 h 1205"/>
                      <a:gd name="T2" fmla="*/ 114 w 209"/>
                      <a:gd name="T3" fmla="*/ 80 h 1205"/>
                      <a:gd name="T4" fmla="*/ 126 w 209"/>
                      <a:gd name="T5" fmla="*/ 109 h 1205"/>
                      <a:gd name="T6" fmla="*/ 139 w 209"/>
                      <a:gd name="T7" fmla="*/ 135 h 1205"/>
                      <a:gd name="T8" fmla="*/ 163 w 209"/>
                      <a:gd name="T9" fmla="*/ 169 h 1205"/>
                      <a:gd name="T10" fmla="*/ 181 w 209"/>
                      <a:gd name="T11" fmla="*/ 189 h 1205"/>
                      <a:gd name="T12" fmla="*/ 209 w 209"/>
                      <a:gd name="T13" fmla="*/ 220 h 1205"/>
                      <a:gd name="T14" fmla="*/ 112 w 209"/>
                      <a:gd name="T15" fmla="*/ 224 h 1205"/>
                      <a:gd name="T16" fmla="*/ 178 w 209"/>
                      <a:gd name="T17" fmla="*/ 313 h 1205"/>
                      <a:gd name="T18" fmla="*/ 142 w 209"/>
                      <a:gd name="T19" fmla="*/ 404 h 1205"/>
                      <a:gd name="T20" fmla="*/ 128 w 209"/>
                      <a:gd name="T21" fmla="*/ 442 h 1205"/>
                      <a:gd name="T22" fmla="*/ 116 w 209"/>
                      <a:gd name="T23" fmla="*/ 483 h 1205"/>
                      <a:gd name="T24" fmla="*/ 106 w 209"/>
                      <a:gd name="T25" fmla="*/ 535 h 1205"/>
                      <a:gd name="T26" fmla="*/ 86 w 209"/>
                      <a:gd name="T27" fmla="*/ 656 h 1205"/>
                      <a:gd name="T28" fmla="*/ 77 w 209"/>
                      <a:gd name="T29" fmla="*/ 723 h 1205"/>
                      <a:gd name="T30" fmla="*/ 72 w 209"/>
                      <a:gd name="T31" fmla="*/ 793 h 1205"/>
                      <a:gd name="T32" fmla="*/ 70 w 209"/>
                      <a:gd name="T33" fmla="*/ 846 h 1205"/>
                      <a:gd name="T34" fmla="*/ 70 w 209"/>
                      <a:gd name="T35" fmla="*/ 993 h 1205"/>
                      <a:gd name="T36" fmla="*/ 67 w 209"/>
                      <a:gd name="T37" fmla="*/ 1033 h 1205"/>
                      <a:gd name="T38" fmla="*/ 61 w 209"/>
                      <a:gd name="T39" fmla="*/ 1086 h 1205"/>
                      <a:gd name="T40" fmla="*/ 44 w 209"/>
                      <a:gd name="T41" fmla="*/ 1205 h 1205"/>
                      <a:gd name="T42" fmla="*/ 23 w 209"/>
                      <a:gd name="T43" fmla="*/ 920 h 1205"/>
                      <a:gd name="T44" fmla="*/ 17 w 209"/>
                      <a:gd name="T45" fmla="*/ 846 h 1205"/>
                      <a:gd name="T46" fmla="*/ 8 w 209"/>
                      <a:gd name="T47" fmla="*/ 741 h 1205"/>
                      <a:gd name="T48" fmla="*/ 4 w 209"/>
                      <a:gd name="T49" fmla="*/ 686 h 1205"/>
                      <a:gd name="T50" fmla="*/ 1 w 209"/>
                      <a:gd name="T51" fmla="*/ 632 h 1205"/>
                      <a:gd name="T52" fmla="*/ 1 w 209"/>
                      <a:gd name="T53" fmla="*/ 561 h 1205"/>
                      <a:gd name="T54" fmla="*/ 0 w 209"/>
                      <a:gd name="T55" fmla="*/ 481 h 1205"/>
                      <a:gd name="T56" fmla="*/ 0 w 209"/>
                      <a:gd name="T57" fmla="*/ 402 h 1205"/>
                      <a:gd name="T58" fmla="*/ 1 w 209"/>
                      <a:gd name="T59" fmla="*/ 354 h 1205"/>
                      <a:gd name="T60" fmla="*/ 6 w 209"/>
                      <a:gd name="T61" fmla="*/ 273 h 1205"/>
                      <a:gd name="T62" fmla="*/ 9 w 209"/>
                      <a:gd name="T63" fmla="*/ 231 h 1205"/>
                      <a:gd name="T64" fmla="*/ 15 w 209"/>
                      <a:gd name="T65" fmla="*/ 182 h 1205"/>
                      <a:gd name="T66" fmla="*/ 22 w 209"/>
                      <a:gd name="T67" fmla="*/ 153 h 1205"/>
                      <a:gd name="T68" fmla="*/ 30 w 209"/>
                      <a:gd name="T69" fmla="*/ 122 h 1205"/>
                      <a:gd name="T70" fmla="*/ 37 w 209"/>
                      <a:gd name="T71" fmla="*/ 98 h 1205"/>
                      <a:gd name="T72" fmla="*/ 45 w 209"/>
                      <a:gd name="T73" fmla="*/ 73 h 1205"/>
                      <a:gd name="T74" fmla="*/ 81 w 209"/>
                      <a:gd name="T75" fmla="*/ 0 h 120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9"/>
                      <a:gd name="T115" fmla="*/ 0 h 1205"/>
                      <a:gd name="T116" fmla="*/ 209 w 209"/>
                      <a:gd name="T117" fmla="*/ 1205 h 120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9" h="1205">
                        <a:moveTo>
                          <a:pt x="81" y="0"/>
                        </a:moveTo>
                        <a:lnTo>
                          <a:pt x="114" y="80"/>
                        </a:lnTo>
                        <a:lnTo>
                          <a:pt x="126" y="109"/>
                        </a:lnTo>
                        <a:lnTo>
                          <a:pt x="139" y="135"/>
                        </a:lnTo>
                        <a:lnTo>
                          <a:pt x="163" y="169"/>
                        </a:lnTo>
                        <a:lnTo>
                          <a:pt x="181" y="189"/>
                        </a:lnTo>
                        <a:lnTo>
                          <a:pt x="209" y="220"/>
                        </a:lnTo>
                        <a:lnTo>
                          <a:pt x="112" y="224"/>
                        </a:lnTo>
                        <a:lnTo>
                          <a:pt x="178" y="313"/>
                        </a:lnTo>
                        <a:lnTo>
                          <a:pt x="142" y="404"/>
                        </a:lnTo>
                        <a:lnTo>
                          <a:pt x="128" y="442"/>
                        </a:lnTo>
                        <a:lnTo>
                          <a:pt x="116" y="483"/>
                        </a:lnTo>
                        <a:lnTo>
                          <a:pt x="106" y="535"/>
                        </a:lnTo>
                        <a:lnTo>
                          <a:pt x="86" y="656"/>
                        </a:lnTo>
                        <a:lnTo>
                          <a:pt x="77" y="723"/>
                        </a:lnTo>
                        <a:lnTo>
                          <a:pt x="72" y="793"/>
                        </a:lnTo>
                        <a:lnTo>
                          <a:pt x="70" y="846"/>
                        </a:lnTo>
                        <a:lnTo>
                          <a:pt x="70" y="993"/>
                        </a:lnTo>
                        <a:lnTo>
                          <a:pt x="67" y="1033"/>
                        </a:lnTo>
                        <a:lnTo>
                          <a:pt x="61" y="1086"/>
                        </a:lnTo>
                        <a:lnTo>
                          <a:pt x="44" y="1205"/>
                        </a:lnTo>
                        <a:lnTo>
                          <a:pt x="23" y="920"/>
                        </a:lnTo>
                        <a:lnTo>
                          <a:pt x="17" y="846"/>
                        </a:lnTo>
                        <a:lnTo>
                          <a:pt x="8" y="741"/>
                        </a:lnTo>
                        <a:lnTo>
                          <a:pt x="4" y="686"/>
                        </a:lnTo>
                        <a:lnTo>
                          <a:pt x="1" y="632"/>
                        </a:lnTo>
                        <a:lnTo>
                          <a:pt x="1" y="561"/>
                        </a:lnTo>
                        <a:lnTo>
                          <a:pt x="0" y="481"/>
                        </a:lnTo>
                        <a:lnTo>
                          <a:pt x="0" y="402"/>
                        </a:lnTo>
                        <a:lnTo>
                          <a:pt x="1" y="354"/>
                        </a:lnTo>
                        <a:lnTo>
                          <a:pt x="6" y="273"/>
                        </a:lnTo>
                        <a:lnTo>
                          <a:pt x="9" y="231"/>
                        </a:lnTo>
                        <a:lnTo>
                          <a:pt x="15" y="182"/>
                        </a:lnTo>
                        <a:lnTo>
                          <a:pt x="22" y="153"/>
                        </a:lnTo>
                        <a:lnTo>
                          <a:pt x="30" y="122"/>
                        </a:lnTo>
                        <a:lnTo>
                          <a:pt x="37" y="98"/>
                        </a:lnTo>
                        <a:lnTo>
                          <a:pt x="45" y="73"/>
                        </a:lnTo>
                        <a:lnTo>
                          <a:pt x="81" y="0"/>
                        </a:lnTo>
                        <a:close/>
                      </a:path>
                    </a:pathLst>
                  </a:custGeom>
                  <a:solidFill>
                    <a:srgbClr val="808080"/>
                  </a:solidFill>
                  <a:ln w="4763">
                    <a:solidFill>
                      <a:srgbClr val="000000"/>
                    </a:solidFill>
                    <a:prstDash val="solid"/>
                    <a:round/>
                    <a:headEnd/>
                    <a:tailEnd/>
                  </a:ln>
                </p:spPr>
                <p:txBody>
                  <a:bodyPr/>
                  <a:lstStyle/>
                  <a:p>
                    <a:endParaRPr lang="en-US"/>
                  </a:p>
                </p:txBody>
              </p:sp>
            </p:grpSp>
            <p:grpSp>
              <p:nvGrpSpPr>
                <p:cNvPr id="5172" name="Group 83"/>
                <p:cNvGrpSpPr>
                  <a:grpSpLocks/>
                </p:cNvGrpSpPr>
                <p:nvPr/>
              </p:nvGrpSpPr>
              <p:grpSpPr bwMode="auto">
                <a:xfrm>
                  <a:off x="4576" y="1108"/>
                  <a:ext cx="145" cy="110"/>
                  <a:chOff x="4576" y="1108"/>
                  <a:chExt cx="145" cy="110"/>
                </a:xfrm>
              </p:grpSpPr>
              <p:grpSp>
                <p:nvGrpSpPr>
                  <p:cNvPr id="5180" name="Group 81"/>
                  <p:cNvGrpSpPr>
                    <a:grpSpLocks/>
                  </p:cNvGrpSpPr>
                  <p:nvPr/>
                </p:nvGrpSpPr>
                <p:grpSpPr bwMode="auto">
                  <a:xfrm>
                    <a:off x="4576" y="1108"/>
                    <a:ext cx="145" cy="110"/>
                    <a:chOff x="4576" y="1108"/>
                    <a:chExt cx="145" cy="110"/>
                  </a:xfrm>
                </p:grpSpPr>
                <p:sp>
                  <p:nvSpPr>
                    <p:cNvPr id="5182" name="Freeform 79"/>
                    <p:cNvSpPr>
                      <a:spLocks/>
                    </p:cNvSpPr>
                    <p:nvPr/>
                  </p:nvSpPr>
                  <p:spPr bwMode="auto">
                    <a:xfrm>
                      <a:off x="4652" y="1112"/>
                      <a:ext cx="69" cy="72"/>
                    </a:xfrm>
                    <a:custGeom>
                      <a:avLst/>
                      <a:gdLst>
                        <a:gd name="T0" fmla="*/ 0 w 276"/>
                        <a:gd name="T1" fmla="*/ 0 h 287"/>
                        <a:gd name="T2" fmla="*/ 263 w 276"/>
                        <a:gd name="T3" fmla="*/ 89 h 287"/>
                        <a:gd name="T4" fmla="*/ 272 w 276"/>
                        <a:gd name="T5" fmla="*/ 139 h 287"/>
                        <a:gd name="T6" fmla="*/ 276 w 276"/>
                        <a:gd name="T7" fmla="*/ 186 h 287"/>
                        <a:gd name="T8" fmla="*/ 264 w 276"/>
                        <a:gd name="T9" fmla="*/ 240 h 287"/>
                        <a:gd name="T10" fmla="*/ 241 w 276"/>
                        <a:gd name="T11" fmla="*/ 287 h 287"/>
                        <a:gd name="T12" fmla="*/ 148 w 276"/>
                        <a:gd name="T13" fmla="*/ 221 h 287"/>
                        <a:gd name="T14" fmla="*/ 43 w 276"/>
                        <a:gd name="T15" fmla="*/ 201 h 287"/>
                        <a:gd name="T16" fmla="*/ 0 w 276"/>
                        <a:gd name="T17" fmla="*/ 0 h 2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6"/>
                        <a:gd name="T28" fmla="*/ 0 h 287"/>
                        <a:gd name="T29" fmla="*/ 276 w 276"/>
                        <a:gd name="T30" fmla="*/ 287 h 2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6" h="287">
                          <a:moveTo>
                            <a:pt x="0" y="0"/>
                          </a:moveTo>
                          <a:lnTo>
                            <a:pt x="263" y="89"/>
                          </a:lnTo>
                          <a:lnTo>
                            <a:pt x="272" y="139"/>
                          </a:lnTo>
                          <a:lnTo>
                            <a:pt x="276" y="186"/>
                          </a:lnTo>
                          <a:lnTo>
                            <a:pt x="264" y="240"/>
                          </a:lnTo>
                          <a:lnTo>
                            <a:pt x="241" y="287"/>
                          </a:lnTo>
                          <a:lnTo>
                            <a:pt x="148" y="221"/>
                          </a:lnTo>
                          <a:lnTo>
                            <a:pt x="43" y="201"/>
                          </a:lnTo>
                          <a:lnTo>
                            <a:pt x="0" y="0"/>
                          </a:lnTo>
                          <a:close/>
                        </a:path>
                      </a:pathLst>
                    </a:custGeom>
                    <a:solidFill>
                      <a:srgbClr val="FFC080"/>
                    </a:solidFill>
                    <a:ln w="4763">
                      <a:solidFill>
                        <a:srgbClr val="000000"/>
                      </a:solidFill>
                      <a:prstDash val="solid"/>
                      <a:round/>
                      <a:headEnd/>
                      <a:tailEnd/>
                    </a:ln>
                  </p:spPr>
                  <p:txBody>
                    <a:bodyPr/>
                    <a:lstStyle/>
                    <a:p>
                      <a:endParaRPr lang="en-US"/>
                    </a:p>
                  </p:txBody>
                </p:sp>
                <p:sp>
                  <p:nvSpPr>
                    <p:cNvPr id="5183" name="Freeform 80"/>
                    <p:cNvSpPr>
                      <a:spLocks/>
                    </p:cNvSpPr>
                    <p:nvPr/>
                  </p:nvSpPr>
                  <p:spPr bwMode="auto">
                    <a:xfrm>
                      <a:off x="4576" y="1108"/>
                      <a:ext cx="112" cy="110"/>
                    </a:xfrm>
                    <a:custGeom>
                      <a:avLst/>
                      <a:gdLst>
                        <a:gd name="T0" fmla="*/ 414 w 448"/>
                        <a:gd name="T1" fmla="*/ 70 h 439"/>
                        <a:gd name="T2" fmla="*/ 377 w 448"/>
                        <a:gd name="T3" fmla="*/ 52 h 439"/>
                        <a:gd name="T4" fmla="*/ 340 w 448"/>
                        <a:gd name="T5" fmla="*/ 39 h 439"/>
                        <a:gd name="T6" fmla="*/ 297 w 448"/>
                        <a:gd name="T7" fmla="*/ 11 h 439"/>
                        <a:gd name="T8" fmla="*/ 257 w 448"/>
                        <a:gd name="T9" fmla="*/ 0 h 439"/>
                        <a:gd name="T10" fmla="*/ 224 w 448"/>
                        <a:gd name="T11" fmla="*/ 11 h 439"/>
                        <a:gd name="T12" fmla="*/ 191 w 448"/>
                        <a:gd name="T13" fmla="*/ 24 h 439"/>
                        <a:gd name="T14" fmla="*/ 135 w 448"/>
                        <a:gd name="T15" fmla="*/ 27 h 439"/>
                        <a:gd name="T16" fmla="*/ 87 w 448"/>
                        <a:gd name="T17" fmla="*/ 21 h 439"/>
                        <a:gd name="T18" fmla="*/ 49 w 448"/>
                        <a:gd name="T19" fmla="*/ 16 h 439"/>
                        <a:gd name="T20" fmla="*/ 17 w 448"/>
                        <a:gd name="T21" fmla="*/ 27 h 439"/>
                        <a:gd name="T22" fmla="*/ 13 w 448"/>
                        <a:gd name="T23" fmla="*/ 44 h 439"/>
                        <a:gd name="T24" fmla="*/ 25 w 448"/>
                        <a:gd name="T25" fmla="*/ 65 h 439"/>
                        <a:gd name="T26" fmla="*/ 97 w 448"/>
                        <a:gd name="T27" fmla="*/ 79 h 439"/>
                        <a:gd name="T28" fmla="*/ 159 w 448"/>
                        <a:gd name="T29" fmla="*/ 93 h 439"/>
                        <a:gd name="T30" fmla="*/ 168 w 448"/>
                        <a:gd name="T31" fmla="*/ 120 h 439"/>
                        <a:gd name="T32" fmla="*/ 135 w 448"/>
                        <a:gd name="T33" fmla="*/ 191 h 439"/>
                        <a:gd name="T34" fmla="*/ 69 w 448"/>
                        <a:gd name="T35" fmla="*/ 253 h 439"/>
                        <a:gd name="T36" fmla="*/ 29 w 448"/>
                        <a:gd name="T37" fmla="*/ 283 h 439"/>
                        <a:gd name="T38" fmla="*/ 7 w 448"/>
                        <a:gd name="T39" fmla="*/ 300 h 439"/>
                        <a:gd name="T40" fmla="*/ 0 w 448"/>
                        <a:gd name="T41" fmla="*/ 320 h 439"/>
                        <a:gd name="T42" fmla="*/ 10 w 448"/>
                        <a:gd name="T43" fmla="*/ 337 h 439"/>
                        <a:gd name="T44" fmla="*/ 39 w 448"/>
                        <a:gd name="T45" fmla="*/ 338 h 439"/>
                        <a:gd name="T46" fmla="*/ 80 w 448"/>
                        <a:gd name="T47" fmla="*/ 310 h 439"/>
                        <a:gd name="T48" fmla="*/ 168 w 448"/>
                        <a:gd name="T49" fmla="*/ 244 h 439"/>
                        <a:gd name="T50" fmla="*/ 180 w 448"/>
                        <a:gd name="T51" fmla="*/ 240 h 439"/>
                        <a:gd name="T52" fmla="*/ 138 w 448"/>
                        <a:gd name="T53" fmla="*/ 289 h 439"/>
                        <a:gd name="T54" fmla="*/ 111 w 448"/>
                        <a:gd name="T55" fmla="*/ 318 h 439"/>
                        <a:gd name="T56" fmla="*/ 66 w 448"/>
                        <a:gd name="T57" fmla="*/ 353 h 439"/>
                        <a:gd name="T58" fmla="*/ 62 w 448"/>
                        <a:gd name="T59" fmla="*/ 377 h 439"/>
                        <a:gd name="T60" fmla="*/ 78 w 448"/>
                        <a:gd name="T61" fmla="*/ 393 h 439"/>
                        <a:gd name="T62" fmla="*/ 107 w 448"/>
                        <a:gd name="T63" fmla="*/ 393 h 439"/>
                        <a:gd name="T64" fmla="*/ 155 w 448"/>
                        <a:gd name="T65" fmla="*/ 355 h 439"/>
                        <a:gd name="T66" fmla="*/ 238 w 448"/>
                        <a:gd name="T67" fmla="*/ 262 h 439"/>
                        <a:gd name="T68" fmla="*/ 208 w 448"/>
                        <a:gd name="T69" fmla="*/ 314 h 439"/>
                        <a:gd name="T70" fmla="*/ 193 w 448"/>
                        <a:gd name="T71" fmla="*/ 347 h 439"/>
                        <a:gd name="T72" fmla="*/ 158 w 448"/>
                        <a:gd name="T73" fmla="*/ 394 h 439"/>
                        <a:gd name="T74" fmla="*/ 151 w 448"/>
                        <a:gd name="T75" fmla="*/ 416 h 439"/>
                        <a:gd name="T76" fmla="*/ 162 w 448"/>
                        <a:gd name="T77" fmla="*/ 434 h 439"/>
                        <a:gd name="T78" fmla="*/ 187 w 448"/>
                        <a:gd name="T79" fmla="*/ 438 h 439"/>
                        <a:gd name="T80" fmla="*/ 247 w 448"/>
                        <a:gd name="T81" fmla="*/ 367 h 439"/>
                        <a:gd name="T82" fmla="*/ 296 w 448"/>
                        <a:gd name="T83" fmla="*/ 270 h 439"/>
                        <a:gd name="T84" fmla="*/ 308 w 448"/>
                        <a:gd name="T85" fmla="*/ 264 h 439"/>
                        <a:gd name="T86" fmla="*/ 306 w 448"/>
                        <a:gd name="T87" fmla="*/ 300 h 439"/>
                        <a:gd name="T88" fmla="*/ 305 w 448"/>
                        <a:gd name="T89" fmla="*/ 356 h 439"/>
                        <a:gd name="T90" fmla="*/ 306 w 448"/>
                        <a:gd name="T91" fmla="*/ 407 h 439"/>
                        <a:gd name="T92" fmla="*/ 321 w 448"/>
                        <a:gd name="T93" fmla="*/ 422 h 439"/>
                        <a:gd name="T94" fmla="*/ 344 w 448"/>
                        <a:gd name="T95" fmla="*/ 424 h 439"/>
                        <a:gd name="T96" fmla="*/ 357 w 448"/>
                        <a:gd name="T97" fmla="*/ 408 h 439"/>
                        <a:gd name="T98" fmla="*/ 355 w 448"/>
                        <a:gd name="T99" fmla="*/ 351 h 439"/>
                        <a:gd name="T100" fmla="*/ 361 w 448"/>
                        <a:gd name="T101" fmla="*/ 280 h 439"/>
                        <a:gd name="T102" fmla="*/ 371 w 448"/>
                        <a:gd name="T103" fmla="*/ 249 h 439"/>
                        <a:gd name="T104" fmla="*/ 447 w 448"/>
                        <a:gd name="T105" fmla="*/ 142 h 439"/>
                        <a:gd name="T106" fmla="*/ 441 w 448"/>
                        <a:gd name="T107" fmla="*/ 102 h 43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448"/>
                        <a:gd name="T163" fmla="*/ 0 h 439"/>
                        <a:gd name="T164" fmla="*/ 448 w 448"/>
                        <a:gd name="T165" fmla="*/ 439 h 43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448" h="439">
                          <a:moveTo>
                            <a:pt x="427" y="84"/>
                          </a:moveTo>
                          <a:lnTo>
                            <a:pt x="414" y="70"/>
                          </a:lnTo>
                          <a:lnTo>
                            <a:pt x="397" y="58"/>
                          </a:lnTo>
                          <a:lnTo>
                            <a:pt x="377" y="52"/>
                          </a:lnTo>
                          <a:lnTo>
                            <a:pt x="352" y="47"/>
                          </a:lnTo>
                          <a:lnTo>
                            <a:pt x="340" y="39"/>
                          </a:lnTo>
                          <a:lnTo>
                            <a:pt x="322" y="26"/>
                          </a:lnTo>
                          <a:lnTo>
                            <a:pt x="297" y="11"/>
                          </a:lnTo>
                          <a:lnTo>
                            <a:pt x="271" y="2"/>
                          </a:lnTo>
                          <a:lnTo>
                            <a:pt x="257" y="0"/>
                          </a:lnTo>
                          <a:lnTo>
                            <a:pt x="243" y="3"/>
                          </a:lnTo>
                          <a:lnTo>
                            <a:pt x="224" y="11"/>
                          </a:lnTo>
                          <a:lnTo>
                            <a:pt x="207" y="18"/>
                          </a:lnTo>
                          <a:lnTo>
                            <a:pt x="191" y="24"/>
                          </a:lnTo>
                          <a:lnTo>
                            <a:pt x="169" y="27"/>
                          </a:lnTo>
                          <a:lnTo>
                            <a:pt x="135" y="27"/>
                          </a:lnTo>
                          <a:lnTo>
                            <a:pt x="111" y="26"/>
                          </a:lnTo>
                          <a:lnTo>
                            <a:pt x="87" y="21"/>
                          </a:lnTo>
                          <a:lnTo>
                            <a:pt x="63" y="16"/>
                          </a:lnTo>
                          <a:lnTo>
                            <a:pt x="49" y="16"/>
                          </a:lnTo>
                          <a:lnTo>
                            <a:pt x="32" y="20"/>
                          </a:lnTo>
                          <a:lnTo>
                            <a:pt x="17" y="27"/>
                          </a:lnTo>
                          <a:lnTo>
                            <a:pt x="13" y="35"/>
                          </a:lnTo>
                          <a:lnTo>
                            <a:pt x="13" y="44"/>
                          </a:lnTo>
                          <a:lnTo>
                            <a:pt x="14" y="57"/>
                          </a:lnTo>
                          <a:lnTo>
                            <a:pt x="25" y="65"/>
                          </a:lnTo>
                          <a:lnTo>
                            <a:pt x="65" y="67"/>
                          </a:lnTo>
                          <a:lnTo>
                            <a:pt x="97" y="79"/>
                          </a:lnTo>
                          <a:lnTo>
                            <a:pt x="150" y="89"/>
                          </a:lnTo>
                          <a:lnTo>
                            <a:pt x="159" y="93"/>
                          </a:lnTo>
                          <a:lnTo>
                            <a:pt x="168" y="107"/>
                          </a:lnTo>
                          <a:lnTo>
                            <a:pt x="168" y="120"/>
                          </a:lnTo>
                          <a:lnTo>
                            <a:pt x="154" y="159"/>
                          </a:lnTo>
                          <a:lnTo>
                            <a:pt x="135" y="191"/>
                          </a:lnTo>
                          <a:lnTo>
                            <a:pt x="109" y="221"/>
                          </a:lnTo>
                          <a:lnTo>
                            <a:pt x="69" y="253"/>
                          </a:lnTo>
                          <a:lnTo>
                            <a:pt x="40" y="276"/>
                          </a:lnTo>
                          <a:lnTo>
                            <a:pt x="29" y="283"/>
                          </a:lnTo>
                          <a:lnTo>
                            <a:pt x="17" y="291"/>
                          </a:lnTo>
                          <a:lnTo>
                            <a:pt x="7" y="300"/>
                          </a:lnTo>
                          <a:lnTo>
                            <a:pt x="0" y="310"/>
                          </a:lnTo>
                          <a:lnTo>
                            <a:pt x="0" y="320"/>
                          </a:lnTo>
                          <a:lnTo>
                            <a:pt x="4" y="332"/>
                          </a:lnTo>
                          <a:lnTo>
                            <a:pt x="10" y="337"/>
                          </a:lnTo>
                          <a:lnTo>
                            <a:pt x="23" y="340"/>
                          </a:lnTo>
                          <a:lnTo>
                            <a:pt x="39" y="338"/>
                          </a:lnTo>
                          <a:lnTo>
                            <a:pt x="53" y="332"/>
                          </a:lnTo>
                          <a:lnTo>
                            <a:pt x="80" y="310"/>
                          </a:lnTo>
                          <a:lnTo>
                            <a:pt x="129" y="280"/>
                          </a:lnTo>
                          <a:lnTo>
                            <a:pt x="168" y="244"/>
                          </a:lnTo>
                          <a:lnTo>
                            <a:pt x="173" y="239"/>
                          </a:lnTo>
                          <a:lnTo>
                            <a:pt x="180" y="240"/>
                          </a:lnTo>
                          <a:lnTo>
                            <a:pt x="177" y="251"/>
                          </a:lnTo>
                          <a:lnTo>
                            <a:pt x="138" y="289"/>
                          </a:lnTo>
                          <a:lnTo>
                            <a:pt x="125" y="302"/>
                          </a:lnTo>
                          <a:lnTo>
                            <a:pt x="111" y="318"/>
                          </a:lnTo>
                          <a:lnTo>
                            <a:pt x="82" y="338"/>
                          </a:lnTo>
                          <a:lnTo>
                            <a:pt x="66" y="353"/>
                          </a:lnTo>
                          <a:lnTo>
                            <a:pt x="61" y="364"/>
                          </a:lnTo>
                          <a:lnTo>
                            <a:pt x="62" y="377"/>
                          </a:lnTo>
                          <a:lnTo>
                            <a:pt x="69" y="386"/>
                          </a:lnTo>
                          <a:lnTo>
                            <a:pt x="78" y="393"/>
                          </a:lnTo>
                          <a:lnTo>
                            <a:pt x="92" y="395"/>
                          </a:lnTo>
                          <a:lnTo>
                            <a:pt x="107" y="393"/>
                          </a:lnTo>
                          <a:lnTo>
                            <a:pt x="119" y="386"/>
                          </a:lnTo>
                          <a:lnTo>
                            <a:pt x="155" y="355"/>
                          </a:lnTo>
                          <a:lnTo>
                            <a:pt x="178" y="331"/>
                          </a:lnTo>
                          <a:lnTo>
                            <a:pt x="238" y="262"/>
                          </a:lnTo>
                          <a:lnTo>
                            <a:pt x="217" y="291"/>
                          </a:lnTo>
                          <a:lnTo>
                            <a:pt x="208" y="314"/>
                          </a:lnTo>
                          <a:lnTo>
                            <a:pt x="203" y="325"/>
                          </a:lnTo>
                          <a:lnTo>
                            <a:pt x="193" y="347"/>
                          </a:lnTo>
                          <a:lnTo>
                            <a:pt x="167" y="382"/>
                          </a:lnTo>
                          <a:lnTo>
                            <a:pt x="158" y="394"/>
                          </a:lnTo>
                          <a:lnTo>
                            <a:pt x="153" y="405"/>
                          </a:lnTo>
                          <a:lnTo>
                            <a:pt x="151" y="416"/>
                          </a:lnTo>
                          <a:lnTo>
                            <a:pt x="154" y="425"/>
                          </a:lnTo>
                          <a:lnTo>
                            <a:pt x="162" y="434"/>
                          </a:lnTo>
                          <a:lnTo>
                            <a:pt x="172" y="439"/>
                          </a:lnTo>
                          <a:lnTo>
                            <a:pt x="187" y="438"/>
                          </a:lnTo>
                          <a:lnTo>
                            <a:pt x="199" y="434"/>
                          </a:lnTo>
                          <a:lnTo>
                            <a:pt x="247" y="367"/>
                          </a:lnTo>
                          <a:lnTo>
                            <a:pt x="274" y="313"/>
                          </a:lnTo>
                          <a:lnTo>
                            <a:pt x="296" y="270"/>
                          </a:lnTo>
                          <a:lnTo>
                            <a:pt x="300" y="264"/>
                          </a:lnTo>
                          <a:lnTo>
                            <a:pt x="308" y="264"/>
                          </a:lnTo>
                          <a:lnTo>
                            <a:pt x="310" y="269"/>
                          </a:lnTo>
                          <a:lnTo>
                            <a:pt x="306" y="300"/>
                          </a:lnTo>
                          <a:lnTo>
                            <a:pt x="304" y="324"/>
                          </a:lnTo>
                          <a:lnTo>
                            <a:pt x="305" y="356"/>
                          </a:lnTo>
                          <a:lnTo>
                            <a:pt x="305" y="399"/>
                          </a:lnTo>
                          <a:lnTo>
                            <a:pt x="306" y="407"/>
                          </a:lnTo>
                          <a:lnTo>
                            <a:pt x="312" y="414"/>
                          </a:lnTo>
                          <a:lnTo>
                            <a:pt x="321" y="422"/>
                          </a:lnTo>
                          <a:lnTo>
                            <a:pt x="332" y="425"/>
                          </a:lnTo>
                          <a:lnTo>
                            <a:pt x="344" y="424"/>
                          </a:lnTo>
                          <a:lnTo>
                            <a:pt x="352" y="418"/>
                          </a:lnTo>
                          <a:lnTo>
                            <a:pt x="357" y="408"/>
                          </a:lnTo>
                          <a:lnTo>
                            <a:pt x="358" y="384"/>
                          </a:lnTo>
                          <a:lnTo>
                            <a:pt x="355" y="351"/>
                          </a:lnTo>
                          <a:lnTo>
                            <a:pt x="355" y="324"/>
                          </a:lnTo>
                          <a:lnTo>
                            <a:pt x="361" y="280"/>
                          </a:lnTo>
                          <a:lnTo>
                            <a:pt x="364" y="264"/>
                          </a:lnTo>
                          <a:lnTo>
                            <a:pt x="371" y="249"/>
                          </a:lnTo>
                          <a:lnTo>
                            <a:pt x="416" y="187"/>
                          </a:lnTo>
                          <a:lnTo>
                            <a:pt x="447" y="142"/>
                          </a:lnTo>
                          <a:lnTo>
                            <a:pt x="448" y="124"/>
                          </a:lnTo>
                          <a:lnTo>
                            <a:pt x="441" y="102"/>
                          </a:lnTo>
                          <a:lnTo>
                            <a:pt x="427" y="84"/>
                          </a:lnTo>
                          <a:close/>
                        </a:path>
                      </a:pathLst>
                    </a:custGeom>
                    <a:solidFill>
                      <a:srgbClr val="FFC080"/>
                    </a:solidFill>
                    <a:ln w="4763">
                      <a:solidFill>
                        <a:srgbClr val="000000"/>
                      </a:solidFill>
                      <a:prstDash val="solid"/>
                      <a:round/>
                      <a:headEnd/>
                      <a:tailEnd/>
                    </a:ln>
                  </p:spPr>
                  <p:txBody>
                    <a:bodyPr/>
                    <a:lstStyle/>
                    <a:p>
                      <a:endParaRPr lang="en-US"/>
                    </a:p>
                  </p:txBody>
                </p:sp>
              </p:grpSp>
              <p:sp>
                <p:nvSpPr>
                  <p:cNvPr id="5181" name="Arc 82"/>
                  <p:cNvSpPr>
                    <a:spLocks/>
                  </p:cNvSpPr>
                  <p:nvPr/>
                </p:nvSpPr>
                <p:spPr bwMode="auto">
                  <a:xfrm>
                    <a:off x="4642" y="1125"/>
                    <a:ext cx="11" cy="20"/>
                  </a:xfrm>
                  <a:custGeom>
                    <a:avLst/>
                    <a:gdLst>
                      <a:gd name="T0" fmla="*/ 11 w 25812"/>
                      <a:gd name="T1" fmla="*/ 0 h 25171"/>
                      <a:gd name="T2" fmla="*/ 0 w 25812"/>
                      <a:gd name="T3" fmla="*/ 20 h 25171"/>
                      <a:gd name="T4" fmla="*/ 2 w 25812"/>
                      <a:gd name="T5" fmla="*/ 3 h 25171"/>
                      <a:gd name="T6" fmla="*/ 0 60000 65536"/>
                      <a:gd name="T7" fmla="*/ 0 60000 65536"/>
                      <a:gd name="T8" fmla="*/ 0 60000 65536"/>
                      <a:gd name="T9" fmla="*/ 0 w 25812"/>
                      <a:gd name="T10" fmla="*/ 0 h 25171"/>
                      <a:gd name="T11" fmla="*/ 25812 w 25812"/>
                      <a:gd name="T12" fmla="*/ 25171 h 25171"/>
                    </a:gdLst>
                    <a:ahLst/>
                    <a:cxnLst>
                      <a:cxn ang="T6">
                        <a:pos x="T0" y="T1"/>
                      </a:cxn>
                      <a:cxn ang="T7">
                        <a:pos x="T2" y="T3"/>
                      </a:cxn>
                      <a:cxn ang="T8">
                        <a:pos x="T4" y="T5"/>
                      </a:cxn>
                    </a:cxnLst>
                    <a:rect l="T9" t="T10" r="T11" b="T12"/>
                    <a:pathLst>
                      <a:path w="25812" h="25171" fill="none" extrusionOk="0">
                        <a:moveTo>
                          <a:pt x="25514" y="0"/>
                        </a:moveTo>
                        <a:cubicBezTo>
                          <a:pt x="25712" y="1180"/>
                          <a:pt x="25812" y="2374"/>
                          <a:pt x="25812" y="3571"/>
                        </a:cubicBezTo>
                        <a:cubicBezTo>
                          <a:pt x="25812" y="15500"/>
                          <a:pt x="16141" y="25171"/>
                          <a:pt x="4212" y="25171"/>
                        </a:cubicBezTo>
                        <a:cubicBezTo>
                          <a:pt x="2797" y="25171"/>
                          <a:pt x="1386" y="25032"/>
                          <a:pt x="-1" y="24756"/>
                        </a:cubicBezTo>
                      </a:path>
                      <a:path w="25812" h="25171" stroke="0" extrusionOk="0">
                        <a:moveTo>
                          <a:pt x="25514" y="0"/>
                        </a:moveTo>
                        <a:cubicBezTo>
                          <a:pt x="25712" y="1180"/>
                          <a:pt x="25812" y="2374"/>
                          <a:pt x="25812" y="3571"/>
                        </a:cubicBezTo>
                        <a:cubicBezTo>
                          <a:pt x="25812" y="15500"/>
                          <a:pt x="16141" y="25171"/>
                          <a:pt x="4212" y="25171"/>
                        </a:cubicBezTo>
                        <a:cubicBezTo>
                          <a:pt x="2797" y="25171"/>
                          <a:pt x="1386" y="25032"/>
                          <a:pt x="-1" y="24756"/>
                        </a:cubicBezTo>
                        <a:lnTo>
                          <a:pt x="4212" y="3571"/>
                        </a:lnTo>
                        <a:close/>
                      </a:path>
                    </a:pathLst>
                  </a:custGeom>
                  <a:noFill/>
                  <a:ln w="4763">
                    <a:solidFill>
                      <a:srgbClr val="000000"/>
                    </a:solidFill>
                    <a:round/>
                    <a:headEnd/>
                    <a:tailEnd/>
                  </a:ln>
                </p:spPr>
                <p:txBody>
                  <a:bodyPr/>
                  <a:lstStyle/>
                  <a:p>
                    <a:endParaRPr lang="en-US"/>
                  </a:p>
                </p:txBody>
              </p:sp>
            </p:grpSp>
            <p:grpSp>
              <p:nvGrpSpPr>
                <p:cNvPr id="5173" name="Group 90"/>
                <p:cNvGrpSpPr>
                  <a:grpSpLocks/>
                </p:cNvGrpSpPr>
                <p:nvPr/>
              </p:nvGrpSpPr>
              <p:grpSpPr bwMode="auto">
                <a:xfrm>
                  <a:off x="5204" y="1110"/>
                  <a:ext cx="145" cy="110"/>
                  <a:chOff x="5204" y="1110"/>
                  <a:chExt cx="145" cy="110"/>
                </a:xfrm>
              </p:grpSpPr>
              <p:grpSp>
                <p:nvGrpSpPr>
                  <p:cNvPr id="5174" name="Group 88"/>
                  <p:cNvGrpSpPr>
                    <a:grpSpLocks/>
                  </p:cNvGrpSpPr>
                  <p:nvPr/>
                </p:nvGrpSpPr>
                <p:grpSpPr bwMode="auto">
                  <a:xfrm>
                    <a:off x="5204" y="1110"/>
                    <a:ext cx="145" cy="110"/>
                    <a:chOff x="5204" y="1110"/>
                    <a:chExt cx="145" cy="110"/>
                  </a:xfrm>
                </p:grpSpPr>
                <p:sp>
                  <p:nvSpPr>
                    <p:cNvPr id="5176" name="Freeform 84"/>
                    <p:cNvSpPr>
                      <a:spLocks/>
                    </p:cNvSpPr>
                    <p:nvPr/>
                  </p:nvSpPr>
                  <p:spPr bwMode="auto">
                    <a:xfrm>
                      <a:off x="5205" y="1134"/>
                      <a:ext cx="22" cy="61"/>
                    </a:xfrm>
                    <a:custGeom>
                      <a:avLst/>
                      <a:gdLst>
                        <a:gd name="T0" fmla="*/ 16 w 89"/>
                        <a:gd name="T1" fmla="*/ 0 h 247"/>
                        <a:gd name="T2" fmla="*/ 8 w 89"/>
                        <a:gd name="T3" fmla="*/ 25 h 247"/>
                        <a:gd name="T4" fmla="*/ 4 w 89"/>
                        <a:gd name="T5" fmla="*/ 47 h 247"/>
                        <a:gd name="T6" fmla="*/ 0 w 89"/>
                        <a:gd name="T7" fmla="*/ 76 h 247"/>
                        <a:gd name="T8" fmla="*/ 0 w 89"/>
                        <a:gd name="T9" fmla="*/ 96 h 247"/>
                        <a:gd name="T10" fmla="*/ 0 w 89"/>
                        <a:gd name="T11" fmla="*/ 119 h 247"/>
                        <a:gd name="T12" fmla="*/ 7 w 89"/>
                        <a:gd name="T13" fmla="*/ 149 h 247"/>
                        <a:gd name="T14" fmla="*/ 16 w 89"/>
                        <a:gd name="T15" fmla="*/ 181 h 247"/>
                        <a:gd name="T16" fmla="*/ 25 w 89"/>
                        <a:gd name="T17" fmla="*/ 203 h 247"/>
                        <a:gd name="T18" fmla="*/ 35 w 89"/>
                        <a:gd name="T19" fmla="*/ 223 h 247"/>
                        <a:gd name="T20" fmla="*/ 49 w 89"/>
                        <a:gd name="T21" fmla="*/ 236 h 247"/>
                        <a:gd name="T22" fmla="*/ 66 w 89"/>
                        <a:gd name="T23" fmla="*/ 245 h 247"/>
                        <a:gd name="T24" fmla="*/ 80 w 89"/>
                        <a:gd name="T25" fmla="*/ 247 h 247"/>
                        <a:gd name="T26" fmla="*/ 85 w 89"/>
                        <a:gd name="T27" fmla="*/ 231 h 247"/>
                        <a:gd name="T28" fmla="*/ 87 w 89"/>
                        <a:gd name="T29" fmla="*/ 218 h 247"/>
                        <a:gd name="T30" fmla="*/ 89 w 89"/>
                        <a:gd name="T31" fmla="*/ 196 h 247"/>
                        <a:gd name="T32" fmla="*/ 89 w 89"/>
                        <a:gd name="T33" fmla="*/ 177 h 247"/>
                        <a:gd name="T34" fmla="*/ 84 w 89"/>
                        <a:gd name="T35" fmla="*/ 125 h 247"/>
                        <a:gd name="T36" fmla="*/ 49 w 89"/>
                        <a:gd name="T37" fmla="*/ 14 h 247"/>
                        <a:gd name="T38" fmla="*/ 31 w 89"/>
                        <a:gd name="T39" fmla="*/ 3 h 247"/>
                        <a:gd name="T40" fmla="*/ 16 w 89"/>
                        <a:gd name="T41" fmla="*/ 0 h 24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247"/>
                        <a:gd name="T65" fmla="*/ 89 w 89"/>
                        <a:gd name="T66" fmla="*/ 247 h 24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247">
                          <a:moveTo>
                            <a:pt x="16" y="0"/>
                          </a:moveTo>
                          <a:lnTo>
                            <a:pt x="8" y="25"/>
                          </a:lnTo>
                          <a:lnTo>
                            <a:pt x="4" y="47"/>
                          </a:lnTo>
                          <a:lnTo>
                            <a:pt x="0" y="76"/>
                          </a:lnTo>
                          <a:lnTo>
                            <a:pt x="0" y="96"/>
                          </a:lnTo>
                          <a:lnTo>
                            <a:pt x="0" y="119"/>
                          </a:lnTo>
                          <a:lnTo>
                            <a:pt x="7" y="149"/>
                          </a:lnTo>
                          <a:lnTo>
                            <a:pt x="16" y="181"/>
                          </a:lnTo>
                          <a:lnTo>
                            <a:pt x="25" y="203"/>
                          </a:lnTo>
                          <a:lnTo>
                            <a:pt x="35" y="223"/>
                          </a:lnTo>
                          <a:lnTo>
                            <a:pt x="49" y="236"/>
                          </a:lnTo>
                          <a:lnTo>
                            <a:pt x="66" y="245"/>
                          </a:lnTo>
                          <a:lnTo>
                            <a:pt x="80" y="247"/>
                          </a:lnTo>
                          <a:lnTo>
                            <a:pt x="85" y="231"/>
                          </a:lnTo>
                          <a:lnTo>
                            <a:pt x="87" y="218"/>
                          </a:lnTo>
                          <a:lnTo>
                            <a:pt x="89" y="196"/>
                          </a:lnTo>
                          <a:lnTo>
                            <a:pt x="89" y="177"/>
                          </a:lnTo>
                          <a:lnTo>
                            <a:pt x="84" y="125"/>
                          </a:lnTo>
                          <a:lnTo>
                            <a:pt x="49" y="14"/>
                          </a:lnTo>
                          <a:lnTo>
                            <a:pt x="31" y="3"/>
                          </a:lnTo>
                          <a:lnTo>
                            <a:pt x="16" y="0"/>
                          </a:lnTo>
                          <a:close/>
                        </a:path>
                      </a:pathLst>
                    </a:custGeom>
                    <a:solidFill>
                      <a:srgbClr val="202020"/>
                    </a:solidFill>
                    <a:ln w="4763">
                      <a:solidFill>
                        <a:srgbClr val="000000"/>
                      </a:solidFill>
                      <a:prstDash val="solid"/>
                      <a:round/>
                      <a:headEnd/>
                      <a:tailEnd/>
                    </a:ln>
                  </p:spPr>
                  <p:txBody>
                    <a:bodyPr/>
                    <a:lstStyle/>
                    <a:p>
                      <a:endParaRPr lang="en-US"/>
                    </a:p>
                  </p:txBody>
                </p:sp>
                <p:grpSp>
                  <p:nvGrpSpPr>
                    <p:cNvPr id="5177" name="Group 87"/>
                    <p:cNvGrpSpPr>
                      <a:grpSpLocks/>
                    </p:cNvGrpSpPr>
                    <p:nvPr/>
                  </p:nvGrpSpPr>
                  <p:grpSpPr bwMode="auto">
                    <a:xfrm>
                      <a:off x="5204" y="1110"/>
                      <a:ext cx="145" cy="110"/>
                      <a:chOff x="5204" y="1110"/>
                      <a:chExt cx="145" cy="110"/>
                    </a:xfrm>
                  </p:grpSpPr>
                  <p:sp>
                    <p:nvSpPr>
                      <p:cNvPr id="5178" name="Freeform 85"/>
                      <p:cNvSpPr>
                        <a:spLocks/>
                      </p:cNvSpPr>
                      <p:nvPr/>
                    </p:nvSpPr>
                    <p:spPr bwMode="auto">
                      <a:xfrm>
                        <a:off x="5204" y="1114"/>
                        <a:ext cx="69" cy="72"/>
                      </a:xfrm>
                      <a:custGeom>
                        <a:avLst/>
                        <a:gdLst>
                          <a:gd name="T0" fmla="*/ 275 w 275"/>
                          <a:gd name="T1" fmla="*/ 0 h 286"/>
                          <a:gd name="T2" fmla="*/ 13 w 275"/>
                          <a:gd name="T3" fmla="*/ 89 h 286"/>
                          <a:gd name="T4" fmla="*/ 4 w 275"/>
                          <a:gd name="T5" fmla="*/ 139 h 286"/>
                          <a:gd name="T6" fmla="*/ 0 w 275"/>
                          <a:gd name="T7" fmla="*/ 186 h 286"/>
                          <a:gd name="T8" fmla="*/ 12 w 275"/>
                          <a:gd name="T9" fmla="*/ 240 h 286"/>
                          <a:gd name="T10" fmla="*/ 35 w 275"/>
                          <a:gd name="T11" fmla="*/ 286 h 286"/>
                          <a:gd name="T12" fmla="*/ 128 w 275"/>
                          <a:gd name="T13" fmla="*/ 220 h 286"/>
                          <a:gd name="T14" fmla="*/ 233 w 275"/>
                          <a:gd name="T15" fmla="*/ 201 h 286"/>
                          <a:gd name="T16" fmla="*/ 275 w 275"/>
                          <a:gd name="T17" fmla="*/ 0 h 2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5"/>
                          <a:gd name="T28" fmla="*/ 0 h 286"/>
                          <a:gd name="T29" fmla="*/ 275 w 275"/>
                          <a:gd name="T30" fmla="*/ 286 h 28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5" h="286">
                            <a:moveTo>
                              <a:pt x="275" y="0"/>
                            </a:moveTo>
                            <a:lnTo>
                              <a:pt x="13" y="89"/>
                            </a:lnTo>
                            <a:lnTo>
                              <a:pt x="4" y="139"/>
                            </a:lnTo>
                            <a:lnTo>
                              <a:pt x="0" y="186"/>
                            </a:lnTo>
                            <a:lnTo>
                              <a:pt x="12" y="240"/>
                            </a:lnTo>
                            <a:lnTo>
                              <a:pt x="35" y="286"/>
                            </a:lnTo>
                            <a:lnTo>
                              <a:pt x="128" y="220"/>
                            </a:lnTo>
                            <a:lnTo>
                              <a:pt x="233" y="201"/>
                            </a:lnTo>
                            <a:lnTo>
                              <a:pt x="275" y="0"/>
                            </a:lnTo>
                            <a:close/>
                          </a:path>
                        </a:pathLst>
                      </a:custGeom>
                      <a:solidFill>
                        <a:srgbClr val="FFC080"/>
                      </a:solidFill>
                      <a:ln w="4763">
                        <a:solidFill>
                          <a:srgbClr val="000000"/>
                        </a:solidFill>
                        <a:prstDash val="solid"/>
                        <a:round/>
                        <a:headEnd/>
                        <a:tailEnd/>
                      </a:ln>
                    </p:spPr>
                    <p:txBody>
                      <a:bodyPr/>
                      <a:lstStyle/>
                      <a:p>
                        <a:endParaRPr lang="en-US"/>
                      </a:p>
                    </p:txBody>
                  </p:sp>
                  <p:sp>
                    <p:nvSpPr>
                      <p:cNvPr id="5179" name="Freeform 86"/>
                      <p:cNvSpPr>
                        <a:spLocks/>
                      </p:cNvSpPr>
                      <p:nvPr/>
                    </p:nvSpPr>
                    <p:spPr bwMode="auto">
                      <a:xfrm>
                        <a:off x="5237" y="1110"/>
                        <a:ext cx="112" cy="110"/>
                      </a:xfrm>
                      <a:custGeom>
                        <a:avLst/>
                        <a:gdLst>
                          <a:gd name="T0" fmla="*/ 35 w 448"/>
                          <a:gd name="T1" fmla="*/ 70 h 439"/>
                          <a:gd name="T2" fmla="*/ 71 w 448"/>
                          <a:gd name="T3" fmla="*/ 52 h 439"/>
                          <a:gd name="T4" fmla="*/ 109 w 448"/>
                          <a:gd name="T5" fmla="*/ 39 h 439"/>
                          <a:gd name="T6" fmla="*/ 151 w 448"/>
                          <a:gd name="T7" fmla="*/ 10 h 439"/>
                          <a:gd name="T8" fmla="*/ 191 w 448"/>
                          <a:gd name="T9" fmla="*/ 0 h 439"/>
                          <a:gd name="T10" fmla="*/ 225 w 448"/>
                          <a:gd name="T11" fmla="*/ 10 h 439"/>
                          <a:gd name="T12" fmla="*/ 257 w 448"/>
                          <a:gd name="T13" fmla="*/ 23 h 439"/>
                          <a:gd name="T14" fmla="*/ 314 w 448"/>
                          <a:gd name="T15" fmla="*/ 27 h 439"/>
                          <a:gd name="T16" fmla="*/ 362 w 448"/>
                          <a:gd name="T17" fmla="*/ 21 h 439"/>
                          <a:gd name="T18" fmla="*/ 399 w 448"/>
                          <a:gd name="T19" fmla="*/ 16 h 439"/>
                          <a:gd name="T20" fmla="*/ 432 w 448"/>
                          <a:gd name="T21" fmla="*/ 27 h 439"/>
                          <a:gd name="T22" fmla="*/ 436 w 448"/>
                          <a:gd name="T23" fmla="*/ 44 h 439"/>
                          <a:gd name="T24" fmla="*/ 424 w 448"/>
                          <a:gd name="T25" fmla="*/ 65 h 439"/>
                          <a:gd name="T26" fmla="*/ 352 w 448"/>
                          <a:gd name="T27" fmla="*/ 79 h 439"/>
                          <a:gd name="T28" fmla="*/ 290 w 448"/>
                          <a:gd name="T29" fmla="*/ 93 h 439"/>
                          <a:gd name="T30" fmla="*/ 281 w 448"/>
                          <a:gd name="T31" fmla="*/ 120 h 439"/>
                          <a:gd name="T32" fmla="*/ 314 w 448"/>
                          <a:gd name="T33" fmla="*/ 191 h 439"/>
                          <a:gd name="T34" fmla="*/ 380 w 448"/>
                          <a:gd name="T35" fmla="*/ 253 h 439"/>
                          <a:gd name="T36" fmla="*/ 420 w 448"/>
                          <a:gd name="T37" fmla="*/ 283 h 439"/>
                          <a:gd name="T38" fmla="*/ 442 w 448"/>
                          <a:gd name="T39" fmla="*/ 299 h 439"/>
                          <a:gd name="T40" fmla="*/ 448 w 448"/>
                          <a:gd name="T41" fmla="*/ 320 h 439"/>
                          <a:gd name="T42" fmla="*/ 438 w 448"/>
                          <a:gd name="T43" fmla="*/ 336 h 439"/>
                          <a:gd name="T44" fmla="*/ 410 w 448"/>
                          <a:gd name="T45" fmla="*/ 338 h 439"/>
                          <a:gd name="T46" fmla="*/ 368 w 448"/>
                          <a:gd name="T47" fmla="*/ 310 h 439"/>
                          <a:gd name="T48" fmla="*/ 281 w 448"/>
                          <a:gd name="T49" fmla="*/ 244 h 439"/>
                          <a:gd name="T50" fmla="*/ 269 w 448"/>
                          <a:gd name="T51" fmla="*/ 240 h 439"/>
                          <a:gd name="T52" fmla="*/ 310 w 448"/>
                          <a:gd name="T53" fmla="*/ 289 h 439"/>
                          <a:gd name="T54" fmla="*/ 337 w 448"/>
                          <a:gd name="T55" fmla="*/ 317 h 439"/>
                          <a:gd name="T56" fmla="*/ 383 w 448"/>
                          <a:gd name="T57" fmla="*/ 352 h 439"/>
                          <a:gd name="T58" fmla="*/ 386 w 448"/>
                          <a:gd name="T59" fmla="*/ 377 h 439"/>
                          <a:gd name="T60" fmla="*/ 371 w 448"/>
                          <a:gd name="T61" fmla="*/ 392 h 439"/>
                          <a:gd name="T62" fmla="*/ 341 w 448"/>
                          <a:gd name="T63" fmla="*/ 392 h 439"/>
                          <a:gd name="T64" fmla="*/ 293 w 448"/>
                          <a:gd name="T65" fmla="*/ 355 h 439"/>
                          <a:gd name="T66" fmla="*/ 211 w 448"/>
                          <a:gd name="T67" fmla="*/ 262 h 439"/>
                          <a:gd name="T68" fmla="*/ 240 w 448"/>
                          <a:gd name="T69" fmla="*/ 314 h 439"/>
                          <a:gd name="T70" fmla="*/ 256 w 448"/>
                          <a:gd name="T71" fmla="*/ 347 h 439"/>
                          <a:gd name="T72" fmla="*/ 291 w 448"/>
                          <a:gd name="T73" fmla="*/ 394 h 439"/>
                          <a:gd name="T74" fmla="*/ 297 w 448"/>
                          <a:gd name="T75" fmla="*/ 416 h 439"/>
                          <a:gd name="T76" fmla="*/ 287 w 448"/>
                          <a:gd name="T77" fmla="*/ 434 h 439"/>
                          <a:gd name="T78" fmla="*/ 261 w 448"/>
                          <a:gd name="T79" fmla="*/ 437 h 439"/>
                          <a:gd name="T80" fmla="*/ 202 w 448"/>
                          <a:gd name="T81" fmla="*/ 366 h 439"/>
                          <a:gd name="T82" fmla="*/ 153 w 448"/>
                          <a:gd name="T83" fmla="*/ 270 h 439"/>
                          <a:gd name="T84" fmla="*/ 141 w 448"/>
                          <a:gd name="T85" fmla="*/ 263 h 439"/>
                          <a:gd name="T86" fmla="*/ 142 w 448"/>
                          <a:gd name="T87" fmla="*/ 299 h 439"/>
                          <a:gd name="T88" fmla="*/ 144 w 448"/>
                          <a:gd name="T89" fmla="*/ 356 h 439"/>
                          <a:gd name="T90" fmla="*/ 142 w 448"/>
                          <a:gd name="T91" fmla="*/ 406 h 439"/>
                          <a:gd name="T92" fmla="*/ 128 w 448"/>
                          <a:gd name="T93" fmla="*/ 422 h 439"/>
                          <a:gd name="T94" fmla="*/ 105 w 448"/>
                          <a:gd name="T95" fmla="*/ 423 h 439"/>
                          <a:gd name="T96" fmla="*/ 92 w 448"/>
                          <a:gd name="T97" fmla="*/ 408 h 439"/>
                          <a:gd name="T98" fmla="*/ 93 w 448"/>
                          <a:gd name="T99" fmla="*/ 351 h 439"/>
                          <a:gd name="T100" fmla="*/ 88 w 448"/>
                          <a:gd name="T101" fmla="*/ 280 h 439"/>
                          <a:gd name="T102" fmla="*/ 78 w 448"/>
                          <a:gd name="T103" fmla="*/ 249 h 439"/>
                          <a:gd name="T104" fmla="*/ 1 w 448"/>
                          <a:gd name="T105" fmla="*/ 142 h 439"/>
                          <a:gd name="T106" fmla="*/ 8 w 448"/>
                          <a:gd name="T107" fmla="*/ 102 h 43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448"/>
                          <a:gd name="T163" fmla="*/ 0 h 439"/>
                          <a:gd name="T164" fmla="*/ 448 w 448"/>
                          <a:gd name="T165" fmla="*/ 439 h 43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448" h="439">
                            <a:moveTo>
                              <a:pt x="22" y="84"/>
                            </a:moveTo>
                            <a:lnTo>
                              <a:pt x="35" y="70"/>
                            </a:lnTo>
                            <a:lnTo>
                              <a:pt x="52" y="58"/>
                            </a:lnTo>
                            <a:lnTo>
                              <a:pt x="71" y="52"/>
                            </a:lnTo>
                            <a:lnTo>
                              <a:pt x="97" y="47"/>
                            </a:lnTo>
                            <a:lnTo>
                              <a:pt x="109" y="39"/>
                            </a:lnTo>
                            <a:lnTo>
                              <a:pt x="127" y="26"/>
                            </a:lnTo>
                            <a:lnTo>
                              <a:pt x="151" y="10"/>
                            </a:lnTo>
                            <a:lnTo>
                              <a:pt x="177" y="1"/>
                            </a:lnTo>
                            <a:lnTo>
                              <a:pt x="191" y="0"/>
                            </a:lnTo>
                            <a:lnTo>
                              <a:pt x="206" y="3"/>
                            </a:lnTo>
                            <a:lnTo>
                              <a:pt x="225" y="10"/>
                            </a:lnTo>
                            <a:lnTo>
                              <a:pt x="242" y="18"/>
                            </a:lnTo>
                            <a:lnTo>
                              <a:pt x="257" y="23"/>
                            </a:lnTo>
                            <a:lnTo>
                              <a:pt x="279" y="27"/>
                            </a:lnTo>
                            <a:lnTo>
                              <a:pt x="314" y="27"/>
                            </a:lnTo>
                            <a:lnTo>
                              <a:pt x="337" y="26"/>
                            </a:lnTo>
                            <a:lnTo>
                              <a:pt x="362" y="21"/>
                            </a:lnTo>
                            <a:lnTo>
                              <a:pt x="385" y="16"/>
                            </a:lnTo>
                            <a:lnTo>
                              <a:pt x="399" y="16"/>
                            </a:lnTo>
                            <a:lnTo>
                              <a:pt x="416" y="19"/>
                            </a:lnTo>
                            <a:lnTo>
                              <a:pt x="432" y="27"/>
                            </a:lnTo>
                            <a:lnTo>
                              <a:pt x="436" y="35"/>
                            </a:lnTo>
                            <a:lnTo>
                              <a:pt x="436" y="44"/>
                            </a:lnTo>
                            <a:lnTo>
                              <a:pt x="434" y="57"/>
                            </a:lnTo>
                            <a:lnTo>
                              <a:pt x="424" y="65"/>
                            </a:lnTo>
                            <a:lnTo>
                              <a:pt x="384" y="67"/>
                            </a:lnTo>
                            <a:lnTo>
                              <a:pt x="352" y="79"/>
                            </a:lnTo>
                            <a:lnTo>
                              <a:pt x="299" y="89"/>
                            </a:lnTo>
                            <a:lnTo>
                              <a:pt x="290" y="93"/>
                            </a:lnTo>
                            <a:lnTo>
                              <a:pt x="281" y="107"/>
                            </a:lnTo>
                            <a:lnTo>
                              <a:pt x="281" y="120"/>
                            </a:lnTo>
                            <a:lnTo>
                              <a:pt x="295" y="159"/>
                            </a:lnTo>
                            <a:lnTo>
                              <a:pt x="314" y="191"/>
                            </a:lnTo>
                            <a:lnTo>
                              <a:pt x="340" y="221"/>
                            </a:lnTo>
                            <a:lnTo>
                              <a:pt x="380" y="253"/>
                            </a:lnTo>
                            <a:lnTo>
                              <a:pt x="408" y="276"/>
                            </a:lnTo>
                            <a:lnTo>
                              <a:pt x="420" y="283"/>
                            </a:lnTo>
                            <a:lnTo>
                              <a:pt x="432" y="290"/>
                            </a:lnTo>
                            <a:lnTo>
                              <a:pt x="442" y="299"/>
                            </a:lnTo>
                            <a:lnTo>
                              <a:pt x="448" y="310"/>
                            </a:lnTo>
                            <a:lnTo>
                              <a:pt x="448" y="320"/>
                            </a:lnTo>
                            <a:lnTo>
                              <a:pt x="445" y="330"/>
                            </a:lnTo>
                            <a:lnTo>
                              <a:pt x="438" y="336"/>
                            </a:lnTo>
                            <a:lnTo>
                              <a:pt x="425" y="339"/>
                            </a:lnTo>
                            <a:lnTo>
                              <a:pt x="410" y="338"/>
                            </a:lnTo>
                            <a:lnTo>
                              <a:pt x="396" y="330"/>
                            </a:lnTo>
                            <a:lnTo>
                              <a:pt x="368" y="310"/>
                            </a:lnTo>
                            <a:lnTo>
                              <a:pt x="319" y="280"/>
                            </a:lnTo>
                            <a:lnTo>
                              <a:pt x="281" y="244"/>
                            </a:lnTo>
                            <a:lnTo>
                              <a:pt x="275" y="239"/>
                            </a:lnTo>
                            <a:lnTo>
                              <a:pt x="269" y="240"/>
                            </a:lnTo>
                            <a:lnTo>
                              <a:pt x="271" y="250"/>
                            </a:lnTo>
                            <a:lnTo>
                              <a:pt x="310" y="289"/>
                            </a:lnTo>
                            <a:lnTo>
                              <a:pt x="323" y="302"/>
                            </a:lnTo>
                            <a:lnTo>
                              <a:pt x="337" y="317"/>
                            </a:lnTo>
                            <a:lnTo>
                              <a:pt x="367" y="338"/>
                            </a:lnTo>
                            <a:lnTo>
                              <a:pt x="383" y="352"/>
                            </a:lnTo>
                            <a:lnTo>
                              <a:pt x="388" y="364"/>
                            </a:lnTo>
                            <a:lnTo>
                              <a:pt x="386" y="377"/>
                            </a:lnTo>
                            <a:lnTo>
                              <a:pt x="380" y="386"/>
                            </a:lnTo>
                            <a:lnTo>
                              <a:pt x="371" y="392"/>
                            </a:lnTo>
                            <a:lnTo>
                              <a:pt x="357" y="395"/>
                            </a:lnTo>
                            <a:lnTo>
                              <a:pt x="341" y="392"/>
                            </a:lnTo>
                            <a:lnTo>
                              <a:pt x="330" y="386"/>
                            </a:lnTo>
                            <a:lnTo>
                              <a:pt x="293" y="355"/>
                            </a:lnTo>
                            <a:lnTo>
                              <a:pt x="270" y="329"/>
                            </a:lnTo>
                            <a:lnTo>
                              <a:pt x="211" y="262"/>
                            </a:lnTo>
                            <a:lnTo>
                              <a:pt x="231" y="290"/>
                            </a:lnTo>
                            <a:lnTo>
                              <a:pt x="240" y="314"/>
                            </a:lnTo>
                            <a:lnTo>
                              <a:pt x="246" y="325"/>
                            </a:lnTo>
                            <a:lnTo>
                              <a:pt x="256" y="347"/>
                            </a:lnTo>
                            <a:lnTo>
                              <a:pt x="282" y="382"/>
                            </a:lnTo>
                            <a:lnTo>
                              <a:pt x="291" y="394"/>
                            </a:lnTo>
                            <a:lnTo>
                              <a:pt x="296" y="405"/>
                            </a:lnTo>
                            <a:lnTo>
                              <a:pt x="297" y="416"/>
                            </a:lnTo>
                            <a:lnTo>
                              <a:pt x="295" y="425"/>
                            </a:lnTo>
                            <a:lnTo>
                              <a:pt x="287" y="434"/>
                            </a:lnTo>
                            <a:lnTo>
                              <a:pt x="277" y="439"/>
                            </a:lnTo>
                            <a:lnTo>
                              <a:pt x="261" y="437"/>
                            </a:lnTo>
                            <a:lnTo>
                              <a:pt x="250" y="434"/>
                            </a:lnTo>
                            <a:lnTo>
                              <a:pt x="202" y="366"/>
                            </a:lnTo>
                            <a:lnTo>
                              <a:pt x="175" y="312"/>
                            </a:lnTo>
                            <a:lnTo>
                              <a:pt x="153" y="270"/>
                            </a:lnTo>
                            <a:lnTo>
                              <a:pt x="149" y="263"/>
                            </a:lnTo>
                            <a:lnTo>
                              <a:pt x="141" y="263"/>
                            </a:lnTo>
                            <a:lnTo>
                              <a:pt x="138" y="268"/>
                            </a:lnTo>
                            <a:lnTo>
                              <a:pt x="142" y="299"/>
                            </a:lnTo>
                            <a:lnTo>
                              <a:pt x="145" y="324"/>
                            </a:lnTo>
                            <a:lnTo>
                              <a:pt x="144" y="356"/>
                            </a:lnTo>
                            <a:lnTo>
                              <a:pt x="144" y="399"/>
                            </a:lnTo>
                            <a:lnTo>
                              <a:pt x="142" y="406"/>
                            </a:lnTo>
                            <a:lnTo>
                              <a:pt x="137" y="414"/>
                            </a:lnTo>
                            <a:lnTo>
                              <a:pt x="128" y="422"/>
                            </a:lnTo>
                            <a:lnTo>
                              <a:pt x="116" y="425"/>
                            </a:lnTo>
                            <a:lnTo>
                              <a:pt x="105" y="423"/>
                            </a:lnTo>
                            <a:lnTo>
                              <a:pt x="97" y="418"/>
                            </a:lnTo>
                            <a:lnTo>
                              <a:pt x="92" y="408"/>
                            </a:lnTo>
                            <a:lnTo>
                              <a:pt x="91" y="383"/>
                            </a:lnTo>
                            <a:lnTo>
                              <a:pt x="93" y="351"/>
                            </a:lnTo>
                            <a:lnTo>
                              <a:pt x="93" y="324"/>
                            </a:lnTo>
                            <a:lnTo>
                              <a:pt x="88" y="280"/>
                            </a:lnTo>
                            <a:lnTo>
                              <a:pt x="84" y="263"/>
                            </a:lnTo>
                            <a:lnTo>
                              <a:pt x="78" y="249"/>
                            </a:lnTo>
                            <a:lnTo>
                              <a:pt x="32" y="187"/>
                            </a:lnTo>
                            <a:lnTo>
                              <a:pt x="1" y="142"/>
                            </a:lnTo>
                            <a:lnTo>
                              <a:pt x="0" y="124"/>
                            </a:lnTo>
                            <a:lnTo>
                              <a:pt x="8" y="102"/>
                            </a:lnTo>
                            <a:lnTo>
                              <a:pt x="22" y="84"/>
                            </a:lnTo>
                            <a:close/>
                          </a:path>
                        </a:pathLst>
                      </a:custGeom>
                      <a:solidFill>
                        <a:srgbClr val="FFC080"/>
                      </a:solidFill>
                      <a:ln w="4763">
                        <a:solidFill>
                          <a:srgbClr val="000000"/>
                        </a:solidFill>
                        <a:prstDash val="solid"/>
                        <a:round/>
                        <a:headEnd/>
                        <a:tailEnd/>
                      </a:ln>
                    </p:spPr>
                    <p:txBody>
                      <a:bodyPr/>
                      <a:lstStyle/>
                      <a:p>
                        <a:endParaRPr lang="en-US"/>
                      </a:p>
                    </p:txBody>
                  </p:sp>
                </p:grpSp>
              </p:grpSp>
              <p:sp>
                <p:nvSpPr>
                  <p:cNvPr id="5175" name="Arc 89"/>
                  <p:cNvSpPr>
                    <a:spLocks/>
                  </p:cNvSpPr>
                  <p:nvPr/>
                </p:nvSpPr>
                <p:spPr bwMode="auto">
                  <a:xfrm>
                    <a:off x="5269" y="1125"/>
                    <a:ext cx="12" cy="21"/>
                  </a:xfrm>
                  <a:custGeom>
                    <a:avLst/>
                    <a:gdLst>
                      <a:gd name="T0" fmla="*/ 12 w 26175"/>
                      <a:gd name="T1" fmla="*/ 21 h 26183"/>
                      <a:gd name="T2" fmla="*/ 0 w 26175"/>
                      <a:gd name="T3" fmla="*/ 0 h 26183"/>
                      <a:gd name="T4" fmla="*/ 10 w 26175"/>
                      <a:gd name="T5" fmla="*/ 4 h 26183"/>
                      <a:gd name="T6" fmla="*/ 0 60000 65536"/>
                      <a:gd name="T7" fmla="*/ 0 60000 65536"/>
                      <a:gd name="T8" fmla="*/ 0 60000 65536"/>
                      <a:gd name="T9" fmla="*/ 0 w 26175"/>
                      <a:gd name="T10" fmla="*/ 0 h 26183"/>
                      <a:gd name="T11" fmla="*/ 26175 w 26175"/>
                      <a:gd name="T12" fmla="*/ 26183 h 26183"/>
                    </a:gdLst>
                    <a:ahLst/>
                    <a:cxnLst>
                      <a:cxn ang="T6">
                        <a:pos x="T0" y="T1"/>
                      </a:cxn>
                      <a:cxn ang="T7">
                        <a:pos x="T2" y="T3"/>
                      </a:cxn>
                      <a:cxn ang="T8">
                        <a:pos x="T4" y="T5"/>
                      </a:cxn>
                    </a:cxnLst>
                    <a:rect l="T9" t="T10" r="T11" b="T12"/>
                    <a:pathLst>
                      <a:path w="26175" h="26183" fill="none" extrusionOk="0">
                        <a:moveTo>
                          <a:pt x="26174" y="25692"/>
                        </a:moveTo>
                        <a:cubicBezTo>
                          <a:pt x="24671" y="26018"/>
                          <a:pt x="23138" y="26182"/>
                          <a:pt x="21600" y="26183"/>
                        </a:cubicBezTo>
                        <a:cubicBezTo>
                          <a:pt x="9670" y="26183"/>
                          <a:pt x="0" y="16512"/>
                          <a:pt x="0" y="4583"/>
                        </a:cubicBezTo>
                        <a:cubicBezTo>
                          <a:pt x="-1" y="3042"/>
                          <a:pt x="164" y="1505"/>
                          <a:pt x="491" y="-1"/>
                        </a:cubicBezTo>
                      </a:path>
                      <a:path w="26175" h="26183" stroke="0" extrusionOk="0">
                        <a:moveTo>
                          <a:pt x="26174" y="25692"/>
                        </a:moveTo>
                        <a:cubicBezTo>
                          <a:pt x="24671" y="26018"/>
                          <a:pt x="23138" y="26182"/>
                          <a:pt x="21600" y="26183"/>
                        </a:cubicBezTo>
                        <a:cubicBezTo>
                          <a:pt x="9670" y="26183"/>
                          <a:pt x="0" y="16512"/>
                          <a:pt x="0" y="4583"/>
                        </a:cubicBezTo>
                        <a:cubicBezTo>
                          <a:pt x="-1" y="3042"/>
                          <a:pt x="164" y="1505"/>
                          <a:pt x="491" y="-1"/>
                        </a:cubicBezTo>
                        <a:lnTo>
                          <a:pt x="21600" y="4583"/>
                        </a:lnTo>
                        <a:close/>
                      </a:path>
                    </a:pathLst>
                  </a:custGeom>
                  <a:noFill/>
                  <a:ln w="4763">
                    <a:solidFill>
                      <a:srgbClr val="000000"/>
                    </a:solidFill>
                    <a:round/>
                    <a:headEnd/>
                    <a:tailEnd/>
                  </a:ln>
                </p:spPr>
                <p:txBody>
                  <a:bodyPr/>
                  <a:lstStyle/>
                  <a:p>
                    <a:endParaRPr lang="en-US"/>
                  </a:p>
                </p:txBody>
              </p:sp>
            </p:grpSp>
          </p:grpSp>
          <p:grpSp>
            <p:nvGrpSpPr>
              <p:cNvPr id="5154" name="Group 101"/>
              <p:cNvGrpSpPr>
                <a:grpSpLocks/>
              </p:cNvGrpSpPr>
              <p:nvPr/>
            </p:nvGrpSpPr>
            <p:grpSpPr bwMode="auto">
              <a:xfrm>
                <a:off x="4819" y="731"/>
                <a:ext cx="283" cy="215"/>
                <a:chOff x="4819" y="731"/>
                <a:chExt cx="283" cy="215"/>
              </a:xfrm>
            </p:grpSpPr>
            <p:sp>
              <p:nvSpPr>
                <p:cNvPr id="5155" name="Line 92"/>
                <p:cNvSpPr>
                  <a:spLocks noChangeShapeType="1"/>
                </p:cNvSpPr>
                <p:nvPr/>
              </p:nvSpPr>
              <p:spPr bwMode="auto">
                <a:xfrm>
                  <a:off x="4819" y="869"/>
                  <a:ext cx="30" cy="10"/>
                </a:xfrm>
                <a:prstGeom prst="line">
                  <a:avLst/>
                </a:prstGeom>
                <a:noFill/>
                <a:ln w="4763">
                  <a:solidFill>
                    <a:srgbClr val="000000"/>
                  </a:solidFill>
                  <a:round/>
                  <a:headEnd/>
                  <a:tailEnd/>
                </a:ln>
              </p:spPr>
              <p:txBody>
                <a:bodyPr/>
                <a:lstStyle/>
                <a:p>
                  <a:endParaRPr lang="en-US"/>
                </a:p>
              </p:txBody>
            </p:sp>
            <p:sp>
              <p:nvSpPr>
                <p:cNvPr id="5156" name="Line 93"/>
                <p:cNvSpPr>
                  <a:spLocks noChangeShapeType="1"/>
                </p:cNvSpPr>
                <p:nvPr/>
              </p:nvSpPr>
              <p:spPr bwMode="auto">
                <a:xfrm flipV="1">
                  <a:off x="5073" y="885"/>
                  <a:ext cx="29" cy="6"/>
                </a:xfrm>
                <a:prstGeom prst="line">
                  <a:avLst/>
                </a:prstGeom>
                <a:noFill/>
                <a:ln w="4763">
                  <a:solidFill>
                    <a:srgbClr val="000000"/>
                  </a:solidFill>
                  <a:round/>
                  <a:headEnd/>
                  <a:tailEnd/>
                </a:ln>
              </p:spPr>
              <p:txBody>
                <a:bodyPr/>
                <a:lstStyle/>
                <a:p>
                  <a:endParaRPr lang="en-US"/>
                </a:p>
              </p:txBody>
            </p:sp>
            <p:sp>
              <p:nvSpPr>
                <p:cNvPr id="5157" name="Line 94"/>
                <p:cNvSpPr>
                  <a:spLocks noChangeShapeType="1"/>
                </p:cNvSpPr>
                <p:nvPr/>
              </p:nvSpPr>
              <p:spPr bwMode="auto">
                <a:xfrm>
                  <a:off x="4873" y="752"/>
                  <a:ext cx="16" cy="20"/>
                </a:xfrm>
                <a:prstGeom prst="line">
                  <a:avLst/>
                </a:prstGeom>
                <a:noFill/>
                <a:ln w="4763">
                  <a:solidFill>
                    <a:srgbClr val="000000"/>
                  </a:solidFill>
                  <a:round/>
                  <a:headEnd/>
                  <a:tailEnd/>
                </a:ln>
              </p:spPr>
              <p:txBody>
                <a:bodyPr/>
                <a:lstStyle/>
                <a:p>
                  <a:endParaRPr lang="en-US"/>
                </a:p>
              </p:txBody>
            </p:sp>
            <p:sp>
              <p:nvSpPr>
                <p:cNvPr id="5158" name="Line 95"/>
                <p:cNvSpPr>
                  <a:spLocks noChangeShapeType="1"/>
                </p:cNvSpPr>
                <p:nvPr/>
              </p:nvSpPr>
              <p:spPr bwMode="auto">
                <a:xfrm flipH="1">
                  <a:off x="5035" y="759"/>
                  <a:ext cx="13" cy="15"/>
                </a:xfrm>
                <a:prstGeom prst="line">
                  <a:avLst/>
                </a:prstGeom>
                <a:noFill/>
                <a:ln w="4763">
                  <a:solidFill>
                    <a:srgbClr val="000000"/>
                  </a:solidFill>
                  <a:round/>
                  <a:headEnd/>
                  <a:tailEnd/>
                </a:ln>
              </p:spPr>
              <p:txBody>
                <a:bodyPr/>
                <a:lstStyle/>
                <a:p>
                  <a:endParaRPr lang="en-US"/>
                </a:p>
              </p:txBody>
            </p:sp>
            <p:sp>
              <p:nvSpPr>
                <p:cNvPr id="5159" name="Line 96"/>
                <p:cNvSpPr>
                  <a:spLocks noChangeShapeType="1"/>
                </p:cNvSpPr>
                <p:nvPr/>
              </p:nvSpPr>
              <p:spPr bwMode="auto">
                <a:xfrm>
                  <a:off x="4962" y="731"/>
                  <a:ext cx="1" cy="27"/>
                </a:xfrm>
                <a:prstGeom prst="line">
                  <a:avLst/>
                </a:prstGeom>
                <a:noFill/>
                <a:ln w="4763">
                  <a:solidFill>
                    <a:srgbClr val="000000"/>
                  </a:solidFill>
                  <a:round/>
                  <a:headEnd/>
                  <a:tailEnd/>
                </a:ln>
              </p:spPr>
              <p:txBody>
                <a:bodyPr/>
                <a:lstStyle/>
                <a:p>
                  <a:endParaRPr lang="en-US"/>
                </a:p>
              </p:txBody>
            </p:sp>
            <p:sp>
              <p:nvSpPr>
                <p:cNvPr id="5160" name="Line 97"/>
                <p:cNvSpPr>
                  <a:spLocks noChangeShapeType="1"/>
                </p:cNvSpPr>
                <p:nvPr/>
              </p:nvSpPr>
              <p:spPr bwMode="auto">
                <a:xfrm>
                  <a:off x="4834" y="811"/>
                  <a:ext cx="23" cy="8"/>
                </a:xfrm>
                <a:prstGeom prst="line">
                  <a:avLst/>
                </a:prstGeom>
                <a:noFill/>
                <a:ln w="4763">
                  <a:solidFill>
                    <a:srgbClr val="000000"/>
                  </a:solidFill>
                  <a:round/>
                  <a:headEnd/>
                  <a:tailEnd/>
                </a:ln>
              </p:spPr>
              <p:txBody>
                <a:bodyPr/>
                <a:lstStyle/>
                <a:p>
                  <a:endParaRPr lang="en-US"/>
                </a:p>
              </p:txBody>
            </p:sp>
            <p:sp>
              <p:nvSpPr>
                <p:cNvPr id="5161" name="Line 98"/>
                <p:cNvSpPr>
                  <a:spLocks noChangeShapeType="1"/>
                </p:cNvSpPr>
                <p:nvPr/>
              </p:nvSpPr>
              <p:spPr bwMode="auto">
                <a:xfrm flipH="1">
                  <a:off x="5077" y="818"/>
                  <a:ext cx="22" cy="4"/>
                </a:xfrm>
                <a:prstGeom prst="line">
                  <a:avLst/>
                </a:prstGeom>
                <a:noFill/>
                <a:ln w="4763">
                  <a:solidFill>
                    <a:srgbClr val="000000"/>
                  </a:solidFill>
                  <a:round/>
                  <a:headEnd/>
                  <a:tailEnd/>
                </a:ln>
              </p:spPr>
              <p:txBody>
                <a:bodyPr/>
                <a:lstStyle/>
                <a:p>
                  <a:endParaRPr lang="en-US"/>
                </a:p>
              </p:txBody>
            </p:sp>
            <p:sp>
              <p:nvSpPr>
                <p:cNvPr id="5162" name="Line 99"/>
                <p:cNvSpPr>
                  <a:spLocks noChangeShapeType="1"/>
                </p:cNvSpPr>
                <p:nvPr/>
              </p:nvSpPr>
              <p:spPr bwMode="auto">
                <a:xfrm flipH="1">
                  <a:off x="4837" y="940"/>
                  <a:ext cx="21" cy="6"/>
                </a:xfrm>
                <a:prstGeom prst="line">
                  <a:avLst/>
                </a:prstGeom>
                <a:noFill/>
                <a:ln w="4763">
                  <a:solidFill>
                    <a:srgbClr val="000000"/>
                  </a:solidFill>
                  <a:round/>
                  <a:headEnd/>
                  <a:tailEnd/>
                </a:ln>
              </p:spPr>
              <p:txBody>
                <a:bodyPr/>
                <a:lstStyle/>
                <a:p>
                  <a:endParaRPr lang="en-US"/>
                </a:p>
              </p:txBody>
            </p:sp>
            <p:sp>
              <p:nvSpPr>
                <p:cNvPr id="5163" name="Line 100"/>
                <p:cNvSpPr>
                  <a:spLocks noChangeShapeType="1"/>
                </p:cNvSpPr>
                <p:nvPr/>
              </p:nvSpPr>
              <p:spPr bwMode="auto">
                <a:xfrm>
                  <a:off x="5071" y="939"/>
                  <a:ext cx="25" cy="7"/>
                </a:xfrm>
                <a:prstGeom prst="line">
                  <a:avLst/>
                </a:prstGeom>
                <a:noFill/>
                <a:ln w="4763">
                  <a:solidFill>
                    <a:srgbClr val="000000"/>
                  </a:solidFill>
                  <a:round/>
                  <a:headEnd/>
                  <a:tailEnd/>
                </a:ln>
              </p:spPr>
              <p:txBody>
                <a:bodyPr/>
                <a:lstStyle/>
                <a:p>
                  <a:endParaRPr lang="en-US"/>
                </a:p>
              </p:txBody>
            </p:sp>
          </p:grpSp>
        </p:grpSp>
        <p:sp>
          <p:nvSpPr>
            <p:cNvPr id="5146" name="Rectangle 103"/>
            <p:cNvSpPr>
              <a:spLocks noChangeArrowheads="1"/>
            </p:cNvSpPr>
            <p:nvPr/>
          </p:nvSpPr>
          <p:spPr bwMode="auto">
            <a:xfrm>
              <a:off x="4742" y="2014"/>
              <a:ext cx="687" cy="258"/>
            </a:xfrm>
            <a:prstGeom prst="rect">
              <a:avLst/>
            </a:prstGeom>
            <a:noFill/>
            <a:ln w="9525">
              <a:noFill/>
              <a:miter lim="800000"/>
              <a:headEnd/>
              <a:tailEnd/>
            </a:ln>
          </p:spPr>
          <p:txBody>
            <a:bodyPr/>
            <a:lstStyle/>
            <a:p>
              <a:endParaRPr lang="en-US"/>
            </a:p>
          </p:txBody>
        </p:sp>
        <p:sp>
          <p:nvSpPr>
            <p:cNvPr id="5147" name="Rectangle 104"/>
            <p:cNvSpPr>
              <a:spLocks noChangeArrowheads="1"/>
            </p:cNvSpPr>
            <p:nvPr/>
          </p:nvSpPr>
          <p:spPr bwMode="auto">
            <a:xfrm>
              <a:off x="4828" y="2055"/>
              <a:ext cx="430" cy="173"/>
            </a:xfrm>
            <a:prstGeom prst="rect">
              <a:avLst/>
            </a:prstGeom>
            <a:noFill/>
            <a:ln w="9525">
              <a:noFill/>
              <a:miter lim="800000"/>
              <a:headEnd/>
              <a:tailEnd/>
            </a:ln>
          </p:spPr>
          <p:txBody>
            <a:bodyPr wrap="none" lIns="0" tIns="0" rIns="0" bIns="0">
              <a:spAutoFit/>
            </a:bodyPr>
            <a:lstStyle/>
            <a:p>
              <a:r>
                <a:rPr lang="en-US" b="1">
                  <a:solidFill>
                    <a:srgbClr val="000000"/>
                  </a:solidFill>
                  <a:latin typeface="Courier New" pitchFamily="49" charset="0"/>
                </a:rPr>
                <a:t>LIFTS</a:t>
              </a:r>
              <a:endParaRPr lang="en-US"/>
            </a:p>
          </p:txBody>
        </p:sp>
        <p:sp>
          <p:nvSpPr>
            <p:cNvPr id="5148" name="Rectangle 105"/>
            <p:cNvSpPr>
              <a:spLocks noChangeArrowheads="1"/>
            </p:cNvSpPr>
            <p:nvPr/>
          </p:nvSpPr>
          <p:spPr bwMode="auto">
            <a:xfrm>
              <a:off x="3199" y="1757"/>
              <a:ext cx="773" cy="258"/>
            </a:xfrm>
            <a:prstGeom prst="rect">
              <a:avLst/>
            </a:prstGeom>
            <a:noFill/>
            <a:ln w="9525">
              <a:noFill/>
              <a:miter lim="800000"/>
              <a:headEnd/>
              <a:tailEnd/>
            </a:ln>
          </p:spPr>
          <p:txBody>
            <a:bodyPr/>
            <a:lstStyle/>
            <a:p>
              <a:endParaRPr lang="en-US"/>
            </a:p>
          </p:txBody>
        </p:sp>
        <p:sp>
          <p:nvSpPr>
            <p:cNvPr id="5149" name="Rectangle 106"/>
            <p:cNvSpPr>
              <a:spLocks noChangeArrowheads="1"/>
            </p:cNvSpPr>
            <p:nvPr/>
          </p:nvSpPr>
          <p:spPr bwMode="auto">
            <a:xfrm>
              <a:off x="3285" y="1798"/>
              <a:ext cx="516" cy="173"/>
            </a:xfrm>
            <a:prstGeom prst="rect">
              <a:avLst/>
            </a:prstGeom>
            <a:noFill/>
            <a:ln w="9525">
              <a:noFill/>
              <a:miter lim="800000"/>
              <a:headEnd/>
              <a:tailEnd/>
            </a:ln>
          </p:spPr>
          <p:txBody>
            <a:bodyPr wrap="none" lIns="0" tIns="0" rIns="0" bIns="0">
              <a:spAutoFit/>
            </a:bodyPr>
            <a:lstStyle/>
            <a:p>
              <a:r>
                <a:rPr lang="en-US">
                  <a:solidFill>
                    <a:srgbClr val="000000"/>
                  </a:solidFill>
                  <a:latin typeface="Courier New" pitchFamily="49" charset="0"/>
                </a:rPr>
                <a:t>5 feet</a:t>
              </a:r>
              <a:endParaRPr lang="en-US"/>
            </a:p>
          </p:txBody>
        </p:sp>
        <p:sp>
          <p:nvSpPr>
            <p:cNvPr id="5150" name="Rectangle 107"/>
            <p:cNvSpPr>
              <a:spLocks noChangeArrowheads="1"/>
            </p:cNvSpPr>
            <p:nvPr/>
          </p:nvSpPr>
          <p:spPr bwMode="auto">
            <a:xfrm>
              <a:off x="1486" y="1329"/>
              <a:ext cx="687" cy="258"/>
            </a:xfrm>
            <a:prstGeom prst="rect">
              <a:avLst/>
            </a:prstGeom>
            <a:noFill/>
            <a:ln w="9525">
              <a:noFill/>
              <a:miter lim="800000"/>
              <a:headEnd/>
              <a:tailEnd/>
            </a:ln>
          </p:spPr>
          <p:txBody>
            <a:bodyPr/>
            <a:lstStyle/>
            <a:p>
              <a:endParaRPr lang="en-US"/>
            </a:p>
          </p:txBody>
        </p:sp>
        <p:sp>
          <p:nvSpPr>
            <p:cNvPr id="5151" name="Rectangle 108"/>
            <p:cNvSpPr>
              <a:spLocks noChangeArrowheads="1"/>
            </p:cNvSpPr>
            <p:nvPr/>
          </p:nvSpPr>
          <p:spPr bwMode="auto">
            <a:xfrm>
              <a:off x="1571" y="1370"/>
              <a:ext cx="516" cy="173"/>
            </a:xfrm>
            <a:prstGeom prst="rect">
              <a:avLst/>
            </a:prstGeom>
            <a:noFill/>
            <a:ln w="9525">
              <a:noFill/>
              <a:miter lim="800000"/>
              <a:headEnd/>
              <a:tailEnd/>
            </a:ln>
          </p:spPr>
          <p:txBody>
            <a:bodyPr wrap="none" lIns="0" tIns="0" rIns="0" bIns="0">
              <a:spAutoFit/>
            </a:bodyPr>
            <a:lstStyle/>
            <a:p>
              <a:r>
                <a:rPr lang="en-US">
                  <a:solidFill>
                    <a:srgbClr val="000000"/>
                  </a:solidFill>
                  <a:latin typeface="Courier New" pitchFamily="49" charset="0"/>
                </a:rPr>
                <a:t>2 feet</a:t>
              </a:r>
              <a:endParaRPr lang="en-US"/>
            </a:p>
          </p:txBody>
        </p:sp>
      </p:grpSp>
      <p:sp>
        <p:nvSpPr>
          <p:cNvPr id="2" name="TextBox 1"/>
          <p:cNvSpPr txBox="1"/>
          <p:nvPr/>
        </p:nvSpPr>
        <p:spPr>
          <a:xfrm>
            <a:off x="811191" y="3871694"/>
            <a:ext cx="7498912" cy="646331"/>
          </a:xfrm>
          <a:prstGeom prst="rect">
            <a:avLst/>
          </a:prstGeom>
          <a:noFill/>
        </p:spPr>
        <p:txBody>
          <a:bodyPr wrap="none" rtlCol="0">
            <a:spAutoFit/>
          </a:bodyPr>
          <a:lstStyle/>
          <a:p>
            <a:r>
              <a:rPr lang="en-US" dirty="0"/>
              <a:t>If you have 200 pounds of force and you have the use of a simple lever, </a:t>
            </a:r>
          </a:p>
          <a:p>
            <a:r>
              <a:rPr lang="en-US" dirty="0"/>
              <a:t>you can lift more than 500 pounds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2"/>
          <p:cNvSpPr>
            <a:spLocks noGrp="1"/>
          </p:cNvSpPr>
          <p:nvPr>
            <p:ph type="ftr" sz="quarter" idx="10"/>
          </p:nvPr>
        </p:nvSpPr>
        <p:spPr>
          <a:noFill/>
        </p:spPr>
        <p:txBody>
          <a:bodyPr/>
          <a:lstStyle/>
          <a:p>
            <a:r>
              <a:rPr lang="en-US"/>
              <a:t>Copyright © 2007 Thomson/South-Western, Geltner/Miller/Clayton/Eichholtz, 2e</a:t>
            </a:r>
          </a:p>
        </p:txBody>
      </p:sp>
      <p:sp>
        <p:nvSpPr>
          <p:cNvPr id="6147" name="Slide Number Placeholder 3"/>
          <p:cNvSpPr>
            <a:spLocks noGrp="1"/>
          </p:cNvSpPr>
          <p:nvPr>
            <p:ph type="sldNum" sz="quarter" idx="11"/>
          </p:nvPr>
        </p:nvSpPr>
        <p:spPr>
          <a:xfrm>
            <a:off x="6553200" y="6245225"/>
            <a:ext cx="2133600" cy="476250"/>
          </a:xfrm>
          <a:noFill/>
        </p:spPr>
        <p:txBody>
          <a:bodyPr/>
          <a:lstStyle/>
          <a:p>
            <a:fld id="{1058E553-7549-458F-8F96-1842825D747D}" type="slidenum">
              <a:rPr lang="en-US"/>
              <a:pPr/>
              <a:t>4</a:t>
            </a:fld>
            <a:endParaRPr lang="en-US"/>
          </a:p>
        </p:txBody>
      </p:sp>
      <p:grpSp>
        <p:nvGrpSpPr>
          <p:cNvPr id="6148" name="Group 153"/>
          <p:cNvGrpSpPr>
            <a:grpSpLocks/>
          </p:cNvGrpSpPr>
          <p:nvPr/>
        </p:nvGrpSpPr>
        <p:grpSpPr bwMode="auto">
          <a:xfrm>
            <a:off x="603250" y="642938"/>
            <a:ext cx="7721600" cy="4741862"/>
            <a:chOff x="380" y="405"/>
            <a:chExt cx="4864" cy="2987"/>
          </a:xfrm>
        </p:grpSpPr>
        <p:sp>
          <p:nvSpPr>
            <p:cNvPr id="6150" name="AutoShape 5"/>
            <p:cNvSpPr>
              <a:spLocks noChangeAspect="1" noChangeArrowheads="1" noTextEdit="1"/>
            </p:cNvSpPr>
            <p:nvPr/>
          </p:nvSpPr>
          <p:spPr bwMode="auto">
            <a:xfrm>
              <a:off x="384" y="432"/>
              <a:ext cx="4848" cy="2927"/>
            </a:xfrm>
            <a:prstGeom prst="rect">
              <a:avLst/>
            </a:prstGeom>
            <a:noFill/>
            <a:ln w="9525">
              <a:noFill/>
              <a:miter lim="800000"/>
              <a:headEnd/>
              <a:tailEnd/>
            </a:ln>
          </p:spPr>
          <p:txBody>
            <a:bodyPr/>
            <a:lstStyle/>
            <a:p>
              <a:endParaRPr lang="en-US"/>
            </a:p>
          </p:txBody>
        </p:sp>
        <p:sp>
          <p:nvSpPr>
            <p:cNvPr id="6151" name="Rectangle 7"/>
            <p:cNvSpPr>
              <a:spLocks noChangeArrowheads="1"/>
            </p:cNvSpPr>
            <p:nvPr/>
          </p:nvSpPr>
          <p:spPr bwMode="auto">
            <a:xfrm>
              <a:off x="672" y="601"/>
              <a:ext cx="3542" cy="212"/>
            </a:xfrm>
            <a:prstGeom prst="rect">
              <a:avLst/>
            </a:prstGeom>
            <a:noFill/>
            <a:ln w="9525">
              <a:noFill/>
              <a:miter lim="800000"/>
              <a:headEnd/>
              <a:tailEnd/>
            </a:ln>
          </p:spPr>
          <p:txBody>
            <a:bodyPr/>
            <a:lstStyle/>
            <a:p>
              <a:endParaRPr lang="en-US"/>
            </a:p>
          </p:txBody>
        </p:sp>
        <p:sp>
          <p:nvSpPr>
            <p:cNvPr id="6152" name="Rectangle 8"/>
            <p:cNvSpPr>
              <a:spLocks noChangeArrowheads="1"/>
            </p:cNvSpPr>
            <p:nvPr/>
          </p:nvSpPr>
          <p:spPr bwMode="auto">
            <a:xfrm>
              <a:off x="768" y="481"/>
              <a:ext cx="3090" cy="221"/>
            </a:xfrm>
            <a:prstGeom prst="rect">
              <a:avLst/>
            </a:prstGeom>
            <a:noFill/>
            <a:ln w="9525">
              <a:noFill/>
              <a:miter lim="800000"/>
              <a:headEnd/>
              <a:tailEnd/>
            </a:ln>
          </p:spPr>
          <p:txBody>
            <a:bodyPr/>
            <a:lstStyle/>
            <a:p>
              <a:endParaRPr lang="en-US"/>
            </a:p>
          </p:txBody>
        </p:sp>
        <p:sp>
          <p:nvSpPr>
            <p:cNvPr id="54281" name="Rectangle 9"/>
            <p:cNvSpPr>
              <a:spLocks noChangeArrowheads="1"/>
            </p:cNvSpPr>
            <p:nvPr/>
          </p:nvSpPr>
          <p:spPr bwMode="auto">
            <a:xfrm>
              <a:off x="768" y="480"/>
              <a:ext cx="1292" cy="192"/>
            </a:xfrm>
            <a:prstGeom prst="rect">
              <a:avLst/>
            </a:prstGeom>
            <a:noFill/>
            <a:ln w="9525">
              <a:noFill/>
              <a:miter lim="800000"/>
              <a:headEnd/>
              <a:tailEnd/>
            </a:ln>
          </p:spPr>
          <p:txBody>
            <a:bodyPr wrap="none" lIns="0" tIns="0" rIns="0" bIns="0">
              <a:spAutoFit/>
            </a:bodyPr>
            <a:lstStyle/>
            <a:p>
              <a:pPr>
                <a:defRPr/>
              </a:pPr>
              <a:r>
                <a:rPr lang="en-US" sz="2000" b="1" i="1">
                  <a:solidFill>
                    <a:srgbClr val="000000"/>
                  </a:solidFill>
                  <a:effectLst>
                    <a:outerShdw blurRad="38100" dist="38100" dir="2700000" algn="tl">
                      <a:srgbClr val="FFFFFF"/>
                    </a:outerShdw>
                  </a:effectLst>
                </a:rPr>
                <a:t>Financial Leverage</a:t>
              </a:r>
              <a:endParaRPr lang="en-US" sz="2000">
                <a:effectLst>
                  <a:outerShdw blurRad="38100" dist="38100" dir="2700000" algn="tl">
                    <a:srgbClr val="FFFFFF"/>
                  </a:outerShdw>
                </a:effectLst>
              </a:endParaRPr>
            </a:p>
          </p:txBody>
        </p:sp>
        <p:sp>
          <p:nvSpPr>
            <p:cNvPr id="6154" name="Rectangle 10"/>
            <p:cNvSpPr>
              <a:spLocks noChangeArrowheads="1"/>
            </p:cNvSpPr>
            <p:nvPr/>
          </p:nvSpPr>
          <p:spPr bwMode="auto">
            <a:xfrm>
              <a:off x="388" y="1347"/>
              <a:ext cx="1278" cy="744"/>
            </a:xfrm>
            <a:prstGeom prst="rect">
              <a:avLst/>
            </a:prstGeom>
            <a:solidFill>
              <a:srgbClr val="FFFFFF"/>
            </a:solidFill>
            <a:ln w="11113">
              <a:solidFill>
                <a:srgbClr val="000000"/>
              </a:solidFill>
              <a:miter lim="800000"/>
              <a:headEnd/>
              <a:tailEnd/>
            </a:ln>
          </p:spPr>
          <p:txBody>
            <a:bodyPr/>
            <a:lstStyle/>
            <a:p>
              <a:endParaRPr lang="en-US"/>
            </a:p>
          </p:txBody>
        </p:sp>
        <p:sp>
          <p:nvSpPr>
            <p:cNvPr id="6155" name="Rectangle 11"/>
            <p:cNvSpPr>
              <a:spLocks noChangeArrowheads="1"/>
            </p:cNvSpPr>
            <p:nvPr/>
          </p:nvSpPr>
          <p:spPr bwMode="auto">
            <a:xfrm>
              <a:off x="533" y="1426"/>
              <a:ext cx="1100" cy="250"/>
            </a:xfrm>
            <a:prstGeom prst="rect">
              <a:avLst/>
            </a:prstGeom>
            <a:noFill/>
            <a:ln w="9525">
              <a:noFill/>
              <a:miter lim="800000"/>
              <a:headEnd/>
              <a:tailEnd/>
            </a:ln>
          </p:spPr>
          <p:txBody>
            <a:bodyPr/>
            <a:lstStyle/>
            <a:p>
              <a:endParaRPr lang="en-US"/>
            </a:p>
          </p:txBody>
        </p:sp>
        <p:sp>
          <p:nvSpPr>
            <p:cNvPr id="6156" name="Rectangle 12"/>
            <p:cNvSpPr>
              <a:spLocks noChangeArrowheads="1"/>
            </p:cNvSpPr>
            <p:nvPr/>
          </p:nvSpPr>
          <p:spPr bwMode="auto">
            <a:xfrm>
              <a:off x="533" y="1424"/>
              <a:ext cx="1060" cy="211"/>
            </a:xfrm>
            <a:prstGeom prst="rect">
              <a:avLst/>
            </a:prstGeom>
            <a:noFill/>
            <a:ln w="9525">
              <a:noFill/>
              <a:miter lim="800000"/>
              <a:headEnd/>
              <a:tailEnd/>
            </a:ln>
          </p:spPr>
          <p:txBody>
            <a:bodyPr wrap="none" lIns="0" tIns="0" rIns="0" bIns="0">
              <a:spAutoFit/>
            </a:bodyPr>
            <a:lstStyle/>
            <a:p>
              <a:r>
                <a:rPr lang="en-US" sz="2200" b="1">
                  <a:solidFill>
                    <a:srgbClr val="000000"/>
                  </a:solidFill>
                  <a:latin typeface="Courier New" pitchFamily="49" charset="0"/>
                </a:rPr>
                <a:t>$4,000,000</a:t>
              </a:r>
              <a:endParaRPr lang="en-US"/>
            </a:p>
          </p:txBody>
        </p:sp>
        <p:sp>
          <p:nvSpPr>
            <p:cNvPr id="6157" name="Rectangle 13"/>
            <p:cNvSpPr>
              <a:spLocks noChangeArrowheads="1"/>
            </p:cNvSpPr>
            <p:nvPr/>
          </p:nvSpPr>
          <p:spPr bwMode="auto">
            <a:xfrm>
              <a:off x="690" y="1661"/>
              <a:ext cx="726" cy="250"/>
            </a:xfrm>
            <a:prstGeom prst="rect">
              <a:avLst/>
            </a:prstGeom>
            <a:noFill/>
            <a:ln w="9525">
              <a:noFill/>
              <a:miter lim="800000"/>
              <a:headEnd/>
              <a:tailEnd/>
            </a:ln>
          </p:spPr>
          <p:txBody>
            <a:bodyPr/>
            <a:lstStyle/>
            <a:p>
              <a:endParaRPr lang="en-US"/>
            </a:p>
          </p:txBody>
        </p:sp>
        <p:sp>
          <p:nvSpPr>
            <p:cNvPr id="6158" name="Rectangle 14"/>
            <p:cNvSpPr>
              <a:spLocks noChangeArrowheads="1"/>
            </p:cNvSpPr>
            <p:nvPr/>
          </p:nvSpPr>
          <p:spPr bwMode="auto">
            <a:xfrm>
              <a:off x="690" y="1660"/>
              <a:ext cx="636" cy="211"/>
            </a:xfrm>
            <a:prstGeom prst="rect">
              <a:avLst/>
            </a:prstGeom>
            <a:noFill/>
            <a:ln w="9525">
              <a:noFill/>
              <a:miter lim="800000"/>
              <a:headEnd/>
              <a:tailEnd/>
            </a:ln>
          </p:spPr>
          <p:txBody>
            <a:bodyPr wrap="none" lIns="0" tIns="0" rIns="0" bIns="0">
              <a:spAutoFit/>
            </a:bodyPr>
            <a:lstStyle/>
            <a:p>
              <a:r>
                <a:rPr lang="en-US" sz="2200" b="1">
                  <a:solidFill>
                    <a:srgbClr val="000000"/>
                  </a:solidFill>
                  <a:latin typeface="Courier New" pitchFamily="49" charset="0"/>
                </a:rPr>
                <a:t>EQUITY</a:t>
              </a:r>
              <a:endParaRPr lang="en-US"/>
            </a:p>
          </p:txBody>
        </p:sp>
        <p:sp>
          <p:nvSpPr>
            <p:cNvPr id="6159" name="Rectangle 15"/>
            <p:cNvSpPr>
              <a:spLocks noChangeArrowheads="1"/>
            </p:cNvSpPr>
            <p:nvPr/>
          </p:nvSpPr>
          <p:spPr bwMode="auto">
            <a:xfrm>
              <a:off x="454" y="1819"/>
              <a:ext cx="1141" cy="250"/>
            </a:xfrm>
            <a:prstGeom prst="rect">
              <a:avLst/>
            </a:prstGeom>
            <a:noFill/>
            <a:ln w="9525">
              <a:noFill/>
              <a:miter lim="800000"/>
              <a:headEnd/>
              <a:tailEnd/>
            </a:ln>
          </p:spPr>
          <p:txBody>
            <a:bodyPr/>
            <a:lstStyle/>
            <a:p>
              <a:endParaRPr lang="en-US"/>
            </a:p>
          </p:txBody>
        </p:sp>
        <p:sp>
          <p:nvSpPr>
            <p:cNvPr id="6160" name="Rectangle 16"/>
            <p:cNvSpPr>
              <a:spLocks noChangeArrowheads="1"/>
            </p:cNvSpPr>
            <p:nvPr/>
          </p:nvSpPr>
          <p:spPr bwMode="auto">
            <a:xfrm>
              <a:off x="454" y="1817"/>
              <a:ext cx="1060" cy="211"/>
            </a:xfrm>
            <a:prstGeom prst="rect">
              <a:avLst/>
            </a:prstGeom>
            <a:noFill/>
            <a:ln w="9525">
              <a:noFill/>
              <a:miter lim="800000"/>
              <a:headEnd/>
              <a:tailEnd/>
            </a:ln>
          </p:spPr>
          <p:txBody>
            <a:bodyPr wrap="none" lIns="0" tIns="0" rIns="0" bIns="0">
              <a:spAutoFit/>
            </a:bodyPr>
            <a:lstStyle/>
            <a:p>
              <a:r>
                <a:rPr lang="en-US" sz="2200" b="1">
                  <a:solidFill>
                    <a:srgbClr val="000000"/>
                  </a:solidFill>
                  <a:latin typeface="Courier New" pitchFamily="49" charset="0"/>
                </a:rPr>
                <a:t>INVESTMENT</a:t>
              </a:r>
              <a:endParaRPr lang="en-US"/>
            </a:p>
          </p:txBody>
        </p:sp>
        <p:sp>
          <p:nvSpPr>
            <p:cNvPr id="6161" name="Freeform 17"/>
            <p:cNvSpPr>
              <a:spLocks/>
            </p:cNvSpPr>
            <p:nvPr/>
          </p:nvSpPr>
          <p:spPr bwMode="auto">
            <a:xfrm>
              <a:off x="2201" y="1451"/>
              <a:ext cx="1375" cy="496"/>
            </a:xfrm>
            <a:custGeom>
              <a:avLst/>
              <a:gdLst>
                <a:gd name="T0" fmla="*/ 956 w 1375"/>
                <a:gd name="T1" fmla="*/ 0 h 496"/>
                <a:gd name="T2" fmla="*/ 956 w 1375"/>
                <a:gd name="T3" fmla="*/ 85 h 496"/>
                <a:gd name="T4" fmla="*/ 0 w 1375"/>
                <a:gd name="T5" fmla="*/ 85 h 496"/>
                <a:gd name="T6" fmla="*/ 0 w 1375"/>
                <a:gd name="T7" fmla="*/ 411 h 496"/>
                <a:gd name="T8" fmla="*/ 956 w 1375"/>
                <a:gd name="T9" fmla="*/ 411 h 496"/>
                <a:gd name="T10" fmla="*/ 956 w 1375"/>
                <a:gd name="T11" fmla="*/ 496 h 496"/>
                <a:gd name="T12" fmla="*/ 1375 w 1375"/>
                <a:gd name="T13" fmla="*/ 248 h 496"/>
                <a:gd name="T14" fmla="*/ 956 w 1375"/>
                <a:gd name="T15" fmla="*/ 0 h 496"/>
                <a:gd name="T16" fmla="*/ 0 60000 65536"/>
                <a:gd name="T17" fmla="*/ 0 60000 65536"/>
                <a:gd name="T18" fmla="*/ 0 60000 65536"/>
                <a:gd name="T19" fmla="*/ 0 60000 65536"/>
                <a:gd name="T20" fmla="*/ 0 60000 65536"/>
                <a:gd name="T21" fmla="*/ 0 60000 65536"/>
                <a:gd name="T22" fmla="*/ 0 60000 65536"/>
                <a:gd name="T23" fmla="*/ 0 60000 65536"/>
                <a:gd name="T24" fmla="*/ 0 w 1375"/>
                <a:gd name="T25" fmla="*/ 0 h 496"/>
                <a:gd name="T26" fmla="*/ 1375 w 1375"/>
                <a:gd name="T27" fmla="*/ 496 h 4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5" h="496">
                  <a:moveTo>
                    <a:pt x="956" y="0"/>
                  </a:moveTo>
                  <a:lnTo>
                    <a:pt x="956" y="85"/>
                  </a:lnTo>
                  <a:lnTo>
                    <a:pt x="0" y="85"/>
                  </a:lnTo>
                  <a:lnTo>
                    <a:pt x="0" y="411"/>
                  </a:lnTo>
                  <a:lnTo>
                    <a:pt x="956" y="411"/>
                  </a:lnTo>
                  <a:lnTo>
                    <a:pt x="956" y="496"/>
                  </a:lnTo>
                  <a:lnTo>
                    <a:pt x="1375" y="248"/>
                  </a:lnTo>
                  <a:lnTo>
                    <a:pt x="956" y="0"/>
                  </a:lnTo>
                  <a:close/>
                </a:path>
              </a:pathLst>
            </a:custGeom>
            <a:solidFill>
              <a:srgbClr val="FFFFFF"/>
            </a:solidFill>
            <a:ln w="11113">
              <a:solidFill>
                <a:srgbClr val="000000"/>
              </a:solidFill>
              <a:prstDash val="solid"/>
              <a:round/>
              <a:headEnd/>
              <a:tailEnd/>
            </a:ln>
          </p:spPr>
          <p:txBody>
            <a:bodyPr/>
            <a:lstStyle/>
            <a:p>
              <a:endParaRPr lang="en-US"/>
            </a:p>
          </p:txBody>
        </p:sp>
        <p:sp>
          <p:nvSpPr>
            <p:cNvPr id="6162" name="Rectangle 18"/>
            <p:cNvSpPr>
              <a:spLocks noChangeArrowheads="1"/>
            </p:cNvSpPr>
            <p:nvPr/>
          </p:nvSpPr>
          <p:spPr bwMode="auto">
            <a:xfrm>
              <a:off x="2049" y="1537"/>
              <a:ext cx="102" cy="326"/>
            </a:xfrm>
            <a:prstGeom prst="rect">
              <a:avLst/>
            </a:prstGeom>
            <a:solidFill>
              <a:srgbClr val="FFFFFF"/>
            </a:solidFill>
            <a:ln w="11113">
              <a:solidFill>
                <a:srgbClr val="000000"/>
              </a:solidFill>
              <a:miter lim="800000"/>
              <a:headEnd/>
              <a:tailEnd/>
            </a:ln>
          </p:spPr>
          <p:txBody>
            <a:bodyPr/>
            <a:lstStyle/>
            <a:p>
              <a:endParaRPr lang="en-US"/>
            </a:p>
          </p:txBody>
        </p:sp>
        <p:sp>
          <p:nvSpPr>
            <p:cNvPr id="6163" name="Rectangle 19"/>
            <p:cNvSpPr>
              <a:spLocks noChangeArrowheads="1"/>
            </p:cNvSpPr>
            <p:nvPr/>
          </p:nvSpPr>
          <p:spPr bwMode="auto">
            <a:xfrm>
              <a:off x="1946" y="1537"/>
              <a:ext cx="52" cy="326"/>
            </a:xfrm>
            <a:prstGeom prst="rect">
              <a:avLst/>
            </a:prstGeom>
            <a:solidFill>
              <a:srgbClr val="FFFFFF"/>
            </a:solidFill>
            <a:ln w="11113">
              <a:solidFill>
                <a:srgbClr val="000000"/>
              </a:solidFill>
              <a:miter lim="800000"/>
              <a:headEnd/>
              <a:tailEnd/>
            </a:ln>
          </p:spPr>
          <p:txBody>
            <a:bodyPr/>
            <a:lstStyle/>
            <a:p>
              <a:endParaRPr lang="en-US"/>
            </a:p>
          </p:txBody>
        </p:sp>
        <p:sp>
          <p:nvSpPr>
            <p:cNvPr id="6164" name="Rectangle 20"/>
            <p:cNvSpPr>
              <a:spLocks noChangeArrowheads="1"/>
            </p:cNvSpPr>
            <p:nvPr/>
          </p:nvSpPr>
          <p:spPr bwMode="auto">
            <a:xfrm>
              <a:off x="2514" y="1592"/>
              <a:ext cx="566" cy="214"/>
            </a:xfrm>
            <a:prstGeom prst="rect">
              <a:avLst/>
            </a:prstGeom>
            <a:solidFill>
              <a:srgbClr val="FFFFFF"/>
            </a:solidFill>
            <a:ln w="9525">
              <a:noFill/>
              <a:miter lim="800000"/>
              <a:headEnd/>
              <a:tailEnd/>
            </a:ln>
          </p:spPr>
          <p:txBody>
            <a:bodyPr/>
            <a:lstStyle/>
            <a:p>
              <a:endParaRPr lang="en-US"/>
            </a:p>
          </p:txBody>
        </p:sp>
        <p:sp>
          <p:nvSpPr>
            <p:cNvPr id="6165" name="Rectangle 21"/>
            <p:cNvSpPr>
              <a:spLocks noChangeArrowheads="1"/>
            </p:cNvSpPr>
            <p:nvPr/>
          </p:nvSpPr>
          <p:spPr bwMode="auto">
            <a:xfrm>
              <a:off x="2595" y="1633"/>
              <a:ext cx="489" cy="221"/>
            </a:xfrm>
            <a:prstGeom prst="rect">
              <a:avLst/>
            </a:prstGeom>
            <a:noFill/>
            <a:ln w="9525">
              <a:noFill/>
              <a:miter lim="800000"/>
              <a:headEnd/>
              <a:tailEnd/>
            </a:ln>
          </p:spPr>
          <p:txBody>
            <a:bodyPr/>
            <a:lstStyle/>
            <a:p>
              <a:endParaRPr lang="en-US"/>
            </a:p>
          </p:txBody>
        </p:sp>
        <p:sp>
          <p:nvSpPr>
            <p:cNvPr id="6166" name="Rectangle 22"/>
            <p:cNvSpPr>
              <a:spLocks noChangeArrowheads="1"/>
            </p:cNvSpPr>
            <p:nvPr/>
          </p:nvSpPr>
          <p:spPr bwMode="auto">
            <a:xfrm>
              <a:off x="2595" y="1632"/>
              <a:ext cx="364" cy="182"/>
            </a:xfrm>
            <a:prstGeom prst="rect">
              <a:avLst/>
            </a:prstGeom>
            <a:noFill/>
            <a:ln w="9525">
              <a:noFill/>
              <a:miter lim="800000"/>
              <a:headEnd/>
              <a:tailEnd/>
            </a:ln>
          </p:spPr>
          <p:txBody>
            <a:bodyPr wrap="none" lIns="0" tIns="0" rIns="0" bIns="0">
              <a:spAutoFit/>
            </a:bodyPr>
            <a:lstStyle/>
            <a:p>
              <a:r>
                <a:rPr lang="en-US" sz="1900" b="1" i="1">
                  <a:solidFill>
                    <a:srgbClr val="000000"/>
                  </a:solidFill>
                  <a:latin typeface="Courier New" pitchFamily="49" charset="0"/>
                </a:rPr>
                <a:t>BUYS</a:t>
              </a:r>
              <a:endParaRPr lang="en-US"/>
            </a:p>
          </p:txBody>
        </p:sp>
        <p:sp>
          <p:nvSpPr>
            <p:cNvPr id="6167" name="Rectangle 23"/>
            <p:cNvSpPr>
              <a:spLocks noChangeArrowheads="1"/>
            </p:cNvSpPr>
            <p:nvPr/>
          </p:nvSpPr>
          <p:spPr bwMode="auto">
            <a:xfrm>
              <a:off x="3789" y="1583"/>
              <a:ext cx="1420" cy="650"/>
            </a:xfrm>
            <a:prstGeom prst="rect">
              <a:avLst/>
            </a:prstGeom>
            <a:solidFill>
              <a:srgbClr val="FFFFFF"/>
            </a:solidFill>
            <a:ln w="11113">
              <a:solidFill>
                <a:srgbClr val="000000"/>
              </a:solidFill>
              <a:miter lim="800000"/>
              <a:headEnd/>
              <a:tailEnd/>
            </a:ln>
          </p:spPr>
          <p:txBody>
            <a:bodyPr/>
            <a:lstStyle/>
            <a:p>
              <a:endParaRPr lang="en-US"/>
            </a:p>
          </p:txBody>
        </p:sp>
        <p:sp>
          <p:nvSpPr>
            <p:cNvPr id="6168" name="Rectangle 24"/>
            <p:cNvSpPr>
              <a:spLocks noChangeArrowheads="1"/>
            </p:cNvSpPr>
            <p:nvPr/>
          </p:nvSpPr>
          <p:spPr bwMode="auto">
            <a:xfrm>
              <a:off x="4001" y="1521"/>
              <a:ext cx="1064" cy="497"/>
            </a:xfrm>
            <a:prstGeom prst="rect">
              <a:avLst/>
            </a:prstGeom>
            <a:noFill/>
            <a:ln w="9525">
              <a:noFill/>
              <a:miter lim="800000"/>
              <a:headEnd/>
              <a:tailEnd/>
            </a:ln>
          </p:spPr>
          <p:txBody>
            <a:bodyPr/>
            <a:lstStyle/>
            <a:p>
              <a:endParaRPr lang="en-US"/>
            </a:p>
          </p:txBody>
        </p:sp>
        <p:sp>
          <p:nvSpPr>
            <p:cNvPr id="6169" name="Rectangle 25"/>
            <p:cNvSpPr>
              <a:spLocks noChangeArrowheads="1"/>
            </p:cNvSpPr>
            <p:nvPr/>
          </p:nvSpPr>
          <p:spPr bwMode="auto">
            <a:xfrm>
              <a:off x="3908" y="1740"/>
              <a:ext cx="1257" cy="237"/>
            </a:xfrm>
            <a:prstGeom prst="rect">
              <a:avLst/>
            </a:prstGeom>
            <a:noFill/>
            <a:ln w="9525">
              <a:noFill/>
              <a:miter lim="800000"/>
              <a:headEnd/>
              <a:tailEnd/>
            </a:ln>
          </p:spPr>
          <p:txBody>
            <a:bodyPr/>
            <a:lstStyle/>
            <a:p>
              <a:endParaRPr lang="en-US"/>
            </a:p>
          </p:txBody>
        </p:sp>
        <p:sp>
          <p:nvSpPr>
            <p:cNvPr id="6170" name="Rectangle 26"/>
            <p:cNvSpPr>
              <a:spLocks noChangeArrowheads="1"/>
            </p:cNvSpPr>
            <p:nvPr/>
          </p:nvSpPr>
          <p:spPr bwMode="auto">
            <a:xfrm>
              <a:off x="3908" y="1739"/>
              <a:ext cx="1166" cy="211"/>
            </a:xfrm>
            <a:prstGeom prst="rect">
              <a:avLst/>
            </a:prstGeom>
            <a:noFill/>
            <a:ln w="9525">
              <a:noFill/>
              <a:miter lim="800000"/>
              <a:headEnd/>
              <a:tailEnd/>
            </a:ln>
          </p:spPr>
          <p:txBody>
            <a:bodyPr wrap="none" lIns="0" tIns="0" rIns="0" bIns="0">
              <a:spAutoFit/>
            </a:bodyPr>
            <a:lstStyle/>
            <a:p>
              <a:r>
                <a:rPr lang="en-US" sz="2200" b="1">
                  <a:solidFill>
                    <a:srgbClr val="000000"/>
                  </a:solidFill>
                  <a:latin typeface="Courier New" pitchFamily="49" charset="0"/>
                </a:rPr>
                <a:t>$10,000,000</a:t>
              </a:r>
              <a:endParaRPr lang="en-US"/>
            </a:p>
          </p:txBody>
        </p:sp>
        <p:sp>
          <p:nvSpPr>
            <p:cNvPr id="6171" name="Rectangle 27"/>
            <p:cNvSpPr>
              <a:spLocks noChangeArrowheads="1"/>
            </p:cNvSpPr>
            <p:nvPr/>
          </p:nvSpPr>
          <p:spPr bwMode="auto">
            <a:xfrm>
              <a:off x="4064" y="1976"/>
              <a:ext cx="944" cy="250"/>
            </a:xfrm>
            <a:prstGeom prst="rect">
              <a:avLst/>
            </a:prstGeom>
            <a:noFill/>
            <a:ln w="9525">
              <a:noFill/>
              <a:miter lim="800000"/>
              <a:headEnd/>
              <a:tailEnd/>
            </a:ln>
          </p:spPr>
          <p:txBody>
            <a:bodyPr/>
            <a:lstStyle/>
            <a:p>
              <a:endParaRPr lang="en-US"/>
            </a:p>
          </p:txBody>
        </p:sp>
        <p:sp>
          <p:nvSpPr>
            <p:cNvPr id="6172" name="Rectangle 28"/>
            <p:cNvSpPr>
              <a:spLocks noChangeArrowheads="1"/>
            </p:cNvSpPr>
            <p:nvPr/>
          </p:nvSpPr>
          <p:spPr bwMode="auto">
            <a:xfrm>
              <a:off x="4064" y="1975"/>
              <a:ext cx="848" cy="211"/>
            </a:xfrm>
            <a:prstGeom prst="rect">
              <a:avLst/>
            </a:prstGeom>
            <a:noFill/>
            <a:ln w="9525">
              <a:noFill/>
              <a:miter lim="800000"/>
              <a:headEnd/>
              <a:tailEnd/>
            </a:ln>
          </p:spPr>
          <p:txBody>
            <a:bodyPr wrap="none" lIns="0" tIns="0" rIns="0" bIns="0">
              <a:spAutoFit/>
            </a:bodyPr>
            <a:lstStyle/>
            <a:p>
              <a:r>
                <a:rPr lang="en-US" sz="2200" b="1">
                  <a:solidFill>
                    <a:srgbClr val="000000"/>
                  </a:solidFill>
                  <a:latin typeface="Courier New" pitchFamily="49" charset="0"/>
                </a:rPr>
                <a:t>PROPERTY</a:t>
              </a:r>
              <a:endParaRPr lang="en-US"/>
            </a:p>
          </p:txBody>
        </p:sp>
        <p:sp>
          <p:nvSpPr>
            <p:cNvPr id="6173" name="Rectangle 29"/>
            <p:cNvSpPr>
              <a:spLocks noChangeArrowheads="1"/>
            </p:cNvSpPr>
            <p:nvPr/>
          </p:nvSpPr>
          <p:spPr bwMode="auto">
            <a:xfrm>
              <a:off x="847" y="2683"/>
              <a:ext cx="4252" cy="709"/>
            </a:xfrm>
            <a:prstGeom prst="rect">
              <a:avLst/>
            </a:prstGeom>
            <a:noFill/>
            <a:ln w="9525">
              <a:noFill/>
              <a:miter lim="800000"/>
              <a:headEnd/>
              <a:tailEnd/>
            </a:ln>
          </p:spPr>
          <p:txBody>
            <a:bodyPr/>
            <a:lstStyle/>
            <a:p>
              <a:endParaRPr lang="en-US"/>
            </a:p>
          </p:txBody>
        </p:sp>
        <p:sp>
          <p:nvSpPr>
            <p:cNvPr id="6174" name="Rectangle 30"/>
            <p:cNvSpPr>
              <a:spLocks noChangeArrowheads="1"/>
            </p:cNvSpPr>
            <p:nvPr/>
          </p:nvSpPr>
          <p:spPr bwMode="auto">
            <a:xfrm>
              <a:off x="533" y="2683"/>
              <a:ext cx="4711" cy="221"/>
            </a:xfrm>
            <a:prstGeom prst="rect">
              <a:avLst/>
            </a:prstGeom>
            <a:noFill/>
            <a:ln w="9525">
              <a:noFill/>
              <a:miter lim="800000"/>
              <a:headEnd/>
              <a:tailEnd/>
            </a:ln>
          </p:spPr>
          <p:txBody>
            <a:bodyPr/>
            <a:lstStyle/>
            <a:p>
              <a:endParaRPr lang="en-US"/>
            </a:p>
          </p:txBody>
        </p:sp>
        <p:sp>
          <p:nvSpPr>
            <p:cNvPr id="6175" name="Rectangle 31"/>
            <p:cNvSpPr>
              <a:spLocks noChangeArrowheads="1"/>
            </p:cNvSpPr>
            <p:nvPr/>
          </p:nvSpPr>
          <p:spPr bwMode="auto">
            <a:xfrm>
              <a:off x="533" y="2682"/>
              <a:ext cx="4459" cy="182"/>
            </a:xfrm>
            <a:prstGeom prst="rect">
              <a:avLst/>
            </a:prstGeom>
            <a:noFill/>
            <a:ln w="9525">
              <a:noFill/>
              <a:miter lim="800000"/>
              <a:headEnd/>
              <a:tailEnd/>
            </a:ln>
          </p:spPr>
          <p:txBody>
            <a:bodyPr wrap="none" lIns="0" tIns="0" rIns="0" bIns="0">
              <a:spAutoFit/>
            </a:bodyPr>
            <a:lstStyle/>
            <a:p>
              <a:r>
                <a:rPr lang="en-US" sz="1900" b="1" i="1">
                  <a:solidFill>
                    <a:srgbClr val="000000"/>
                  </a:solidFill>
                  <a:latin typeface="Courier New" pitchFamily="49" charset="0"/>
                </a:rPr>
                <a:t>"Leverage Ratio" = $10,000,000 / $4,000,000 = 2.5</a:t>
              </a:r>
              <a:endParaRPr lang="en-US"/>
            </a:p>
          </p:txBody>
        </p:sp>
        <p:sp>
          <p:nvSpPr>
            <p:cNvPr id="6176" name="Rectangle 32"/>
            <p:cNvSpPr>
              <a:spLocks noChangeArrowheads="1"/>
            </p:cNvSpPr>
            <p:nvPr/>
          </p:nvSpPr>
          <p:spPr bwMode="auto">
            <a:xfrm>
              <a:off x="1632" y="2877"/>
              <a:ext cx="2198" cy="219"/>
            </a:xfrm>
            <a:prstGeom prst="rect">
              <a:avLst/>
            </a:prstGeom>
            <a:noFill/>
            <a:ln w="9525">
              <a:noFill/>
              <a:miter lim="800000"/>
              <a:headEnd/>
              <a:tailEnd/>
            </a:ln>
          </p:spPr>
          <p:txBody>
            <a:bodyPr/>
            <a:lstStyle/>
            <a:p>
              <a:endParaRPr lang="en-US"/>
            </a:p>
          </p:txBody>
        </p:sp>
        <p:sp>
          <p:nvSpPr>
            <p:cNvPr id="6177" name="Rectangle 33"/>
            <p:cNvSpPr>
              <a:spLocks noChangeArrowheads="1"/>
            </p:cNvSpPr>
            <p:nvPr/>
          </p:nvSpPr>
          <p:spPr bwMode="auto">
            <a:xfrm>
              <a:off x="1632" y="2874"/>
              <a:ext cx="1729" cy="182"/>
            </a:xfrm>
            <a:prstGeom prst="rect">
              <a:avLst/>
            </a:prstGeom>
            <a:noFill/>
            <a:ln w="9525">
              <a:noFill/>
              <a:miter lim="800000"/>
              <a:headEnd/>
              <a:tailEnd/>
            </a:ln>
          </p:spPr>
          <p:txBody>
            <a:bodyPr wrap="none" lIns="0" tIns="0" rIns="0" bIns="0">
              <a:spAutoFit/>
            </a:bodyPr>
            <a:lstStyle/>
            <a:p>
              <a:r>
                <a:rPr lang="en-US" sz="1900" b="1" i="1">
                  <a:solidFill>
                    <a:srgbClr val="000000"/>
                  </a:solidFill>
                  <a:latin typeface="Courier New" pitchFamily="49" charset="0"/>
                </a:rPr>
                <a:t>Equity = $4,000,000</a:t>
              </a:r>
              <a:endParaRPr lang="en-US"/>
            </a:p>
          </p:txBody>
        </p:sp>
        <p:sp>
          <p:nvSpPr>
            <p:cNvPr id="6178" name="Rectangle 34"/>
            <p:cNvSpPr>
              <a:spLocks noChangeArrowheads="1"/>
            </p:cNvSpPr>
            <p:nvPr/>
          </p:nvSpPr>
          <p:spPr bwMode="auto">
            <a:xfrm>
              <a:off x="1632" y="3076"/>
              <a:ext cx="1806" cy="221"/>
            </a:xfrm>
            <a:prstGeom prst="rect">
              <a:avLst/>
            </a:prstGeom>
            <a:noFill/>
            <a:ln w="9525">
              <a:noFill/>
              <a:miter lim="800000"/>
              <a:headEnd/>
              <a:tailEnd/>
            </a:ln>
          </p:spPr>
          <p:txBody>
            <a:bodyPr/>
            <a:lstStyle/>
            <a:p>
              <a:endParaRPr lang="en-US"/>
            </a:p>
          </p:txBody>
        </p:sp>
        <p:sp>
          <p:nvSpPr>
            <p:cNvPr id="6179" name="Rectangle 35"/>
            <p:cNvSpPr>
              <a:spLocks noChangeArrowheads="1"/>
            </p:cNvSpPr>
            <p:nvPr/>
          </p:nvSpPr>
          <p:spPr bwMode="auto">
            <a:xfrm>
              <a:off x="1632" y="3075"/>
              <a:ext cx="1547" cy="182"/>
            </a:xfrm>
            <a:prstGeom prst="rect">
              <a:avLst/>
            </a:prstGeom>
            <a:noFill/>
            <a:ln w="9525">
              <a:noFill/>
              <a:miter lim="800000"/>
              <a:headEnd/>
              <a:tailEnd/>
            </a:ln>
          </p:spPr>
          <p:txBody>
            <a:bodyPr wrap="none" lIns="0" tIns="0" rIns="0" bIns="0">
              <a:spAutoFit/>
            </a:bodyPr>
            <a:lstStyle/>
            <a:p>
              <a:r>
                <a:rPr lang="en-US" sz="1900" b="1" i="1">
                  <a:solidFill>
                    <a:srgbClr val="000000"/>
                  </a:solidFill>
                  <a:latin typeface="Courier New" pitchFamily="49" charset="0"/>
                </a:rPr>
                <a:t>Debt = $6,000,000</a:t>
              </a:r>
              <a:endParaRPr lang="en-US"/>
            </a:p>
          </p:txBody>
        </p:sp>
        <p:sp>
          <p:nvSpPr>
            <p:cNvPr id="6180" name="Freeform 36"/>
            <p:cNvSpPr>
              <a:spLocks/>
            </p:cNvSpPr>
            <p:nvPr/>
          </p:nvSpPr>
          <p:spPr bwMode="auto">
            <a:xfrm>
              <a:off x="4291" y="602"/>
              <a:ext cx="317" cy="80"/>
            </a:xfrm>
            <a:custGeom>
              <a:avLst/>
              <a:gdLst>
                <a:gd name="T0" fmla="*/ 235 w 317"/>
                <a:gd name="T1" fmla="*/ 80 h 80"/>
                <a:gd name="T2" fmla="*/ 317 w 317"/>
                <a:gd name="T3" fmla="*/ 38 h 80"/>
                <a:gd name="T4" fmla="*/ 89 w 317"/>
                <a:gd name="T5" fmla="*/ 0 h 80"/>
                <a:gd name="T6" fmla="*/ 0 w 317"/>
                <a:gd name="T7" fmla="*/ 44 h 80"/>
                <a:gd name="T8" fmla="*/ 235 w 317"/>
                <a:gd name="T9" fmla="*/ 80 h 80"/>
                <a:gd name="T10" fmla="*/ 0 60000 65536"/>
                <a:gd name="T11" fmla="*/ 0 60000 65536"/>
                <a:gd name="T12" fmla="*/ 0 60000 65536"/>
                <a:gd name="T13" fmla="*/ 0 60000 65536"/>
                <a:gd name="T14" fmla="*/ 0 60000 65536"/>
                <a:gd name="T15" fmla="*/ 0 w 317"/>
                <a:gd name="T16" fmla="*/ 0 h 80"/>
                <a:gd name="T17" fmla="*/ 317 w 317"/>
                <a:gd name="T18" fmla="*/ 80 h 80"/>
              </a:gdLst>
              <a:ahLst/>
              <a:cxnLst>
                <a:cxn ang="T10">
                  <a:pos x="T0" y="T1"/>
                </a:cxn>
                <a:cxn ang="T11">
                  <a:pos x="T2" y="T3"/>
                </a:cxn>
                <a:cxn ang="T12">
                  <a:pos x="T4" y="T5"/>
                </a:cxn>
                <a:cxn ang="T13">
                  <a:pos x="T6" y="T7"/>
                </a:cxn>
                <a:cxn ang="T14">
                  <a:pos x="T8" y="T9"/>
                </a:cxn>
              </a:cxnLst>
              <a:rect l="T15" t="T16" r="T17" b="T18"/>
              <a:pathLst>
                <a:path w="317" h="80">
                  <a:moveTo>
                    <a:pt x="235" y="80"/>
                  </a:moveTo>
                  <a:lnTo>
                    <a:pt x="317" y="38"/>
                  </a:lnTo>
                  <a:lnTo>
                    <a:pt x="89" y="0"/>
                  </a:lnTo>
                  <a:lnTo>
                    <a:pt x="0" y="44"/>
                  </a:lnTo>
                  <a:lnTo>
                    <a:pt x="235" y="80"/>
                  </a:lnTo>
                  <a:close/>
                </a:path>
              </a:pathLst>
            </a:custGeom>
            <a:solidFill>
              <a:srgbClr val="5FBF00"/>
            </a:solidFill>
            <a:ln w="9525">
              <a:noFill/>
              <a:round/>
              <a:headEnd/>
              <a:tailEnd/>
            </a:ln>
          </p:spPr>
          <p:txBody>
            <a:bodyPr/>
            <a:lstStyle/>
            <a:p>
              <a:endParaRPr lang="en-US"/>
            </a:p>
          </p:txBody>
        </p:sp>
        <p:sp>
          <p:nvSpPr>
            <p:cNvPr id="6181" name="Freeform 37"/>
            <p:cNvSpPr>
              <a:spLocks/>
            </p:cNvSpPr>
            <p:nvPr/>
          </p:nvSpPr>
          <p:spPr bwMode="auto">
            <a:xfrm>
              <a:off x="4306" y="482"/>
              <a:ext cx="264" cy="39"/>
            </a:xfrm>
            <a:custGeom>
              <a:avLst/>
              <a:gdLst>
                <a:gd name="T0" fmla="*/ 0 w 264"/>
                <a:gd name="T1" fmla="*/ 19 h 39"/>
                <a:gd name="T2" fmla="*/ 206 w 264"/>
                <a:gd name="T3" fmla="*/ 39 h 39"/>
                <a:gd name="T4" fmla="*/ 264 w 264"/>
                <a:gd name="T5" fmla="*/ 22 h 39"/>
                <a:gd name="T6" fmla="*/ 63 w 264"/>
                <a:gd name="T7" fmla="*/ 0 h 39"/>
                <a:gd name="T8" fmla="*/ 0 w 264"/>
                <a:gd name="T9" fmla="*/ 19 h 39"/>
                <a:gd name="T10" fmla="*/ 0 60000 65536"/>
                <a:gd name="T11" fmla="*/ 0 60000 65536"/>
                <a:gd name="T12" fmla="*/ 0 60000 65536"/>
                <a:gd name="T13" fmla="*/ 0 60000 65536"/>
                <a:gd name="T14" fmla="*/ 0 60000 65536"/>
                <a:gd name="T15" fmla="*/ 0 w 264"/>
                <a:gd name="T16" fmla="*/ 0 h 39"/>
                <a:gd name="T17" fmla="*/ 264 w 264"/>
                <a:gd name="T18" fmla="*/ 39 h 39"/>
              </a:gdLst>
              <a:ahLst/>
              <a:cxnLst>
                <a:cxn ang="T10">
                  <a:pos x="T0" y="T1"/>
                </a:cxn>
                <a:cxn ang="T11">
                  <a:pos x="T2" y="T3"/>
                </a:cxn>
                <a:cxn ang="T12">
                  <a:pos x="T4" y="T5"/>
                </a:cxn>
                <a:cxn ang="T13">
                  <a:pos x="T6" y="T7"/>
                </a:cxn>
                <a:cxn ang="T14">
                  <a:pos x="T8" y="T9"/>
                </a:cxn>
              </a:cxnLst>
              <a:rect l="T15" t="T16" r="T17" b="T18"/>
              <a:pathLst>
                <a:path w="264" h="39">
                  <a:moveTo>
                    <a:pt x="0" y="19"/>
                  </a:moveTo>
                  <a:lnTo>
                    <a:pt x="206" y="39"/>
                  </a:lnTo>
                  <a:lnTo>
                    <a:pt x="264" y="22"/>
                  </a:lnTo>
                  <a:lnTo>
                    <a:pt x="63" y="0"/>
                  </a:lnTo>
                  <a:lnTo>
                    <a:pt x="0" y="19"/>
                  </a:lnTo>
                  <a:close/>
                </a:path>
              </a:pathLst>
            </a:custGeom>
            <a:solidFill>
              <a:srgbClr val="5FBF00"/>
            </a:solidFill>
            <a:ln w="9525">
              <a:noFill/>
              <a:round/>
              <a:headEnd/>
              <a:tailEnd/>
            </a:ln>
          </p:spPr>
          <p:txBody>
            <a:bodyPr/>
            <a:lstStyle/>
            <a:p>
              <a:endParaRPr lang="en-US"/>
            </a:p>
          </p:txBody>
        </p:sp>
        <p:sp>
          <p:nvSpPr>
            <p:cNvPr id="6182" name="Freeform 38"/>
            <p:cNvSpPr>
              <a:spLocks/>
            </p:cNvSpPr>
            <p:nvPr/>
          </p:nvSpPr>
          <p:spPr bwMode="auto">
            <a:xfrm>
              <a:off x="4513" y="504"/>
              <a:ext cx="59" cy="163"/>
            </a:xfrm>
            <a:custGeom>
              <a:avLst/>
              <a:gdLst>
                <a:gd name="T0" fmla="*/ 0 w 59"/>
                <a:gd name="T1" fmla="*/ 16 h 163"/>
                <a:gd name="T2" fmla="*/ 59 w 59"/>
                <a:gd name="T3" fmla="*/ 0 h 163"/>
                <a:gd name="T4" fmla="*/ 59 w 59"/>
                <a:gd name="T5" fmla="*/ 136 h 163"/>
                <a:gd name="T6" fmla="*/ 0 w 59"/>
                <a:gd name="T7" fmla="*/ 163 h 163"/>
                <a:gd name="T8" fmla="*/ 0 w 59"/>
                <a:gd name="T9" fmla="*/ 16 h 163"/>
                <a:gd name="T10" fmla="*/ 0 60000 65536"/>
                <a:gd name="T11" fmla="*/ 0 60000 65536"/>
                <a:gd name="T12" fmla="*/ 0 60000 65536"/>
                <a:gd name="T13" fmla="*/ 0 60000 65536"/>
                <a:gd name="T14" fmla="*/ 0 60000 65536"/>
                <a:gd name="T15" fmla="*/ 0 w 59"/>
                <a:gd name="T16" fmla="*/ 0 h 163"/>
                <a:gd name="T17" fmla="*/ 59 w 59"/>
                <a:gd name="T18" fmla="*/ 163 h 163"/>
              </a:gdLst>
              <a:ahLst/>
              <a:cxnLst>
                <a:cxn ang="T10">
                  <a:pos x="T0" y="T1"/>
                </a:cxn>
                <a:cxn ang="T11">
                  <a:pos x="T2" y="T3"/>
                </a:cxn>
                <a:cxn ang="T12">
                  <a:pos x="T4" y="T5"/>
                </a:cxn>
                <a:cxn ang="T13">
                  <a:pos x="T6" y="T7"/>
                </a:cxn>
                <a:cxn ang="T14">
                  <a:pos x="T8" y="T9"/>
                </a:cxn>
              </a:cxnLst>
              <a:rect l="T15" t="T16" r="T17" b="T18"/>
              <a:pathLst>
                <a:path w="59" h="163">
                  <a:moveTo>
                    <a:pt x="0" y="16"/>
                  </a:moveTo>
                  <a:lnTo>
                    <a:pt x="59" y="0"/>
                  </a:lnTo>
                  <a:lnTo>
                    <a:pt x="59" y="136"/>
                  </a:lnTo>
                  <a:lnTo>
                    <a:pt x="0" y="163"/>
                  </a:lnTo>
                  <a:lnTo>
                    <a:pt x="0" y="16"/>
                  </a:lnTo>
                  <a:close/>
                </a:path>
              </a:pathLst>
            </a:custGeom>
            <a:solidFill>
              <a:srgbClr val="00FF00"/>
            </a:solidFill>
            <a:ln w="9525">
              <a:noFill/>
              <a:round/>
              <a:headEnd/>
              <a:tailEnd/>
            </a:ln>
          </p:spPr>
          <p:txBody>
            <a:bodyPr/>
            <a:lstStyle/>
            <a:p>
              <a:endParaRPr lang="en-US"/>
            </a:p>
          </p:txBody>
        </p:sp>
        <p:sp>
          <p:nvSpPr>
            <p:cNvPr id="6183" name="Freeform 39"/>
            <p:cNvSpPr>
              <a:spLocks/>
            </p:cNvSpPr>
            <p:nvPr/>
          </p:nvSpPr>
          <p:spPr bwMode="auto">
            <a:xfrm>
              <a:off x="4306" y="501"/>
              <a:ext cx="207" cy="164"/>
            </a:xfrm>
            <a:custGeom>
              <a:avLst/>
              <a:gdLst>
                <a:gd name="T0" fmla="*/ 0 w 207"/>
                <a:gd name="T1" fmla="*/ 0 h 164"/>
                <a:gd name="T2" fmla="*/ 207 w 207"/>
                <a:gd name="T3" fmla="*/ 20 h 164"/>
                <a:gd name="T4" fmla="*/ 207 w 207"/>
                <a:gd name="T5" fmla="*/ 164 h 164"/>
                <a:gd name="T6" fmla="*/ 0 w 207"/>
                <a:gd name="T7" fmla="*/ 132 h 164"/>
                <a:gd name="T8" fmla="*/ 0 w 207"/>
                <a:gd name="T9" fmla="*/ 0 h 164"/>
                <a:gd name="T10" fmla="*/ 0 60000 65536"/>
                <a:gd name="T11" fmla="*/ 0 60000 65536"/>
                <a:gd name="T12" fmla="*/ 0 60000 65536"/>
                <a:gd name="T13" fmla="*/ 0 60000 65536"/>
                <a:gd name="T14" fmla="*/ 0 60000 65536"/>
                <a:gd name="T15" fmla="*/ 0 w 207"/>
                <a:gd name="T16" fmla="*/ 0 h 164"/>
                <a:gd name="T17" fmla="*/ 207 w 207"/>
                <a:gd name="T18" fmla="*/ 164 h 164"/>
              </a:gdLst>
              <a:ahLst/>
              <a:cxnLst>
                <a:cxn ang="T10">
                  <a:pos x="T0" y="T1"/>
                </a:cxn>
                <a:cxn ang="T11">
                  <a:pos x="T2" y="T3"/>
                </a:cxn>
                <a:cxn ang="T12">
                  <a:pos x="T4" y="T5"/>
                </a:cxn>
                <a:cxn ang="T13">
                  <a:pos x="T6" y="T7"/>
                </a:cxn>
                <a:cxn ang="T14">
                  <a:pos x="T8" y="T9"/>
                </a:cxn>
              </a:cxnLst>
              <a:rect l="T15" t="T16" r="T17" b="T18"/>
              <a:pathLst>
                <a:path w="207" h="164">
                  <a:moveTo>
                    <a:pt x="0" y="0"/>
                  </a:moveTo>
                  <a:lnTo>
                    <a:pt x="207" y="20"/>
                  </a:lnTo>
                  <a:lnTo>
                    <a:pt x="207" y="164"/>
                  </a:lnTo>
                  <a:lnTo>
                    <a:pt x="0" y="132"/>
                  </a:lnTo>
                  <a:lnTo>
                    <a:pt x="0" y="0"/>
                  </a:lnTo>
                  <a:close/>
                </a:path>
              </a:pathLst>
            </a:custGeom>
            <a:solidFill>
              <a:srgbClr val="7FFF00"/>
            </a:solidFill>
            <a:ln w="9525">
              <a:noFill/>
              <a:round/>
              <a:headEnd/>
              <a:tailEnd/>
            </a:ln>
          </p:spPr>
          <p:txBody>
            <a:bodyPr/>
            <a:lstStyle/>
            <a:p>
              <a:endParaRPr lang="en-US"/>
            </a:p>
          </p:txBody>
        </p:sp>
        <p:sp>
          <p:nvSpPr>
            <p:cNvPr id="6184" name="Freeform 40"/>
            <p:cNvSpPr>
              <a:spLocks/>
            </p:cNvSpPr>
            <p:nvPr/>
          </p:nvSpPr>
          <p:spPr bwMode="auto">
            <a:xfrm>
              <a:off x="4526" y="638"/>
              <a:ext cx="82" cy="406"/>
            </a:xfrm>
            <a:custGeom>
              <a:avLst/>
              <a:gdLst>
                <a:gd name="T0" fmla="*/ 82 w 82"/>
                <a:gd name="T1" fmla="*/ 0 h 406"/>
                <a:gd name="T2" fmla="*/ 0 w 82"/>
                <a:gd name="T3" fmla="*/ 44 h 406"/>
                <a:gd name="T4" fmla="*/ 0 w 82"/>
                <a:gd name="T5" fmla="*/ 406 h 406"/>
                <a:gd name="T6" fmla="*/ 82 w 82"/>
                <a:gd name="T7" fmla="*/ 354 h 406"/>
                <a:gd name="T8" fmla="*/ 82 w 82"/>
                <a:gd name="T9" fmla="*/ 0 h 406"/>
                <a:gd name="T10" fmla="*/ 0 60000 65536"/>
                <a:gd name="T11" fmla="*/ 0 60000 65536"/>
                <a:gd name="T12" fmla="*/ 0 60000 65536"/>
                <a:gd name="T13" fmla="*/ 0 60000 65536"/>
                <a:gd name="T14" fmla="*/ 0 60000 65536"/>
                <a:gd name="T15" fmla="*/ 0 w 82"/>
                <a:gd name="T16" fmla="*/ 0 h 406"/>
                <a:gd name="T17" fmla="*/ 82 w 82"/>
                <a:gd name="T18" fmla="*/ 406 h 406"/>
              </a:gdLst>
              <a:ahLst/>
              <a:cxnLst>
                <a:cxn ang="T10">
                  <a:pos x="T0" y="T1"/>
                </a:cxn>
                <a:cxn ang="T11">
                  <a:pos x="T2" y="T3"/>
                </a:cxn>
                <a:cxn ang="T12">
                  <a:pos x="T4" y="T5"/>
                </a:cxn>
                <a:cxn ang="T13">
                  <a:pos x="T6" y="T7"/>
                </a:cxn>
                <a:cxn ang="T14">
                  <a:pos x="T8" y="T9"/>
                </a:cxn>
              </a:cxnLst>
              <a:rect l="T15" t="T16" r="T17" b="T18"/>
              <a:pathLst>
                <a:path w="82" h="406">
                  <a:moveTo>
                    <a:pt x="82" y="0"/>
                  </a:moveTo>
                  <a:lnTo>
                    <a:pt x="0" y="44"/>
                  </a:lnTo>
                  <a:lnTo>
                    <a:pt x="0" y="406"/>
                  </a:lnTo>
                  <a:lnTo>
                    <a:pt x="82" y="354"/>
                  </a:lnTo>
                  <a:lnTo>
                    <a:pt x="82" y="0"/>
                  </a:lnTo>
                  <a:close/>
                </a:path>
              </a:pathLst>
            </a:custGeom>
            <a:solidFill>
              <a:srgbClr val="00FF00"/>
            </a:solidFill>
            <a:ln w="9525">
              <a:noFill/>
              <a:round/>
              <a:headEnd/>
              <a:tailEnd/>
            </a:ln>
          </p:spPr>
          <p:txBody>
            <a:bodyPr/>
            <a:lstStyle/>
            <a:p>
              <a:endParaRPr lang="en-US"/>
            </a:p>
          </p:txBody>
        </p:sp>
        <p:sp>
          <p:nvSpPr>
            <p:cNvPr id="6185" name="Freeform 41"/>
            <p:cNvSpPr>
              <a:spLocks/>
            </p:cNvSpPr>
            <p:nvPr/>
          </p:nvSpPr>
          <p:spPr bwMode="auto">
            <a:xfrm>
              <a:off x="4291" y="646"/>
              <a:ext cx="235" cy="398"/>
            </a:xfrm>
            <a:custGeom>
              <a:avLst/>
              <a:gdLst>
                <a:gd name="T0" fmla="*/ 0 w 235"/>
                <a:gd name="T1" fmla="*/ 0 h 398"/>
                <a:gd name="T2" fmla="*/ 235 w 235"/>
                <a:gd name="T3" fmla="*/ 36 h 398"/>
                <a:gd name="T4" fmla="*/ 235 w 235"/>
                <a:gd name="T5" fmla="*/ 398 h 398"/>
                <a:gd name="T6" fmla="*/ 0 w 235"/>
                <a:gd name="T7" fmla="*/ 349 h 398"/>
                <a:gd name="T8" fmla="*/ 0 w 235"/>
                <a:gd name="T9" fmla="*/ 0 h 398"/>
                <a:gd name="T10" fmla="*/ 0 60000 65536"/>
                <a:gd name="T11" fmla="*/ 0 60000 65536"/>
                <a:gd name="T12" fmla="*/ 0 60000 65536"/>
                <a:gd name="T13" fmla="*/ 0 60000 65536"/>
                <a:gd name="T14" fmla="*/ 0 60000 65536"/>
                <a:gd name="T15" fmla="*/ 0 w 235"/>
                <a:gd name="T16" fmla="*/ 0 h 398"/>
                <a:gd name="T17" fmla="*/ 235 w 235"/>
                <a:gd name="T18" fmla="*/ 398 h 398"/>
              </a:gdLst>
              <a:ahLst/>
              <a:cxnLst>
                <a:cxn ang="T10">
                  <a:pos x="T0" y="T1"/>
                </a:cxn>
                <a:cxn ang="T11">
                  <a:pos x="T2" y="T3"/>
                </a:cxn>
                <a:cxn ang="T12">
                  <a:pos x="T4" y="T5"/>
                </a:cxn>
                <a:cxn ang="T13">
                  <a:pos x="T6" y="T7"/>
                </a:cxn>
                <a:cxn ang="T14">
                  <a:pos x="T8" y="T9"/>
                </a:cxn>
              </a:cxnLst>
              <a:rect l="T15" t="T16" r="T17" b="T18"/>
              <a:pathLst>
                <a:path w="235" h="398">
                  <a:moveTo>
                    <a:pt x="0" y="0"/>
                  </a:moveTo>
                  <a:lnTo>
                    <a:pt x="235" y="36"/>
                  </a:lnTo>
                  <a:lnTo>
                    <a:pt x="235" y="398"/>
                  </a:lnTo>
                  <a:lnTo>
                    <a:pt x="0" y="349"/>
                  </a:lnTo>
                  <a:lnTo>
                    <a:pt x="0" y="0"/>
                  </a:lnTo>
                  <a:close/>
                </a:path>
              </a:pathLst>
            </a:custGeom>
            <a:solidFill>
              <a:srgbClr val="7FFF00"/>
            </a:solidFill>
            <a:ln w="9525">
              <a:noFill/>
              <a:round/>
              <a:headEnd/>
              <a:tailEnd/>
            </a:ln>
          </p:spPr>
          <p:txBody>
            <a:bodyPr/>
            <a:lstStyle/>
            <a:p>
              <a:endParaRPr lang="en-US"/>
            </a:p>
          </p:txBody>
        </p:sp>
        <p:sp>
          <p:nvSpPr>
            <p:cNvPr id="6186" name="Freeform 42"/>
            <p:cNvSpPr>
              <a:spLocks/>
            </p:cNvSpPr>
            <p:nvPr/>
          </p:nvSpPr>
          <p:spPr bwMode="auto">
            <a:xfrm>
              <a:off x="4315" y="508"/>
              <a:ext cx="32" cy="14"/>
            </a:xfrm>
            <a:custGeom>
              <a:avLst/>
              <a:gdLst>
                <a:gd name="T0" fmla="*/ 0 w 32"/>
                <a:gd name="T1" fmla="*/ 0 h 14"/>
                <a:gd name="T2" fmla="*/ 32 w 32"/>
                <a:gd name="T3" fmla="*/ 4 h 14"/>
                <a:gd name="T4" fmla="*/ 32 w 32"/>
                <a:gd name="T5" fmla="*/ 14 h 14"/>
                <a:gd name="T6" fmla="*/ 0 w 32"/>
                <a:gd name="T7" fmla="*/ 11 h 14"/>
                <a:gd name="T8" fmla="*/ 0 w 32"/>
                <a:gd name="T9" fmla="*/ 0 h 14"/>
                <a:gd name="T10" fmla="*/ 0 60000 65536"/>
                <a:gd name="T11" fmla="*/ 0 60000 65536"/>
                <a:gd name="T12" fmla="*/ 0 60000 65536"/>
                <a:gd name="T13" fmla="*/ 0 60000 65536"/>
                <a:gd name="T14" fmla="*/ 0 60000 65536"/>
                <a:gd name="T15" fmla="*/ 0 w 32"/>
                <a:gd name="T16" fmla="*/ 0 h 14"/>
                <a:gd name="T17" fmla="*/ 32 w 32"/>
                <a:gd name="T18" fmla="*/ 14 h 14"/>
              </a:gdLst>
              <a:ahLst/>
              <a:cxnLst>
                <a:cxn ang="T10">
                  <a:pos x="T0" y="T1"/>
                </a:cxn>
                <a:cxn ang="T11">
                  <a:pos x="T2" y="T3"/>
                </a:cxn>
                <a:cxn ang="T12">
                  <a:pos x="T4" y="T5"/>
                </a:cxn>
                <a:cxn ang="T13">
                  <a:pos x="T6" y="T7"/>
                </a:cxn>
                <a:cxn ang="T14">
                  <a:pos x="T8" y="T9"/>
                </a:cxn>
              </a:cxnLst>
              <a:rect l="T15" t="T16" r="T17" b="T18"/>
              <a:pathLst>
                <a:path w="32" h="14">
                  <a:moveTo>
                    <a:pt x="0" y="0"/>
                  </a:moveTo>
                  <a:lnTo>
                    <a:pt x="32" y="4"/>
                  </a:lnTo>
                  <a:lnTo>
                    <a:pt x="32" y="14"/>
                  </a:lnTo>
                  <a:lnTo>
                    <a:pt x="0" y="11"/>
                  </a:lnTo>
                  <a:lnTo>
                    <a:pt x="0" y="0"/>
                  </a:lnTo>
                  <a:close/>
                </a:path>
              </a:pathLst>
            </a:custGeom>
            <a:solidFill>
              <a:srgbClr val="000000"/>
            </a:solidFill>
            <a:ln w="9525">
              <a:noFill/>
              <a:round/>
              <a:headEnd/>
              <a:tailEnd/>
            </a:ln>
          </p:spPr>
          <p:txBody>
            <a:bodyPr/>
            <a:lstStyle/>
            <a:p>
              <a:endParaRPr lang="en-US"/>
            </a:p>
          </p:txBody>
        </p:sp>
        <p:sp>
          <p:nvSpPr>
            <p:cNvPr id="6187" name="Freeform 43"/>
            <p:cNvSpPr>
              <a:spLocks/>
            </p:cNvSpPr>
            <p:nvPr/>
          </p:nvSpPr>
          <p:spPr bwMode="auto">
            <a:xfrm>
              <a:off x="4355" y="533"/>
              <a:ext cx="30" cy="13"/>
            </a:xfrm>
            <a:custGeom>
              <a:avLst/>
              <a:gdLst>
                <a:gd name="T0" fmla="*/ 0 w 30"/>
                <a:gd name="T1" fmla="*/ 0 h 13"/>
                <a:gd name="T2" fmla="*/ 30 w 30"/>
                <a:gd name="T3" fmla="*/ 2 h 13"/>
                <a:gd name="T4" fmla="*/ 30 w 30"/>
                <a:gd name="T5" fmla="*/ 13 h 13"/>
                <a:gd name="T6" fmla="*/ 0 w 30"/>
                <a:gd name="T7" fmla="*/ 10 h 13"/>
                <a:gd name="T8" fmla="*/ 0 w 30"/>
                <a:gd name="T9" fmla="*/ 0 h 13"/>
                <a:gd name="T10" fmla="*/ 0 60000 65536"/>
                <a:gd name="T11" fmla="*/ 0 60000 65536"/>
                <a:gd name="T12" fmla="*/ 0 60000 65536"/>
                <a:gd name="T13" fmla="*/ 0 60000 65536"/>
                <a:gd name="T14" fmla="*/ 0 60000 65536"/>
                <a:gd name="T15" fmla="*/ 0 w 30"/>
                <a:gd name="T16" fmla="*/ 0 h 13"/>
                <a:gd name="T17" fmla="*/ 30 w 30"/>
                <a:gd name="T18" fmla="*/ 13 h 13"/>
              </a:gdLst>
              <a:ahLst/>
              <a:cxnLst>
                <a:cxn ang="T10">
                  <a:pos x="T0" y="T1"/>
                </a:cxn>
                <a:cxn ang="T11">
                  <a:pos x="T2" y="T3"/>
                </a:cxn>
                <a:cxn ang="T12">
                  <a:pos x="T4" y="T5"/>
                </a:cxn>
                <a:cxn ang="T13">
                  <a:pos x="T6" y="T7"/>
                </a:cxn>
                <a:cxn ang="T14">
                  <a:pos x="T8" y="T9"/>
                </a:cxn>
              </a:cxnLst>
              <a:rect l="T15" t="T16" r="T17" b="T18"/>
              <a:pathLst>
                <a:path w="30" h="13">
                  <a:moveTo>
                    <a:pt x="0" y="0"/>
                  </a:moveTo>
                  <a:lnTo>
                    <a:pt x="30" y="2"/>
                  </a:lnTo>
                  <a:lnTo>
                    <a:pt x="30" y="13"/>
                  </a:lnTo>
                  <a:lnTo>
                    <a:pt x="0" y="10"/>
                  </a:lnTo>
                  <a:lnTo>
                    <a:pt x="0" y="0"/>
                  </a:lnTo>
                  <a:close/>
                </a:path>
              </a:pathLst>
            </a:custGeom>
            <a:solidFill>
              <a:srgbClr val="000000"/>
            </a:solidFill>
            <a:ln w="9525">
              <a:noFill/>
              <a:round/>
              <a:headEnd/>
              <a:tailEnd/>
            </a:ln>
          </p:spPr>
          <p:txBody>
            <a:bodyPr/>
            <a:lstStyle/>
            <a:p>
              <a:endParaRPr lang="en-US"/>
            </a:p>
          </p:txBody>
        </p:sp>
        <p:sp>
          <p:nvSpPr>
            <p:cNvPr id="6188" name="Freeform 44"/>
            <p:cNvSpPr>
              <a:spLocks/>
            </p:cNvSpPr>
            <p:nvPr/>
          </p:nvSpPr>
          <p:spPr bwMode="auto">
            <a:xfrm>
              <a:off x="4398" y="516"/>
              <a:ext cx="31" cy="15"/>
            </a:xfrm>
            <a:custGeom>
              <a:avLst/>
              <a:gdLst>
                <a:gd name="T0" fmla="*/ 0 w 31"/>
                <a:gd name="T1" fmla="*/ 0 h 15"/>
                <a:gd name="T2" fmla="*/ 31 w 31"/>
                <a:gd name="T3" fmla="*/ 3 h 15"/>
                <a:gd name="T4" fmla="*/ 31 w 31"/>
                <a:gd name="T5" fmla="*/ 15 h 15"/>
                <a:gd name="T6" fmla="*/ 0 w 31"/>
                <a:gd name="T7" fmla="*/ 11 h 15"/>
                <a:gd name="T8" fmla="*/ 0 w 31"/>
                <a:gd name="T9" fmla="*/ 0 h 15"/>
                <a:gd name="T10" fmla="*/ 0 60000 65536"/>
                <a:gd name="T11" fmla="*/ 0 60000 65536"/>
                <a:gd name="T12" fmla="*/ 0 60000 65536"/>
                <a:gd name="T13" fmla="*/ 0 60000 65536"/>
                <a:gd name="T14" fmla="*/ 0 60000 65536"/>
                <a:gd name="T15" fmla="*/ 0 w 31"/>
                <a:gd name="T16" fmla="*/ 0 h 15"/>
                <a:gd name="T17" fmla="*/ 31 w 31"/>
                <a:gd name="T18" fmla="*/ 15 h 15"/>
              </a:gdLst>
              <a:ahLst/>
              <a:cxnLst>
                <a:cxn ang="T10">
                  <a:pos x="T0" y="T1"/>
                </a:cxn>
                <a:cxn ang="T11">
                  <a:pos x="T2" y="T3"/>
                </a:cxn>
                <a:cxn ang="T12">
                  <a:pos x="T4" y="T5"/>
                </a:cxn>
                <a:cxn ang="T13">
                  <a:pos x="T6" y="T7"/>
                </a:cxn>
                <a:cxn ang="T14">
                  <a:pos x="T8" y="T9"/>
                </a:cxn>
              </a:cxnLst>
              <a:rect l="T15" t="T16" r="T17" b="T18"/>
              <a:pathLst>
                <a:path w="31" h="15">
                  <a:moveTo>
                    <a:pt x="0" y="0"/>
                  </a:moveTo>
                  <a:lnTo>
                    <a:pt x="31" y="3"/>
                  </a:lnTo>
                  <a:lnTo>
                    <a:pt x="31" y="15"/>
                  </a:lnTo>
                  <a:lnTo>
                    <a:pt x="0" y="11"/>
                  </a:lnTo>
                  <a:lnTo>
                    <a:pt x="0" y="0"/>
                  </a:lnTo>
                  <a:close/>
                </a:path>
              </a:pathLst>
            </a:custGeom>
            <a:solidFill>
              <a:srgbClr val="000000"/>
            </a:solidFill>
            <a:ln w="9525">
              <a:noFill/>
              <a:round/>
              <a:headEnd/>
              <a:tailEnd/>
            </a:ln>
          </p:spPr>
          <p:txBody>
            <a:bodyPr/>
            <a:lstStyle/>
            <a:p>
              <a:endParaRPr lang="en-US"/>
            </a:p>
          </p:txBody>
        </p:sp>
        <p:sp>
          <p:nvSpPr>
            <p:cNvPr id="6189" name="Freeform 45"/>
            <p:cNvSpPr>
              <a:spLocks/>
            </p:cNvSpPr>
            <p:nvPr/>
          </p:nvSpPr>
          <p:spPr bwMode="auto">
            <a:xfrm>
              <a:off x="4444" y="521"/>
              <a:ext cx="30" cy="14"/>
            </a:xfrm>
            <a:custGeom>
              <a:avLst/>
              <a:gdLst>
                <a:gd name="T0" fmla="*/ 0 w 30"/>
                <a:gd name="T1" fmla="*/ 0 h 14"/>
                <a:gd name="T2" fmla="*/ 30 w 30"/>
                <a:gd name="T3" fmla="*/ 3 h 14"/>
                <a:gd name="T4" fmla="*/ 30 w 30"/>
                <a:gd name="T5" fmla="*/ 14 h 14"/>
                <a:gd name="T6" fmla="*/ 0 w 30"/>
                <a:gd name="T7" fmla="*/ 11 h 14"/>
                <a:gd name="T8" fmla="*/ 0 w 30"/>
                <a:gd name="T9" fmla="*/ 0 h 14"/>
                <a:gd name="T10" fmla="*/ 0 60000 65536"/>
                <a:gd name="T11" fmla="*/ 0 60000 65536"/>
                <a:gd name="T12" fmla="*/ 0 60000 65536"/>
                <a:gd name="T13" fmla="*/ 0 60000 65536"/>
                <a:gd name="T14" fmla="*/ 0 60000 65536"/>
                <a:gd name="T15" fmla="*/ 0 w 30"/>
                <a:gd name="T16" fmla="*/ 0 h 14"/>
                <a:gd name="T17" fmla="*/ 30 w 30"/>
                <a:gd name="T18" fmla="*/ 14 h 14"/>
              </a:gdLst>
              <a:ahLst/>
              <a:cxnLst>
                <a:cxn ang="T10">
                  <a:pos x="T0" y="T1"/>
                </a:cxn>
                <a:cxn ang="T11">
                  <a:pos x="T2" y="T3"/>
                </a:cxn>
                <a:cxn ang="T12">
                  <a:pos x="T4" y="T5"/>
                </a:cxn>
                <a:cxn ang="T13">
                  <a:pos x="T6" y="T7"/>
                </a:cxn>
                <a:cxn ang="T14">
                  <a:pos x="T8" y="T9"/>
                </a:cxn>
              </a:cxnLst>
              <a:rect l="T15" t="T16" r="T17" b="T18"/>
              <a:pathLst>
                <a:path w="30" h="14">
                  <a:moveTo>
                    <a:pt x="0" y="0"/>
                  </a:moveTo>
                  <a:lnTo>
                    <a:pt x="30" y="3"/>
                  </a:lnTo>
                  <a:lnTo>
                    <a:pt x="30" y="14"/>
                  </a:lnTo>
                  <a:lnTo>
                    <a:pt x="0" y="11"/>
                  </a:lnTo>
                  <a:lnTo>
                    <a:pt x="0" y="0"/>
                  </a:lnTo>
                  <a:close/>
                </a:path>
              </a:pathLst>
            </a:custGeom>
            <a:solidFill>
              <a:srgbClr val="000000"/>
            </a:solidFill>
            <a:ln w="9525">
              <a:noFill/>
              <a:round/>
              <a:headEnd/>
              <a:tailEnd/>
            </a:ln>
          </p:spPr>
          <p:txBody>
            <a:bodyPr/>
            <a:lstStyle/>
            <a:p>
              <a:endParaRPr lang="en-US"/>
            </a:p>
          </p:txBody>
        </p:sp>
        <p:sp>
          <p:nvSpPr>
            <p:cNvPr id="6190" name="Freeform 46"/>
            <p:cNvSpPr>
              <a:spLocks/>
            </p:cNvSpPr>
            <p:nvPr/>
          </p:nvSpPr>
          <p:spPr bwMode="auto">
            <a:xfrm>
              <a:off x="4444" y="543"/>
              <a:ext cx="30" cy="15"/>
            </a:xfrm>
            <a:custGeom>
              <a:avLst/>
              <a:gdLst>
                <a:gd name="T0" fmla="*/ 0 w 30"/>
                <a:gd name="T1" fmla="*/ 0 h 15"/>
                <a:gd name="T2" fmla="*/ 30 w 30"/>
                <a:gd name="T3" fmla="*/ 3 h 15"/>
                <a:gd name="T4" fmla="*/ 30 w 30"/>
                <a:gd name="T5" fmla="*/ 15 h 15"/>
                <a:gd name="T6" fmla="*/ 0 w 30"/>
                <a:gd name="T7" fmla="*/ 11 h 15"/>
                <a:gd name="T8" fmla="*/ 0 w 30"/>
                <a:gd name="T9" fmla="*/ 0 h 15"/>
                <a:gd name="T10" fmla="*/ 0 60000 65536"/>
                <a:gd name="T11" fmla="*/ 0 60000 65536"/>
                <a:gd name="T12" fmla="*/ 0 60000 65536"/>
                <a:gd name="T13" fmla="*/ 0 60000 65536"/>
                <a:gd name="T14" fmla="*/ 0 60000 65536"/>
                <a:gd name="T15" fmla="*/ 0 w 30"/>
                <a:gd name="T16" fmla="*/ 0 h 15"/>
                <a:gd name="T17" fmla="*/ 30 w 30"/>
                <a:gd name="T18" fmla="*/ 15 h 15"/>
              </a:gdLst>
              <a:ahLst/>
              <a:cxnLst>
                <a:cxn ang="T10">
                  <a:pos x="T0" y="T1"/>
                </a:cxn>
                <a:cxn ang="T11">
                  <a:pos x="T2" y="T3"/>
                </a:cxn>
                <a:cxn ang="T12">
                  <a:pos x="T4" y="T5"/>
                </a:cxn>
                <a:cxn ang="T13">
                  <a:pos x="T6" y="T7"/>
                </a:cxn>
                <a:cxn ang="T14">
                  <a:pos x="T8" y="T9"/>
                </a:cxn>
              </a:cxnLst>
              <a:rect l="T15" t="T16" r="T17" b="T18"/>
              <a:pathLst>
                <a:path w="30" h="15">
                  <a:moveTo>
                    <a:pt x="0" y="0"/>
                  </a:moveTo>
                  <a:lnTo>
                    <a:pt x="30" y="3"/>
                  </a:lnTo>
                  <a:lnTo>
                    <a:pt x="30" y="15"/>
                  </a:lnTo>
                  <a:lnTo>
                    <a:pt x="0" y="11"/>
                  </a:lnTo>
                  <a:lnTo>
                    <a:pt x="0" y="0"/>
                  </a:lnTo>
                  <a:close/>
                </a:path>
              </a:pathLst>
            </a:custGeom>
            <a:solidFill>
              <a:srgbClr val="000000"/>
            </a:solidFill>
            <a:ln w="9525">
              <a:noFill/>
              <a:round/>
              <a:headEnd/>
              <a:tailEnd/>
            </a:ln>
          </p:spPr>
          <p:txBody>
            <a:bodyPr/>
            <a:lstStyle/>
            <a:p>
              <a:endParaRPr lang="en-US"/>
            </a:p>
          </p:txBody>
        </p:sp>
        <p:sp>
          <p:nvSpPr>
            <p:cNvPr id="6191" name="Freeform 47"/>
            <p:cNvSpPr>
              <a:spLocks/>
            </p:cNvSpPr>
            <p:nvPr/>
          </p:nvSpPr>
          <p:spPr bwMode="auto">
            <a:xfrm>
              <a:off x="4397" y="563"/>
              <a:ext cx="31" cy="16"/>
            </a:xfrm>
            <a:custGeom>
              <a:avLst/>
              <a:gdLst>
                <a:gd name="T0" fmla="*/ 0 w 31"/>
                <a:gd name="T1" fmla="*/ 0 h 16"/>
                <a:gd name="T2" fmla="*/ 31 w 31"/>
                <a:gd name="T3" fmla="*/ 4 h 16"/>
                <a:gd name="T4" fmla="*/ 31 w 31"/>
                <a:gd name="T5" fmla="*/ 16 h 16"/>
                <a:gd name="T6" fmla="*/ 0 w 31"/>
                <a:gd name="T7" fmla="*/ 12 h 16"/>
                <a:gd name="T8" fmla="*/ 0 w 31"/>
                <a:gd name="T9" fmla="*/ 0 h 16"/>
                <a:gd name="T10" fmla="*/ 0 60000 65536"/>
                <a:gd name="T11" fmla="*/ 0 60000 65536"/>
                <a:gd name="T12" fmla="*/ 0 60000 65536"/>
                <a:gd name="T13" fmla="*/ 0 60000 65536"/>
                <a:gd name="T14" fmla="*/ 0 60000 65536"/>
                <a:gd name="T15" fmla="*/ 0 w 31"/>
                <a:gd name="T16" fmla="*/ 0 h 16"/>
                <a:gd name="T17" fmla="*/ 31 w 31"/>
                <a:gd name="T18" fmla="*/ 16 h 16"/>
              </a:gdLst>
              <a:ahLst/>
              <a:cxnLst>
                <a:cxn ang="T10">
                  <a:pos x="T0" y="T1"/>
                </a:cxn>
                <a:cxn ang="T11">
                  <a:pos x="T2" y="T3"/>
                </a:cxn>
                <a:cxn ang="T12">
                  <a:pos x="T4" y="T5"/>
                </a:cxn>
                <a:cxn ang="T13">
                  <a:pos x="T6" y="T7"/>
                </a:cxn>
                <a:cxn ang="T14">
                  <a:pos x="T8" y="T9"/>
                </a:cxn>
              </a:cxnLst>
              <a:rect l="T15" t="T16" r="T17" b="T18"/>
              <a:pathLst>
                <a:path w="31" h="16">
                  <a:moveTo>
                    <a:pt x="0" y="0"/>
                  </a:moveTo>
                  <a:lnTo>
                    <a:pt x="31" y="4"/>
                  </a:lnTo>
                  <a:lnTo>
                    <a:pt x="31" y="16"/>
                  </a:lnTo>
                  <a:lnTo>
                    <a:pt x="0" y="12"/>
                  </a:lnTo>
                  <a:lnTo>
                    <a:pt x="0" y="0"/>
                  </a:lnTo>
                  <a:close/>
                </a:path>
              </a:pathLst>
            </a:custGeom>
            <a:solidFill>
              <a:srgbClr val="000000"/>
            </a:solidFill>
            <a:ln w="9525">
              <a:noFill/>
              <a:round/>
              <a:headEnd/>
              <a:tailEnd/>
            </a:ln>
          </p:spPr>
          <p:txBody>
            <a:bodyPr/>
            <a:lstStyle/>
            <a:p>
              <a:endParaRPr lang="en-US"/>
            </a:p>
          </p:txBody>
        </p:sp>
        <p:sp>
          <p:nvSpPr>
            <p:cNvPr id="6192" name="Freeform 48"/>
            <p:cNvSpPr>
              <a:spLocks/>
            </p:cNvSpPr>
            <p:nvPr/>
          </p:nvSpPr>
          <p:spPr bwMode="auto">
            <a:xfrm>
              <a:off x="4444" y="590"/>
              <a:ext cx="30" cy="14"/>
            </a:xfrm>
            <a:custGeom>
              <a:avLst/>
              <a:gdLst>
                <a:gd name="T0" fmla="*/ 0 w 30"/>
                <a:gd name="T1" fmla="*/ 0 h 14"/>
                <a:gd name="T2" fmla="*/ 30 w 30"/>
                <a:gd name="T3" fmla="*/ 4 h 14"/>
                <a:gd name="T4" fmla="*/ 30 w 30"/>
                <a:gd name="T5" fmla="*/ 14 h 14"/>
                <a:gd name="T6" fmla="*/ 0 w 30"/>
                <a:gd name="T7" fmla="*/ 12 h 14"/>
                <a:gd name="T8" fmla="*/ 0 w 30"/>
                <a:gd name="T9" fmla="*/ 0 h 14"/>
                <a:gd name="T10" fmla="*/ 0 60000 65536"/>
                <a:gd name="T11" fmla="*/ 0 60000 65536"/>
                <a:gd name="T12" fmla="*/ 0 60000 65536"/>
                <a:gd name="T13" fmla="*/ 0 60000 65536"/>
                <a:gd name="T14" fmla="*/ 0 60000 65536"/>
                <a:gd name="T15" fmla="*/ 0 w 30"/>
                <a:gd name="T16" fmla="*/ 0 h 14"/>
                <a:gd name="T17" fmla="*/ 30 w 30"/>
                <a:gd name="T18" fmla="*/ 14 h 14"/>
              </a:gdLst>
              <a:ahLst/>
              <a:cxnLst>
                <a:cxn ang="T10">
                  <a:pos x="T0" y="T1"/>
                </a:cxn>
                <a:cxn ang="T11">
                  <a:pos x="T2" y="T3"/>
                </a:cxn>
                <a:cxn ang="T12">
                  <a:pos x="T4" y="T5"/>
                </a:cxn>
                <a:cxn ang="T13">
                  <a:pos x="T6" y="T7"/>
                </a:cxn>
                <a:cxn ang="T14">
                  <a:pos x="T8" y="T9"/>
                </a:cxn>
              </a:cxnLst>
              <a:rect l="T15" t="T16" r="T17" b="T18"/>
              <a:pathLst>
                <a:path w="30" h="14">
                  <a:moveTo>
                    <a:pt x="0" y="0"/>
                  </a:moveTo>
                  <a:lnTo>
                    <a:pt x="30" y="4"/>
                  </a:lnTo>
                  <a:lnTo>
                    <a:pt x="30" y="14"/>
                  </a:lnTo>
                  <a:lnTo>
                    <a:pt x="0" y="12"/>
                  </a:lnTo>
                  <a:lnTo>
                    <a:pt x="0" y="0"/>
                  </a:lnTo>
                  <a:close/>
                </a:path>
              </a:pathLst>
            </a:custGeom>
            <a:solidFill>
              <a:srgbClr val="000000"/>
            </a:solidFill>
            <a:ln w="9525">
              <a:noFill/>
              <a:round/>
              <a:headEnd/>
              <a:tailEnd/>
            </a:ln>
          </p:spPr>
          <p:txBody>
            <a:bodyPr/>
            <a:lstStyle/>
            <a:p>
              <a:endParaRPr lang="en-US"/>
            </a:p>
          </p:txBody>
        </p:sp>
        <p:sp>
          <p:nvSpPr>
            <p:cNvPr id="6193" name="Freeform 49"/>
            <p:cNvSpPr>
              <a:spLocks/>
            </p:cNvSpPr>
            <p:nvPr/>
          </p:nvSpPr>
          <p:spPr bwMode="auto">
            <a:xfrm>
              <a:off x="4484" y="688"/>
              <a:ext cx="30" cy="14"/>
            </a:xfrm>
            <a:custGeom>
              <a:avLst/>
              <a:gdLst>
                <a:gd name="T0" fmla="*/ 0 w 30"/>
                <a:gd name="T1" fmla="*/ 0 h 14"/>
                <a:gd name="T2" fmla="*/ 30 w 30"/>
                <a:gd name="T3" fmla="*/ 2 h 14"/>
                <a:gd name="T4" fmla="*/ 30 w 30"/>
                <a:gd name="T5" fmla="*/ 14 h 14"/>
                <a:gd name="T6" fmla="*/ 0 w 30"/>
                <a:gd name="T7" fmla="*/ 10 h 14"/>
                <a:gd name="T8" fmla="*/ 0 w 30"/>
                <a:gd name="T9" fmla="*/ 0 h 14"/>
                <a:gd name="T10" fmla="*/ 0 60000 65536"/>
                <a:gd name="T11" fmla="*/ 0 60000 65536"/>
                <a:gd name="T12" fmla="*/ 0 60000 65536"/>
                <a:gd name="T13" fmla="*/ 0 60000 65536"/>
                <a:gd name="T14" fmla="*/ 0 60000 65536"/>
                <a:gd name="T15" fmla="*/ 0 w 30"/>
                <a:gd name="T16" fmla="*/ 0 h 14"/>
                <a:gd name="T17" fmla="*/ 30 w 30"/>
                <a:gd name="T18" fmla="*/ 14 h 14"/>
              </a:gdLst>
              <a:ahLst/>
              <a:cxnLst>
                <a:cxn ang="T10">
                  <a:pos x="T0" y="T1"/>
                </a:cxn>
                <a:cxn ang="T11">
                  <a:pos x="T2" y="T3"/>
                </a:cxn>
                <a:cxn ang="T12">
                  <a:pos x="T4" y="T5"/>
                </a:cxn>
                <a:cxn ang="T13">
                  <a:pos x="T6" y="T7"/>
                </a:cxn>
                <a:cxn ang="T14">
                  <a:pos x="T8" y="T9"/>
                </a:cxn>
              </a:cxnLst>
              <a:rect l="T15" t="T16" r="T17" b="T18"/>
              <a:pathLst>
                <a:path w="30" h="14">
                  <a:moveTo>
                    <a:pt x="0" y="0"/>
                  </a:moveTo>
                  <a:lnTo>
                    <a:pt x="30" y="2"/>
                  </a:lnTo>
                  <a:lnTo>
                    <a:pt x="30" y="14"/>
                  </a:lnTo>
                  <a:lnTo>
                    <a:pt x="0" y="10"/>
                  </a:lnTo>
                  <a:lnTo>
                    <a:pt x="0" y="0"/>
                  </a:lnTo>
                  <a:close/>
                </a:path>
              </a:pathLst>
            </a:custGeom>
            <a:solidFill>
              <a:srgbClr val="000000"/>
            </a:solidFill>
            <a:ln w="9525">
              <a:noFill/>
              <a:round/>
              <a:headEnd/>
              <a:tailEnd/>
            </a:ln>
          </p:spPr>
          <p:txBody>
            <a:bodyPr/>
            <a:lstStyle/>
            <a:p>
              <a:endParaRPr lang="en-US"/>
            </a:p>
          </p:txBody>
        </p:sp>
        <p:sp>
          <p:nvSpPr>
            <p:cNvPr id="6194" name="Freeform 50"/>
            <p:cNvSpPr>
              <a:spLocks/>
            </p:cNvSpPr>
            <p:nvPr/>
          </p:nvSpPr>
          <p:spPr bwMode="auto">
            <a:xfrm>
              <a:off x="4486" y="731"/>
              <a:ext cx="29" cy="14"/>
            </a:xfrm>
            <a:custGeom>
              <a:avLst/>
              <a:gdLst>
                <a:gd name="T0" fmla="*/ 0 w 29"/>
                <a:gd name="T1" fmla="*/ 0 h 14"/>
                <a:gd name="T2" fmla="*/ 29 w 29"/>
                <a:gd name="T3" fmla="*/ 4 h 14"/>
                <a:gd name="T4" fmla="*/ 29 w 29"/>
                <a:gd name="T5" fmla="*/ 14 h 14"/>
                <a:gd name="T6" fmla="*/ 0 w 29"/>
                <a:gd name="T7" fmla="*/ 12 h 14"/>
                <a:gd name="T8" fmla="*/ 0 w 29"/>
                <a:gd name="T9" fmla="*/ 0 h 14"/>
                <a:gd name="T10" fmla="*/ 0 60000 65536"/>
                <a:gd name="T11" fmla="*/ 0 60000 65536"/>
                <a:gd name="T12" fmla="*/ 0 60000 65536"/>
                <a:gd name="T13" fmla="*/ 0 60000 65536"/>
                <a:gd name="T14" fmla="*/ 0 60000 65536"/>
                <a:gd name="T15" fmla="*/ 0 w 29"/>
                <a:gd name="T16" fmla="*/ 0 h 14"/>
                <a:gd name="T17" fmla="*/ 29 w 29"/>
                <a:gd name="T18" fmla="*/ 14 h 14"/>
              </a:gdLst>
              <a:ahLst/>
              <a:cxnLst>
                <a:cxn ang="T10">
                  <a:pos x="T0" y="T1"/>
                </a:cxn>
                <a:cxn ang="T11">
                  <a:pos x="T2" y="T3"/>
                </a:cxn>
                <a:cxn ang="T12">
                  <a:pos x="T4" y="T5"/>
                </a:cxn>
                <a:cxn ang="T13">
                  <a:pos x="T6" y="T7"/>
                </a:cxn>
                <a:cxn ang="T14">
                  <a:pos x="T8" y="T9"/>
                </a:cxn>
              </a:cxnLst>
              <a:rect l="T15" t="T16" r="T17" b="T18"/>
              <a:pathLst>
                <a:path w="29" h="14">
                  <a:moveTo>
                    <a:pt x="0" y="0"/>
                  </a:moveTo>
                  <a:lnTo>
                    <a:pt x="29" y="4"/>
                  </a:lnTo>
                  <a:lnTo>
                    <a:pt x="29" y="14"/>
                  </a:lnTo>
                  <a:lnTo>
                    <a:pt x="0" y="12"/>
                  </a:lnTo>
                  <a:lnTo>
                    <a:pt x="0" y="0"/>
                  </a:lnTo>
                  <a:close/>
                </a:path>
              </a:pathLst>
            </a:custGeom>
            <a:solidFill>
              <a:srgbClr val="000000"/>
            </a:solidFill>
            <a:ln w="9525">
              <a:noFill/>
              <a:round/>
              <a:headEnd/>
              <a:tailEnd/>
            </a:ln>
          </p:spPr>
          <p:txBody>
            <a:bodyPr/>
            <a:lstStyle/>
            <a:p>
              <a:endParaRPr lang="en-US"/>
            </a:p>
          </p:txBody>
        </p:sp>
        <p:sp>
          <p:nvSpPr>
            <p:cNvPr id="6195" name="Freeform 51"/>
            <p:cNvSpPr>
              <a:spLocks/>
            </p:cNvSpPr>
            <p:nvPr/>
          </p:nvSpPr>
          <p:spPr bwMode="auto">
            <a:xfrm>
              <a:off x="4546" y="629"/>
              <a:ext cx="390" cy="151"/>
            </a:xfrm>
            <a:custGeom>
              <a:avLst/>
              <a:gdLst>
                <a:gd name="T0" fmla="*/ 0 w 390"/>
                <a:gd name="T1" fmla="*/ 112 h 151"/>
                <a:gd name="T2" fmla="*/ 220 w 390"/>
                <a:gd name="T3" fmla="*/ 151 h 151"/>
                <a:gd name="T4" fmla="*/ 390 w 390"/>
                <a:gd name="T5" fmla="*/ 29 h 151"/>
                <a:gd name="T6" fmla="*/ 178 w 390"/>
                <a:gd name="T7" fmla="*/ 0 h 151"/>
                <a:gd name="T8" fmla="*/ 0 w 390"/>
                <a:gd name="T9" fmla="*/ 112 h 151"/>
                <a:gd name="T10" fmla="*/ 0 60000 65536"/>
                <a:gd name="T11" fmla="*/ 0 60000 65536"/>
                <a:gd name="T12" fmla="*/ 0 60000 65536"/>
                <a:gd name="T13" fmla="*/ 0 60000 65536"/>
                <a:gd name="T14" fmla="*/ 0 60000 65536"/>
                <a:gd name="T15" fmla="*/ 0 w 390"/>
                <a:gd name="T16" fmla="*/ 0 h 151"/>
                <a:gd name="T17" fmla="*/ 390 w 390"/>
                <a:gd name="T18" fmla="*/ 151 h 151"/>
              </a:gdLst>
              <a:ahLst/>
              <a:cxnLst>
                <a:cxn ang="T10">
                  <a:pos x="T0" y="T1"/>
                </a:cxn>
                <a:cxn ang="T11">
                  <a:pos x="T2" y="T3"/>
                </a:cxn>
                <a:cxn ang="T12">
                  <a:pos x="T4" y="T5"/>
                </a:cxn>
                <a:cxn ang="T13">
                  <a:pos x="T6" y="T7"/>
                </a:cxn>
                <a:cxn ang="T14">
                  <a:pos x="T8" y="T9"/>
                </a:cxn>
              </a:cxnLst>
              <a:rect l="T15" t="T16" r="T17" b="T18"/>
              <a:pathLst>
                <a:path w="390" h="151">
                  <a:moveTo>
                    <a:pt x="0" y="112"/>
                  </a:moveTo>
                  <a:lnTo>
                    <a:pt x="220" y="151"/>
                  </a:lnTo>
                  <a:lnTo>
                    <a:pt x="390" y="29"/>
                  </a:lnTo>
                  <a:lnTo>
                    <a:pt x="178" y="0"/>
                  </a:lnTo>
                  <a:lnTo>
                    <a:pt x="0" y="112"/>
                  </a:lnTo>
                  <a:close/>
                </a:path>
              </a:pathLst>
            </a:custGeom>
            <a:solidFill>
              <a:srgbClr val="FF5F1F"/>
            </a:solidFill>
            <a:ln w="9525">
              <a:noFill/>
              <a:round/>
              <a:headEnd/>
              <a:tailEnd/>
            </a:ln>
          </p:spPr>
          <p:txBody>
            <a:bodyPr/>
            <a:lstStyle/>
            <a:p>
              <a:endParaRPr lang="en-US"/>
            </a:p>
          </p:txBody>
        </p:sp>
        <p:sp>
          <p:nvSpPr>
            <p:cNvPr id="6196" name="Freeform 52"/>
            <p:cNvSpPr>
              <a:spLocks/>
            </p:cNvSpPr>
            <p:nvPr/>
          </p:nvSpPr>
          <p:spPr bwMode="auto">
            <a:xfrm>
              <a:off x="4598" y="501"/>
              <a:ext cx="163" cy="257"/>
            </a:xfrm>
            <a:custGeom>
              <a:avLst/>
              <a:gdLst>
                <a:gd name="T0" fmla="*/ 0 w 163"/>
                <a:gd name="T1" fmla="*/ 0 h 257"/>
                <a:gd name="T2" fmla="*/ 163 w 163"/>
                <a:gd name="T3" fmla="*/ 13 h 257"/>
                <a:gd name="T4" fmla="*/ 163 w 163"/>
                <a:gd name="T5" fmla="*/ 257 h 257"/>
                <a:gd name="T6" fmla="*/ 0 w 163"/>
                <a:gd name="T7" fmla="*/ 223 h 257"/>
                <a:gd name="T8" fmla="*/ 0 w 163"/>
                <a:gd name="T9" fmla="*/ 0 h 257"/>
                <a:gd name="T10" fmla="*/ 0 60000 65536"/>
                <a:gd name="T11" fmla="*/ 0 60000 65536"/>
                <a:gd name="T12" fmla="*/ 0 60000 65536"/>
                <a:gd name="T13" fmla="*/ 0 60000 65536"/>
                <a:gd name="T14" fmla="*/ 0 60000 65536"/>
                <a:gd name="T15" fmla="*/ 0 w 163"/>
                <a:gd name="T16" fmla="*/ 0 h 257"/>
                <a:gd name="T17" fmla="*/ 163 w 163"/>
                <a:gd name="T18" fmla="*/ 257 h 257"/>
              </a:gdLst>
              <a:ahLst/>
              <a:cxnLst>
                <a:cxn ang="T10">
                  <a:pos x="T0" y="T1"/>
                </a:cxn>
                <a:cxn ang="T11">
                  <a:pos x="T2" y="T3"/>
                </a:cxn>
                <a:cxn ang="T12">
                  <a:pos x="T4" y="T5"/>
                </a:cxn>
                <a:cxn ang="T13">
                  <a:pos x="T6" y="T7"/>
                </a:cxn>
                <a:cxn ang="T14">
                  <a:pos x="T8" y="T9"/>
                </a:cxn>
              </a:cxnLst>
              <a:rect l="T15" t="T16" r="T17" b="T18"/>
              <a:pathLst>
                <a:path w="163" h="257">
                  <a:moveTo>
                    <a:pt x="0" y="0"/>
                  </a:moveTo>
                  <a:lnTo>
                    <a:pt x="163" y="13"/>
                  </a:lnTo>
                  <a:lnTo>
                    <a:pt x="163" y="257"/>
                  </a:lnTo>
                  <a:lnTo>
                    <a:pt x="0" y="223"/>
                  </a:lnTo>
                  <a:lnTo>
                    <a:pt x="0" y="0"/>
                  </a:lnTo>
                  <a:close/>
                </a:path>
              </a:pathLst>
            </a:custGeom>
            <a:solidFill>
              <a:srgbClr val="FF5F00"/>
            </a:solidFill>
            <a:ln w="9525">
              <a:noFill/>
              <a:round/>
              <a:headEnd/>
              <a:tailEnd/>
            </a:ln>
          </p:spPr>
          <p:txBody>
            <a:bodyPr/>
            <a:lstStyle/>
            <a:p>
              <a:endParaRPr lang="en-US"/>
            </a:p>
          </p:txBody>
        </p:sp>
        <p:sp>
          <p:nvSpPr>
            <p:cNvPr id="6197" name="Freeform 53"/>
            <p:cNvSpPr>
              <a:spLocks/>
            </p:cNvSpPr>
            <p:nvPr/>
          </p:nvSpPr>
          <p:spPr bwMode="auto">
            <a:xfrm>
              <a:off x="4759" y="459"/>
              <a:ext cx="140" cy="297"/>
            </a:xfrm>
            <a:custGeom>
              <a:avLst/>
              <a:gdLst>
                <a:gd name="T0" fmla="*/ 0 w 140"/>
                <a:gd name="T1" fmla="*/ 55 h 297"/>
                <a:gd name="T2" fmla="*/ 0 w 140"/>
                <a:gd name="T3" fmla="*/ 297 h 297"/>
                <a:gd name="T4" fmla="*/ 140 w 140"/>
                <a:gd name="T5" fmla="*/ 199 h 297"/>
                <a:gd name="T6" fmla="*/ 140 w 140"/>
                <a:gd name="T7" fmla="*/ 0 h 297"/>
                <a:gd name="T8" fmla="*/ 0 w 140"/>
                <a:gd name="T9" fmla="*/ 55 h 297"/>
                <a:gd name="T10" fmla="*/ 0 60000 65536"/>
                <a:gd name="T11" fmla="*/ 0 60000 65536"/>
                <a:gd name="T12" fmla="*/ 0 60000 65536"/>
                <a:gd name="T13" fmla="*/ 0 60000 65536"/>
                <a:gd name="T14" fmla="*/ 0 60000 65536"/>
                <a:gd name="T15" fmla="*/ 0 w 140"/>
                <a:gd name="T16" fmla="*/ 0 h 297"/>
                <a:gd name="T17" fmla="*/ 140 w 140"/>
                <a:gd name="T18" fmla="*/ 297 h 297"/>
              </a:gdLst>
              <a:ahLst/>
              <a:cxnLst>
                <a:cxn ang="T10">
                  <a:pos x="T0" y="T1"/>
                </a:cxn>
                <a:cxn ang="T11">
                  <a:pos x="T2" y="T3"/>
                </a:cxn>
                <a:cxn ang="T12">
                  <a:pos x="T4" y="T5"/>
                </a:cxn>
                <a:cxn ang="T13">
                  <a:pos x="T6" y="T7"/>
                </a:cxn>
                <a:cxn ang="T14">
                  <a:pos x="T8" y="T9"/>
                </a:cxn>
              </a:cxnLst>
              <a:rect l="T15" t="T16" r="T17" b="T18"/>
              <a:pathLst>
                <a:path w="140" h="297">
                  <a:moveTo>
                    <a:pt x="0" y="55"/>
                  </a:moveTo>
                  <a:lnTo>
                    <a:pt x="0" y="297"/>
                  </a:lnTo>
                  <a:lnTo>
                    <a:pt x="140" y="199"/>
                  </a:lnTo>
                  <a:lnTo>
                    <a:pt x="140" y="0"/>
                  </a:lnTo>
                  <a:lnTo>
                    <a:pt x="0" y="55"/>
                  </a:lnTo>
                  <a:close/>
                </a:path>
              </a:pathLst>
            </a:custGeom>
            <a:solidFill>
              <a:srgbClr val="BF3F00"/>
            </a:solidFill>
            <a:ln w="9525">
              <a:noFill/>
              <a:round/>
              <a:headEnd/>
              <a:tailEnd/>
            </a:ln>
          </p:spPr>
          <p:txBody>
            <a:bodyPr/>
            <a:lstStyle/>
            <a:p>
              <a:endParaRPr lang="en-US"/>
            </a:p>
          </p:txBody>
        </p:sp>
        <p:sp>
          <p:nvSpPr>
            <p:cNvPr id="6198" name="Freeform 54"/>
            <p:cNvSpPr>
              <a:spLocks/>
            </p:cNvSpPr>
            <p:nvPr/>
          </p:nvSpPr>
          <p:spPr bwMode="auto">
            <a:xfrm>
              <a:off x="4598" y="448"/>
              <a:ext cx="301" cy="66"/>
            </a:xfrm>
            <a:custGeom>
              <a:avLst/>
              <a:gdLst>
                <a:gd name="T0" fmla="*/ 0 w 301"/>
                <a:gd name="T1" fmla="*/ 53 h 66"/>
                <a:gd name="T2" fmla="*/ 161 w 301"/>
                <a:gd name="T3" fmla="*/ 66 h 66"/>
                <a:gd name="T4" fmla="*/ 301 w 301"/>
                <a:gd name="T5" fmla="*/ 11 h 66"/>
                <a:gd name="T6" fmla="*/ 161 w 301"/>
                <a:gd name="T7" fmla="*/ 0 h 66"/>
                <a:gd name="T8" fmla="*/ 0 w 301"/>
                <a:gd name="T9" fmla="*/ 53 h 66"/>
                <a:gd name="T10" fmla="*/ 0 60000 65536"/>
                <a:gd name="T11" fmla="*/ 0 60000 65536"/>
                <a:gd name="T12" fmla="*/ 0 60000 65536"/>
                <a:gd name="T13" fmla="*/ 0 60000 65536"/>
                <a:gd name="T14" fmla="*/ 0 60000 65536"/>
                <a:gd name="T15" fmla="*/ 0 w 301"/>
                <a:gd name="T16" fmla="*/ 0 h 66"/>
                <a:gd name="T17" fmla="*/ 301 w 301"/>
                <a:gd name="T18" fmla="*/ 66 h 66"/>
              </a:gdLst>
              <a:ahLst/>
              <a:cxnLst>
                <a:cxn ang="T10">
                  <a:pos x="T0" y="T1"/>
                </a:cxn>
                <a:cxn ang="T11">
                  <a:pos x="T2" y="T3"/>
                </a:cxn>
                <a:cxn ang="T12">
                  <a:pos x="T4" y="T5"/>
                </a:cxn>
                <a:cxn ang="T13">
                  <a:pos x="T6" y="T7"/>
                </a:cxn>
                <a:cxn ang="T14">
                  <a:pos x="T8" y="T9"/>
                </a:cxn>
              </a:cxnLst>
              <a:rect l="T15" t="T16" r="T17" b="T18"/>
              <a:pathLst>
                <a:path w="301" h="66">
                  <a:moveTo>
                    <a:pt x="0" y="53"/>
                  </a:moveTo>
                  <a:lnTo>
                    <a:pt x="161" y="66"/>
                  </a:lnTo>
                  <a:lnTo>
                    <a:pt x="301" y="11"/>
                  </a:lnTo>
                  <a:lnTo>
                    <a:pt x="161" y="0"/>
                  </a:lnTo>
                  <a:lnTo>
                    <a:pt x="0" y="53"/>
                  </a:lnTo>
                  <a:close/>
                </a:path>
              </a:pathLst>
            </a:custGeom>
            <a:solidFill>
              <a:srgbClr val="FF5F1F"/>
            </a:solidFill>
            <a:ln w="9525">
              <a:noFill/>
              <a:round/>
              <a:headEnd/>
              <a:tailEnd/>
            </a:ln>
          </p:spPr>
          <p:txBody>
            <a:bodyPr/>
            <a:lstStyle/>
            <a:p>
              <a:endParaRPr lang="en-US"/>
            </a:p>
          </p:txBody>
        </p:sp>
        <p:sp>
          <p:nvSpPr>
            <p:cNvPr id="6199" name="Freeform 55"/>
            <p:cNvSpPr>
              <a:spLocks/>
            </p:cNvSpPr>
            <p:nvPr/>
          </p:nvSpPr>
          <p:spPr bwMode="auto">
            <a:xfrm>
              <a:off x="4638" y="405"/>
              <a:ext cx="219" cy="40"/>
            </a:xfrm>
            <a:custGeom>
              <a:avLst/>
              <a:gdLst>
                <a:gd name="T0" fmla="*/ 0 w 219"/>
                <a:gd name="T1" fmla="*/ 32 h 40"/>
                <a:gd name="T2" fmla="*/ 116 w 219"/>
                <a:gd name="T3" fmla="*/ 40 h 40"/>
                <a:gd name="T4" fmla="*/ 219 w 219"/>
                <a:gd name="T5" fmla="*/ 9 h 40"/>
                <a:gd name="T6" fmla="*/ 109 w 219"/>
                <a:gd name="T7" fmla="*/ 0 h 40"/>
                <a:gd name="T8" fmla="*/ 0 w 219"/>
                <a:gd name="T9" fmla="*/ 32 h 40"/>
                <a:gd name="T10" fmla="*/ 0 60000 65536"/>
                <a:gd name="T11" fmla="*/ 0 60000 65536"/>
                <a:gd name="T12" fmla="*/ 0 60000 65536"/>
                <a:gd name="T13" fmla="*/ 0 60000 65536"/>
                <a:gd name="T14" fmla="*/ 0 60000 65536"/>
                <a:gd name="T15" fmla="*/ 0 w 219"/>
                <a:gd name="T16" fmla="*/ 0 h 40"/>
                <a:gd name="T17" fmla="*/ 219 w 219"/>
                <a:gd name="T18" fmla="*/ 40 h 40"/>
              </a:gdLst>
              <a:ahLst/>
              <a:cxnLst>
                <a:cxn ang="T10">
                  <a:pos x="T0" y="T1"/>
                </a:cxn>
                <a:cxn ang="T11">
                  <a:pos x="T2" y="T3"/>
                </a:cxn>
                <a:cxn ang="T12">
                  <a:pos x="T4" y="T5"/>
                </a:cxn>
                <a:cxn ang="T13">
                  <a:pos x="T6" y="T7"/>
                </a:cxn>
                <a:cxn ang="T14">
                  <a:pos x="T8" y="T9"/>
                </a:cxn>
              </a:cxnLst>
              <a:rect l="T15" t="T16" r="T17" b="T18"/>
              <a:pathLst>
                <a:path w="219" h="40">
                  <a:moveTo>
                    <a:pt x="0" y="32"/>
                  </a:moveTo>
                  <a:lnTo>
                    <a:pt x="116" y="40"/>
                  </a:lnTo>
                  <a:lnTo>
                    <a:pt x="219" y="9"/>
                  </a:lnTo>
                  <a:lnTo>
                    <a:pt x="109" y="0"/>
                  </a:lnTo>
                  <a:lnTo>
                    <a:pt x="0" y="32"/>
                  </a:lnTo>
                  <a:close/>
                </a:path>
              </a:pathLst>
            </a:custGeom>
            <a:solidFill>
              <a:srgbClr val="FF5F1F"/>
            </a:solidFill>
            <a:ln w="9525">
              <a:noFill/>
              <a:round/>
              <a:headEnd/>
              <a:tailEnd/>
            </a:ln>
          </p:spPr>
          <p:txBody>
            <a:bodyPr/>
            <a:lstStyle/>
            <a:p>
              <a:endParaRPr lang="en-US"/>
            </a:p>
          </p:txBody>
        </p:sp>
        <p:sp>
          <p:nvSpPr>
            <p:cNvPr id="6200" name="Freeform 56"/>
            <p:cNvSpPr>
              <a:spLocks/>
            </p:cNvSpPr>
            <p:nvPr/>
          </p:nvSpPr>
          <p:spPr bwMode="auto">
            <a:xfrm>
              <a:off x="4638" y="437"/>
              <a:ext cx="114" cy="61"/>
            </a:xfrm>
            <a:custGeom>
              <a:avLst/>
              <a:gdLst>
                <a:gd name="T0" fmla="*/ 0 w 114"/>
                <a:gd name="T1" fmla="*/ 0 h 61"/>
                <a:gd name="T2" fmla="*/ 114 w 114"/>
                <a:gd name="T3" fmla="*/ 7 h 61"/>
                <a:gd name="T4" fmla="*/ 114 w 114"/>
                <a:gd name="T5" fmla="*/ 61 h 61"/>
                <a:gd name="T6" fmla="*/ 0 w 114"/>
                <a:gd name="T7" fmla="*/ 51 h 61"/>
                <a:gd name="T8" fmla="*/ 0 w 114"/>
                <a:gd name="T9" fmla="*/ 0 h 61"/>
                <a:gd name="T10" fmla="*/ 0 60000 65536"/>
                <a:gd name="T11" fmla="*/ 0 60000 65536"/>
                <a:gd name="T12" fmla="*/ 0 60000 65536"/>
                <a:gd name="T13" fmla="*/ 0 60000 65536"/>
                <a:gd name="T14" fmla="*/ 0 60000 65536"/>
                <a:gd name="T15" fmla="*/ 0 w 114"/>
                <a:gd name="T16" fmla="*/ 0 h 61"/>
                <a:gd name="T17" fmla="*/ 114 w 114"/>
                <a:gd name="T18" fmla="*/ 61 h 61"/>
              </a:gdLst>
              <a:ahLst/>
              <a:cxnLst>
                <a:cxn ang="T10">
                  <a:pos x="T0" y="T1"/>
                </a:cxn>
                <a:cxn ang="T11">
                  <a:pos x="T2" y="T3"/>
                </a:cxn>
                <a:cxn ang="T12">
                  <a:pos x="T4" y="T5"/>
                </a:cxn>
                <a:cxn ang="T13">
                  <a:pos x="T6" y="T7"/>
                </a:cxn>
                <a:cxn ang="T14">
                  <a:pos x="T8" y="T9"/>
                </a:cxn>
              </a:cxnLst>
              <a:rect l="T15" t="T16" r="T17" b="T18"/>
              <a:pathLst>
                <a:path w="114" h="61">
                  <a:moveTo>
                    <a:pt x="0" y="0"/>
                  </a:moveTo>
                  <a:lnTo>
                    <a:pt x="114" y="7"/>
                  </a:lnTo>
                  <a:lnTo>
                    <a:pt x="114" y="61"/>
                  </a:lnTo>
                  <a:lnTo>
                    <a:pt x="0" y="51"/>
                  </a:lnTo>
                  <a:lnTo>
                    <a:pt x="0" y="0"/>
                  </a:lnTo>
                  <a:close/>
                </a:path>
              </a:pathLst>
            </a:custGeom>
            <a:solidFill>
              <a:srgbClr val="FF5F00"/>
            </a:solidFill>
            <a:ln w="9525">
              <a:noFill/>
              <a:round/>
              <a:headEnd/>
              <a:tailEnd/>
            </a:ln>
          </p:spPr>
          <p:txBody>
            <a:bodyPr/>
            <a:lstStyle/>
            <a:p>
              <a:endParaRPr lang="en-US"/>
            </a:p>
          </p:txBody>
        </p:sp>
        <p:sp>
          <p:nvSpPr>
            <p:cNvPr id="6201" name="Freeform 57"/>
            <p:cNvSpPr>
              <a:spLocks/>
            </p:cNvSpPr>
            <p:nvPr/>
          </p:nvSpPr>
          <p:spPr bwMode="auto">
            <a:xfrm>
              <a:off x="4752" y="414"/>
              <a:ext cx="105" cy="84"/>
            </a:xfrm>
            <a:custGeom>
              <a:avLst/>
              <a:gdLst>
                <a:gd name="T0" fmla="*/ 0 w 105"/>
                <a:gd name="T1" fmla="*/ 31 h 84"/>
                <a:gd name="T2" fmla="*/ 0 w 105"/>
                <a:gd name="T3" fmla="*/ 84 h 84"/>
                <a:gd name="T4" fmla="*/ 105 w 105"/>
                <a:gd name="T5" fmla="*/ 44 h 84"/>
                <a:gd name="T6" fmla="*/ 105 w 105"/>
                <a:gd name="T7" fmla="*/ 0 h 84"/>
                <a:gd name="T8" fmla="*/ 0 w 105"/>
                <a:gd name="T9" fmla="*/ 31 h 84"/>
                <a:gd name="T10" fmla="*/ 0 60000 65536"/>
                <a:gd name="T11" fmla="*/ 0 60000 65536"/>
                <a:gd name="T12" fmla="*/ 0 60000 65536"/>
                <a:gd name="T13" fmla="*/ 0 60000 65536"/>
                <a:gd name="T14" fmla="*/ 0 60000 65536"/>
                <a:gd name="T15" fmla="*/ 0 w 105"/>
                <a:gd name="T16" fmla="*/ 0 h 84"/>
                <a:gd name="T17" fmla="*/ 105 w 105"/>
                <a:gd name="T18" fmla="*/ 84 h 84"/>
              </a:gdLst>
              <a:ahLst/>
              <a:cxnLst>
                <a:cxn ang="T10">
                  <a:pos x="T0" y="T1"/>
                </a:cxn>
                <a:cxn ang="T11">
                  <a:pos x="T2" y="T3"/>
                </a:cxn>
                <a:cxn ang="T12">
                  <a:pos x="T4" y="T5"/>
                </a:cxn>
                <a:cxn ang="T13">
                  <a:pos x="T6" y="T7"/>
                </a:cxn>
                <a:cxn ang="T14">
                  <a:pos x="T8" y="T9"/>
                </a:cxn>
              </a:cxnLst>
              <a:rect l="T15" t="T16" r="T17" b="T18"/>
              <a:pathLst>
                <a:path w="105" h="84">
                  <a:moveTo>
                    <a:pt x="0" y="31"/>
                  </a:moveTo>
                  <a:lnTo>
                    <a:pt x="0" y="84"/>
                  </a:lnTo>
                  <a:lnTo>
                    <a:pt x="105" y="44"/>
                  </a:lnTo>
                  <a:lnTo>
                    <a:pt x="105" y="0"/>
                  </a:lnTo>
                  <a:lnTo>
                    <a:pt x="0" y="31"/>
                  </a:lnTo>
                  <a:close/>
                </a:path>
              </a:pathLst>
            </a:custGeom>
            <a:solidFill>
              <a:srgbClr val="BF3F00"/>
            </a:solidFill>
            <a:ln w="9525">
              <a:noFill/>
              <a:round/>
              <a:headEnd/>
              <a:tailEnd/>
            </a:ln>
          </p:spPr>
          <p:txBody>
            <a:bodyPr/>
            <a:lstStyle/>
            <a:p>
              <a:endParaRPr lang="en-US"/>
            </a:p>
          </p:txBody>
        </p:sp>
        <p:sp>
          <p:nvSpPr>
            <p:cNvPr id="6202" name="Freeform 58"/>
            <p:cNvSpPr>
              <a:spLocks/>
            </p:cNvSpPr>
            <p:nvPr/>
          </p:nvSpPr>
          <p:spPr bwMode="auto">
            <a:xfrm>
              <a:off x="4765" y="657"/>
              <a:ext cx="171" cy="533"/>
            </a:xfrm>
            <a:custGeom>
              <a:avLst/>
              <a:gdLst>
                <a:gd name="T0" fmla="*/ 171 w 171"/>
                <a:gd name="T1" fmla="*/ 0 h 533"/>
                <a:gd name="T2" fmla="*/ 1 w 171"/>
                <a:gd name="T3" fmla="*/ 123 h 533"/>
                <a:gd name="T4" fmla="*/ 0 w 171"/>
                <a:gd name="T5" fmla="*/ 533 h 533"/>
                <a:gd name="T6" fmla="*/ 171 w 171"/>
                <a:gd name="T7" fmla="*/ 373 h 533"/>
                <a:gd name="T8" fmla="*/ 171 w 171"/>
                <a:gd name="T9" fmla="*/ 0 h 533"/>
                <a:gd name="T10" fmla="*/ 0 60000 65536"/>
                <a:gd name="T11" fmla="*/ 0 60000 65536"/>
                <a:gd name="T12" fmla="*/ 0 60000 65536"/>
                <a:gd name="T13" fmla="*/ 0 60000 65536"/>
                <a:gd name="T14" fmla="*/ 0 60000 65536"/>
                <a:gd name="T15" fmla="*/ 0 w 171"/>
                <a:gd name="T16" fmla="*/ 0 h 533"/>
                <a:gd name="T17" fmla="*/ 171 w 171"/>
                <a:gd name="T18" fmla="*/ 533 h 533"/>
              </a:gdLst>
              <a:ahLst/>
              <a:cxnLst>
                <a:cxn ang="T10">
                  <a:pos x="T0" y="T1"/>
                </a:cxn>
                <a:cxn ang="T11">
                  <a:pos x="T2" y="T3"/>
                </a:cxn>
                <a:cxn ang="T12">
                  <a:pos x="T4" y="T5"/>
                </a:cxn>
                <a:cxn ang="T13">
                  <a:pos x="T6" y="T7"/>
                </a:cxn>
                <a:cxn ang="T14">
                  <a:pos x="T8" y="T9"/>
                </a:cxn>
              </a:cxnLst>
              <a:rect l="T15" t="T16" r="T17" b="T18"/>
              <a:pathLst>
                <a:path w="171" h="533">
                  <a:moveTo>
                    <a:pt x="171" y="0"/>
                  </a:moveTo>
                  <a:lnTo>
                    <a:pt x="1" y="123"/>
                  </a:lnTo>
                  <a:lnTo>
                    <a:pt x="0" y="533"/>
                  </a:lnTo>
                  <a:lnTo>
                    <a:pt x="171" y="373"/>
                  </a:lnTo>
                  <a:lnTo>
                    <a:pt x="171" y="0"/>
                  </a:lnTo>
                  <a:close/>
                </a:path>
              </a:pathLst>
            </a:custGeom>
            <a:solidFill>
              <a:srgbClr val="BF3F00"/>
            </a:solidFill>
            <a:ln w="9525">
              <a:noFill/>
              <a:round/>
              <a:headEnd/>
              <a:tailEnd/>
            </a:ln>
          </p:spPr>
          <p:txBody>
            <a:bodyPr/>
            <a:lstStyle/>
            <a:p>
              <a:endParaRPr lang="en-US"/>
            </a:p>
          </p:txBody>
        </p:sp>
        <p:sp>
          <p:nvSpPr>
            <p:cNvPr id="6203" name="Freeform 59"/>
            <p:cNvSpPr>
              <a:spLocks/>
            </p:cNvSpPr>
            <p:nvPr/>
          </p:nvSpPr>
          <p:spPr bwMode="auto">
            <a:xfrm>
              <a:off x="4543" y="741"/>
              <a:ext cx="223" cy="449"/>
            </a:xfrm>
            <a:custGeom>
              <a:avLst/>
              <a:gdLst>
                <a:gd name="T0" fmla="*/ 3 w 223"/>
                <a:gd name="T1" fmla="*/ 0 h 449"/>
                <a:gd name="T2" fmla="*/ 223 w 223"/>
                <a:gd name="T3" fmla="*/ 39 h 449"/>
                <a:gd name="T4" fmla="*/ 223 w 223"/>
                <a:gd name="T5" fmla="*/ 449 h 449"/>
                <a:gd name="T6" fmla="*/ 0 w 223"/>
                <a:gd name="T7" fmla="*/ 376 h 449"/>
                <a:gd name="T8" fmla="*/ 3 w 223"/>
                <a:gd name="T9" fmla="*/ 0 h 449"/>
                <a:gd name="T10" fmla="*/ 0 60000 65536"/>
                <a:gd name="T11" fmla="*/ 0 60000 65536"/>
                <a:gd name="T12" fmla="*/ 0 60000 65536"/>
                <a:gd name="T13" fmla="*/ 0 60000 65536"/>
                <a:gd name="T14" fmla="*/ 0 60000 65536"/>
                <a:gd name="T15" fmla="*/ 0 w 223"/>
                <a:gd name="T16" fmla="*/ 0 h 449"/>
                <a:gd name="T17" fmla="*/ 223 w 223"/>
                <a:gd name="T18" fmla="*/ 449 h 449"/>
              </a:gdLst>
              <a:ahLst/>
              <a:cxnLst>
                <a:cxn ang="T10">
                  <a:pos x="T0" y="T1"/>
                </a:cxn>
                <a:cxn ang="T11">
                  <a:pos x="T2" y="T3"/>
                </a:cxn>
                <a:cxn ang="T12">
                  <a:pos x="T4" y="T5"/>
                </a:cxn>
                <a:cxn ang="T13">
                  <a:pos x="T6" y="T7"/>
                </a:cxn>
                <a:cxn ang="T14">
                  <a:pos x="T8" y="T9"/>
                </a:cxn>
              </a:cxnLst>
              <a:rect l="T15" t="T16" r="T17" b="T18"/>
              <a:pathLst>
                <a:path w="223" h="449">
                  <a:moveTo>
                    <a:pt x="3" y="0"/>
                  </a:moveTo>
                  <a:lnTo>
                    <a:pt x="223" y="39"/>
                  </a:lnTo>
                  <a:lnTo>
                    <a:pt x="223" y="449"/>
                  </a:lnTo>
                  <a:lnTo>
                    <a:pt x="0" y="376"/>
                  </a:lnTo>
                  <a:lnTo>
                    <a:pt x="3" y="0"/>
                  </a:lnTo>
                  <a:close/>
                </a:path>
              </a:pathLst>
            </a:custGeom>
            <a:solidFill>
              <a:srgbClr val="FF5F00"/>
            </a:solidFill>
            <a:ln w="9525">
              <a:noFill/>
              <a:round/>
              <a:headEnd/>
              <a:tailEnd/>
            </a:ln>
          </p:spPr>
          <p:txBody>
            <a:bodyPr/>
            <a:lstStyle/>
            <a:p>
              <a:endParaRPr lang="en-US"/>
            </a:p>
          </p:txBody>
        </p:sp>
        <p:sp>
          <p:nvSpPr>
            <p:cNvPr id="6204" name="Freeform 60"/>
            <p:cNvSpPr>
              <a:spLocks/>
            </p:cNvSpPr>
            <p:nvPr/>
          </p:nvSpPr>
          <p:spPr bwMode="auto">
            <a:xfrm>
              <a:off x="4610" y="508"/>
              <a:ext cx="27" cy="61"/>
            </a:xfrm>
            <a:custGeom>
              <a:avLst/>
              <a:gdLst>
                <a:gd name="T0" fmla="*/ 0 w 27"/>
                <a:gd name="T1" fmla="*/ 0 h 61"/>
                <a:gd name="T2" fmla="*/ 27 w 27"/>
                <a:gd name="T3" fmla="*/ 4 h 61"/>
                <a:gd name="T4" fmla="*/ 27 w 27"/>
                <a:gd name="T5" fmla="*/ 61 h 61"/>
                <a:gd name="T6" fmla="*/ 0 w 27"/>
                <a:gd name="T7" fmla="*/ 57 h 61"/>
                <a:gd name="T8" fmla="*/ 0 w 27"/>
                <a:gd name="T9" fmla="*/ 0 h 61"/>
                <a:gd name="T10" fmla="*/ 0 60000 65536"/>
                <a:gd name="T11" fmla="*/ 0 60000 65536"/>
                <a:gd name="T12" fmla="*/ 0 60000 65536"/>
                <a:gd name="T13" fmla="*/ 0 60000 65536"/>
                <a:gd name="T14" fmla="*/ 0 60000 65536"/>
                <a:gd name="T15" fmla="*/ 0 w 27"/>
                <a:gd name="T16" fmla="*/ 0 h 61"/>
                <a:gd name="T17" fmla="*/ 27 w 27"/>
                <a:gd name="T18" fmla="*/ 61 h 61"/>
              </a:gdLst>
              <a:ahLst/>
              <a:cxnLst>
                <a:cxn ang="T10">
                  <a:pos x="T0" y="T1"/>
                </a:cxn>
                <a:cxn ang="T11">
                  <a:pos x="T2" y="T3"/>
                </a:cxn>
                <a:cxn ang="T12">
                  <a:pos x="T4" y="T5"/>
                </a:cxn>
                <a:cxn ang="T13">
                  <a:pos x="T6" y="T7"/>
                </a:cxn>
                <a:cxn ang="T14">
                  <a:pos x="T8" y="T9"/>
                </a:cxn>
              </a:cxnLst>
              <a:rect l="T15" t="T16" r="T17" b="T18"/>
              <a:pathLst>
                <a:path w="27" h="61">
                  <a:moveTo>
                    <a:pt x="0" y="0"/>
                  </a:moveTo>
                  <a:lnTo>
                    <a:pt x="27" y="4"/>
                  </a:lnTo>
                  <a:lnTo>
                    <a:pt x="27" y="61"/>
                  </a:lnTo>
                  <a:lnTo>
                    <a:pt x="0" y="57"/>
                  </a:lnTo>
                  <a:lnTo>
                    <a:pt x="0" y="0"/>
                  </a:lnTo>
                  <a:close/>
                </a:path>
              </a:pathLst>
            </a:custGeom>
            <a:solidFill>
              <a:srgbClr val="000000"/>
            </a:solidFill>
            <a:ln w="9525">
              <a:noFill/>
              <a:round/>
              <a:headEnd/>
              <a:tailEnd/>
            </a:ln>
          </p:spPr>
          <p:txBody>
            <a:bodyPr/>
            <a:lstStyle/>
            <a:p>
              <a:endParaRPr lang="en-US"/>
            </a:p>
          </p:txBody>
        </p:sp>
        <p:sp>
          <p:nvSpPr>
            <p:cNvPr id="6205" name="Freeform 61"/>
            <p:cNvSpPr>
              <a:spLocks/>
            </p:cNvSpPr>
            <p:nvPr/>
          </p:nvSpPr>
          <p:spPr bwMode="auto">
            <a:xfrm>
              <a:off x="4645" y="513"/>
              <a:ext cx="27" cy="61"/>
            </a:xfrm>
            <a:custGeom>
              <a:avLst/>
              <a:gdLst>
                <a:gd name="T0" fmla="*/ 0 w 27"/>
                <a:gd name="T1" fmla="*/ 0 h 61"/>
                <a:gd name="T2" fmla="*/ 27 w 27"/>
                <a:gd name="T3" fmla="*/ 2 h 61"/>
                <a:gd name="T4" fmla="*/ 27 w 27"/>
                <a:gd name="T5" fmla="*/ 61 h 61"/>
                <a:gd name="T6" fmla="*/ 0 w 27"/>
                <a:gd name="T7" fmla="*/ 57 h 61"/>
                <a:gd name="T8" fmla="*/ 0 w 27"/>
                <a:gd name="T9" fmla="*/ 0 h 61"/>
                <a:gd name="T10" fmla="*/ 0 60000 65536"/>
                <a:gd name="T11" fmla="*/ 0 60000 65536"/>
                <a:gd name="T12" fmla="*/ 0 60000 65536"/>
                <a:gd name="T13" fmla="*/ 0 60000 65536"/>
                <a:gd name="T14" fmla="*/ 0 60000 65536"/>
                <a:gd name="T15" fmla="*/ 0 w 27"/>
                <a:gd name="T16" fmla="*/ 0 h 61"/>
                <a:gd name="T17" fmla="*/ 27 w 27"/>
                <a:gd name="T18" fmla="*/ 61 h 61"/>
              </a:gdLst>
              <a:ahLst/>
              <a:cxnLst>
                <a:cxn ang="T10">
                  <a:pos x="T0" y="T1"/>
                </a:cxn>
                <a:cxn ang="T11">
                  <a:pos x="T2" y="T3"/>
                </a:cxn>
                <a:cxn ang="T12">
                  <a:pos x="T4" y="T5"/>
                </a:cxn>
                <a:cxn ang="T13">
                  <a:pos x="T6" y="T7"/>
                </a:cxn>
                <a:cxn ang="T14">
                  <a:pos x="T8" y="T9"/>
                </a:cxn>
              </a:cxnLst>
              <a:rect l="T15" t="T16" r="T17" b="T18"/>
              <a:pathLst>
                <a:path w="27" h="61">
                  <a:moveTo>
                    <a:pt x="0" y="0"/>
                  </a:moveTo>
                  <a:lnTo>
                    <a:pt x="27" y="2"/>
                  </a:lnTo>
                  <a:lnTo>
                    <a:pt x="27" y="61"/>
                  </a:lnTo>
                  <a:lnTo>
                    <a:pt x="0" y="57"/>
                  </a:lnTo>
                  <a:lnTo>
                    <a:pt x="0" y="0"/>
                  </a:lnTo>
                  <a:close/>
                </a:path>
              </a:pathLst>
            </a:custGeom>
            <a:solidFill>
              <a:srgbClr val="000000"/>
            </a:solidFill>
            <a:ln w="9525">
              <a:noFill/>
              <a:round/>
              <a:headEnd/>
              <a:tailEnd/>
            </a:ln>
          </p:spPr>
          <p:txBody>
            <a:bodyPr/>
            <a:lstStyle/>
            <a:p>
              <a:endParaRPr lang="en-US"/>
            </a:p>
          </p:txBody>
        </p:sp>
        <p:sp>
          <p:nvSpPr>
            <p:cNvPr id="6206" name="Freeform 62"/>
            <p:cNvSpPr>
              <a:spLocks/>
            </p:cNvSpPr>
            <p:nvPr/>
          </p:nvSpPr>
          <p:spPr bwMode="auto">
            <a:xfrm>
              <a:off x="4680" y="516"/>
              <a:ext cx="29" cy="64"/>
            </a:xfrm>
            <a:custGeom>
              <a:avLst/>
              <a:gdLst>
                <a:gd name="T0" fmla="*/ 0 w 29"/>
                <a:gd name="T1" fmla="*/ 0 h 64"/>
                <a:gd name="T2" fmla="*/ 29 w 29"/>
                <a:gd name="T3" fmla="*/ 3 h 64"/>
                <a:gd name="T4" fmla="*/ 27 w 29"/>
                <a:gd name="T5" fmla="*/ 64 h 64"/>
                <a:gd name="T6" fmla="*/ 0 w 29"/>
                <a:gd name="T7" fmla="*/ 59 h 64"/>
                <a:gd name="T8" fmla="*/ 0 w 29"/>
                <a:gd name="T9" fmla="*/ 0 h 64"/>
                <a:gd name="T10" fmla="*/ 0 60000 65536"/>
                <a:gd name="T11" fmla="*/ 0 60000 65536"/>
                <a:gd name="T12" fmla="*/ 0 60000 65536"/>
                <a:gd name="T13" fmla="*/ 0 60000 65536"/>
                <a:gd name="T14" fmla="*/ 0 60000 65536"/>
                <a:gd name="T15" fmla="*/ 0 w 29"/>
                <a:gd name="T16" fmla="*/ 0 h 64"/>
                <a:gd name="T17" fmla="*/ 29 w 29"/>
                <a:gd name="T18" fmla="*/ 64 h 64"/>
              </a:gdLst>
              <a:ahLst/>
              <a:cxnLst>
                <a:cxn ang="T10">
                  <a:pos x="T0" y="T1"/>
                </a:cxn>
                <a:cxn ang="T11">
                  <a:pos x="T2" y="T3"/>
                </a:cxn>
                <a:cxn ang="T12">
                  <a:pos x="T4" y="T5"/>
                </a:cxn>
                <a:cxn ang="T13">
                  <a:pos x="T6" y="T7"/>
                </a:cxn>
                <a:cxn ang="T14">
                  <a:pos x="T8" y="T9"/>
                </a:cxn>
              </a:cxnLst>
              <a:rect l="T15" t="T16" r="T17" b="T18"/>
              <a:pathLst>
                <a:path w="29" h="64">
                  <a:moveTo>
                    <a:pt x="0" y="0"/>
                  </a:moveTo>
                  <a:lnTo>
                    <a:pt x="29" y="3"/>
                  </a:lnTo>
                  <a:lnTo>
                    <a:pt x="27" y="64"/>
                  </a:lnTo>
                  <a:lnTo>
                    <a:pt x="0" y="59"/>
                  </a:lnTo>
                  <a:lnTo>
                    <a:pt x="0" y="0"/>
                  </a:lnTo>
                  <a:close/>
                </a:path>
              </a:pathLst>
            </a:custGeom>
            <a:solidFill>
              <a:srgbClr val="000000"/>
            </a:solidFill>
            <a:ln w="9525">
              <a:noFill/>
              <a:round/>
              <a:headEnd/>
              <a:tailEnd/>
            </a:ln>
          </p:spPr>
          <p:txBody>
            <a:bodyPr/>
            <a:lstStyle/>
            <a:p>
              <a:endParaRPr lang="en-US"/>
            </a:p>
          </p:txBody>
        </p:sp>
        <p:sp>
          <p:nvSpPr>
            <p:cNvPr id="6207" name="Freeform 63"/>
            <p:cNvSpPr>
              <a:spLocks/>
            </p:cNvSpPr>
            <p:nvPr/>
          </p:nvSpPr>
          <p:spPr bwMode="auto">
            <a:xfrm>
              <a:off x="4717" y="520"/>
              <a:ext cx="27" cy="65"/>
            </a:xfrm>
            <a:custGeom>
              <a:avLst/>
              <a:gdLst>
                <a:gd name="T0" fmla="*/ 0 w 27"/>
                <a:gd name="T1" fmla="*/ 0 h 65"/>
                <a:gd name="T2" fmla="*/ 27 w 27"/>
                <a:gd name="T3" fmla="*/ 2 h 65"/>
                <a:gd name="T4" fmla="*/ 27 w 27"/>
                <a:gd name="T5" fmla="*/ 65 h 65"/>
                <a:gd name="T6" fmla="*/ 0 w 27"/>
                <a:gd name="T7" fmla="*/ 61 h 65"/>
                <a:gd name="T8" fmla="*/ 0 w 27"/>
                <a:gd name="T9" fmla="*/ 0 h 65"/>
                <a:gd name="T10" fmla="*/ 0 60000 65536"/>
                <a:gd name="T11" fmla="*/ 0 60000 65536"/>
                <a:gd name="T12" fmla="*/ 0 60000 65536"/>
                <a:gd name="T13" fmla="*/ 0 60000 65536"/>
                <a:gd name="T14" fmla="*/ 0 60000 65536"/>
                <a:gd name="T15" fmla="*/ 0 w 27"/>
                <a:gd name="T16" fmla="*/ 0 h 65"/>
                <a:gd name="T17" fmla="*/ 27 w 27"/>
                <a:gd name="T18" fmla="*/ 65 h 65"/>
              </a:gdLst>
              <a:ahLst/>
              <a:cxnLst>
                <a:cxn ang="T10">
                  <a:pos x="T0" y="T1"/>
                </a:cxn>
                <a:cxn ang="T11">
                  <a:pos x="T2" y="T3"/>
                </a:cxn>
                <a:cxn ang="T12">
                  <a:pos x="T4" y="T5"/>
                </a:cxn>
                <a:cxn ang="T13">
                  <a:pos x="T6" y="T7"/>
                </a:cxn>
                <a:cxn ang="T14">
                  <a:pos x="T8" y="T9"/>
                </a:cxn>
              </a:cxnLst>
              <a:rect l="T15" t="T16" r="T17" b="T18"/>
              <a:pathLst>
                <a:path w="27" h="65">
                  <a:moveTo>
                    <a:pt x="0" y="0"/>
                  </a:moveTo>
                  <a:lnTo>
                    <a:pt x="27" y="2"/>
                  </a:lnTo>
                  <a:lnTo>
                    <a:pt x="27" y="65"/>
                  </a:lnTo>
                  <a:lnTo>
                    <a:pt x="0" y="61"/>
                  </a:lnTo>
                  <a:lnTo>
                    <a:pt x="0" y="0"/>
                  </a:lnTo>
                  <a:close/>
                </a:path>
              </a:pathLst>
            </a:custGeom>
            <a:solidFill>
              <a:srgbClr val="000000"/>
            </a:solidFill>
            <a:ln w="9525">
              <a:noFill/>
              <a:round/>
              <a:headEnd/>
              <a:tailEnd/>
            </a:ln>
          </p:spPr>
          <p:txBody>
            <a:bodyPr/>
            <a:lstStyle/>
            <a:p>
              <a:endParaRPr lang="en-US"/>
            </a:p>
          </p:txBody>
        </p:sp>
        <p:sp>
          <p:nvSpPr>
            <p:cNvPr id="6208" name="Freeform 64"/>
            <p:cNvSpPr>
              <a:spLocks/>
            </p:cNvSpPr>
            <p:nvPr/>
          </p:nvSpPr>
          <p:spPr bwMode="auto">
            <a:xfrm>
              <a:off x="4609" y="581"/>
              <a:ext cx="28" cy="62"/>
            </a:xfrm>
            <a:custGeom>
              <a:avLst/>
              <a:gdLst>
                <a:gd name="T0" fmla="*/ 0 w 28"/>
                <a:gd name="T1" fmla="*/ 0 h 62"/>
                <a:gd name="T2" fmla="*/ 28 w 28"/>
                <a:gd name="T3" fmla="*/ 4 h 62"/>
                <a:gd name="T4" fmla="*/ 28 w 28"/>
                <a:gd name="T5" fmla="*/ 62 h 62"/>
                <a:gd name="T6" fmla="*/ 1 w 28"/>
                <a:gd name="T7" fmla="*/ 57 h 62"/>
                <a:gd name="T8" fmla="*/ 0 w 28"/>
                <a:gd name="T9" fmla="*/ 0 h 62"/>
                <a:gd name="T10" fmla="*/ 0 60000 65536"/>
                <a:gd name="T11" fmla="*/ 0 60000 65536"/>
                <a:gd name="T12" fmla="*/ 0 60000 65536"/>
                <a:gd name="T13" fmla="*/ 0 60000 65536"/>
                <a:gd name="T14" fmla="*/ 0 60000 65536"/>
                <a:gd name="T15" fmla="*/ 0 w 28"/>
                <a:gd name="T16" fmla="*/ 0 h 62"/>
                <a:gd name="T17" fmla="*/ 28 w 28"/>
                <a:gd name="T18" fmla="*/ 62 h 62"/>
              </a:gdLst>
              <a:ahLst/>
              <a:cxnLst>
                <a:cxn ang="T10">
                  <a:pos x="T0" y="T1"/>
                </a:cxn>
                <a:cxn ang="T11">
                  <a:pos x="T2" y="T3"/>
                </a:cxn>
                <a:cxn ang="T12">
                  <a:pos x="T4" y="T5"/>
                </a:cxn>
                <a:cxn ang="T13">
                  <a:pos x="T6" y="T7"/>
                </a:cxn>
                <a:cxn ang="T14">
                  <a:pos x="T8" y="T9"/>
                </a:cxn>
              </a:cxnLst>
              <a:rect l="T15" t="T16" r="T17" b="T18"/>
              <a:pathLst>
                <a:path w="28" h="62">
                  <a:moveTo>
                    <a:pt x="0" y="0"/>
                  </a:moveTo>
                  <a:lnTo>
                    <a:pt x="28" y="4"/>
                  </a:lnTo>
                  <a:lnTo>
                    <a:pt x="28" y="62"/>
                  </a:lnTo>
                  <a:lnTo>
                    <a:pt x="1" y="57"/>
                  </a:lnTo>
                  <a:lnTo>
                    <a:pt x="0" y="0"/>
                  </a:lnTo>
                  <a:close/>
                </a:path>
              </a:pathLst>
            </a:custGeom>
            <a:solidFill>
              <a:srgbClr val="000000"/>
            </a:solidFill>
            <a:ln w="9525">
              <a:noFill/>
              <a:round/>
              <a:headEnd/>
              <a:tailEnd/>
            </a:ln>
          </p:spPr>
          <p:txBody>
            <a:bodyPr/>
            <a:lstStyle/>
            <a:p>
              <a:endParaRPr lang="en-US"/>
            </a:p>
          </p:txBody>
        </p:sp>
        <p:sp>
          <p:nvSpPr>
            <p:cNvPr id="6209" name="Freeform 65"/>
            <p:cNvSpPr>
              <a:spLocks/>
            </p:cNvSpPr>
            <p:nvPr/>
          </p:nvSpPr>
          <p:spPr bwMode="auto">
            <a:xfrm>
              <a:off x="4644" y="586"/>
              <a:ext cx="28" cy="62"/>
            </a:xfrm>
            <a:custGeom>
              <a:avLst/>
              <a:gdLst>
                <a:gd name="T0" fmla="*/ 1 w 28"/>
                <a:gd name="T1" fmla="*/ 0 h 62"/>
                <a:gd name="T2" fmla="*/ 28 w 28"/>
                <a:gd name="T3" fmla="*/ 4 h 62"/>
                <a:gd name="T4" fmla="*/ 27 w 28"/>
                <a:gd name="T5" fmla="*/ 62 h 62"/>
                <a:gd name="T6" fmla="*/ 0 w 28"/>
                <a:gd name="T7" fmla="*/ 58 h 62"/>
                <a:gd name="T8" fmla="*/ 1 w 28"/>
                <a:gd name="T9" fmla="*/ 0 h 62"/>
                <a:gd name="T10" fmla="*/ 0 60000 65536"/>
                <a:gd name="T11" fmla="*/ 0 60000 65536"/>
                <a:gd name="T12" fmla="*/ 0 60000 65536"/>
                <a:gd name="T13" fmla="*/ 0 60000 65536"/>
                <a:gd name="T14" fmla="*/ 0 60000 65536"/>
                <a:gd name="T15" fmla="*/ 0 w 28"/>
                <a:gd name="T16" fmla="*/ 0 h 62"/>
                <a:gd name="T17" fmla="*/ 28 w 28"/>
                <a:gd name="T18" fmla="*/ 62 h 62"/>
              </a:gdLst>
              <a:ahLst/>
              <a:cxnLst>
                <a:cxn ang="T10">
                  <a:pos x="T0" y="T1"/>
                </a:cxn>
                <a:cxn ang="T11">
                  <a:pos x="T2" y="T3"/>
                </a:cxn>
                <a:cxn ang="T12">
                  <a:pos x="T4" y="T5"/>
                </a:cxn>
                <a:cxn ang="T13">
                  <a:pos x="T6" y="T7"/>
                </a:cxn>
                <a:cxn ang="T14">
                  <a:pos x="T8" y="T9"/>
                </a:cxn>
              </a:cxnLst>
              <a:rect l="T15" t="T16" r="T17" b="T18"/>
              <a:pathLst>
                <a:path w="28" h="62">
                  <a:moveTo>
                    <a:pt x="1" y="0"/>
                  </a:moveTo>
                  <a:lnTo>
                    <a:pt x="28" y="4"/>
                  </a:lnTo>
                  <a:lnTo>
                    <a:pt x="27" y="62"/>
                  </a:lnTo>
                  <a:lnTo>
                    <a:pt x="0" y="58"/>
                  </a:lnTo>
                  <a:lnTo>
                    <a:pt x="1" y="0"/>
                  </a:lnTo>
                  <a:close/>
                </a:path>
              </a:pathLst>
            </a:custGeom>
            <a:solidFill>
              <a:srgbClr val="000000"/>
            </a:solidFill>
            <a:ln w="9525">
              <a:noFill/>
              <a:round/>
              <a:headEnd/>
              <a:tailEnd/>
            </a:ln>
          </p:spPr>
          <p:txBody>
            <a:bodyPr/>
            <a:lstStyle/>
            <a:p>
              <a:endParaRPr lang="en-US"/>
            </a:p>
          </p:txBody>
        </p:sp>
        <p:sp>
          <p:nvSpPr>
            <p:cNvPr id="6210" name="Freeform 66"/>
            <p:cNvSpPr>
              <a:spLocks/>
            </p:cNvSpPr>
            <p:nvPr/>
          </p:nvSpPr>
          <p:spPr bwMode="auto">
            <a:xfrm>
              <a:off x="4680" y="592"/>
              <a:ext cx="29" cy="61"/>
            </a:xfrm>
            <a:custGeom>
              <a:avLst/>
              <a:gdLst>
                <a:gd name="T0" fmla="*/ 0 w 29"/>
                <a:gd name="T1" fmla="*/ 0 h 61"/>
                <a:gd name="T2" fmla="*/ 29 w 29"/>
                <a:gd name="T3" fmla="*/ 3 h 61"/>
                <a:gd name="T4" fmla="*/ 27 w 29"/>
                <a:gd name="T5" fmla="*/ 61 h 61"/>
                <a:gd name="T6" fmla="*/ 0 w 29"/>
                <a:gd name="T7" fmla="*/ 57 h 61"/>
                <a:gd name="T8" fmla="*/ 0 w 29"/>
                <a:gd name="T9" fmla="*/ 0 h 61"/>
                <a:gd name="T10" fmla="*/ 0 60000 65536"/>
                <a:gd name="T11" fmla="*/ 0 60000 65536"/>
                <a:gd name="T12" fmla="*/ 0 60000 65536"/>
                <a:gd name="T13" fmla="*/ 0 60000 65536"/>
                <a:gd name="T14" fmla="*/ 0 60000 65536"/>
                <a:gd name="T15" fmla="*/ 0 w 29"/>
                <a:gd name="T16" fmla="*/ 0 h 61"/>
                <a:gd name="T17" fmla="*/ 29 w 29"/>
                <a:gd name="T18" fmla="*/ 61 h 61"/>
              </a:gdLst>
              <a:ahLst/>
              <a:cxnLst>
                <a:cxn ang="T10">
                  <a:pos x="T0" y="T1"/>
                </a:cxn>
                <a:cxn ang="T11">
                  <a:pos x="T2" y="T3"/>
                </a:cxn>
                <a:cxn ang="T12">
                  <a:pos x="T4" y="T5"/>
                </a:cxn>
                <a:cxn ang="T13">
                  <a:pos x="T6" y="T7"/>
                </a:cxn>
                <a:cxn ang="T14">
                  <a:pos x="T8" y="T9"/>
                </a:cxn>
              </a:cxnLst>
              <a:rect l="T15" t="T16" r="T17" b="T18"/>
              <a:pathLst>
                <a:path w="29" h="61">
                  <a:moveTo>
                    <a:pt x="0" y="0"/>
                  </a:moveTo>
                  <a:lnTo>
                    <a:pt x="29" y="3"/>
                  </a:lnTo>
                  <a:lnTo>
                    <a:pt x="27" y="61"/>
                  </a:lnTo>
                  <a:lnTo>
                    <a:pt x="0" y="57"/>
                  </a:lnTo>
                  <a:lnTo>
                    <a:pt x="0" y="0"/>
                  </a:lnTo>
                  <a:close/>
                </a:path>
              </a:pathLst>
            </a:custGeom>
            <a:solidFill>
              <a:srgbClr val="000000"/>
            </a:solidFill>
            <a:ln w="9525">
              <a:noFill/>
              <a:round/>
              <a:headEnd/>
              <a:tailEnd/>
            </a:ln>
          </p:spPr>
          <p:txBody>
            <a:bodyPr/>
            <a:lstStyle/>
            <a:p>
              <a:endParaRPr lang="en-US"/>
            </a:p>
          </p:txBody>
        </p:sp>
        <p:sp>
          <p:nvSpPr>
            <p:cNvPr id="6211" name="Freeform 67"/>
            <p:cNvSpPr>
              <a:spLocks/>
            </p:cNvSpPr>
            <p:nvPr/>
          </p:nvSpPr>
          <p:spPr bwMode="auto">
            <a:xfrm>
              <a:off x="4717" y="596"/>
              <a:ext cx="27" cy="62"/>
            </a:xfrm>
            <a:custGeom>
              <a:avLst/>
              <a:gdLst>
                <a:gd name="T0" fmla="*/ 0 w 27"/>
                <a:gd name="T1" fmla="*/ 0 h 62"/>
                <a:gd name="T2" fmla="*/ 27 w 27"/>
                <a:gd name="T3" fmla="*/ 5 h 62"/>
                <a:gd name="T4" fmla="*/ 27 w 27"/>
                <a:gd name="T5" fmla="*/ 62 h 62"/>
                <a:gd name="T6" fmla="*/ 0 w 27"/>
                <a:gd name="T7" fmla="*/ 59 h 62"/>
                <a:gd name="T8" fmla="*/ 0 w 27"/>
                <a:gd name="T9" fmla="*/ 0 h 62"/>
                <a:gd name="T10" fmla="*/ 0 60000 65536"/>
                <a:gd name="T11" fmla="*/ 0 60000 65536"/>
                <a:gd name="T12" fmla="*/ 0 60000 65536"/>
                <a:gd name="T13" fmla="*/ 0 60000 65536"/>
                <a:gd name="T14" fmla="*/ 0 60000 65536"/>
                <a:gd name="T15" fmla="*/ 0 w 27"/>
                <a:gd name="T16" fmla="*/ 0 h 62"/>
                <a:gd name="T17" fmla="*/ 27 w 27"/>
                <a:gd name="T18" fmla="*/ 62 h 62"/>
              </a:gdLst>
              <a:ahLst/>
              <a:cxnLst>
                <a:cxn ang="T10">
                  <a:pos x="T0" y="T1"/>
                </a:cxn>
                <a:cxn ang="T11">
                  <a:pos x="T2" y="T3"/>
                </a:cxn>
                <a:cxn ang="T12">
                  <a:pos x="T4" y="T5"/>
                </a:cxn>
                <a:cxn ang="T13">
                  <a:pos x="T6" y="T7"/>
                </a:cxn>
                <a:cxn ang="T14">
                  <a:pos x="T8" y="T9"/>
                </a:cxn>
              </a:cxnLst>
              <a:rect l="T15" t="T16" r="T17" b="T18"/>
              <a:pathLst>
                <a:path w="27" h="62">
                  <a:moveTo>
                    <a:pt x="0" y="0"/>
                  </a:moveTo>
                  <a:lnTo>
                    <a:pt x="27" y="5"/>
                  </a:lnTo>
                  <a:lnTo>
                    <a:pt x="27" y="62"/>
                  </a:lnTo>
                  <a:lnTo>
                    <a:pt x="0" y="59"/>
                  </a:lnTo>
                  <a:lnTo>
                    <a:pt x="0" y="0"/>
                  </a:lnTo>
                  <a:close/>
                </a:path>
              </a:pathLst>
            </a:custGeom>
            <a:solidFill>
              <a:srgbClr val="000000"/>
            </a:solidFill>
            <a:ln w="9525">
              <a:noFill/>
              <a:round/>
              <a:headEnd/>
              <a:tailEnd/>
            </a:ln>
          </p:spPr>
          <p:txBody>
            <a:bodyPr/>
            <a:lstStyle/>
            <a:p>
              <a:endParaRPr lang="en-US"/>
            </a:p>
          </p:txBody>
        </p:sp>
        <p:sp>
          <p:nvSpPr>
            <p:cNvPr id="6212" name="Freeform 68"/>
            <p:cNvSpPr>
              <a:spLocks/>
            </p:cNvSpPr>
            <p:nvPr/>
          </p:nvSpPr>
          <p:spPr bwMode="auto">
            <a:xfrm>
              <a:off x="4611" y="764"/>
              <a:ext cx="37" cy="29"/>
            </a:xfrm>
            <a:custGeom>
              <a:avLst/>
              <a:gdLst>
                <a:gd name="T0" fmla="*/ 0 w 37"/>
                <a:gd name="T1" fmla="*/ 0 h 29"/>
                <a:gd name="T2" fmla="*/ 37 w 37"/>
                <a:gd name="T3" fmla="*/ 7 h 29"/>
                <a:gd name="T4" fmla="*/ 37 w 37"/>
                <a:gd name="T5" fmla="*/ 29 h 29"/>
                <a:gd name="T6" fmla="*/ 0 w 37"/>
                <a:gd name="T7" fmla="*/ 21 h 29"/>
                <a:gd name="T8" fmla="*/ 0 w 37"/>
                <a:gd name="T9" fmla="*/ 0 h 29"/>
                <a:gd name="T10" fmla="*/ 0 60000 65536"/>
                <a:gd name="T11" fmla="*/ 0 60000 65536"/>
                <a:gd name="T12" fmla="*/ 0 60000 65536"/>
                <a:gd name="T13" fmla="*/ 0 60000 65536"/>
                <a:gd name="T14" fmla="*/ 0 60000 65536"/>
                <a:gd name="T15" fmla="*/ 0 w 37"/>
                <a:gd name="T16" fmla="*/ 0 h 29"/>
                <a:gd name="T17" fmla="*/ 37 w 37"/>
                <a:gd name="T18" fmla="*/ 29 h 29"/>
              </a:gdLst>
              <a:ahLst/>
              <a:cxnLst>
                <a:cxn ang="T10">
                  <a:pos x="T0" y="T1"/>
                </a:cxn>
                <a:cxn ang="T11">
                  <a:pos x="T2" y="T3"/>
                </a:cxn>
                <a:cxn ang="T12">
                  <a:pos x="T4" y="T5"/>
                </a:cxn>
                <a:cxn ang="T13">
                  <a:pos x="T6" y="T7"/>
                </a:cxn>
                <a:cxn ang="T14">
                  <a:pos x="T8" y="T9"/>
                </a:cxn>
              </a:cxnLst>
              <a:rect l="T15" t="T16" r="T17" b="T18"/>
              <a:pathLst>
                <a:path w="37" h="29">
                  <a:moveTo>
                    <a:pt x="0" y="0"/>
                  </a:moveTo>
                  <a:lnTo>
                    <a:pt x="37" y="7"/>
                  </a:lnTo>
                  <a:lnTo>
                    <a:pt x="37" y="29"/>
                  </a:lnTo>
                  <a:lnTo>
                    <a:pt x="0" y="21"/>
                  </a:lnTo>
                  <a:lnTo>
                    <a:pt x="0" y="0"/>
                  </a:lnTo>
                  <a:close/>
                </a:path>
              </a:pathLst>
            </a:custGeom>
            <a:solidFill>
              <a:srgbClr val="000000"/>
            </a:solidFill>
            <a:ln w="9525">
              <a:noFill/>
              <a:round/>
              <a:headEnd/>
              <a:tailEnd/>
            </a:ln>
          </p:spPr>
          <p:txBody>
            <a:bodyPr/>
            <a:lstStyle/>
            <a:p>
              <a:endParaRPr lang="en-US"/>
            </a:p>
          </p:txBody>
        </p:sp>
        <p:sp>
          <p:nvSpPr>
            <p:cNvPr id="6213" name="Freeform 69"/>
            <p:cNvSpPr>
              <a:spLocks/>
            </p:cNvSpPr>
            <p:nvPr/>
          </p:nvSpPr>
          <p:spPr bwMode="auto">
            <a:xfrm>
              <a:off x="4656" y="772"/>
              <a:ext cx="36" cy="31"/>
            </a:xfrm>
            <a:custGeom>
              <a:avLst/>
              <a:gdLst>
                <a:gd name="T0" fmla="*/ 0 w 36"/>
                <a:gd name="T1" fmla="*/ 0 h 31"/>
                <a:gd name="T2" fmla="*/ 36 w 36"/>
                <a:gd name="T3" fmla="*/ 7 h 31"/>
                <a:gd name="T4" fmla="*/ 36 w 36"/>
                <a:gd name="T5" fmla="*/ 31 h 31"/>
                <a:gd name="T6" fmla="*/ 0 w 36"/>
                <a:gd name="T7" fmla="*/ 23 h 31"/>
                <a:gd name="T8" fmla="*/ 0 w 36"/>
                <a:gd name="T9" fmla="*/ 0 h 31"/>
                <a:gd name="T10" fmla="*/ 0 60000 65536"/>
                <a:gd name="T11" fmla="*/ 0 60000 65536"/>
                <a:gd name="T12" fmla="*/ 0 60000 65536"/>
                <a:gd name="T13" fmla="*/ 0 60000 65536"/>
                <a:gd name="T14" fmla="*/ 0 60000 65536"/>
                <a:gd name="T15" fmla="*/ 0 w 36"/>
                <a:gd name="T16" fmla="*/ 0 h 31"/>
                <a:gd name="T17" fmla="*/ 36 w 36"/>
                <a:gd name="T18" fmla="*/ 31 h 31"/>
              </a:gdLst>
              <a:ahLst/>
              <a:cxnLst>
                <a:cxn ang="T10">
                  <a:pos x="T0" y="T1"/>
                </a:cxn>
                <a:cxn ang="T11">
                  <a:pos x="T2" y="T3"/>
                </a:cxn>
                <a:cxn ang="T12">
                  <a:pos x="T4" y="T5"/>
                </a:cxn>
                <a:cxn ang="T13">
                  <a:pos x="T6" y="T7"/>
                </a:cxn>
                <a:cxn ang="T14">
                  <a:pos x="T8" y="T9"/>
                </a:cxn>
              </a:cxnLst>
              <a:rect l="T15" t="T16" r="T17" b="T18"/>
              <a:pathLst>
                <a:path w="36" h="31">
                  <a:moveTo>
                    <a:pt x="0" y="0"/>
                  </a:moveTo>
                  <a:lnTo>
                    <a:pt x="36" y="7"/>
                  </a:lnTo>
                  <a:lnTo>
                    <a:pt x="36" y="31"/>
                  </a:lnTo>
                  <a:lnTo>
                    <a:pt x="0" y="23"/>
                  </a:lnTo>
                  <a:lnTo>
                    <a:pt x="0" y="0"/>
                  </a:lnTo>
                  <a:close/>
                </a:path>
              </a:pathLst>
            </a:custGeom>
            <a:solidFill>
              <a:srgbClr val="000000"/>
            </a:solidFill>
            <a:ln w="9525">
              <a:noFill/>
              <a:round/>
              <a:headEnd/>
              <a:tailEnd/>
            </a:ln>
          </p:spPr>
          <p:txBody>
            <a:bodyPr/>
            <a:lstStyle/>
            <a:p>
              <a:endParaRPr lang="en-US"/>
            </a:p>
          </p:txBody>
        </p:sp>
        <p:sp>
          <p:nvSpPr>
            <p:cNvPr id="6214" name="Freeform 70"/>
            <p:cNvSpPr>
              <a:spLocks/>
            </p:cNvSpPr>
            <p:nvPr/>
          </p:nvSpPr>
          <p:spPr bwMode="auto">
            <a:xfrm>
              <a:off x="4700" y="782"/>
              <a:ext cx="37" cy="30"/>
            </a:xfrm>
            <a:custGeom>
              <a:avLst/>
              <a:gdLst>
                <a:gd name="T0" fmla="*/ 0 w 37"/>
                <a:gd name="T1" fmla="*/ 0 h 30"/>
                <a:gd name="T2" fmla="*/ 37 w 37"/>
                <a:gd name="T3" fmla="*/ 7 h 30"/>
                <a:gd name="T4" fmla="*/ 37 w 37"/>
                <a:gd name="T5" fmla="*/ 30 h 30"/>
                <a:gd name="T6" fmla="*/ 0 w 37"/>
                <a:gd name="T7" fmla="*/ 22 h 30"/>
                <a:gd name="T8" fmla="*/ 0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0" y="0"/>
                  </a:moveTo>
                  <a:lnTo>
                    <a:pt x="37" y="7"/>
                  </a:lnTo>
                  <a:lnTo>
                    <a:pt x="37" y="30"/>
                  </a:lnTo>
                  <a:lnTo>
                    <a:pt x="0" y="22"/>
                  </a:lnTo>
                  <a:lnTo>
                    <a:pt x="0" y="0"/>
                  </a:lnTo>
                  <a:close/>
                </a:path>
              </a:pathLst>
            </a:custGeom>
            <a:solidFill>
              <a:srgbClr val="000000"/>
            </a:solidFill>
            <a:ln w="9525">
              <a:noFill/>
              <a:round/>
              <a:headEnd/>
              <a:tailEnd/>
            </a:ln>
          </p:spPr>
          <p:txBody>
            <a:bodyPr/>
            <a:lstStyle/>
            <a:p>
              <a:endParaRPr lang="en-US"/>
            </a:p>
          </p:txBody>
        </p:sp>
        <p:sp>
          <p:nvSpPr>
            <p:cNvPr id="6215" name="Freeform 71"/>
            <p:cNvSpPr>
              <a:spLocks/>
            </p:cNvSpPr>
            <p:nvPr/>
          </p:nvSpPr>
          <p:spPr bwMode="auto">
            <a:xfrm>
              <a:off x="4569" y="756"/>
              <a:ext cx="35" cy="28"/>
            </a:xfrm>
            <a:custGeom>
              <a:avLst/>
              <a:gdLst>
                <a:gd name="T0" fmla="*/ 0 w 35"/>
                <a:gd name="T1" fmla="*/ 0 h 28"/>
                <a:gd name="T2" fmla="*/ 35 w 35"/>
                <a:gd name="T3" fmla="*/ 7 h 28"/>
                <a:gd name="T4" fmla="*/ 35 w 35"/>
                <a:gd name="T5" fmla="*/ 28 h 28"/>
                <a:gd name="T6" fmla="*/ 0 w 35"/>
                <a:gd name="T7" fmla="*/ 21 h 28"/>
                <a:gd name="T8" fmla="*/ 0 w 35"/>
                <a:gd name="T9" fmla="*/ 0 h 28"/>
                <a:gd name="T10" fmla="*/ 0 60000 65536"/>
                <a:gd name="T11" fmla="*/ 0 60000 65536"/>
                <a:gd name="T12" fmla="*/ 0 60000 65536"/>
                <a:gd name="T13" fmla="*/ 0 60000 65536"/>
                <a:gd name="T14" fmla="*/ 0 60000 65536"/>
                <a:gd name="T15" fmla="*/ 0 w 35"/>
                <a:gd name="T16" fmla="*/ 0 h 28"/>
                <a:gd name="T17" fmla="*/ 35 w 35"/>
                <a:gd name="T18" fmla="*/ 28 h 28"/>
              </a:gdLst>
              <a:ahLst/>
              <a:cxnLst>
                <a:cxn ang="T10">
                  <a:pos x="T0" y="T1"/>
                </a:cxn>
                <a:cxn ang="T11">
                  <a:pos x="T2" y="T3"/>
                </a:cxn>
                <a:cxn ang="T12">
                  <a:pos x="T4" y="T5"/>
                </a:cxn>
                <a:cxn ang="T13">
                  <a:pos x="T6" y="T7"/>
                </a:cxn>
                <a:cxn ang="T14">
                  <a:pos x="T8" y="T9"/>
                </a:cxn>
              </a:cxnLst>
              <a:rect l="T15" t="T16" r="T17" b="T18"/>
              <a:pathLst>
                <a:path w="35" h="28">
                  <a:moveTo>
                    <a:pt x="0" y="0"/>
                  </a:moveTo>
                  <a:lnTo>
                    <a:pt x="35" y="7"/>
                  </a:lnTo>
                  <a:lnTo>
                    <a:pt x="35" y="28"/>
                  </a:lnTo>
                  <a:lnTo>
                    <a:pt x="0" y="21"/>
                  </a:lnTo>
                  <a:lnTo>
                    <a:pt x="0" y="0"/>
                  </a:lnTo>
                  <a:close/>
                </a:path>
              </a:pathLst>
            </a:custGeom>
            <a:solidFill>
              <a:srgbClr val="000000"/>
            </a:solidFill>
            <a:ln w="9525">
              <a:noFill/>
              <a:round/>
              <a:headEnd/>
              <a:tailEnd/>
            </a:ln>
          </p:spPr>
          <p:txBody>
            <a:bodyPr/>
            <a:lstStyle/>
            <a:p>
              <a:endParaRPr lang="en-US"/>
            </a:p>
          </p:txBody>
        </p:sp>
        <p:sp>
          <p:nvSpPr>
            <p:cNvPr id="6216" name="Freeform 72"/>
            <p:cNvSpPr>
              <a:spLocks/>
            </p:cNvSpPr>
            <p:nvPr/>
          </p:nvSpPr>
          <p:spPr bwMode="auto">
            <a:xfrm>
              <a:off x="4611" y="796"/>
              <a:ext cx="37" cy="29"/>
            </a:xfrm>
            <a:custGeom>
              <a:avLst/>
              <a:gdLst>
                <a:gd name="T0" fmla="*/ 2 w 37"/>
                <a:gd name="T1" fmla="*/ 0 h 29"/>
                <a:gd name="T2" fmla="*/ 37 w 37"/>
                <a:gd name="T3" fmla="*/ 7 h 29"/>
                <a:gd name="T4" fmla="*/ 37 w 37"/>
                <a:gd name="T5" fmla="*/ 29 h 29"/>
                <a:gd name="T6" fmla="*/ 0 w 37"/>
                <a:gd name="T7" fmla="*/ 22 h 29"/>
                <a:gd name="T8" fmla="*/ 2 w 37"/>
                <a:gd name="T9" fmla="*/ 0 h 29"/>
                <a:gd name="T10" fmla="*/ 0 60000 65536"/>
                <a:gd name="T11" fmla="*/ 0 60000 65536"/>
                <a:gd name="T12" fmla="*/ 0 60000 65536"/>
                <a:gd name="T13" fmla="*/ 0 60000 65536"/>
                <a:gd name="T14" fmla="*/ 0 60000 65536"/>
                <a:gd name="T15" fmla="*/ 0 w 37"/>
                <a:gd name="T16" fmla="*/ 0 h 29"/>
                <a:gd name="T17" fmla="*/ 37 w 37"/>
                <a:gd name="T18" fmla="*/ 29 h 29"/>
              </a:gdLst>
              <a:ahLst/>
              <a:cxnLst>
                <a:cxn ang="T10">
                  <a:pos x="T0" y="T1"/>
                </a:cxn>
                <a:cxn ang="T11">
                  <a:pos x="T2" y="T3"/>
                </a:cxn>
                <a:cxn ang="T12">
                  <a:pos x="T4" y="T5"/>
                </a:cxn>
                <a:cxn ang="T13">
                  <a:pos x="T6" y="T7"/>
                </a:cxn>
                <a:cxn ang="T14">
                  <a:pos x="T8" y="T9"/>
                </a:cxn>
              </a:cxnLst>
              <a:rect l="T15" t="T16" r="T17" b="T18"/>
              <a:pathLst>
                <a:path w="37" h="29">
                  <a:moveTo>
                    <a:pt x="2" y="0"/>
                  </a:moveTo>
                  <a:lnTo>
                    <a:pt x="37" y="7"/>
                  </a:lnTo>
                  <a:lnTo>
                    <a:pt x="37" y="29"/>
                  </a:lnTo>
                  <a:lnTo>
                    <a:pt x="0" y="22"/>
                  </a:lnTo>
                  <a:lnTo>
                    <a:pt x="2" y="0"/>
                  </a:lnTo>
                  <a:close/>
                </a:path>
              </a:pathLst>
            </a:custGeom>
            <a:solidFill>
              <a:srgbClr val="000000"/>
            </a:solidFill>
            <a:ln w="9525">
              <a:noFill/>
              <a:round/>
              <a:headEnd/>
              <a:tailEnd/>
            </a:ln>
          </p:spPr>
          <p:txBody>
            <a:bodyPr/>
            <a:lstStyle/>
            <a:p>
              <a:endParaRPr lang="en-US"/>
            </a:p>
          </p:txBody>
        </p:sp>
        <p:sp>
          <p:nvSpPr>
            <p:cNvPr id="6217" name="Freeform 73"/>
            <p:cNvSpPr>
              <a:spLocks/>
            </p:cNvSpPr>
            <p:nvPr/>
          </p:nvSpPr>
          <p:spPr bwMode="auto">
            <a:xfrm>
              <a:off x="4656" y="804"/>
              <a:ext cx="35" cy="29"/>
            </a:xfrm>
            <a:custGeom>
              <a:avLst/>
              <a:gdLst>
                <a:gd name="T0" fmla="*/ 0 w 35"/>
                <a:gd name="T1" fmla="*/ 0 h 29"/>
                <a:gd name="T2" fmla="*/ 35 w 35"/>
                <a:gd name="T3" fmla="*/ 8 h 29"/>
                <a:gd name="T4" fmla="*/ 35 w 35"/>
                <a:gd name="T5" fmla="*/ 29 h 29"/>
                <a:gd name="T6" fmla="*/ 0 w 35"/>
                <a:gd name="T7" fmla="*/ 23 h 29"/>
                <a:gd name="T8" fmla="*/ 0 w 35"/>
                <a:gd name="T9" fmla="*/ 0 h 29"/>
                <a:gd name="T10" fmla="*/ 0 60000 65536"/>
                <a:gd name="T11" fmla="*/ 0 60000 65536"/>
                <a:gd name="T12" fmla="*/ 0 60000 65536"/>
                <a:gd name="T13" fmla="*/ 0 60000 65536"/>
                <a:gd name="T14" fmla="*/ 0 60000 65536"/>
                <a:gd name="T15" fmla="*/ 0 w 35"/>
                <a:gd name="T16" fmla="*/ 0 h 29"/>
                <a:gd name="T17" fmla="*/ 35 w 35"/>
                <a:gd name="T18" fmla="*/ 29 h 29"/>
              </a:gdLst>
              <a:ahLst/>
              <a:cxnLst>
                <a:cxn ang="T10">
                  <a:pos x="T0" y="T1"/>
                </a:cxn>
                <a:cxn ang="T11">
                  <a:pos x="T2" y="T3"/>
                </a:cxn>
                <a:cxn ang="T12">
                  <a:pos x="T4" y="T5"/>
                </a:cxn>
                <a:cxn ang="T13">
                  <a:pos x="T6" y="T7"/>
                </a:cxn>
                <a:cxn ang="T14">
                  <a:pos x="T8" y="T9"/>
                </a:cxn>
              </a:cxnLst>
              <a:rect l="T15" t="T16" r="T17" b="T18"/>
              <a:pathLst>
                <a:path w="35" h="29">
                  <a:moveTo>
                    <a:pt x="0" y="0"/>
                  </a:moveTo>
                  <a:lnTo>
                    <a:pt x="35" y="8"/>
                  </a:lnTo>
                  <a:lnTo>
                    <a:pt x="35" y="29"/>
                  </a:lnTo>
                  <a:lnTo>
                    <a:pt x="0" y="23"/>
                  </a:lnTo>
                  <a:lnTo>
                    <a:pt x="0" y="0"/>
                  </a:lnTo>
                  <a:close/>
                </a:path>
              </a:pathLst>
            </a:custGeom>
            <a:solidFill>
              <a:srgbClr val="000000"/>
            </a:solidFill>
            <a:ln w="9525">
              <a:noFill/>
              <a:round/>
              <a:headEnd/>
              <a:tailEnd/>
            </a:ln>
          </p:spPr>
          <p:txBody>
            <a:bodyPr/>
            <a:lstStyle/>
            <a:p>
              <a:endParaRPr lang="en-US"/>
            </a:p>
          </p:txBody>
        </p:sp>
        <p:sp>
          <p:nvSpPr>
            <p:cNvPr id="6218" name="Freeform 74"/>
            <p:cNvSpPr>
              <a:spLocks/>
            </p:cNvSpPr>
            <p:nvPr/>
          </p:nvSpPr>
          <p:spPr bwMode="auto">
            <a:xfrm>
              <a:off x="4700" y="814"/>
              <a:ext cx="37" cy="29"/>
            </a:xfrm>
            <a:custGeom>
              <a:avLst/>
              <a:gdLst>
                <a:gd name="T0" fmla="*/ 0 w 37"/>
                <a:gd name="T1" fmla="*/ 0 h 29"/>
                <a:gd name="T2" fmla="*/ 37 w 37"/>
                <a:gd name="T3" fmla="*/ 7 h 29"/>
                <a:gd name="T4" fmla="*/ 37 w 37"/>
                <a:gd name="T5" fmla="*/ 29 h 29"/>
                <a:gd name="T6" fmla="*/ 0 w 37"/>
                <a:gd name="T7" fmla="*/ 22 h 29"/>
                <a:gd name="T8" fmla="*/ 0 w 37"/>
                <a:gd name="T9" fmla="*/ 0 h 29"/>
                <a:gd name="T10" fmla="*/ 0 60000 65536"/>
                <a:gd name="T11" fmla="*/ 0 60000 65536"/>
                <a:gd name="T12" fmla="*/ 0 60000 65536"/>
                <a:gd name="T13" fmla="*/ 0 60000 65536"/>
                <a:gd name="T14" fmla="*/ 0 60000 65536"/>
                <a:gd name="T15" fmla="*/ 0 w 37"/>
                <a:gd name="T16" fmla="*/ 0 h 29"/>
                <a:gd name="T17" fmla="*/ 37 w 37"/>
                <a:gd name="T18" fmla="*/ 29 h 29"/>
              </a:gdLst>
              <a:ahLst/>
              <a:cxnLst>
                <a:cxn ang="T10">
                  <a:pos x="T0" y="T1"/>
                </a:cxn>
                <a:cxn ang="T11">
                  <a:pos x="T2" y="T3"/>
                </a:cxn>
                <a:cxn ang="T12">
                  <a:pos x="T4" y="T5"/>
                </a:cxn>
                <a:cxn ang="T13">
                  <a:pos x="T6" y="T7"/>
                </a:cxn>
                <a:cxn ang="T14">
                  <a:pos x="T8" y="T9"/>
                </a:cxn>
              </a:cxnLst>
              <a:rect l="T15" t="T16" r="T17" b="T18"/>
              <a:pathLst>
                <a:path w="37" h="29">
                  <a:moveTo>
                    <a:pt x="0" y="0"/>
                  </a:moveTo>
                  <a:lnTo>
                    <a:pt x="37" y="7"/>
                  </a:lnTo>
                  <a:lnTo>
                    <a:pt x="37" y="29"/>
                  </a:lnTo>
                  <a:lnTo>
                    <a:pt x="0" y="22"/>
                  </a:lnTo>
                  <a:lnTo>
                    <a:pt x="0" y="0"/>
                  </a:lnTo>
                  <a:close/>
                </a:path>
              </a:pathLst>
            </a:custGeom>
            <a:solidFill>
              <a:srgbClr val="000000"/>
            </a:solidFill>
            <a:ln w="9525">
              <a:noFill/>
              <a:round/>
              <a:headEnd/>
              <a:tailEnd/>
            </a:ln>
          </p:spPr>
          <p:txBody>
            <a:bodyPr/>
            <a:lstStyle/>
            <a:p>
              <a:endParaRPr lang="en-US"/>
            </a:p>
          </p:txBody>
        </p:sp>
        <p:sp>
          <p:nvSpPr>
            <p:cNvPr id="6219" name="Freeform 75"/>
            <p:cNvSpPr>
              <a:spLocks/>
            </p:cNvSpPr>
            <p:nvPr/>
          </p:nvSpPr>
          <p:spPr bwMode="auto">
            <a:xfrm>
              <a:off x="4569" y="787"/>
              <a:ext cx="35" cy="29"/>
            </a:xfrm>
            <a:custGeom>
              <a:avLst/>
              <a:gdLst>
                <a:gd name="T0" fmla="*/ 0 w 35"/>
                <a:gd name="T1" fmla="*/ 0 h 29"/>
                <a:gd name="T2" fmla="*/ 35 w 35"/>
                <a:gd name="T3" fmla="*/ 8 h 29"/>
                <a:gd name="T4" fmla="*/ 35 w 35"/>
                <a:gd name="T5" fmla="*/ 29 h 29"/>
                <a:gd name="T6" fmla="*/ 0 w 35"/>
                <a:gd name="T7" fmla="*/ 23 h 29"/>
                <a:gd name="T8" fmla="*/ 0 w 35"/>
                <a:gd name="T9" fmla="*/ 0 h 29"/>
                <a:gd name="T10" fmla="*/ 0 60000 65536"/>
                <a:gd name="T11" fmla="*/ 0 60000 65536"/>
                <a:gd name="T12" fmla="*/ 0 60000 65536"/>
                <a:gd name="T13" fmla="*/ 0 60000 65536"/>
                <a:gd name="T14" fmla="*/ 0 60000 65536"/>
                <a:gd name="T15" fmla="*/ 0 w 35"/>
                <a:gd name="T16" fmla="*/ 0 h 29"/>
                <a:gd name="T17" fmla="*/ 35 w 35"/>
                <a:gd name="T18" fmla="*/ 29 h 29"/>
              </a:gdLst>
              <a:ahLst/>
              <a:cxnLst>
                <a:cxn ang="T10">
                  <a:pos x="T0" y="T1"/>
                </a:cxn>
                <a:cxn ang="T11">
                  <a:pos x="T2" y="T3"/>
                </a:cxn>
                <a:cxn ang="T12">
                  <a:pos x="T4" y="T5"/>
                </a:cxn>
                <a:cxn ang="T13">
                  <a:pos x="T6" y="T7"/>
                </a:cxn>
                <a:cxn ang="T14">
                  <a:pos x="T8" y="T9"/>
                </a:cxn>
              </a:cxnLst>
              <a:rect l="T15" t="T16" r="T17" b="T18"/>
              <a:pathLst>
                <a:path w="35" h="29">
                  <a:moveTo>
                    <a:pt x="0" y="0"/>
                  </a:moveTo>
                  <a:lnTo>
                    <a:pt x="35" y="8"/>
                  </a:lnTo>
                  <a:lnTo>
                    <a:pt x="35" y="29"/>
                  </a:lnTo>
                  <a:lnTo>
                    <a:pt x="0" y="23"/>
                  </a:lnTo>
                  <a:lnTo>
                    <a:pt x="0" y="0"/>
                  </a:lnTo>
                  <a:close/>
                </a:path>
              </a:pathLst>
            </a:custGeom>
            <a:solidFill>
              <a:srgbClr val="000000"/>
            </a:solidFill>
            <a:ln w="9525">
              <a:noFill/>
              <a:round/>
              <a:headEnd/>
              <a:tailEnd/>
            </a:ln>
          </p:spPr>
          <p:txBody>
            <a:bodyPr/>
            <a:lstStyle/>
            <a:p>
              <a:endParaRPr lang="en-US"/>
            </a:p>
          </p:txBody>
        </p:sp>
        <p:sp>
          <p:nvSpPr>
            <p:cNvPr id="6220" name="Freeform 76"/>
            <p:cNvSpPr>
              <a:spLocks/>
            </p:cNvSpPr>
            <p:nvPr/>
          </p:nvSpPr>
          <p:spPr bwMode="auto">
            <a:xfrm>
              <a:off x="4848" y="710"/>
              <a:ext cx="163" cy="62"/>
            </a:xfrm>
            <a:custGeom>
              <a:avLst/>
              <a:gdLst>
                <a:gd name="T0" fmla="*/ 0 w 163"/>
                <a:gd name="T1" fmla="*/ 49 h 62"/>
                <a:gd name="T2" fmla="*/ 99 w 163"/>
                <a:gd name="T3" fmla="*/ 62 h 62"/>
                <a:gd name="T4" fmla="*/ 163 w 163"/>
                <a:gd name="T5" fmla="*/ 9 h 62"/>
                <a:gd name="T6" fmla="*/ 68 w 163"/>
                <a:gd name="T7" fmla="*/ 0 h 62"/>
                <a:gd name="T8" fmla="*/ 0 w 163"/>
                <a:gd name="T9" fmla="*/ 49 h 62"/>
                <a:gd name="T10" fmla="*/ 0 60000 65536"/>
                <a:gd name="T11" fmla="*/ 0 60000 65536"/>
                <a:gd name="T12" fmla="*/ 0 60000 65536"/>
                <a:gd name="T13" fmla="*/ 0 60000 65536"/>
                <a:gd name="T14" fmla="*/ 0 60000 65536"/>
                <a:gd name="T15" fmla="*/ 0 w 163"/>
                <a:gd name="T16" fmla="*/ 0 h 62"/>
                <a:gd name="T17" fmla="*/ 163 w 163"/>
                <a:gd name="T18" fmla="*/ 62 h 62"/>
              </a:gdLst>
              <a:ahLst/>
              <a:cxnLst>
                <a:cxn ang="T10">
                  <a:pos x="T0" y="T1"/>
                </a:cxn>
                <a:cxn ang="T11">
                  <a:pos x="T2" y="T3"/>
                </a:cxn>
                <a:cxn ang="T12">
                  <a:pos x="T4" y="T5"/>
                </a:cxn>
                <a:cxn ang="T13">
                  <a:pos x="T6" y="T7"/>
                </a:cxn>
                <a:cxn ang="T14">
                  <a:pos x="T8" y="T9"/>
                </a:cxn>
              </a:cxnLst>
              <a:rect l="T15" t="T16" r="T17" b="T18"/>
              <a:pathLst>
                <a:path w="163" h="62">
                  <a:moveTo>
                    <a:pt x="0" y="49"/>
                  </a:moveTo>
                  <a:lnTo>
                    <a:pt x="99" y="62"/>
                  </a:lnTo>
                  <a:lnTo>
                    <a:pt x="163" y="9"/>
                  </a:lnTo>
                  <a:lnTo>
                    <a:pt x="68" y="0"/>
                  </a:lnTo>
                  <a:lnTo>
                    <a:pt x="0" y="49"/>
                  </a:lnTo>
                  <a:close/>
                </a:path>
              </a:pathLst>
            </a:custGeom>
            <a:solidFill>
              <a:srgbClr val="00DFFF"/>
            </a:solidFill>
            <a:ln w="9525">
              <a:noFill/>
              <a:round/>
              <a:headEnd/>
              <a:tailEnd/>
            </a:ln>
          </p:spPr>
          <p:txBody>
            <a:bodyPr/>
            <a:lstStyle/>
            <a:p>
              <a:endParaRPr lang="en-US"/>
            </a:p>
          </p:txBody>
        </p:sp>
        <p:sp>
          <p:nvSpPr>
            <p:cNvPr id="6221" name="Freeform 77"/>
            <p:cNvSpPr>
              <a:spLocks/>
            </p:cNvSpPr>
            <p:nvPr/>
          </p:nvSpPr>
          <p:spPr bwMode="auto">
            <a:xfrm>
              <a:off x="4874" y="716"/>
              <a:ext cx="69" cy="46"/>
            </a:xfrm>
            <a:custGeom>
              <a:avLst/>
              <a:gdLst>
                <a:gd name="T0" fmla="*/ 1 w 69"/>
                <a:gd name="T1" fmla="*/ 0 h 46"/>
                <a:gd name="T2" fmla="*/ 69 w 69"/>
                <a:gd name="T3" fmla="*/ 8 h 46"/>
                <a:gd name="T4" fmla="*/ 69 w 69"/>
                <a:gd name="T5" fmla="*/ 46 h 46"/>
                <a:gd name="T6" fmla="*/ 0 w 69"/>
                <a:gd name="T7" fmla="*/ 36 h 46"/>
                <a:gd name="T8" fmla="*/ 1 w 69"/>
                <a:gd name="T9" fmla="*/ 0 h 46"/>
                <a:gd name="T10" fmla="*/ 0 60000 65536"/>
                <a:gd name="T11" fmla="*/ 0 60000 65536"/>
                <a:gd name="T12" fmla="*/ 0 60000 65536"/>
                <a:gd name="T13" fmla="*/ 0 60000 65536"/>
                <a:gd name="T14" fmla="*/ 0 60000 65536"/>
                <a:gd name="T15" fmla="*/ 0 w 69"/>
                <a:gd name="T16" fmla="*/ 0 h 46"/>
                <a:gd name="T17" fmla="*/ 69 w 69"/>
                <a:gd name="T18" fmla="*/ 46 h 46"/>
              </a:gdLst>
              <a:ahLst/>
              <a:cxnLst>
                <a:cxn ang="T10">
                  <a:pos x="T0" y="T1"/>
                </a:cxn>
                <a:cxn ang="T11">
                  <a:pos x="T2" y="T3"/>
                </a:cxn>
                <a:cxn ang="T12">
                  <a:pos x="T4" y="T5"/>
                </a:cxn>
                <a:cxn ang="T13">
                  <a:pos x="T6" y="T7"/>
                </a:cxn>
                <a:cxn ang="T14">
                  <a:pos x="T8" y="T9"/>
                </a:cxn>
              </a:cxnLst>
              <a:rect l="T15" t="T16" r="T17" b="T18"/>
              <a:pathLst>
                <a:path w="69" h="46">
                  <a:moveTo>
                    <a:pt x="1" y="0"/>
                  </a:moveTo>
                  <a:lnTo>
                    <a:pt x="69" y="8"/>
                  </a:lnTo>
                  <a:lnTo>
                    <a:pt x="69" y="46"/>
                  </a:lnTo>
                  <a:lnTo>
                    <a:pt x="0" y="36"/>
                  </a:lnTo>
                  <a:lnTo>
                    <a:pt x="1" y="0"/>
                  </a:lnTo>
                  <a:close/>
                </a:path>
              </a:pathLst>
            </a:custGeom>
            <a:solidFill>
              <a:srgbClr val="00BFDF"/>
            </a:solidFill>
            <a:ln w="9525">
              <a:noFill/>
              <a:round/>
              <a:headEnd/>
              <a:tailEnd/>
            </a:ln>
          </p:spPr>
          <p:txBody>
            <a:bodyPr/>
            <a:lstStyle/>
            <a:p>
              <a:endParaRPr lang="en-US"/>
            </a:p>
          </p:txBody>
        </p:sp>
        <p:sp>
          <p:nvSpPr>
            <p:cNvPr id="6222" name="Freeform 78"/>
            <p:cNvSpPr>
              <a:spLocks/>
            </p:cNvSpPr>
            <p:nvPr/>
          </p:nvSpPr>
          <p:spPr bwMode="auto">
            <a:xfrm>
              <a:off x="4943" y="694"/>
              <a:ext cx="44" cy="68"/>
            </a:xfrm>
            <a:custGeom>
              <a:avLst/>
              <a:gdLst>
                <a:gd name="T0" fmla="*/ 0 w 44"/>
                <a:gd name="T1" fmla="*/ 31 h 68"/>
                <a:gd name="T2" fmla="*/ 0 w 44"/>
                <a:gd name="T3" fmla="*/ 68 h 68"/>
                <a:gd name="T4" fmla="*/ 44 w 44"/>
                <a:gd name="T5" fmla="*/ 31 h 68"/>
                <a:gd name="T6" fmla="*/ 44 w 44"/>
                <a:gd name="T7" fmla="*/ 0 h 68"/>
                <a:gd name="T8" fmla="*/ 0 w 44"/>
                <a:gd name="T9" fmla="*/ 31 h 68"/>
                <a:gd name="T10" fmla="*/ 0 60000 65536"/>
                <a:gd name="T11" fmla="*/ 0 60000 65536"/>
                <a:gd name="T12" fmla="*/ 0 60000 65536"/>
                <a:gd name="T13" fmla="*/ 0 60000 65536"/>
                <a:gd name="T14" fmla="*/ 0 60000 65536"/>
                <a:gd name="T15" fmla="*/ 0 w 44"/>
                <a:gd name="T16" fmla="*/ 0 h 68"/>
                <a:gd name="T17" fmla="*/ 44 w 44"/>
                <a:gd name="T18" fmla="*/ 68 h 68"/>
              </a:gdLst>
              <a:ahLst/>
              <a:cxnLst>
                <a:cxn ang="T10">
                  <a:pos x="T0" y="T1"/>
                </a:cxn>
                <a:cxn ang="T11">
                  <a:pos x="T2" y="T3"/>
                </a:cxn>
                <a:cxn ang="T12">
                  <a:pos x="T4" y="T5"/>
                </a:cxn>
                <a:cxn ang="T13">
                  <a:pos x="T6" y="T7"/>
                </a:cxn>
                <a:cxn ang="T14">
                  <a:pos x="T8" y="T9"/>
                </a:cxn>
              </a:cxnLst>
              <a:rect l="T15" t="T16" r="T17" b="T18"/>
              <a:pathLst>
                <a:path w="44" h="68">
                  <a:moveTo>
                    <a:pt x="0" y="31"/>
                  </a:moveTo>
                  <a:lnTo>
                    <a:pt x="0" y="68"/>
                  </a:lnTo>
                  <a:lnTo>
                    <a:pt x="44" y="31"/>
                  </a:lnTo>
                  <a:lnTo>
                    <a:pt x="44" y="0"/>
                  </a:lnTo>
                  <a:lnTo>
                    <a:pt x="0" y="31"/>
                  </a:lnTo>
                  <a:close/>
                </a:path>
              </a:pathLst>
            </a:custGeom>
            <a:solidFill>
              <a:srgbClr val="009FBF"/>
            </a:solidFill>
            <a:ln w="9525">
              <a:noFill/>
              <a:round/>
              <a:headEnd/>
              <a:tailEnd/>
            </a:ln>
          </p:spPr>
          <p:txBody>
            <a:bodyPr/>
            <a:lstStyle/>
            <a:p>
              <a:endParaRPr lang="en-US"/>
            </a:p>
          </p:txBody>
        </p:sp>
        <p:sp>
          <p:nvSpPr>
            <p:cNvPr id="6223" name="Freeform 79"/>
            <p:cNvSpPr>
              <a:spLocks/>
            </p:cNvSpPr>
            <p:nvPr/>
          </p:nvSpPr>
          <p:spPr bwMode="auto">
            <a:xfrm>
              <a:off x="4875" y="688"/>
              <a:ext cx="112" cy="36"/>
            </a:xfrm>
            <a:custGeom>
              <a:avLst/>
              <a:gdLst>
                <a:gd name="T0" fmla="*/ 0 w 112"/>
                <a:gd name="T1" fmla="*/ 28 h 36"/>
                <a:gd name="T2" fmla="*/ 68 w 112"/>
                <a:gd name="T3" fmla="*/ 36 h 36"/>
                <a:gd name="T4" fmla="*/ 112 w 112"/>
                <a:gd name="T5" fmla="*/ 6 h 36"/>
                <a:gd name="T6" fmla="*/ 46 w 112"/>
                <a:gd name="T7" fmla="*/ 0 h 36"/>
                <a:gd name="T8" fmla="*/ 0 w 112"/>
                <a:gd name="T9" fmla="*/ 28 h 36"/>
                <a:gd name="T10" fmla="*/ 0 60000 65536"/>
                <a:gd name="T11" fmla="*/ 0 60000 65536"/>
                <a:gd name="T12" fmla="*/ 0 60000 65536"/>
                <a:gd name="T13" fmla="*/ 0 60000 65536"/>
                <a:gd name="T14" fmla="*/ 0 60000 65536"/>
                <a:gd name="T15" fmla="*/ 0 w 112"/>
                <a:gd name="T16" fmla="*/ 0 h 36"/>
                <a:gd name="T17" fmla="*/ 112 w 112"/>
                <a:gd name="T18" fmla="*/ 36 h 36"/>
              </a:gdLst>
              <a:ahLst/>
              <a:cxnLst>
                <a:cxn ang="T10">
                  <a:pos x="T0" y="T1"/>
                </a:cxn>
                <a:cxn ang="T11">
                  <a:pos x="T2" y="T3"/>
                </a:cxn>
                <a:cxn ang="T12">
                  <a:pos x="T4" y="T5"/>
                </a:cxn>
                <a:cxn ang="T13">
                  <a:pos x="T6" y="T7"/>
                </a:cxn>
                <a:cxn ang="T14">
                  <a:pos x="T8" y="T9"/>
                </a:cxn>
              </a:cxnLst>
              <a:rect l="T15" t="T16" r="T17" b="T18"/>
              <a:pathLst>
                <a:path w="112" h="36">
                  <a:moveTo>
                    <a:pt x="0" y="28"/>
                  </a:moveTo>
                  <a:lnTo>
                    <a:pt x="68" y="36"/>
                  </a:lnTo>
                  <a:lnTo>
                    <a:pt x="112" y="6"/>
                  </a:lnTo>
                  <a:lnTo>
                    <a:pt x="46" y="0"/>
                  </a:lnTo>
                  <a:lnTo>
                    <a:pt x="0" y="28"/>
                  </a:lnTo>
                  <a:close/>
                </a:path>
              </a:pathLst>
            </a:custGeom>
            <a:solidFill>
              <a:srgbClr val="00DFFF"/>
            </a:solidFill>
            <a:ln w="9525">
              <a:noFill/>
              <a:round/>
              <a:headEnd/>
              <a:tailEnd/>
            </a:ln>
          </p:spPr>
          <p:txBody>
            <a:bodyPr/>
            <a:lstStyle/>
            <a:p>
              <a:endParaRPr lang="en-US"/>
            </a:p>
          </p:txBody>
        </p:sp>
        <p:sp>
          <p:nvSpPr>
            <p:cNvPr id="6224" name="Freeform 80"/>
            <p:cNvSpPr>
              <a:spLocks/>
            </p:cNvSpPr>
            <p:nvPr/>
          </p:nvSpPr>
          <p:spPr bwMode="auto">
            <a:xfrm>
              <a:off x="4848" y="759"/>
              <a:ext cx="99" cy="245"/>
            </a:xfrm>
            <a:custGeom>
              <a:avLst/>
              <a:gdLst>
                <a:gd name="T0" fmla="*/ 0 w 99"/>
                <a:gd name="T1" fmla="*/ 0 h 245"/>
                <a:gd name="T2" fmla="*/ 99 w 99"/>
                <a:gd name="T3" fmla="*/ 13 h 245"/>
                <a:gd name="T4" fmla="*/ 99 w 99"/>
                <a:gd name="T5" fmla="*/ 245 h 245"/>
                <a:gd name="T6" fmla="*/ 0 w 99"/>
                <a:gd name="T7" fmla="*/ 221 h 245"/>
                <a:gd name="T8" fmla="*/ 0 w 99"/>
                <a:gd name="T9" fmla="*/ 0 h 245"/>
                <a:gd name="T10" fmla="*/ 0 60000 65536"/>
                <a:gd name="T11" fmla="*/ 0 60000 65536"/>
                <a:gd name="T12" fmla="*/ 0 60000 65536"/>
                <a:gd name="T13" fmla="*/ 0 60000 65536"/>
                <a:gd name="T14" fmla="*/ 0 60000 65536"/>
                <a:gd name="T15" fmla="*/ 0 w 99"/>
                <a:gd name="T16" fmla="*/ 0 h 245"/>
                <a:gd name="T17" fmla="*/ 99 w 99"/>
                <a:gd name="T18" fmla="*/ 245 h 245"/>
              </a:gdLst>
              <a:ahLst/>
              <a:cxnLst>
                <a:cxn ang="T10">
                  <a:pos x="T0" y="T1"/>
                </a:cxn>
                <a:cxn ang="T11">
                  <a:pos x="T2" y="T3"/>
                </a:cxn>
                <a:cxn ang="T12">
                  <a:pos x="T4" y="T5"/>
                </a:cxn>
                <a:cxn ang="T13">
                  <a:pos x="T6" y="T7"/>
                </a:cxn>
                <a:cxn ang="T14">
                  <a:pos x="T8" y="T9"/>
                </a:cxn>
              </a:cxnLst>
              <a:rect l="T15" t="T16" r="T17" b="T18"/>
              <a:pathLst>
                <a:path w="99" h="245">
                  <a:moveTo>
                    <a:pt x="0" y="0"/>
                  </a:moveTo>
                  <a:lnTo>
                    <a:pt x="99" y="13"/>
                  </a:lnTo>
                  <a:lnTo>
                    <a:pt x="99" y="245"/>
                  </a:lnTo>
                  <a:lnTo>
                    <a:pt x="0" y="221"/>
                  </a:lnTo>
                  <a:lnTo>
                    <a:pt x="0" y="0"/>
                  </a:lnTo>
                  <a:close/>
                </a:path>
              </a:pathLst>
            </a:custGeom>
            <a:solidFill>
              <a:srgbClr val="00BFDF"/>
            </a:solidFill>
            <a:ln w="9525">
              <a:noFill/>
              <a:round/>
              <a:headEnd/>
              <a:tailEnd/>
            </a:ln>
          </p:spPr>
          <p:txBody>
            <a:bodyPr/>
            <a:lstStyle/>
            <a:p>
              <a:endParaRPr lang="en-US"/>
            </a:p>
          </p:txBody>
        </p:sp>
        <p:sp>
          <p:nvSpPr>
            <p:cNvPr id="6225" name="Freeform 81"/>
            <p:cNvSpPr>
              <a:spLocks/>
            </p:cNvSpPr>
            <p:nvPr/>
          </p:nvSpPr>
          <p:spPr bwMode="auto">
            <a:xfrm>
              <a:off x="4947" y="721"/>
              <a:ext cx="63" cy="283"/>
            </a:xfrm>
            <a:custGeom>
              <a:avLst/>
              <a:gdLst>
                <a:gd name="T0" fmla="*/ 0 w 63"/>
                <a:gd name="T1" fmla="*/ 51 h 283"/>
                <a:gd name="T2" fmla="*/ 63 w 63"/>
                <a:gd name="T3" fmla="*/ 0 h 283"/>
                <a:gd name="T4" fmla="*/ 63 w 63"/>
                <a:gd name="T5" fmla="*/ 217 h 283"/>
                <a:gd name="T6" fmla="*/ 0 w 63"/>
                <a:gd name="T7" fmla="*/ 283 h 283"/>
                <a:gd name="T8" fmla="*/ 0 w 63"/>
                <a:gd name="T9" fmla="*/ 51 h 283"/>
                <a:gd name="T10" fmla="*/ 0 60000 65536"/>
                <a:gd name="T11" fmla="*/ 0 60000 65536"/>
                <a:gd name="T12" fmla="*/ 0 60000 65536"/>
                <a:gd name="T13" fmla="*/ 0 60000 65536"/>
                <a:gd name="T14" fmla="*/ 0 60000 65536"/>
                <a:gd name="T15" fmla="*/ 0 w 63"/>
                <a:gd name="T16" fmla="*/ 0 h 283"/>
                <a:gd name="T17" fmla="*/ 63 w 63"/>
                <a:gd name="T18" fmla="*/ 283 h 283"/>
              </a:gdLst>
              <a:ahLst/>
              <a:cxnLst>
                <a:cxn ang="T10">
                  <a:pos x="T0" y="T1"/>
                </a:cxn>
                <a:cxn ang="T11">
                  <a:pos x="T2" y="T3"/>
                </a:cxn>
                <a:cxn ang="T12">
                  <a:pos x="T4" y="T5"/>
                </a:cxn>
                <a:cxn ang="T13">
                  <a:pos x="T6" y="T7"/>
                </a:cxn>
                <a:cxn ang="T14">
                  <a:pos x="T8" y="T9"/>
                </a:cxn>
              </a:cxnLst>
              <a:rect l="T15" t="T16" r="T17" b="T18"/>
              <a:pathLst>
                <a:path w="63" h="283">
                  <a:moveTo>
                    <a:pt x="0" y="51"/>
                  </a:moveTo>
                  <a:lnTo>
                    <a:pt x="63" y="0"/>
                  </a:lnTo>
                  <a:lnTo>
                    <a:pt x="63" y="217"/>
                  </a:lnTo>
                  <a:lnTo>
                    <a:pt x="0" y="283"/>
                  </a:lnTo>
                  <a:lnTo>
                    <a:pt x="0" y="51"/>
                  </a:lnTo>
                  <a:close/>
                </a:path>
              </a:pathLst>
            </a:custGeom>
            <a:solidFill>
              <a:srgbClr val="009FBF"/>
            </a:solidFill>
            <a:ln w="9525">
              <a:noFill/>
              <a:round/>
              <a:headEnd/>
              <a:tailEnd/>
            </a:ln>
          </p:spPr>
          <p:txBody>
            <a:bodyPr/>
            <a:lstStyle/>
            <a:p>
              <a:endParaRPr lang="en-US"/>
            </a:p>
          </p:txBody>
        </p:sp>
        <p:sp>
          <p:nvSpPr>
            <p:cNvPr id="6226" name="Freeform 82"/>
            <p:cNvSpPr>
              <a:spLocks/>
            </p:cNvSpPr>
            <p:nvPr/>
          </p:nvSpPr>
          <p:spPr bwMode="auto">
            <a:xfrm>
              <a:off x="4946" y="938"/>
              <a:ext cx="128" cy="203"/>
            </a:xfrm>
            <a:custGeom>
              <a:avLst/>
              <a:gdLst>
                <a:gd name="T0" fmla="*/ 64 w 128"/>
                <a:gd name="T1" fmla="*/ 0 h 203"/>
                <a:gd name="T2" fmla="*/ 0 w 128"/>
                <a:gd name="T3" fmla="*/ 66 h 203"/>
                <a:gd name="T4" fmla="*/ 24 w 128"/>
                <a:gd name="T5" fmla="*/ 203 h 203"/>
                <a:gd name="T6" fmla="*/ 128 w 128"/>
                <a:gd name="T7" fmla="*/ 75 h 203"/>
                <a:gd name="T8" fmla="*/ 64 w 128"/>
                <a:gd name="T9" fmla="*/ 0 h 203"/>
                <a:gd name="T10" fmla="*/ 0 60000 65536"/>
                <a:gd name="T11" fmla="*/ 0 60000 65536"/>
                <a:gd name="T12" fmla="*/ 0 60000 65536"/>
                <a:gd name="T13" fmla="*/ 0 60000 65536"/>
                <a:gd name="T14" fmla="*/ 0 60000 65536"/>
                <a:gd name="T15" fmla="*/ 0 w 128"/>
                <a:gd name="T16" fmla="*/ 0 h 203"/>
                <a:gd name="T17" fmla="*/ 128 w 128"/>
                <a:gd name="T18" fmla="*/ 203 h 203"/>
              </a:gdLst>
              <a:ahLst/>
              <a:cxnLst>
                <a:cxn ang="T10">
                  <a:pos x="T0" y="T1"/>
                </a:cxn>
                <a:cxn ang="T11">
                  <a:pos x="T2" y="T3"/>
                </a:cxn>
                <a:cxn ang="T12">
                  <a:pos x="T4" y="T5"/>
                </a:cxn>
                <a:cxn ang="T13">
                  <a:pos x="T6" y="T7"/>
                </a:cxn>
                <a:cxn ang="T14">
                  <a:pos x="T8" y="T9"/>
                </a:cxn>
              </a:cxnLst>
              <a:rect l="T15" t="T16" r="T17" b="T18"/>
              <a:pathLst>
                <a:path w="128" h="203">
                  <a:moveTo>
                    <a:pt x="64" y="0"/>
                  </a:moveTo>
                  <a:lnTo>
                    <a:pt x="0" y="66"/>
                  </a:lnTo>
                  <a:lnTo>
                    <a:pt x="24" y="203"/>
                  </a:lnTo>
                  <a:lnTo>
                    <a:pt x="128" y="75"/>
                  </a:lnTo>
                  <a:lnTo>
                    <a:pt x="64" y="0"/>
                  </a:lnTo>
                  <a:close/>
                </a:path>
              </a:pathLst>
            </a:custGeom>
            <a:solidFill>
              <a:srgbClr val="008080"/>
            </a:solidFill>
            <a:ln w="9525">
              <a:noFill/>
              <a:round/>
              <a:headEnd/>
              <a:tailEnd/>
            </a:ln>
          </p:spPr>
          <p:txBody>
            <a:bodyPr/>
            <a:lstStyle/>
            <a:p>
              <a:endParaRPr lang="en-US"/>
            </a:p>
          </p:txBody>
        </p:sp>
        <p:sp>
          <p:nvSpPr>
            <p:cNvPr id="6227" name="Freeform 83"/>
            <p:cNvSpPr>
              <a:spLocks/>
            </p:cNvSpPr>
            <p:nvPr/>
          </p:nvSpPr>
          <p:spPr bwMode="auto">
            <a:xfrm>
              <a:off x="4795" y="980"/>
              <a:ext cx="175" cy="161"/>
            </a:xfrm>
            <a:custGeom>
              <a:avLst/>
              <a:gdLst>
                <a:gd name="T0" fmla="*/ 52 w 175"/>
                <a:gd name="T1" fmla="*/ 0 h 161"/>
                <a:gd name="T2" fmla="*/ 151 w 175"/>
                <a:gd name="T3" fmla="*/ 24 h 161"/>
                <a:gd name="T4" fmla="*/ 175 w 175"/>
                <a:gd name="T5" fmla="*/ 161 h 161"/>
                <a:gd name="T6" fmla="*/ 0 w 175"/>
                <a:gd name="T7" fmla="*/ 115 h 161"/>
                <a:gd name="T8" fmla="*/ 52 w 175"/>
                <a:gd name="T9" fmla="*/ 0 h 161"/>
                <a:gd name="T10" fmla="*/ 0 60000 65536"/>
                <a:gd name="T11" fmla="*/ 0 60000 65536"/>
                <a:gd name="T12" fmla="*/ 0 60000 65536"/>
                <a:gd name="T13" fmla="*/ 0 60000 65536"/>
                <a:gd name="T14" fmla="*/ 0 60000 65536"/>
                <a:gd name="T15" fmla="*/ 0 w 175"/>
                <a:gd name="T16" fmla="*/ 0 h 161"/>
                <a:gd name="T17" fmla="*/ 175 w 175"/>
                <a:gd name="T18" fmla="*/ 161 h 161"/>
              </a:gdLst>
              <a:ahLst/>
              <a:cxnLst>
                <a:cxn ang="T10">
                  <a:pos x="T0" y="T1"/>
                </a:cxn>
                <a:cxn ang="T11">
                  <a:pos x="T2" y="T3"/>
                </a:cxn>
                <a:cxn ang="T12">
                  <a:pos x="T4" y="T5"/>
                </a:cxn>
                <a:cxn ang="T13">
                  <a:pos x="T6" y="T7"/>
                </a:cxn>
                <a:cxn ang="T14">
                  <a:pos x="T8" y="T9"/>
                </a:cxn>
              </a:cxnLst>
              <a:rect l="T15" t="T16" r="T17" b="T18"/>
              <a:pathLst>
                <a:path w="175" h="161">
                  <a:moveTo>
                    <a:pt x="52" y="0"/>
                  </a:moveTo>
                  <a:lnTo>
                    <a:pt x="151" y="24"/>
                  </a:lnTo>
                  <a:lnTo>
                    <a:pt x="175" y="161"/>
                  </a:lnTo>
                  <a:lnTo>
                    <a:pt x="0" y="115"/>
                  </a:lnTo>
                  <a:lnTo>
                    <a:pt x="52" y="0"/>
                  </a:lnTo>
                  <a:close/>
                </a:path>
              </a:pathLst>
            </a:custGeom>
            <a:solidFill>
              <a:srgbClr val="009FBF"/>
            </a:solidFill>
            <a:ln w="9525">
              <a:noFill/>
              <a:round/>
              <a:headEnd/>
              <a:tailEnd/>
            </a:ln>
          </p:spPr>
          <p:txBody>
            <a:bodyPr/>
            <a:lstStyle/>
            <a:p>
              <a:endParaRPr lang="en-US"/>
            </a:p>
          </p:txBody>
        </p:sp>
        <p:sp>
          <p:nvSpPr>
            <p:cNvPr id="6228" name="Freeform 84"/>
            <p:cNvSpPr>
              <a:spLocks/>
            </p:cNvSpPr>
            <p:nvPr/>
          </p:nvSpPr>
          <p:spPr bwMode="auto">
            <a:xfrm>
              <a:off x="4969" y="1013"/>
              <a:ext cx="104" cy="386"/>
            </a:xfrm>
            <a:custGeom>
              <a:avLst/>
              <a:gdLst>
                <a:gd name="T0" fmla="*/ 1 w 104"/>
                <a:gd name="T1" fmla="*/ 128 h 386"/>
                <a:gd name="T2" fmla="*/ 104 w 104"/>
                <a:gd name="T3" fmla="*/ 0 h 386"/>
                <a:gd name="T4" fmla="*/ 104 w 104"/>
                <a:gd name="T5" fmla="*/ 209 h 386"/>
                <a:gd name="T6" fmla="*/ 0 w 104"/>
                <a:gd name="T7" fmla="*/ 386 h 386"/>
                <a:gd name="T8" fmla="*/ 1 w 104"/>
                <a:gd name="T9" fmla="*/ 128 h 386"/>
                <a:gd name="T10" fmla="*/ 0 60000 65536"/>
                <a:gd name="T11" fmla="*/ 0 60000 65536"/>
                <a:gd name="T12" fmla="*/ 0 60000 65536"/>
                <a:gd name="T13" fmla="*/ 0 60000 65536"/>
                <a:gd name="T14" fmla="*/ 0 60000 65536"/>
                <a:gd name="T15" fmla="*/ 0 w 104"/>
                <a:gd name="T16" fmla="*/ 0 h 386"/>
                <a:gd name="T17" fmla="*/ 104 w 104"/>
                <a:gd name="T18" fmla="*/ 386 h 386"/>
              </a:gdLst>
              <a:ahLst/>
              <a:cxnLst>
                <a:cxn ang="T10">
                  <a:pos x="T0" y="T1"/>
                </a:cxn>
                <a:cxn ang="T11">
                  <a:pos x="T2" y="T3"/>
                </a:cxn>
                <a:cxn ang="T12">
                  <a:pos x="T4" y="T5"/>
                </a:cxn>
                <a:cxn ang="T13">
                  <a:pos x="T6" y="T7"/>
                </a:cxn>
                <a:cxn ang="T14">
                  <a:pos x="T8" y="T9"/>
                </a:cxn>
              </a:cxnLst>
              <a:rect l="T15" t="T16" r="T17" b="T18"/>
              <a:pathLst>
                <a:path w="104" h="386">
                  <a:moveTo>
                    <a:pt x="1" y="128"/>
                  </a:moveTo>
                  <a:lnTo>
                    <a:pt x="104" y="0"/>
                  </a:lnTo>
                  <a:lnTo>
                    <a:pt x="104" y="209"/>
                  </a:lnTo>
                  <a:lnTo>
                    <a:pt x="0" y="386"/>
                  </a:lnTo>
                  <a:lnTo>
                    <a:pt x="1" y="128"/>
                  </a:lnTo>
                  <a:close/>
                </a:path>
              </a:pathLst>
            </a:custGeom>
            <a:solidFill>
              <a:srgbClr val="009FBF"/>
            </a:solidFill>
            <a:ln w="9525">
              <a:noFill/>
              <a:round/>
              <a:headEnd/>
              <a:tailEnd/>
            </a:ln>
          </p:spPr>
          <p:txBody>
            <a:bodyPr/>
            <a:lstStyle/>
            <a:p>
              <a:endParaRPr lang="en-US"/>
            </a:p>
          </p:txBody>
        </p:sp>
        <p:sp>
          <p:nvSpPr>
            <p:cNvPr id="6229" name="Freeform 85"/>
            <p:cNvSpPr>
              <a:spLocks/>
            </p:cNvSpPr>
            <p:nvPr/>
          </p:nvSpPr>
          <p:spPr bwMode="auto">
            <a:xfrm>
              <a:off x="4795" y="1095"/>
              <a:ext cx="175" cy="302"/>
            </a:xfrm>
            <a:custGeom>
              <a:avLst/>
              <a:gdLst>
                <a:gd name="T0" fmla="*/ 0 w 175"/>
                <a:gd name="T1" fmla="*/ 0 h 302"/>
                <a:gd name="T2" fmla="*/ 175 w 175"/>
                <a:gd name="T3" fmla="*/ 44 h 302"/>
                <a:gd name="T4" fmla="*/ 175 w 175"/>
                <a:gd name="T5" fmla="*/ 302 h 302"/>
                <a:gd name="T6" fmla="*/ 0 w 175"/>
                <a:gd name="T7" fmla="*/ 245 h 302"/>
                <a:gd name="T8" fmla="*/ 0 w 175"/>
                <a:gd name="T9" fmla="*/ 0 h 302"/>
                <a:gd name="T10" fmla="*/ 0 60000 65536"/>
                <a:gd name="T11" fmla="*/ 0 60000 65536"/>
                <a:gd name="T12" fmla="*/ 0 60000 65536"/>
                <a:gd name="T13" fmla="*/ 0 60000 65536"/>
                <a:gd name="T14" fmla="*/ 0 60000 65536"/>
                <a:gd name="T15" fmla="*/ 0 w 175"/>
                <a:gd name="T16" fmla="*/ 0 h 302"/>
                <a:gd name="T17" fmla="*/ 175 w 175"/>
                <a:gd name="T18" fmla="*/ 302 h 302"/>
              </a:gdLst>
              <a:ahLst/>
              <a:cxnLst>
                <a:cxn ang="T10">
                  <a:pos x="T0" y="T1"/>
                </a:cxn>
                <a:cxn ang="T11">
                  <a:pos x="T2" y="T3"/>
                </a:cxn>
                <a:cxn ang="T12">
                  <a:pos x="T4" y="T5"/>
                </a:cxn>
                <a:cxn ang="T13">
                  <a:pos x="T6" y="T7"/>
                </a:cxn>
                <a:cxn ang="T14">
                  <a:pos x="T8" y="T9"/>
                </a:cxn>
              </a:cxnLst>
              <a:rect l="T15" t="T16" r="T17" b="T18"/>
              <a:pathLst>
                <a:path w="175" h="302">
                  <a:moveTo>
                    <a:pt x="0" y="0"/>
                  </a:moveTo>
                  <a:lnTo>
                    <a:pt x="175" y="44"/>
                  </a:lnTo>
                  <a:lnTo>
                    <a:pt x="175" y="302"/>
                  </a:lnTo>
                  <a:lnTo>
                    <a:pt x="0" y="245"/>
                  </a:lnTo>
                  <a:lnTo>
                    <a:pt x="0" y="0"/>
                  </a:lnTo>
                  <a:close/>
                </a:path>
              </a:pathLst>
            </a:custGeom>
            <a:solidFill>
              <a:srgbClr val="00BFDF"/>
            </a:solidFill>
            <a:ln w="9525">
              <a:noFill/>
              <a:round/>
              <a:headEnd/>
              <a:tailEnd/>
            </a:ln>
          </p:spPr>
          <p:txBody>
            <a:bodyPr/>
            <a:lstStyle/>
            <a:p>
              <a:endParaRPr lang="en-US"/>
            </a:p>
          </p:txBody>
        </p:sp>
        <p:sp>
          <p:nvSpPr>
            <p:cNvPr id="6230" name="Freeform 86"/>
            <p:cNvSpPr>
              <a:spLocks/>
            </p:cNvSpPr>
            <p:nvPr/>
          </p:nvSpPr>
          <p:spPr bwMode="auto">
            <a:xfrm>
              <a:off x="4858" y="771"/>
              <a:ext cx="17" cy="42"/>
            </a:xfrm>
            <a:custGeom>
              <a:avLst/>
              <a:gdLst>
                <a:gd name="T0" fmla="*/ 0 w 17"/>
                <a:gd name="T1" fmla="*/ 0 h 42"/>
                <a:gd name="T2" fmla="*/ 17 w 17"/>
                <a:gd name="T3" fmla="*/ 1 h 42"/>
                <a:gd name="T4" fmla="*/ 17 w 17"/>
                <a:gd name="T5" fmla="*/ 42 h 42"/>
                <a:gd name="T6" fmla="*/ 0 w 17"/>
                <a:gd name="T7" fmla="*/ 40 h 42"/>
                <a:gd name="T8" fmla="*/ 0 w 17"/>
                <a:gd name="T9" fmla="*/ 0 h 42"/>
                <a:gd name="T10" fmla="*/ 0 60000 65536"/>
                <a:gd name="T11" fmla="*/ 0 60000 65536"/>
                <a:gd name="T12" fmla="*/ 0 60000 65536"/>
                <a:gd name="T13" fmla="*/ 0 60000 65536"/>
                <a:gd name="T14" fmla="*/ 0 60000 65536"/>
                <a:gd name="T15" fmla="*/ 0 w 17"/>
                <a:gd name="T16" fmla="*/ 0 h 42"/>
                <a:gd name="T17" fmla="*/ 17 w 17"/>
                <a:gd name="T18" fmla="*/ 42 h 42"/>
              </a:gdLst>
              <a:ahLst/>
              <a:cxnLst>
                <a:cxn ang="T10">
                  <a:pos x="T0" y="T1"/>
                </a:cxn>
                <a:cxn ang="T11">
                  <a:pos x="T2" y="T3"/>
                </a:cxn>
                <a:cxn ang="T12">
                  <a:pos x="T4" y="T5"/>
                </a:cxn>
                <a:cxn ang="T13">
                  <a:pos x="T6" y="T7"/>
                </a:cxn>
                <a:cxn ang="T14">
                  <a:pos x="T8" y="T9"/>
                </a:cxn>
              </a:cxnLst>
              <a:rect l="T15" t="T16" r="T17" b="T18"/>
              <a:pathLst>
                <a:path w="17" h="42">
                  <a:moveTo>
                    <a:pt x="0" y="0"/>
                  </a:moveTo>
                  <a:lnTo>
                    <a:pt x="17" y="1"/>
                  </a:lnTo>
                  <a:lnTo>
                    <a:pt x="17" y="42"/>
                  </a:lnTo>
                  <a:lnTo>
                    <a:pt x="0" y="40"/>
                  </a:lnTo>
                  <a:lnTo>
                    <a:pt x="0" y="0"/>
                  </a:lnTo>
                  <a:close/>
                </a:path>
              </a:pathLst>
            </a:custGeom>
            <a:solidFill>
              <a:srgbClr val="000000"/>
            </a:solidFill>
            <a:ln w="9525">
              <a:noFill/>
              <a:round/>
              <a:headEnd/>
              <a:tailEnd/>
            </a:ln>
          </p:spPr>
          <p:txBody>
            <a:bodyPr/>
            <a:lstStyle/>
            <a:p>
              <a:endParaRPr lang="en-US"/>
            </a:p>
          </p:txBody>
        </p:sp>
        <p:sp>
          <p:nvSpPr>
            <p:cNvPr id="6231" name="Freeform 87"/>
            <p:cNvSpPr>
              <a:spLocks/>
            </p:cNvSpPr>
            <p:nvPr/>
          </p:nvSpPr>
          <p:spPr bwMode="auto">
            <a:xfrm>
              <a:off x="4887" y="773"/>
              <a:ext cx="16" cy="46"/>
            </a:xfrm>
            <a:custGeom>
              <a:avLst/>
              <a:gdLst>
                <a:gd name="T0" fmla="*/ 0 w 16"/>
                <a:gd name="T1" fmla="*/ 0 h 46"/>
                <a:gd name="T2" fmla="*/ 16 w 16"/>
                <a:gd name="T3" fmla="*/ 3 h 46"/>
                <a:gd name="T4" fmla="*/ 16 w 16"/>
                <a:gd name="T5" fmla="*/ 46 h 46"/>
                <a:gd name="T6" fmla="*/ 0 w 16"/>
                <a:gd name="T7" fmla="*/ 43 h 46"/>
                <a:gd name="T8" fmla="*/ 0 w 16"/>
                <a:gd name="T9" fmla="*/ 0 h 46"/>
                <a:gd name="T10" fmla="*/ 0 60000 65536"/>
                <a:gd name="T11" fmla="*/ 0 60000 65536"/>
                <a:gd name="T12" fmla="*/ 0 60000 65536"/>
                <a:gd name="T13" fmla="*/ 0 60000 65536"/>
                <a:gd name="T14" fmla="*/ 0 60000 65536"/>
                <a:gd name="T15" fmla="*/ 0 w 16"/>
                <a:gd name="T16" fmla="*/ 0 h 46"/>
                <a:gd name="T17" fmla="*/ 16 w 16"/>
                <a:gd name="T18" fmla="*/ 46 h 46"/>
              </a:gdLst>
              <a:ahLst/>
              <a:cxnLst>
                <a:cxn ang="T10">
                  <a:pos x="T0" y="T1"/>
                </a:cxn>
                <a:cxn ang="T11">
                  <a:pos x="T2" y="T3"/>
                </a:cxn>
                <a:cxn ang="T12">
                  <a:pos x="T4" y="T5"/>
                </a:cxn>
                <a:cxn ang="T13">
                  <a:pos x="T6" y="T7"/>
                </a:cxn>
                <a:cxn ang="T14">
                  <a:pos x="T8" y="T9"/>
                </a:cxn>
              </a:cxnLst>
              <a:rect l="T15" t="T16" r="T17" b="T18"/>
              <a:pathLst>
                <a:path w="16" h="46">
                  <a:moveTo>
                    <a:pt x="0" y="0"/>
                  </a:moveTo>
                  <a:lnTo>
                    <a:pt x="16" y="3"/>
                  </a:lnTo>
                  <a:lnTo>
                    <a:pt x="16" y="46"/>
                  </a:lnTo>
                  <a:lnTo>
                    <a:pt x="0" y="43"/>
                  </a:lnTo>
                  <a:lnTo>
                    <a:pt x="0" y="0"/>
                  </a:lnTo>
                  <a:close/>
                </a:path>
              </a:pathLst>
            </a:custGeom>
            <a:solidFill>
              <a:srgbClr val="000000"/>
            </a:solidFill>
            <a:ln w="9525">
              <a:noFill/>
              <a:round/>
              <a:headEnd/>
              <a:tailEnd/>
            </a:ln>
          </p:spPr>
          <p:txBody>
            <a:bodyPr/>
            <a:lstStyle/>
            <a:p>
              <a:endParaRPr lang="en-US"/>
            </a:p>
          </p:txBody>
        </p:sp>
        <p:sp>
          <p:nvSpPr>
            <p:cNvPr id="6232" name="Freeform 88"/>
            <p:cNvSpPr>
              <a:spLocks/>
            </p:cNvSpPr>
            <p:nvPr/>
          </p:nvSpPr>
          <p:spPr bwMode="auto">
            <a:xfrm>
              <a:off x="4917" y="779"/>
              <a:ext cx="16" cy="44"/>
            </a:xfrm>
            <a:custGeom>
              <a:avLst/>
              <a:gdLst>
                <a:gd name="T0" fmla="*/ 0 w 16"/>
                <a:gd name="T1" fmla="*/ 0 h 44"/>
                <a:gd name="T2" fmla="*/ 16 w 16"/>
                <a:gd name="T3" fmla="*/ 3 h 44"/>
                <a:gd name="T4" fmla="*/ 16 w 16"/>
                <a:gd name="T5" fmla="*/ 44 h 44"/>
                <a:gd name="T6" fmla="*/ 0 w 16"/>
                <a:gd name="T7" fmla="*/ 41 h 44"/>
                <a:gd name="T8" fmla="*/ 0 w 16"/>
                <a:gd name="T9" fmla="*/ 0 h 44"/>
                <a:gd name="T10" fmla="*/ 0 60000 65536"/>
                <a:gd name="T11" fmla="*/ 0 60000 65536"/>
                <a:gd name="T12" fmla="*/ 0 60000 65536"/>
                <a:gd name="T13" fmla="*/ 0 60000 65536"/>
                <a:gd name="T14" fmla="*/ 0 60000 65536"/>
                <a:gd name="T15" fmla="*/ 0 w 16"/>
                <a:gd name="T16" fmla="*/ 0 h 44"/>
                <a:gd name="T17" fmla="*/ 16 w 16"/>
                <a:gd name="T18" fmla="*/ 44 h 44"/>
              </a:gdLst>
              <a:ahLst/>
              <a:cxnLst>
                <a:cxn ang="T10">
                  <a:pos x="T0" y="T1"/>
                </a:cxn>
                <a:cxn ang="T11">
                  <a:pos x="T2" y="T3"/>
                </a:cxn>
                <a:cxn ang="T12">
                  <a:pos x="T4" y="T5"/>
                </a:cxn>
                <a:cxn ang="T13">
                  <a:pos x="T6" y="T7"/>
                </a:cxn>
                <a:cxn ang="T14">
                  <a:pos x="T8" y="T9"/>
                </a:cxn>
              </a:cxnLst>
              <a:rect l="T15" t="T16" r="T17" b="T18"/>
              <a:pathLst>
                <a:path w="16" h="44">
                  <a:moveTo>
                    <a:pt x="0" y="0"/>
                  </a:moveTo>
                  <a:lnTo>
                    <a:pt x="16" y="3"/>
                  </a:lnTo>
                  <a:lnTo>
                    <a:pt x="16" y="44"/>
                  </a:lnTo>
                  <a:lnTo>
                    <a:pt x="0" y="41"/>
                  </a:lnTo>
                  <a:lnTo>
                    <a:pt x="0" y="0"/>
                  </a:lnTo>
                  <a:close/>
                </a:path>
              </a:pathLst>
            </a:custGeom>
            <a:solidFill>
              <a:srgbClr val="000000"/>
            </a:solidFill>
            <a:ln w="9525">
              <a:noFill/>
              <a:round/>
              <a:headEnd/>
              <a:tailEnd/>
            </a:ln>
          </p:spPr>
          <p:txBody>
            <a:bodyPr/>
            <a:lstStyle/>
            <a:p>
              <a:endParaRPr lang="en-US"/>
            </a:p>
          </p:txBody>
        </p:sp>
        <p:sp>
          <p:nvSpPr>
            <p:cNvPr id="6233" name="Freeform 89"/>
            <p:cNvSpPr>
              <a:spLocks/>
            </p:cNvSpPr>
            <p:nvPr/>
          </p:nvSpPr>
          <p:spPr bwMode="auto">
            <a:xfrm>
              <a:off x="4858" y="820"/>
              <a:ext cx="17" cy="45"/>
            </a:xfrm>
            <a:custGeom>
              <a:avLst/>
              <a:gdLst>
                <a:gd name="T0" fmla="*/ 0 w 17"/>
                <a:gd name="T1" fmla="*/ 0 h 45"/>
                <a:gd name="T2" fmla="*/ 17 w 17"/>
                <a:gd name="T3" fmla="*/ 4 h 45"/>
                <a:gd name="T4" fmla="*/ 17 w 17"/>
                <a:gd name="T5" fmla="*/ 45 h 45"/>
                <a:gd name="T6" fmla="*/ 0 w 17"/>
                <a:gd name="T7" fmla="*/ 41 h 45"/>
                <a:gd name="T8" fmla="*/ 0 w 17"/>
                <a:gd name="T9" fmla="*/ 0 h 45"/>
                <a:gd name="T10" fmla="*/ 0 60000 65536"/>
                <a:gd name="T11" fmla="*/ 0 60000 65536"/>
                <a:gd name="T12" fmla="*/ 0 60000 65536"/>
                <a:gd name="T13" fmla="*/ 0 60000 65536"/>
                <a:gd name="T14" fmla="*/ 0 60000 65536"/>
                <a:gd name="T15" fmla="*/ 0 w 17"/>
                <a:gd name="T16" fmla="*/ 0 h 45"/>
                <a:gd name="T17" fmla="*/ 17 w 17"/>
                <a:gd name="T18" fmla="*/ 45 h 45"/>
              </a:gdLst>
              <a:ahLst/>
              <a:cxnLst>
                <a:cxn ang="T10">
                  <a:pos x="T0" y="T1"/>
                </a:cxn>
                <a:cxn ang="T11">
                  <a:pos x="T2" y="T3"/>
                </a:cxn>
                <a:cxn ang="T12">
                  <a:pos x="T4" y="T5"/>
                </a:cxn>
                <a:cxn ang="T13">
                  <a:pos x="T6" y="T7"/>
                </a:cxn>
                <a:cxn ang="T14">
                  <a:pos x="T8" y="T9"/>
                </a:cxn>
              </a:cxnLst>
              <a:rect l="T15" t="T16" r="T17" b="T18"/>
              <a:pathLst>
                <a:path w="17" h="45">
                  <a:moveTo>
                    <a:pt x="0" y="0"/>
                  </a:moveTo>
                  <a:lnTo>
                    <a:pt x="17" y="4"/>
                  </a:lnTo>
                  <a:lnTo>
                    <a:pt x="17" y="45"/>
                  </a:lnTo>
                  <a:lnTo>
                    <a:pt x="0" y="41"/>
                  </a:lnTo>
                  <a:lnTo>
                    <a:pt x="0" y="0"/>
                  </a:lnTo>
                  <a:close/>
                </a:path>
              </a:pathLst>
            </a:custGeom>
            <a:solidFill>
              <a:srgbClr val="000000"/>
            </a:solidFill>
            <a:ln w="9525">
              <a:noFill/>
              <a:round/>
              <a:headEnd/>
              <a:tailEnd/>
            </a:ln>
          </p:spPr>
          <p:txBody>
            <a:bodyPr/>
            <a:lstStyle/>
            <a:p>
              <a:endParaRPr lang="en-US"/>
            </a:p>
          </p:txBody>
        </p:sp>
        <p:sp>
          <p:nvSpPr>
            <p:cNvPr id="6234" name="Freeform 90"/>
            <p:cNvSpPr>
              <a:spLocks/>
            </p:cNvSpPr>
            <p:nvPr/>
          </p:nvSpPr>
          <p:spPr bwMode="auto">
            <a:xfrm>
              <a:off x="4887" y="827"/>
              <a:ext cx="16" cy="45"/>
            </a:xfrm>
            <a:custGeom>
              <a:avLst/>
              <a:gdLst>
                <a:gd name="T0" fmla="*/ 0 w 16"/>
                <a:gd name="T1" fmla="*/ 0 h 45"/>
                <a:gd name="T2" fmla="*/ 16 w 16"/>
                <a:gd name="T3" fmla="*/ 4 h 45"/>
                <a:gd name="T4" fmla="*/ 16 w 16"/>
                <a:gd name="T5" fmla="*/ 45 h 45"/>
                <a:gd name="T6" fmla="*/ 0 w 16"/>
                <a:gd name="T7" fmla="*/ 41 h 45"/>
                <a:gd name="T8" fmla="*/ 0 w 16"/>
                <a:gd name="T9" fmla="*/ 0 h 45"/>
                <a:gd name="T10" fmla="*/ 0 60000 65536"/>
                <a:gd name="T11" fmla="*/ 0 60000 65536"/>
                <a:gd name="T12" fmla="*/ 0 60000 65536"/>
                <a:gd name="T13" fmla="*/ 0 60000 65536"/>
                <a:gd name="T14" fmla="*/ 0 60000 65536"/>
                <a:gd name="T15" fmla="*/ 0 w 16"/>
                <a:gd name="T16" fmla="*/ 0 h 45"/>
                <a:gd name="T17" fmla="*/ 16 w 16"/>
                <a:gd name="T18" fmla="*/ 45 h 45"/>
              </a:gdLst>
              <a:ahLst/>
              <a:cxnLst>
                <a:cxn ang="T10">
                  <a:pos x="T0" y="T1"/>
                </a:cxn>
                <a:cxn ang="T11">
                  <a:pos x="T2" y="T3"/>
                </a:cxn>
                <a:cxn ang="T12">
                  <a:pos x="T4" y="T5"/>
                </a:cxn>
                <a:cxn ang="T13">
                  <a:pos x="T6" y="T7"/>
                </a:cxn>
                <a:cxn ang="T14">
                  <a:pos x="T8" y="T9"/>
                </a:cxn>
              </a:cxnLst>
              <a:rect l="T15" t="T16" r="T17" b="T18"/>
              <a:pathLst>
                <a:path w="16" h="45">
                  <a:moveTo>
                    <a:pt x="0" y="0"/>
                  </a:moveTo>
                  <a:lnTo>
                    <a:pt x="16" y="4"/>
                  </a:lnTo>
                  <a:lnTo>
                    <a:pt x="16" y="45"/>
                  </a:lnTo>
                  <a:lnTo>
                    <a:pt x="0" y="41"/>
                  </a:lnTo>
                  <a:lnTo>
                    <a:pt x="0" y="0"/>
                  </a:lnTo>
                  <a:close/>
                </a:path>
              </a:pathLst>
            </a:custGeom>
            <a:solidFill>
              <a:srgbClr val="000000"/>
            </a:solidFill>
            <a:ln w="9525">
              <a:noFill/>
              <a:round/>
              <a:headEnd/>
              <a:tailEnd/>
            </a:ln>
          </p:spPr>
          <p:txBody>
            <a:bodyPr/>
            <a:lstStyle/>
            <a:p>
              <a:endParaRPr lang="en-US"/>
            </a:p>
          </p:txBody>
        </p:sp>
        <p:sp>
          <p:nvSpPr>
            <p:cNvPr id="6235" name="Freeform 91"/>
            <p:cNvSpPr>
              <a:spLocks/>
            </p:cNvSpPr>
            <p:nvPr/>
          </p:nvSpPr>
          <p:spPr bwMode="auto">
            <a:xfrm>
              <a:off x="4917" y="833"/>
              <a:ext cx="16" cy="45"/>
            </a:xfrm>
            <a:custGeom>
              <a:avLst/>
              <a:gdLst>
                <a:gd name="T0" fmla="*/ 0 w 16"/>
                <a:gd name="T1" fmla="*/ 0 h 45"/>
                <a:gd name="T2" fmla="*/ 16 w 16"/>
                <a:gd name="T3" fmla="*/ 4 h 45"/>
                <a:gd name="T4" fmla="*/ 16 w 16"/>
                <a:gd name="T5" fmla="*/ 45 h 45"/>
                <a:gd name="T6" fmla="*/ 0 w 16"/>
                <a:gd name="T7" fmla="*/ 40 h 45"/>
                <a:gd name="T8" fmla="*/ 0 w 16"/>
                <a:gd name="T9" fmla="*/ 0 h 45"/>
                <a:gd name="T10" fmla="*/ 0 60000 65536"/>
                <a:gd name="T11" fmla="*/ 0 60000 65536"/>
                <a:gd name="T12" fmla="*/ 0 60000 65536"/>
                <a:gd name="T13" fmla="*/ 0 60000 65536"/>
                <a:gd name="T14" fmla="*/ 0 60000 65536"/>
                <a:gd name="T15" fmla="*/ 0 w 16"/>
                <a:gd name="T16" fmla="*/ 0 h 45"/>
                <a:gd name="T17" fmla="*/ 16 w 16"/>
                <a:gd name="T18" fmla="*/ 45 h 45"/>
              </a:gdLst>
              <a:ahLst/>
              <a:cxnLst>
                <a:cxn ang="T10">
                  <a:pos x="T0" y="T1"/>
                </a:cxn>
                <a:cxn ang="T11">
                  <a:pos x="T2" y="T3"/>
                </a:cxn>
                <a:cxn ang="T12">
                  <a:pos x="T4" y="T5"/>
                </a:cxn>
                <a:cxn ang="T13">
                  <a:pos x="T6" y="T7"/>
                </a:cxn>
                <a:cxn ang="T14">
                  <a:pos x="T8" y="T9"/>
                </a:cxn>
              </a:cxnLst>
              <a:rect l="T15" t="T16" r="T17" b="T18"/>
              <a:pathLst>
                <a:path w="16" h="45">
                  <a:moveTo>
                    <a:pt x="0" y="0"/>
                  </a:moveTo>
                  <a:lnTo>
                    <a:pt x="16" y="4"/>
                  </a:lnTo>
                  <a:lnTo>
                    <a:pt x="16" y="45"/>
                  </a:lnTo>
                  <a:lnTo>
                    <a:pt x="0" y="40"/>
                  </a:lnTo>
                  <a:lnTo>
                    <a:pt x="0" y="0"/>
                  </a:lnTo>
                  <a:close/>
                </a:path>
              </a:pathLst>
            </a:custGeom>
            <a:solidFill>
              <a:srgbClr val="000000"/>
            </a:solidFill>
            <a:ln w="9525">
              <a:noFill/>
              <a:round/>
              <a:headEnd/>
              <a:tailEnd/>
            </a:ln>
          </p:spPr>
          <p:txBody>
            <a:bodyPr/>
            <a:lstStyle/>
            <a:p>
              <a:endParaRPr lang="en-US"/>
            </a:p>
          </p:txBody>
        </p:sp>
        <p:sp>
          <p:nvSpPr>
            <p:cNvPr id="6236" name="Freeform 92"/>
            <p:cNvSpPr>
              <a:spLocks/>
            </p:cNvSpPr>
            <p:nvPr/>
          </p:nvSpPr>
          <p:spPr bwMode="auto">
            <a:xfrm>
              <a:off x="4858" y="872"/>
              <a:ext cx="17" cy="46"/>
            </a:xfrm>
            <a:custGeom>
              <a:avLst/>
              <a:gdLst>
                <a:gd name="T0" fmla="*/ 0 w 17"/>
                <a:gd name="T1" fmla="*/ 0 h 46"/>
                <a:gd name="T2" fmla="*/ 17 w 17"/>
                <a:gd name="T3" fmla="*/ 5 h 46"/>
                <a:gd name="T4" fmla="*/ 17 w 17"/>
                <a:gd name="T5" fmla="*/ 46 h 46"/>
                <a:gd name="T6" fmla="*/ 0 w 17"/>
                <a:gd name="T7" fmla="*/ 42 h 46"/>
                <a:gd name="T8" fmla="*/ 0 w 17"/>
                <a:gd name="T9" fmla="*/ 0 h 46"/>
                <a:gd name="T10" fmla="*/ 0 60000 65536"/>
                <a:gd name="T11" fmla="*/ 0 60000 65536"/>
                <a:gd name="T12" fmla="*/ 0 60000 65536"/>
                <a:gd name="T13" fmla="*/ 0 60000 65536"/>
                <a:gd name="T14" fmla="*/ 0 60000 65536"/>
                <a:gd name="T15" fmla="*/ 0 w 17"/>
                <a:gd name="T16" fmla="*/ 0 h 46"/>
                <a:gd name="T17" fmla="*/ 17 w 17"/>
                <a:gd name="T18" fmla="*/ 46 h 46"/>
              </a:gdLst>
              <a:ahLst/>
              <a:cxnLst>
                <a:cxn ang="T10">
                  <a:pos x="T0" y="T1"/>
                </a:cxn>
                <a:cxn ang="T11">
                  <a:pos x="T2" y="T3"/>
                </a:cxn>
                <a:cxn ang="T12">
                  <a:pos x="T4" y="T5"/>
                </a:cxn>
                <a:cxn ang="T13">
                  <a:pos x="T6" y="T7"/>
                </a:cxn>
                <a:cxn ang="T14">
                  <a:pos x="T8" y="T9"/>
                </a:cxn>
              </a:cxnLst>
              <a:rect l="T15" t="T16" r="T17" b="T18"/>
              <a:pathLst>
                <a:path w="17" h="46">
                  <a:moveTo>
                    <a:pt x="0" y="0"/>
                  </a:moveTo>
                  <a:lnTo>
                    <a:pt x="17" y="5"/>
                  </a:lnTo>
                  <a:lnTo>
                    <a:pt x="17" y="46"/>
                  </a:lnTo>
                  <a:lnTo>
                    <a:pt x="0" y="42"/>
                  </a:lnTo>
                  <a:lnTo>
                    <a:pt x="0" y="0"/>
                  </a:lnTo>
                  <a:close/>
                </a:path>
              </a:pathLst>
            </a:custGeom>
            <a:solidFill>
              <a:srgbClr val="000000"/>
            </a:solidFill>
            <a:ln w="9525">
              <a:noFill/>
              <a:round/>
              <a:headEnd/>
              <a:tailEnd/>
            </a:ln>
          </p:spPr>
          <p:txBody>
            <a:bodyPr/>
            <a:lstStyle/>
            <a:p>
              <a:endParaRPr lang="en-US"/>
            </a:p>
          </p:txBody>
        </p:sp>
        <p:sp>
          <p:nvSpPr>
            <p:cNvPr id="6237" name="Freeform 93"/>
            <p:cNvSpPr>
              <a:spLocks/>
            </p:cNvSpPr>
            <p:nvPr/>
          </p:nvSpPr>
          <p:spPr bwMode="auto">
            <a:xfrm>
              <a:off x="4887" y="879"/>
              <a:ext cx="16" cy="45"/>
            </a:xfrm>
            <a:custGeom>
              <a:avLst/>
              <a:gdLst>
                <a:gd name="T0" fmla="*/ 0 w 16"/>
                <a:gd name="T1" fmla="*/ 0 h 45"/>
                <a:gd name="T2" fmla="*/ 16 w 16"/>
                <a:gd name="T3" fmla="*/ 2 h 45"/>
                <a:gd name="T4" fmla="*/ 16 w 16"/>
                <a:gd name="T5" fmla="*/ 45 h 45"/>
                <a:gd name="T6" fmla="*/ 0 w 16"/>
                <a:gd name="T7" fmla="*/ 42 h 45"/>
                <a:gd name="T8" fmla="*/ 0 w 16"/>
                <a:gd name="T9" fmla="*/ 0 h 45"/>
                <a:gd name="T10" fmla="*/ 0 60000 65536"/>
                <a:gd name="T11" fmla="*/ 0 60000 65536"/>
                <a:gd name="T12" fmla="*/ 0 60000 65536"/>
                <a:gd name="T13" fmla="*/ 0 60000 65536"/>
                <a:gd name="T14" fmla="*/ 0 60000 65536"/>
                <a:gd name="T15" fmla="*/ 0 w 16"/>
                <a:gd name="T16" fmla="*/ 0 h 45"/>
                <a:gd name="T17" fmla="*/ 16 w 16"/>
                <a:gd name="T18" fmla="*/ 45 h 45"/>
              </a:gdLst>
              <a:ahLst/>
              <a:cxnLst>
                <a:cxn ang="T10">
                  <a:pos x="T0" y="T1"/>
                </a:cxn>
                <a:cxn ang="T11">
                  <a:pos x="T2" y="T3"/>
                </a:cxn>
                <a:cxn ang="T12">
                  <a:pos x="T4" y="T5"/>
                </a:cxn>
                <a:cxn ang="T13">
                  <a:pos x="T6" y="T7"/>
                </a:cxn>
                <a:cxn ang="T14">
                  <a:pos x="T8" y="T9"/>
                </a:cxn>
              </a:cxnLst>
              <a:rect l="T15" t="T16" r="T17" b="T18"/>
              <a:pathLst>
                <a:path w="16" h="45">
                  <a:moveTo>
                    <a:pt x="0" y="0"/>
                  </a:moveTo>
                  <a:lnTo>
                    <a:pt x="16" y="2"/>
                  </a:lnTo>
                  <a:lnTo>
                    <a:pt x="16" y="45"/>
                  </a:lnTo>
                  <a:lnTo>
                    <a:pt x="0" y="42"/>
                  </a:lnTo>
                  <a:lnTo>
                    <a:pt x="0" y="0"/>
                  </a:lnTo>
                  <a:close/>
                </a:path>
              </a:pathLst>
            </a:custGeom>
            <a:solidFill>
              <a:srgbClr val="000000"/>
            </a:solidFill>
            <a:ln w="9525">
              <a:noFill/>
              <a:round/>
              <a:headEnd/>
              <a:tailEnd/>
            </a:ln>
          </p:spPr>
          <p:txBody>
            <a:bodyPr/>
            <a:lstStyle/>
            <a:p>
              <a:endParaRPr lang="en-US"/>
            </a:p>
          </p:txBody>
        </p:sp>
        <p:sp>
          <p:nvSpPr>
            <p:cNvPr id="6238" name="Freeform 94"/>
            <p:cNvSpPr>
              <a:spLocks/>
            </p:cNvSpPr>
            <p:nvPr/>
          </p:nvSpPr>
          <p:spPr bwMode="auto">
            <a:xfrm>
              <a:off x="4917" y="885"/>
              <a:ext cx="16" cy="44"/>
            </a:xfrm>
            <a:custGeom>
              <a:avLst/>
              <a:gdLst>
                <a:gd name="T0" fmla="*/ 0 w 16"/>
                <a:gd name="T1" fmla="*/ 0 h 44"/>
                <a:gd name="T2" fmla="*/ 16 w 16"/>
                <a:gd name="T3" fmla="*/ 3 h 44"/>
                <a:gd name="T4" fmla="*/ 16 w 16"/>
                <a:gd name="T5" fmla="*/ 44 h 44"/>
                <a:gd name="T6" fmla="*/ 0 w 16"/>
                <a:gd name="T7" fmla="*/ 40 h 44"/>
                <a:gd name="T8" fmla="*/ 0 w 16"/>
                <a:gd name="T9" fmla="*/ 0 h 44"/>
                <a:gd name="T10" fmla="*/ 0 60000 65536"/>
                <a:gd name="T11" fmla="*/ 0 60000 65536"/>
                <a:gd name="T12" fmla="*/ 0 60000 65536"/>
                <a:gd name="T13" fmla="*/ 0 60000 65536"/>
                <a:gd name="T14" fmla="*/ 0 60000 65536"/>
                <a:gd name="T15" fmla="*/ 0 w 16"/>
                <a:gd name="T16" fmla="*/ 0 h 44"/>
                <a:gd name="T17" fmla="*/ 16 w 16"/>
                <a:gd name="T18" fmla="*/ 44 h 44"/>
              </a:gdLst>
              <a:ahLst/>
              <a:cxnLst>
                <a:cxn ang="T10">
                  <a:pos x="T0" y="T1"/>
                </a:cxn>
                <a:cxn ang="T11">
                  <a:pos x="T2" y="T3"/>
                </a:cxn>
                <a:cxn ang="T12">
                  <a:pos x="T4" y="T5"/>
                </a:cxn>
                <a:cxn ang="T13">
                  <a:pos x="T6" y="T7"/>
                </a:cxn>
                <a:cxn ang="T14">
                  <a:pos x="T8" y="T9"/>
                </a:cxn>
              </a:cxnLst>
              <a:rect l="T15" t="T16" r="T17" b="T18"/>
              <a:pathLst>
                <a:path w="16" h="44">
                  <a:moveTo>
                    <a:pt x="0" y="0"/>
                  </a:moveTo>
                  <a:lnTo>
                    <a:pt x="16" y="3"/>
                  </a:lnTo>
                  <a:lnTo>
                    <a:pt x="16" y="44"/>
                  </a:lnTo>
                  <a:lnTo>
                    <a:pt x="0" y="40"/>
                  </a:lnTo>
                  <a:lnTo>
                    <a:pt x="0" y="0"/>
                  </a:lnTo>
                  <a:close/>
                </a:path>
              </a:pathLst>
            </a:custGeom>
            <a:solidFill>
              <a:srgbClr val="000000"/>
            </a:solidFill>
            <a:ln w="9525">
              <a:noFill/>
              <a:round/>
              <a:headEnd/>
              <a:tailEnd/>
            </a:ln>
          </p:spPr>
          <p:txBody>
            <a:bodyPr/>
            <a:lstStyle/>
            <a:p>
              <a:endParaRPr lang="en-US"/>
            </a:p>
          </p:txBody>
        </p:sp>
        <p:sp>
          <p:nvSpPr>
            <p:cNvPr id="6239" name="Freeform 95"/>
            <p:cNvSpPr>
              <a:spLocks/>
            </p:cNvSpPr>
            <p:nvPr/>
          </p:nvSpPr>
          <p:spPr bwMode="auto">
            <a:xfrm>
              <a:off x="4060" y="588"/>
              <a:ext cx="416" cy="95"/>
            </a:xfrm>
            <a:custGeom>
              <a:avLst/>
              <a:gdLst>
                <a:gd name="T0" fmla="*/ 0 w 416"/>
                <a:gd name="T1" fmla="*/ 56 h 95"/>
                <a:gd name="T2" fmla="*/ 236 w 416"/>
                <a:gd name="T3" fmla="*/ 95 h 95"/>
                <a:gd name="T4" fmla="*/ 416 w 416"/>
                <a:gd name="T5" fmla="*/ 28 h 95"/>
                <a:gd name="T6" fmla="*/ 198 w 416"/>
                <a:gd name="T7" fmla="*/ 0 h 95"/>
                <a:gd name="T8" fmla="*/ 0 w 416"/>
                <a:gd name="T9" fmla="*/ 56 h 95"/>
                <a:gd name="T10" fmla="*/ 0 60000 65536"/>
                <a:gd name="T11" fmla="*/ 0 60000 65536"/>
                <a:gd name="T12" fmla="*/ 0 60000 65536"/>
                <a:gd name="T13" fmla="*/ 0 60000 65536"/>
                <a:gd name="T14" fmla="*/ 0 60000 65536"/>
                <a:gd name="T15" fmla="*/ 0 w 416"/>
                <a:gd name="T16" fmla="*/ 0 h 95"/>
                <a:gd name="T17" fmla="*/ 416 w 416"/>
                <a:gd name="T18" fmla="*/ 95 h 95"/>
              </a:gdLst>
              <a:ahLst/>
              <a:cxnLst>
                <a:cxn ang="T10">
                  <a:pos x="T0" y="T1"/>
                </a:cxn>
                <a:cxn ang="T11">
                  <a:pos x="T2" y="T3"/>
                </a:cxn>
                <a:cxn ang="T12">
                  <a:pos x="T4" y="T5"/>
                </a:cxn>
                <a:cxn ang="T13">
                  <a:pos x="T6" y="T7"/>
                </a:cxn>
                <a:cxn ang="T14">
                  <a:pos x="T8" y="T9"/>
                </a:cxn>
              </a:cxnLst>
              <a:rect l="T15" t="T16" r="T17" b="T18"/>
              <a:pathLst>
                <a:path w="416" h="95">
                  <a:moveTo>
                    <a:pt x="0" y="56"/>
                  </a:moveTo>
                  <a:lnTo>
                    <a:pt x="236" y="95"/>
                  </a:lnTo>
                  <a:lnTo>
                    <a:pt x="416" y="28"/>
                  </a:lnTo>
                  <a:lnTo>
                    <a:pt x="198" y="0"/>
                  </a:lnTo>
                  <a:lnTo>
                    <a:pt x="0" y="56"/>
                  </a:lnTo>
                  <a:close/>
                </a:path>
              </a:pathLst>
            </a:custGeom>
            <a:solidFill>
              <a:srgbClr val="DF3F5F"/>
            </a:solidFill>
            <a:ln w="9525">
              <a:noFill/>
              <a:round/>
              <a:headEnd/>
              <a:tailEnd/>
            </a:ln>
          </p:spPr>
          <p:txBody>
            <a:bodyPr/>
            <a:lstStyle/>
            <a:p>
              <a:endParaRPr lang="en-US"/>
            </a:p>
          </p:txBody>
        </p:sp>
        <p:sp>
          <p:nvSpPr>
            <p:cNvPr id="6240" name="Freeform 96"/>
            <p:cNvSpPr>
              <a:spLocks/>
            </p:cNvSpPr>
            <p:nvPr/>
          </p:nvSpPr>
          <p:spPr bwMode="auto">
            <a:xfrm>
              <a:off x="4060" y="643"/>
              <a:ext cx="236" cy="762"/>
            </a:xfrm>
            <a:custGeom>
              <a:avLst/>
              <a:gdLst>
                <a:gd name="T0" fmla="*/ 0 w 236"/>
                <a:gd name="T1" fmla="*/ 0 h 762"/>
                <a:gd name="T2" fmla="*/ 236 w 236"/>
                <a:gd name="T3" fmla="*/ 40 h 762"/>
                <a:gd name="T4" fmla="*/ 236 w 236"/>
                <a:gd name="T5" fmla="*/ 762 h 762"/>
                <a:gd name="T6" fmla="*/ 187 w 236"/>
                <a:gd name="T7" fmla="*/ 745 h 762"/>
                <a:gd name="T8" fmla="*/ 187 w 236"/>
                <a:gd name="T9" fmla="*/ 654 h 762"/>
                <a:gd name="T10" fmla="*/ 120 w 236"/>
                <a:gd name="T11" fmla="*/ 628 h 762"/>
                <a:gd name="T12" fmla="*/ 120 w 236"/>
                <a:gd name="T13" fmla="*/ 709 h 762"/>
                <a:gd name="T14" fmla="*/ 83 w 236"/>
                <a:gd name="T15" fmla="*/ 692 h 762"/>
                <a:gd name="T16" fmla="*/ 83 w 236"/>
                <a:gd name="T17" fmla="*/ 611 h 762"/>
                <a:gd name="T18" fmla="*/ 30 w 236"/>
                <a:gd name="T19" fmla="*/ 587 h 762"/>
                <a:gd name="T20" fmla="*/ 30 w 236"/>
                <a:gd name="T21" fmla="*/ 669 h 762"/>
                <a:gd name="T22" fmla="*/ 0 w 236"/>
                <a:gd name="T23" fmla="*/ 656 h 762"/>
                <a:gd name="T24" fmla="*/ 0 w 236"/>
                <a:gd name="T25" fmla="*/ 0 h 7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6"/>
                <a:gd name="T40" fmla="*/ 0 h 762"/>
                <a:gd name="T41" fmla="*/ 236 w 236"/>
                <a:gd name="T42" fmla="*/ 762 h 7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6" h="762">
                  <a:moveTo>
                    <a:pt x="0" y="0"/>
                  </a:moveTo>
                  <a:lnTo>
                    <a:pt x="236" y="40"/>
                  </a:lnTo>
                  <a:lnTo>
                    <a:pt x="236" y="762"/>
                  </a:lnTo>
                  <a:lnTo>
                    <a:pt x="187" y="745"/>
                  </a:lnTo>
                  <a:lnTo>
                    <a:pt x="187" y="654"/>
                  </a:lnTo>
                  <a:lnTo>
                    <a:pt x="120" y="628"/>
                  </a:lnTo>
                  <a:lnTo>
                    <a:pt x="120" y="709"/>
                  </a:lnTo>
                  <a:lnTo>
                    <a:pt x="83" y="692"/>
                  </a:lnTo>
                  <a:lnTo>
                    <a:pt x="83" y="611"/>
                  </a:lnTo>
                  <a:lnTo>
                    <a:pt x="30" y="587"/>
                  </a:lnTo>
                  <a:lnTo>
                    <a:pt x="30" y="669"/>
                  </a:lnTo>
                  <a:lnTo>
                    <a:pt x="0" y="656"/>
                  </a:lnTo>
                  <a:lnTo>
                    <a:pt x="0" y="0"/>
                  </a:lnTo>
                  <a:close/>
                </a:path>
              </a:pathLst>
            </a:custGeom>
            <a:solidFill>
              <a:srgbClr val="FF5F7F"/>
            </a:solidFill>
            <a:ln w="9525">
              <a:noFill/>
              <a:round/>
              <a:headEnd/>
              <a:tailEnd/>
            </a:ln>
          </p:spPr>
          <p:txBody>
            <a:bodyPr/>
            <a:lstStyle/>
            <a:p>
              <a:endParaRPr lang="en-US"/>
            </a:p>
          </p:txBody>
        </p:sp>
        <p:sp>
          <p:nvSpPr>
            <p:cNvPr id="6241" name="Freeform 97"/>
            <p:cNvSpPr>
              <a:spLocks/>
            </p:cNvSpPr>
            <p:nvPr/>
          </p:nvSpPr>
          <p:spPr bwMode="auto">
            <a:xfrm>
              <a:off x="4296" y="615"/>
              <a:ext cx="180" cy="791"/>
            </a:xfrm>
            <a:custGeom>
              <a:avLst/>
              <a:gdLst>
                <a:gd name="T0" fmla="*/ 0 w 180"/>
                <a:gd name="T1" fmla="*/ 67 h 791"/>
                <a:gd name="T2" fmla="*/ 177 w 180"/>
                <a:gd name="T3" fmla="*/ 0 h 791"/>
                <a:gd name="T4" fmla="*/ 180 w 180"/>
                <a:gd name="T5" fmla="*/ 611 h 791"/>
                <a:gd name="T6" fmla="*/ 0 w 180"/>
                <a:gd name="T7" fmla="*/ 791 h 791"/>
                <a:gd name="T8" fmla="*/ 0 w 180"/>
                <a:gd name="T9" fmla="*/ 67 h 791"/>
                <a:gd name="T10" fmla="*/ 0 60000 65536"/>
                <a:gd name="T11" fmla="*/ 0 60000 65536"/>
                <a:gd name="T12" fmla="*/ 0 60000 65536"/>
                <a:gd name="T13" fmla="*/ 0 60000 65536"/>
                <a:gd name="T14" fmla="*/ 0 60000 65536"/>
                <a:gd name="T15" fmla="*/ 0 w 180"/>
                <a:gd name="T16" fmla="*/ 0 h 791"/>
                <a:gd name="T17" fmla="*/ 180 w 180"/>
                <a:gd name="T18" fmla="*/ 791 h 791"/>
              </a:gdLst>
              <a:ahLst/>
              <a:cxnLst>
                <a:cxn ang="T10">
                  <a:pos x="T0" y="T1"/>
                </a:cxn>
                <a:cxn ang="T11">
                  <a:pos x="T2" y="T3"/>
                </a:cxn>
                <a:cxn ang="T12">
                  <a:pos x="T4" y="T5"/>
                </a:cxn>
                <a:cxn ang="T13">
                  <a:pos x="T6" y="T7"/>
                </a:cxn>
                <a:cxn ang="T14">
                  <a:pos x="T8" y="T9"/>
                </a:cxn>
              </a:cxnLst>
              <a:rect l="T15" t="T16" r="T17" b="T18"/>
              <a:pathLst>
                <a:path w="180" h="791">
                  <a:moveTo>
                    <a:pt x="0" y="67"/>
                  </a:moveTo>
                  <a:lnTo>
                    <a:pt x="177" y="0"/>
                  </a:lnTo>
                  <a:lnTo>
                    <a:pt x="180" y="611"/>
                  </a:lnTo>
                  <a:lnTo>
                    <a:pt x="0" y="791"/>
                  </a:lnTo>
                  <a:lnTo>
                    <a:pt x="0" y="67"/>
                  </a:lnTo>
                  <a:close/>
                </a:path>
              </a:pathLst>
            </a:custGeom>
            <a:solidFill>
              <a:srgbClr val="DF1F3F"/>
            </a:solidFill>
            <a:ln w="9525">
              <a:noFill/>
              <a:round/>
              <a:headEnd/>
              <a:tailEnd/>
            </a:ln>
          </p:spPr>
          <p:txBody>
            <a:bodyPr/>
            <a:lstStyle/>
            <a:p>
              <a:endParaRPr lang="en-US"/>
            </a:p>
          </p:txBody>
        </p:sp>
        <p:sp>
          <p:nvSpPr>
            <p:cNvPr id="6242" name="Freeform 98"/>
            <p:cNvSpPr>
              <a:spLocks/>
            </p:cNvSpPr>
            <p:nvPr/>
          </p:nvSpPr>
          <p:spPr bwMode="auto">
            <a:xfrm>
              <a:off x="4219" y="1284"/>
              <a:ext cx="31" cy="60"/>
            </a:xfrm>
            <a:custGeom>
              <a:avLst/>
              <a:gdLst>
                <a:gd name="T0" fmla="*/ 0 w 31"/>
                <a:gd name="T1" fmla="*/ 0 h 60"/>
                <a:gd name="T2" fmla="*/ 0 w 31"/>
                <a:gd name="T3" fmla="*/ 44 h 60"/>
                <a:gd name="T4" fmla="*/ 31 w 31"/>
                <a:gd name="T5" fmla="*/ 60 h 60"/>
                <a:gd name="T6" fmla="*/ 31 w 31"/>
                <a:gd name="T7" fmla="*/ 13 h 60"/>
                <a:gd name="T8" fmla="*/ 0 w 31"/>
                <a:gd name="T9" fmla="*/ 0 h 60"/>
                <a:gd name="T10" fmla="*/ 0 60000 65536"/>
                <a:gd name="T11" fmla="*/ 0 60000 65536"/>
                <a:gd name="T12" fmla="*/ 0 60000 65536"/>
                <a:gd name="T13" fmla="*/ 0 60000 65536"/>
                <a:gd name="T14" fmla="*/ 0 60000 65536"/>
                <a:gd name="T15" fmla="*/ 0 w 31"/>
                <a:gd name="T16" fmla="*/ 0 h 60"/>
                <a:gd name="T17" fmla="*/ 31 w 31"/>
                <a:gd name="T18" fmla="*/ 60 h 60"/>
              </a:gdLst>
              <a:ahLst/>
              <a:cxnLst>
                <a:cxn ang="T10">
                  <a:pos x="T0" y="T1"/>
                </a:cxn>
                <a:cxn ang="T11">
                  <a:pos x="T2" y="T3"/>
                </a:cxn>
                <a:cxn ang="T12">
                  <a:pos x="T4" y="T5"/>
                </a:cxn>
                <a:cxn ang="T13">
                  <a:pos x="T6" y="T7"/>
                </a:cxn>
                <a:cxn ang="T14">
                  <a:pos x="T8" y="T9"/>
                </a:cxn>
              </a:cxnLst>
              <a:rect l="T15" t="T16" r="T17" b="T18"/>
              <a:pathLst>
                <a:path w="31" h="60">
                  <a:moveTo>
                    <a:pt x="0" y="0"/>
                  </a:moveTo>
                  <a:lnTo>
                    <a:pt x="0" y="44"/>
                  </a:lnTo>
                  <a:lnTo>
                    <a:pt x="31" y="60"/>
                  </a:lnTo>
                  <a:lnTo>
                    <a:pt x="31" y="13"/>
                  </a:lnTo>
                  <a:lnTo>
                    <a:pt x="0" y="0"/>
                  </a:lnTo>
                  <a:close/>
                </a:path>
              </a:pathLst>
            </a:custGeom>
            <a:solidFill>
              <a:srgbClr val="FF001F"/>
            </a:solidFill>
            <a:ln w="9525">
              <a:noFill/>
              <a:round/>
              <a:headEnd/>
              <a:tailEnd/>
            </a:ln>
          </p:spPr>
          <p:txBody>
            <a:bodyPr/>
            <a:lstStyle/>
            <a:p>
              <a:endParaRPr lang="en-US"/>
            </a:p>
          </p:txBody>
        </p:sp>
        <p:sp>
          <p:nvSpPr>
            <p:cNvPr id="6243" name="Freeform 99"/>
            <p:cNvSpPr>
              <a:spLocks/>
            </p:cNvSpPr>
            <p:nvPr/>
          </p:nvSpPr>
          <p:spPr bwMode="auto">
            <a:xfrm>
              <a:off x="4180" y="1267"/>
              <a:ext cx="40" cy="85"/>
            </a:xfrm>
            <a:custGeom>
              <a:avLst/>
              <a:gdLst>
                <a:gd name="T0" fmla="*/ 0 w 40"/>
                <a:gd name="T1" fmla="*/ 0 h 85"/>
                <a:gd name="T2" fmla="*/ 0 w 40"/>
                <a:gd name="T3" fmla="*/ 85 h 85"/>
                <a:gd name="T4" fmla="*/ 40 w 40"/>
                <a:gd name="T5" fmla="*/ 60 h 85"/>
                <a:gd name="T6" fmla="*/ 40 w 40"/>
                <a:gd name="T7" fmla="*/ 18 h 85"/>
                <a:gd name="T8" fmla="*/ 0 w 40"/>
                <a:gd name="T9" fmla="*/ 0 h 85"/>
                <a:gd name="T10" fmla="*/ 0 60000 65536"/>
                <a:gd name="T11" fmla="*/ 0 60000 65536"/>
                <a:gd name="T12" fmla="*/ 0 60000 65536"/>
                <a:gd name="T13" fmla="*/ 0 60000 65536"/>
                <a:gd name="T14" fmla="*/ 0 60000 65536"/>
                <a:gd name="T15" fmla="*/ 0 w 40"/>
                <a:gd name="T16" fmla="*/ 0 h 85"/>
                <a:gd name="T17" fmla="*/ 40 w 40"/>
                <a:gd name="T18" fmla="*/ 85 h 85"/>
              </a:gdLst>
              <a:ahLst/>
              <a:cxnLst>
                <a:cxn ang="T10">
                  <a:pos x="T0" y="T1"/>
                </a:cxn>
                <a:cxn ang="T11">
                  <a:pos x="T2" y="T3"/>
                </a:cxn>
                <a:cxn ang="T12">
                  <a:pos x="T4" y="T5"/>
                </a:cxn>
                <a:cxn ang="T13">
                  <a:pos x="T6" y="T7"/>
                </a:cxn>
                <a:cxn ang="T14">
                  <a:pos x="T8" y="T9"/>
                </a:cxn>
              </a:cxnLst>
              <a:rect l="T15" t="T16" r="T17" b="T18"/>
              <a:pathLst>
                <a:path w="40" h="85">
                  <a:moveTo>
                    <a:pt x="0" y="0"/>
                  </a:moveTo>
                  <a:lnTo>
                    <a:pt x="0" y="85"/>
                  </a:lnTo>
                  <a:lnTo>
                    <a:pt x="40" y="60"/>
                  </a:lnTo>
                  <a:lnTo>
                    <a:pt x="40" y="18"/>
                  </a:lnTo>
                  <a:lnTo>
                    <a:pt x="0" y="0"/>
                  </a:lnTo>
                  <a:close/>
                </a:path>
              </a:pathLst>
            </a:custGeom>
            <a:solidFill>
              <a:srgbClr val="DF1F3F"/>
            </a:solidFill>
            <a:ln w="9525">
              <a:noFill/>
              <a:round/>
              <a:headEnd/>
              <a:tailEnd/>
            </a:ln>
          </p:spPr>
          <p:txBody>
            <a:bodyPr/>
            <a:lstStyle/>
            <a:p>
              <a:endParaRPr lang="en-US"/>
            </a:p>
          </p:txBody>
        </p:sp>
        <p:sp>
          <p:nvSpPr>
            <p:cNvPr id="6244" name="Freeform 100"/>
            <p:cNvSpPr>
              <a:spLocks/>
            </p:cNvSpPr>
            <p:nvPr/>
          </p:nvSpPr>
          <p:spPr bwMode="auto">
            <a:xfrm>
              <a:off x="4129" y="1243"/>
              <a:ext cx="30" cy="59"/>
            </a:xfrm>
            <a:custGeom>
              <a:avLst/>
              <a:gdLst>
                <a:gd name="T0" fmla="*/ 0 w 30"/>
                <a:gd name="T1" fmla="*/ 0 h 59"/>
                <a:gd name="T2" fmla="*/ 0 w 30"/>
                <a:gd name="T3" fmla="*/ 45 h 59"/>
                <a:gd name="T4" fmla="*/ 30 w 30"/>
                <a:gd name="T5" fmla="*/ 59 h 59"/>
                <a:gd name="T6" fmla="*/ 30 w 30"/>
                <a:gd name="T7" fmla="*/ 14 h 59"/>
                <a:gd name="T8" fmla="*/ 0 w 30"/>
                <a:gd name="T9" fmla="*/ 0 h 59"/>
                <a:gd name="T10" fmla="*/ 0 60000 65536"/>
                <a:gd name="T11" fmla="*/ 0 60000 65536"/>
                <a:gd name="T12" fmla="*/ 0 60000 65536"/>
                <a:gd name="T13" fmla="*/ 0 60000 65536"/>
                <a:gd name="T14" fmla="*/ 0 60000 65536"/>
                <a:gd name="T15" fmla="*/ 0 w 30"/>
                <a:gd name="T16" fmla="*/ 0 h 59"/>
                <a:gd name="T17" fmla="*/ 30 w 30"/>
                <a:gd name="T18" fmla="*/ 59 h 59"/>
              </a:gdLst>
              <a:ahLst/>
              <a:cxnLst>
                <a:cxn ang="T10">
                  <a:pos x="T0" y="T1"/>
                </a:cxn>
                <a:cxn ang="T11">
                  <a:pos x="T2" y="T3"/>
                </a:cxn>
                <a:cxn ang="T12">
                  <a:pos x="T4" y="T5"/>
                </a:cxn>
                <a:cxn ang="T13">
                  <a:pos x="T6" y="T7"/>
                </a:cxn>
                <a:cxn ang="T14">
                  <a:pos x="T8" y="T9"/>
                </a:cxn>
              </a:cxnLst>
              <a:rect l="T15" t="T16" r="T17" b="T18"/>
              <a:pathLst>
                <a:path w="30" h="59">
                  <a:moveTo>
                    <a:pt x="0" y="0"/>
                  </a:moveTo>
                  <a:lnTo>
                    <a:pt x="0" y="45"/>
                  </a:lnTo>
                  <a:lnTo>
                    <a:pt x="30" y="59"/>
                  </a:lnTo>
                  <a:lnTo>
                    <a:pt x="30" y="14"/>
                  </a:lnTo>
                  <a:lnTo>
                    <a:pt x="0" y="0"/>
                  </a:lnTo>
                  <a:close/>
                </a:path>
              </a:pathLst>
            </a:custGeom>
            <a:solidFill>
              <a:srgbClr val="FF001F"/>
            </a:solidFill>
            <a:ln w="9525">
              <a:noFill/>
              <a:round/>
              <a:headEnd/>
              <a:tailEnd/>
            </a:ln>
          </p:spPr>
          <p:txBody>
            <a:bodyPr/>
            <a:lstStyle/>
            <a:p>
              <a:endParaRPr lang="en-US"/>
            </a:p>
          </p:txBody>
        </p:sp>
        <p:sp>
          <p:nvSpPr>
            <p:cNvPr id="6245" name="Freeform 101"/>
            <p:cNvSpPr>
              <a:spLocks/>
            </p:cNvSpPr>
            <p:nvPr/>
          </p:nvSpPr>
          <p:spPr bwMode="auto">
            <a:xfrm>
              <a:off x="4089" y="1227"/>
              <a:ext cx="40" cy="86"/>
            </a:xfrm>
            <a:custGeom>
              <a:avLst/>
              <a:gdLst>
                <a:gd name="T0" fmla="*/ 0 w 40"/>
                <a:gd name="T1" fmla="*/ 0 h 86"/>
                <a:gd name="T2" fmla="*/ 0 w 40"/>
                <a:gd name="T3" fmla="*/ 86 h 86"/>
                <a:gd name="T4" fmla="*/ 40 w 40"/>
                <a:gd name="T5" fmla="*/ 61 h 86"/>
                <a:gd name="T6" fmla="*/ 40 w 40"/>
                <a:gd name="T7" fmla="*/ 19 h 86"/>
                <a:gd name="T8" fmla="*/ 0 w 40"/>
                <a:gd name="T9" fmla="*/ 0 h 86"/>
                <a:gd name="T10" fmla="*/ 0 60000 65536"/>
                <a:gd name="T11" fmla="*/ 0 60000 65536"/>
                <a:gd name="T12" fmla="*/ 0 60000 65536"/>
                <a:gd name="T13" fmla="*/ 0 60000 65536"/>
                <a:gd name="T14" fmla="*/ 0 60000 65536"/>
                <a:gd name="T15" fmla="*/ 0 w 40"/>
                <a:gd name="T16" fmla="*/ 0 h 86"/>
                <a:gd name="T17" fmla="*/ 40 w 40"/>
                <a:gd name="T18" fmla="*/ 86 h 86"/>
              </a:gdLst>
              <a:ahLst/>
              <a:cxnLst>
                <a:cxn ang="T10">
                  <a:pos x="T0" y="T1"/>
                </a:cxn>
                <a:cxn ang="T11">
                  <a:pos x="T2" y="T3"/>
                </a:cxn>
                <a:cxn ang="T12">
                  <a:pos x="T4" y="T5"/>
                </a:cxn>
                <a:cxn ang="T13">
                  <a:pos x="T6" y="T7"/>
                </a:cxn>
                <a:cxn ang="T14">
                  <a:pos x="T8" y="T9"/>
                </a:cxn>
              </a:cxnLst>
              <a:rect l="T15" t="T16" r="T17" b="T18"/>
              <a:pathLst>
                <a:path w="40" h="86">
                  <a:moveTo>
                    <a:pt x="0" y="0"/>
                  </a:moveTo>
                  <a:lnTo>
                    <a:pt x="0" y="86"/>
                  </a:lnTo>
                  <a:lnTo>
                    <a:pt x="40" y="61"/>
                  </a:lnTo>
                  <a:lnTo>
                    <a:pt x="40" y="19"/>
                  </a:lnTo>
                  <a:lnTo>
                    <a:pt x="0" y="0"/>
                  </a:lnTo>
                  <a:close/>
                </a:path>
              </a:pathLst>
            </a:custGeom>
            <a:solidFill>
              <a:srgbClr val="DF1F3F"/>
            </a:solidFill>
            <a:ln w="9525">
              <a:noFill/>
              <a:round/>
              <a:headEnd/>
              <a:tailEnd/>
            </a:ln>
          </p:spPr>
          <p:txBody>
            <a:bodyPr/>
            <a:lstStyle/>
            <a:p>
              <a:endParaRPr lang="en-US"/>
            </a:p>
          </p:txBody>
        </p:sp>
        <p:sp>
          <p:nvSpPr>
            <p:cNvPr id="6246" name="Freeform 102"/>
            <p:cNvSpPr>
              <a:spLocks/>
            </p:cNvSpPr>
            <p:nvPr/>
          </p:nvSpPr>
          <p:spPr bwMode="auto">
            <a:xfrm>
              <a:off x="4077" y="663"/>
              <a:ext cx="194" cy="601"/>
            </a:xfrm>
            <a:custGeom>
              <a:avLst/>
              <a:gdLst>
                <a:gd name="T0" fmla="*/ 0 w 194"/>
                <a:gd name="T1" fmla="*/ 0 h 601"/>
                <a:gd name="T2" fmla="*/ 194 w 194"/>
                <a:gd name="T3" fmla="*/ 32 h 601"/>
                <a:gd name="T4" fmla="*/ 194 w 194"/>
                <a:gd name="T5" fmla="*/ 601 h 601"/>
                <a:gd name="T6" fmla="*/ 0 w 194"/>
                <a:gd name="T7" fmla="*/ 519 h 601"/>
                <a:gd name="T8" fmla="*/ 0 w 194"/>
                <a:gd name="T9" fmla="*/ 0 h 601"/>
                <a:gd name="T10" fmla="*/ 0 60000 65536"/>
                <a:gd name="T11" fmla="*/ 0 60000 65536"/>
                <a:gd name="T12" fmla="*/ 0 60000 65536"/>
                <a:gd name="T13" fmla="*/ 0 60000 65536"/>
                <a:gd name="T14" fmla="*/ 0 60000 65536"/>
                <a:gd name="T15" fmla="*/ 0 w 194"/>
                <a:gd name="T16" fmla="*/ 0 h 601"/>
                <a:gd name="T17" fmla="*/ 194 w 194"/>
                <a:gd name="T18" fmla="*/ 601 h 601"/>
              </a:gdLst>
              <a:ahLst/>
              <a:cxnLst>
                <a:cxn ang="T10">
                  <a:pos x="T0" y="T1"/>
                </a:cxn>
                <a:cxn ang="T11">
                  <a:pos x="T2" y="T3"/>
                </a:cxn>
                <a:cxn ang="T12">
                  <a:pos x="T4" y="T5"/>
                </a:cxn>
                <a:cxn ang="T13">
                  <a:pos x="T6" y="T7"/>
                </a:cxn>
                <a:cxn ang="T14">
                  <a:pos x="T8" y="T9"/>
                </a:cxn>
              </a:cxnLst>
              <a:rect l="T15" t="T16" r="T17" b="T18"/>
              <a:pathLst>
                <a:path w="194" h="601">
                  <a:moveTo>
                    <a:pt x="0" y="0"/>
                  </a:moveTo>
                  <a:lnTo>
                    <a:pt x="194" y="32"/>
                  </a:lnTo>
                  <a:lnTo>
                    <a:pt x="194" y="601"/>
                  </a:lnTo>
                  <a:lnTo>
                    <a:pt x="0" y="519"/>
                  </a:lnTo>
                  <a:lnTo>
                    <a:pt x="0" y="0"/>
                  </a:lnTo>
                  <a:close/>
                </a:path>
              </a:pathLst>
            </a:custGeom>
            <a:solidFill>
              <a:srgbClr val="000000"/>
            </a:solidFill>
            <a:ln w="9525">
              <a:noFill/>
              <a:round/>
              <a:headEnd/>
              <a:tailEnd/>
            </a:ln>
          </p:spPr>
          <p:txBody>
            <a:bodyPr/>
            <a:lstStyle/>
            <a:p>
              <a:endParaRPr lang="en-US"/>
            </a:p>
          </p:txBody>
        </p:sp>
        <p:sp>
          <p:nvSpPr>
            <p:cNvPr id="6247" name="Line 103"/>
            <p:cNvSpPr>
              <a:spLocks noChangeShapeType="1"/>
            </p:cNvSpPr>
            <p:nvPr/>
          </p:nvSpPr>
          <p:spPr bwMode="auto">
            <a:xfrm>
              <a:off x="4070" y="1112"/>
              <a:ext cx="211" cy="72"/>
            </a:xfrm>
            <a:prstGeom prst="line">
              <a:avLst/>
            </a:prstGeom>
            <a:noFill/>
            <a:ln w="7938">
              <a:solidFill>
                <a:srgbClr val="FF5F7F"/>
              </a:solidFill>
              <a:round/>
              <a:headEnd/>
              <a:tailEnd/>
            </a:ln>
          </p:spPr>
          <p:txBody>
            <a:bodyPr/>
            <a:lstStyle/>
            <a:p>
              <a:endParaRPr lang="en-US"/>
            </a:p>
          </p:txBody>
        </p:sp>
        <p:sp>
          <p:nvSpPr>
            <p:cNvPr id="6248" name="Line 104"/>
            <p:cNvSpPr>
              <a:spLocks noChangeShapeType="1"/>
            </p:cNvSpPr>
            <p:nvPr/>
          </p:nvSpPr>
          <p:spPr bwMode="auto">
            <a:xfrm>
              <a:off x="4068" y="1036"/>
              <a:ext cx="212" cy="62"/>
            </a:xfrm>
            <a:prstGeom prst="line">
              <a:avLst/>
            </a:prstGeom>
            <a:noFill/>
            <a:ln w="7938">
              <a:solidFill>
                <a:srgbClr val="FF5F7F"/>
              </a:solidFill>
              <a:round/>
              <a:headEnd/>
              <a:tailEnd/>
            </a:ln>
          </p:spPr>
          <p:txBody>
            <a:bodyPr/>
            <a:lstStyle/>
            <a:p>
              <a:endParaRPr lang="en-US"/>
            </a:p>
          </p:txBody>
        </p:sp>
        <p:sp>
          <p:nvSpPr>
            <p:cNvPr id="6249" name="Line 105"/>
            <p:cNvSpPr>
              <a:spLocks noChangeShapeType="1"/>
            </p:cNvSpPr>
            <p:nvPr/>
          </p:nvSpPr>
          <p:spPr bwMode="auto">
            <a:xfrm>
              <a:off x="4073" y="959"/>
              <a:ext cx="207" cy="55"/>
            </a:xfrm>
            <a:prstGeom prst="line">
              <a:avLst/>
            </a:prstGeom>
            <a:noFill/>
            <a:ln w="7938">
              <a:solidFill>
                <a:srgbClr val="FF5F7F"/>
              </a:solidFill>
              <a:round/>
              <a:headEnd/>
              <a:tailEnd/>
            </a:ln>
          </p:spPr>
          <p:txBody>
            <a:bodyPr/>
            <a:lstStyle/>
            <a:p>
              <a:endParaRPr lang="en-US"/>
            </a:p>
          </p:txBody>
        </p:sp>
        <p:sp>
          <p:nvSpPr>
            <p:cNvPr id="6250" name="Line 106"/>
            <p:cNvSpPr>
              <a:spLocks noChangeShapeType="1"/>
            </p:cNvSpPr>
            <p:nvPr/>
          </p:nvSpPr>
          <p:spPr bwMode="auto">
            <a:xfrm>
              <a:off x="4072" y="878"/>
              <a:ext cx="206" cy="50"/>
            </a:xfrm>
            <a:prstGeom prst="line">
              <a:avLst/>
            </a:prstGeom>
            <a:noFill/>
            <a:ln w="7938">
              <a:solidFill>
                <a:srgbClr val="FF5F7F"/>
              </a:solidFill>
              <a:round/>
              <a:headEnd/>
              <a:tailEnd/>
            </a:ln>
          </p:spPr>
          <p:txBody>
            <a:bodyPr/>
            <a:lstStyle/>
            <a:p>
              <a:endParaRPr lang="en-US"/>
            </a:p>
          </p:txBody>
        </p:sp>
        <p:sp>
          <p:nvSpPr>
            <p:cNvPr id="6251" name="Line 107"/>
            <p:cNvSpPr>
              <a:spLocks noChangeShapeType="1"/>
            </p:cNvSpPr>
            <p:nvPr/>
          </p:nvSpPr>
          <p:spPr bwMode="auto">
            <a:xfrm>
              <a:off x="4075" y="800"/>
              <a:ext cx="203" cy="41"/>
            </a:xfrm>
            <a:prstGeom prst="line">
              <a:avLst/>
            </a:prstGeom>
            <a:noFill/>
            <a:ln w="7938">
              <a:solidFill>
                <a:srgbClr val="FF5F7F"/>
              </a:solidFill>
              <a:round/>
              <a:headEnd/>
              <a:tailEnd/>
            </a:ln>
          </p:spPr>
          <p:txBody>
            <a:bodyPr/>
            <a:lstStyle/>
            <a:p>
              <a:endParaRPr lang="en-US"/>
            </a:p>
          </p:txBody>
        </p:sp>
        <p:sp>
          <p:nvSpPr>
            <p:cNvPr id="6252" name="Line 108"/>
            <p:cNvSpPr>
              <a:spLocks noChangeShapeType="1"/>
            </p:cNvSpPr>
            <p:nvPr/>
          </p:nvSpPr>
          <p:spPr bwMode="auto">
            <a:xfrm>
              <a:off x="4068" y="729"/>
              <a:ext cx="207" cy="35"/>
            </a:xfrm>
            <a:prstGeom prst="line">
              <a:avLst/>
            </a:prstGeom>
            <a:noFill/>
            <a:ln w="7938">
              <a:solidFill>
                <a:srgbClr val="FF5F7F"/>
              </a:solidFill>
              <a:round/>
              <a:headEnd/>
              <a:tailEnd/>
            </a:ln>
          </p:spPr>
          <p:txBody>
            <a:bodyPr/>
            <a:lstStyle/>
            <a:p>
              <a:endParaRPr lang="en-US"/>
            </a:p>
          </p:txBody>
        </p:sp>
        <p:sp>
          <p:nvSpPr>
            <p:cNvPr id="6253" name="Line 109"/>
            <p:cNvSpPr>
              <a:spLocks noChangeShapeType="1"/>
            </p:cNvSpPr>
            <p:nvPr/>
          </p:nvSpPr>
          <p:spPr bwMode="auto">
            <a:xfrm>
              <a:off x="4118" y="661"/>
              <a:ext cx="1" cy="549"/>
            </a:xfrm>
            <a:prstGeom prst="line">
              <a:avLst/>
            </a:prstGeom>
            <a:noFill/>
            <a:ln w="7938">
              <a:solidFill>
                <a:srgbClr val="FF5F7F"/>
              </a:solidFill>
              <a:round/>
              <a:headEnd/>
              <a:tailEnd/>
            </a:ln>
          </p:spPr>
          <p:txBody>
            <a:bodyPr/>
            <a:lstStyle/>
            <a:p>
              <a:endParaRPr lang="en-US"/>
            </a:p>
          </p:txBody>
        </p:sp>
        <p:sp>
          <p:nvSpPr>
            <p:cNvPr id="6254" name="Line 110"/>
            <p:cNvSpPr>
              <a:spLocks noChangeShapeType="1"/>
            </p:cNvSpPr>
            <p:nvPr/>
          </p:nvSpPr>
          <p:spPr bwMode="auto">
            <a:xfrm>
              <a:off x="4165" y="670"/>
              <a:ext cx="1" cy="563"/>
            </a:xfrm>
            <a:prstGeom prst="line">
              <a:avLst/>
            </a:prstGeom>
            <a:noFill/>
            <a:ln w="7938">
              <a:solidFill>
                <a:srgbClr val="FF5F7F"/>
              </a:solidFill>
              <a:round/>
              <a:headEnd/>
              <a:tailEnd/>
            </a:ln>
          </p:spPr>
          <p:txBody>
            <a:bodyPr/>
            <a:lstStyle/>
            <a:p>
              <a:endParaRPr lang="en-US"/>
            </a:p>
          </p:txBody>
        </p:sp>
        <p:sp>
          <p:nvSpPr>
            <p:cNvPr id="6255" name="Line 111"/>
            <p:cNvSpPr>
              <a:spLocks noChangeShapeType="1"/>
            </p:cNvSpPr>
            <p:nvPr/>
          </p:nvSpPr>
          <p:spPr bwMode="auto">
            <a:xfrm>
              <a:off x="4217" y="678"/>
              <a:ext cx="1" cy="573"/>
            </a:xfrm>
            <a:prstGeom prst="line">
              <a:avLst/>
            </a:prstGeom>
            <a:noFill/>
            <a:ln w="7938">
              <a:solidFill>
                <a:srgbClr val="FF5F7F"/>
              </a:solidFill>
              <a:round/>
              <a:headEnd/>
              <a:tailEnd/>
            </a:ln>
          </p:spPr>
          <p:txBody>
            <a:bodyPr/>
            <a:lstStyle/>
            <a:p>
              <a:endParaRPr lang="en-US"/>
            </a:p>
          </p:txBody>
        </p:sp>
        <p:sp>
          <p:nvSpPr>
            <p:cNvPr id="6256" name="Freeform 112"/>
            <p:cNvSpPr>
              <a:spLocks/>
            </p:cNvSpPr>
            <p:nvPr/>
          </p:nvSpPr>
          <p:spPr bwMode="auto">
            <a:xfrm>
              <a:off x="4149" y="536"/>
              <a:ext cx="248" cy="49"/>
            </a:xfrm>
            <a:custGeom>
              <a:avLst/>
              <a:gdLst>
                <a:gd name="T0" fmla="*/ 0 w 248"/>
                <a:gd name="T1" fmla="*/ 32 h 49"/>
                <a:gd name="T2" fmla="*/ 144 w 248"/>
                <a:gd name="T3" fmla="*/ 49 h 49"/>
                <a:gd name="T4" fmla="*/ 248 w 248"/>
                <a:gd name="T5" fmla="*/ 17 h 49"/>
                <a:gd name="T6" fmla="*/ 108 w 248"/>
                <a:gd name="T7" fmla="*/ 0 h 49"/>
                <a:gd name="T8" fmla="*/ 0 w 248"/>
                <a:gd name="T9" fmla="*/ 32 h 49"/>
                <a:gd name="T10" fmla="*/ 0 60000 65536"/>
                <a:gd name="T11" fmla="*/ 0 60000 65536"/>
                <a:gd name="T12" fmla="*/ 0 60000 65536"/>
                <a:gd name="T13" fmla="*/ 0 60000 65536"/>
                <a:gd name="T14" fmla="*/ 0 60000 65536"/>
                <a:gd name="T15" fmla="*/ 0 w 248"/>
                <a:gd name="T16" fmla="*/ 0 h 49"/>
                <a:gd name="T17" fmla="*/ 248 w 248"/>
                <a:gd name="T18" fmla="*/ 49 h 49"/>
              </a:gdLst>
              <a:ahLst/>
              <a:cxnLst>
                <a:cxn ang="T10">
                  <a:pos x="T0" y="T1"/>
                </a:cxn>
                <a:cxn ang="T11">
                  <a:pos x="T2" y="T3"/>
                </a:cxn>
                <a:cxn ang="T12">
                  <a:pos x="T4" y="T5"/>
                </a:cxn>
                <a:cxn ang="T13">
                  <a:pos x="T6" y="T7"/>
                </a:cxn>
                <a:cxn ang="T14">
                  <a:pos x="T8" y="T9"/>
                </a:cxn>
              </a:cxnLst>
              <a:rect l="T15" t="T16" r="T17" b="T18"/>
              <a:pathLst>
                <a:path w="248" h="49">
                  <a:moveTo>
                    <a:pt x="0" y="32"/>
                  </a:moveTo>
                  <a:lnTo>
                    <a:pt x="144" y="49"/>
                  </a:lnTo>
                  <a:lnTo>
                    <a:pt x="248" y="17"/>
                  </a:lnTo>
                  <a:lnTo>
                    <a:pt x="108" y="0"/>
                  </a:lnTo>
                  <a:lnTo>
                    <a:pt x="0" y="32"/>
                  </a:lnTo>
                  <a:close/>
                </a:path>
              </a:pathLst>
            </a:custGeom>
            <a:solidFill>
              <a:srgbClr val="DF3F5F"/>
            </a:solidFill>
            <a:ln w="9525">
              <a:noFill/>
              <a:round/>
              <a:headEnd/>
              <a:tailEnd/>
            </a:ln>
          </p:spPr>
          <p:txBody>
            <a:bodyPr/>
            <a:lstStyle/>
            <a:p>
              <a:endParaRPr lang="en-US"/>
            </a:p>
          </p:txBody>
        </p:sp>
        <p:sp>
          <p:nvSpPr>
            <p:cNvPr id="6257" name="Freeform 113"/>
            <p:cNvSpPr>
              <a:spLocks/>
            </p:cNvSpPr>
            <p:nvPr/>
          </p:nvSpPr>
          <p:spPr bwMode="auto">
            <a:xfrm>
              <a:off x="4293" y="553"/>
              <a:ext cx="102" cy="105"/>
            </a:xfrm>
            <a:custGeom>
              <a:avLst/>
              <a:gdLst>
                <a:gd name="T0" fmla="*/ 0 w 102"/>
                <a:gd name="T1" fmla="*/ 32 h 105"/>
                <a:gd name="T2" fmla="*/ 102 w 102"/>
                <a:gd name="T3" fmla="*/ 0 h 105"/>
                <a:gd name="T4" fmla="*/ 102 w 102"/>
                <a:gd name="T5" fmla="*/ 67 h 105"/>
                <a:gd name="T6" fmla="*/ 0 w 102"/>
                <a:gd name="T7" fmla="*/ 105 h 105"/>
                <a:gd name="T8" fmla="*/ 0 w 102"/>
                <a:gd name="T9" fmla="*/ 32 h 105"/>
                <a:gd name="T10" fmla="*/ 0 60000 65536"/>
                <a:gd name="T11" fmla="*/ 0 60000 65536"/>
                <a:gd name="T12" fmla="*/ 0 60000 65536"/>
                <a:gd name="T13" fmla="*/ 0 60000 65536"/>
                <a:gd name="T14" fmla="*/ 0 60000 65536"/>
                <a:gd name="T15" fmla="*/ 0 w 102"/>
                <a:gd name="T16" fmla="*/ 0 h 105"/>
                <a:gd name="T17" fmla="*/ 102 w 102"/>
                <a:gd name="T18" fmla="*/ 105 h 105"/>
              </a:gdLst>
              <a:ahLst/>
              <a:cxnLst>
                <a:cxn ang="T10">
                  <a:pos x="T0" y="T1"/>
                </a:cxn>
                <a:cxn ang="T11">
                  <a:pos x="T2" y="T3"/>
                </a:cxn>
                <a:cxn ang="T12">
                  <a:pos x="T4" y="T5"/>
                </a:cxn>
                <a:cxn ang="T13">
                  <a:pos x="T6" y="T7"/>
                </a:cxn>
                <a:cxn ang="T14">
                  <a:pos x="T8" y="T9"/>
                </a:cxn>
              </a:cxnLst>
              <a:rect l="T15" t="T16" r="T17" b="T18"/>
              <a:pathLst>
                <a:path w="102" h="105">
                  <a:moveTo>
                    <a:pt x="0" y="32"/>
                  </a:moveTo>
                  <a:lnTo>
                    <a:pt x="102" y="0"/>
                  </a:lnTo>
                  <a:lnTo>
                    <a:pt x="102" y="67"/>
                  </a:lnTo>
                  <a:lnTo>
                    <a:pt x="0" y="105"/>
                  </a:lnTo>
                  <a:lnTo>
                    <a:pt x="0" y="32"/>
                  </a:lnTo>
                  <a:close/>
                </a:path>
              </a:pathLst>
            </a:custGeom>
            <a:solidFill>
              <a:srgbClr val="DF1F3F"/>
            </a:solidFill>
            <a:ln w="9525">
              <a:noFill/>
              <a:round/>
              <a:headEnd/>
              <a:tailEnd/>
            </a:ln>
          </p:spPr>
          <p:txBody>
            <a:bodyPr/>
            <a:lstStyle/>
            <a:p>
              <a:endParaRPr lang="en-US"/>
            </a:p>
          </p:txBody>
        </p:sp>
        <p:sp>
          <p:nvSpPr>
            <p:cNvPr id="6258" name="Freeform 114"/>
            <p:cNvSpPr>
              <a:spLocks/>
            </p:cNvSpPr>
            <p:nvPr/>
          </p:nvSpPr>
          <p:spPr bwMode="auto">
            <a:xfrm>
              <a:off x="4149" y="568"/>
              <a:ext cx="144" cy="90"/>
            </a:xfrm>
            <a:custGeom>
              <a:avLst/>
              <a:gdLst>
                <a:gd name="T0" fmla="*/ 144 w 144"/>
                <a:gd name="T1" fmla="*/ 17 h 90"/>
                <a:gd name="T2" fmla="*/ 144 w 144"/>
                <a:gd name="T3" fmla="*/ 90 h 90"/>
                <a:gd name="T4" fmla="*/ 0 w 144"/>
                <a:gd name="T5" fmla="*/ 70 h 90"/>
                <a:gd name="T6" fmla="*/ 0 w 144"/>
                <a:gd name="T7" fmla="*/ 0 h 90"/>
                <a:gd name="T8" fmla="*/ 144 w 144"/>
                <a:gd name="T9" fmla="*/ 17 h 90"/>
                <a:gd name="T10" fmla="*/ 0 60000 65536"/>
                <a:gd name="T11" fmla="*/ 0 60000 65536"/>
                <a:gd name="T12" fmla="*/ 0 60000 65536"/>
                <a:gd name="T13" fmla="*/ 0 60000 65536"/>
                <a:gd name="T14" fmla="*/ 0 60000 65536"/>
                <a:gd name="T15" fmla="*/ 0 w 144"/>
                <a:gd name="T16" fmla="*/ 0 h 90"/>
                <a:gd name="T17" fmla="*/ 144 w 144"/>
                <a:gd name="T18" fmla="*/ 90 h 90"/>
              </a:gdLst>
              <a:ahLst/>
              <a:cxnLst>
                <a:cxn ang="T10">
                  <a:pos x="T0" y="T1"/>
                </a:cxn>
                <a:cxn ang="T11">
                  <a:pos x="T2" y="T3"/>
                </a:cxn>
                <a:cxn ang="T12">
                  <a:pos x="T4" y="T5"/>
                </a:cxn>
                <a:cxn ang="T13">
                  <a:pos x="T6" y="T7"/>
                </a:cxn>
                <a:cxn ang="T14">
                  <a:pos x="T8" y="T9"/>
                </a:cxn>
              </a:cxnLst>
              <a:rect l="T15" t="T16" r="T17" b="T18"/>
              <a:pathLst>
                <a:path w="144" h="90">
                  <a:moveTo>
                    <a:pt x="144" y="17"/>
                  </a:moveTo>
                  <a:lnTo>
                    <a:pt x="144" y="90"/>
                  </a:lnTo>
                  <a:lnTo>
                    <a:pt x="0" y="70"/>
                  </a:lnTo>
                  <a:lnTo>
                    <a:pt x="0" y="0"/>
                  </a:lnTo>
                  <a:lnTo>
                    <a:pt x="144" y="17"/>
                  </a:lnTo>
                  <a:close/>
                </a:path>
              </a:pathLst>
            </a:custGeom>
            <a:solidFill>
              <a:srgbClr val="FF5F7F"/>
            </a:solidFill>
            <a:ln w="9525">
              <a:noFill/>
              <a:round/>
              <a:headEnd/>
              <a:tailEnd/>
            </a:ln>
          </p:spPr>
          <p:txBody>
            <a:bodyPr/>
            <a:lstStyle/>
            <a:p>
              <a:endParaRPr lang="en-US"/>
            </a:p>
          </p:txBody>
        </p:sp>
        <p:sp>
          <p:nvSpPr>
            <p:cNvPr id="6259" name="Freeform 115"/>
            <p:cNvSpPr>
              <a:spLocks/>
            </p:cNvSpPr>
            <p:nvPr/>
          </p:nvSpPr>
          <p:spPr bwMode="auto">
            <a:xfrm>
              <a:off x="4168" y="582"/>
              <a:ext cx="83" cy="22"/>
            </a:xfrm>
            <a:custGeom>
              <a:avLst/>
              <a:gdLst>
                <a:gd name="T0" fmla="*/ 0 w 83"/>
                <a:gd name="T1" fmla="*/ 0 h 22"/>
                <a:gd name="T2" fmla="*/ 83 w 83"/>
                <a:gd name="T3" fmla="*/ 10 h 22"/>
                <a:gd name="T4" fmla="*/ 83 w 83"/>
                <a:gd name="T5" fmla="*/ 22 h 22"/>
                <a:gd name="T6" fmla="*/ 0 w 83"/>
                <a:gd name="T7" fmla="*/ 14 h 22"/>
                <a:gd name="T8" fmla="*/ 0 w 83"/>
                <a:gd name="T9" fmla="*/ 0 h 22"/>
                <a:gd name="T10" fmla="*/ 0 60000 65536"/>
                <a:gd name="T11" fmla="*/ 0 60000 65536"/>
                <a:gd name="T12" fmla="*/ 0 60000 65536"/>
                <a:gd name="T13" fmla="*/ 0 60000 65536"/>
                <a:gd name="T14" fmla="*/ 0 60000 65536"/>
                <a:gd name="T15" fmla="*/ 0 w 83"/>
                <a:gd name="T16" fmla="*/ 0 h 22"/>
                <a:gd name="T17" fmla="*/ 83 w 83"/>
                <a:gd name="T18" fmla="*/ 22 h 22"/>
              </a:gdLst>
              <a:ahLst/>
              <a:cxnLst>
                <a:cxn ang="T10">
                  <a:pos x="T0" y="T1"/>
                </a:cxn>
                <a:cxn ang="T11">
                  <a:pos x="T2" y="T3"/>
                </a:cxn>
                <a:cxn ang="T12">
                  <a:pos x="T4" y="T5"/>
                </a:cxn>
                <a:cxn ang="T13">
                  <a:pos x="T6" y="T7"/>
                </a:cxn>
                <a:cxn ang="T14">
                  <a:pos x="T8" y="T9"/>
                </a:cxn>
              </a:cxnLst>
              <a:rect l="T15" t="T16" r="T17" b="T18"/>
              <a:pathLst>
                <a:path w="83" h="22">
                  <a:moveTo>
                    <a:pt x="0" y="0"/>
                  </a:moveTo>
                  <a:lnTo>
                    <a:pt x="83" y="10"/>
                  </a:lnTo>
                  <a:lnTo>
                    <a:pt x="83" y="22"/>
                  </a:lnTo>
                  <a:lnTo>
                    <a:pt x="0" y="14"/>
                  </a:lnTo>
                  <a:lnTo>
                    <a:pt x="0" y="0"/>
                  </a:lnTo>
                  <a:close/>
                </a:path>
              </a:pathLst>
            </a:custGeom>
            <a:solidFill>
              <a:srgbClr val="000000"/>
            </a:solidFill>
            <a:ln w="9525">
              <a:noFill/>
              <a:round/>
              <a:headEnd/>
              <a:tailEnd/>
            </a:ln>
          </p:spPr>
          <p:txBody>
            <a:bodyPr/>
            <a:lstStyle/>
            <a:p>
              <a:endParaRPr lang="en-US"/>
            </a:p>
          </p:txBody>
        </p:sp>
        <p:sp>
          <p:nvSpPr>
            <p:cNvPr id="6260" name="Freeform 116"/>
            <p:cNvSpPr>
              <a:spLocks/>
            </p:cNvSpPr>
            <p:nvPr/>
          </p:nvSpPr>
          <p:spPr bwMode="auto">
            <a:xfrm>
              <a:off x="4331" y="823"/>
              <a:ext cx="396" cy="189"/>
            </a:xfrm>
            <a:custGeom>
              <a:avLst/>
              <a:gdLst>
                <a:gd name="T0" fmla="*/ 0 w 396"/>
                <a:gd name="T1" fmla="*/ 138 h 189"/>
                <a:gd name="T2" fmla="*/ 193 w 396"/>
                <a:gd name="T3" fmla="*/ 189 h 189"/>
                <a:gd name="T4" fmla="*/ 396 w 396"/>
                <a:gd name="T5" fmla="*/ 35 h 189"/>
                <a:gd name="T6" fmla="*/ 231 w 396"/>
                <a:gd name="T7" fmla="*/ 0 h 189"/>
                <a:gd name="T8" fmla="*/ 0 w 396"/>
                <a:gd name="T9" fmla="*/ 138 h 189"/>
                <a:gd name="T10" fmla="*/ 0 60000 65536"/>
                <a:gd name="T11" fmla="*/ 0 60000 65536"/>
                <a:gd name="T12" fmla="*/ 0 60000 65536"/>
                <a:gd name="T13" fmla="*/ 0 60000 65536"/>
                <a:gd name="T14" fmla="*/ 0 60000 65536"/>
                <a:gd name="T15" fmla="*/ 0 w 396"/>
                <a:gd name="T16" fmla="*/ 0 h 189"/>
                <a:gd name="T17" fmla="*/ 396 w 396"/>
                <a:gd name="T18" fmla="*/ 189 h 189"/>
              </a:gdLst>
              <a:ahLst/>
              <a:cxnLst>
                <a:cxn ang="T10">
                  <a:pos x="T0" y="T1"/>
                </a:cxn>
                <a:cxn ang="T11">
                  <a:pos x="T2" y="T3"/>
                </a:cxn>
                <a:cxn ang="T12">
                  <a:pos x="T4" y="T5"/>
                </a:cxn>
                <a:cxn ang="T13">
                  <a:pos x="T6" y="T7"/>
                </a:cxn>
                <a:cxn ang="T14">
                  <a:pos x="T8" y="T9"/>
                </a:cxn>
              </a:cxnLst>
              <a:rect l="T15" t="T16" r="T17" b="T18"/>
              <a:pathLst>
                <a:path w="396" h="189">
                  <a:moveTo>
                    <a:pt x="0" y="138"/>
                  </a:moveTo>
                  <a:lnTo>
                    <a:pt x="193" y="189"/>
                  </a:lnTo>
                  <a:lnTo>
                    <a:pt x="396" y="35"/>
                  </a:lnTo>
                  <a:lnTo>
                    <a:pt x="231" y="0"/>
                  </a:lnTo>
                  <a:lnTo>
                    <a:pt x="0" y="138"/>
                  </a:lnTo>
                  <a:close/>
                </a:path>
              </a:pathLst>
            </a:custGeom>
            <a:solidFill>
              <a:srgbClr val="DF9FFF"/>
            </a:solidFill>
            <a:ln w="9525">
              <a:noFill/>
              <a:round/>
              <a:headEnd/>
              <a:tailEnd/>
            </a:ln>
          </p:spPr>
          <p:txBody>
            <a:bodyPr/>
            <a:lstStyle/>
            <a:p>
              <a:endParaRPr lang="en-US"/>
            </a:p>
          </p:txBody>
        </p:sp>
        <p:sp>
          <p:nvSpPr>
            <p:cNvPr id="6261" name="Freeform 117"/>
            <p:cNvSpPr>
              <a:spLocks/>
            </p:cNvSpPr>
            <p:nvPr/>
          </p:nvSpPr>
          <p:spPr bwMode="auto">
            <a:xfrm>
              <a:off x="4331" y="961"/>
              <a:ext cx="193" cy="547"/>
            </a:xfrm>
            <a:custGeom>
              <a:avLst/>
              <a:gdLst>
                <a:gd name="T0" fmla="*/ 0 w 193"/>
                <a:gd name="T1" fmla="*/ 0 h 547"/>
                <a:gd name="T2" fmla="*/ 193 w 193"/>
                <a:gd name="T3" fmla="*/ 49 h 547"/>
                <a:gd name="T4" fmla="*/ 193 w 193"/>
                <a:gd name="T5" fmla="*/ 547 h 547"/>
                <a:gd name="T6" fmla="*/ 0 w 193"/>
                <a:gd name="T7" fmla="*/ 465 h 547"/>
                <a:gd name="T8" fmla="*/ 0 w 193"/>
                <a:gd name="T9" fmla="*/ 0 h 547"/>
                <a:gd name="T10" fmla="*/ 0 60000 65536"/>
                <a:gd name="T11" fmla="*/ 0 60000 65536"/>
                <a:gd name="T12" fmla="*/ 0 60000 65536"/>
                <a:gd name="T13" fmla="*/ 0 60000 65536"/>
                <a:gd name="T14" fmla="*/ 0 60000 65536"/>
                <a:gd name="T15" fmla="*/ 0 w 193"/>
                <a:gd name="T16" fmla="*/ 0 h 547"/>
                <a:gd name="T17" fmla="*/ 193 w 193"/>
                <a:gd name="T18" fmla="*/ 547 h 547"/>
              </a:gdLst>
              <a:ahLst/>
              <a:cxnLst>
                <a:cxn ang="T10">
                  <a:pos x="T0" y="T1"/>
                </a:cxn>
                <a:cxn ang="T11">
                  <a:pos x="T2" y="T3"/>
                </a:cxn>
                <a:cxn ang="T12">
                  <a:pos x="T4" y="T5"/>
                </a:cxn>
                <a:cxn ang="T13">
                  <a:pos x="T6" y="T7"/>
                </a:cxn>
                <a:cxn ang="T14">
                  <a:pos x="T8" y="T9"/>
                </a:cxn>
              </a:cxnLst>
              <a:rect l="T15" t="T16" r="T17" b="T18"/>
              <a:pathLst>
                <a:path w="193" h="547">
                  <a:moveTo>
                    <a:pt x="0" y="0"/>
                  </a:moveTo>
                  <a:lnTo>
                    <a:pt x="193" y="49"/>
                  </a:lnTo>
                  <a:lnTo>
                    <a:pt x="193" y="547"/>
                  </a:lnTo>
                  <a:lnTo>
                    <a:pt x="0" y="465"/>
                  </a:lnTo>
                  <a:lnTo>
                    <a:pt x="0" y="0"/>
                  </a:lnTo>
                  <a:close/>
                </a:path>
              </a:pathLst>
            </a:custGeom>
            <a:solidFill>
              <a:srgbClr val="BF5FFF"/>
            </a:solidFill>
            <a:ln w="9525">
              <a:noFill/>
              <a:round/>
              <a:headEnd/>
              <a:tailEnd/>
            </a:ln>
          </p:spPr>
          <p:txBody>
            <a:bodyPr/>
            <a:lstStyle/>
            <a:p>
              <a:endParaRPr lang="en-US"/>
            </a:p>
          </p:txBody>
        </p:sp>
        <p:sp>
          <p:nvSpPr>
            <p:cNvPr id="6262" name="Freeform 118"/>
            <p:cNvSpPr>
              <a:spLocks/>
            </p:cNvSpPr>
            <p:nvPr/>
          </p:nvSpPr>
          <p:spPr bwMode="auto">
            <a:xfrm>
              <a:off x="4522" y="858"/>
              <a:ext cx="205" cy="650"/>
            </a:xfrm>
            <a:custGeom>
              <a:avLst/>
              <a:gdLst>
                <a:gd name="T0" fmla="*/ 0 w 205"/>
                <a:gd name="T1" fmla="*/ 154 h 650"/>
                <a:gd name="T2" fmla="*/ 0 w 205"/>
                <a:gd name="T3" fmla="*/ 650 h 650"/>
                <a:gd name="T4" fmla="*/ 205 w 205"/>
                <a:gd name="T5" fmla="*/ 414 h 650"/>
                <a:gd name="T6" fmla="*/ 205 w 205"/>
                <a:gd name="T7" fmla="*/ 0 h 650"/>
                <a:gd name="T8" fmla="*/ 0 w 205"/>
                <a:gd name="T9" fmla="*/ 154 h 650"/>
                <a:gd name="T10" fmla="*/ 0 60000 65536"/>
                <a:gd name="T11" fmla="*/ 0 60000 65536"/>
                <a:gd name="T12" fmla="*/ 0 60000 65536"/>
                <a:gd name="T13" fmla="*/ 0 60000 65536"/>
                <a:gd name="T14" fmla="*/ 0 60000 65536"/>
                <a:gd name="T15" fmla="*/ 0 w 205"/>
                <a:gd name="T16" fmla="*/ 0 h 650"/>
                <a:gd name="T17" fmla="*/ 205 w 205"/>
                <a:gd name="T18" fmla="*/ 650 h 650"/>
              </a:gdLst>
              <a:ahLst/>
              <a:cxnLst>
                <a:cxn ang="T10">
                  <a:pos x="T0" y="T1"/>
                </a:cxn>
                <a:cxn ang="T11">
                  <a:pos x="T2" y="T3"/>
                </a:cxn>
                <a:cxn ang="T12">
                  <a:pos x="T4" y="T5"/>
                </a:cxn>
                <a:cxn ang="T13">
                  <a:pos x="T6" y="T7"/>
                </a:cxn>
                <a:cxn ang="T14">
                  <a:pos x="T8" y="T9"/>
                </a:cxn>
              </a:cxnLst>
              <a:rect l="T15" t="T16" r="T17" b="T18"/>
              <a:pathLst>
                <a:path w="205" h="650">
                  <a:moveTo>
                    <a:pt x="0" y="154"/>
                  </a:moveTo>
                  <a:lnTo>
                    <a:pt x="0" y="650"/>
                  </a:lnTo>
                  <a:lnTo>
                    <a:pt x="205" y="414"/>
                  </a:lnTo>
                  <a:lnTo>
                    <a:pt x="205" y="0"/>
                  </a:lnTo>
                  <a:lnTo>
                    <a:pt x="0" y="154"/>
                  </a:lnTo>
                  <a:close/>
                </a:path>
              </a:pathLst>
            </a:custGeom>
            <a:solidFill>
              <a:srgbClr val="9F3FDF"/>
            </a:solidFill>
            <a:ln w="9525">
              <a:noFill/>
              <a:round/>
              <a:headEnd/>
              <a:tailEnd/>
            </a:ln>
          </p:spPr>
          <p:txBody>
            <a:bodyPr/>
            <a:lstStyle/>
            <a:p>
              <a:endParaRPr lang="en-US"/>
            </a:p>
          </p:txBody>
        </p:sp>
        <p:sp>
          <p:nvSpPr>
            <p:cNvPr id="6263" name="Freeform 119"/>
            <p:cNvSpPr>
              <a:spLocks/>
            </p:cNvSpPr>
            <p:nvPr/>
          </p:nvSpPr>
          <p:spPr bwMode="auto">
            <a:xfrm>
              <a:off x="4381" y="812"/>
              <a:ext cx="302" cy="141"/>
            </a:xfrm>
            <a:custGeom>
              <a:avLst/>
              <a:gdLst>
                <a:gd name="T0" fmla="*/ 0 w 302"/>
                <a:gd name="T1" fmla="*/ 106 h 141"/>
                <a:gd name="T2" fmla="*/ 138 w 302"/>
                <a:gd name="T3" fmla="*/ 141 h 141"/>
                <a:gd name="T4" fmla="*/ 302 w 302"/>
                <a:gd name="T5" fmla="*/ 24 h 141"/>
                <a:gd name="T6" fmla="*/ 180 w 302"/>
                <a:gd name="T7" fmla="*/ 0 h 141"/>
                <a:gd name="T8" fmla="*/ 0 w 302"/>
                <a:gd name="T9" fmla="*/ 106 h 141"/>
                <a:gd name="T10" fmla="*/ 0 60000 65536"/>
                <a:gd name="T11" fmla="*/ 0 60000 65536"/>
                <a:gd name="T12" fmla="*/ 0 60000 65536"/>
                <a:gd name="T13" fmla="*/ 0 60000 65536"/>
                <a:gd name="T14" fmla="*/ 0 60000 65536"/>
                <a:gd name="T15" fmla="*/ 0 w 302"/>
                <a:gd name="T16" fmla="*/ 0 h 141"/>
                <a:gd name="T17" fmla="*/ 302 w 302"/>
                <a:gd name="T18" fmla="*/ 141 h 141"/>
              </a:gdLst>
              <a:ahLst/>
              <a:cxnLst>
                <a:cxn ang="T10">
                  <a:pos x="T0" y="T1"/>
                </a:cxn>
                <a:cxn ang="T11">
                  <a:pos x="T2" y="T3"/>
                </a:cxn>
                <a:cxn ang="T12">
                  <a:pos x="T4" y="T5"/>
                </a:cxn>
                <a:cxn ang="T13">
                  <a:pos x="T6" y="T7"/>
                </a:cxn>
                <a:cxn ang="T14">
                  <a:pos x="T8" y="T9"/>
                </a:cxn>
              </a:cxnLst>
              <a:rect l="T15" t="T16" r="T17" b="T18"/>
              <a:pathLst>
                <a:path w="302" h="141">
                  <a:moveTo>
                    <a:pt x="0" y="106"/>
                  </a:moveTo>
                  <a:lnTo>
                    <a:pt x="138" y="141"/>
                  </a:lnTo>
                  <a:lnTo>
                    <a:pt x="302" y="24"/>
                  </a:lnTo>
                  <a:lnTo>
                    <a:pt x="180" y="0"/>
                  </a:lnTo>
                  <a:lnTo>
                    <a:pt x="0" y="106"/>
                  </a:lnTo>
                  <a:close/>
                </a:path>
              </a:pathLst>
            </a:custGeom>
            <a:solidFill>
              <a:srgbClr val="DF9FFF"/>
            </a:solidFill>
            <a:ln w="9525">
              <a:noFill/>
              <a:round/>
              <a:headEnd/>
              <a:tailEnd/>
            </a:ln>
          </p:spPr>
          <p:txBody>
            <a:bodyPr/>
            <a:lstStyle/>
            <a:p>
              <a:endParaRPr lang="en-US"/>
            </a:p>
          </p:txBody>
        </p:sp>
        <p:sp>
          <p:nvSpPr>
            <p:cNvPr id="6264" name="Freeform 120"/>
            <p:cNvSpPr>
              <a:spLocks/>
            </p:cNvSpPr>
            <p:nvPr/>
          </p:nvSpPr>
          <p:spPr bwMode="auto">
            <a:xfrm>
              <a:off x="4518" y="836"/>
              <a:ext cx="165" cy="149"/>
            </a:xfrm>
            <a:custGeom>
              <a:avLst/>
              <a:gdLst>
                <a:gd name="T0" fmla="*/ 0 w 165"/>
                <a:gd name="T1" fmla="*/ 117 h 149"/>
                <a:gd name="T2" fmla="*/ 165 w 165"/>
                <a:gd name="T3" fmla="*/ 0 h 149"/>
                <a:gd name="T4" fmla="*/ 165 w 165"/>
                <a:gd name="T5" fmla="*/ 28 h 149"/>
                <a:gd name="T6" fmla="*/ 0 w 165"/>
                <a:gd name="T7" fmla="*/ 149 h 149"/>
                <a:gd name="T8" fmla="*/ 0 w 165"/>
                <a:gd name="T9" fmla="*/ 117 h 149"/>
                <a:gd name="T10" fmla="*/ 0 60000 65536"/>
                <a:gd name="T11" fmla="*/ 0 60000 65536"/>
                <a:gd name="T12" fmla="*/ 0 60000 65536"/>
                <a:gd name="T13" fmla="*/ 0 60000 65536"/>
                <a:gd name="T14" fmla="*/ 0 60000 65536"/>
                <a:gd name="T15" fmla="*/ 0 w 165"/>
                <a:gd name="T16" fmla="*/ 0 h 149"/>
                <a:gd name="T17" fmla="*/ 165 w 165"/>
                <a:gd name="T18" fmla="*/ 149 h 149"/>
              </a:gdLst>
              <a:ahLst/>
              <a:cxnLst>
                <a:cxn ang="T10">
                  <a:pos x="T0" y="T1"/>
                </a:cxn>
                <a:cxn ang="T11">
                  <a:pos x="T2" y="T3"/>
                </a:cxn>
                <a:cxn ang="T12">
                  <a:pos x="T4" y="T5"/>
                </a:cxn>
                <a:cxn ang="T13">
                  <a:pos x="T6" y="T7"/>
                </a:cxn>
                <a:cxn ang="T14">
                  <a:pos x="T8" y="T9"/>
                </a:cxn>
              </a:cxnLst>
              <a:rect l="T15" t="T16" r="T17" b="T18"/>
              <a:pathLst>
                <a:path w="165" h="149">
                  <a:moveTo>
                    <a:pt x="0" y="117"/>
                  </a:moveTo>
                  <a:lnTo>
                    <a:pt x="165" y="0"/>
                  </a:lnTo>
                  <a:lnTo>
                    <a:pt x="165" y="28"/>
                  </a:lnTo>
                  <a:lnTo>
                    <a:pt x="0" y="149"/>
                  </a:lnTo>
                  <a:lnTo>
                    <a:pt x="0" y="117"/>
                  </a:lnTo>
                  <a:close/>
                </a:path>
              </a:pathLst>
            </a:custGeom>
            <a:solidFill>
              <a:srgbClr val="9F3FDF"/>
            </a:solidFill>
            <a:ln w="9525">
              <a:noFill/>
              <a:round/>
              <a:headEnd/>
              <a:tailEnd/>
            </a:ln>
          </p:spPr>
          <p:txBody>
            <a:bodyPr/>
            <a:lstStyle/>
            <a:p>
              <a:endParaRPr lang="en-US"/>
            </a:p>
          </p:txBody>
        </p:sp>
        <p:sp>
          <p:nvSpPr>
            <p:cNvPr id="6265" name="Freeform 121"/>
            <p:cNvSpPr>
              <a:spLocks/>
            </p:cNvSpPr>
            <p:nvPr/>
          </p:nvSpPr>
          <p:spPr bwMode="auto">
            <a:xfrm>
              <a:off x="4381" y="918"/>
              <a:ext cx="137" cy="65"/>
            </a:xfrm>
            <a:custGeom>
              <a:avLst/>
              <a:gdLst>
                <a:gd name="T0" fmla="*/ 137 w 137"/>
                <a:gd name="T1" fmla="*/ 35 h 65"/>
                <a:gd name="T2" fmla="*/ 137 w 137"/>
                <a:gd name="T3" fmla="*/ 65 h 65"/>
                <a:gd name="T4" fmla="*/ 0 w 137"/>
                <a:gd name="T5" fmla="*/ 29 h 65"/>
                <a:gd name="T6" fmla="*/ 0 w 137"/>
                <a:gd name="T7" fmla="*/ 0 h 65"/>
                <a:gd name="T8" fmla="*/ 137 w 137"/>
                <a:gd name="T9" fmla="*/ 35 h 65"/>
                <a:gd name="T10" fmla="*/ 0 60000 65536"/>
                <a:gd name="T11" fmla="*/ 0 60000 65536"/>
                <a:gd name="T12" fmla="*/ 0 60000 65536"/>
                <a:gd name="T13" fmla="*/ 0 60000 65536"/>
                <a:gd name="T14" fmla="*/ 0 60000 65536"/>
                <a:gd name="T15" fmla="*/ 0 w 137"/>
                <a:gd name="T16" fmla="*/ 0 h 65"/>
                <a:gd name="T17" fmla="*/ 137 w 137"/>
                <a:gd name="T18" fmla="*/ 65 h 65"/>
              </a:gdLst>
              <a:ahLst/>
              <a:cxnLst>
                <a:cxn ang="T10">
                  <a:pos x="T0" y="T1"/>
                </a:cxn>
                <a:cxn ang="T11">
                  <a:pos x="T2" y="T3"/>
                </a:cxn>
                <a:cxn ang="T12">
                  <a:pos x="T4" y="T5"/>
                </a:cxn>
                <a:cxn ang="T13">
                  <a:pos x="T6" y="T7"/>
                </a:cxn>
                <a:cxn ang="T14">
                  <a:pos x="T8" y="T9"/>
                </a:cxn>
              </a:cxnLst>
              <a:rect l="T15" t="T16" r="T17" b="T18"/>
              <a:pathLst>
                <a:path w="137" h="65">
                  <a:moveTo>
                    <a:pt x="137" y="35"/>
                  </a:moveTo>
                  <a:lnTo>
                    <a:pt x="137" y="65"/>
                  </a:lnTo>
                  <a:lnTo>
                    <a:pt x="0" y="29"/>
                  </a:lnTo>
                  <a:lnTo>
                    <a:pt x="0" y="0"/>
                  </a:lnTo>
                  <a:lnTo>
                    <a:pt x="137" y="35"/>
                  </a:lnTo>
                  <a:close/>
                </a:path>
              </a:pathLst>
            </a:custGeom>
            <a:solidFill>
              <a:srgbClr val="BF5FFF"/>
            </a:solidFill>
            <a:ln w="9525">
              <a:noFill/>
              <a:round/>
              <a:headEnd/>
              <a:tailEnd/>
            </a:ln>
          </p:spPr>
          <p:txBody>
            <a:bodyPr/>
            <a:lstStyle/>
            <a:p>
              <a:endParaRPr lang="en-US"/>
            </a:p>
          </p:txBody>
        </p:sp>
        <p:sp>
          <p:nvSpPr>
            <p:cNvPr id="6266" name="Freeform 122"/>
            <p:cNvSpPr>
              <a:spLocks/>
            </p:cNvSpPr>
            <p:nvPr/>
          </p:nvSpPr>
          <p:spPr bwMode="auto">
            <a:xfrm>
              <a:off x="4341" y="979"/>
              <a:ext cx="171" cy="505"/>
            </a:xfrm>
            <a:custGeom>
              <a:avLst/>
              <a:gdLst>
                <a:gd name="T0" fmla="*/ 0 w 171"/>
                <a:gd name="T1" fmla="*/ 0 h 505"/>
                <a:gd name="T2" fmla="*/ 171 w 171"/>
                <a:gd name="T3" fmla="*/ 45 h 505"/>
                <a:gd name="T4" fmla="*/ 171 w 171"/>
                <a:gd name="T5" fmla="*/ 505 h 505"/>
                <a:gd name="T6" fmla="*/ 0 w 171"/>
                <a:gd name="T7" fmla="*/ 431 h 505"/>
                <a:gd name="T8" fmla="*/ 0 w 171"/>
                <a:gd name="T9" fmla="*/ 0 h 505"/>
                <a:gd name="T10" fmla="*/ 0 60000 65536"/>
                <a:gd name="T11" fmla="*/ 0 60000 65536"/>
                <a:gd name="T12" fmla="*/ 0 60000 65536"/>
                <a:gd name="T13" fmla="*/ 0 60000 65536"/>
                <a:gd name="T14" fmla="*/ 0 60000 65536"/>
                <a:gd name="T15" fmla="*/ 0 w 171"/>
                <a:gd name="T16" fmla="*/ 0 h 505"/>
                <a:gd name="T17" fmla="*/ 171 w 171"/>
                <a:gd name="T18" fmla="*/ 505 h 505"/>
              </a:gdLst>
              <a:ahLst/>
              <a:cxnLst>
                <a:cxn ang="T10">
                  <a:pos x="T0" y="T1"/>
                </a:cxn>
                <a:cxn ang="T11">
                  <a:pos x="T2" y="T3"/>
                </a:cxn>
                <a:cxn ang="T12">
                  <a:pos x="T4" y="T5"/>
                </a:cxn>
                <a:cxn ang="T13">
                  <a:pos x="T6" y="T7"/>
                </a:cxn>
                <a:cxn ang="T14">
                  <a:pos x="T8" y="T9"/>
                </a:cxn>
              </a:cxnLst>
              <a:rect l="T15" t="T16" r="T17" b="T18"/>
              <a:pathLst>
                <a:path w="171" h="505">
                  <a:moveTo>
                    <a:pt x="0" y="0"/>
                  </a:moveTo>
                  <a:lnTo>
                    <a:pt x="171" y="45"/>
                  </a:lnTo>
                  <a:lnTo>
                    <a:pt x="171" y="505"/>
                  </a:lnTo>
                  <a:lnTo>
                    <a:pt x="0" y="431"/>
                  </a:lnTo>
                  <a:lnTo>
                    <a:pt x="0" y="0"/>
                  </a:lnTo>
                  <a:close/>
                </a:path>
              </a:pathLst>
            </a:custGeom>
            <a:solidFill>
              <a:srgbClr val="000000"/>
            </a:solidFill>
            <a:ln w="9525">
              <a:noFill/>
              <a:round/>
              <a:headEnd/>
              <a:tailEnd/>
            </a:ln>
          </p:spPr>
          <p:txBody>
            <a:bodyPr/>
            <a:lstStyle/>
            <a:p>
              <a:endParaRPr lang="en-US"/>
            </a:p>
          </p:txBody>
        </p:sp>
        <p:sp>
          <p:nvSpPr>
            <p:cNvPr id="6267" name="Freeform 123"/>
            <p:cNvSpPr>
              <a:spLocks/>
            </p:cNvSpPr>
            <p:nvPr/>
          </p:nvSpPr>
          <p:spPr bwMode="auto">
            <a:xfrm>
              <a:off x="4365" y="985"/>
              <a:ext cx="19" cy="448"/>
            </a:xfrm>
            <a:custGeom>
              <a:avLst/>
              <a:gdLst>
                <a:gd name="T0" fmla="*/ 2 w 19"/>
                <a:gd name="T1" fmla="*/ 0 h 448"/>
                <a:gd name="T2" fmla="*/ 0 w 19"/>
                <a:gd name="T3" fmla="*/ 441 h 448"/>
                <a:gd name="T4" fmla="*/ 18 w 19"/>
                <a:gd name="T5" fmla="*/ 448 h 448"/>
                <a:gd name="T6" fmla="*/ 19 w 19"/>
                <a:gd name="T7" fmla="*/ 4 h 448"/>
                <a:gd name="T8" fmla="*/ 2 w 19"/>
                <a:gd name="T9" fmla="*/ 0 h 448"/>
                <a:gd name="T10" fmla="*/ 0 60000 65536"/>
                <a:gd name="T11" fmla="*/ 0 60000 65536"/>
                <a:gd name="T12" fmla="*/ 0 60000 65536"/>
                <a:gd name="T13" fmla="*/ 0 60000 65536"/>
                <a:gd name="T14" fmla="*/ 0 60000 65536"/>
                <a:gd name="T15" fmla="*/ 0 w 19"/>
                <a:gd name="T16" fmla="*/ 0 h 448"/>
                <a:gd name="T17" fmla="*/ 19 w 19"/>
                <a:gd name="T18" fmla="*/ 448 h 448"/>
              </a:gdLst>
              <a:ahLst/>
              <a:cxnLst>
                <a:cxn ang="T10">
                  <a:pos x="T0" y="T1"/>
                </a:cxn>
                <a:cxn ang="T11">
                  <a:pos x="T2" y="T3"/>
                </a:cxn>
                <a:cxn ang="T12">
                  <a:pos x="T4" y="T5"/>
                </a:cxn>
                <a:cxn ang="T13">
                  <a:pos x="T6" y="T7"/>
                </a:cxn>
                <a:cxn ang="T14">
                  <a:pos x="T8" y="T9"/>
                </a:cxn>
              </a:cxnLst>
              <a:rect l="T15" t="T16" r="T17" b="T18"/>
              <a:pathLst>
                <a:path w="19" h="448">
                  <a:moveTo>
                    <a:pt x="2" y="0"/>
                  </a:moveTo>
                  <a:lnTo>
                    <a:pt x="0" y="441"/>
                  </a:lnTo>
                  <a:lnTo>
                    <a:pt x="18" y="448"/>
                  </a:lnTo>
                  <a:lnTo>
                    <a:pt x="19" y="4"/>
                  </a:lnTo>
                  <a:lnTo>
                    <a:pt x="2" y="0"/>
                  </a:lnTo>
                  <a:close/>
                </a:path>
              </a:pathLst>
            </a:custGeom>
            <a:solidFill>
              <a:srgbClr val="BF5FFF"/>
            </a:solidFill>
            <a:ln w="9525">
              <a:noFill/>
              <a:round/>
              <a:headEnd/>
              <a:tailEnd/>
            </a:ln>
          </p:spPr>
          <p:txBody>
            <a:bodyPr/>
            <a:lstStyle/>
            <a:p>
              <a:endParaRPr lang="en-US"/>
            </a:p>
          </p:txBody>
        </p:sp>
        <p:sp>
          <p:nvSpPr>
            <p:cNvPr id="6268" name="Freeform 124"/>
            <p:cNvSpPr>
              <a:spLocks/>
            </p:cNvSpPr>
            <p:nvPr/>
          </p:nvSpPr>
          <p:spPr bwMode="auto">
            <a:xfrm>
              <a:off x="4412" y="994"/>
              <a:ext cx="20" cy="457"/>
            </a:xfrm>
            <a:custGeom>
              <a:avLst/>
              <a:gdLst>
                <a:gd name="T0" fmla="*/ 0 w 20"/>
                <a:gd name="T1" fmla="*/ 0 h 457"/>
                <a:gd name="T2" fmla="*/ 0 w 20"/>
                <a:gd name="T3" fmla="*/ 449 h 457"/>
                <a:gd name="T4" fmla="*/ 19 w 20"/>
                <a:gd name="T5" fmla="*/ 457 h 457"/>
                <a:gd name="T6" fmla="*/ 20 w 20"/>
                <a:gd name="T7" fmla="*/ 7 h 457"/>
                <a:gd name="T8" fmla="*/ 0 w 20"/>
                <a:gd name="T9" fmla="*/ 0 h 457"/>
                <a:gd name="T10" fmla="*/ 0 60000 65536"/>
                <a:gd name="T11" fmla="*/ 0 60000 65536"/>
                <a:gd name="T12" fmla="*/ 0 60000 65536"/>
                <a:gd name="T13" fmla="*/ 0 60000 65536"/>
                <a:gd name="T14" fmla="*/ 0 60000 65536"/>
                <a:gd name="T15" fmla="*/ 0 w 20"/>
                <a:gd name="T16" fmla="*/ 0 h 457"/>
                <a:gd name="T17" fmla="*/ 20 w 20"/>
                <a:gd name="T18" fmla="*/ 457 h 457"/>
              </a:gdLst>
              <a:ahLst/>
              <a:cxnLst>
                <a:cxn ang="T10">
                  <a:pos x="T0" y="T1"/>
                </a:cxn>
                <a:cxn ang="T11">
                  <a:pos x="T2" y="T3"/>
                </a:cxn>
                <a:cxn ang="T12">
                  <a:pos x="T4" y="T5"/>
                </a:cxn>
                <a:cxn ang="T13">
                  <a:pos x="T6" y="T7"/>
                </a:cxn>
                <a:cxn ang="T14">
                  <a:pos x="T8" y="T9"/>
                </a:cxn>
              </a:cxnLst>
              <a:rect l="T15" t="T16" r="T17" b="T18"/>
              <a:pathLst>
                <a:path w="20" h="457">
                  <a:moveTo>
                    <a:pt x="0" y="0"/>
                  </a:moveTo>
                  <a:lnTo>
                    <a:pt x="0" y="449"/>
                  </a:lnTo>
                  <a:lnTo>
                    <a:pt x="19" y="457"/>
                  </a:lnTo>
                  <a:lnTo>
                    <a:pt x="20" y="7"/>
                  </a:lnTo>
                  <a:lnTo>
                    <a:pt x="0" y="0"/>
                  </a:lnTo>
                  <a:close/>
                </a:path>
              </a:pathLst>
            </a:custGeom>
            <a:solidFill>
              <a:srgbClr val="BF5FFF"/>
            </a:solidFill>
            <a:ln w="9525">
              <a:noFill/>
              <a:round/>
              <a:headEnd/>
              <a:tailEnd/>
            </a:ln>
          </p:spPr>
          <p:txBody>
            <a:bodyPr/>
            <a:lstStyle/>
            <a:p>
              <a:endParaRPr lang="en-US"/>
            </a:p>
          </p:txBody>
        </p:sp>
        <p:sp>
          <p:nvSpPr>
            <p:cNvPr id="6269" name="Freeform 125"/>
            <p:cNvSpPr>
              <a:spLocks/>
            </p:cNvSpPr>
            <p:nvPr/>
          </p:nvSpPr>
          <p:spPr bwMode="auto">
            <a:xfrm>
              <a:off x="4463" y="1010"/>
              <a:ext cx="20" cy="461"/>
            </a:xfrm>
            <a:custGeom>
              <a:avLst/>
              <a:gdLst>
                <a:gd name="T0" fmla="*/ 1 w 20"/>
                <a:gd name="T1" fmla="*/ 0 h 461"/>
                <a:gd name="T2" fmla="*/ 0 w 20"/>
                <a:gd name="T3" fmla="*/ 451 h 461"/>
                <a:gd name="T4" fmla="*/ 20 w 20"/>
                <a:gd name="T5" fmla="*/ 461 h 461"/>
                <a:gd name="T6" fmla="*/ 18 w 20"/>
                <a:gd name="T7" fmla="*/ 4 h 461"/>
                <a:gd name="T8" fmla="*/ 1 w 20"/>
                <a:gd name="T9" fmla="*/ 0 h 461"/>
                <a:gd name="T10" fmla="*/ 0 60000 65536"/>
                <a:gd name="T11" fmla="*/ 0 60000 65536"/>
                <a:gd name="T12" fmla="*/ 0 60000 65536"/>
                <a:gd name="T13" fmla="*/ 0 60000 65536"/>
                <a:gd name="T14" fmla="*/ 0 60000 65536"/>
                <a:gd name="T15" fmla="*/ 0 w 20"/>
                <a:gd name="T16" fmla="*/ 0 h 461"/>
                <a:gd name="T17" fmla="*/ 20 w 20"/>
                <a:gd name="T18" fmla="*/ 461 h 461"/>
              </a:gdLst>
              <a:ahLst/>
              <a:cxnLst>
                <a:cxn ang="T10">
                  <a:pos x="T0" y="T1"/>
                </a:cxn>
                <a:cxn ang="T11">
                  <a:pos x="T2" y="T3"/>
                </a:cxn>
                <a:cxn ang="T12">
                  <a:pos x="T4" y="T5"/>
                </a:cxn>
                <a:cxn ang="T13">
                  <a:pos x="T6" y="T7"/>
                </a:cxn>
                <a:cxn ang="T14">
                  <a:pos x="T8" y="T9"/>
                </a:cxn>
              </a:cxnLst>
              <a:rect l="T15" t="T16" r="T17" b="T18"/>
              <a:pathLst>
                <a:path w="20" h="461">
                  <a:moveTo>
                    <a:pt x="1" y="0"/>
                  </a:moveTo>
                  <a:lnTo>
                    <a:pt x="0" y="451"/>
                  </a:lnTo>
                  <a:lnTo>
                    <a:pt x="20" y="461"/>
                  </a:lnTo>
                  <a:lnTo>
                    <a:pt x="18" y="4"/>
                  </a:lnTo>
                  <a:lnTo>
                    <a:pt x="1" y="0"/>
                  </a:lnTo>
                  <a:close/>
                </a:path>
              </a:pathLst>
            </a:custGeom>
            <a:solidFill>
              <a:srgbClr val="BF5FFF"/>
            </a:solidFill>
            <a:ln w="9525">
              <a:noFill/>
              <a:round/>
              <a:headEnd/>
              <a:tailEnd/>
            </a:ln>
          </p:spPr>
          <p:txBody>
            <a:bodyPr/>
            <a:lstStyle/>
            <a:p>
              <a:endParaRPr lang="en-US"/>
            </a:p>
          </p:txBody>
        </p:sp>
        <p:sp>
          <p:nvSpPr>
            <p:cNvPr id="6270" name="Freeform 126"/>
            <p:cNvSpPr>
              <a:spLocks/>
            </p:cNvSpPr>
            <p:nvPr/>
          </p:nvSpPr>
          <p:spPr bwMode="auto">
            <a:xfrm>
              <a:off x="4648" y="1534"/>
              <a:ext cx="184" cy="123"/>
            </a:xfrm>
            <a:custGeom>
              <a:avLst/>
              <a:gdLst>
                <a:gd name="T0" fmla="*/ 0 w 184"/>
                <a:gd name="T1" fmla="*/ 0 h 123"/>
                <a:gd name="T2" fmla="*/ 0 w 184"/>
                <a:gd name="T3" fmla="*/ 36 h 123"/>
                <a:gd name="T4" fmla="*/ 184 w 184"/>
                <a:gd name="T5" fmla="*/ 123 h 123"/>
                <a:gd name="T6" fmla="*/ 184 w 184"/>
                <a:gd name="T7" fmla="*/ 84 h 123"/>
                <a:gd name="T8" fmla="*/ 0 w 184"/>
                <a:gd name="T9" fmla="*/ 0 h 123"/>
                <a:gd name="T10" fmla="*/ 0 60000 65536"/>
                <a:gd name="T11" fmla="*/ 0 60000 65536"/>
                <a:gd name="T12" fmla="*/ 0 60000 65536"/>
                <a:gd name="T13" fmla="*/ 0 60000 65536"/>
                <a:gd name="T14" fmla="*/ 0 60000 65536"/>
                <a:gd name="T15" fmla="*/ 0 w 184"/>
                <a:gd name="T16" fmla="*/ 0 h 123"/>
                <a:gd name="T17" fmla="*/ 184 w 184"/>
                <a:gd name="T18" fmla="*/ 123 h 123"/>
              </a:gdLst>
              <a:ahLst/>
              <a:cxnLst>
                <a:cxn ang="T10">
                  <a:pos x="T0" y="T1"/>
                </a:cxn>
                <a:cxn ang="T11">
                  <a:pos x="T2" y="T3"/>
                </a:cxn>
                <a:cxn ang="T12">
                  <a:pos x="T4" y="T5"/>
                </a:cxn>
                <a:cxn ang="T13">
                  <a:pos x="T6" y="T7"/>
                </a:cxn>
                <a:cxn ang="T14">
                  <a:pos x="T8" y="T9"/>
                </a:cxn>
              </a:cxnLst>
              <a:rect l="T15" t="T16" r="T17" b="T18"/>
              <a:pathLst>
                <a:path w="184" h="123">
                  <a:moveTo>
                    <a:pt x="0" y="0"/>
                  </a:moveTo>
                  <a:lnTo>
                    <a:pt x="0" y="36"/>
                  </a:lnTo>
                  <a:lnTo>
                    <a:pt x="184" y="123"/>
                  </a:lnTo>
                  <a:lnTo>
                    <a:pt x="184" y="84"/>
                  </a:lnTo>
                  <a:lnTo>
                    <a:pt x="0" y="0"/>
                  </a:lnTo>
                  <a:close/>
                </a:path>
              </a:pathLst>
            </a:custGeom>
            <a:solidFill>
              <a:srgbClr val="001F9F"/>
            </a:solidFill>
            <a:ln w="9525">
              <a:noFill/>
              <a:round/>
              <a:headEnd/>
              <a:tailEnd/>
            </a:ln>
          </p:spPr>
          <p:txBody>
            <a:bodyPr/>
            <a:lstStyle/>
            <a:p>
              <a:endParaRPr lang="en-US"/>
            </a:p>
          </p:txBody>
        </p:sp>
        <p:sp>
          <p:nvSpPr>
            <p:cNvPr id="6271" name="Freeform 127"/>
            <p:cNvSpPr>
              <a:spLocks/>
            </p:cNvSpPr>
            <p:nvPr/>
          </p:nvSpPr>
          <p:spPr bwMode="auto">
            <a:xfrm>
              <a:off x="4832" y="1457"/>
              <a:ext cx="103" cy="200"/>
            </a:xfrm>
            <a:custGeom>
              <a:avLst/>
              <a:gdLst>
                <a:gd name="T0" fmla="*/ 0 w 103"/>
                <a:gd name="T1" fmla="*/ 161 h 200"/>
                <a:gd name="T2" fmla="*/ 0 w 103"/>
                <a:gd name="T3" fmla="*/ 200 h 200"/>
                <a:gd name="T4" fmla="*/ 103 w 103"/>
                <a:gd name="T5" fmla="*/ 32 h 200"/>
                <a:gd name="T6" fmla="*/ 103 w 103"/>
                <a:gd name="T7" fmla="*/ 0 h 200"/>
                <a:gd name="T8" fmla="*/ 0 w 103"/>
                <a:gd name="T9" fmla="*/ 161 h 200"/>
                <a:gd name="T10" fmla="*/ 0 60000 65536"/>
                <a:gd name="T11" fmla="*/ 0 60000 65536"/>
                <a:gd name="T12" fmla="*/ 0 60000 65536"/>
                <a:gd name="T13" fmla="*/ 0 60000 65536"/>
                <a:gd name="T14" fmla="*/ 0 60000 65536"/>
                <a:gd name="T15" fmla="*/ 0 w 103"/>
                <a:gd name="T16" fmla="*/ 0 h 200"/>
                <a:gd name="T17" fmla="*/ 103 w 103"/>
                <a:gd name="T18" fmla="*/ 200 h 200"/>
              </a:gdLst>
              <a:ahLst/>
              <a:cxnLst>
                <a:cxn ang="T10">
                  <a:pos x="T0" y="T1"/>
                </a:cxn>
                <a:cxn ang="T11">
                  <a:pos x="T2" y="T3"/>
                </a:cxn>
                <a:cxn ang="T12">
                  <a:pos x="T4" y="T5"/>
                </a:cxn>
                <a:cxn ang="T13">
                  <a:pos x="T6" y="T7"/>
                </a:cxn>
                <a:cxn ang="T14">
                  <a:pos x="T8" y="T9"/>
                </a:cxn>
              </a:cxnLst>
              <a:rect l="T15" t="T16" r="T17" b="T18"/>
              <a:pathLst>
                <a:path w="103" h="200">
                  <a:moveTo>
                    <a:pt x="0" y="161"/>
                  </a:moveTo>
                  <a:lnTo>
                    <a:pt x="0" y="200"/>
                  </a:lnTo>
                  <a:lnTo>
                    <a:pt x="103" y="32"/>
                  </a:lnTo>
                  <a:lnTo>
                    <a:pt x="103" y="0"/>
                  </a:lnTo>
                  <a:lnTo>
                    <a:pt x="0" y="161"/>
                  </a:lnTo>
                  <a:close/>
                </a:path>
              </a:pathLst>
            </a:custGeom>
            <a:solidFill>
              <a:srgbClr val="001F5F"/>
            </a:solidFill>
            <a:ln w="9525">
              <a:noFill/>
              <a:round/>
              <a:headEnd/>
              <a:tailEnd/>
            </a:ln>
          </p:spPr>
          <p:txBody>
            <a:bodyPr/>
            <a:lstStyle/>
            <a:p>
              <a:endParaRPr lang="en-US"/>
            </a:p>
          </p:txBody>
        </p:sp>
        <p:sp>
          <p:nvSpPr>
            <p:cNvPr id="6272" name="Freeform 128"/>
            <p:cNvSpPr>
              <a:spLocks/>
            </p:cNvSpPr>
            <p:nvPr/>
          </p:nvSpPr>
          <p:spPr bwMode="auto">
            <a:xfrm>
              <a:off x="4607" y="1324"/>
              <a:ext cx="369" cy="307"/>
            </a:xfrm>
            <a:custGeom>
              <a:avLst/>
              <a:gdLst>
                <a:gd name="T0" fmla="*/ 0 w 369"/>
                <a:gd name="T1" fmla="*/ 193 h 307"/>
                <a:gd name="T2" fmla="*/ 244 w 369"/>
                <a:gd name="T3" fmla="*/ 307 h 307"/>
                <a:gd name="T4" fmla="*/ 369 w 369"/>
                <a:gd name="T5" fmla="*/ 104 h 307"/>
                <a:gd name="T6" fmla="*/ 133 w 369"/>
                <a:gd name="T7" fmla="*/ 0 h 307"/>
                <a:gd name="T8" fmla="*/ 0 w 369"/>
                <a:gd name="T9" fmla="*/ 193 h 307"/>
                <a:gd name="T10" fmla="*/ 0 60000 65536"/>
                <a:gd name="T11" fmla="*/ 0 60000 65536"/>
                <a:gd name="T12" fmla="*/ 0 60000 65536"/>
                <a:gd name="T13" fmla="*/ 0 60000 65536"/>
                <a:gd name="T14" fmla="*/ 0 60000 65536"/>
                <a:gd name="T15" fmla="*/ 0 w 369"/>
                <a:gd name="T16" fmla="*/ 0 h 307"/>
                <a:gd name="T17" fmla="*/ 369 w 369"/>
                <a:gd name="T18" fmla="*/ 307 h 307"/>
              </a:gdLst>
              <a:ahLst/>
              <a:cxnLst>
                <a:cxn ang="T10">
                  <a:pos x="T0" y="T1"/>
                </a:cxn>
                <a:cxn ang="T11">
                  <a:pos x="T2" y="T3"/>
                </a:cxn>
                <a:cxn ang="T12">
                  <a:pos x="T4" y="T5"/>
                </a:cxn>
                <a:cxn ang="T13">
                  <a:pos x="T6" y="T7"/>
                </a:cxn>
                <a:cxn ang="T14">
                  <a:pos x="T8" y="T9"/>
                </a:cxn>
              </a:cxnLst>
              <a:rect l="T15" t="T16" r="T17" b="T18"/>
              <a:pathLst>
                <a:path w="369" h="307">
                  <a:moveTo>
                    <a:pt x="0" y="193"/>
                  </a:moveTo>
                  <a:lnTo>
                    <a:pt x="244" y="307"/>
                  </a:lnTo>
                  <a:lnTo>
                    <a:pt x="369" y="104"/>
                  </a:lnTo>
                  <a:lnTo>
                    <a:pt x="133" y="0"/>
                  </a:lnTo>
                  <a:lnTo>
                    <a:pt x="0" y="193"/>
                  </a:lnTo>
                  <a:close/>
                </a:path>
              </a:pathLst>
            </a:custGeom>
            <a:solidFill>
              <a:srgbClr val="5F7FFF"/>
            </a:solidFill>
            <a:ln w="9525">
              <a:noFill/>
              <a:round/>
              <a:headEnd/>
              <a:tailEnd/>
            </a:ln>
          </p:spPr>
          <p:txBody>
            <a:bodyPr/>
            <a:lstStyle/>
            <a:p>
              <a:endParaRPr lang="en-US"/>
            </a:p>
          </p:txBody>
        </p:sp>
        <p:sp>
          <p:nvSpPr>
            <p:cNvPr id="6273" name="Freeform 129"/>
            <p:cNvSpPr>
              <a:spLocks/>
            </p:cNvSpPr>
            <p:nvPr/>
          </p:nvSpPr>
          <p:spPr bwMode="auto">
            <a:xfrm>
              <a:off x="4639" y="1134"/>
              <a:ext cx="291" cy="173"/>
            </a:xfrm>
            <a:custGeom>
              <a:avLst/>
              <a:gdLst>
                <a:gd name="T0" fmla="*/ 193 w 291"/>
                <a:gd name="T1" fmla="*/ 173 h 173"/>
                <a:gd name="T2" fmla="*/ 291 w 291"/>
                <a:gd name="T3" fmla="*/ 59 h 173"/>
                <a:gd name="T4" fmla="*/ 109 w 291"/>
                <a:gd name="T5" fmla="*/ 0 h 173"/>
                <a:gd name="T6" fmla="*/ 0 w 291"/>
                <a:gd name="T7" fmla="*/ 110 h 173"/>
                <a:gd name="T8" fmla="*/ 193 w 291"/>
                <a:gd name="T9" fmla="*/ 173 h 173"/>
                <a:gd name="T10" fmla="*/ 0 60000 65536"/>
                <a:gd name="T11" fmla="*/ 0 60000 65536"/>
                <a:gd name="T12" fmla="*/ 0 60000 65536"/>
                <a:gd name="T13" fmla="*/ 0 60000 65536"/>
                <a:gd name="T14" fmla="*/ 0 60000 65536"/>
                <a:gd name="T15" fmla="*/ 0 w 291"/>
                <a:gd name="T16" fmla="*/ 0 h 173"/>
                <a:gd name="T17" fmla="*/ 291 w 291"/>
                <a:gd name="T18" fmla="*/ 173 h 173"/>
              </a:gdLst>
              <a:ahLst/>
              <a:cxnLst>
                <a:cxn ang="T10">
                  <a:pos x="T0" y="T1"/>
                </a:cxn>
                <a:cxn ang="T11">
                  <a:pos x="T2" y="T3"/>
                </a:cxn>
                <a:cxn ang="T12">
                  <a:pos x="T4" y="T5"/>
                </a:cxn>
                <a:cxn ang="T13">
                  <a:pos x="T6" y="T7"/>
                </a:cxn>
                <a:cxn ang="T14">
                  <a:pos x="T8" y="T9"/>
                </a:cxn>
              </a:cxnLst>
              <a:rect l="T15" t="T16" r="T17" b="T18"/>
              <a:pathLst>
                <a:path w="291" h="173">
                  <a:moveTo>
                    <a:pt x="193" y="173"/>
                  </a:moveTo>
                  <a:lnTo>
                    <a:pt x="291" y="59"/>
                  </a:lnTo>
                  <a:lnTo>
                    <a:pt x="109" y="0"/>
                  </a:lnTo>
                  <a:lnTo>
                    <a:pt x="0" y="110"/>
                  </a:lnTo>
                  <a:lnTo>
                    <a:pt x="193" y="173"/>
                  </a:lnTo>
                  <a:close/>
                </a:path>
              </a:pathLst>
            </a:custGeom>
            <a:solidFill>
              <a:srgbClr val="9FBFFF"/>
            </a:solidFill>
            <a:ln w="9525">
              <a:noFill/>
              <a:round/>
              <a:headEnd/>
              <a:tailEnd/>
            </a:ln>
          </p:spPr>
          <p:txBody>
            <a:bodyPr/>
            <a:lstStyle/>
            <a:p>
              <a:endParaRPr lang="en-US"/>
            </a:p>
          </p:txBody>
        </p:sp>
        <p:sp>
          <p:nvSpPr>
            <p:cNvPr id="6274" name="Freeform 130"/>
            <p:cNvSpPr>
              <a:spLocks/>
            </p:cNvSpPr>
            <p:nvPr/>
          </p:nvSpPr>
          <p:spPr bwMode="auto">
            <a:xfrm>
              <a:off x="4786" y="847"/>
              <a:ext cx="101" cy="204"/>
            </a:xfrm>
            <a:custGeom>
              <a:avLst/>
              <a:gdLst>
                <a:gd name="T0" fmla="*/ 0 w 101"/>
                <a:gd name="T1" fmla="*/ 0 h 204"/>
                <a:gd name="T2" fmla="*/ 24 w 101"/>
                <a:gd name="T3" fmla="*/ 204 h 204"/>
                <a:gd name="T4" fmla="*/ 101 w 101"/>
                <a:gd name="T5" fmla="*/ 138 h 204"/>
                <a:gd name="T6" fmla="*/ 0 w 101"/>
                <a:gd name="T7" fmla="*/ 0 h 204"/>
                <a:gd name="T8" fmla="*/ 0 60000 65536"/>
                <a:gd name="T9" fmla="*/ 0 60000 65536"/>
                <a:gd name="T10" fmla="*/ 0 60000 65536"/>
                <a:gd name="T11" fmla="*/ 0 60000 65536"/>
                <a:gd name="T12" fmla="*/ 0 w 101"/>
                <a:gd name="T13" fmla="*/ 0 h 204"/>
                <a:gd name="T14" fmla="*/ 101 w 101"/>
                <a:gd name="T15" fmla="*/ 204 h 204"/>
              </a:gdLst>
              <a:ahLst/>
              <a:cxnLst>
                <a:cxn ang="T8">
                  <a:pos x="T0" y="T1"/>
                </a:cxn>
                <a:cxn ang="T9">
                  <a:pos x="T2" y="T3"/>
                </a:cxn>
                <a:cxn ang="T10">
                  <a:pos x="T4" y="T5"/>
                </a:cxn>
                <a:cxn ang="T11">
                  <a:pos x="T6" y="T7"/>
                </a:cxn>
              </a:cxnLst>
              <a:rect l="T12" t="T13" r="T14" b="T15"/>
              <a:pathLst>
                <a:path w="101" h="204">
                  <a:moveTo>
                    <a:pt x="0" y="0"/>
                  </a:moveTo>
                  <a:lnTo>
                    <a:pt x="24" y="204"/>
                  </a:lnTo>
                  <a:lnTo>
                    <a:pt x="101" y="138"/>
                  </a:lnTo>
                  <a:lnTo>
                    <a:pt x="0" y="0"/>
                  </a:lnTo>
                  <a:close/>
                </a:path>
              </a:pathLst>
            </a:custGeom>
            <a:solidFill>
              <a:srgbClr val="5F7FFF"/>
            </a:solidFill>
            <a:ln w="9525">
              <a:noFill/>
              <a:round/>
              <a:headEnd/>
              <a:tailEnd/>
            </a:ln>
          </p:spPr>
          <p:txBody>
            <a:bodyPr/>
            <a:lstStyle/>
            <a:p>
              <a:endParaRPr lang="en-US"/>
            </a:p>
          </p:txBody>
        </p:sp>
        <p:sp>
          <p:nvSpPr>
            <p:cNvPr id="6275" name="Freeform 131"/>
            <p:cNvSpPr>
              <a:spLocks/>
            </p:cNvSpPr>
            <p:nvPr/>
          </p:nvSpPr>
          <p:spPr bwMode="auto">
            <a:xfrm>
              <a:off x="4698" y="846"/>
              <a:ext cx="112" cy="205"/>
            </a:xfrm>
            <a:custGeom>
              <a:avLst/>
              <a:gdLst>
                <a:gd name="T0" fmla="*/ 88 w 112"/>
                <a:gd name="T1" fmla="*/ 0 h 205"/>
                <a:gd name="T2" fmla="*/ 112 w 112"/>
                <a:gd name="T3" fmla="*/ 205 h 205"/>
                <a:gd name="T4" fmla="*/ 0 w 112"/>
                <a:gd name="T5" fmla="*/ 184 h 205"/>
                <a:gd name="T6" fmla="*/ 88 w 112"/>
                <a:gd name="T7" fmla="*/ 0 h 205"/>
                <a:gd name="T8" fmla="*/ 0 60000 65536"/>
                <a:gd name="T9" fmla="*/ 0 60000 65536"/>
                <a:gd name="T10" fmla="*/ 0 60000 65536"/>
                <a:gd name="T11" fmla="*/ 0 60000 65536"/>
                <a:gd name="T12" fmla="*/ 0 w 112"/>
                <a:gd name="T13" fmla="*/ 0 h 205"/>
                <a:gd name="T14" fmla="*/ 112 w 112"/>
                <a:gd name="T15" fmla="*/ 205 h 205"/>
              </a:gdLst>
              <a:ahLst/>
              <a:cxnLst>
                <a:cxn ang="T8">
                  <a:pos x="T0" y="T1"/>
                </a:cxn>
                <a:cxn ang="T9">
                  <a:pos x="T2" y="T3"/>
                </a:cxn>
                <a:cxn ang="T10">
                  <a:pos x="T4" y="T5"/>
                </a:cxn>
                <a:cxn ang="T11">
                  <a:pos x="T6" y="T7"/>
                </a:cxn>
              </a:cxnLst>
              <a:rect l="T12" t="T13" r="T14" b="T15"/>
              <a:pathLst>
                <a:path w="112" h="205">
                  <a:moveTo>
                    <a:pt x="88" y="0"/>
                  </a:moveTo>
                  <a:lnTo>
                    <a:pt x="112" y="205"/>
                  </a:lnTo>
                  <a:lnTo>
                    <a:pt x="0" y="184"/>
                  </a:lnTo>
                  <a:lnTo>
                    <a:pt x="88" y="0"/>
                  </a:lnTo>
                  <a:close/>
                </a:path>
              </a:pathLst>
            </a:custGeom>
            <a:solidFill>
              <a:srgbClr val="9FBFFF"/>
            </a:solidFill>
            <a:ln w="9525">
              <a:noFill/>
              <a:round/>
              <a:headEnd/>
              <a:tailEnd/>
            </a:ln>
          </p:spPr>
          <p:txBody>
            <a:bodyPr/>
            <a:lstStyle/>
            <a:p>
              <a:endParaRPr lang="en-US"/>
            </a:p>
          </p:txBody>
        </p:sp>
        <p:sp>
          <p:nvSpPr>
            <p:cNvPr id="6276" name="Freeform 132"/>
            <p:cNvSpPr>
              <a:spLocks/>
            </p:cNvSpPr>
            <p:nvPr/>
          </p:nvSpPr>
          <p:spPr bwMode="auto">
            <a:xfrm>
              <a:off x="4698" y="1030"/>
              <a:ext cx="111" cy="249"/>
            </a:xfrm>
            <a:custGeom>
              <a:avLst/>
              <a:gdLst>
                <a:gd name="T0" fmla="*/ 0 w 111"/>
                <a:gd name="T1" fmla="*/ 0 h 249"/>
                <a:gd name="T2" fmla="*/ 111 w 111"/>
                <a:gd name="T3" fmla="*/ 21 h 249"/>
                <a:gd name="T4" fmla="*/ 111 w 111"/>
                <a:gd name="T5" fmla="*/ 249 h 249"/>
                <a:gd name="T6" fmla="*/ 0 w 111"/>
                <a:gd name="T7" fmla="*/ 211 h 249"/>
                <a:gd name="T8" fmla="*/ 0 w 111"/>
                <a:gd name="T9" fmla="*/ 0 h 249"/>
                <a:gd name="T10" fmla="*/ 0 60000 65536"/>
                <a:gd name="T11" fmla="*/ 0 60000 65536"/>
                <a:gd name="T12" fmla="*/ 0 60000 65536"/>
                <a:gd name="T13" fmla="*/ 0 60000 65536"/>
                <a:gd name="T14" fmla="*/ 0 60000 65536"/>
                <a:gd name="T15" fmla="*/ 0 w 111"/>
                <a:gd name="T16" fmla="*/ 0 h 249"/>
                <a:gd name="T17" fmla="*/ 111 w 111"/>
                <a:gd name="T18" fmla="*/ 249 h 249"/>
              </a:gdLst>
              <a:ahLst/>
              <a:cxnLst>
                <a:cxn ang="T10">
                  <a:pos x="T0" y="T1"/>
                </a:cxn>
                <a:cxn ang="T11">
                  <a:pos x="T2" y="T3"/>
                </a:cxn>
                <a:cxn ang="T12">
                  <a:pos x="T4" y="T5"/>
                </a:cxn>
                <a:cxn ang="T13">
                  <a:pos x="T6" y="T7"/>
                </a:cxn>
                <a:cxn ang="T14">
                  <a:pos x="T8" y="T9"/>
                </a:cxn>
              </a:cxnLst>
              <a:rect l="T15" t="T16" r="T17" b="T18"/>
              <a:pathLst>
                <a:path w="111" h="249">
                  <a:moveTo>
                    <a:pt x="0" y="0"/>
                  </a:moveTo>
                  <a:lnTo>
                    <a:pt x="111" y="21"/>
                  </a:lnTo>
                  <a:lnTo>
                    <a:pt x="111" y="249"/>
                  </a:lnTo>
                  <a:lnTo>
                    <a:pt x="0" y="211"/>
                  </a:lnTo>
                  <a:lnTo>
                    <a:pt x="0" y="0"/>
                  </a:lnTo>
                  <a:close/>
                </a:path>
              </a:pathLst>
            </a:custGeom>
            <a:solidFill>
              <a:srgbClr val="5F7FFF"/>
            </a:solidFill>
            <a:ln w="9525">
              <a:noFill/>
              <a:round/>
              <a:headEnd/>
              <a:tailEnd/>
            </a:ln>
          </p:spPr>
          <p:txBody>
            <a:bodyPr/>
            <a:lstStyle/>
            <a:p>
              <a:endParaRPr lang="en-US"/>
            </a:p>
          </p:txBody>
        </p:sp>
        <p:sp>
          <p:nvSpPr>
            <p:cNvPr id="6277" name="Freeform 133"/>
            <p:cNvSpPr>
              <a:spLocks/>
            </p:cNvSpPr>
            <p:nvPr/>
          </p:nvSpPr>
          <p:spPr bwMode="auto">
            <a:xfrm>
              <a:off x="4809" y="983"/>
              <a:ext cx="76" cy="297"/>
            </a:xfrm>
            <a:custGeom>
              <a:avLst/>
              <a:gdLst>
                <a:gd name="T0" fmla="*/ 0 w 76"/>
                <a:gd name="T1" fmla="*/ 68 h 297"/>
                <a:gd name="T2" fmla="*/ 76 w 76"/>
                <a:gd name="T3" fmla="*/ 0 h 297"/>
                <a:gd name="T4" fmla="*/ 76 w 76"/>
                <a:gd name="T5" fmla="*/ 213 h 297"/>
                <a:gd name="T6" fmla="*/ 0 w 76"/>
                <a:gd name="T7" fmla="*/ 297 h 297"/>
                <a:gd name="T8" fmla="*/ 0 w 76"/>
                <a:gd name="T9" fmla="*/ 68 h 297"/>
                <a:gd name="T10" fmla="*/ 0 60000 65536"/>
                <a:gd name="T11" fmla="*/ 0 60000 65536"/>
                <a:gd name="T12" fmla="*/ 0 60000 65536"/>
                <a:gd name="T13" fmla="*/ 0 60000 65536"/>
                <a:gd name="T14" fmla="*/ 0 60000 65536"/>
                <a:gd name="T15" fmla="*/ 0 w 76"/>
                <a:gd name="T16" fmla="*/ 0 h 297"/>
                <a:gd name="T17" fmla="*/ 76 w 76"/>
                <a:gd name="T18" fmla="*/ 297 h 297"/>
              </a:gdLst>
              <a:ahLst/>
              <a:cxnLst>
                <a:cxn ang="T10">
                  <a:pos x="T0" y="T1"/>
                </a:cxn>
                <a:cxn ang="T11">
                  <a:pos x="T2" y="T3"/>
                </a:cxn>
                <a:cxn ang="T12">
                  <a:pos x="T4" y="T5"/>
                </a:cxn>
                <a:cxn ang="T13">
                  <a:pos x="T6" y="T7"/>
                </a:cxn>
                <a:cxn ang="T14">
                  <a:pos x="T8" y="T9"/>
                </a:cxn>
              </a:cxnLst>
              <a:rect l="T15" t="T16" r="T17" b="T18"/>
              <a:pathLst>
                <a:path w="76" h="297">
                  <a:moveTo>
                    <a:pt x="0" y="68"/>
                  </a:moveTo>
                  <a:lnTo>
                    <a:pt x="76" y="0"/>
                  </a:lnTo>
                  <a:lnTo>
                    <a:pt x="76" y="213"/>
                  </a:lnTo>
                  <a:lnTo>
                    <a:pt x="0" y="297"/>
                  </a:lnTo>
                  <a:lnTo>
                    <a:pt x="0" y="68"/>
                  </a:lnTo>
                  <a:close/>
                </a:path>
              </a:pathLst>
            </a:custGeom>
            <a:solidFill>
              <a:srgbClr val="3F7FFF"/>
            </a:solidFill>
            <a:ln w="9525">
              <a:noFill/>
              <a:round/>
              <a:headEnd/>
              <a:tailEnd/>
            </a:ln>
          </p:spPr>
          <p:txBody>
            <a:bodyPr/>
            <a:lstStyle/>
            <a:p>
              <a:endParaRPr lang="en-US"/>
            </a:p>
          </p:txBody>
        </p:sp>
        <p:sp>
          <p:nvSpPr>
            <p:cNvPr id="6278" name="Freeform 134"/>
            <p:cNvSpPr>
              <a:spLocks/>
            </p:cNvSpPr>
            <p:nvPr/>
          </p:nvSpPr>
          <p:spPr bwMode="auto">
            <a:xfrm>
              <a:off x="4639" y="1244"/>
              <a:ext cx="191" cy="335"/>
            </a:xfrm>
            <a:custGeom>
              <a:avLst/>
              <a:gdLst>
                <a:gd name="T0" fmla="*/ 0 w 191"/>
                <a:gd name="T1" fmla="*/ 0 h 335"/>
                <a:gd name="T2" fmla="*/ 191 w 191"/>
                <a:gd name="T3" fmla="*/ 63 h 335"/>
                <a:gd name="T4" fmla="*/ 191 w 191"/>
                <a:gd name="T5" fmla="*/ 335 h 335"/>
                <a:gd name="T6" fmla="*/ 0 w 191"/>
                <a:gd name="T7" fmla="*/ 252 h 335"/>
                <a:gd name="T8" fmla="*/ 0 w 191"/>
                <a:gd name="T9" fmla="*/ 0 h 335"/>
                <a:gd name="T10" fmla="*/ 0 60000 65536"/>
                <a:gd name="T11" fmla="*/ 0 60000 65536"/>
                <a:gd name="T12" fmla="*/ 0 60000 65536"/>
                <a:gd name="T13" fmla="*/ 0 60000 65536"/>
                <a:gd name="T14" fmla="*/ 0 60000 65536"/>
                <a:gd name="T15" fmla="*/ 0 w 191"/>
                <a:gd name="T16" fmla="*/ 0 h 335"/>
                <a:gd name="T17" fmla="*/ 191 w 191"/>
                <a:gd name="T18" fmla="*/ 335 h 335"/>
              </a:gdLst>
              <a:ahLst/>
              <a:cxnLst>
                <a:cxn ang="T10">
                  <a:pos x="T0" y="T1"/>
                </a:cxn>
                <a:cxn ang="T11">
                  <a:pos x="T2" y="T3"/>
                </a:cxn>
                <a:cxn ang="T12">
                  <a:pos x="T4" y="T5"/>
                </a:cxn>
                <a:cxn ang="T13">
                  <a:pos x="T6" y="T7"/>
                </a:cxn>
                <a:cxn ang="T14">
                  <a:pos x="T8" y="T9"/>
                </a:cxn>
              </a:cxnLst>
              <a:rect l="T15" t="T16" r="T17" b="T18"/>
              <a:pathLst>
                <a:path w="191" h="335">
                  <a:moveTo>
                    <a:pt x="0" y="0"/>
                  </a:moveTo>
                  <a:lnTo>
                    <a:pt x="191" y="63"/>
                  </a:lnTo>
                  <a:lnTo>
                    <a:pt x="191" y="335"/>
                  </a:lnTo>
                  <a:lnTo>
                    <a:pt x="0" y="252"/>
                  </a:lnTo>
                  <a:lnTo>
                    <a:pt x="0" y="0"/>
                  </a:lnTo>
                  <a:close/>
                </a:path>
              </a:pathLst>
            </a:custGeom>
            <a:solidFill>
              <a:srgbClr val="3F7FFF"/>
            </a:solidFill>
            <a:ln w="9525">
              <a:noFill/>
              <a:round/>
              <a:headEnd/>
              <a:tailEnd/>
            </a:ln>
          </p:spPr>
          <p:txBody>
            <a:bodyPr/>
            <a:lstStyle/>
            <a:p>
              <a:endParaRPr lang="en-US"/>
            </a:p>
          </p:txBody>
        </p:sp>
        <p:sp>
          <p:nvSpPr>
            <p:cNvPr id="6279" name="Freeform 135"/>
            <p:cNvSpPr>
              <a:spLocks/>
            </p:cNvSpPr>
            <p:nvPr/>
          </p:nvSpPr>
          <p:spPr bwMode="auto">
            <a:xfrm>
              <a:off x="4830" y="1193"/>
              <a:ext cx="100" cy="386"/>
            </a:xfrm>
            <a:custGeom>
              <a:avLst/>
              <a:gdLst>
                <a:gd name="T0" fmla="*/ 0 w 100"/>
                <a:gd name="T1" fmla="*/ 114 h 386"/>
                <a:gd name="T2" fmla="*/ 100 w 100"/>
                <a:gd name="T3" fmla="*/ 0 h 386"/>
                <a:gd name="T4" fmla="*/ 100 w 100"/>
                <a:gd name="T5" fmla="*/ 231 h 386"/>
                <a:gd name="T6" fmla="*/ 0 w 100"/>
                <a:gd name="T7" fmla="*/ 386 h 386"/>
                <a:gd name="T8" fmla="*/ 0 w 100"/>
                <a:gd name="T9" fmla="*/ 114 h 386"/>
                <a:gd name="T10" fmla="*/ 0 60000 65536"/>
                <a:gd name="T11" fmla="*/ 0 60000 65536"/>
                <a:gd name="T12" fmla="*/ 0 60000 65536"/>
                <a:gd name="T13" fmla="*/ 0 60000 65536"/>
                <a:gd name="T14" fmla="*/ 0 60000 65536"/>
                <a:gd name="T15" fmla="*/ 0 w 100"/>
                <a:gd name="T16" fmla="*/ 0 h 386"/>
                <a:gd name="T17" fmla="*/ 100 w 100"/>
                <a:gd name="T18" fmla="*/ 386 h 386"/>
              </a:gdLst>
              <a:ahLst/>
              <a:cxnLst>
                <a:cxn ang="T10">
                  <a:pos x="T0" y="T1"/>
                </a:cxn>
                <a:cxn ang="T11">
                  <a:pos x="T2" y="T3"/>
                </a:cxn>
                <a:cxn ang="T12">
                  <a:pos x="T4" y="T5"/>
                </a:cxn>
                <a:cxn ang="T13">
                  <a:pos x="T6" y="T7"/>
                </a:cxn>
                <a:cxn ang="T14">
                  <a:pos x="T8" y="T9"/>
                </a:cxn>
              </a:cxnLst>
              <a:rect l="T15" t="T16" r="T17" b="T18"/>
              <a:pathLst>
                <a:path w="100" h="386">
                  <a:moveTo>
                    <a:pt x="0" y="114"/>
                  </a:moveTo>
                  <a:lnTo>
                    <a:pt x="100" y="0"/>
                  </a:lnTo>
                  <a:lnTo>
                    <a:pt x="100" y="231"/>
                  </a:lnTo>
                  <a:lnTo>
                    <a:pt x="0" y="386"/>
                  </a:lnTo>
                  <a:lnTo>
                    <a:pt x="0" y="114"/>
                  </a:lnTo>
                  <a:close/>
                </a:path>
              </a:pathLst>
            </a:custGeom>
            <a:solidFill>
              <a:srgbClr val="001F9F"/>
            </a:solidFill>
            <a:ln w="9525">
              <a:noFill/>
              <a:round/>
              <a:headEnd/>
              <a:tailEnd/>
            </a:ln>
          </p:spPr>
          <p:txBody>
            <a:bodyPr/>
            <a:lstStyle/>
            <a:p>
              <a:endParaRPr lang="en-US"/>
            </a:p>
          </p:txBody>
        </p:sp>
        <p:sp>
          <p:nvSpPr>
            <p:cNvPr id="6280" name="Freeform 136"/>
            <p:cNvSpPr>
              <a:spLocks/>
            </p:cNvSpPr>
            <p:nvPr/>
          </p:nvSpPr>
          <p:spPr bwMode="auto">
            <a:xfrm>
              <a:off x="4757" y="1055"/>
              <a:ext cx="18" cy="72"/>
            </a:xfrm>
            <a:custGeom>
              <a:avLst/>
              <a:gdLst>
                <a:gd name="T0" fmla="*/ 15 w 16"/>
                <a:gd name="T1" fmla="*/ 61 h 61"/>
                <a:gd name="T2" fmla="*/ 16 w 16"/>
                <a:gd name="T3" fmla="*/ 57 h 61"/>
                <a:gd name="T4" fmla="*/ 1 w 16"/>
                <a:gd name="T5" fmla="*/ 1 h 61"/>
                <a:gd name="T6" fmla="*/ 0 w 16"/>
                <a:gd name="T7" fmla="*/ 1 h 61"/>
                <a:gd name="T8" fmla="*/ 1 w 16"/>
                <a:gd name="T9" fmla="*/ 57 h 61"/>
                <a:gd name="T10" fmla="*/ 15 w 16"/>
                <a:gd name="T11" fmla="*/ 61 h 61"/>
                <a:gd name="T12" fmla="*/ 0 60000 65536"/>
                <a:gd name="T13" fmla="*/ 0 60000 65536"/>
                <a:gd name="T14" fmla="*/ 0 60000 65536"/>
                <a:gd name="T15" fmla="*/ 0 60000 65536"/>
                <a:gd name="T16" fmla="*/ 0 60000 65536"/>
                <a:gd name="T17" fmla="*/ 0 60000 65536"/>
                <a:gd name="T18" fmla="*/ 0 w 16"/>
                <a:gd name="T19" fmla="*/ 0 h 61"/>
                <a:gd name="T20" fmla="*/ 16 w 16"/>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16" h="61">
                  <a:moveTo>
                    <a:pt x="15" y="61"/>
                  </a:moveTo>
                  <a:cubicBezTo>
                    <a:pt x="15" y="60"/>
                    <a:pt x="16" y="58"/>
                    <a:pt x="16" y="57"/>
                  </a:cubicBezTo>
                  <a:cubicBezTo>
                    <a:pt x="16" y="26"/>
                    <a:pt x="9" y="1"/>
                    <a:pt x="1" y="1"/>
                  </a:cubicBezTo>
                  <a:cubicBezTo>
                    <a:pt x="1" y="0"/>
                    <a:pt x="1" y="1"/>
                    <a:pt x="0" y="1"/>
                  </a:cubicBezTo>
                  <a:lnTo>
                    <a:pt x="1" y="57"/>
                  </a:lnTo>
                  <a:lnTo>
                    <a:pt x="15" y="61"/>
                  </a:lnTo>
                  <a:close/>
                </a:path>
              </a:pathLst>
            </a:custGeom>
            <a:noFill/>
            <a:ln w="7938">
              <a:solidFill>
                <a:srgbClr val="000000"/>
              </a:solidFill>
              <a:prstDash val="solid"/>
              <a:round/>
              <a:headEnd/>
              <a:tailEnd/>
            </a:ln>
          </p:spPr>
          <p:txBody>
            <a:bodyPr/>
            <a:lstStyle/>
            <a:p>
              <a:endParaRPr lang="en-US"/>
            </a:p>
          </p:txBody>
        </p:sp>
        <p:sp>
          <p:nvSpPr>
            <p:cNvPr id="6281" name="Freeform 137"/>
            <p:cNvSpPr>
              <a:spLocks/>
            </p:cNvSpPr>
            <p:nvPr/>
          </p:nvSpPr>
          <p:spPr bwMode="auto">
            <a:xfrm>
              <a:off x="4732" y="1054"/>
              <a:ext cx="15" cy="65"/>
            </a:xfrm>
            <a:custGeom>
              <a:avLst/>
              <a:gdLst>
                <a:gd name="T0" fmla="*/ 12 w 13"/>
                <a:gd name="T1" fmla="*/ 0 h 56"/>
                <a:gd name="T2" fmla="*/ 0 w 13"/>
                <a:gd name="T3" fmla="*/ 50 h 56"/>
                <a:gd name="T4" fmla="*/ 13 w 13"/>
                <a:gd name="T5" fmla="*/ 56 h 56"/>
                <a:gd name="T6" fmla="*/ 12 w 13"/>
                <a:gd name="T7" fmla="*/ 0 h 56"/>
                <a:gd name="T8" fmla="*/ 0 60000 65536"/>
                <a:gd name="T9" fmla="*/ 0 60000 65536"/>
                <a:gd name="T10" fmla="*/ 0 60000 65536"/>
                <a:gd name="T11" fmla="*/ 0 60000 65536"/>
                <a:gd name="T12" fmla="*/ 0 w 13"/>
                <a:gd name="T13" fmla="*/ 0 h 56"/>
                <a:gd name="T14" fmla="*/ 13 w 13"/>
                <a:gd name="T15" fmla="*/ 56 h 56"/>
              </a:gdLst>
              <a:ahLst/>
              <a:cxnLst>
                <a:cxn ang="T8">
                  <a:pos x="T0" y="T1"/>
                </a:cxn>
                <a:cxn ang="T9">
                  <a:pos x="T2" y="T3"/>
                </a:cxn>
                <a:cxn ang="T10">
                  <a:pos x="T4" y="T5"/>
                </a:cxn>
                <a:cxn ang="T11">
                  <a:pos x="T6" y="T7"/>
                </a:cxn>
              </a:cxnLst>
              <a:rect l="T12" t="T13" r="T14" b="T15"/>
              <a:pathLst>
                <a:path w="13" h="56">
                  <a:moveTo>
                    <a:pt x="12" y="0"/>
                  </a:moveTo>
                  <a:cubicBezTo>
                    <a:pt x="6" y="1"/>
                    <a:pt x="0" y="22"/>
                    <a:pt x="0" y="50"/>
                  </a:cubicBezTo>
                  <a:lnTo>
                    <a:pt x="13" y="56"/>
                  </a:lnTo>
                  <a:lnTo>
                    <a:pt x="12" y="0"/>
                  </a:lnTo>
                  <a:close/>
                </a:path>
              </a:pathLst>
            </a:custGeom>
            <a:noFill/>
            <a:ln w="7938">
              <a:solidFill>
                <a:srgbClr val="000000"/>
              </a:solidFill>
              <a:prstDash val="solid"/>
              <a:round/>
              <a:headEnd/>
              <a:tailEnd/>
            </a:ln>
          </p:spPr>
          <p:txBody>
            <a:bodyPr/>
            <a:lstStyle/>
            <a:p>
              <a:endParaRPr lang="en-US"/>
            </a:p>
          </p:txBody>
        </p:sp>
        <p:sp>
          <p:nvSpPr>
            <p:cNvPr id="6282" name="Freeform 138"/>
            <p:cNvSpPr>
              <a:spLocks/>
            </p:cNvSpPr>
            <p:nvPr/>
          </p:nvSpPr>
          <p:spPr bwMode="auto">
            <a:xfrm>
              <a:off x="4734" y="1123"/>
              <a:ext cx="13" cy="59"/>
            </a:xfrm>
            <a:custGeom>
              <a:avLst/>
              <a:gdLst>
                <a:gd name="T0" fmla="*/ 0 w 13"/>
                <a:gd name="T1" fmla="*/ 0 h 59"/>
                <a:gd name="T2" fmla="*/ 0 w 13"/>
                <a:gd name="T3" fmla="*/ 55 h 59"/>
                <a:gd name="T4" fmla="*/ 13 w 13"/>
                <a:gd name="T5" fmla="*/ 59 h 59"/>
                <a:gd name="T6" fmla="*/ 13 w 13"/>
                <a:gd name="T7" fmla="*/ 6 h 59"/>
                <a:gd name="T8" fmla="*/ 0 w 13"/>
                <a:gd name="T9" fmla="*/ 0 h 59"/>
                <a:gd name="T10" fmla="*/ 0 60000 65536"/>
                <a:gd name="T11" fmla="*/ 0 60000 65536"/>
                <a:gd name="T12" fmla="*/ 0 60000 65536"/>
                <a:gd name="T13" fmla="*/ 0 60000 65536"/>
                <a:gd name="T14" fmla="*/ 0 60000 65536"/>
                <a:gd name="T15" fmla="*/ 0 w 13"/>
                <a:gd name="T16" fmla="*/ 0 h 59"/>
                <a:gd name="T17" fmla="*/ 13 w 13"/>
                <a:gd name="T18" fmla="*/ 59 h 59"/>
              </a:gdLst>
              <a:ahLst/>
              <a:cxnLst>
                <a:cxn ang="T10">
                  <a:pos x="T0" y="T1"/>
                </a:cxn>
                <a:cxn ang="T11">
                  <a:pos x="T2" y="T3"/>
                </a:cxn>
                <a:cxn ang="T12">
                  <a:pos x="T4" y="T5"/>
                </a:cxn>
                <a:cxn ang="T13">
                  <a:pos x="T6" y="T7"/>
                </a:cxn>
                <a:cxn ang="T14">
                  <a:pos x="T8" y="T9"/>
                </a:cxn>
              </a:cxnLst>
              <a:rect l="T15" t="T16" r="T17" b="T18"/>
              <a:pathLst>
                <a:path w="13" h="59">
                  <a:moveTo>
                    <a:pt x="0" y="0"/>
                  </a:moveTo>
                  <a:lnTo>
                    <a:pt x="0" y="55"/>
                  </a:lnTo>
                  <a:lnTo>
                    <a:pt x="13" y="59"/>
                  </a:lnTo>
                  <a:lnTo>
                    <a:pt x="13" y="6"/>
                  </a:lnTo>
                  <a:lnTo>
                    <a:pt x="0" y="0"/>
                  </a:lnTo>
                  <a:close/>
                </a:path>
              </a:pathLst>
            </a:custGeom>
            <a:solidFill>
              <a:srgbClr val="000000"/>
            </a:solidFill>
            <a:ln w="7938">
              <a:solidFill>
                <a:srgbClr val="000000"/>
              </a:solidFill>
              <a:prstDash val="solid"/>
              <a:round/>
              <a:headEnd/>
              <a:tailEnd/>
            </a:ln>
          </p:spPr>
          <p:txBody>
            <a:bodyPr/>
            <a:lstStyle/>
            <a:p>
              <a:endParaRPr lang="en-US"/>
            </a:p>
          </p:txBody>
        </p:sp>
        <p:sp>
          <p:nvSpPr>
            <p:cNvPr id="6283" name="Freeform 139"/>
            <p:cNvSpPr>
              <a:spLocks/>
            </p:cNvSpPr>
            <p:nvPr/>
          </p:nvSpPr>
          <p:spPr bwMode="auto">
            <a:xfrm>
              <a:off x="4758" y="1131"/>
              <a:ext cx="13" cy="59"/>
            </a:xfrm>
            <a:custGeom>
              <a:avLst/>
              <a:gdLst>
                <a:gd name="T0" fmla="*/ 0 w 13"/>
                <a:gd name="T1" fmla="*/ 0 h 59"/>
                <a:gd name="T2" fmla="*/ 0 w 13"/>
                <a:gd name="T3" fmla="*/ 54 h 59"/>
                <a:gd name="T4" fmla="*/ 13 w 13"/>
                <a:gd name="T5" fmla="*/ 59 h 59"/>
                <a:gd name="T6" fmla="*/ 13 w 13"/>
                <a:gd name="T7" fmla="*/ 5 h 59"/>
                <a:gd name="T8" fmla="*/ 0 w 13"/>
                <a:gd name="T9" fmla="*/ 0 h 59"/>
                <a:gd name="T10" fmla="*/ 0 60000 65536"/>
                <a:gd name="T11" fmla="*/ 0 60000 65536"/>
                <a:gd name="T12" fmla="*/ 0 60000 65536"/>
                <a:gd name="T13" fmla="*/ 0 60000 65536"/>
                <a:gd name="T14" fmla="*/ 0 60000 65536"/>
                <a:gd name="T15" fmla="*/ 0 w 13"/>
                <a:gd name="T16" fmla="*/ 0 h 59"/>
                <a:gd name="T17" fmla="*/ 13 w 13"/>
                <a:gd name="T18" fmla="*/ 59 h 59"/>
              </a:gdLst>
              <a:ahLst/>
              <a:cxnLst>
                <a:cxn ang="T10">
                  <a:pos x="T0" y="T1"/>
                </a:cxn>
                <a:cxn ang="T11">
                  <a:pos x="T2" y="T3"/>
                </a:cxn>
                <a:cxn ang="T12">
                  <a:pos x="T4" y="T5"/>
                </a:cxn>
                <a:cxn ang="T13">
                  <a:pos x="T6" y="T7"/>
                </a:cxn>
                <a:cxn ang="T14">
                  <a:pos x="T8" y="T9"/>
                </a:cxn>
              </a:cxnLst>
              <a:rect l="T15" t="T16" r="T17" b="T18"/>
              <a:pathLst>
                <a:path w="13" h="59">
                  <a:moveTo>
                    <a:pt x="0" y="0"/>
                  </a:moveTo>
                  <a:lnTo>
                    <a:pt x="0" y="54"/>
                  </a:lnTo>
                  <a:lnTo>
                    <a:pt x="13" y="59"/>
                  </a:lnTo>
                  <a:lnTo>
                    <a:pt x="13" y="5"/>
                  </a:lnTo>
                  <a:lnTo>
                    <a:pt x="0" y="0"/>
                  </a:lnTo>
                  <a:close/>
                </a:path>
              </a:pathLst>
            </a:custGeom>
            <a:solidFill>
              <a:srgbClr val="000000"/>
            </a:solidFill>
            <a:ln w="7938">
              <a:solidFill>
                <a:srgbClr val="000000"/>
              </a:solidFill>
              <a:prstDash val="solid"/>
              <a:round/>
              <a:headEnd/>
              <a:tailEnd/>
            </a:ln>
          </p:spPr>
          <p:txBody>
            <a:bodyPr/>
            <a:lstStyle/>
            <a:p>
              <a:endParaRPr lang="en-US"/>
            </a:p>
          </p:txBody>
        </p:sp>
        <p:sp>
          <p:nvSpPr>
            <p:cNvPr id="6284" name="Freeform 140"/>
            <p:cNvSpPr>
              <a:spLocks/>
            </p:cNvSpPr>
            <p:nvPr/>
          </p:nvSpPr>
          <p:spPr bwMode="auto">
            <a:xfrm>
              <a:off x="4676" y="1389"/>
              <a:ext cx="117" cy="134"/>
            </a:xfrm>
            <a:custGeom>
              <a:avLst/>
              <a:gdLst>
                <a:gd name="T0" fmla="*/ 0 w 117"/>
                <a:gd name="T1" fmla="*/ 0 h 134"/>
                <a:gd name="T2" fmla="*/ 0 w 117"/>
                <a:gd name="T3" fmla="*/ 84 h 134"/>
                <a:gd name="T4" fmla="*/ 117 w 117"/>
                <a:gd name="T5" fmla="*/ 134 h 134"/>
                <a:gd name="T6" fmla="*/ 117 w 117"/>
                <a:gd name="T7" fmla="*/ 48 h 134"/>
                <a:gd name="T8" fmla="*/ 0 w 117"/>
                <a:gd name="T9" fmla="*/ 0 h 134"/>
                <a:gd name="T10" fmla="*/ 0 60000 65536"/>
                <a:gd name="T11" fmla="*/ 0 60000 65536"/>
                <a:gd name="T12" fmla="*/ 0 60000 65536"/>
                <a:gd name="T13" fmla="*/ 0 60000 65536"/>
                <a:gd name="T14" fmla="*/ 0 60000 65536"/>
                <a:gd name="T15" fmla="*/ 0 w 117"/>
                <a:gd name="T16" fmla="*/ 0 h 134"/>
                <a:gd name="T17" fmla="*/ 117 w 117"/>
                <a:gd name="T18" fmla="*/ 134 h 134"/>
              </a:gdLst>
              <a:ahLst/>
              <a:cxnLst>
                <a:cxn ang="T10">
                  <a:pos x="T0" y="T1"/>
                </a:cxn>
                <a:cxn ang="T11">
                  <a:pos x="T2" y="T3"/>
                </a:cxn>
                <a:cxn ang="T12">
                  <a:pos x="T4" y="T5"/>
                </a:cxn>
                <a:cxn ang="T13">
                  <a:pos x="T6" y="T7"/>
                </a:cxn>
                <a:cxn ang="T14">
                  <a:pos x="T8" y="T9"/>
                </a:cxn>
              </a:cxnLst>
              <a:rect l="T15" t="T16" r="T17" b="T18"/>
              <a:pathLst>
                <a:path w="117" h="134">
                  <a:moveTo>
                    <a:pt x="0" y="0"/>
                  </a:moveTo>
                  <a:lnTo>
                    <a:pt x="0" y="84"/>
                  </a:lnTo>
                  <a:lnTo>
                    <a:pt x="117" y="134"/>
                  </a:lnTo>
                  <a:lnTo>
                    <a:pt x="117" y="48"/>
                  </a:lnTo>
                  <a:lnTo>
                    <a:pt x="0" y="0"/>
                  </a:lnTo>
                  <a:close/>
                </a:path>
              </a:pathLst>
            </a:custGeom>
            <a:solidFill>
              <a:srgbClr val="000000"/>
            </a:solidFill>
            <a:ln w="9525">
              <a:noFill/>
              <a:round/>
              <a:headEnd/>
              <a:tailEnd/>
            </a:ln>
          </p:spPr>
          <p:txBody>
            <a:bodyPr/>
            <a:lstStyle/>
            <a:p>
              <a:endParaRPr lang="en-US"/>
            </a:p>
          </p:txBody>
        </p:sp>
        <p:sp>
          <p:nvSpPr>
            <p:cNvPr id="6285" name="Freeform 141"/>
            <p:cNvSpPr>
              <a:spLocks/>
            </p:cNvSpPr>
            <p:nvPr/>
          </p:nvSpPr>
          <p:spPr bwMode="auto">
            <a:xfrm>
              <a:off x="4678" y="1317"/>
              <a:ext cx="110" cy="100"/>
            </a:xfrm>
            <a:custGeom>
              <a:avLst/>
              <a:gdLst>
                <a:gd name="T0" fmla="*/ 0 w 110"/>
                <a:gd name="T1" fmla="*/ 0 h 100"/>
                <a:gd name="T2" fmla="*/ 0 w 110"/>
                <a:gd name="T3" fmla="*/ 58 h 100"/>
                <a:gd name="T4" fmla="*/ 110 w 110"/>
                <a:gd name="T5" fmla="*/ 100 h 100"/>
                <a:gd name="T6" fmla="*/ 110 w 110"/>
                <a:gd name="T7" fmla="*/ 42 h 100"/>
                <a:gd name="T8" fmla="*/ 0 w 110"/>
                <a:gd name="T9" fmla="*/ 0 h 100"/>
                <a:gd name="T10" fmla="*/ 0 60000 65536"/>
                <a:gd name="T11" fmla="*/ 0 60000 65536"/>
                <a:gd name="T12" fmla="*/ 0 60000 65536"/>
                <a:gd name="T13" fmla="*/ 0 60000 65536"/>
                <a:gd name="T14" fmla="*/ 0 60000 65536"/>
                <a:gd name="T15" fmla="*/ 0 w 110"/>
                <a:gd name="T16" fmla="*/ 0 h 100"/>
                <a:gd name="T17" fmla="*/ 110 w 110"/>
                <a:gd name="T18" fmla="*/ 100 h 100"/>
              </a:gdLst>
              <a:ahLst/>
              <a:cxnLst>
                <a:cxn ang="T10">
                  <a:pos x="T0" y="T1"/>
                </a:cxn>
                <a:cxn ang="T11">
                  <a:pos x="T2" y="T3"/>
                </a:cxn>
                <a:cxn ang="T12">
                  <a:pos x="T4" y="T5"/>
                </a:cxn>
                <a:cxn ang="T13">
                  <a:pos x="T6" y="T7"/>
                </a:cxn>
                <a:cxn ang="T14">
                  <a:pos x="T8" y="T9"/>
                </a:cxn>
              </a:cxnLst>
              <a:rect l="T15" t="T16" r="T17" b="T18"/>
              <a:pathLst>
                <a:path w="110" h="100">
                  <a:moveTo>
                    <a:pt x="0" y="0"/>
                  </a:moveTo>
                  <a:lnTo>
                    <a:pt x="0" y="58"/>
                  </a:lnTo>
                  <a:lnTo>
                    <a:pt x="110" y="100"/>
                  </a:lnTo>
                  <a:lnTo>
                    <a:pt x="110" y="42"/>
                  </a:lnTo>
                  <a:lnTo>
                    <a:pt x="0" y="0"/>
                  </a:lnTo>
                  <a:close/>
                </a:path>
              </a:pathLst>
            </a:custGeom>
            <a:solidFill>
              <a:srgbClr val="000000"/>
            </a:solidFill>
            <a:ln w="9525">
              <a:noFill/>
              <a:round/>
              <a:headEnd/>
              <a:tailEnd/>
            </a:ln>
          </p:spPr>
          <p:txBody>
            <a:bodyPr/>
            <a:lstStyle/>
            <a:p>
              <a:endParaRPr lang="en-US"/>
            </a:p>
          </p:txBody>
        </p:sp>
        <p:sp>
          <p:nvSpPr>
            <p:cNvPr id="6286" name="Freeform 142"/>
            <p:cNvSpPr>
              <a:spLocks/>
            </p:cNvSpPr>
            <p:nvPr/>
          </p:nvSpPr>
          <p:spPr bwMode="auto">
            <a:xfrm>
              <a:off x="399" y="989"/>
              <a:ext cx="1297" cy="377"/>
            </a:xfrm>
            <a:custGeom>
              <a:avLst/>
              <a:gdLst>
                <a:gd name="T0" fmla="*/ 86 w 1297"/>
                <a:gd name="T1" fmla="*/ 172 h 377"/>
                <a:gd name="T2" fmla="*/ 0 w 1297"/>
                <a:gd name="T3" fmla="*/ 187 h 377"/>
                <a:gd name="T4" fmla="*/ 76 w 1297"/>
                <a:gd name="T5" fmla="*/ 214 h 377"/>
                <a:gd name="T6" fmla="*/ 152 w 1297"/>
                <a:gd name="T7" fmla="*/ 233 h 377"/>
                <a:gd name="T8" fmla="*/ 219 w 1297"/>
                <a:gd name="T9" fmla="*/ 245 h 377"/>
                <a:gd name="T10" fmla="*/ 263 w 1297"/>
                <a:gd name="T11" fmla="*/ 264 h 377"/>
                <a:gd name="T12" fmla="*/ 322 w 1297"/>
                <a:gd name="T13" fmla="*/ 299 h 377"/>
                <a:gd name="T14" fmla="*/ 375 w 1297"/>
                <a:gd name="T15" fmla="*/ 345 h 377"/>
                <a:gd name="T16" fmla="*/ 431 w 1297"/>
                <a:gd name="T17" fmla="*/ 370 h 377"/>
                <a:gd name="T18" fmla="*/ 469 w 1297"/>
                <a:gd name="T19" fmla="*/ 377 h 377"/>
                <a:gd name="T20" fmla="*/ 518 w 1297"/>
                <a:gd name="T21" fmla="*/ 342 h 377"/>
                <a:gd name="T22" fmla="*/ 567 w 1297"/>
                <a:gd name="T23" fmla="*/ 308 h 377"/>
                <a:gd name="T24" fmla="*/ 667 w 1297"/>
                <a:gd name="T25" fmla="*/ 264 h 377"/>
                <a:gd name="T26" fmla="*/ 750 w 1297"/>
                <a:gd name="T27" fmla="*/ 237 h 377"/>
                <a:gd name="T28" fmla="*/ 882 w 1297"/>
                <a:gd name="T29" fmla="*/ 187 h 377"/>
                <a:gd name="T30" fmla="*/ 1088 w 1297"/>
                <a:gd name="T31" fmla="*/ 125 h 377"/>
                <a:gd name="T32" fmla="*/ 1154 w 1297"/>
                <a:gd name="T33" fmla="*/ 106 h 377"/>
                <a:gd name="T34" fmla="*/ 1220 w 1297"/>
                <a:gd name="T35" fmla="*/ 98 h 377"/>
                <a:gd name="T36" fmla="*/ 1297 w 1297"/>
                <a:gd name="T37" fmla="*/ 106 h 377"/>
                <a:gd name="T38" fmla="*/ 1148 w 1297"/>
                <a:gd name="T39" fmla="*/ 74 h 377"/>
                <a:gd name="T40" fmla="*/ 1041 w 1297"/>
                <a:gd name="T41" fmla="*/ 79 h 377"/>
                <a:gd name="T42" fmla="*/ 891 w 1297"/>
                <a:gd name="T43" fmla="*/ 55 h 377"/>
                <a:gd name="T44" fmla="*/ 782 w 1297"/>
                <a:gd name="T45" fmla="*/ 20 h 377"/>
                <a:gd name="T46" fmla="*/ 699 w 1297"/>
                <a:gd name="T47" fmla="*/ 0 h 377"/>
                <a:gd name="T48" fmla="*/ 600 w 1297"/>
                <a:gd name="T49" fmla="*/ 55 h 377"/>
                <a:gd name="T50" fmla="*/ 418 w 1297"/>
                <a:gd name="T51" fmla="*/ 118 h 377"/>
                <a:gd name="T52" fmla="*/ 248 w 1297"/>
                <a:gd name="T53" fmla="*/ 155 h 377"/>
                <a:gd name="T54" fmla="*/ 86 w 1297"/>
                <a:gd name="T55" fmla="*/ 172 h 3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97"/>
                <a:gd name="T85" fmla="*/ 0 h 377"/>
                <a:gd name="T86" fmla="*/ 1297 w 1297"/>
                <a:gd name="T87" fmla="*/ 377 h 37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97" h="377">
                  <a:moveTo>
                    <a:pt x="86" y="172"/>
                  </a:moveTo>
                  <a:lnTo>
                    <a:pt x="0" y="187"/>
                  </a:lnTo>
                  <a:lnTo>
                    <a:pt x="76" y="214"/>
                  </a:lnTo>
                  <a:lnTo>
                    <a:pt x="152" y="233"/>
                  </a:lnTo>
                  <a:lnTo>
                    <a:pt x="219" y="245"/>
                  </a:lnTo>
                  <a:lnTo>
                    <a:pt x="263" y="264"/>
                  </a:lnTo>
                  <a:lnTo>
                    <a:pt x="322" y="299"/>
                  </a:lnTo>
                  <a:lnTo>
                    <a:pt x="375" y="345"/>
                  </a:lnTo>
                  <a:lnTo>
                    <a:pt x="431" y="370"/>
                  </a:lnTo>
                  <a:lnTo>
                    <a:pt x="469" y="377"/>
                  </a:lnTo>
                  <a:lnTo>
                    <a:pt x="518" y="342"/>
                  </a:lnTo>
                  <a:lnTo>
                    <a:pt x="567" y="308"/>
                  </a:lnTo>
                  <a:lnTo>
                    <a:pt x="667" y="264"/>
                  </a:lnTo>
                  <a:lnTo>
                    <a:pt x="750" y="237"/>
                  </a:lnTo>
                  <a:lnTo>
                    <a:pt x="882" y="187"/>
                  </a:lnTo>
                  <a:lnTo>
                    <a:pt x="1088" y="125"/>
                  </a:lnTo>
                  <a:lnTo>
                    <a:pt x="1154" y="106"/>
                  </a:lnTo>
                  <a:lnTo>
                    <a:pt x="1220" y="98"/>
                  </a:lnTo>
                  <a:lnTo>
                    <a:pt x="1297" y="106"/>
                  </a:lnTo>
                  <a:lnTo>
                    <a:pt x="1148" y="74"/>
                  </a:lnTo>
                  <a:lnTo>
                    <a:pt x="1041" y="79"/>
                  </a:lnTo>
                  <a:lnTo>
                    <a:pt x="891" y="55"/>
                  </a:lnTo>
                  <a:lnTo>
                    <a:pt x="782" y="20"/>
                  </a:lnTo>
                  <a:lnTo>
                    <a:pt x="699" y="0"/>
                  </a:lnTo>
                  <a:lnTo>
                    <a:pt x="600" y="55"/>
                  </a:lnTo>
                  <a:lnTo>
                    <a:pt x="418" y="118"/>
                  </a:lnTo>
                  <a:lnTo>
                    <a:pt x="248" y="155"/>
                  </a:lnTo>
                  <a:lnTo>
                    <a:pt x="86" y="172"/>
                  </a:lnTo>
                  <a:close/>
                </a:path>
              </a:pathLst>
            </a:custGeom>
            <a:solidFill>
              <a:srgbClr val="000000"/>
            </a:solidFill>
            <a:ln w="6350">
              <a:solidFill>
                <a:srgbClr val="000000"/>
              </a:solidFill>
              <a:prstDash val="solid"/>
              <a:round/>
              <a:headEnd/>
              <a:tailEnd/>
            </a:ln>
          </p:spPr>
          <p:txBody>
            <a:bodyPr/>
            <a:lstStyle/>
            <a:p>
              <a:endParaRPr lang="en-US"/>
            </a:p>
          </p:txBody>
        </p:sp>
        <p:sp>
          <p:nvSpPr>
            <p:cNvPr id="6287" name="Freeform 143"/>
            <p:cNvSpPr>
              <a:spLocks/>
            </p:cNvSpPr>
            <p:nvPr/>
          </p:nvSpPr>
          <p:spPr bwMode="auto">
            <a:xfrm>
              <a:off x="397" y="959"/>
              <a:ext cx="1233" cy="365"/>
            </a:xfrm>
            <a:custGeom>
              <a:avLst/>
              <a:gdLst>
                <a:gd name="T0" fmla="*/ 0 w 1233"/>
                <a:gd name="T1" fmla="*/ 170 h 365"/>
                <a:gd name="T2" fmla="*/ 116 w 1233"/>
                <a:gd name="T3" fmla="*/ 170 h 365"/>
                <a:gd name="T4" fmla="*/ 212 w 1233"/>
                <a:gd name="T5" fmla="*/ 163 h 365"/>
                <a:gd name="T6" fmla="*/ 288 w 1233"/>
                <a:gd name="T7" fmla="*/ 151 h 365"/>
                <a:gd name="T8" fmla="*/ 404 w 1233"/>
                <a:gd name="T9" fmla="*/ 121 h 365"/>
                <a:gd name="T10" fmla="*/ 513 w 1233"/>
                <a:gd name="T11" fmla="*/ 81 h 365"/>
                <a:gd name="T12" fmla="*/ 596 w 1233"/>
                <a:gd name="T13" fmla="*/ 54 h 365"/>
                <a:gd name="T14" fmla="*/ 646 w 1233"/>
                <a:gd name="T15" fmla="*/ 30 h 365"/>
                <a:gd name="T16" fmla="*/ 679 w 1233"/>
                <a:gd name="T17" fmla="*/ 0 h 365"/>
                <a:gd name="T18" fmla="*/ 749 w 1233"/>
                <a:gd name="T19" fmla="*/ 27 h 365"/>
                <a:gd name="T20" fmla="*/ 824 w 1233"/>
                <a:gd name="T21" fmla="*/ 38 h 365"/>
                <a:gd name="T22" fmla="*/ 941 w 1233"/>
                <a:gd name="T23" fmla="*/ 69 h 365"/>
                <a:gd name="T24" fmla="*/ 1057 w 1233"/>
                <a:gd name="T25" fmla="*/ 81 h 365"/>
                <a:gd name="T26" fmla="*/ 1157 w 1233"/>
                <a:gd name="T27" fmla="*/ 69 h 365"/>
                <a:gd name="T28" fmla="*/ 1233 w 1233"/>
                <a:gd name="T29" fmla="*/ 62 h 365"/>
                <a:gd name="T30" fmla="*/ 1153 w 1233"/>
                <a:gd name="T31" fmla="*/ 104 h 365"/>
                <a:gd name="T32" fmla="*/ 1094 w 1233"/>
                <a:gd name="T33" fmla="*/ 123 h 365"/>
                <a:gd name="T34" fmla="*/ 1023 w 1233"/>
                <a:gd name="T35" fmla="*/ 155 h 365"/>
                <a:gd name="T36" fmla="*/ 871 w 1233"/>
                <a:gd name="T37" fmla="*/ 193 h 365"/>
                <a:gd name="T38" fmla="*/ 752 w 1233"/>
                <a:gd name="T39" fmla="*/ 224 h 365"/>
                <a:gd name="T40" fmla="*/ 656 w 1233"/>
                <a:gd name="T41" fmla="*/ 271 h 365"/>
                <a:gd name="T42" fmla="*/ 556 w 1233"/>
                <a:gd name="T43" fmla="*/ 306 h 365"/>
                <a:gd name="T44" fmla="*/ 451 w 1233"/>
                <a:gd name="T45" fmla="*/ 345 h 365"/>
                <a:gd name="T46" fmla="*/ 420 w 1233"/>
                <a:gd name="T47" fmla="*/ 365 h 365"/>
                <a:gd name="T48" fmla="*/ 357 w 1233"/>
                <a:gd name="T49" fmla="*/ 318 h 365"/>
                <a:gd name="T50" fmla="*/ 275 w 1233"/>
                <a:gd name="T51" fmla="*/ 263 h 365"/>
                <a:gd name="T52" fmla="*/ 205 w 1233"/>
                <a:gd name="T53" fmla="*/ 244 h 365"/>
                <a:gd name="T54" fmla="*/ 119 w 1233"/>
                <a:gd name="T55" fmla="*/ 229 h 365"/>
                <a:gd name="T56" fmla="*/ 0 w 1233"/>
                <a:gd name="T57" fmla="*/ 170 h 36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33"/>
                <a:gd name="T88" fmla="*/ 0 h 365"/>
                <a:gd name="T89" fmla="*/ 1233 w 1233"/>
                <a:gd name="T90" fmla="*/ 365 h 36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33" h="365">
                  <a:moveTo>
                    <a:pt x="0" y="170"/>
                  </a:moveTo>
                  <a:lnTo>
                    <a:pt x="116" y="170"/>
                  </a:lnTo>
                  <a:lnTo>
                    <a:pt x="212" y="163"/>
                  </a:lnTo>
                  <a:lnTo>
                    <a:pt x="288" y="151"/>
                  </a:lnTo>
                  <a:lnTo>
                    <a:pt x="404" y="121"/>
                  </a:lnTo>
                  <a:lnTo>
                    <a:pt x="513" y="81"/>
                  </a:lnTo>
                  <a:lnTo>
                    <a:pt x="596" y="54"/>
                  </a:lnTo>
                  <a:lnTo>
                    <a:pt x="646" y="30"/>
                  </a:lnTo>
                  <a:lnTo>
                    <a:pt x="679" y="0"/>
                  </a:lnTo>
                  <a:lnTo>
                    <a:pt x="749" y="27"/>
                  </a:lnTo>
                  <a:lnTo>
                    <a:pt x="824" y="38"/>
                  </a:lnTo>
                  <a:lnTo>
                    <a:pt x="941" y="69"/>
                  </a:lnTo>
                  <a:lnTo>
                    <a:pt x="1057" y="81"/>
                  </a:lnTo>
                  <a:lnTo>
                    <a:pt x="1157" y="69"/>
                  </a:lnTo>
                  <a:lnTo>
                    <a:pt x="1233" y="62"/>
                  </a:lnTo>
                  <a:lnTo>
                    <a:pt x="1153" y="104"/>
                  </a:lnTo>
                  <a:lnTo>
                    <a:pt x="1094" y="123"/>
                  </a:lnTo>
                  <a:lnTo>
                    <a:pt x="1023" y="155"/>
                  </a:lnTo>
                  <a:lnTo>
                    <a:pt x="871" y="193"/>
                  </a:lnTo>
                  <a:lnTo>
                    <a:pt x="752" y="224"/>
                  </a:lnTo>
                  <a:lnTo>
                    <a:pt x="656" y="271"/>
                  </a:lnTo>
                  <a:lnTo>
                    <a:pt x="556" y="306"/>
                  </a:lnTo>
                  <a:lnTo>
                    <a:pt x="451" y="345"/>
                  </a:lnTo>
                  <a:lnTo>
                    <a:pt x="420" y="365"/>
                  </a:lnTo>
                  <a:lnTo>
                    <a:pt x="357" y="318"/>
                  </a:lnTo>
                  <a:lnTo>
                    <a:pt x="275" y="263"/>
                  </a:lnTo>
                  <a:lnTo>
                    <a:pt x="205" y="244"/>
                  </a:lnTo>
                  <a:lnTo>
                    <a:pt x="119" y="229"/>
                  </a:lnTo>
                  <a:lnTo>
                    <a:pt x="0" y="170"/>
                  </a:lnTo>
                  <a:close/>
                </a:path>
              </a:pathLst>
            </a:custGeom>
            <a:solidFill>
              <a:srgbClr val="008000"/>
            </a:solidFill>
            <a:ln w="6350">
              <a:solidFill>
                <a:srgbClr val="000000"/>
              </a:solidFill>
              <a:prstDash val="solid"/>
              <a:round/>
              <a:headEnd/>
              <a:tailEnd/>
            </a:ln>
          </p:spPr>
          <p:txBody>
            <a:bodyPr/>
            <a:lstStyle/>
            <a:p>
              <a:endParaRPr lang="en-US"/>
            </a:p>
          </p:txBody>
        </p:sp>
        <p:sp>
          <p:nvSpPr>
            <p:cNvPr id="6288" name="Freeform 144"/>
            <p:cNvSpPr>
              <a:spLocks/>
            </p:cNvSpPr>
            <p:nvPr/>
          </p:nvSpPr>
          <p:spPr bwMode="auto">
            <a:xfrm>
              <a:off x="403" y="927"/>
              <a:ext cx="1233" cy="365"/>
            </a:xfrm>
            <a:custGeom>
              <a:avLst/>
              <a:gdLst>
                <a:gd name="T0" fmla="*/ 0 w 1233"/>
                <a:gd name="T1" fmla="*/ 171 h 365"/>
                <a:gd name="T2" fmla="*/ 117 w 1233"/>
                <a:gd name="T3" fmla="*/ 171 h 365"/>
                <a:gd name="T4" fmla="*/ 212 w 1233"/>
                <a:gd name="T5" fmla="*/ 163 h 365"/>
                <a:gd name="T6" fmla="*/ 288 w 1233"/>
                <a:gd name="T7" fmla="*/ 153 h 365"/>
                <a:gd name="T8" fmla="*/ 405 w 1233"/>
                <a:gd name="T9" fmla="*/ 121 h 365"/>
                <a:gd name="T10" fmla="*/ 514 w 1233"/>
                <a:gd name="T11" fmla="*/ 82 h 365"/>
                <a:gd name="T12" fmla="*/ 597 w 1233"/>
                <a:gd name="T13" fmla="*/ 55 h 365"/>
                <a:gd name="T14" fmla="*/ 646 w 1233"/>
                <a:gd name="T15" fmla="*/ 32 h 365"/>
                <a:gd name="T16" fmla="*/ 680 w 1233"/>
                <a:gd name="T17" fmla="*/ 0 h 365"/>
                <a:gd name="T18" fmla="*/ 749 w 1233"/>
                <a:gd name="T19" fmla="*/ 28 h 365"/>
                <a:gd name="T20" fmla="*/ 825 w 1233"/>
                <a:gd name="T21" fmla="*/ 40 h 365"/>
                <a:gd name="T22" fmla="*/ 941 w 1233"/>
                <a:gd name="T23" fmla="*/ 70 h 365"/>
                <a:gd name="T24" fmla="*/ 1057 w 1233"/>
                <a:gd name="T25" fmla="*/ 82 h 365"/>
                <a:gd name="T26" fmla="*/ 1157 w 1233"/>
                <a:gd name="T27" fmla="*/ 70 h 365"/>
                <a:gd name="T28" fmla="*/ 1233 w 1233"/>
                <a:gd name="T29" fmla="*/ 62 h 365"/>
                <a:gd name="T30" fmla="*/ 1153 w 1233"/>
                <a:gd name="T31" fmla="*/ 106 h 365"/>
                <a:gd name="T32" fmla="*/ 1095 w 1233"/>
                <a:gd name="T33" fmla="*/ 124 h 365"/>
                <a:gd name="T34" fmla="*/ 1024 w 1233"/>
                <a:gd name="T35" fmla="*/ 155 h 365"/>
                <a:gd name="T36" fmla="*/ 872 w 1233"/>
                <a:gd name="T37" fmla="*/ 195 h 365"/>
                <a:gd name="T38" fmla="*/ 753 w 1233"/>
                <a:gd name="T39" fmla="*/ 225 h 365"/>
                <a:gd name="T40" fmla="*/ 657 w 1233"/>
                <a:gd name="T41" fmla="*/ 272 h 365"/>
                <a:gd name="T42" fmla="*/ 557 w 1233"/>
                <a:gd name="T43" fmla="*/ 307 h 365"/>
                <a:gd name="T44" fmla="*/ 451 w 1233"/>
                <a:gd name="T45" fmla="*/ 346 h 365"/>
                <a:gd name="T46" fmla="*/ 421 w 1233"/>
                <a:gd name="T47" fmla="*/ 365 h 365"/>
                <a:gd name="T48" fmla="*/ 358 w 1233"/>
                <a:gd name="T49" fmla="*/ 319 h 365"/>
                <a:gd name="T50" fmla="*/ 275 w 1233"/>
                <a:gd name="T51" fmla="*/ 264 h 365"/>
                <a:gd name="T52" fmla="*/ 206 w 1233"/>
                <a:gd name="T53" fmla="*/ 244 h 365"/>
                <a:gd name="T54" fmla="*/ 119 w 1233"/>
                <a:gd name="T55" fmla="*/ 229 h 365"/>
                <a:gd name="T56" fmla="*/ 0 w 1233"/>
                <a:gd name="T57" fmla="*/ 171 h 36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33"/>
                <a:gd name="T88" fmla="*/ 0 h 365"/>
                <a:gd name="T89" fmla="*/ 1233 w 1233"/>
                <a:gd name="T90" fmla="*/ 365 h 36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33" h="365">
                  <a:moveTo>
                    <a:pt x="0" y="171"/>
                  </a:moveTo>
                  <a:lnTo>
                    <a:pt x="117" y="171"/>
                  </a:lnTo>
                  <a:lnTo>
                    <a:pt x="212" y="163"/>
                  </a:lnTo>
                  <a:lnTo>
                    <a:pt x="288" y="153"/>
                  </a:lnTo>
                  <a:lnTo>
                    <a:pt x="405" y="121"/>
                  </a:lnTo>
                  <a:lnTo>
                    <a:pt x="514" y="82"/>
                  </a:lnTo>
                  <a:lnTo>
                    <a:pt x="597" y="55"/>
                  </a:lnTo>
                  <a:lnTo>
                    <a:pt x="646" y="32"/>
                  </a:lnTo>
                  <a:lnTo>
                    <a:pt x="680" y="0"/>
                  </a:lnTo>
                  <a:lnTo>
                    <a:pt x="749" y="28"/>
                  </a:lnTo>
                  <a:lnTo>
                    <a:pt x="825" y="40"/>
                  </a:lnTo>
                  <a:lnTo>
                    <a:pt x="941" y="70"/>
                  </a:lnTo>
                  <a:lnTo>
                    <a:pt x="1057" y="82"/>
                  </a:lnTo>
                  <a:lnTo>
                    <a:pt x="1157" y="70"/>
                  </a:lnTo>
                  <a:lnTo>
                    <a:pt x="1233" y="62"/>
                  </a:lnTo>
                  <a:lnTo>
                    <a:pt x="1153" y="106"/>
                  </a:lnTo>
                  <a:lnTo>
                    <a:pt x="1095" y="124"/>
                  </a:lnTo>
                  <a:lnTo>
                    <a:pt x="1024" y="155"/>
                  </a:lnTo>
                  <a:lnTo>
                    <a:pt x="872" y="195"/>
                  </a:lnTo>
                  <a:lnTo>
                    <a:pt x="753" y="225"/>
                  </a:lnTo>
                  <a:lnTo>
                    <a:pt x="657" y="272"/>
                  </a:lnTo>
                  <a:lnTo>
                    <a:pt x="557" y="307"/>
                  </a:lnTo>
                  <a:lnTo>
                    <a:pt x="451" y="346"/>
                  </a:lnTo>
                  <a:lnTo>
                    <a:pt x="421" y="365"/>
                  </a:lnTo>
                  <a:lnTo>
                    <a:pt x="358" y="319"/>
                  </a:lnTo>
                  <a:lnTo>
                    <a:pt x="275" y="264"/>
                  </a:lnTo>
                  <a:lnTo>
                    <a:pt x="206" y="244"/>
                  </a:lnTo>
                  <a:lnTo>
                    <a:pt x="119" y="229"/>
                  </a:lnTo>
                  <a:lnTo>
                    <a:pt x="0" y="171"/>
                  </a:lnTo>
                  <a:close/>
                </a:path>
              </a:pathLst>
            </a:custGeom>
            <a:solidFill>
              <a:srgbClr val="00FF00"/>
            </a:solidFill>
            <a:ln w="6350">
              <a:solidFill>
                <a:srgbClr val="000000"/>
              </a:solidFill>
              <a:prstDash val="solid"/>
              <a:round/>
              <a:headEnd/>
              <a:tailEnd/>
            </a:ln>
          </p:spPr>
          <p:txBody>
            <a:bodyPr/>
            <a:lstStyle/>
            <a:p>
              <a:endParaRPr lang="en-US"/>
            </a:p>
          </p:txBody>
        </p:sp>
        <p:sp>
          <p:nvSpPr>
            <p:cNvPr id="6289" name="Freeform 145"/>
            <p:cNvSpPr>
              <a:spLocks/>
            </p:cNvSpPr>
            <p:nvPr/>
          </p:nvSpPr>
          <p:spPr bwMode="auto">
            <a:xfrm>
              <a:off x="380" y="897"/>
              <a:ext cx="1296" cy="376"/>
            </a:xfrm>
            <a:custGeom>
              <a:avLst/>
              <a:gdLst>
                <a:gd name="T0" fmla="*/ 86 w 1296"/>
                <a:gd name="T1" fmla="*/ 171 h 376"/>
                <a:gd name="T2" fmla="*/ 0 w 1296"/>
                <a:gd name="T3" fmla="*/ 185 h 376"/>
                <a:gd name="T4" fmla="*/ 75 w 1296"/>
                <a:gd name="T5" fmla="*/ 213 h 376"/>
                <a:gd name="T6" fmla="*/ 152 w 1296"/>
                <a:gd name="T7" fmla="*/ 232 h 376"/>
                <a:gd name="T8" fmla="*/ 218 w 1296"/>
                <a:gd name="T9" fmla="*/ 244 h 376"/>
                <a:gd name="T10" fmla="*/ 262 w 1296"/>
                <a:gd name="T11" fmla="*/ 264 h 376"/>
                <a:gd name="T12" fmla="*/ 321 w 1296"/>
                <a:gd name="T13" fmla="*/ 298 h 376"/>
                <a:gd name="T14" fmla="*/ 374 w 1296"/>
                <a:gd name="T15" fmla="*/ 344 h 376"/>
                <a:gd name="T16" fmla="*/ 430 w 1296"/>
                <a:gd name="T17" fmla="*/ 368 h 376"/>
                <a:gd name="T18" fmla="*/ 467 w 1296"/>
                <a:gd name="T19" fmla="*/ 376 h 376"/>
                <a:gd name="T20" fmla="*/ 517 w 1296"/>
                <a:gd name="T21" fmla="*/ 341 h 376"/>
                <a:gd name="T22" fmla="*/ 566 w 1296"/>
                <a:gd name="T23" fmla="*/ 306 h 376"/>
                <a:gd name="T24" fmla="*/ 666 w 1296"/>
                <a:gd name="T25" fmla="*/ 264 h 376"/>
                <a:gd name="T26" fmla="*/ 749 w 1296"/>
                <a:gd name="T27" fmla="*/ 235 h 376"/>
                <a:gd name="T28" fmla="*/ 881 w 1296"/>
                <a:gd name="T29" fmla="*/ 185 h 376"/>
                <a:gd name="T30" fmla="*/ 1087 w 1296"/>
                <a:gd name="T31" fmla="*/ 124 h 376"/>
                <a:gd name="T32" fmla="*/ 1154 w 1296"/>
                <a:gd name="T33" fmla="*/ 104 h 376"/>
                <a:gd name="T34" fmla="*/ 1220 w 1296"/>
                <a:gd name="T35" fmla="*/ 97 h 376"/>
                <a:gd name="T36" fmla="*/ 1296 w 1296"/>
                <a:gd name="T37" fmla="*/ 104 h 376"/>
                <a:gd name="T38" fmla="*/ 1147 w 1296"/>
                <a:gd name="T39" fmla="*/ 73 h 376"/>
                <a:gd name="T40" fmla="*/ 1040 w 1296"/>
                <a:gd name="T41" fmla="*/ 77 h 376"/>
                <a:gd name="T42" fmla="*/ 890 w 1296"/>
                <a:gd name="T43" fmla="*/ 54 h 376"/>
                <a:gd name="T44" fmla="*/ 782 w 1296"/>
                <a:gd name="T45" fmla="*/ 18 h 376"/>
                <a:gd name="T46" fmla="*/ 698 w 1296"/>
                <a:gd name="T47" fmla="*/ 0 h 376"/>
                <a:gd name="T48" fmla="*/ 600 w 1296"/>
                <a:gd name="T49" fmla="*/ 54 h 376"/>
                <a:gd name="T50" fmla="*/ 417 w 1296"/>
                <a:gd name="T51" fmla="*/ 116 h 376"/>
                <a:gd name="T52" fmla="*/ 248 w 1296"/>
                <a:gd name="T53" fmla="*/ 154 h 376"/>
                <a:gd name="T54" fmla="*/ 86 w 1296"/>
                <a:gd name="T55" fmla="*/ 171 h 37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96"/>
                <a:gd name="T85" fmla="*/ 0 h 376"/>
                <a:gd name="T86" fmla="*/ 1296 w 1296"/>
                <a:gd name="T87" fmla="*/ 376 h 37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96" h="376">
                  <a:moveTo>
                    <a:pt x="86" y="171"/>
                  </a:moveTo>
                  <a:lnTo>
                    <a:pt x="0" y="185"/>
                  </a:lnTo>
                  <a:lnTo>
                    <a:pt x="75" y="213"/>
                  </a:lnTo>
                  <a:lnTo>
                    <a:pt x="152" y="232"/>
                  </a:lnTo>
                  <a:lnTo>
                    <a:pt x="218" y="244"/>
                  </a:lnTo>
                  <a:lnTo>
                    <a:pt x="262" y="264"/>
                  </a:lnTo>
                  <a:lnTo>
                    <a:pt x="321" y="298"/>
                  </a:lnTo>
                  <a:lnTo>
                    <a:pt x="374" y="344"/>
                  </a:lnTo>
                  <a:lnTo>
                    <a:pt x="430" y="368"/>
                  </a:lnTo>
                  <a:lnTo>
                    <a:pt x="467" y="376"/>
                  </a:lnTo>
                  <a:lnTo>
                    <a:pt x="517" y="341"/>
                  </a:lnTo>
                  <a:lnTo>
                    <a:pt x="566" y="306"/>
                  </a:lnTo>
                  <a:lnTo>
                    <a:pt x="666" y="264"/>
                  </a:lnTo>
                  <a:lnTo>
                    <a:pt x="749" y="235"/>
                  </a:lnTo>
                  <a:lnTo>
                    <a:pt x="881" y="185"/>
                  </a:lnTo>
                  <a:lnTo>
                    <a:pt x="1087" y="124"/>
                  </a:lnTo>
                  <a:lnTo>
                    <a:pt x="1154" y="104"/>
                  </a:lnTo>
                  <a:lnTo>
                    <a:pt x="1220" y="97"/>
                  </a:lnTo>
                  <a:lnTo>
                    <a:pt x="1296" y="104"/>
                  </a:lnTo>
                  <a:lnTo>
                    <a:pt x="1147" y="73"/>
                  </a:lnTo>
                  <a:lnTo>
                    <a:pt x="1040" y="77"/>
                  </a:lnTo>
                  <a:lnTo>
                    <a:pt x="890" y="54"/>
                  </a:lnTo>
                  <a:lnTo>
                    <a:pt x="782" y="18"/>
                  </a:lnTo>
                  <a:lnTo>
                    <a:pt x="698" y="0"/>
                  </a:lnTo>
                  <a:lnTo>
                    <a:pt x="600" y="54"/>
                  </a:lnTo>
                  <a:lnTo>
                    <a:pt x="417" y="116"/>
                  </a:lnTo>
                  <a:lnTo>
                    <a:pt x="248" y="154"/>
                  </a:lnTo>
                  <a:lnTo>
                    <a:pt x="86" y="171"/>
                  </a:lnTo>
                  <a:close/>
                </a:path>
              </a:pathLst>
            </a:custGeom>
            <a:solidFill>
              <a:srgbClr val="008000"/>
            </a:solidFill>
            <a:ln w="6350">
              <a:solidFill>
                <a:srgbClr val="000000"/>
              </a:solidFill>
              <a:prstDash val="solid"/>
              <a:round/>
              <a:headEnd/>
              <a:tailEnd/>
            </a:ln>
          </p:spPr>
          <p:txBody>
            <a:bodyPr/>
            <a:lstStyle/>
            <a:p>
              <a:endParaRPr lang="en-US"/>
            </a:p>
          </p:txBody>
        </p:sp>
        <p:sp>
          <p:nvSpPr>
            <p:cNvPr id="6290" name="Freeform 146"/>
            <p:cNvSpPr>
              <a:spLocks/>
            </p:cNvSpPr>
            <p:nvPr/>
          </p:nvSpPr>
          <p:spPr bwMode="auto">
            <a:xfrm>
              <a:off x="390" y="870"/>
              <a:ext cx="1233" cy="364"/>
            </a:xfrm>
            <a:custGeom>
              <a:avLst/>
              <a:gdLst>
                <a:gd name="T0" fmla="*/ 0 w 1233"/>
                <a:gd name="T1" fmla="*/ 170 h 364"/>
                <a:gd name="T2" fmla="*/ 116 w 1233"/>
                <a:gd name="T3" fmla="*/ 170 h 364"/>
                <a:gd name="T4" fmla="*/ 212 w 1233"/>
                <a:gd name="T5" fmla="*/ 163 h 364"/>
                <a:gd name="T6" fmla="*/ 288 w 1233"/>
                <a:gd name="T7" fmla="*/ 151 h 364"/>
                <a:gd name="T8" fmla="*/ 405 w 1233"/>
                <a:gd name="T9" fmla="*/ 119 h 364"/>
                <a:gd name="T10" fmla="*/ 514 w 1233"/>
                <a:gd name="T11" fmla="*/ 81 h 364"/>
                <a:gd name="T12" fmla="*/ 597 w 1233"/>
                <a:gd name="T13" fmla="*/ 54 h 364"/>
                <a:gd name="T14" fmla="*/ 646 w 1233"/>
                <a:gd name="T15" fmla="*/ 30 h 364"/>
                <a:gd name="T16" fmla="*/ 679 w 1233"/>
                <a:gd name="T17" fmla="*/ 0 h 364"/>
                <a:gd name="T18" fmla="*/ 749 w 1233"/>
                <a:gd name="T19" fmla="*/ 27 h 364"/>
                <a:gd name="T20" fmla="*/ 825 w 1233"/>
                <a:gd name="T21" fmla="*/ 38 h 364"/>
                <a:gd name="T22" fmla="*/ 941 w 1233"/>
                <a:gd name="T23" fmla="*/ 70 h 364"/>
                <a:gd name="T24" fmla="*/ 1057 w 1233"/>
                <a:gd name="T25" fmla="*/ 81 h 364"/>
                <a:gd name="T26" fmla="*/ 1157 w 1233"/>
                <a:gd name="T27" fmla="*/ 70 h 364"/>
                <a:gd name="T28" fmla="*/ 1233 w 1233"/>
                <a:gd name="T29" fmla="*/ 61 h 364"/>
                <a:gd name="T30" fmla="*/ 1153 w 1233"/>
                <a:gd name="T31" fmla="*/ 104 h 364"/>
                <a:gd name="T32" fmla="*/ 1094 w 1233"/>
                <a:gd name="T33" fmla="*/ 124 h 364"/>
                <a:gd name="T34" fmla="*/ 1024 w 1233"/>
                <a:gd name="T35" fmla="*/ 154 h 364"/>
                <a:gd name="T36" fmla="*/ 871 w 1233"/>
                <a:gd name="T37" fmla="*/ 193 h 364"/>
                <a:gd name="T38" fmla="*/ 752 w 1233"/>
                <a:gd name="T39" fmla="*/ 225 h 364"/>
                <a:gd name="T40" fmla="*/ 657 w 1233"/>
                <a:gd name="T41" fmla="*/ 271 h 364"/>
                <a:gd name="T42" fmla="*/ 557 w 1233"/>
                <a:gd name="T43" fmla="*/ 306 h 364"/>
                <a:gd name="T44" fmla="*/ 451 w 1233"/>
                <a:gd name="T45" fmla="*/ 344 h 364"/>
                <a:gd name="T46" fmla="*/ 421 w 1233"/>
                <a:gd name="T47" fmla="*/ 364 h 364"/>
                <a:gd name="T48" fmla="*/ 358 w 1233"/>
                <a:gd name="T49" fmla="*/ 318 h 364"/>
                <a:gd name="T50" fmla="*/ 275 w 1233"/>
                <a:gd name="T51" fmla="*/ 262 h 364"/>
                <a:gd name="T52" fmla="*/ 205 w 1233"/>
                <a:gd name="T53" fmla="*/ 244 h 364"/>
                <a:gd name="T54" fmla="*/ 119 w 1233"/>
                <a:gd name="T55" fmla="*/ 228 h 364"/>
                <a:gd name="T56" fmla="*/ 0 w 1233"/>
                <a:gd name="T57" fmla="*/ 170 h 36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33"/>
                <a:gd name="T88" fmla="*/ 0 h 364"/>
                <a:gd name="T89" fmla="*/ 1233 w 1233"/>
                <a:gd name="T90" fmla="*/ 364 h 36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33" h="364">
                  <a:moveTo>
                    <a:pt x="0" y="170"/>
                  </a:moveTo>
                  <a:lnTo>
                    <a:pt x="116" y="170"/>
                  </a:lnTo>
                  <a:lnTo>
                    <a:pt x="212" y="163"/>
                  </a:lnTo>
                  <a:lnTo>
                    <a:pt x="288" y="151"/>
                  </a:lnTo>
                  <a:lnTo>
                    <a:pt x="405" y="119"/>
                  </a:lnTo>
                  <a:lnTo>
                    <a:pt x="514" y="81"/>
                  </a:lnTo>
                  <a:lnTo>
                    <a:pt x="597" y="54"/>
                  </a:lnTo>
                  <a:lnTo>
                    <a:pt x="646" y="30"/>
                  </a:lnTo>
                  <a:lnTo>
                    <a:pt x="679" y="0"/>
                  </a:lnTo>
                  <a:lnTo>
                    <a:pt x="749" y="27"/>
                  </a:lnTo>
                  <a:lnTo>
                    <a:pt x="825" y="38"/>
                  </a:lnTo>
                  <a:lnTo>
                    <a:pt x="941" y="70"/>
                  </a:lnTo>
                  <a:lnTo>
                    <a:pt x="1057" y="81"/>
                  </a:lnTo>
                  <a:lnTo>
                    <a:pt x="1157" y="70"/>
                  </a:lnTo>
                  <a:lnTo>
                    <a:pt x="1233" y="61"/>
                  </a:lnTo>
                  <a:lnTo>
                    <a:pt x="1153" y="104"/>
                  </a:lnTo>
                  <a:lnTo>
                    <a:pt x="1094" y="124"/>
                  </a:lnTo>
                  <a:lnTo>
                    <a:pt x="1024" y="154"/>
                  </a:lnTo>
                  <a:lnTo>
                    <a:pt x="871" y="193"/>
                  </a:lnTo>
                  <a:lnTo>
                    <a:pt x="752" y="225"/>
                  </a:lnTo>
                  <a:lnTo>
                    <a:pt x="657" y="271"/>
                  </a:lnTo>
                  <a:lnTo>
                    <a:pt x="557" y="306"/>
                  </a:lnTo>
                  <a:lnTo>
                    <a:pt x="451" y="344"/>
                  </a:lnTo>
                  <a:lnTo>
                    <a:pt x="421" y="364"/>
                  </a:lnTo>
                  <a:lnTo>
                    <a:pt x="358" y="318"/>
                  </a:lnTo>
                  <a:lnTo>
                    <a:pt x="275" y="262"/>
                  </a:lnTo>
                  <a:lnTo>
                    <a:pt x="205" y="244"/>
                  </a:lnTo>
                  <a:lnTo>
                    <a:pt x="119" y="228"/>
                  </a:lnTo>
                  <a:lnTo>
                    <a:pt x="0" y="170"/>
                  </a:lnTo>
                  <a:close/>
                </a:path>
              </a:pathLst>
            </a:custGeom>
            <a:solidFill>
              <a:srgbClr val="00FF00"/>
            </a:solidFill>
            <a:ln w="6350">
              <a:solidFill>
                <a:srgbClr val="000000"/>
              </a:solidFill>
              <a:prstDash val="solid"/>
              <a:round/>
              <a:headEnd/>
              <a:tailEnd/>
            </a:ln>
          </p:spPr>
          <p:txBody>
            <a:bodyPr/>
            <a:lstStyle/>
            <a:p>
              <a:endParaRPr lang="en-US"/>
            </a:p>
          </p:txBody>
        </p:sp>
        <p:sp>
          <p:nvSpPr>
            <p:cNvPr id="6291" name="Freeform 147"/>
            <p:cNvSpPr>
              <a:spLocks/>
            </p:cNvSpPr>
            <p:nvPr/>
          </p:nvSpPr>
          <p:spPr bwMode="auto">
            <a:xfrm>
              <a:off x="410" y="823"/>
              <a:ext cx="1295" cy="376"/>
            </a:xfrm>
            <a:custGeom>
              <a:avLst/>
              <a:gdLst>
                <a:gd name="T0" fmla="*/ 85 w 1295"/>
                <a:gd name="T1" fmla="*/ 171 h 376"/>
                <a:gd name="T2" fmla="*/ 0 w 1295"/>
                <a:gd name="T3" fmla="*/ 186 h 376"/>
                <a:gd name="T4" fmla="*/ 75 w 1295"/>
                <a:gd name="T5" fmla="*/ 213 h 376"/>
                <a:gd name="T6" fmla="*/ 152 w 1295"/>
                <a:gd name="T7" fmla="*/ 232 h 376"/>
                <a:gd name="T8" fmla="*/ 218 w 1295"/>
                <a:gd name="T9" fmla="*/ 245 h 376"/>
                <a:gd name="T10" fmla="*/ 261 w 1295"/>
                <a:gd name="T11" fmla="*/ 264 h 376"/>
                <a:gd name="T12" fmla="*/ 322 w 1295"/>
                <a:gd name="T13" fmla="*/ 299 h 376"/>
                <a:gd name="T14" fmla="*/ 373 w 1295"/>
                <a:gd name="T15" fmla="*/ 345 h 376"/>
                <a:gd name="T16" fmla="*/ 431 w 1295"/>
                <a:gd name="T17" fmla="*/ 368 h 376"/>
                <a:gd name="T18" fmla="*/ 467 w 1295"/>
                <a:gd name="T19" fmla="*/ 376 h 376"/>
                <a:gd name="T20" fmla="*/ 516 w 1295"/>
                <a:gd name="T21" fmla="*/ 341 h 376"/>
                <a:gd name="T22" fmla="*/ 567 w 1295"/>
                <a:gd name="T23" fmla="*/ 306 h 376"/>
                <a:gd name="T24" fmla="*/ 666 w 1295"/>
                <a:gd name="T25" fmla="*/ 264 h 376"/>
                <a:gd name="T26" fmla="*/ 748 w 1295"/>
                <a:gd name="T27" fmla="*/ 237 h 376"/>
                <a:gd name="T28" fmla="*/ 880 w 1295"/>
                <a:gd name="T29" fmla="*/ 186 h 376"/>
                <a:gd name="T30" fmla="*/ 1086 w 1295"/>
                <a:gd name="T31" fmla="*/ 124 h 376"/>
                <a:gd name="T32" fmla="*/ 1153 w 1295"/>
                <a:gd name="T33" fmla="*/ 104 h 376"/>
                <a:gd name="T34" fmla="*/ 1219 w 1295"/>
                <a:gd name="T35" fmla="*/ 97 h 376"/>
                <a:gd name="T36" fmla="*/ 1295 w 1295"/>
                <a:gd name="T37" fmla="*/ 104 h 376"/>
                <a:gd name="T38" fmla="*/ 1146 w 1295"/>
                <a:gd name="T39" fmla="*/ 74 h 376"/>
                <a:gd name="T40" fmla="*/ 1040 w 1295"/>
                <a:gd name="T41" fmla="*/ 77 h 376"/>
                <a:gd name="T42" fmla="*/ 891 w 1295"/>
                <a:gd name="T43" fmla="*/ 55 h 376"/>
                <a:gd name="T44" fmla="*/ 782 w 1295"/>
                <a:gd name="T45" fmla="*/ 20 h 376"/>
                <a:gd name="T46" fmla="*/ 699 w 1295"/>
                <a:gd name="T47" fmla="*/ 0 h 376"/>
                <a:gd name="T48" fmla="*/ 599 w 1295"/>
                <a:gd name="T49" fmla="*/ 55 h 376"/>
                <a:gd name="T50" fmla="*/ 418 w 1295"/>
                <a:gd name="T51" fmla="*/ 117 h 376"/>
                <a:gd name="T52" fmla="*/ 248 w 1295"/>
                <a:gd name="T53" fmla="*/ 155 h 376"/>
                <a:gd name="T54" fmla="*/ 85 w 1295"/>
                <a:gd name="T55" fmla="*/ 171 h 37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95"/>
                <a:gd name="T85" fmla="*/ 0 h 376"/>
                <a:gd name="T86" fmla="*/ 1295 w 1295"/>
                <a:gd name="T87" fmla="*/ 376 h 37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95" h="376">
                  <a:moveTo>
                    <a:pt x="85" y="171"/>
                  </a:moveTo>
                  <a:lnTo>
                    <a:pt x="0" y="186"/>
                  </a:lnTo>
                  <a:lnTo>
                    <a:pt x="75" y="213"/>
                  </a:lnTo>
                  <a:lnTo>
                    <a:pt x="152" y="232"/>
                  </a:lnTo>
                  <a:lnTo>
                    <a:pt x="218" y="245"/>
                  </a:lnTo>
                  <a:lnTo>
                    <a:pt x="261" y="264"/>
                  </a:lnTo>
                  <a:lnTo>
                    <a:pt x="322" y="299"/>
                  </a:lnTo>
                  <a:lnTo>
                    <a:pt x="373" y="345"/>
                  </a:lnTo>
                  <a:lnTo>
                    <a:pt x="431" y="368"/>
                  </a:lnTo>
                  <a:lnTo>
                    <a:pt x="467" y="376"/>
                  </a:lnTo>
                  <a:lnTo>
                    <a:pt x="516" y="341"/>
                  </a:lnTo>
                  <a:lnTo>
                    <a:pt x="567" y="306"/>
                  </a:lnTo>
                  <a:lnTo>
                    <a:pt x="666" y="264"/>
                  </a:lnTo>
                  <a:lnTo>
                    <a:pt x="748" y="237"/>
                  </a:lnTo>
                  <a:lnTo>
                    <a:pt x="880" y="186"/>
                  </a:lnTo>
                  <a:lnTo>
                    <a:pt x="1086" y="124"/>
                  </a:lnTo>
                  <a:lnTo>
                    <a:pt x="1153" y="104"/>
                  </a:lnTo>
                  <a:lnTo>
                    <a:pt x="1219" y="97"/>
                  </a:lnTo>
                  <a:lnTo>
                    <a:pt x="1295" y="104"/>
                  </a:lnTo>
                  <a:lnTo>
                    <a:pt x="1146" y="74"/>
                  </a:lnTo>
                  <a:lnTo>
                    <a:pt x="1040" y="77"/>
                  </a:lnTo>
                  <a:lnTo>
                    <a:pt x="891" y="55"/>
                  </a:lnTo>
                  <a:lnTo>
                    <a:pt x="782" y="20"/>
                  </a:lnTo>
                  <a:lnTo>
                    <a:pt x="699" y="0"/>
                  </a:lnTo>
                  <a:lnTo>
                    <a:pt x="599" y="55"/>
                  </a:lnTo>
                  <a:lnTo>
                    <a:pt x="418" y="117"/>
                  </a:lnTo>
                  <a:lnTo>
                    <a:pt x="248" y="155"/>
                  </a:lnTo>
                  <a:lnTo>
                    <a:pt x="85" y="171"/>
                  </a:lnTo>
                  <a:close/>
                </a:path>
              </a:pathLst>
            </a:custGeom>
            <a:solidFill>
              <a:srgbClr val="008000"/>
            </a:solidFill>
            <a:ln w="6350">
              <a:solidFill>
                <a:srgbClr val="000000"/>
              </a:solidFill>
              <a:prstDash val="solid"/>
              <a:round/>
              <a:headEnd/>
              <a:tailEnd/>
            </a:ln>
          </p:spPr>
          <p:txBody>
            <a:bodyPr/>
            <a:lstStyle/>
            <a:p>
              <a:endParaRPr lang="en-US"/>
            </a:p>
          </p:txBody>
        </p:sp>
        <p:sp>
          <p:nvSpPr>
            <p:cNvPr id="6292" name="Freeform 148"/>
            <p:cNvSpPr>
              <a:spLocks/>
            </p:cNvSpPr>
            <p:nvPr/>
          </p:nvSpPr>
          <p:spPr bwMode="auto">
            <a:xfrm>
              <a:off x="430" y="800"/>
              <a:ext cx="1233" cy="364"/>
            </a:xfrm>
            <a:custGeom>
              <a:avLst/>
              <a:gdLst>
                <a:gd name="T0" fmla="*/ 0 w 1233"/>
                <a:gd name="T1" fmla="*/ 170 h 364"/>
                <a:gd name="T2" fmla="*/ 116 w 1233"/>
                <a:gd name="T3" fmla="*/ 170 h 364"/>
                <a:gd name="T4" fmla="*/ 212 w 1233"/>
                <a:gd name="T5" fmla="*/ 162 h 364"/>
                <a:gd name="T6" fmla="*/ 289 w 1233"/>
                <a:gd name="T7" fmla="*/ 151 h 364"/>
                <a:gd name="T8" fmla="*/ 404 w 1233"/>
                <a:gd name="T9" fmla="*/ 120 h 364"/>
                <a:gd name="T10" fmla="*/ 514 w 1233"/>
                <a:gd name="T11" fmla="*/ 80 h 364"/>
                <a:gd name="T12" fmla="*/ 597 w 1233"/>
                <a:gd name="T13" fmla="*/ 53 h 364"/>
                <a:gd name="T14" fmla="*/ 646 w 1233"/>
                <a:gd name="T15" fmla="*/ 31 h 364"/>
                <a:gd name="T16" fmla="*/ 679 w 1233"/>
                <a:gd name="T17" fmla="*/ 0 h 364"/>
                <a:gd name="T18" fmla="*/ 749 w 1233"/>
                <a:gd name="T19" fmla="*/ 26 h 364"/>
                <a:gd name="T20" fmla="*/ 825 w 1233"/>
                <a:gd name="T21" fmla="*/ 38 h 364"/>
                <a:gd name="T22" fmla="*/ 940 w 1233"/>
                <a:gd name="T23" fmla="*/ 70 h 364"/>
                <a:gd name="T24" fmla="*/ 1057 w 1233"/>
                <a:gd name="T25" fmla="*/ 80 h 364"/>
                <a:gd name="T26" fmla="*/ 1157 w 1233"/>
                <a:gd name="T27" fmla="*/ 70 h 364"/>
                <a:gd name="T28" fmla="*/ 1233 w 1233"/>
                <a:gd name="T29" fmla="*/ 61 h 364"/>
                <a:gd name="T30" fmla="*/ 1153 w 1233"/>
                <a:gd name="T31" fmla="*/ 105 h 364"/>
                <a:gd name="T32" fmla="*/ 1093 w 1233"/>
                <a:gd name="T33" fmla="*/ 124 h 364"/>
                <a:gd name="T34" fmla="*/ 1024 w 1233"/>
                <a:gd name="T35" fmla="*/ 155 h 364"/>
                <a:gd name="T36" fmla="*/ 871 w 1233"/>
                <a:gd name="T37" fmla="*/ 194 h 364"/>
                <a:gd name="T38" fmla="*/ 753 w 1233"/>
                <a:gd name="T39" fmla="*/ 224 h 364"/>
                <a:gd name="T40" fmla="*/ 657 w 1233"/>
                <a:gd name="T41" fmla="*/ 271 h 364"/>
                <a:gd name="T42" fmla="*/ 557 w 1233"/>
                <a:gd name="T43" fmla="*/ 307 h 364"/>
                <a:gd name="T44" fmla="*/ 451 w 1233"/>
                <a:gd name="T45" fmla="*/ 344 h 364"/>
                <a:gd name="T46" fmla="*/ 421 w 1233"/>
                <a:gd name="T47" fmla="*/ 364 h 364"/>
                <a:gd name="T48" fmla="*/ 358 w 1233"/>
                <a:gd name="T49" fmla="*/ 317 h 364"/>
                <a:gd name="T50" fmla="*/ 275 w 1233"/>
                <a:gd name="T51" fmla="*/ 263 h 364"/>
                <a:gd name="T52" fmla="*/ 205 w 1233"/>
                <a:gd name="T53" fmla="*/ 244 h 364"/>
                <a:gd name="T54" fmla="*/ 119 w 1233"/>
                <a:gd name="T55" fmla="*/ 228 h 364"/>
                <a:gd name="T56" fmla="*/ 0 w 1233"/>
                <a:gd name="T57" fmla="*/ 170 h 36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33"/>
                <a:gd name="T88" fmla="*/ 0 h 364"/>
                <a:gd name="T89" fmla="*/ 1233 w 1233"/>
                <a:gd name="T90" fmla="*/ 364 h 36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33" h="364">
                  <a:moveTo>
                    <a:pt x="0" y="170"/>
                  </a:moveTo>
                  <a:lnTo>
                    <a:pt x="116" y="170"/>
                  </a:lnTo>
                  <a:lnTo>
                    <a:pt x="212" y="162"/>
                  </a:lnTo>
                  <a:lnTo>
                    <a:pt x="289" y="151"/>
                  </a:lnTo>
                  <a:lnTo>
                    <a:pt x="404" y="120"/>
                  </a:lnTo>
                  <a:lnTo>
                    <a:pt x="514" y="80"/>
                  </a:lnTo>
                  <a:lnTo>
                    <a:pt x="597" y="53"/>
                  </a:lnTo>
                  <a:lnTo>
                    <a:pt x="646" y="31"/>
                  </a:lnTo>
                  <a:lnTo>
                    <a:pt x="679" y="0"/>
                  </a:lnTo>
                  <a:lnTo>
                    <a:pt x="749" y="26"/>
                  </a:lnTo>
                  <a:lnTo>
                    <a:pt x="825" y="38"/>
                  </a:lnTo>
                  <a:lnTo>
                    <a:pt x="940" y="70"/>
                  </a:lnTo>
                  <a:lnTo>
                    <a:pt x="1057" y="80"/>
                  </a:lnTo>
                  <a:lnTo>
                    <a:pt x="1157" y="70"/>
                  </a:lnTo>
                  <a:lnTo>
                    <a:pt x="1233" y="61"/>
                  </a:lnTo>
                  <a:lnTo>
                    <a:pt x="1153" y="105"/>
                  </a:lnTo>
                  <a:lnTo>
                    <a:pt x="1093" y="124"/>
                  </a:lnTo>
                  <a:lnTo>
                    <a:pt x="1024" y="155"/>
                  </a:lnTo>
                  <a:lnTo>
                    <a:pt x="871" y="194"/>
                  </a:lnTo>
                  <a:lnTo>
                    <a:pt x="753" y="224"/>
                  </a:lnTo>
                  <a:lnTo>
                    <a:pt x="657" y="271"/>
                  </a:lnTo>
                  <a:lnTo>
                    <a:pt x="557" y="307"/>
                  </a:lnTo>
                  <a:lnTo>
                    <a:pt x="451" y="344"/>
                  </a:lnTo>
                  <a:lnTo>
                    <a:pt x="421" y="364"/>
                  </a:lnTo>
                  <a:lnTo>
                    <a:pt x="358" y="317"/>
                  </a:lnTo>
                  <a:lnTo>
                    <a:pt x="275" y="263"/>
                  </a:lnTo>
                  <a:lnTo>
                    <a:pt x="205" y="244"/>
                  </a:lnTo>
                  <a:lnTo>
                    <a:pt x="119" y="228"/>
                  </a:lnTo>
                  <a:lnTo>
                    <a:pt x="0" y="170"/>
                  </a:lnTo>
                  <a:close/>
                </a:path>
              </a:pathLst>
            </a:custGeom>
            <a:solidFill>
              <a:srgbClr val="00FF00"/>
            </a:solidFill>
            <a:ln w="6350">
              <a:solidFill>
                <a:srgbClr val="000000"/>
              </a:solidFill>
              <a:prstDash val="solid"/>
              <a:round/>
              <a:headEnd/>
              <a:tailEnd/>
            </a:ln>
          </p:spPr>
          <p:txBody>
            <a:bodyPr/>
            <a:lstStyle/>
            <a:p>
              <a:endParaRPr lang="en-US"/>
            </a:p>
          </p:txBody>
        </p:sp>
        <p:sp>
          <p:nvSpPr>
            <p:cNvPr id="6293" name="Freeform 149"/>
            <p:cNvSpPr>
              <a:spLocks/>
            </p:cNvSpPr>
            <p:nvPr/>
          </p:nvSpPr>
          <p:spPr bwMode="auto">
            <a:xfrm>
              <a:off x="725" y="951"/>
              <a:ext cx="226" cy="156"/>
            </a:xfrm>
            <a:custGeom>
              <a:avLst/>
              <a:gdLst>
                <a:gd name="T0" fmla="*/ 67 w 226"/>
                <a:gd name="T1" fmla="*/ 0 h 156"/>
                <a:gd name="T2" fmla="*/ 109 w 226"/>
                <a:gd name="T3" fmla="*/ 24 h 156"/>
                <a:gd name="T4" fmla="*/ 85 w 226"/>
                <a:gd name="T5" fmla="*/ 21 h 156"/>
                <a:gd name="T6" fmla="*/ 58 w 226"/>
                <a:gd name="T7" fmla="*/ 23 h 156"/>
                <a:gd name="T8" fmla="*/ 41 w 226"/>
                <a:gd name="T9" fmla="*/ 30 h 156"/>
                <a:gd name="T10" fmla="*/ 28 w 226"/>
                <a:gd name="T11" fmla="*/ 36 h 156"/>
                <a:gd name="T12" fmla="*/ 21 w 226"/>
                <a:gd name="T13" fmla="*/ 43 h 156"/>
                <a:gd name="T14" fmla="*/ 19 w 226"/>
                <a:gd name="T15" fmla="*/ 52 h 156"/>
                <a:gd name="T16" fmla="*/ 20 w 226"/>
                <a:gd name="T17" fmla="*/ 62 h 156"/>
                <a:gd name="T18" fmla="*/ 27 w 226"/>
                <a:gd name="T19" fmla="*/ 68 h 156"/>
                <a:gd name="T20" fmla="*/ 35 w 226"/>
                <a:gd name="T21" fmla="*/ 75 h 156"/>
                <a:gd name="T22" fmla="*/ 48 w 226"/>
                <a:gd name="T23" fmla="*/ 73 h 156"/>
                <a:gd name="T24" fmla="*/ 71 w 226"/>
                <a:gd name="T25" fmla="*/ 69 h 156"/>
                <a:gd name="T26" fmla="*/ 92 w 226"/>
                <a:gd name="T27" fmla="*/ 63 h 156"/>
                <a:gd name="T28" fmla="*/ 124 w 226"/>
                <a:gd name="T29" fmla="*/ 56 h 156"/>
                <a:gd name="T30" fmla="*/ 145 w 226"/>
                <a:gd name="T31" fmla="*/ 50 h 156"/>
                <a:gd name="T32" fmla="*/ 158 w 226"/>
                <a:gd name="T33" fmla="*/ 46 h 156"/>
                <a:gd name="T34" fmla="*/ 172 w 226"/>
                <a:gd name="T35" fmla="*/ 46 h 156"/>
                <a:gd name="T36" fmla="*/ 184 w 226"/>
                <a:gd name="T37" fmla="*/ 46 h 156"/>
                <a:gd name="T38" fmla="*/ 195 w 226"/>
                <a:gd name="T39" fmla="*/ 49 h 156"/>
                <a:gd name="T40" fmla="*/ 205 w 226"/>
                <a:gd name="T41" fmla="*/ 55 h 156"/>
                <a:gd name="T42" fmla="*/ 212 w 226"/>
                <a:gd name="T43" fmla="*/ 63 h 156"/>
                <a:gd name="T44" fmla="*/ 216 w 226"/>
                <a:gd name="T45" fmla="*/ 76 h 156"/>
                <a:gd name="T46" fmla="*/ 218 w 226"/>
                <a:gd name="T47" fmla="*/ 89 h 156"/>
                <a:gd name="T48" fmla="*/ 216 w 226"/>
                <a:gd name="T49" fmla="*/ 102 h 156"/>
                <a:gd name="T50" fmla="*/ 213 w 226"/>
                <a:gd name="T51" fmla="*/ 109 h 156"/>
                <a:gd name="T52" fmla="*/ 208 w 226"/>
                <a:gd name="T53" fmla="*/ 116 h 156"/>
                <a:gd name="T54" fmla="*/ 226 w 226"/>
                <a:gd name="T55" fmla="*/ 127 h 156"/>
                <a:gd name="T56" fmla="*/ 192 w 226"/>
                <a:gd name="T57" fmla="*/ 149 h 156"/>
                <a:gd name="T58" fmla="*/ 175 w 226"/>
                <a:gd name="T59" fmla="*/ 130 h 156"/>
                <a:gd name="T60" fmla="*/ 166 w 226"/>
                <a:gd name="T61" fmla="*/ 137 h 156"/>
                <a:gd name="T62" fmla="*/ 148 w 226"/>
                <a:gd name="T63" fmla="*/ 145 h 156"/>
                <a:gd name="T64" fmla="*/ 139 w 226"/>
                <a:gd name="T65" fmla="*/ 156 h 156"/>
                <a:gd name="T66" fmla="*/ 79 w 226"/>
                <a:gd name="T67" fmla="*/ 120 h 156"/>
                <a:gd name="T68" fmla="*/ 123 w 226"/>
                <a:gd name="T69" fmla="*/ 120 h 156"/>
                <a:gd name="T70" fmla="*/ 154 w 226"/>
                <a:gd name="T71" fmla="*/ 117 h 156"/>
                <a:gd name="T72" fmla="*/ 175 w 226"/>
                <a:gd name="T73" fmla="*/ 114 h 156"/>
                <a:gd name="T74" fmla="*/ 187 w 226"/>
                <a:gd name="T75" fmla="*/ 109 h 156"/>
                <a:gd name="T76" fmla="*/ 193 w 226"/>
                <a:gd name="T77" fmla="*/ 103 h 156"/>
                <a:gd name="T78" fmla="*/ 195 w 226"/>
                <a:gd name="T79" fmla="*/ 90 h 156"/>
                <a:gd name="T80" fmla="*/ 192 w 226"/>
                <a:gd name="T81" fmla="*/ 82 h 156"/>
                <a:gd name="T82" fmla="*/ 181 w 226"/>
                <a:gd name="T83" fmla="*/ 73 h 156"/>
                <a:gd name="T84" fmla="*/ 163 w 226"/>
                <a:gd name="T85" fmla="*/ 76 h 156"/>
                <a:gd name="T86" fmla="*/ 131 w 226"/>
                <a:gd name="T87" fmla="*/ 86 h 156"/>
                <a:gd name="T88" fmla="*/ 99 w 226"/>
                <a:gd name="T89" fmla="*/ 95 h 156"/>
                <a:gd name="T90" fmla="*/ 63 w 226"/>
                <a:gd name="T91" fmla="*/ 104 h 156"/>
                <a:gd name="T92" fmla="*/ 44 w 226"/>
                <a:gd name="T93" fmla="*/ 107 h 156"/>
                <a:gd name="T94" fmla="*/ 29 w 226"/>
                <a:gd name="T95" fmla="*/ 107 h 156"/>
                <a:gd name="T96" fmla="*/ 14 w 226"/>
                <a:gd name="T97" fmla="*/ 102 h 156"/>
                <a:gd name="T98" fmla="*/ 4 w 226"/>
                <a:gd name="T99" fmla="*/ 93 h 156"/>
                <a:gd name="T100" fmla="*/ 0 w 226"/>
                <a:gd name="T101" fmla="*/ 83 h 156"/>
                <a:gd name="T102" fmla="*/ 0 w 226"/>
                <a:gd name="T103" fmla="*/ 72 h 156"/>
                <a:gd name="T104" fmla="*/ 0 w 226"/>
                <a:gd name="T105" fmla="*/ 64 h 156"/>
                <a:gd name="T106" fmla="*/ 3 w 226"/>
                <a:gd name="T107" fmla="*/ 52 h 156"/>
                <a:gd name="T108" fmla="*/ 8 w 226"/>
                <a:gd name="T109" fmla="*/ 43 h 156"/>
                <a:gd name="T110" fmla="*/ 14 w 226"/>
                <a:gd name="T111" fmla="*/ 36 h 156"/>
                <a:gd name="T112" fmla="*/ 20 w 226"/>
                <a:gd name="T113" fmla="*/ 29 h 156"/>
                <a:gd name="T114" fmla="*/ 1 w 226"/>
                <a:gd name="T115" fmla="*/ 15 h 156"/>
                <a:gd name="T116" fmla="*/ 34 w 226"/>
                <a:gd name="T117" fmla="*/ 3 h 156"/>
                <a:gd name="T118" fmla="*/ 50 w 226"/>
                <a:gd name="T119" fmla="*/ 16 h 156"/>
                <a:gd name="T120" fmla="*/ 62 w 226"/>
                <a:gd name="T121" fmla="*/ 14 h 156"/>
                <a:gd name="T122" fmla="*/ 67 w 226"/>
                <a:gd name="T123" fmla="*/ 0 h 15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6"/>
                <a:gd name="T187" fmla="*/ 0 h 156"/>
                <a:gd name="T188" fmla="*/ 226 w 226"/>
                <a:gd name="T189" fmla="*/ 156 h 15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6" h="156">
                  <a:moveTo>
                    <a:pt x="67" y="0"/>
                  </a:moveTo>
                  <a:lnTo>
                    <a:pt x="109" y="24"/>
                  </a:lnTo>
                  <a:lnTo>
                    <a:pt x="85" y="21"/>
                  </a:lnTo>
                  <a:lnTo>
                    <a:pt x="58" y="23"/>
                  </a:lnTo>
                  <a:lnTo>
                    <a:pt x="41" y="30"/>
                  </a:lnTo>
                  <a:lnTo>
                    <a:pt x="28" y="36"/>
                  </a:lnTo>
                  <a:lnTo>
                    <a:pt x="21" y="43"/>
                  </a:lnTo>
                  <a:lnTo>
                    <a:pt x="19" y="52"/>
                  </a:lnTo>
                  <a:lnTo>
                    <a:pt x="20" y="62"/>
                  </a:lnTo>
                  <a:lnTo>
                    <a:pt x="27" y="68"/>
                  </a:lnTo>
                  <a:lnTo>
                    <a:pt x="35" y="75"/>
                  </a:lnTo>
                  <a:lnTo>
                    <a:pt x="48" y="73"/>
                  </a:lnTo>
                  <a:lnTo>
                    <a:pt x="71" y="69"/>
                  </a:lnTo>
                  <a:lnTo>
                    <a:pt x="92" y="63"/>
                  </a:lnTo>
                  <a:lnTo>
                    <a:pt x="124" y="56"/>
                  </a:lnTo>
                  <a:lnTo>
                    <a:pt x="145" y="50"/>
                  </a:lnTo>
                  <a:lnTo>
                    <a:pt x="158" y="46"/>
                  </a:lnTo>
                  <a:lnTo>
                    <a:pt x="172" y="46"/>
                  </a:lnTo>
                  <a:lnTo>
                    <a:pt x="184" y="46"/>
                  </a:lnTo>
                  <a:lnTo>
                    <a:pt x="195" y="49"/>
                  </a:lnTo>
                  <a:lnTo>
                    <a:pt x="205" y="55"/>
                  </a:lnTo>
                  <a:lnTo>
                    <a:pt x="212" y="63"/>
                  </a:lnTo>
                  <a:lnTo>
                    <a:pt x="216" y="76"/>
                  </a:lnTo>
                  <a:lnTo>
                    <a:pt x="218" y="89"/>
                  </a:lnTo>
                  <a:lnTo>
                    <a:pt x="216" y="102"/>
                  </a:lnTo>
                  <a:lnTo>
                    <a:pt x="213" y="109"/>
                  </a:lnTo>
                  <a:lnTo>
                    <a:pt x="208" y="116"/>
                  </a:lnTo>
                  <a:lnTo>
                    <a:pt x="226" y="127"/>
                  </a:lnTo>
                  <a:lnTo>
                    <a:pt x="192" y="149"/>
                  </a:lnTo>
                  <a:lnTo>
                    <a:pt x="175" y="130"/>
                  </a:lnTo>
                  <a:lnTo>
                    <a:pt x="166" y="137"/>
                  </a:lnTo>
                  <a:lnTo>
                    <a:pt x="148" y="145"/>
                  </a:lnTo>
                  <a:lnTo>
                    <a:pt x="139" y="156"/>
                  </a:lnTo>
                  <a:lnTo>
                    <a:pt x="79" y="120"/>
                  </a:lnTo>
                  <a:lnTo>
                    <a:pt x="123" y="120"/>
                  </a:lnTo>
                  <a:lnTo>
                    <a:pt x="154" y="117"/>
                  </a:lnTo>
                  <a:lnTo>
                    <a:pt x="175" y="114"/>
                  </a:lnTo>
                  <a:lnTo>
                    <a:pt x="187" y="109"/>
                  </a:lnTo>
                  <a:lnTo>
                    <a:pt x="193" y="103"/>
                  </a:lnTo>
                  <a:lnTo>
                    <a:pt x="195" y="90"/>
                  </a:lnTo>
                  <a:lnTo>
                    <a:pt x="192" y="82"/>
                  </a:lnTo>
                  <a:lnTo>
                    <a:pt x="181" y="73"/>
                  </a:lnTo>
                  <a:lnTo>
                    <a:pt x="163" y="76"/>
                  </a:lnTo>
                  <a:lnTo>
                    <a:pt x="131" y="86"/>
                  </a:lnTo>
                  <a:lnTo>
                    <a:pt x="99" y="95"/>
                  </a:lnTo>
                  <a:lnTo>
                    <a:pt x="63" y="104"/>
                  </a:lnTo>
                  <a:lnTo>
                    <a:pt x="44" y="107"/>
                  </a:lnTo>
                  <a:lnTo>
                    <a:pt x="29" y="107"/>
                  </a:lnTo>
                  <a:lnTo>
                    <a:pt x="14" y="102"/>
                  </a:lnTo>
                  <a:lnTo>
                    <a:pt x="4" y="93"/>
                  </a:lnTo>
                  <a:lnTo>
                    <a:pt x="0" y="83"/>
                  </a:lnTo>
                  <a:lnTo>
                    <a:pt x="0" y="72"/>
                  </a:lnTo>
                  <a:lnTo>
                    <a:pt x="0" y="64"/>
                  </a:lnTo>
                  <a:lnTo>
                    <a:pt x="3" y="52"/>
                  </a:lnTo>
                  <a:lnTo>
                    <a:pt x="8" y="43"/>
                  </a:lnTo>
                  <a:lnTo>
                    <a:pt x="14" y="36"/>
                  </a:lnTo>
                  <a:lnTo>
                    <a:pt x="20" y="29"/>
                  </a:lnTo>
                  <a:lnTo>
                    <a:pt x="1" y="15"/>
                  </a:lnTo>
                  <a:lnTo>
                    <a:pt x="34" y="3"/>
                  </a:lnTo>
                  <a:lnTo>
                    <a:pt x="50" y="16"/>
                  </a:lnTo>
                  <a:lnTo>
                    <a:pt x="62" y="14"/>
                  </a:lnTo>
                  <a:lnTo>
                    <a:pt x="67" y="0"/>
                  </a:lnTo>
                  <a:close/>
                </a:path>
              </a:pathLst>
            </a:custGeom>
            <a:solidFill>
              <a:srgbClr val="BFFFBF"/>
            </a:solidFill>
            <a:ln w="6350">
              <a:solidFill>
                <a:srgbClr val="000000"/>
              </a:solidFill>
              <a:prstDash val="solid"/>
              <a:round/>
              <a:headEnd/>
              <a:tailEnd/>
            </a:ln>
          </p:spPr>
          <p:txBody>
            <a:bodyPr/>
            <a:lstStyle/>
            <a:p>
              <a:endParaRPr lang="en-US"/>
            </a:p>
          </p:txBody>
        </p:sp>
        <p:sp>
          <p:nvSpPr>
            <p:cNvPr id="6294" name="Freeform 150"/>
            <p:cNvSpPr>
              <a:spLocks/>
            </p:cNvSpPr>
            <p:nvPr/>
          </p:nvSpPr>
          <p:spPr bwMode="auto">
            <a:xfrm>
              <a:off x="1083" y="836"/>
              <a:ext cx="226" cy="156"/>
            </a:xfrm>
            <a:custGeom>
              <a:avLst/>
              <a:gdLst>
                <a:gd name="T0" fmla="*/ 67 w 226"/>
                <a:gd name="T1" fmla="*/ 0 h 156"/>
                <a:gd name="T2" fmla="*/ 109 w 226"/>
                <a:gd name="T3" fmla="*/ 23 h 156"/>
                <a:gd name="T4" fmla="*/ 87 w 226"/>
                <a:gd name="T5" fmla="*/ 22 h 156"/>
                <a:gd name="T6" fmla="*/ 60 w 226"/>
                <a:gd name="T7" fmla="*/ 23 h 156"/>
                <a:gd name="T8" fmla="*/ 42 w 226"/>
                <a:gd name="T9" fmla="*/ 30 h 156"/>
                <a:gd name="T10" fmla="*/ 29 w 226"/>
                <a:gd name="T11" fmla="*/ 36 h 156"/>
                <a:gd name="T12" fmla="*/ 22 w 226"/>
                <a:gd name="T13" fmla="*/ 43 h 156"/>
                <a:gd name="T14" fmla="*/ 19 w 226"/>
                <a:gd name="T15" fmla="*/ 51 h 156"/>
                <a:gd name="T16" fmla="*/ 21 w 226"/>
                <a:gd name="T17" fmla="*/ 62 h 156"/>
                <a:gd name="T18" fmla="*/ 27 w 226"/>
                <a:gd name="T19" fmla="*/ 68 h 156"/>
                <a:gd name="T20" fmla="*/ 36 w 226"/>
                <a:gd name="T21" fmla="*/ 73 h 156"/>
                <a:gd name="T22" fmla="*/ 48 w 226"/>
                <a:gd name="T23" fmla="*/ 72 h 156"/>
                <a:gd name="T24" fmla="*/ 73 w 226"/>
                <a:gd name="T25" fmla="*/ 69 h 156"/>
                <a:gd name="T26" fmla="*/ 94 w 226"/>
                <a:gd name="T27" fmla="*/ 63 h 156"/>
                <a:gd name="T28" fmla="*/ 125 w 226"/>
                <a:gd name="T29" fmla="*/ 56 h 156"/>
                <a:gd name="T30" fmla="*/ 145 w 226"/>
                <a:gd name="T31" fmla="*/ 50 h 156"/>
                <a:gd name="T32" fmla="*/ 159 w 226"/>
                <a:gd name="T33" fmla="*/ 45 h 156"/>
                <a:gd name="T34" fmla="*/ 173 w 226"/>
                <a:gd name="T35" fmla="*/ 45 h 156"/>
                <a:gd name="T36" fmla="*/ 184 w 226"/>
                <a:gd name="T37" fmla="*/ 45 h 156"/>
                <a:gd name="T38" fmla="*/ 196 w 226"/>
                <a:gd name="T39" fmla="*/ 50 h 156"/>
                <a:gd name="T40" fmla="*/ 205 w 226"/>
                <a:gd name="T41" fmla="*/ 55 h 156"/>
                <a:gd name="T42" fmla="*/ 213 w 226"/>
                <a:gd name="T43" fmla="*/ 63 h 156"/>
                <a:gd name="T44" fmla="*/ 217 w 226"/>
                <a:gd name="T45" fmla="*/ 76 h 156"/>
                <a:gd name="T46" fmla="*/ 218 w 226"/>
                <a:gd name="T47" fmla="*/ 89 h 156"/>
                <a:gd name="T48" fmla="*/ 217 w 226"/>
                <a:gd name="T49" fmla="*/ 100 h 156"/>
                <a:gd name="T50" fmla="*/ 213 w 226"/>
                <a:gd name="T51" fmla="*/ 109 h 156"/>
                <a:gd name="T52" fmla="*/ 209 w 226"/>
                <a:gd name="T53" fmla="*/ 116 h 156"/>
                <a:gd name="T54" fmla="*/ 226 w 226"/>
                <a:gd name="T55" fmla="*/ 127 h 156"/>
                <a:gd name="T56" fmla="*/ 193 w 226"/>
                <a:gd name="T57" fmla="*/ 149 h 156"/>
                <a:gd name="T58" fmla="*/ 177 w 226"/>
                <a:gd name="T59" fmla="*/ 131 h 156"/>
                <a:gd name="T60" fmla="*/ 166 w 226"/>
                <a:gd name="T61" fmla="*/ 136 h 156"/>
                <a:gd name="T62" fmla="*/ 150 w 226"/>
                <a:gd name="T63" fmla="*/ 145 h 156"/>
                <a:gd name="T64" fmla="*/ 141 w 226"/>
                <a:gd name="T65" fmla="*/ 156 h 156"/>
                <a:gd name="T66" fmla="*/ 81 w 226"/>
                <a:gd name="T67" fmla="*/ 120 h 156"/>
                <a:gd name="T68" fmla="*/ 123 w 226"/>
                <a:gd name="T69" fmla="*/ 120 h 156"/>
                <a:gd name="T70" fmla="*/ 156 w 226"/>
                <a:gd name="T71" fmla="*/ 117 h 156"/>
                <a:gd name="T72" fmla="*/ 176 w 226"/>
                <a:gd name="T73" fmla="*/ 115 h 156"/>
                <a:gd name="T74" fmla="*/ 189 w 226"/>
                <a:gd name="T75" fmla="*/ 109 h 156"/>
                <a:gd name="T76" fmla="*/ 194 w 226"/>
                <a:gd name="T77" fmla="*/ 102 h 156"/>
                <a:gd name="T78" fmla="*/ 196 w 226"/>
                <a:gd name="T79" fmla="*/ 90 h 156"/>
                <a:gd name="T80" fmla="*/ 193 w 226"/>
                <a:gd name="T81" fmla="*/ 81 h 156"/>
                <a:gd name="T82" fmla="*/ 182 w 226"/>
                <a:gd name="T83" fmla="*/ 72 h 156"/>
                <a:gd name="T84" fmla="*/ 164 w 226"/>
                <a:gd name="T85" fmla="*/ 76 h 156"/>
                <a:gd name="T86" fmla="*/ 131 w 226"/>
                <a:gd name="T87" fmla="*/ 85 h 156"/>
                <a:gd name="T88" fmla="*/ 100 w 226"/>
                <a:gd name="T89" fmla="*/ 93 h 156"/>
                <a:gd name="T90" fmla="*/ 65 w 226"/>
                <a:gd name="T91" fmla="*/ 104 h 156"/>
                <a:gd name="T92" fmla="*/ 45 w 226"/>
                <a:gd name="T93" fmla="*/ 107 h 156"/>
                <a:gd name="T94" fmla="*/ 29 w 226"/>
                <a:gd name="T95" fmla="*/ 107 h 156"/>
                <a:gd name="T96" fmla="*/ 15 w 226"/>
                <a:gd name="T97" fmla="*/ 100 h 156"/>
                <a:gd name="T98" fmla="*/ 6 w 226"/>
                <a:gd name="T99" fmla="*/ 93 h 156"/>
                <a:gd name="T100" fmla="*/ 1 w 226"/>
                <a:gd name="T101" fmla="*/ 83 h 156"/>
                <a:gd name="T102" fmla="*/ 0 w 226"/>
                <a:gd name="T103" fmla="*/ 72 h 156"/>
                <a:gd name="T104" fmla="*/ 0 w 226"/>
                <a:gd name="T105" fmla="*/ 64 h 156"/>
                <a:gd name="T106" fmla="*/ 4 w 226"/>
                <a:gd name="T107" fmla="*/ 52 h 156"/>
                <a:gd name="T108" fmla="*/ 9 w 226"/>
                <a:gd name="T109" fmla="*/ 43 h 156"/>
                <a:gd name="T110" fmla="*/ 14 w 226"/>
                <a:gd name="T111" fmla="*/ 35 h 156"/>
                <a:gd name="T112" fmla="*/ 20 w 226"/>
                <a:gd name="T113" fmla="*/ 29 h 156"/>
                <a:gd name="T114" fmla="*/ 1 w 226"/>
                <a:gd name="T115" fmla="*/ 15 h 156"/>
                <a:gd name="T116" fmla="*/ 34 w 226"/>
                <a:gd name="T117" fmla="*/ 3 h 156"/>
                <a:gd name="T118" fmla="*/ 50 w 226"/>
                <a:gd name="T119" fmla="*/ 15 h 156"/>
                <a:gd name="T120" fmla="*/ 63 w 226"/>
                <a:gd name="T121" fmla="*/ 14 h 156"/>
                <a:gd name="T122" fmla="*/ 67 w 226"/>
                <a:gd name="T123" fmla="*/ 0 h 15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6"/>
                <a:gd name="T187" fmla="*/ 0 h 156"/>
                <a:gd name="T188" fmla="*/ 226 w 226"/>
                <a:gd name="T189" fmla="*/ 156 h 15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6" h="156">
                  <a:moveTo>
                    <a:pt x="67" y="0"/>
                  </a:moveTo>
                  <a:lnTo>
                    <a:pt x="109" y="23"/>
                  </a:lnTo>
                  <a:lnTo>
                    <a:pt x="87" y="22"/>
                  </a:lnTo>
                  <a:lnTo>
                    <a:pt x="60" y="23"/>
                  </a:lnTo>
                  <a:lnTo>
                    <a:pt x="42" y="30"/>
                  </a:lnTo>
                  <a:lnTo>
                    <a:pt x="29" y="36"/>
                  </a:lnTo>
                  <a:lnTo>
                    <a:pt x="22" y="43"/>
                  </a:lnTo>
                  <a:lnTo>
                    <a:pt x="19" y="51"/>
                  </a:lnTo>
                  <a:lnTo>
                    <a:pt x="21" y="62"/>
                  </a:lnTo>
                  <a:lnTo>
                    <a:pt x="27" y="68"/>
                  </a:lnTo>
                  <a:lnTo>
                    <a:pt x="36" y="73"/>
                  </a:lnTo>
                  <a:lnTo>
                    <a:pt x="48" y="72"/>
                  </a:lnTo>
                  <a:lnTo>
                    <a:pt x="73" y="69"/>
                  </a:lnTo>
                  <a:lnTo>
                    <a:pt x="94" y="63"/>
                  </a:lnTo>
                  <a:lnTo>
                    <a:pt x="125" y="56"/>
                  </a:lnTo>
                  <a:lnTo>
                    <a:pt x="145" y="50"/>
                  </a:lnTo>
                  <a:lnTo>
                    <a:pt x="159" y="45"/>
                  </a:lnTo>
                  <a:lnTo>
                    <a:pt x="173" y="45"/>
                  </a:lnTo>
                  <a:lnTo>
                    <a:pt x="184" y="45"/>
                  </a:lnTo>
                  <a:lnTo>
                    <a:pt x="196" y="50"/>
                  </a:lnTo>
                  <a:lnTo>
                    <a:pt x="205" y="55"/>
                  </a:lnTo>
                  <a:lnTo>
                    <a:pt x="213" y="63"/>
                  </a:lnTo>
                  <a:lnTo>
                    <a:pt x="217" y="76"/>
                  </a:lnTo>
                  <a:lnTo>
                    <a:pt x="218" y="89"/>
                  </a:lnTo>
                  <a:lnTo>
                    <a:pt x="217" y="100"/>
                  </a:lnTo>
                  <a:lnTo>
                    <a:pt x="213" y="109"/>
                  </a:lnTo>
                  <a:lnTo>
                    <a:pt x="209" y="116"/>
                  </a:lnTo>
                  <a:lnTo>
                    <a:pt x="226" y="127"/>
                  </a:lnTo>
                  <a:lnTo>
                    <a:pt x="193" y="149"/>
                  </a:lnTo>
                  <a:lnTo>
                    <a:pt x="177" y="131"/>
                  </a:lnTo>
                  <a:lnTo>
                    <a:pt x="166" y="136"/>
                  </a:lnTo>
                  <a:lnTo>
                    <a:pt x="150" y="145"/>
                  </a:lnTo>
                  <a:lnTo>
                    <a:pt x="141" y="156"/>
                  </a:lnTo>
                  <a:lnTo>
                    <a:pt x="81" y="120"/>
                  </a:lnTo>
                  <a:lnTo>
                    <a:pt x="123" y="120"/>
                  </a:lnTo>
                  <a:lnTo>
                    <a:pt x="156" y="117"/>
                  </a:lnTo>
                  <a:lnTo>
                    <a:pt x="176" y="115"/>
                  </a:lnTo>
                  <a:lnTo>
                    <a:pt x="189" y="109"/>
                  </a:lnTo>
                  <a:lnTo>
                    <a:pt x="194" y="102"/>
                  </a:lnTo>
                  <a:lnTo>
                    <a:pt x="196" y="90"/>
                  </a:lnTo>
                  <a:lnTo>
                    <a:pt x="193" y="81"/>
                  </a:lnTo>
                  <a:lnTo>
                    <a:pt x="182" y="72"/>
                  </a:lnTo>
                  <a:lnTo>
                    <a:pt x="164" y="76"/>
                  </a:lnTo>
                  <a:lnTo>
                    <a:pt x="131" y="85"/>
                  </a:lnTo>
                  <a:lnTo>
                    <a:pt x="100" y="93"/>
                  </a:lnTo>
                  <a:lnTo>
                    <a:pt x="65" y="104"/>
                  </a:lnTo>
                  <a:lnTo>
                    <a:pt x="45" y="107"/>
                  </a:lnTo>
                  <a:lnTo>
                    <a:pt x="29" y="107"/>
                  </a:lnTo>
                  <a:lnTo>
                    <a:pt x="15" y="100"/>
                  </a:lnTo>
                  <a:lnTo>
                    <a:pt x="6" y="93"/>
                  </a:lnTo>
                  <a:lnTo>
                    <a:pt x="1" y="83"/>
                  </a:lnTo>
                  <a:lnTo>
                    <a:pt x="0" y="72"/>
                  </a:lnTo>
                  <a:lnTo>
                    <a:pt x="0" y="64"/>
                  </a:lnTo>
                  <a:lnTo>
                    <a:pt x="4" y="52"/>
                  </a:lnTo>
                  <a:lnTo>
                    <a:pt x="9" y="43"/>
                  </a:lnTo>
                  <a:lnTo>
                    <a:pt x="14" y="35"/>
                  </a:lnTo>
                  <a:lnTo>
                    <a:pt x="20" y="29"/>
                  </a:lnTo>
                  <a:lnTo>
                    <a:pt x="1" y="15"/>
                  </a:lnTo>
                  <a:lnTo>
                    <a:pt x="34" y="3"/>
                  </a:lnTo>
                  <a:lnTo>
                    <a:pt x="50" y="15"/>
                  </a:lnTo>
                  <a:lnTo>
                    <a:pt x="63" y="14"/>
                  </a:lnTo>
                  <a:lnTo>
                    <a:pt x="67" y="0"/>
                  </a:lnTo>
                  <a:close/>
                </a:path>
              </a:pathLst>
            </a:custGeom>
            <a:solidFill>
              <a:srgbClr val="BFFFBF"/>
            </a:solidFill>
            <a:ln w="6350">
              <a:solidFill>
                <a:srgbClr val="000000"/>
              </a:solidFill>
              <a:prstDash val="solid"/>
              <a:round/>
              <a:headEnd/>
              <a:tailEnd/>
            </a:ln>
          </p:spPr>
          <p:txBody>
            <a:bodyPr/>
            <a:lstStyle/>
            <a:p>
              <a:endParaRPr lang="en-US"/>
            </a:p>
          </p:txBody>
        </p:sp>
        <p:sp>
          <p:nvSpPr>
            <p:cNvPr id="6295" name="Freeform 151"/>
            <p:cNvSpPr>
              <a:spLocks/>
            </p:cNvSpPr>
            <p:nvPr/>
          </p:nvSpPr>
          <p:spPr bwMode="auto">
            <a:xfrm>
              <a:off x="828" y="880"/>
              <a:ext cx="407" cy="168"/>
            </a:xfrm>
            <a:custGeom>
              <a:avLst/>
              <a:gdLst>
                <a:gd name="T0" fmla="*/ 0 w 407"/>
                <a:gd name="T1" fmla="*/ 40 h 168"/>
                <a:gd name="T2" fmla="*/ 311 w 407"/>
                <a:gd name="T3" fmla="*/ 168 h 168"/>
                <a:gd name="T4" fmla="*/ 407 w 407"/>
                <a:gd name="T5" fmla="*/ 133 h 168"/>
                <a:gd name="T6" fmla="*/ 96 w 407"/>
                <a:gd name="T7" fmla="*/ 0 h 168"/>
                <a:gd name="T8" fmla="*/ 0 w 407"/>
                <a:gd name="T9" fmla="*/ 40 h 168"/>
                <a:gd name="T10" fmla="*/ 0 60000 65536"/>
                <a:gd name="T11" fmla="*/ 0 60000 65536"/>
                <a:gd name="T12" fmla="*/ 0 60000 65536"/>
                <a:gd name="T13" fmla="*/ 0 60000 65536"/>
                <a:gd name="T14" fmla="*/ 0 60000 65536"/>
                <a:gd name="T15" fmla="*/ 0 w 407"/>
                <a:gd name="T16" fmla="*/ 0 h 168"/>
                <a:gd name="T17" fmla="*/ 407 w 407"/>
                <a:gd name="T18" fmla="*/ 168 h 168"/>
              </a:gdLst>
              <a:ahLst/>
              <a:cxnLst>
                <a:cxn ang="T10">
                  <a:pos x="T0" y="T1"/>
                </a:cxn>
                <a:cxn ang="T11">
                  <a:pos x="T2" y="T3"/>
                </a:cxn>
                <a:cxn ang="T12">
                  <a:pos x="T4" y="T5"/>
                </a:cxn>
                <a:cxn ang="T13">
                  <a:pos x="T6" y="T7"/>
                </a:cxn>
                <a:cxn ang="T14">
                  <a:pos x="T8" y="T9"/>
                </a:cxn>
              </a:cxnLst>
              <a:rect l="T15" t="T16" r="T17" b="T18"/>
              <a:pathLst>
                <a:path w="407" h="168">
                  <a:moveTo>
                    <a:pt x="0" y="40"/>
                  </a:moveTo>
                  <a:lnTo>
                    <a:pt x="311" y="168"/>
                  </a:lnTo>
                  <a:lnTo>
                    <a:pt x="407" y="133"/>
                  </a:lnTo>
                  <a:lnTo>
                    <a:pt x="96" y="0"/>
                  </a:lnTo>
                  <a:lnTo>
                    <a:pt x="0" y="40"/>
                  </a:lnTo>
                  <a:close/>
                </a:path>
              </a:pathLst>
            </a:custGeom>
            <a:solidFill>
              <a:srgbClr val="FFBF5F"/>
            </a:solidFill>
            <a:ln w="6350">
              <a:solidFill>
                <a:srgbClr val="000000"/>
              </a:solidFill>
              <a:prstDash val="solid"/>
              <a:round/>
              <a:headEnd/>
              <a:tailEnd/>
            </a:ln>
          </p:spPr>
          <p:txBody>
            <a:bodyPr/>
            <a:lstStyle/>
            <a:p>
              <a:endParaRPr lang="en-US"/>
            </a:p>
          </p:txBody>
        </p:sp>
        <p:sp>
          <p:nvSpPr>
            <p:cNvPr id="6296" name="Freeform 152"/>
            <p:cNvSpPr>
              <a:spLocks/>
            </p:cNvSpPr>
            <p:nvPr/>
          </p:nvSpPr>
          <p:spPr bwMode="auto">
            <a:xfrm>
              <a:off x="1142" y="1009"/>
              <a:ext cx="99" cy="186"/>
            </a:xfrm>
            <a:custGeom>
              <a:avLst/>
              <a:gdLst>
                <a:gd name="T0" fmla="*/ 0 w 99"/>
                <a:gd name="T1" fmla="*/ 39 h 186"/>
                <a:gd name="T2" fmla="*/ 97 w 99"/>
                <a:gd name="T3" fmla="*/ 0 h 186"/>
                <a:gd name="T4" fmla="*/ 99 w 99"/>
                <a:gd name="T5" fmla="*/ 147 h 186"/>
                <a:gd name="T6" fmla="*/ 0 w 99"/>
                <a:gd name="T7" fmla="*/ 186 h 186"/>
                <a:gd name="T8" fmla="*/ 0 w 99"/>
                <a:gd name="T9" fmla="*/ 39 h 186"/>
                <a:gd name="T10" fmla="*/ 0 60000 65536"/>
                <a:gd name="T11" fmla="*/ 0 60000 65536"/>
                <a:gd name="T12" fmla="*/ 0 60000 65536"/>
                <a:gd name="T13" fmla="*/ 0 60000 65536"/>
                <a:gd name="T14" fmla="*/ 0 60000 65536"/>
                <a:gd name="T15" fmla="*/ 0 w 99"/>
                <a:gd name="T16" fmla="*/ 0 h 186"/>
                <a:gd name="T17" fmla="*/ 99 w 99"/>
                <a:gd name="T18" fmla="*/ 186 h 186"/>
              </a:gdLst>
              <a:ahLst/>
              <a:cxnLst>
                <a:cxn ang="T10">
                  <a:pos x="T0" y="T1"/>
                </a:cxn>
                <a:cxn ang="T11">
                  <a:pos x="T2" y="T3"/>
                </a:cxn>
                <a:cxn ang="T12">
                  <a:pos x="T4" y="T5"/>
                </a:cxn>
                <a:cxn ang="T13">
                  <a:pos x="T6" y="T7"/>
                </a:cxn>
                <a:cxn ang="T14">
                  <a:pos x="T8" y="T9"/>
                </a:cxn>
              </a:cxnLst>
              <a:rect l="T15" t="T16" r="T17" b="T18"/>
              <a:pathLst>
                <a:path w="99" h="186">
                  <a:moveTo>
                    <a:pt x="0" y="39"/>
                  </a:moveTo>
                  <a:lnTo>
                    <a:pt x="97" y="0"/>
                  </a:lnTo>
                  <a:lnTo>
                    <a:pt x="99" y="147"/>
                  </a:lnTo>
                  <a:lnTo>
                    <a:pt x="0" y="186"/>
                  </a:lnTo>
                  <a:lnTo>
                    <a:pt x="0" y="39"/>
                  </a:lnTo>
                  <a:close/>
                </a:path>
              </a:pathLst>
            </a:custGeom>
            <a:solidFill>
              <a:srgbClr val="7F3F00"/>
            </a:solidFill>
            <a:ln w="6350">
              <a:solidFill>
                <a:srgbClr val="000000"/>
              </a:solidFill>
              <a:prstDash val="solid"/>
              <a:round/>
              <a:headEnd/>
              <a:tailEnd/>
            </a:ln>
          </p:spPr>
          <p:txBody>
            <a:bodyPr/>
            <a:lstStyle/>
            <a:p>
              <a:endParaRPr lang="en-US"/>
            </a:p>
          </p:txBody>
        </p:sp>
      </p:grpSp>
      <p:sp>
        <p:nvSpPr>
          <p:cNvPr id="6149" name="Rectangle 31"/>
          <p:cNvSpPr>
            <a:spLocks noChangeArrowheads="1"/>
          </p:cNvSpPr>
          <p:nvPr/>
        </p:nvSpPr>
        <p:spPr bwMode="auto">
          <a:xfrm>
            <a:off x="304800" y="5334000"/>
            <a:ext cx="8461375" cy="292100"/>
          </a:xfrm>
          <a:prstGeom prst="rect">
            <a:avLst/>
          </a:prstGeom>
          <a:noFill/>
          <a:ln w="9525">
            <a:noFill/>
            <a:miter lim="800000"/>
            <a:headEnd/>
            <a:tailEnd/>
          </a:ln>
        </p:spPr>
        <p:txBody>
          <a:bodyPr wrap="none" lIns="0" tIns="0" rIns="0" bIns="0">
            <a:spAutoFit/>
          </a:bodyPr>
          <a:lstStyle/>
          <a:p>
            <a:r>
              <a:rPr lang="en-US" sz="1900" b="1" i="1">
                <a:solidFill>
                  <a:srgbClr val="000000"/>
                </a:solidFill>
                <a:latin typeface="Courier New" pitchFamily="49" charset="0"/>
              </a:rPr>
              <a:t>"Loan-to-Value” (LTV) Ratio = $6,000,000/$10,000,000 = 60%</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533400"/>
            <a:ext cx="8229600" cy="1143000"/>
          </a:xfrm>
        </p:spPr>
        <p:txBody>
          <a:bodyPr/>
          <a:lstStyle/>
          <a:p>
            <a:r>
              <a:rPr lang="en-US" b="1"/>
              <a:t>Leverage</a:t>
            </a:r>
          </a:p>
        </p:txBody>
      </p:sp>
      <p:sp>
        <p:nvSpPr>
          <p:cNvPr id="7171" name="Rectangle 3"/>
          <p:cNvSpPr>
            <a:spLocks noGrp="1" noChangeArrowheads="1"/>
          </p:cNvSpPr>
          <p:nvPr>
            <p:ph idx="1"/>
          </p:nvPr>
        </p:nvSpPr>
        <p:spPr/>
        <p:txBody>
          <a:bodyPr/>
          <a:lstStyle/>
          <a:p>
            <a:r>
              <a:rPr lang="en-US" sz="2000" dirty="0"/>
              <a:t>The use of debt to finance an equity investment creates what is called leverage (or “gearing”) in the equity investment, because it allows equity investors to magnify:</a:t>
            </a:r>
          </a:p>
          <a:p>
            <a:pPr lvl="1"/>
            <a:r>
              <a:rPr lang="en-US" sz="2000" dirty="0"/>
              <a:t>The amount of underlying physical capital they control</a:t>
            </a:r>
          </a:p>
          <a:p>
            <a:pPr lvl="1"/>
            <a:r>
              <a:rPr lang="en-US" sz="2000" dirty="0"/>
              <a:t>The risk and return performance of the equity</a:t>
            </a:r>
          </a:p>
          <a:p>
            <a:r>
              <a:rPr lang="en-US" sz="2000" dirty="0"/>
              <a:t>By attaching debt to a property, we generate a </a:t>
            </a:r>
            <a:r>
              <a:rPr lang="en-US" sz="2000" b="1" i="1" dirty="0"/>
              <a:t>debt investment opportunity</a:t>
            </a:r>
            <a:r>
              <a:rPr lang="en-US" sz="2000" dirty="0"/>
              <a:t> and an </a:t>
            </a:r>
            <a:r>
              <a:rPr lang="en-US" sz="2000" b="1" i="1" dirty="0"/>
              <a:t>equity investment opportunity</a:t>
            </a:r>
            <a:r>
              <a:rPr lang="en-US" sz="2000" dirty="0"/>
              <a:t>.</a:t>
            </a:r>
          </a:p>
          <a:p>
            <a:r>
              <a:rPr lang="en-US" sz="2000" dirty="0"/>
              <a:t>Each component differs substantially regarding:</a:t>
            </a:r>
          </a:p>
          <a:p>
            <a:pPr lvl="1"/>
            <a:r>
              <a:rPr lang="en-US" sz="1600" dirty="0"/>
              <a:t>Expected return (r) and risk</a:t>
            </a:r>
          </a:p>
          <a:p>
            <a:pPr lvl="1"/>
            <a:r>
              <a:rPr lang="en-US" sz="1600" dirty="0"/>
              <a:t>Expected yield (y) and growth (g), where r=</a:t>
            </a:r>
            <a:r>
              <a:rPr lang="en-US" sz="1600" dirty="0" err="1"/>
              <a:t>y+g</a:t>
            </a:r>
            <a:endParaRPr lang="en-US" sz="1600" dirty="0"/>
          </a:p>
          <a:p>
            <a:r>
              <a:rPr lang="en-US" sz="2000" dirty="0"/>
              <a:t>The art of the deal is </a:t>
            </a:r>
            <a:r>
              <a:rPr lang="en-US" sz="2000" b="1" i="1" dirty="0"/>
              <a:t>designing debt and equity slices</a:t>
            </a:r>
            <a:r>
              <a:rPr lang="en-US" sz="2000" dirty="0"/>
              <a:t>, like the slices of a pie, in a way that </a:t>
            </a:r>
            <a:r>
              <a:rPr lang="en-US" sz="2000" b="1" i="1" dirty="0"/>
              <a:t>maximizes the willingness of each party to pay for their slice</a:t>
            </a:r>
            <a:r>
              <a:rPr lang="en-US" sz="2000" dirty="0"/>
              <a:t>.</a:t>
            </a:r>
          </a:p>
          <a:p>
            <a:r>
              <a:rPr lang="en-US" sz="2000" dirty="0"/>
              <a:t>Without losing sight of the key </a:t>
            </a:r>
            <a:r>
              <a:rPr lang="en-US" sz="2000" b="1" i="1" dirty="0"/>
              <a:t>trade off  between return and risk.</a:t>
            </a:r>
          </a:p>
        </p:txBody>
      </p:sp>
      <p:sp>
        <p:nvSpPr>
          <p:cNvPr id="7172" name="Slide Number Placeholder 5"/>
          <p:cNvSpPr>
            <a:spLocks noGrp="1"/>
          </p:cNvSpPr>
          <p:nvPr>
            <p:ph type="sldNum" sz="quarter" idx="11"/>
          </p:nvPr>
        </p:nvSpPr>
        <p:spPr>
          <a:xfrm>
            <a:off x="6553200" y="6245225"/>
            <a:ext cx="2133600" cy="476250"/>
          </a:xfrm>
          <a:noFill/>
        </p:spPr>
        <p:txBody>
          <a:bodyPr/>
          <a:lstStyle/>
          <a:p>
            <a:fld id="{5116301D-F4A6-4C8D-B078-CBECF5A9F5EC}" type="slidenum">
              <a:rPr lang="en-US"/>
              <a:pPr/>
              <a:t>5</a:t>
            </a:fld>
            <a:endParaRPr lang="en-US"/>
          </a:p>
        </p:txBody>
      </p:sp>
      <p:sp>
        <p:nvSpPr>
          <p:cNvPr id="7173" name="Footer Placeholder 4"/>
          <p:cNvSpPr>
            <a:spLocks noGrp="1"/>
          </p:cNvSpPr>
          <p:nvPr>
            <p:ph type="ftr" sz="quarter" idx="10"/>
          </p:nvPr>
        </p:nvSpPr>
        <p:spPr>
          <a:xfrm>
            <a:off x="457200" y="6553200"/>
            <a:ext cx="6035675" cy="320675"/>
          </a:xfrm>
          <a:noFill/>
        </p:spPr>
        <p:txBody>
          <a:bodyPr/>
          <a:lstStyle/>
          <a:p>
            <a:r>
              <a:rPr lang="en-US" dirty="0"/>
              <a:t>©Joe Walsh- Do not distribute without explicit permission.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533400"/>
            <a:ext cx="8229600" cy="1143000"/>
          </a:xfrm>
        </p:spPr>
        <p:txBody>
          <a:bodyPr/>
          <a:lstStyle/>
          <a:p>
            <a:r>
              <a:rPr lang="en-US" b="1"/>
              <a:t>Examples</a:t>
            </a:r>
          </a:p>
        </p:txBody>
      </p:sp>
      <p:sp>
        <p:nvSpPr>
          <p:cNvPr id="6147" name="Rectangle 3"/>
          <p:cNvSpPr>
            <a:spLocks noGrp="1" noChangeArrowheads="1"/>
          </p:cNvSpPr>
          <p:nvPr>
            <p:ph idx="1"/>
          </p:nvPr>
        </p:nvSpPr>
        <p:spPr>
          <a:xfrm>
            <a:off x="457200" y="1981200"/>
            <a:ext cx="8229600" cy="4525963"/>
          </a:xfrm>
        </p:spPr>
        <p:txBody>
          <a:bodyPr/>
          <a:lstStyle/>
          <a:p>
            <a:r>
              <a:rPr lang="en-US" sz="2400" dirty="0"/>
              <a:t>Consider the purchase of a property for a price of 100. Suppose that after one year the property generates 10 in rent and is worth 110. Compute the return on investment under the following financing scenarios:</a:t>
            </a:r>
          </a:p>
          <a:p>
            <a:pPr>
              <a:buFontTx/>
              <a:buAutoNum type="alphaUcPeriod"/>
            </a:pPr>
            <a:r>
              <a:rPr lang="en-US" sz="2400" dirty="0"/>
              <a:t>100% with equity</a:t>
            </a:r>
          </a:p>
          <a:p>
            <a:pPr>
              <a:buFontTx/>
              <a:buAutoNum type="alphaUcPeriod"/>
            </a:pPr>
            <a:r>
              <a:rPr lang="en-US" sz="2400" dirty="0"/>
              <a:t>50% LTV IO (interest only) mortgage priced at 10%</a:t>
            </a:r>
          </a:p>
          <a:p>
            <a:pPr>
              <a:buFontTx/>
              <a:buAutoNum type="alphaUcPeriod"/>
            </a:pPr>
            <a:r>
              <a:rPr lang="en-US" sz="2400" dirty="0"/>
              <a:t>90% LTV IO mortgage priced at 10%</a:t>
            </a:r>
          </a:p>
          <a:p>
            <a:pPr>
              <a:buFontTx/>
              <a:buAutoNum type="alphaUcPeriod"/>
            </a:pPr>
            <a:r>
              <a:rPr lang="en-US" sz="2400" dirty="0"/>
              <a:t>90% LTV IO mortgage priced at 30%.</a:t>
            </a:r>
          </a:p>
          <a:p>
            <a:pPr marL="0" indent="0">
              <a:buNone/>
            </a:pPr>
            <a:br>
              <a:rPr lang="en-US" sz="2400" dirty="0"/>
            </a:br>
            <a:r>
              <a:rPr lang="en-US" sz="2400" dirty="0">
                <a:solidFill>
                  <a:srgbClr val="FF0000"/>
                </a:solidFill>
              </a:rPr>
              <a:t>(see excel calculations)</a:t>
            </a:r>
          </a:p>
          <a:p>
            <a:endParaRPr lang="en-US" sz="2400" dirty="0"/>
          </a:p>
        </p:txBody>
      </p:sp>
      <p:sp>
        <p:nvSpPr>
          <p:cNvPr id="8196" name="Slide Number Placeholder 5"/>
          <p:cNvSpPr>
            <a:spLocks noGrp="1"/>
          </p:cNvSpPr>
          <p:nvPr>
            <p:ph type="sldNum" sz="quarter" idx="11"/>
          </p:nvPr>
        </p:nvSpPr>
        <p:spPr>
          <a:xfrm>
            <a:off x="6553200" y="6245225"/>
            <a:ext cx="2133600" cy="476250"/>
          </a:xfrm>
          <a:noFill/>
        </p:spPr>
        <p:txBody>
          <a:bodyPr/>
          <a:lstStyle/>
          <a:p>
            <a:fld id="{39C31A53-CF43-4420-B6F6-13BC1BCA80F4}" type="slidenum">
              <a:rPr lang="en-US"/>
              <a:pPr/>
              <a:t>6</a:t>
            </a:fld>
            <a:endParaRPr lang="en-US"/>
          </a:p>
        </p:txBody>
      </p:sp>
      <p:sp>
        <p:nvSpPr>
          <p:cNvPr id="8197"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533400"/>
            <a:ext cx="8229600" cy="1143000"/>
          </a:xfrm>
        </p:spPr>
        <p:txBody>
          <a:bodyPr/>
          <a:lstStyle/>
          <a:p>
            <a:r>
              <a:rPr lang="en-US" b="1"/>
              <a:t>Example:</a:t>
            </a:r>
            <a:br>
              <a:rPr lang="en-US" b="1"/>
            </a:br>
            <a:r>
              <a:rPr lang="en-US" b="1"/>
              <a:t>Uncertainty and Risk</a:t>
            </a:r>
          </a:p>
        </p:txBody>
      </p:sp>
      <p:sp>
        <p:nvSpPr>
          <p:cNvPr id="9219" name="Rectangle 3"/>
          <p:cNvSpPr>
            <a:spLocks noGrp="1" noChangeArrowheads="1"/>
          </p:cNvSpPr>
          <p:nvPr>
            <p:ph idx="1"/>
          </p:nvPr>
        </p:nvSpPr>
        <p:spPr>
          <a:xfrm>
            <a:off x="457200" y="1981200"/>
            <a:ext cx="8229600" cy="4525963"/>
          </a:xfrm>
        </p:spPr>
        <p:txBody>
          <a:bodyPr/>
          <a:lstStyle/>
          <a:p>
            <a:r>
              <a:rPr lang="en-US" sz="2400" dirty="0"/>
              <a:t>Now suppose that the investment outcomes above are what we will call the optimistic scenario. Let the pessimistic scenario assume that the property generates no rent and keeps its value of 100. Compute the total return for the property.</a:t>
            </a:r>
          </a:p>
          <a:p>
            <a:pPr marL="0" indent="0">
              <a:buNone/>
            </a:pPr>
            <a:br>
              <a:rPr lang="en-US" sz="2400" dirty="0"/>
            </a:br>
            <a:r>
              <a:rPr lang="en-US" sz="2400" dirty="0"/>
              <a:t>(In the previous excel sheet, make the reversion value equal to 100 now)</a:t>
            </a:r>
          </a:p>
          <a:p>
            <a:pPr marL="0" indent="0">
              <a:buNone/>
            </a:pPr>
            <a:endParaRPr lang="en-US" sz="2400" dirty="0"/>
          </a:p>
          <a:p>
            <a:pPr marL="0" indent="0">
              <a:buNone/>
            </a:pPr>
            <a:r>
              <a:rPr lang="en-US" sz="2400" dirty="0">
                <a:solidFill>
                  <a:srgbClr val="FF0000"/>
                </a:solidFill>
              </a:rPr>
              <a:t>(see excel calculations)</a:t>
            </a:r>
          </a:p>
          <a:p>
            <a:pPr marL="0" indent="0">
              <a:buNone/>
            </a:pPr>
            <a:endParaRPr lang="en-US" sz="2400" dirty="0"/>
          </a:p>
          <a:p>
            <a:pPr>
              <a:buFontTx/>
              <a:buNone/>
            </a:pPr>
            <a:endParaRPr lang="en-US" sz="2400" dirty="0"/>
          </a:p>
        </p:txBody>
      </p:sp>
      <p:sp>
        <p:nvSpPr>
          <p:cNvPr id="9220" name="Slide Number Placeholder 5"/>
          <p:cNvSpPr>
            <a:spLocks noGrp="1"/>
          </p:cNvSpPr>
          <p:nvPr>
            <p:ph type="sldNum" sz="quarter" idx="11"/>
          </p:nvPr>
        </p:nvSpPr>
        <p:spPr>
          <a:xfrm>
            <a:off x="6553200" y="6245225"/>
            <a:ext cx="2133600" cy="476250"/>
          </a:xfrm>
          <a:noFill/>
        </p:spPr>
        <p:txBody>
          <a:bodyPr/>
          <a:lstStyle/>
          <a:p>
            <a:fld id="{5F031B12-58EE-4DA8-846F-48831AB63538}" type="slidenum">
              <a:rPr lang="en-US"/>
              <a:pPr/>
              <a:t>7</a:t>
            </a:fld>
            <a:endParaRPr lang="en-US"/>
          </a:p>
        </p:txBody>
      </p:sp>
      <p:sp>
        <p:nvSpPr>
          <p:cNvPr id="9221"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533400"/>
            <a:ext cx="8229600" cy="1143000"/>
          </a:xfrm>
        </p:spPr>
        <p:txBody>
          <a:bodyPr/>
          <a:lstStyle/>
          <a:p>
            <a:r>
              <a:rPr lang="en-US" b="1" dirty="0"/>
              <a:t>Ownership, Control and Residual Claim</a:t>
            </a:r>
          </a:p>
        </p:txBody>
      </p:sp>
      <p:sp>
        <p:nvSpPr>
          <p:cNvPr id="10243" name="Rectangle 3"/>
          <p:cNvSpPr>
            <a:spLocks noGrp="1" noChangeArrowheads="1"/>
          </p:cNvSpPr>
          <p:nvPr>
            <p:ph idx="1"/>
          </p:nvPr>
        </p:nvSpPr>
        <p:spPr>
          <a:xfrm>
            <a:off x="457200" y="1981200"/>
            <a:ext cx="8229600" cy="4525963"/>
          </a:xfrm>
        </p:spPr>
        <p:txBody>
          <a:bodyPr/>
          <a:lstStyle/>
          <a:p>
            <a:r>
              <a:rPr lang="en-US" sz="2400" dirty="0"/>
              <a:t>Equity investors have ownership of the property, which normally gives them primary governing control over the underlying asset, as long as they live up to their requirements under their debt obligation.</a:t>
            </a:r>
          </a:p>
          <a:p>
            <a:r>
              <a:rPr lang="en-US" sz="2400" dirty="0"/>
              <a:t>The debt receives a senior, or preferred, claim on the underlying asset's CF and value.</a:t>
            </a:r>
          </a:p>
          <a:p>
            <a:r>
              <a:rPr lang="en-US" sz="2400" dirty="0"/>
              <a:t>The equity gets the residual claim; i.e., the claim to the entire residual value in the investment (CF and value).</a:t>
            </a:r>
          </a:p>
        </p:txBody>
      </p:sp>
      <p:sp>
        <p:nvSpPr>
          <p:cNvPr id="10244" name="Slide Number Placeholder 5"/>
          <p:cNvSpPr>
            <a:spLocks noGrp="1"/>
          </p:cNvSpPr>
          <p:nvPr>
            <p:ph type="sldNum" sz="quarter" idx="11"/>
          </p:nvPr>
        </p:nvSpPr>
        <p:spPr>
          <a:xfrm>
            <a:off x="6553200" y="6245225"/>
            <a:ext cx="2133600" cy="476250"/>
          </a:xfrm>
          <a:noFill/>
        </p:spPr>
        <p:txBody>
          <a:bodyPr/>
          <a:lstStyle/>
          <a:p>
            <a:fld id="{7BDD54C9-D318-480E-A3C1-08941B325760}" type="slidenum">
              <a:rPr lang="en-US"/>
              <a:pPr/>
              <a:t>8</a:t>
            </a:fld>
            <a:endParaRPr lang="en-US"/>
          </a:p>
        </p:txBody>
      </p:sp>
      <p:sp>
        <p:nvSpPr>
          <p:cNvPr id="10245"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533400"/>
            <a:ext cx="8229600" cy="1143000"/>
          </a:xfrm>
        </p:spPr>
        <p:txBody>
          <a:bodyPr/>
          <a:lstStyle/>
          <a:p>
            <a:r>
              <a:rPr lang="en-US" sz="3600" b="1" dirty="0"/>
              <a:t>Weighted Average Cost of Capital</a:t>
            </a:r>
          </a:p>
        </p:txBody>
      </p:sp>
      <p:sp>
        <p:nvSpPr>
          <p:cNvPr id="11267" name="Slide Number Placeholder 5"/>
          <p:cNvSpPr>
            <a:spLocks noGrp="1"/>
          </p:cNvSpPr>
          <p:nvPr>
            <p:ph type="sldNum" sz="quarter" idx="11"/>
          </p:nvPr>
        </p:nvSpPr>
        <p:spPr>
          <a:xfrm>
            <a:off x="6553200" y="6245225"/>
            <a:ext cx="2133600" cy="476250"/>
          </a:xfrm>
          <a:noFill/>
        </p:spPr>
        <p:txBody>
          <a:bodyPr/>
          <a:lstStyle/>
          <a:p>
            <a:fld id="{B01CA388-1F69-48E5-A81F-71A56FD426A7}" type="slidenum">
              <a:rPr lang="en-US"/>
              <a:pPr/>
              <a:t>9</a:t>
            </a:fld>
            <a:endParaRPr lang="en-US"/>
          </a:p>
        </p:txBody>
      </p:sp>
      <p:pic>
        <p:nvPicPr>
          <p:cNvPr id="11268" name="Picture 2"/>
          <p:cNvPicPr>
            <a:picLocks noGrp="1" noChangeAspect="1" noChangeArrowheads="1"/>
          </p:cNvPicPr>
          <p:nvPr>
            <p:ph idx="1"/>
          </p:nvPr>
        </p:nvPicPr>
        <p:blipFill>
          <a:blip r:embed="rId2" cstate="print"/>
          <a:srcRect/>
          <a:stretch>
            <a:fillRect/>
          </a:stretch>
        </p:blipFill>
        <p:spPr>
          <a:xfrm>
            <a:off x="990600" y="1828800"/>
            <a:ext cx="6781800" cy="4248150"/>
          </a:xfrm>
        </p:spPr>
      </p:pic>
      <p:sp>
        <p:nvSpPr>
          <p:cNvPr id="11269" name="Footer Placeholder 4"/>
          <p:cNvSpPr>
            <a:spLocks noGrp="1"/>
          </p:cNvSpPr>
          <p:nvPr>
            <p:ph type="ftr" sz="quarter" idx="10"/>
          </p:nvPr>
        </p:nvSpPr>
        <p:spPr>
          <a:noFill/>
        </p:spPr>
        <p:txBody>
          <a:bodyPr/>
          <a:lstStyle/>
          <a:p>
            <a:r>
              <a:rPr lang="en-US" dirty="0"/>
              <a:t>©Joe Walsh- Do not distribute without explicit permission.</a:t>
            </a:r>
          </a:p>
        </p:txBody>
      </p:sp>
      <p:sp>
        <p:nvSpPr>
          <p:cNvPr id="2" name="TextBox 1"/>
          <p:cNvSpPr txBox="1"/>
          <p:nvPr/>
        </p:nvSpPr>
        <p:spPr>
          <a:xfrm>
            <a:off x="2129589" y="5377934"/>
            <a:ext cx="3547766" cy="338554"/>
          </a:xfrm>
          <a:prstGeom prst="rect">
            <a:avLst/>
          </a:prstGeom>
          <a:noFill/>
        </p:spPr>
        <p:txBody>
          <a:bodyPr wrap="none" rtlCol="0">
            <a:spAutoFit/>
          </a:bodyPr>
          <a:lstStyle/>
          <a:p>
            <a:r>
              <a:rPr lang="en-US" sz="1600" dirty="0">
                <a:latin typeface="Arial Narrow" panose="020B0606020202030204" pitchFamily="34" charset="0"/>
              </a:rPr>
              <a:t>(it does not reflect prepayment risk of default)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457200" y="533400"/>
            <a:ext cx="8229600" cy="1143000"/>
          </a:xfrm>
        </p:spPr>
        <p:txBody>
          <a:bodyPr/>
          <a:lstStyle/>
          <a:p>
            <a:r>
              <a:rPr lang="en-US" b="1"/>
              <a:t>Leverage Measures:</a:t>
            </a:r>
            <a:br>
              <a:rPr lang="en-US" b="1"/>
            </a:br>
            <a:r>
              <a:rPr lang="en-US" b="1"/>
              <a:t>LTV vs. LR</a:t>
            </a:r>
          </a:p>
        </p:txBody>
      </p:sp>
      <p:sp>
        <p:nvSpPr>
          <p:cNvPr id="1029" name="Rectangle 3"/>
          <p:cNvSpPr>
            <a:spLocks noGrp="1" noChangeArrowheads="1"/>
          </p:cNvSpPr>
          <p:nvPr>
            <p:ph idx="1"/>
          </p:nvPr>
        </p:nvSpPr>
        <p:spPr>
          <a:xfrm>
            <a:off x="381000" y="3733800"/>
            <a:ext cx="8229600" cy="868363"/>
          </a:xfrm>
        </p:spPr>
        <p:txBody>
          <a:bodyPr/>
          <a:lstStyle/>
          <a:p>
            <a:r>
              <a:rPr lang="en-US" sz="2400"/>
              <a:t>LTV and LR are related as follows:</a:t>
            </a:r>
          </a:p>
        </p:txBody>
      </p:sp>
      <p:sp>
        <p:nvSpPr>
          <p:cNvPr id="1030" name="Slide Number Placeholder 5"/>
          <p:cNvSpPr>
            <a:spLocks noGrp="1"/>
          </p:cNvSpPr>
          <p:nvPr>
            <p:ph type="sldNum" sz="quarter" idx="11"/>
          </p:nvPr>
        </p:nvSpPr>
        <p:spPr>
          <a:xfrm>
            <a:off x="6553200" y="6245225"/>
            <a:ext cx="2133600" cy="476250"/>
          </a:xfrm>
          <a:noFill/>
        </p:spPr>
        <p:txBody>
          <a:bodyPr/>
          <a:lstStyle/>
          <a:p>
            <a:fld id="{9B03361B-8444-4B10-BFFC-CB0BA5528EF9}" type="slidenum">
              <a:rPr lang="en-US"/>
              <a:pPr/>
              <a:t>10</a:t>
            </a:fld>
            <a:endParaRPr lang="en-US"/>
          </a:p>
        </p:txBody>
      </p:sp>
      <p:pic>
        <p:nvPicPr>
          <p:cNvPr id="1031" name="Picture 2"/>
          <p:cNvPicPr>
            <a:picLocks noChangeAspect="1" noChangeArrowheads="1"/>
          </p:cNvPicPr>
          <p:nvPr/>
        </p:nvPicPr>
        <p:blipFill>
          <a:blip r:embed="rId3" cstate="print"/>
          <a:srcRect/>
          <a:stretch>
            <a:fillRect/>
          </a:stretch>
        </p:blipFill>
        <p:spPr bwMode="auto">
          <a:xfrm>
            <a:off x="762000" y="1828800"/>
            <a:ext cx="6308725" cy="1371600"/>
          </a:xfrm>
          <a:prstGeom prst="rect">
            <a:avLst/>
          </a:prstGeom>
          <a:noFill/>
          <a:ln w="9525">
            <a:noFill/>
            <a:miter lim="800000"/>
            <a:headEnd/>
            <a:tailEnd/>
          </a:ln>
        </p:spPr>
      </p:pic>
      <p:graphicFrame>
        <p:nvGraphicFramePr>
          <p:cNvPr id="1026" name="Object 2"/>
          <p:cNvGraphicFramePr>
            <a:graphicFrameLocks noChangeAspect="1"/>
          </p:cNvGraphicFramePr>
          <p:nvPr>
            <p:extLst>
              <p:ext uri="{D42A27DB-BD31-4B8C-83A1-F6EECF244321}">
                <p14:modId xmlns:p14="http://schemas.microsoft.com/office/powerpoint/2010/main" val="538031605"/>
              </p:ext>
            </p:extLst>
          </p:nvPr>
        </p:nvGraphicFramePr>
        <p:xfrm>
          <a:off x="762000" y="4191000"/>
          <a:ext cx="2590800" cy="727075"/>
        </p:xfrm>
        <a:graphic>
          <a:graphicData uri="http://schemas.openxmlformats.org/presentationml/2006/ole">
            <mc:AlternateContent xmlns:mc="http://schemas.openxmlformats.org/markup-compatibility/2006">
              <mc:Choice xmlns:v="urn:schemas-microsoft-com:vml" Requires="v">
                <p:oleObj spid="_x0000_s1094" name="Equation" r:id="rId4" imgW="812520" imgH="228600" progId="Equation.3">
                  <p:embed/>
                </p:oleObj>
              </mc:Choice>
              <mc:Fallback>
                <p:oleObj name="Equation" r:id="rId4" imgW="81252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4191000"/>
                        <a:ext cx="2590800"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3"/>
          <p:cNvGraphicFramePr>
            <a:graphicFrameLocks noChangeAspect="1"/>
          </p:cNvGraphicFramePr>
          <p:nvPr>
            <p:extLst>
              <p:ext uri="{D42A27DB-BD31-4B8C-83A1-F6EECF244321}">
                <p14:modId xmlns:p14="http://schemas.microsoft.com/office/powerpoint/2010/main" val="2416928547"/>
              </p:ext>
            </p:extLst>
          </p:nvPr>
        </p:nvGraphicFramePr>
        <p:xfrm>
          <a:off x="4267200" y="4114800"/>
          <a:ext cx="2576513" cy="873125"/>
        </p:xfrm>
        <a:graphic>
          <a:graphicData uri="http://schemas.openxmlformats.org/presentationml/2006/ole">
            <mc:AlternateContent xmlns:mc="http://schemas.openxmlformats.org/markup-compatibility/2006">
              <mc:Choice xmlns:v="urn:schemas-microsoft-com:vml" Requires="v">
                <p:oleObj spid="_x0000_s1095" name="Equation" r:id="rId6" imgW="672840" imgH="228600" progId="Equation.3">
                  <p:embed/>
                </p:oleObj>
              </mc:Choice>
              <mc:Fallback>
                <p:oleObj name="Equation" r:id="rId6" imgW="672840" imgH="228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7200" y="4114800"/>
                        <a:ext cx="2576513"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032" name="Footer Placeholder 4"/>
          <p:cNvSpPr>
            <a:spLocks noGrp="1"/>
          </p:cNvSpPr>
          <p:nvPr>
            <p:ph type="ftr" sz="quarter" idx="10"/>
          </p:nvPr>
        </p:nvSpPr>
        <p:spPr>
          <a:noFill/>
        </p:spPr>
        <p:txBody>
          <a:bodyPr/>
          <a:lstStyle/>
          <a:p>
            <a:r>
              <a:rPr lang="en-US" dirty="0"/>
              <a:t>©Joe Walsh- Do not distribute without explicit permission.</a:t>
            </a:r>
          </a:p>
        </p:txBody>
      </p:sp>
      <p:sp>
        <p:nvSpPr>
          <p:cNvPr id="2" name="TextBox 1"/>
          <p:cNvSpPr txBox="1"/>
          <p:nvPr/>
        </p:nvSpPr>
        <p:spPr>
          <a:xfrm>
            <a:off x="990600" y="5334000"/>
            <a:ext cx="3420808" cy="369332"/>
          </a:xfrm>
          <a:prstGeom prst="rect">
            <a:avLst/>
          </a:prstGeom>
          <a:noFill/>
        </p:spPr>
        <p:txBody>
          <a:bodyPr wrap="none" rtlCol="0">
            <a:spAutoFit/>
          </a:bodyPr>
          <a:lstStyle/>
          <a:p>
            <a:r>
              <a:rPr lang="en-US" dirty="0">
                <a:solidFill>
                  <a:srgbClr val="FF0000"/>
                </a:solidFill>
              </a:rPr>
              <a:t>You have 5-10 min to prove this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a:t>
            </a:r>
          </a:p>
        </p:txBody>
      </p:sp>
      <p:sp>
        <p:nvSpPr>
          <p:cNvPr id="3" name="Content Placeholder 2"/>
          <p:cNvSpPr>
            <a:spLocks noGrp="1"/>
          </p:cNvSpPr>
          <p:nvPr>
            <p:ph idx="1"/>
          </p:nvPr>
        </p:nvSpPr>
        <p:spPr/>
        <p:txBody>
          <a:bodyPr/>
          <a:lstStyle/>
          <a:p>
            <a:r>
              <a:rPr lang="en-US" dirty="0"/>
              <a:t>E/V = (V-D)/D = V/D – 1 = (1/LTV) – 1 = 1/(1-LTV)</a:t>
            </a:r>
          </a:p>
          <a:p>
            <a:endParaRPr lang="en-US" dirty="0"/>
          </a:p>
          <a:p>
            <a:r>
              <a:rPr lang="en-US" dirty="0"/>
              <a:t>LR = V/E = D/E + 1 = LTV/(1-LTV) + 1 = 1/(1-LTV)</a:t>
            </a:r>
          </a:p>
          <a:p>
            <a:endParaRPr lang="en-US" dirty="0"/>
          </a:p>
          <a:p>
            <a:r>
              <a:rPr lang="en-US" dirty="0"/>
              <a:t>LTV = 1-(1/LR)</a:t>
            </a:r>
          </a:p>
        </p:txBody>
      </p:sp>
      <p:sp>
        <p:nvSpPr>
          <p:cNvPr id="4" name="Footer Placeholder 3"/>
          <p:cNvSpPr>
            <a:spLocks noGrp="1"/>
          </p:cNvSpPr>
          <p:nvPr>
            <p:ph type="ftr" sz="quarter" idx="10"/>
          </p:nvPr>
        </p:nvSpPr>
        <p:spPr/>
        <p:txBody>
          <a:bodyPr/>
          <a:lstStyle/>
          <a:p>
            <a:pPr>
              <a:defRPr/>
            </a:pPr>
            <a:r>
              <a:rPr lang="en-US"/>
              <a:t>©Joe Walsh- Do not distribute without explicit permission.</a:t>
            </a:r>
            <a:endParaRPr lang="en-US" dirty="0"/>
          </a:p>
        </p:txBody>
      </p:sp>
      <p:sp>
        <p:nvSpPr>
          <p:cNvPr id="5" name="Slide Number Placeholder 4"/>
          <p:cNvSpPr>
            <a:spLocks noGrp="1"/>
          </p:cNvSpPr>
          <p:nvPr>
            <p:ph type="sldNum" sz="quarter" idx="11"/>
          </p:nvPr>
        </p:nvSpPr>
        <p:spPr/>
        <p:txBody>
          <a:bodyPr/>
          <a:lstStyle/>
          <a:p>
            <a:pPr>
              <a:defRPr/>
            </a:pPr>
            <a:fld id="{DF5D9ABE-B040-4BE2-B21A-1DD102F3E1A7}" type="slidenum">
              <a:rPr lang="en-US" smtClean="0"/>
              <a:pPr>
                <a:defRPr/>
              </a:pPr>
              <a:t>11</a:t>
            </a:fld>
            <a:endParaRPr lang="en-US" dirty="0"/>
          </a:p>
        </p:txBody>
      </p:sp>
    </p:spTree>
    <p:extLst>
      <p:ext uri="{BB962C8B-B14F-4D97-AF65-F5344CB8AC3E}">
        <p14:creationId xmlns:p14="http://schemas.microsoft.com/office/powerpoint/2010/main" val="216346785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err="1"/>
              <a:t>r_P</a:t>
            </a:r>
            <a:r>
              <a:rPr lang="en-US" dirty="0"/>
              <a:t> = </a:t>
            </a:r>
            <a:r>
              <a:rPr lang="en-US" dirty="0" err="1"/>
              <a:t>r_D</a:t>
            </a:r>
            <a:r>
              <a:rPr lang="en-US" dirty="0"/>
              <a:t>*(LTV) + </a:t>
            </a:r>
            <a:r>
              <a:rPr lang="en-US" dirty="0" err="1"/>
              <a:t>r_E</a:t>
            </a:r>
            <a:r>
              <a:rPr lang="en-US" dirty="0"/>
              <a:t>*(1-LTV)</a:t>
            </a:r>
          </a:p>
        </p:txBody>
      </p:sp>
      <p:sp>
        <p:nvSpPr>
          <p:cNvPr id="4" name="Footer Placeholder 3"/>
          <p:cNvSpPr>
            <a:spLocks noGrp="1"/>
          </p:cNvSpPr>
          <p:nvPr>
            <p:ph type="ftr" sz="quarter" idx="10"/>
          </p:nvPr>
        </p:nvSpPr>
        <p:spPr/>
        <p:txBody>
          <a:bodyPr/>
          <a:lstStyle/>
          <a:p>
            <a:pPr>
              <a:defRPr/>
            </a:pPr>
            <a:r>
              <a:rPr lang="en-US"/>
              <a:t>©Joe Walsh- Do not distribute without explicit permission.</a:t>
            </a:r>
            <a:endParaRPr lang="en-US" dirty="0"/>
          </a:p>
        </p:txBody>
      </p:sp>
      <p:sp>
        <p:nvSpPr>
          <p:cNvPr id="5" name="Slide Number Placeholder 4"/>
          <p:cNvSpPr>
            <a:spLocks noGrp="1"/>
          </p:cNvSpPr>
          <p:nvPr>
            <p:ph type="sldNum" sz="quarter" idx="11"/>
          </p:nvPr>
        </p:nvSpPr>
        <p:spPr/>
        <p:txBody>
          <a:bodyPr/>
          <a:lstStyle/>
          <a:p>
            <a:pPr>
              <a:defRPr/>
            </a:pPr>
            <a:fld id="{DF5D9ABE-B040-4BE2-B21A-1DD102F3E1A7}" type="slidenum">
              <a:rPr lang="en-US" smtClean="0"/>
              <a:pPr>
                <a:defRPr/>
              </a:pPr>
              <a:t>12</a:t>
            </a:fld>
            <a:endParaRPr lang="en-US" dirty="0"/>
          </a:p>
        </p:txBody>
      </p:sp>
      <p:sp>
        <p:nvSpPr>
          <p:cNvPr id="6" name="Content Placeholder 5"/>
          <p:cNvSpPr txBox="1">
            <a:spLocks noGrp="1"/>
          </p:cNvSpPr>
          <p:nvPr>
            <p:ph idx="1"/>
          </p:nvPr>
        </p:nvSpPr>
        <p:spPr>
          <a:xfrm>
            <a:off x="457200" y="1600200"/>
            <a:ext cx="5968301" cy="2948499"/>
          </a:xfrm>
          <a:prstGeom prst="rect">
            <a:avLst/>
          </a:prstGeom>
          <a:noFill/>
        </p:spPr>
        <p:txBody>
          <a:bodyPr wrap="none" rtlCol="0">
            <a:spAutoFit/>
          </a:bodyPr>
          <a:lstStyle/>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pPr marL="0" indent="0">
              <a:buNone/>
            </a:pPr>
            <a:r>
              <a:rPr lang="en-US" dirty="0">
                <a:solidFill>
                  <a:srgbClr val="FF0000"/>
                </a:solidFill>
              </a:rPr>
              <a:t>You have 5-10 min to prove this</a:t>
            </a:r>
          </a:p>
        </p:txBody>
      </p:sp>
    </p:spTree>
    <p:extLst>
      <p:ext uri="{BB962C8B-B14F-4D97-AF65-F5344CB8AC3E}">
        <p14:creationId xmlns:p14="http://schemas.microsoft.com/office/powerpoint/2010/main" val="278763612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533400"/>
            <a:ext cx="8229600" cy="1143000"/>
          </a:xfrm>
        </p:spPr>
        <p:txBody>
          <a:bodyPr/>
          <a:lstStyle/>
          <a:p>
            <a:r>
              <a:rPr lang="en-US" sz="3600" b="1" dirty="0"/>
              <a:t>Weighted Average Cost of Capital</a:t>
            </a:r>
          </a:p>
        </p:txBody>
      </p:sp>
      <p:sp>
        <p:nvSpPr>
          <p:cNvPr id="12291" name="Slide Number Placeholder 5"/>
          <p:cNvSpPr>
            <a:spLocks noGrp="1"/>
          </p:cNvSpPr>
          <p:nvPr>
            <p:ph type="sldNum" sz="quarter" idx="11"/>
          </p:nvPr>
        </p:nvSpPr>
        <p:spPr>
          <a:xfrm>
            <a:off x="6553200" y="6245225"/>
            <a:ext cx="2133600" cy="476250"/>
          </a:xfrm>
          <a:noFill/>
        </p:spPr>
        <p:txBody>
          <a:bodyPr/>
          <a:lstStyle/>
          <a:p>
            <a:fld id="{6D8F396C-2C02-46E9-BD99-A02F3F821B5C}" type="slidenum">
              <a:rPr lang="en-US"/>
              <a:pPr/>
              <a:t>13</a:t>
            </a:fld>
            <a:endParaRPr lang="en-US"/>
          </a:p>
        </p:txBody>
      </p:sp>
      <p:pic>
        <p:nvPicPr>
          <p:cNvPr id="12292" name="Picture 2"/>
          <p:cNvPicPr>
            <a:picLocks noGrp="1" noChangeAspect="1" noChangeArrowheads="1"/>
          </p:cNvPicPr>
          <p:nvPr>
            <p:ph idx="1"/>
          </p:nvPr>
        </p:nvPicPr>
        <p:blipFill>
          <a:blip r:embed="rId2" cstate="print"/>
          <a:srcRect/>
          <a:stretch>
            <a:fillRect/>
          </a:stretch>
        </p:blipFill>
        <p:spPr>
          <a:xfrm>
            <a:off x="1219200" y="2057400"/>
            <a:ext cx="5838825" cy="3219450"/>
          </a:xfrm>
        </p:spPr>
      </p:pic>
      <p:sp>
        <p:nvSpPr>
          <p:cNvPr id="12293"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533400"/>
            <a:ext cx="8229600" cy="1143000"/>
          </a:xfrm>
        </p:spPr>
        <p:txBody>
          <a:bodyPr/>
          <a:lstStyle/>
          <a:p>
            <a:r>
              <a:rPr lang="en-US" sz="3600" b="1" dirty="0"/>
              <a:t>Weighted Average Cost of Capital</a:t>
            </a:r>
          </a:p>
        </p:txBody>
      </p:sp>
      <p:sp>
        <p:nvSpPr>
          <p:cNvPr id="13315" name="Slide Number Placeholder 5"/>
          <p:cNvSpPr>
            <a:spLocks noGrp="1"/>
          </p:cNvSpPr>
          <p:nvPr>
            <p:ph type="sldNum" sz="quarter" idx="11"/>
          </p:nvPr>
        </p:nvSpPr>
        <p:spPr>
          <a:xfrm>
            <a:off x="6553200" y="6245225"/>
            <a:ext cx="2133600" cy="476250"/>
          </a:xfrm>
          <a:noFill/>
        </p:spPr>
        <p:txBody>
          <a:bodyPr/>
          <a:lstStyle/>
          <a:p>
            <a:fld id="{83DAAC4F-2C0B-440E-96B2-BAC2C3DFC228}" type="slidenum">
              <a:rPr lang="en-US"/>
              <a:pPr/>
              <a:t>14</a:t>
            </a:fld>
            <a:endParaRPr lang="en-US"/>
          </a:p>
        </p:txBody>
      </p:sp>
      <p:sp>
        <p:nvSpPr>
          <p:cNvPr id="13316" name="Content Placeholder 6"/>
          <p:cNvSpPr>
            <a:spLocks noGrp="1"/>
          </p:cNvSpPr>
          <p:nvPr>
            <p:ph idx="1"/>
          </p:nvPr>
        </p:nvSpPr>
        <p:spPr>
          <a:xfrm>
            <a:off x="457200" y="1828800"/>
            <a:ext cx="8229600" cy="4525963"/>
          </a:xfrm>
        </p:spPr>
        <p:txBody>
          <a:bodyPr/>
          <a:lstStyle/>
          <a:p>
            <a:pPr lvl="1"/>
            <a:endParaRPr lang="en-US" sz="2000" b="1" dirty="0"/>
          </a:p>
          <a:p>
            <a:pPr lvl="1"/>
            <a:endParaRPr lang="en-US" sz="2000" b="1" dirty="0"/>
          </a:p>
          <a:p>
            <a:pPr lvl="1"/>
            <a:r>
              <a:rPr lang="en-US" sz="2000" dirty="0"/>
              <a:t>The WACC holds exactly for holding period returns (i.e., cases where all CFs and values are registered as of only two points in time)</a:t>
            </a:r>
          </a:p>
          <a:p>
            <a:pPr lvl="1"/>
            <a:endParaRPr lang="en-US" sz="2000" dirty="0"/>
          </a:p>
          <a:p>
            <a:pPr lvl="1"/>
            <a:r>
              <a:rPr lang="en-US" sz="2000" dirty="0"/>
              <a:t>The WACC holds as an approximation when it is applied over several periods when the variables change over time (e.g., the LTV drops because the mortgage is being repaid).</a:t>
            </a:r>
          </a:p>
          <a:p>
            <a:pPr lvl="1"/>
            <a:endParaRPr lang="en-US" sz="2000" dirty="0"/>
          </a:p>
        </p:txBody>
      </p:sp>
      <p:sp>
        <p:nvSpPr>
          <p:cNvPr id="13317"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533400"/>
            <a:ext cx="8229600" cy="1143000"/>
          </a:xfrm>
        </p:spPr>
        <p:txBody>
          <a:bodyPr/>
          <a:lstStyle/>
          <a:p>
            <a:r>
              <a:rPr lang="en-US" sz="3600" b="1" dirty="0"/>
              <a:t>Weighted Average Cost of Capital</a:t>
            </a:r>
          </a:p>
        </p:txBody>
      </p:sp>
      <p:sp>
        <p:nvSpPr>
          <p:cNvPr id="14339" name="Slide Number Placeholder 5"/>
          <p:cNvSpPr>
            <a:spLocks noGrp="1"/>
          </p:cNvSpPr>
          <p:nvPr>
            <p:ph type="sldNum" sz="quarter" idx="11"/>
          </p:nvPr>
        </p:nvSpPr>
        <p:spPr>
          <a:xfrm>
            <a:off x="6553200" y="6245225"/>
            <a:ext cx="2133600" cy="476250"/>
          </a:xfrm>
          <a:noFill/>
        </p:spPr>
        <p:txBody>
          <a:bodyPr/>
          <a:lstStyle/>
          <a:p>
            <a:fld id="{5CA5913F-F11A-44AE-864C-42C423C432A8}" type="slidenum">
              <a:rPr lang="en-US"/>
              <a:pPr/>
              <a:t>15</a:t>
            </a:fld>
            <a:endParaRPr lang="en-US"/>
          </a:p>
        </p:txBody>
      </p:sp>
      <p:sp>
        <p:nvSpPr>
          <p:cNvPr id="14340" name="Content Placeholder 6"/>
          <p:cNvSpPr>
            <a:spLocks noGrp="1"/>
          </p:cNvSpPr>
          <p:nvPr>
            <p:ph idx="1"/>
          </p:nvPr>
        </p:nvSpPr>
        <p:spPr>
          <a:xfrm>
            <a:off x="457200" y="1828800"/>
            <a:ext cx="8229600" cy="838200"/>
          </a:xfrm>
        </p:spPr>
        <p:txBody>
          <a:bodyPr/>
          <a:lstStyle/>
          <a:p>
            <a:r>
              <a:rPr lang="en-US" sz="2000" dirty="0"/>
              <a:t>To highlight the </a:t>
            </a:r>
            <a:r>
              <a:rPr lang="en-US" sz="2000" dirty="0" err="1"/>
              <a:t>endogeneity</a:t>
            </a:r>
            <a:r>
              <a:rPr lang="en-US" sz="2000" dirty="0"/>
              <a:t>, or internal nature, of the return on equity, the basic WACC equation can be rearranged as below</a:t>
            </a:r>
          </a:p>
          <a:p>
            <a:r>
              <a:rPr lang="en-US" sz="2000" dirty="0"/>
              <a:t>Return to Equity is a function of:</a:t>
            </a:r>
          </a:p>
          <a:p>
            <a:pPr lvl="1"/>
            <a:r>
              <a:rPr lang="en-US" sz="1600" dirty="0"/>
              <a:t>Property Level Return</a:t>
            </a:r>
          </a:p>
          <a:p>
            <a:pPr lvl="1"/>
            <a:r>
              <a:rPr lang="en-US" sz="1600" dirty="0"/>
              <a:t>Cost of Debt (Return to debt)</a:t>
            </a:r>
          </a:p>
          <a:p>
            <a:pPr lvl="1"/>
            <a:r>
              <a:rPr lang="en-US" sz="1600" dirty="0"/>
              <a:t>Amount of Leverage</a:t>
            </a:r>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marL="457200" lvl="1" indent="0">
              <a:buNone/>
            </a:pPr>
            <a:r>
              <a:rPr lang="en-US" sz="1600" b="1" dirty="0"/>
              <a:t>What is the relationship between the return on equity and the amount of leverage (LTV)? </a:t>
            </a:r>
            <a:r>
              <a:rPr lang="en-US" sz="1600" dirty="0"/>
              <a:t>(See next slide)</a:t>
            </a:r>
          </a:p>
        </p:txBody>
      </p:sp>
      <p:pic>
        <p:nvPicPr>
          <p:cNvPr id="14341" name="Picture 2"/>
          <p:cNvPicPr>
            <a:picLocks noChangeAspect="1" noChangeArrowheads="1"/>
          </p:cNvPicPr>
          <p:nvPr/>
        </p:nvPicPr>
        <p:blipFill>
          <a:blip r:embed="rId2" cstate="print"/>
          <a:srcRect/>
          <a:stretch>
            <a:fillRect/>
          </a:stretch>
        </p:blipFill>
        <p:spPr bwMode="auto">
          <a:xfrm>
            <a:off x="1905000" y="4114800"/>
            <a:ext cx="4000500" cy="1066800"/>
          </a:xfrm>
          <a:prstGeom prst="rect">
            <a:avLst/>
          </a:prstGeom>
          <a:noFill/>
          <a:ln w="9525">
            <a:noFill/>
            <a:miter lim="800000"/>
            <a:headEnd/>
            <a:tailEnd/>
          </a:ln>
        </p:spPr>
      </p:pic>
      <p:sp>
        <p:nvSpPr>
          <p:cNvPr id="8" name="Content Placeholder 6"/>
          <p:cNvSpPr txBox="1">
            <a:spLocks/>
          </p:cNvSpPr>
          <p:nvPr/>
        </p:nvSpPr>
        <p:spPr bwMode="auto">
          <a:xfrm>
            <a:off x="457200" y="3810000"/>
            <a:ext cx="8229600" cy="838200"/>
          </a:xfrm>
          <a:prstGeom prst="rect">
            <a:avLst/>
          </a:prstGeom>
          <a:noFill/>
          <a:ln w="9525">
            <a:noFill/>
            <a:miter lim="800000"/>
            <a:headEnd/>
            <a:tailEnd/>
          </a:ln>
          <a:effectLst/>
        </p:spPr>
        <p:txBody>
          <a:bodyPr/>
          <a:lstStyle/>
          <a:p>
            <a:pPr marL="342900" indent="-342900">
              <a:spcBef>
                <a:spcPct val="20000"/>
              </a:spcBef>
              <a:buClr>
                <a:schemeClr val="tx2"/>
              </a:buClr>
              <a:buFontTx/>
              <a:buChar char="•"/>
              <a:defRPr/>
            </a:pPr>
            <a:endParaRPr lang="en-US" sz="2000" kern="0" dirty="0">
              <a:latin typeface="+mn-lt"/>
            </a:endParaRPr>
          </a:p>
        </p:txBody>
      </p:sp>
      <p:sp>
        <p:nvSpPr>
          <p:cNvPr id="14343"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228600"/>
            <a:ext cx="8229600" cy="1447800"/>
          </a:xfrm>
        </p:spPr>
        <p:txBody>
          <a:bodyPr/>
          <a:lstStyle/>
          <a:p>
            <a:r>
              <a:rPr lang="en-US" sz="3600" b="1" dirty="0"/>
              <a:t>Weighted Average Cost of Capital</a:t>
            </a:r>
          </a:p>
        </p:txBody>
      </p:sp>
      <p:sp>
        <p:nvSpPr>
          <p:cNvPr id="15363" name="Slide Number Placeholder 5"/>
          <p:cNvSpPr>
            <a:spLocks noGrp="1"/>
          </p:cNvSpPr>
          <p:nvPr>
            <p:ph type="sldNum" sz="quarter" idx="11"/>
          </p:nvPr>
        </p:nvSpPr>
        <p:spPr>
          <a:xfrm>
            <a:off x="6553200" y="6245225"/>
            <a:ext cx="2133600" cy="476250"/>
          </a:xfrm>
          <a:noFill/>
        </p:spPr>
        <p:txBody>
          <a:bodyPr/>
          <a:lstStyle/>
          <a:p>
            <a:fld id="{5A9BD9E6-5BF1-483A-8291-3C7C931A5FDB}" type="slidenum">
              <a:rPr lang="en-US"/>
              <a:pPr/>
              <a:t>16</a:t>
            </a:fld>
            <a:endParaRPr lang="en-US"/>
          </a:p>
        </p:txBody>
      </p:sp>
      <p:sp>
        <p:nvSpPr>
          <p:cNvPr id="8" name="Content Placeholder 6"/>
          <p:cNvSpPr txBox="1">
            <a:spLocks/>
          </p:cNvSpPr>
          <p:nvPr/>
        </p:nvSpPr>
        <p:spPr bwMode="auto">
          <a:xfrm>
            <a:off x="457200" y="1524000"/>
            <a:ext cx="8229600" cy="1295400"/>
          </a:xfrm>
          <a:prstGeom prst="rect">
            <a:avLst/>
          </a:prstGeom>
          <a:noFill/>
          <a:ln w="9525">
            <a:noFill/>
            <a:miter lim="800000"/>
            <a:headEnd/>
            <a:tailEnd/>
          </a:ln>
          <a:effectLst/>
        </p:spPr>
        <p:txBody>
          <a:bodyPr/>
          <a:lstStyle/>
          <a:p>
            <a:pPr marL="342900" indent="-342900">
              <a:spcBef>
                <a:spcPct val="20000"/>
              </a:spcBef>
              <a:buClr>
                <a:schemeClr val="tx2"/>
              </a:buClr>
              <a:buFontTx/>
              <a:buChar char="•"/>
              <a:defRPr/>
            </a:pPr>
            <a:r>
              <a:rPr lang="en-US" sz="2000" b="1" kern="0" dirty="0">
                <a:latin typeface="+mn-lt"/>
              </a:rPr>
              <a:t>The return on equity depends positively on the property return and negatively on the return on debt</a:t>
            </a:r>
            <a:r>
              <a:rPr lang="en-US" sz="2000" kern="0" dirty="0">
                <a:latin typeface="+mn-lt"/>
              </a:rPr>
              <a:t>. To clarify the relationship between the return on equity and the LTV we solve:</a:t>
            </a:r>
          </a:p>
        </p:txBody>
      </p:sp>
      <p:pic>
        <p:nvPicPr>
          <p:cNvPr id="15365" name="Picture 3"/>
          <p:cNvPicPr>
            <a:picLocks noChangeAspect="1" noChangeArrowheads="1"/>
          </p:cNvPicPr>
          <p:nvPr/>
        </p:nvPicPr>
        <p:blipFill>
          <a:blip r:embed="rId2" cstate="print"/>
          <a:srcRect/>
          <a:stretch>
            <a:fillRect/>
          </a:stretch>
        </p:blipFill>
        <p:spPr bwMode="auto">
          <a:xfrm>
            <a:off x="1676400" y="2590800"/>
            <a:ext cx="4914900" cy="1828800"/>
          </a:xfrm>
          <a:prstGeom prst="rect">
            <a:avLst/>
          </a:prstGeom>
          <a:noFill/>
          <a:ln w="9525">
            <a:noFill/>
            <a:miter lim="800000"/>
            <a:headEnd/>
            <a:tailEnd/>
          </a:ln>
        </p:spPr>
      </p:pic>
      <p:sp>
        <p:nvSpPr>
          <p:cNvPr id="10" name="Content Placeholder 6"/>
          <p:cNvSpPr txBox="1">
            <a:spLocks/>
          </p:cNvSpPr>
          <p:nvPr/>
        </p:nvSpPr>
        <p:spPr bwMode="auto">
          <a:xfrm>
            <a:off x="609600" y="4495800"/>
            <a:ext cx="8229600" cy="1600200"/>
          </a:xfrm>
          <a:prstGeom prst="rect">
            <a:avLst/>
          </a:prstGeom>
          <a:noFill/>
          <a:ln w="9525">
            <a:noFill/>
            <a:miter lim="800000"/>
            <a:headEnd/>
            <a:tailEnd/>
          </a:ln>
          <a:effectLst/>
        </p:spPr>
        <p:txBody>
          <a:bodyPr/>
          <a:lstStyle/>
          <a:p>
            <a:pPr marL="342900" indent="-342900">
              <a:spcBef>
                <a:spcPct val="20000"/>
              </a:spcBef>
              <a:buClr>
                <a:schemeClr val="tx2"/>
              </a:buClr>
              <a:buFontTx/>
              <a:buChar char="•"/>
              <a:defRPr/>
            </a:pPr>
            <a:r>
              <a:rPr lang="en-US" sz="2000" kern="0" dirty="0">
                <a:latin typeface="+mn-lt"/>
              </a:rPr>
              <a:t>This last equation highlights the </a:t>
            </a:r>
            <a:r>
              <a:rPr lang="en-US" sz="2000" b="1" kern="0" dirty="0">
                <a:latin typeface="+mn-lt"/>
              </a:rPr>
              <a:t>necessary and sufficient condition under which leverage brings about an increase in equity return:</a:t>
            </a:r>
          </a:p>
          <a:p>
            <a:pPr marL="800100" lvl="1" indent="-342900">
              <a:spcBef>
                <a:spcPct val="20000"/>
              </a:spcBef>
              <a:buClr>
                <a:schemeClr val="tx2"/>
              </a:buClr>
              <a:buFontTx/>
              <a:buChar char="•"/>
              <a:defRPr/>
            </a:pPr>
            <a:r>
              <a:rPr lang="en-US" sz="2000" b="1" kern="0" dirty="0">
                <a:latin typeface="+mn-lt"/>
              </a:rPr>
              <a:t>Property return must be greater than the return on debt</a:t>
            </a:r>
            <a:r>
              <a:rPr lang="en-US" sz="2000" kern="0" dirty="0">
                <a:latin typeface="+mn-lt"/>
              </a:rPr>
              <a:t>.</a:t>
            </a:r>
          </a:p>
          <a:p>
            <a:pPr marL="342900" indent="-342900">
              <a:spcBef>
                <a:spcPct val="20000"/>
              </a:spcBef>
              <a:buClr>
                <a:schemeClr val="tx2"/>
              </a:buClr>
              <a:buFontTx/>
              <a:buChar char="•"/>
              <a:defRPr/>
            </a:pPr>
            <a:r>
              <a:rPr lang="en-US" sz="2000" kern="0" dirty="0">
                <a:latin typeface="+mn-lt"/>
              </a:rPr>
              <a:t>Note how the greater the LTV , the greater the impact of the next increment in LTV .</a:t>
            </a:r>
          </a:p>
        </p:txBody>
      </p:sp>
      <p:sp>
        <p:nvSpPr>
          <p:cNvPr id="15367"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533400"/>
            <a:ext cx="8229600" cy="1143000"/>
          </a:xfrm>
        </p:spPr>
        <p:txBody>
          <a:bodyPr/>
          <a:lstStyle/>
          <a:p>
            <a:r>
              <a:rPr lang="en-US" b="1"/>
              <a:t>“Positive” and “Negative” Leverage</a:t>
            </a:r>
          </a:p>
        </p:txBody>
      </p:sp>
      <p:sp>
        <p:nvSpPr>
          <p:cNvPr id="16387" name="Rectangle 3"/>
          <p:cNvSpPr>
            <a:spLocks noGrp="1" noChangeArrowheads="1"/>
          </p:cNvSpPr>
          <p:nvPr>
            <p:ph idx="1"/>
          </p:nvPr>
        </p:nvSpPr>
        <p:spPr>
          <a:xfrm>
            <a:off x="457200" y="1981200"/>
            <a:ext cx="8229600" cy="4525963"/>
          </a:xfrm>
        </p:spPr>
        <p:txBody>
          <a:bodyPr/>
          <a:lstStyle/>
          <a:p>
            <a:r>
              <a:rPr lang="en-US" sz="2400"/>
              <a:t>“Positive leverage” </a:t>
            </a:r>
          </a:p>
          <a:p>
            <a:pPr lvl="1"/>
            <a:r>
              <a:rPr lang="en-US" sz="2000"/>
              <a:t>When more debt will </a:t>
            </a:r>
            <a:r>
              <a:rPr lang="en-US" sz="2000" b="1" i="1"/>
              <a:t>increase</a:t>
            </a:r>
            <a:r>
              <a:rPr lang="en-US" sz="2000"/>
              <a:t> the equity investor’s (borrower’s) return.</a:t>
            </a:r>
          </a:p>
          <a:p>
            <a:pPr lvl="1"/>
            <a:r>
              <a:rPr lang="en-US" sz="2000"/>
              <a:t>Property Return &gt; Debt Return</a:t>
            </a:r>
          </a:p>
          <a:p>
            <a:endParaRPr lang="en-US" sz="2400"/>
          </a:p>
          <a:p>
            <a:r>
              <a:rPr lang="en-US" sz="2400"/>
              <a:t>“Negative leverage”</a:t>
            </a:r>
          </a:p>
          <a:p>
            <a:pPr lvl="1"/>
            <a:r>
              <a:rPr lang="en-US" sz="2000"/>
              <a:t>When more debt will </a:t>
            </a:r>
            <a:r>
              <a:rPr lang="en-US" sz="2000" b="1" i="1"/>
              <a:t>decrease</a:t>
            </a:r>
            <a:r>
              <a:rPr lang="en-US" sz="2000"/>
              <a:t> the equity investor’s (borrower’s) return.</a:t>
            </a:r>
          </a:p>
          <a:p>
            <a:pPr lvl="1"/>
            <a:r>
              <a:rPr lang="en-US" sz="2000"/>
              <a:t>Property Return &lt; Debt Return</a:t>
            </a:r>
          </a:p>
          <a:p>
            <a:endParaRPr lang="en-US" sz="2400"/>
          </a:p>
        </p:txBody>
      </p:sp>
      <p:sp>
        <p:nvSpPr>
          <p:cNvPr id="16388" name="Slide Number Placeholder 5"/>
          <p:cNvSpPr>
            <a:spLocks noGrp="1"/>
          </p:cNvSpPr>
          <p:nvPr>
            <p:ph type="sldNum" sz="quarter" idx="11"/>
          </p:nvPr>
        </p:nvSpPr>
        <p:spPr>
          <a:xfrm>
            <a:off x="6553200" y="6245225"/>
            <a:ext cx="2133600" cy="476250"/>
          </a:xfrm>
          <a:noFill/>
        </p:spPr>
        <p:txBody>
          <a:bodyPr/>
          <a:lstStyle/>
          <a:p>
            <a:fld id="{31376623-58DD-4DAC-AFFD-C9458E0890EA}" type="slidenum">
              <a:rPr lang="en-US"/>
              <a:pPr/>
              <a:t>17</a:t>
            </a:fld>
            <a:endParaRPr lang="en-US"/>
          </a:p>
        </p:txBody>
      </p:sp>
      <p:pic>
        <p:nvPicPr>
          <p:cNvPr id="16389" name="Picture 3"/>
          <p:cNvPicPr>
            <a:picLocks noChangeAspect="1" noChangeArrowheads="1"/>
          </p:cNvPicPr>
          <p:nvPr/>
        </p:nvPicPr>
        <p:blipFill>
          <a:blip r:embed="rId2" cstate="print"/>
          <a:srcRect/>
          <a:stretch>
            <a:fillRect/>
          </a:stretch>
        </p:blipFill>
        <p:spPr bwMode="auto">
          <a:xfrm>
            <a:off x="1295400" y="3505200"/>
            <a:ext cx="1400175" cy="285750"/>
          </a:xfrm>
          <a:prstGeom prst="rect">
            <a:avLst/>
          </a:prstGeom>
          <a:noFill/>
          <a:ln w="9525">
            <a:noFill/>
            <a:miter lim="800000"/>
            <a:headEnd/>
            <a:tailEnd/>
          </a:ln>
        </p:spPr>
      </p:pic>
      <p:pic>
        <p:nvPicPr>
          <p:cNvPr id="16390" name="Picture 4"/>
          <p:cNvPicPr>
            <a:picLocks noChangeAspect="1" noChangeArrowheads="1"/>
          </p:cNvPicPr>
          <p:nvPr/>
        </p:nvPicPr>
        <p:blipFill>
          <a:blip r:embed="rId3" cstate="print"/>
          <a:srcRect/>
          <a:stretch>
            <a:fillRect/>
          </a:stretch>
        </p:blipFill>
        <p:spPr bwMode="auto">
          <a:xfrm>
            <a:off x="1295400" y="5486400"/>
            <a:ext cx="1438275" cy="333375"/>
          </a:xfrm>
          <a:prstGeom prst="rect">
            <a:avLst/>
          </a:prstGeom>
          <a:noFill/>
          <a:ln w="9525">
            <a:noFill/>
            <a:miter lim="800000"/>
            <a:headEnd/>
            <a:tailEnd/>
          </a:ln>
        </p:spPr>
      </p:pic>
      <p:sp>
        <p:nvSpPr>
          <p:cNvPr id="16391"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533400"/>
            <a:ext cx="8229600" cy="1143000"/>
          </a:xfrm>
        </p:spPr>
        <p:txBody>
          <a:bodyPr/>
          <a:lstStyle/>
          <a:p>
            <a:r>
              <a:rPr lang="en-US" b="1"/>
              <a:t>Leverage and Risk</a:t>
            </a:r>
          </a:p>
        </p:txBody>
      </p:sp>
      <p:sp>
        <p:nvSpPr>
          <p:cNvPr id="17411" name="Rectangle 3"/>
          <p:cNvSpPr>
            <a:spLocks noGrp="1" noChangeArrowheads="1"/>
          </p:cNvSpPr>
          <p:nvPr>
            <p:ph idx="1"/>
          </p:nvPr>
        </p:nvSpPr>
        <p:spPr>
          <a:xfrm>
            <a:off x="457200" y="1981200"/>
            <a:ext cx="8229600" cy="4525963"/>
          </a:xfrm>
        </p:spPr>
        <p:txBody>
          <a:bodyPr/>
          <a:lstStyle/>
          <a:p>
            <a:r>
              <a:rPr lang="en-US" sz="2400" dirty="0"/>
              <a:t>We can express the WACC formula in terms of LR (rather than LTV) as follows:</a:t>
            </a:r>
          </a:p>
          <a:p>
            <a:pPr marL="0" indent="0">
              <a:buNone/>
            </a:pPr>
            <a:br>
              <a:rPr lang="en-US" sz="2400" dirty="0"/>
            </a:br>
            <a:r>
              <a:rPr lang="en-US" sz="2400" dirty="0"/>
              <a:t>		</a:t>
            </a:r>
            <a:r>
              <a:rPr lang="en-US" sz="2800" b="1" dirty="0" err="1">
                <a:solidFill>
                  <a:srgbClr val="C00000"/>
                </a:solidFill>
                <a:cs typeface="Times New Roman" pitchFamily="18" charset="0"/>
              </a:rPr>
              <a:t>r</a:t>
            </a:r>
            <a:r>
              <a:rPr lang="en-US" sz="2800" b="1" baseline="-30000" dirty="0" err="1">
                <a:solidFill>
                  <a:srgbClr val="C00000"/>
                </a:solidFill>
                <a:cs typeface="Times New Roman" pitchFamily="18" charset="0"/>
              </a:rPr>
              <a:t>E</a:t>
            </a:r>
            <a:r>
              <a:rPr lang="en-US" sz="2800" b="1" dirty="0">
                <a:solidFill>
                  <a:srgbClr val="C00000"/>
                </a:solidFill>
                <a:cs typeface="Times New Roman" pitchFamily="18" charset="0"/>
              </a:rPr>
              <a:t> = </a:t>
            </a:r>
            <a:r>
              <a:rPr lang="en-US" sz="2800" b="1" dirty="0" err="1">
                <a:solidFill>
                  <a:srgbClr val="C00000"/>
                </a:solidFill>
                <a:cs typeface="Times New Roman" pitchFamily="18" charset="0"/>
              </a:rPr>
              <a:t>r</a:t>
            </a:r>
            <a:r>
              <a:rPr lang="en-US" sz="2800" b="1" baseline="-30000" dirty="0" err="1">
                <a:solidFill>
                  <a:srgbClr val="C00000"/>
                </a:solidFill>
                <a:cs typeface="Times New Roman" pitchFamily="18" charset="0"/>
              </a:rPr>
              <a:t>D</a:t>
            </a:r>
            <a:r>
              <a:rPr lang="en-US" sz="2800" b="1" dirty="0">
                <a:solidFill>
                  <a:srgbClr val="C00000"/>
                </a:solidFill>
                <a:cs typeface="Times New Roman" pitchFamily="18" charset="0"/>
              </a:rPr>
              <a:t> + LR*(</a:t>
            </a:r>
            <a:r>
              <a:rPr lang="en-US" sz="2800" b="1" dirty="0" err="1">
                <a:solidFill>
                  <a:srgbClr val="C00000"/>
                </a:solidFill>
                <a:cs typeface="Times New Roman" pitchFamily="18" charset="0"/>
              </a:rPr>
              <a:t>r</a:t>
            </a:r>
            <a:r>
              <a:rPr lang="en-US" sz="2800" b="1" baseline="-30000" dirty="0" err="1">
                <a:solidFill>
                  <a:srgbClr val="C00000"/>
                </a:solidFill>
                <a:cs typeface="Times New Roman" pitchFamily="18" charset="0"/>
              </a:rPr>
              <a:t>P</a:t>
            </a:r>
            <a:r>
              <a:rPr lang="en-US" sz="2800" b="1" dirty="0" err="1">
                <a:solidFill>
                  <a:srgbClr val="C00000"/>
                </a:solidFill>
                <a:cs typeface="Times New Roman" pitchFamily="18" charset="0"/>
              </a:rPr>
              <a:t>-r</a:t>
            </a:r>
            <a:r>
              <a:rPr lang="en-US" sz="2800" b="1" baseline="-30000" dirty="0" err="1">
                <a:solidFill>
                  <a:srgbClr val="C00000"/>
                </a:solidFill>
                <a:cs typeface="Times New Roman" pitchFamily="18" charset="0"/>
              </a:rPr>
              <a:t>D</a:t>
            </a:r>
            <a:r>
              <a:rPr lang="en-US" sz="2800" b="1" dirty="0">
                <a:solidFill>
                  <a:srgbClr val="C00000"/>
                </a:solidFill>
                <a:cs typeface="Times New Roman" pitchFamily="18" charset="0"/>
              </a:rPr>
              <a:t>)</a:t>
            </a:r>
          </a:p>
          <a:p>
            <a:pPr marL="0" indent="0">
              <a:buNone/>
            </a:pPr>
            <a:endParaRPr lang="en-US" sz="2400" dirty="0">
              <a:solidFill>
                <a:srgbClr val="FF0000"/>
              </a:solidFill>
            </a:endParaRPr>
          </a:p>
          <a:p>
            <a:pPr marL="0" indent="0">
              <a:buNone/>
            </a:pPr>
            <a:r>
              <a:rPr lang="en-US" sz="2400" dirty="0"/>
              <a:t>You have 5-10 min to prove this</a:t>
            </a:r>
            <a:br>
              <a:rPr lang="en-US" sz="2400" b="1" dirty="0">
                <a:cs typeface="Times New Roman" pitchFamily="18" charset="0"/>
              </a:rPr>
            </a:br>
            <a:endParaRPr lang="en-US" sz="2400" b="1" dirty="0">
              <a:cs typeface="Times New Roman" pitchFamily="18" charset="0"/>
            </a:endParaRPr>
          </a:p>
          <a:p>
            <a:r>
              <a:rPr lang="en-US" sz="2400" dirty="0"/>
              <a:t>Subtract the risk free rate from the relationship</a:t>
            </a:r>
          </a:p>
          <a:p>
            <a:br>
              <a:rPr lang="en-US" sz="2400" dirty="0"/>
            </a:br>
            <a:r>
              <a:rPr lang="en-US" sz="2400" dirty="0"/>
              <a:t>Increasing leverage is NOT RISK FREE!</a:t>
            </a:r>
          </a:p>
          <a:p>
            <a:pPr>
              <a:buFontTx/>
              <a:buNone/>
            </a:pPr>
            <a:endParaRPr lang="en-US" sz="2400" dirty="0"/>
          </a:p>
        </p:txBody>
      </p:sp>
      <p:sp>
        <p:nvSpPr>
          <p:cNvPr id="17412" name="Slide Number Placeholder 5"/>
          <p:cNvSpPr>
            <a:spLocks noGrp="1"/>
          </p:cNvSpPr>
          <p:nvPr>
            <p:ph type="sldNum" sz="quarter" idx="11"/>
          </p:nvPr>
        </p:nvSpPr>
        <p:spPr>
          <a:xfrm>
            <a:off x="6553200" y="6245225"/>
            <a:ext cx="2133600" cy="476250"/>
          </a:xfrm>
          <a:noFill/>
        </p:spPr>
        <p:txBody>
          <a:bodyPr/>
          <a:lstStyle/>
          <a:p>
            <a:fld id="{510CBA11-CCC0-4E1E-9A59-918117064AA0}" type="slidenum">
              <a:rPr lang="en-US"/>
              <a:pPr/>
              <a:t>18</a:t>
            </a:fld>
            <a:endParaRPr lang="en-US"/>
          </a:p>
        </p:txBody>
      </p:sp>
      <p:pic>
        <p:nvPicPr>
          <p:cNvPr id="17413" name="Picture 2"/>
          <p:cNvPicPr>
            <a:picLocks noChangeAspect="1" noChangeArrowheads="1"/>
          </p:cNvPicPr>
          <p:nvPr/>
        </p:nvPicPr>
        <p:blipFill>
          <a:blip r:embed="rId2" cstate="print"/>
          <a:srcRect/>
          <a:stretch>
            <a:fillRect/>
          </a:stretch>
        </p:blipFill>
        <p:spPr bwMode="auto">
          <a:xfrm>
            <a:off x="1905000" y="5334000"/>
            <a:ext cx="3838575" cy="438150"/>
          </a:xfrm>
          <a:prstGeom prst="rect">
            <a:avLst/>
          </a:prstGeom>
          <a:noFill/>
          <a:ln w="9525">
            <a:noFill/>
            <a:miter lim="800000"/>
            <a:headEnd/>
            <a:tailEnd/>
          </a:ln>
        </p:spPr>
      </p:pic>
      <p:sp>
        <p:nvSpPr>
          <p:cNvPr id="17414"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a:t>
            </a:r>
          </a:p>
        </p:txBody>
      </p:sp>
      <p:sp>
        <p:nvSpPr>
          <p:cNvPr id="3" name="Content Placeholder 2"/>
          <p:cNvSpPr>
            <a:spLocks noGrp="1"/>
          </p:cNvSpPr>
          <p:nvPr>
            <p:ph idx="1"/>
          </p:nvPr>
        </p:nvSpPr>
        <p:spPr/>
        <p:txBody>
          <a:bodyPr/>
          <a:lstStyle/>
          <a:p>
            <a:endParaRPr lang="en-US" dirty="0"/>
          </a:p>
          <a:p>
            <a:pPr marL="0" indent="0">
              <a:buNone/>
            </a:pPr>
            <a:r>
              <a:rPr lang="en-US" dirty="0" err="1"/>
              <a:t>r_E</a:t>
            </a:r>
            <a:r>
              <a:rPr lang="en-US" dirty="0"/>
              <a:t> = (</a:t>
            </a:r>
            <a:r>
              <a:rPr lang="en-US" dirty="0" err="1"/>
              <a:t>r_P</a:t>
            </a:r>
            <a:r>
              <a:rPr lang="en-US" dirty="0"/>
              <a:t> – </a:t>
            </a:r>
            <a:r>
              <a:rPr lang="en-US" dirty="0" err="1"/>
              <a:t>r_D</a:t>
            </a:r>
            <a:r>
              <a:rPr lang="en-US" dirty="0"/>
              <a:t>*LTV)/(1-LTV) </a:t>
            </a:r>
          </a:p>
          <a:p>
            <a:pPr marL="0" indent="0">
              <a:buNone/>
            </a:pPr>
            <a:r>
              <a:rPr lang="en-US" dirty="0"/>
              <a:t>= LR*(</a:t>
            </a:r>
            <a:r>
              <a:rPr lang="en-US" dirty="0" err="1"/>
              <a:t>r_P</a:t>
            </a:r>
            <a:r>
              <a:rPr lang="en-US" dirty="0"/>
              <a:t> - </a:t>
            </a:r>
            <a:r>
              <a:rPr lang="en-US" dirty="0" err="1"/>
              <a:t>r_D</a:t>
            </a:r>
            <a:r>
              <a:rPr lang="en-US" dirty="0"/>
              <a:t>*(1-(1/LR))</a:t>
            </a:r>
          </a:p>
          <a:p>
            <a:pPr marL="0" indent="0">
              <a:buNone/>
            </a:pPr>
            <a:r>
              <a:rPr lang="en-US" dirty="0"/>
              <a:t>=LR*</a:t>
            </a:r>
            <a:r>
              <a:rPr lang="en-US" dirty="0" err="1"/>
              <a:t>r_P</a:t>
            </a:r>
            <a:r>
              <a:rPr lang="en-US" dirty="0"/>
              <a:t> – LR*</a:t>
            </a:r>
            <a:r>
              <a:rPr lang="en-US" dirty="0" err="1"/>
              <a:t>r_D</a:t>
            </a:r>
            <a:r>
              <a:rPr lang="en-US" dirty="0"/>
              <a:t> + LR*</a:t>
            </a:r>
            <a:r>
              <a:rPr lang="en-US" dirty="0" err="1"/>
              <a:t>r_D</a:t>
            </a:r>
            <a:r>
              <a:rPr lang="en-US" dirty="0"/>
              <a:t>*(1/LR)</a:t>
            </a:r>
          </a:p>
          <a:p>
            <a:pPr marL="0" indent="0">
              <a:buNone/>
            </a:pPr>
            <a:r>
              <a:rPr lang="en-US" dirty="0"/>
              <a:t>=</a:t>
            </a:r>
            <a:r>
              <a:rPr lang="en-US" dirty="0" err="1"/>
              <a:t>r_D</a:t>
            </a:r>
            <a:r>
              <a:rPr lang="en-US" dirty="0"/>
              <a:t> + LR*(</a:t>
            </a:r>
            <a:r>
              <a:rPr lang="en-US" dirty="0" err="1"/>
              <a:t>r_P</a:t>
            </a:r>
            <a:r>
              <a:rPr lang="en-US" dirty="0"/>
              <a:t> –</a:t>
            </a:r>
            <a:r>
              <a:rPr lang="en-US" dirty="0" err="1"/>
              <a:t>r_D</a:t>
            </a:r>
            <a:r>
              <a:rPr lang="en-US" dirty="0"/>
              <a:t>)</a:t>
            </a:r>
          </a:p>
        </p:txBody>
      </p:sp>
      <p:sp>
        <p:nvSpPr>
          <p:cNvPr id="4" name="Footer Placeholder 3"/>
          <p:cNvSpPr>
            <a:spLocks noGrp="1"/>
          </p:cNvSpPr>
          <p:nvPr>
            <p:ph type="ftr" sz="quarter" idx="10"/>
          </p:nvPr>
        </p:nvSpPr>
        <p:spPr/>
        <p:txBody>
          <a:bodyPr/>
          <a:lstStyle/>
          <a:p>
            <a:pPr>
              <a:defRPr/>
            </a:pPr>
            <a:r>
              <a:rPr lang="en-US"/>
              <a:t>©Joe Walsh- Do not distribute without explicit permission.</a:t>
            </a:r>
            <a:endParaRPr lang="en-US" dirty="0"/>
          </a:p>
        </p:txBody>
      </p:sp>
      <p:sp>
        <p:nvSpPr>
          <p:cNvPr id="5" name="Slide Number Placeholder 4"/>
          <p:cNvSpPr>
            <a:spLocks noGrp="1"/>
          </p:cNvSpPr>
          <p:nvPr>
            <p:ph type="sldNum" sz="quarter" idx="11"/>
          </p:nvPr>
        </p:nvSpPr>
        <p:spPr/>
        <p:txBody>
          <a:bodyPr/>
          <a:lstStyle/>
          <a:p>
            <a:pPr>
              <a:defRPr/>
            </a:pPr>
            <a:fld id="{DF5D9ABE-B040-4BE2-B21A-1DD102F3E1A7}" type="slidenum">
              <a:rPr lang="en-US" smtClean="0"/>
              <a:pPr>
                <a:defRPr/>
              </a:pPr>
              <a:t>19</a:t>
            </a:fld>
            <a:endParaRPr lang="en-US" dirty="0"/>
          </a:p>
        </p:txBody>
      </p:sp>
    </p:spTree>
    <p:extLst>
      <p:ext uri="{BB962C8B-B14F-4D97-AF65-F5344CB8AC3E}">
        <p14:creationId xmlns:p14="http://schemas.microsoft.com/office/powerpoint/2010/main" val="285156878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8"/>
          <p:cNvSpPr>
            <a:spLocks noGrp="1"/>
          </p:cNvSpPr>
          <p:nvPr>
            <p:ph type="title"/>
          </p:nvPr>
        </p:nvSpPr>
        <p:spPr/>
        <p:txBody>
          <a:bodyPr/>
          <a:lstStyle/>
          <a:p>
            <a:r>
              <a:rPr lang="en-US"/>
              <a:t>Volatility, LTV and Risk</a:t>
            </a:r>
          </a:p>
        </p:txBody>
      </p:sp>
      <p:sp>
        <p:nvSpPr>
          <p:cNvPr id="18435" name="Content Placeholder 9"/>
          <p:cNvSpPr>
            <a:spLocks noGrp="1"/>
          </p:cNvSpPr>
          <p:nvPr>
            <p:ph sz="half" idx="1"/>
          </p:nvPr>
        </p:nvSpPr>
        <p:spPr>
          <a:xfrm>
            <a:off x="228600" y="1600200"/>
            <a:ext cx="4267200" cy="4525963"/>
          </a:xfrm>
        </p:spPr>
        <p:txBody>
          <a:bodyPr/>
          <a:lstStyle/>
          <a:p>
            <a:r>
              <a:rPr lang="en-US" sz="2000" dirty="0"/>
              <a:t>Assume</a:t>
            </a:r>
          </a:p>
          <a:p>
            <a:pPr lvl="1"/>
            <a:r>
              <a:rPr lang="en-US" sz="2000" dirty="0"/>
              <a:t>$100 initial value, growing 2%/year</a:t>
            </a:r>
          </a:p>
          <a:p>
            <a:pPr lvl="1"/>
            <a:r>
              <a:rPr lang="en-US" sz="2000" dirty="0"/>
              <a:t>75% LTV, no amortization</a:t>
            </a:r>
          </a:p>
          <a:p>
            <a:pPr lvl="1"/>
            <a:r>
              <a:rPr lang="en-US" sz="2000" dirty="0"/>
              <a:t>7-year mortgage</a:t>
            </a:r>
          </a:p>
          <a:p>
            <a:r>
              <a:rPr lang="en-US" sz="2000" dirty="0"/>
              <a:t>Result</a:t>
            </a:r>
          </a:p>
          <a:p>
            <a:pPr lvl="1"/>
            <a:r>
              <a:rPr lang="en-US" sz="2000" dirty="0"/>
              <a:t>1/6 Probability of default</a:t>
            </a:r>
          </a:p>
        </p:txBody>
      </p:sp>
      <p:sp>
        <p:nvSpPr>
          <p:cNvPr id="18436" name="Slide Number Placeholder 6"/>
          <p:cNvSpPr>
            <a:spLocks noGrp="1"/>
          </p:cNvSpPr>
          <p:nvPr>
            <p:ph type="sldNum" sz="quarter" idx="11"/>
          </p:nvPr>
        </p:nvSpPr>
        <p:spPr>
          <a:noFill/>
        </p:spPr>
        <p:txBody>
          <a:bodyPr/>
          <a:lstStyle/>
          <a:p>
            <a:fld id="{A2A0D823-296E-4A45-BC05-8F8EA4FBE0A9}" type="slidenum">
              <a:rPr lang="en-US"/>
              <a:pPr/>
              <a:t>20</a:t>
            </a:fld>
            <a:endParaRPr lang="en-US"/>
          </a:p>
        </p:txBody>
      </p:sp>
      <p:sp>
        <p:nvSpPr>
          <p:cNvPr id="18437" name="Footer Placeholder 7"/>
          <p:cNvSpPr>
            <a:spLocks noGrp="1"/>
          </p:cNvSpPr>
          <p:nvPr>
            <p:ph type="ftr" sz="quarter" idx="10"/>
          </p:nvPr>
        </p:nvSpPr>
        <p:spPr>
          <a:noFill/>
        </p:spPr>
        <p:txBody>
          <a:bodyPr/>
          <a:lstStyle/>
          <a:p>
            <a:r>
              <a:rPr lang="en-US" dirty="0"/>
              <a:t>©Joe Walsh- Do not distribute without explicit permission.</a:t>
            </a:r>
          </a:p>
        </p:txBody>
      </p:sp>
      <p:pic>
        <p:nvPicPr>
          <p:cNvPr id="18438" name="Picture 4" descr="exh18"/>
          <p:cNvPicPr>
            <a:picLocks noGrp="1" noChangeAspect="1" noChangeArrowheads="1"/>
          </p:cNvPicPr>
          <p:nvPr>
            <p:ph sz="half" idx="2"/>
          </p:nvPr>
        </p:nvPicPr>
        <p:blipFill>
          <a:blip r:embed="rId2" cstate="print"/>
          <a:srcRect/>
          <a:stretch>
            <a:fillRect/>
          </a:stretch>
        </p:blipFill>
        <p:spPr>
          <a:xfrm>
            <a:off x="4648200" y="2373313"/>
            <a:ext cx="4038600" cy="2979737"/>
          </a:xfr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533400"/>
            <a:ext cx="8229600" cy="1143000"/>
          </a:xfrm>
        </p:spPr>
        <p:txBody>
          <a:bodyPr/>
          <a:lstStyle/>
          <a:p>
            <a:r>
              <a:rPr lang="en-US" b="1"/>
              <a:t>Yield and Growth</a:t>
            </a:r>
          </a:p>
        </p:txBody>
      </p:sp>
      <p:sp>
        <p:nvSpPr>
          <p:cNvPr id="19459" name="Rectangle 3"/>
          <p:cNvSpPr>
            <a:spLocks noGrp="1" noChangeArrowheads="1"/>
          </p:cNvSpPr>
          <p:nvPr>
            <p:ph idx="1"/>
          </p:nvPr>
        </p:nvSpPr>
        <p:spPr>
          <a:xfrm>
            <a:off x="457200" y="1752600"/>
            <a:ext cx="8229600" cy="4724400"/>
          </a:xfrm>
        </p:spPr>
        <p:txBody>
          <a:bodyPr/>
          <a:lstStyle/>
          <a:p>
            <a:r>
              <a:rPr lang="en-US" sz="1800" dirty="0"/>
              <a:t>The math above assumed that CF was total CF for the property. We could have done the same computation focusing on operating CF for any year of a multi-year project.</a:t>
            </a:r>
          </a:p>
          <a:p>
            <a:pPr lvl="1"/>
            <a:r>
              <a:rPr lang="en-US" sz="1800" dirty="0"/>
              <a:t>Then the ratio CF/V would no longer be the total property return but the cash yield of the property, </a:t>
            </a:r>
            <a:r>
              <a:rPr lang="en-US" sz="1800" dirty="0" err="1"/>
              <a:t>y</a:t>
            </a:r>
            <a:r>
              <a:rPr lang="en-US" sz="1800" baseline="-25000" dirty="0" err="1"/>
              <a:t>P</a:t>
            </a:r>
            <a:r>
              <a:rPr lang="en-US" sz="1800" dirty="0"/>
              <a:t>.</a:t>
            </a:r>
          </a:p>
          <a:p>
            <a:pPr lvl="1"/>
            <a:r>
              <a:rPr lang="en-US" sz="1800" dirty="0"/>
              <a:t>The ratio </a:t>
            </a:r>
            <a:r>
              <a:rPr lang="en-US" sz="1800" b="1" dirty="0"/>
              <a:t>CF/E</a:t>
            </a:r>
            <a:r>
              <a:rPr lang="en-US" sz="1800" dirty="0"/>
              <a:t> is the </a:t>
            </a:r>
            <a:r>
              <a:rPr lang="en-US" sz="1800" b="1" dirty="0"/>
              <a:t>equity cash yield</a:t>
            </a:r>
            <a:r>
              <a:rPr lang="en-US" sz="1800" dirty="0"/>
              <a:t>, </a:t>
            </a:r>
            <a:r>
              <a:rPr lang="en-US" sz="1800" dirty="0" err="1"/>
              <a:t>y</a:t>
            </a:r>
            <a:r>
              <a:rPr lang="en-US" sz="1800" baseline="-25000" dirty="0" err="1"/>
              <a:t>E</a:t>
            </a:r>
            <a:r>
              <a:rPr lang="en-US" sz="1800" dirty="0"/>
              <a:t> or the </a:t>
            </a:r>
            <a:r>
              <a:rPr lang="en-US" sz="1800" i="1" dirty="0"/>
              <a:t>cash-on-cash return</a:t>
            </a:r>
            <a:r>
              <a:rPr lang="en-US" sz="1800" dirty="0"/>
              <a:t>.</a:t>
            </a:r>
          </a:p>
          <a:p>
            <a:pPr lvl="1"/>
            <a:r>
              <a:rPr lang="en-US" sz="1800" dirty="0"/>
              <a:t>The ratio </a:t>
            </a:r>
            <a:r>
              <a:rPr lang="en-US" sz="1800" b="1" dirty="0"/>
              <a:t>CF/D</a:t>
            </a:r>
            <a:r>
              <a:rPr lang="en-US" sz="1800" dirty="0"/>
              <a:t> is the </a:t>
            </a:r>
            <a:r>
              <a:rPr lang="en-US" sz="1800" b="1" dirty="0"/>
              <a:t>yield on debt</a:t>
            </a:r>
            <a:r>
              <a:rPr lang="en-US" sz="1800" dirty="0"/>
              <a:t>, </a:t>
            </a:r>
            <a:r>
              <a:rPr lang="en-US" sz="1800" dirty="0" err="1"/>
              <a:t>y</a:t>
            </a:r>
            <a:r>
              <a:rPr lang="en-US" sz="1800" baseline="-25000" dirty="0" err="1"/>
              <a:t>D</a:t>
            </a:r>
            <a:r>
              <a:rPr lang="en-US" sz="1800" dirty="0" err="1"/>
              <a:t>.</a:t>
            </a:r>
            <a:r>
              <a:rPr lang="en-US" sz="1800" dirty="0"/>
              <a:t> </a:t>
            </a:r>
          </a:p>
          <a:p>
            <a:endParaRPr lang="en-US" sz="1800" dirty="0"/>
          </a:p>
          <a:p>
            <a:r>
              <a:rPr lang="en-US" sz="1800" dirty="0"/>
              <a:t>The derivation of the WACC above applies to the yield components and thus:</a:t>
            </a:r>
          </a:p>
          <a:p>
            <a:endParaRPr lang="en-US" sz="1800" dirty="0"/>
          </a:p>
          <a:p>
            <a:r>
              <a:rPr lang="en-US" sz="1800" dirty="0"/>
              <a:t>This application of the WACC can be used to estimate</a:t>
            </a:r>
            <a:r>
              <a:rPr lang="en-US" sz="1800" b="1" i="1" dirty="0"/>
              <a:t> </a:t>
            </a:r>
            <a:r>
              <a:rPr lang="en-US" sz="1800" i="1" dirty="0"/>
              <a:t>a </a:t>
            </a:r>
            <a:r>
              <a:rPr lang="en-US" sz="1800" b="1" i="1" dirty="0"/>
              <a:t>cap rate </a:t>
            </a:r>
            <a:r>
              <a:rPr lang="en-US" sz="1800" dirty="0"/>
              <a:t>based on cash yields</a:t>
            </a:r>
          </a:p>
        </p:txBody>
      </p:sp>
      <p:sp>
        <p:nvSpPr>
          <p:cNvPr id="19460" name="Slide Number Placeholder 5"/>
          <p:cNvSpPr>
            <a:spLocks noGrp="1"/>
          </p:cNvSpPr>
          <p:nvPr>
            <p:ph type="sldNum" sz="quarter" idx="11"/>
          </p:nvPr>
        </p:nvSpPr>
        <p:spPr>
          <a:xfrm>
            <a:off x="6553200" y="6245225"/>
            <a:ext cx="2133600" cy="476250"/>
          </a:xfrm>
          <a:noFill/>
        </p:spPr>
        <p:txBody>
          <a:bodyPr/>
          <a:lstStyle/>
          <a:p>
            <a:fld id="{DCA571BB-6ED8-48EA-9955-135815F4259C}" type="slidenum">
              <a:rPr lang="en-US"/>
              <a:pPr/>
              <a:t>21</a:t>
            </a:fld>
            <a:endParaRPr lang="en-US"/>
          </a:p>
        </p:txBody>
      </p:sp>
      <p:pic>
        <p:nvPicPr>
          <p:cNvPr id="19461" name="Picture 2"/>
          <p:cNvPicPr>
            <a:picLocks noChangeAspect="1" noChangeArrowheads="1"/>
          </p:cNvPicPr>
          <p:nvPr/>
        </p:nvPicPr>
        <p:blipFill>
          <a:blip r:embed="rId2" cstate="print"/>
          <a:srcRect/>
          <a:stretch>
            <a:fillRect/>
          </a:stretch>
        </p:blipFill>
        <p:spPr bwMode="auto">
          <a:xfrm>
            <a:off x="1981200" y="4933950"/>
            <a:ext cx="3686175" cy="361950"/>
          </a:xfrm>
          <a:prstGeom prst="rect">
            <a:avLst/>
          </a:prstGeom>
          <a:noFill/>
          <a:ln w="9525">
            <a:noFill/>
            <a:miter lim="800000"/>
            <a:headEnd/>
            <a:tailEnd/>
          </a:ln>
        </p:spPr>
      </p:pic>
      <p:sp>
        <p:nvSpPr>
          <p:cNvPr id="19462"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533400"/>
            <a:ext cx="8229600" cy="1143000"/>
          </a:xfrm>
        </p:spPr>
        <p:txBody>
          <a:bodyPr/>
          <a:lstStyle/>
          <a:p>
            <a:r>
              <a:rPr lang="en-US" b="1"/>
              <a:t>Yield and Growth</a:t>
            </a:r>
          </a:p>
        </p:txBody>
      </p:sp>
      <p:sp>
        <p:nvSpPr>
          <p:cNvPr id="20483" name="Rectangle 3"/>
          <p:cNvSpPr>
            <a:spLocks noGrp="1" noChangeArrowheads="1"/>
          </p:cNvSpPr>
          <p:nvPr>
            <p:ph idx="1"/>
          </p:nvPr>
        </p:nvSpPr>
        <p:spPr>
          <a:xfrm>
            <a:off x="457200" y="1752600"/>
            <a:ext cx="8229600" cy="4525963"/>
          </a:xfrm>
        </p:spPr>
        <p:txBody>
          <a:bodyPr/>
          <a:lstStyle/>
          <a:p>
            <a:r>
              <a:rPr lang="en-US" sz="1800" dirty="0"/>
              <a:t>By definition, the total return is the sum of yield and growth. If the same equation holds for total returns and for yields, it must hold for the growth components</a:t>
            </a:r>
          </a:p>
          <a:p>
            <a:pPr lvl="1"/>
            <a:r>
              <a:rPr lang="en-US" sz="1800" dirty="0" err="1"/>
              <a:t>g</a:t>
            </a:r>
            <a:r>
              <a:rPr lang="en-US" sz="1800" baseline="-25000" dirty="0" err="1"/>
              <a:t>P</a:t>
            </a:r>
            <a:r>
              <a:rPr lang="en-US" sz="1800" dirty="0"/>
              <a:t> = </a:t>
            </a:r>
            <a:r>
              <a:rPr lang="en-US" sz="1800" dirty="0" err="1"/>
              <a:t>g</a:t>
            </a:r>
            <a:r>
              <a:rPr lang="en-US" sz="1800" baseline="-25000" dirty="0" err="1"/>
              <a:t>D</a:t>
            </a:r>
            <a:r>
              <a:rPr lang="en-US" sz="1800" dirty="0"/>
              <a:t> (LTV ) + </a:t>
            </a:r>
            <a:r>
              <a:rPr lang="en-US" sz="1800" dirty="0" err="1"/>
              <a:t>g</a:t>
            </a:r>
            <a:r>
              <a:rPr lang="en-US" sz="1800" baseline="-25000" dirty="0" err="1"/>
              <a:t>E</a:t>
            </a:r>
            <a:r>
              <a:rPr lang="en-US" sz="1800" dirty="0"/>
              <a:t> (1 - LTV ) :</a:t>
            </a:r>
          </a:p>
          <a:p>
            <a:r>
              <a:rPr lang="en-US" sz="1800" dirty="0"/>
              <a:t>Let us rewrite the above two equations with the equity term on the left-hand side. Recall that the equity term is the endogenous term in these equations. We have</a:t>
            </a:r>
          </a:p>
          <a:p>
            <a:pPr lvl="1"/>
            <a:r>
              <a:rPr lang="en-US" sz="1800" dirty="0" err="1"/>
              <a:t>y</a:t>
            </a:r>
            <a:r>
              <a:rPr lang="en-US" sz="1800" baseline="-25000" dirty="0" err="1"/>
              <a:t>E</a:t>
            </a:r>
            <a:r>
              <a:rPr lang="en-US" sz="1800" dirty="0"/>
              <a:t> = </a:t>
            </a:r>
            <a:r>
              <a:rPr lang="en-US" sz="1800" dirty="0" err="1"/>
              <a:t>y</a:t>
            </a:r>
            <a:r>
              <a:rPr lang="en-US" sz="1800" baseline="-25000" dirty="0" err="1"/>
              <a:t>D</a:t>
            </a:r>
            <a:r>
              <a:rPr lang="en-US" sz="1800" dirty="0"/>
              <a:t> + LR(</a:t>
            </a:r>
            <a:r>
              <a:rPr lang="en-US" sz="1800" dirty="0" err="1"/>
              <a:t>y</a:t>
            </a:r>
            <a:r>
              <a:rPr lang="en-US" sz="1800" baseline="-25000" dirty="0" err="1"/>
              <a:t>P</a:t>
            </a:r>
            <a:r>
              <a:rPr lang="en-US" sz="1800" dirty="0"/>
              <a:t> - </a:t>
            </a:r>
            <a:r>
              <a:rPr lang="en-US" sz="1800" dirty="0" err="1"/>
              <a:t>y</a:t>
            </a:r>
            <a:r>
              <a:rPr lang="en-US" sz="1800" baseline="-25000" dirty="0" err="1"/>
              <a:t>D</a:t>
            </a:r>
            <a:r>
              <a:rPr lang="en-US" sz="1800" dirty="0"/>
              <a:t>)</a:t>
            </a:r>
          </a:p>
          <a:p>
            <a:pPr lvl="1"/>
            <a:r>
              <a:rPr lang="en-US" sz="1800" dirty="0" err="1"/>
              <a:t>g</a:t>
            </a:r>
            <a:r>
              <a:rPr lang="en-US" sz="1800" baseline="-25000" dirty="0" err="1"/>
              <a:t>E</a:t>
            </a:r>
            <a:r>
              <a:rPr lang="en-US" sz="1800" dirty="0"/>
              <a:t> = </a:t>
            </a:r>
            <a:r>
              <a:rPr lang="en-US" sz="1800" dirty="0" err="1"/>
              <a:t>g</a:t>
            </a:r>
            <a:r>
              <a:rPr lang="en-US" sz="1800" baseline="-25000" dirty="0" err="1"/>
              <a:t>D</a:t>
            </a:r>
            <a:r>
              <a:rPr lang="en-US" sz="1800" dirty="0"/>
              <a:t> + LR(</a:t>
            </a:r>
            <a:r>
              <a:rPr lang="en-US" sz="1800" dirty="0" err="1"/>
              <a:t>g</a:t>
            </a:r>
            <a:r>
              <a:rPr lang="en-US" sz="1800" baseline="-25000" dirty="0" err="1"/>
              <a:t>P</a:t>
            </a:r>
            <a:r>
              <a:rPr lang="en-US" sz="1800" dirty="0"/>
              <a:t> - </a:t>
            </a:r>
            <a:r>
              <a:rPr lang="en-US" sz="1800" dirty="0" err="1"/>
              <a:t>g</a:t>
            </a:r>
            <a:r>
              <a:rPr lang="en-US" sz="1800" baseline="-25000" dirty="0" err="1"/>
              <a:t>D</a:t>
            </a:r>
            <a:r>
              <a:rPr lang="en-US" sz="1800" dirty="0"/>
              <a:t>)</a:t>
            </a:r>
          </a:p>
          <a:p>
            <a:r>
              <a:rPr lang="en-US" sz="1800" dirty="0"/>
              <a:t>These relationships demonstrate how the yield and growth return components of equity differ from the yield and growth return components of the property when we add debt to a deal. Typically, debt shifts the equity investor's return away from yield (current income) and toward growth (capital gain).</a:t>
            </a:r>
          </a:p>
          <a:p>
            <a:endParaRPr lang="en-US" sz="1800" dirty="0"/>
          </a:p>
        </p:txBody>
      </p:sp>
      <p:sp>
        <p:nvSpPr>
          <p:cNvPr id="20484" name="Slide Number Placeholder 5"/>
          <p:cNvSpPr>
            <a:spLocks noGrp="1"/>
          </p:cNvSpPr>
          <p:nvPr>
            <p:ph type="sldNum" sz="quarter" idx="11"/>
          </p:nvPr>
        </p:nvSpPr>
        <p:spPr>
          <a:xfrm>
            <a:off x="6553200" y="6245225"/>
            <a:ext cx="2133600" cy="476250"/>
          </a:xfrm>
          <a:noFill/>
        </p:spPr>
        <p:txBody>
          <a:bodyPr/>
          <a:lstStyle/>
          <a:p>
            <a:fld id="{2FEC60FB-2E78-4BB1-81D2-D140B5D52316}" type="slidenum">
              <a:rPr lang="en-US"/>
              <a:pPr/>
              <a:t>22</a:t>
            </a:fld>
            <a:endParaRPr lang="en-US"/>
          </a:p>
        </p:txBody>
      </p:sp>
      <p:sp>
        <p:nvSpPr>
          <p:cNvPr id="20485"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28600"/>
            <a:ext cx="8229600" cy="457200"/>
          </a:xfrm>
        </p:spPr>
        <p:txBody>
          <a:bodyPr/>
          <a:lstStyle/>
          <a:p>
            <a:r>
              <a:rPr lang="en-US" b="1" dirty="0"/>
              <a:t>Summary</a:t>
            </a:r>
          </a:p>
        </p:txBody>
      </p:sp>
      <p:sp>
        <p:nvSpPr>
          <p:cNvPr id="21507" name="Rectangle 3"/>
          <p:cNvSpPr>
            <a:spLocks noGrp="1" noChangeArrowheads="1"/>
          </p:cNvSpPr>
          <p:nvPr>
            <p:ph idx="1"/>
          </p:nvPr>
        </p:nvSpPr>
        <p:spPr>
          <a:xfrm>
            <a:off x="457200" y="914400"/>
            <a:ext cx="8229600" cy="5135563"/>
          </a:xfrm>
        </p:spPr>
        <p:txBody>
          <a:bodyPr/>
          <a:lstStyle/>
          <a:p>
            <a:r>
              <a:rPr lang="en-US" sz="1800" dirty="0"/>
              <a:t>In general, debt financing and leverage have 3 major effects:</a:t>
            </a:r>
          </a:p>
          <a:p>
            <a:pPr lvl="1"/>
            <a:r>
              <a:rPr lang="en-US" sz="1800" dirty="0"/>
              <a:t>(1) Under the typical assumption that the loan is less risky than the underlying property, </a:t>
            </a:r>
            <a:r>
              <a:rPr lang="en-US" sz="1800" b="1" i="1" dirty="0"/>
              <a:t>leverage will increase the ex ante total return on the equity investment, by increasing the risk premium in that return</a:t>
            </a:r>
            <a:r>
              <a:rPr lang="en-US" sz="1800" dirty="0"/>
              <a:t>. </a:t>
            </a:r>
          </a:p>
          <a:p>
            <a:pPr lvl="1"/>
            <a:endParaRPr lang="en-US" sz="1800" dirty="0"/>
          </a:p>
          <a:p>
            <a:pPr lvl="1"/>
            <a:r>
              <a:rPr lang="en-US" sz="1800" dirty="0"/>
              <a:t>(2) Under the same relative risk assumption, </a:t>
            </a:r>
            <a:r>
              <a:rPr lang="en-US" sz="1800" b="1" i="1" dirty="0"/>
              <a:t>leverage will increase the risk of the equity investment</a:t>
            </a:r>
            <a:r>
              <a:rPr lang="en-US" sz="1800" dirty="0"/>
              <a:t>, normally proportionately with the increase in the risk premium noted in (1).</a:t>
            </a:r>
          </a:p>
          <a:p>
            <a:pPr lvl="1"/>
            <a:endParaRPr lang="en-US" sz="1800" dirty="0"/>
          </a:p>
          <a:p>
            <a:pPr lvl="1"/>
            <a:r>
              <a:rPr lang="en-US" sz="1800" dirty="0"/>
              <a:t>(3) Under the typical situation of non-negative price appreciation in the property and non-negative amortization in the loan, </a:t>
            </a:r>
            <a:r>
              <a:rPr lang="en-US" sz="1800" b="1" i="1" dirty="0"/>
              <a:t>leverage will usually shift the expected return for the equity investor relatively away from the current income component and towards the growth or capital appreciation</a:t>
            </a:r>
            <a:r>
              <a:rPr lang="en-US" sz="1800" dirty="0"/>
              <a:t> component.</a:t>
            </a:r>
          </a:p>
          <a:p>
            <a:pPr lvl="1"/>
            <a:endParaRPr lang="en-US" sz="1800" dirty="0"/>
          </a:p>
          <a:p>
            <a:r>
              <a:rPr lang="en-US" sz="1800" dirty="0"/>
              <a:t>All three effects can be quantified, at least to a useful approximation, by use of the WACC formula</a:t>
            </a:r>
            <a:r>
              <a:rPr lang="en-US" sz="2200" dirty="0"/>
              <a:t>.</a:t>
            </a:r>
          </a:p>
          <a:p>
            <a:pPr>
              <a:buFontTx/>
              <a:buNone/>
            </a:pPr>
            <a:endParaRPr lang="en-US" sz="1800" dirty="0"/>
          </a:p>
        </p:txBody>
      </p:sp>
      <p:sp>
        <p:nvSpPr>
          <p:cNvPr id="21508" name="Slide Number Placeholder 5"/>
          <p:cNvSpPr>
            <a:spLocks noGrp="1"/>
          </p:cNvSpPr>
          <p:nvPr>
            <p:ph type="sldNum" sz="quarter" idx="11"/>
          </p:nvPr>
        </p:nvSpPr>
        <p:spPr>
          <a:xfrm>
            <a:off x="6553200" y="6245225"/>
            <a:ext cx="2133600" cy="476250"/>
          </a:xfrm>
          <a:noFill/>
        </p:spPr>
        <p:txBody>
          <a:bodyPr/>
          <a:lstStyle/>
          <a:p>
            <a:fld id="{567D9CD9-FE76-48F7-A7EE-B83BD2EF3005}" type="slidenum">
              <a:rPr lang="en-US"/>
              <a:pPr/>
              <a:t>23</a:t>
            </a:fld>
            <a:endParaRPr lang="en-US"/>
          </a:p>
        </p:txBody>
      </p:sp>
      <p:sp>
        <p:nvSpPr>
          <p:cNvPr id="21509" name="Footer Placeholder 4"/>
          <p:cNvSpPr>
            <a:spLocks noGrp="1"/>
          </p:cNvSpPr>
          <p:nvPr>
            <p:ph type="ftr" sz="quarter" idx="10"/>
          </p:nvPr>
        </p:nvSpPr>
        <p:spPr>
          <a:noFill/>
        </p:spPr>
        <p:txBody>
          <a:bodyPr/>
          <a:lstStyle/>
          <a:p>
            <a:r>
              <a:rPr lang="en-US" dirty="0"/>
              <a:t>©Joe Walsh- Do not distribute without explicit permission.</a:t>
            </a:r>
          </a:p>
        </p:txBody>
      </p:sp>
    </p:spTree>
  </p:cSld>
  <p:clrMapOvr>
    <a:masterClrMapping/>
  </p:clrMapOvr>
</p:sld>
</file>

<file path=ppt/theme/theme1.xml><?xml version="1.0" encoding="utf-8"?>
<a:theme xmlns:a="http://schemas.openxmlformats.org/drawingml/2006/main" name="Joe Walsh, Generic Copyright">
  <a:themeElements>
    <a:clrScheme name="">
      <a:dk1>
        <a:srgbClr val="000000"/>
      </a:dk1>
      <a:lt1>
        <a:srgbClr val="FFFFFF"/>
      </a:lt1>
      <a:dk2>
        <a:srgbClr val="A92026"/>
      </a:dk2>
      <a:lt2>
        <a:srgbClr val="808080"/>
      </a:lt2>
      <a:accent1>
        <a:srgbClr val="C19A25"/>
      </a:accent1>
      <a:accent2>
        <a:srgbClr val="A41E21"/>
      </a:accent2>
      <a:accent3>
        <a:srgbClr val="FFFFFF"/>
      </a:accent3>
      <a:accent4>
        <a:srgbClr val="000000"/>
      </a:accent4>
      <a:accent5>
        <a:srgbClr val="DDCAAC"/>
      </a:accent5>
      <a:accent6>
        <a:srgbClr val="941A1D"/>
      </a:accent6>
      <a:hlink>
        <a:srgbClr val="929199"/>
      </a:hlink>
      <a:folHlink>
        <a:srgbClr val="6F6E6D"/>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UW_PPT_white</Template>
  <TotalTime>5151</TotalTime>
  <Words>1785</Words>
  <Application>Microsoft Office PowerPoint</Application>
  <PresentationFormat>On-screen Show (4:3)</PresentationFormat>
  <Paragraphs>201</Paragraphs>
  <Slides>23</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9" baseType="lpstr">
      <vt:lpstr>Arial</vt:lpstr>
      <vt:lpstr>Arial Narrow</vt:lpstr>
      <vt:lpstr>Courier New</vt:lpstr>
      <vt:lpstr>Times New Roman</vt:lpstr>
      <vt:lpstr>Joe Walsh, Generic Copyright</vt:lpstr>
      <vt:lpstr>Equation</vt:lpstr>
      <vt:lpstr>Real Estate Debt, Leverage and Risk</vt:lpstr>
      <vt:lpstr>Topics</vt:lpstr>
      <vt:lpstr>The analogy of physical leverage &amp; financial leverage</vt:lpstr>
      <vt:lpstr>PowerPoint Presentation</vt:lpstr>
      <vt:lpstr>Leverage</vt:lpstr>
      <vt:lpstr>Examples</vt:lpstr>
      <vt:lpstr>Example: Uncertainty and Risk</vt:lpstr>
      <vt:lpstr>Ownership, Control and Residual Claim</vt:lpstr>
      <vt:lpstr>Weighted Average Cost of Capital</vt:lpstr>
      <vt:lpstr>Leverage Measures: LTV vs. LR</vt:lpstr>
      <vt:lpstr>Proof</vt:lpstr>
      <vt:lpstr>r_P = r_D*(LTV) + r_E*(1-LTV)</vt:lpstr>
      <vt:lpstr>Weighted Average Cost of Capital</vt:lpstr>
      <vt:lpstr>Weighted Average Cost of Capital</vt:lpstr>
      <vt:lpstr>Weighted Average Cost of Capital</vt:lpstr>
      <vt:lpstr>Weighted Average Cost of Capital</vt:lpstr>
      <vt:lpstr>“Positive” and “Negative” Leverage</vt:lpstr>
      <vt:lpstr>Leverage and Risk</vt:lpstr>
      <vt:lpstr>Proof</vt:lpstr>
      <vt:lpstr>Volatility, LTV and Risk</vt:lpstr>
      <vt:lpstr>Yield and Growth</vt:lpstr>
      <vt:lpstr>Yield and Growth</vt:lpstr>
      <vt:lpstr>Summary</vt:lpstr>
    </vt:vector>
  </TitlesOfParts>
  <Company>The Yates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Lecture:</dc:title>
  <dc:creator>Joe Walsh</dc:creator>
  <cp:lastModifiedBy>Jaime Pérez Luque</cp:lastModifiedBy>
  <cp:revision>229</cp:revision>
  <dcterms:created xsi:type="dcterms:W3CDTF">2000-11-21T12:50:15Z</dcterms:created>
  <dcterms:modified xsi:type="dcterms:W3CDTF">2020-08-20T08:42:28Z</dcterms:modified>
</cp:coreProperties>
</file>