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ime Luque" initials="JL" lastIdx="2" clrIdx="0"/>
  <p:cmAuthor id="2" name="Jaime Pérez Luque" initials="JP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2-10T16:15:20.886" idx="1">
    <p:pos x="144" y="870"/>
    <p:text>PGI assumes it is 100% oocupied</p:text>
  </p:cm>
  <p:cm authorId="1" dt="2016-02-10T16:17:20.626" idx="2">
    <p:pos x="137" y="2286"/>
    <p:text>CI: e.g., lease commissions (to brokers for bringing tenants to the building), replacement of roof, heating,...</p:text>
  </p:cm>
  <p:cm authorId="2" dt="2019-01-21T08:12:10.286" idx="1">
    <p:pos x="105" y="1749"/>
    <p:text>OE generally consists of the cost of the common areas, e.g., cleaning the building, maintance, property taxes in your jurisdiction, insurance, ...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B457E-9C6E-4896-8014-8E9D14C383C6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0A012-C0E1-4368-A808-05AAB4A5DF8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3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38157-411E-4B4A-B675-81F2CC4BBD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6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38157-411E-4B4A-B675-81F2CC4BBD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61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0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0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2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7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0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3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7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BE941-3529-4F58-9998-65E8FA46A24A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B66D2-011A-474F-9612-B3EFC6353B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3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Proforma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31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8928992" cy="764704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Operating Cash Flow Projections (Pro Forma)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703512" y="764704"/>
            <a:ext cx="8784976" cy="5949280"/>
          </a:xfrm>
        </p:spPr>
        <p:txBody>
          <a:bodyPr>
            <a:noAutofit/>
          </a:bodyPr>
          <a:lstStyle/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Real Estate Operating Pro Forma Projections</a:t>
            </a:r>
          </a:p>
          <a:p>
            <a:pPr lvl="1"/>
            <a:r>
              <a:rPr lang="en-US" sz="2200" dirty="0"/>
              <a:t>“Pro Forma” (from Latin, “as a matter of form”) </a:t>
            </a:r>
          </a:p>
          <a:p>
            <a:pPr lvl="2"/>
            <a:r>
              <a:rPr lang="en-US" sz="2200" dirty="0"/>
              <a:t>Summary of projected future financial statements if investment is undertaken</a:t>
            </a:r>
          </a:p>
          <a:p>
            <a:pPr lvl="1"/>
            <a:r>
              <a:rPr lang="en-US" sz="2200" dirty="0"/>
              <a:t>Forecast of property cash flows (</a:t>
            </a:r>
            <a:r>
              <a:rPr lang="en-US" sz="2200" dirty="0" err="1"/>
              <a:t>Geltner</a:t>
            </a:r>
            <a:r>
              <a:rPr lang="en-US" sz="2200" dirty="0"/>
              <a:t> Miller)</a:t>
            </a:r>
          </a:p>
          <a:p>
            <a:pPr lvl="1"/>
            <a:r>
              <a:rPr lang="en-US" sz="2200" dirty="0"/>
              <a:t>Typically 5 to 10 years, or the expecting holding period of the investment</a:t>
            </a:r>
          </a:p>
          <a:p>
            <a:endParaRPr lang="en-US" sz="2200" b="1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3409C8D0-776A-43C4-9479-FEE41C208373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34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8928992" cy="764704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Operating Cash Flow Projections (Pro Forma)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703512" y="764704"/>
            <a:ext cx="8784976" cy="5949280"/>
          </a:xfrm>
        </p:spPr>
        <p:txBody>
          <a:bodyPr>
            <a:noAutofit/>
          </a:bodyPr>
          <a:lstStyle/>
          <a:p>
            <a:endParaRPr lang="en-US" sz="2200" dirty="0"/>
          </a:p>
          <a:p>
            <a:r>
              <a:rPr lang="en-US" sz="2200" dirty="0"/>
              <a:t>“Property” related “cash flows”</a:t>
            </a:r>
          </a:p>
          <a:p>
            <a:pPr lvl="1"/>
            <a:r>
              <a:rPr lang="en-US" sz="2200" dirty="0"/>
              <a:t>“Property” level - Includes real estate rental income, less direct operating expenses and capital expenditures related to operating of real estate</a:t>
            </a:r>
          </a:p>
          <a:p>
            <a:pPr lvl="2"/>
            <a:r>
              <a:rPr lang="en-US" sz="2200" dirty="0"/>
              <a:t>Without consideration of capital or ownership structure (debt service, interest income taxes, etc.)</a:t>
            </a:r>
          </a:p>
          <a:p>
            <a:pPr lvl="1"/>
            <a:r>
              <a:rPr lang="en-US" sz="2200" dirty="0"/>
              <a:t>“Cash Flow” - not accounting “Net Income”</a:t>
            </a:r>
          </a:p>
          <a:p>
            <a:pPr lvl="2"/>
            <a:r>
              <a:rPr lang="en-US" sz="2200" dirty="0"/>
              <a:t>Excludes consideration of non-cash accounting items (depreciation, amortization)</a:t>
            </a:r>
          </a:p>
          <a:p>
            <a:r>
              <a:rPr lang="en-US" sz="2200" dirty="0"/>
              <a:t>Property level cash flows; </a:t>
            </a:r>
          </a:p>
          <a:p>
            <a:pPr lvl="1"/>
            <a:r>
              <a:rPr lang="en-US" sz="2200" dirty="0"/>
              <a:t>Cash Flow </a:t>
            </a:r>
            <a:r>
              <a:rPr lang="en-US" sz="2200" b="1" i="1" dirty="0"/>
              <a:t>before Interest, (income) Taxes, Depreciation and Amortization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3409C8D0-776A-43C4-9479-FEE41C208373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1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6D20B202-CAD8-4B25-BC59-82E2225A90F8}" type="slidenum">
              <a:rPr lang="en-US"/>
              <a:pPr/>
              <a:t>4</a:t>
            </a:fld>
            <a:endParaRPr lang="en-US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2133601" y="1066801"/>
            <a:ext cx="80232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tabLst>
                <a:tab pos="-457200" algn="l"/>
              </a:tabLst>
            </a:pPr>
            <a:endParaRPr lang="en-US" dirty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Potential Gross Income = (Rent*SF)		=     PGI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- Vacancy Allowance =  -(</a:t>
            </a:r>
            <a:r>
              <a:rPr lang="en-US" dirty="0" err="1">
                <a:ea typeface="Times New Roman" pitchFamily="18" charset="0"/>
                <a:cs typeface="Arial" charset="0"/>
              </a:rPr>
              <a:t>vac.rate</a:t>
            </a:r>
            <a:r>
              <a:rPr lang="en-US" dirty="0">
                <a:ea typeface="Times New Roman" pitchFamily="18" charset="0"/>
                <a:cs typeface="Arial" charset="0"/>
              </a:rPr>
              <a:t>)*(PGI)	=      -  v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+ Other Income  =  (</a:t>
            </a:r>
            <a:r>
              <a:rPr lang="en-US" dirty="0" err="1">
                <a:ea typeface="Times New Roman" pitchFamily="18" charset="0"/>
                <a:cs typeface="Arial" charset="0"/>
              </a:rPr>
              <a:t>e.g</a:t>
            </a:r>
            <a:r>
              <a:rPr lang="en-US" dirty="0">
                <a:ea typeface="Times New Roman" pitchFamily="18" charset="0"/>
                <a:cs typeface="Arial" charset="0"/>
              </a:rPr>
              <a:t>, parking) 	                  =     +OI</a:t>
            </a: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_____________________                         	_______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Effective Gross Income                		=     EGI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- Operating Expenses 			=    - OE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_____________________                         	_______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Net Operating Income                		=     NOI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- Capital Improvement Expenditures  	                 =      - CI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_____________________              	   	_______</a:t>
            </a:r>
            <a:endParaRPr lang="en-US" dirty="0">
              <a:latin typeface="Times New Roman" pitchFamily="18" charset="0"/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Property Before-tax Cash Flow        		= </a:t>
            </a:r>
            <a:r>
              <a:rPr lang="en-US" dirty="0">
                <a:solidFill>
                  <a:srgbClr val="C00000"/>
                </a:solidFill>
                <a:ea typeface="Times New Roman" pitchFamily="18" charset="0"/>
                <a:cs typeface="Arial" charset="0"/>
              </a:rPr>
              <a:t>PBTCF</a:t>
            </a:r>
          </a:p>
          <a:p>
            <a:pPr eaLnBrk="0" hangingPunct="0">
              <a:tabLst>
                <a:tab pos="-457200" algn="l"/>
              </a:tabLst>
            </a:pPr>
            <a:endParaRPr lang="en-US" dirty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endParaRPr lang="en-US" dirty="0">
              <a:ea typeface="Times New Roman" pitchFamily="18" charset="0"/>
              <a:cs typeface="Arial" charset="0"/>
            </a:endParaRPr>
          </a:p>
          <a:p>
            <a:pPr eaLnBrk="0" hangingPunct="0">
              <a:tabLst>
                <a:tab pos="-457200" algn="l"/>
              </a:tabLst>
            </a:pPr>
            <a:r>
              <a:rPr lang="en-US" dirty="0">
                <a:ea typeface="Times New Roman" pitchFamily="18" charset="0"/>
                <a:cs typeface="Arial" charset="0"/>
              </a:rPr>
              <a:t>(Forecast </a:t>
            </a:r>
            <a:r>
              <a:rPr lang="en-US" dirty="0">
                <a:solidFill>
                  <a:srgbClr val="C00000"/>
                </a:solidFill>
                <a:ea typeface="Times New Roman" pitchFamily="18" charset="0"/>
                <a:cs typeface="Arial" charset="0"/>
              </a:rPr>
              <a:t>PBTCF</a:t>
            </a:r>
            <a:r>
              <a:rPr lang="en-US" dirty="0">
                <a:ea typeface="Times New Roman" pitchFamily="18" charset="0"/>
                <a:cs typeface="Arial" charset="0"/>
              </a:rPr>
              <a:t> for Each Year of the investment holding period)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kern="0">
                <a:solidFill>
                  <a:schemeClr val="tx2"/>
                </a:solidFill>
                <a:latin typeface="+mj-lt"/>
                <a:ea typeface="+mj-ea"/>
                <a:cs typeface="Arial" charset="0"/>
              </a:rPr>
              <a:t>Operating Cash Flows</a:t>
            </a:r>
            <a:endParaRPr lang="en-US" sz="4400" kern="0" dirty="0">
              <a:solidFill>
                <a:schemeClr val="tx2"/>
              </a:solidFill>
              <a:latin typeface="+mj-lt"/>
              <a:ea typeface="+mj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93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Operating Expenses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77642"/>
            <a:ext cx="9144000" cy="5980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4456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Panorámica</PresentationFormat>
  <Paragraphs>42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Tema de Office</vt:lpstr>
      <vt:lpstr>Proforma</vt:lpstr>
      <vt:lpstr>Operating Cash Flow Projections (Pro Forma)</vt:lpstr>
      <vt:lpstr>Operating Cash Flow Projections (Pro Forma)</vt:lpstr>
      <vt:lpstr>Presentación de PowerPoint</vt:lpstr>
      <vt:lpstr>Example of Operating Expenses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Proforma</dc:title>
  <dc:creator>Jaime Luque</dc:creator>
  <cp:lastModifiedBy>Jaime Luque</cp:lastModifiedBy>
  <cp:revision>1</cp:revision>
  <dcterms:created xsi:type="dcterms:W3CDTF">2020-10-19T06:46:05Z</dcterms:created>
  <dcterms:modified xsi:type="dcterms:W3CDTF">2020-10-19T06:46:27Z</dcterms:modified>
</cp:coreProperties>
</file>