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75" r:id="rId7"/>
    <p:sldId id="270" r:id="rId8"/>
    <p:sldId id="261" r:id="rId9"/>
    <p:sldId id="263" r:id="rId10"/>
    <p:sldId id="271" r:id="rId11"/>
    <p:sldId id="264" r:id="rId12"/>
    <p:sldId id="276" r:id="rId13"/>
    <p:sldId id="274" r:id="rId14"/>
    <p:sldId id="272" r:id="rId15"/>
    <p:sldId id="265" r:id="rId16"/>
    <p:sldId id="273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8" d="100"/>
          <a:sy n="158" d="100"/>
        </p:scale>
        <p:origin x="-218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9BB1EF8-A45B-41BD-9290-9CE8F0F39756}" type="datetimeFigureOut">
              <a:rPr lang="en-US" smtClean="0"/>
              <a:t>11/25/2014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075BA2F-B11B-4287-8ED2-B6E83332E83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19600"/>
            <a:ext cx="6400800" cy="914400"/>
          </a:xfrm>
        </p:spPr>
        <p:txBody>
          <a:bodyPr>
            <a:normAutofit fontScale="70000" lnSpcReduction="20000"/>
          </a:bodyPr>
          <a:lstStyle/>
          <a:p>
            <a:r>
              <a:rPr lang="en-US" sz="1800" dirty="0" smtClean="0"/>
              <a:t>These slides are based on Brown, </a:t>
            </a:r>
            <a:r>
              <a:rPr lang="en-US" sz="1800" dirty="0" err="1" smtClean="0"/>
              <a:t>Ciochetti</a:t>
            </a:r>
            <a:r>
              <a:rPr lang="en-US" sz="1800" dirty="0" smtClean="0"/>
              <a:t>, and </a:t>
            </a:r>
            <a:r>
              <a:rPr lang="en-US" sz="1800" dirty="0" err="1" smtClean="0"/>
              <a:t>Riddiough</a:t>
            </a:r>
            <a:r>
              <a:rPr lang="en-US" sz="1800" dirty="0" smtClean="0"/>
              <a:t> (2006), “Theory and evidence on the resolution of financial distress”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0000FF"/>
                </a:solidFill>
              </a:rPr>
              <a:t>(40 min.)</a:t>
            </a:r>
            <a:endParaRPr lang="en-US" sz="1800" dirty="0">
              <a:solidFill>
                <a:srgbClr val="0000FF"/>
              </a:solidFill>
            </a:endParaRPr>
          </a:p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Financial Distress: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Foreclosure </a:t>
            </a:r>
            <a:r>
              <a:rPr lang="en-US" dirty="0"/>
              <a:t>Vs. Restructuring</a:t>
            </a:r>
          </a:p>
        </p:txBody>
      </p:sp>
    </p:spTree>
    <p:extLst>
      <p:ext uri="{BB962C8B-B14F-4D97-AF65-F5344CB8AC3E}">
        <p14:creationId xmlns:p14="http://schemas.microsoft.com/office/powerpoint/2010/main" val="318920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Distress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Financial distress occurs when a shock to project value leaves the owner-manager with a reduced equity stake</a:t>
            </a:r>
          </a:p>
          <a:p>
            <a:endParaRPr lang="en-US" sz="2800" dirty="0" smtClean="0"/>
          </a:p>
          <a:p>
            <a:r>
              <a:rPr lang="en-US" sz="2800" dirty="0" smtClean="0"/>
              <a:t>In response to the shock, the </a:t>
            </a:r>
            <a:r>
              <a:rPr lang="en-US" sz="2800" dirty="0" smtClean="0">
                <a:solidFill>
                  <a:srgbClr val="FF0000"/>
                </a:solidFill>
              </a:rPr>
              <a:t>owner-manager </a:t>
            </a:r>
            <a:r>
              <a:rPr lang="en-US" sz="2800" dirty="0" smtClean="0"/>
              <a:t>must decide whether to </a:t>
            </a:r>
            <a:r>
              <a:rPr lang="en-US" sz="2800" b="1" dirty="0" smtClean="0"/>
              <a:t>default</a:t>
            </a:r>
            <a:r>
              <a:rPr lang="en-US" sz="2800" dirty="0" smtClean="0"/>
              <a:t> on the debt payment obligation</a:t>
            </a:r>
          </a:p>
          <a:p>
            <a:endParaRPr lang="en-US" sz="2800" dirty="0" smtClean="0"/>
          </a:p>
          <a:p>
            <a:r>
              <a:rPr lang="en-US" sz="2800" b="1" dirty="0" smtClean="0"/>
              <a:t>If default </a:t>
            </a:r>
            <a:r>
              <a:rPr lang="en-US" sz="2800" dirty="0" smtClean="0"/>
              <a:t>occurs, the </a:t>
            </a:r>
            <a:r>
              <a:rPr lang="en-US" sz="2800" dirty="0" smtClean="0">
                <a:solidFill>
                  <a:srgbClr val="FF0000"/>
                </a:solidFill>
              </a:rPr>
              <a:t>lender</a:t>
            </a:r>
            <a:r>
              <a:rPr lang="en-US" sz="2800" dirty="0" smtClean="0"/>
              <a:t> must decide whether to </a:t>
            </a:r>
            <a:r>
              <a:rPr lang="en-US" sz="2800" b="1" dirty="0" smtClean="0"/>
              <a:t>restructure</a:t>
            </a:r>
            <a:r>
              <a:rPr lang="en-US" sz="2800" dirty="0" smtClean="0"/>
              <a:t> </a:t>
            </a:r>
            <a:r>
              <a:rPr lang="en-US" sz="2800" b="1" dirty="0" smtClean="0"/>
              <a:t>the loan </a:t>
            </a:r>
            <a:r>
              <a:rPr lang="en-US" sz="2800" dirty="0" smtClean="0"/>
              <a:t>or to </a:t>
            </a:r>
            <a:r>
              <a:rPr lang="en-US" sz="2800" b="1" dirty="0" smtClean="0"/>
              <a:t>foreclose</a:t>
            </a:r>
          </a:p>
        </p:txBody>
      </p:sp>
    </p:spTree>
    <p:extLst>
      <p:ext uri="{BB962C8B-B14F-4D97-AF65-F5344CB8AC3E}">
        <p14:creationId xmlns:p14="http://schemas.microsoft.com/office/powerpoint/2010/main" val="65725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 restructure the loan or to foreclose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800" b="1" dirty="0" smtClean="0"/>
              <a:t>If restructuring, </a:t>
            </a:r>
            <a:r>
              <a:rPr lang="en-US" sz="2800" dirty="0" smtClean="0"/>
              <a:t>the owner-manager defaults and obtains debt-forgiveness (the lender must scale back the debt payments to give the owner-manager the incentives to maximize the project value)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8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800" b="1" dirty="0" smtClean="0"/>
              <a:t>If </a:t>
            </a:r>
            <a:r>
              <a:rPr lang="en-US" sz="2800" b="1" dirty="0"/>
              <a:t>foreclosure and non-recourse</a:t>
            </a:r>
            <a:r>
              <a:rPr lang="en-US" sz="2800" dirty="0" smtClean="0"/>
              <a:t>,  a buyer of the foreclosed asset provides its own equity stake to compensate the lender </a:t>
            </a:r>
          </a:p>
          <a:p>
            <a:pPr marL="0" lvl="1" indent="0">
              <a:buNone/>
            </a:pP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 the case of foreclosure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In the case of foreclosure, the lender either:</a:t>
            </a:r>
          </a:p>
          <a:p>
            <a:pPr marL="0" indent="0">
              <a:buNone/>
            </a:pPr>
            <a:endParaRPr lang="en-US" sz="2400" dirty="0" smtClean="0"/>
          </a:p>
          <a:p>
            <a:pPr>
              <a:buFontTx/>
              <a:buChar char="-"/>
            </a:pPr>
            <a:r>
              <a:rPr lang="en-US" sz="2400" dirty="0" smtClean="0"/>
              <a:t>Sells the asset immediately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>
              <a:buFontTx/>
              <a:buChar char="-"/>
            </a:pPr>
            <a:r>
              <a:rPr lang="en-US" sz="2400" dirty="0" smtClean="0"/>
              <a:t>Sells the asset at a later date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 marL="0" indent="0">
              <a:buNone/>
            </a:pPr>
            <a:r>
              <a:rPr lang="en-US" sz="2000" dirty="0" smtClean="0"/>
              <a:t>It is costly for the lender to carry an asset in inventory, as it is most effectively managed by an industry expert with an equity stake in the project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979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framework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2590800"/>
            <a:ext cx="14567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Negative </a:t>
            </a:r>
          </a:p>
          <a:p>
            <a:r>
              <a:rPr lang="en-US" dirty="0" smtClean="0"/>
              <a:t>shock to </a:t>
            </a:r>
          </a:p>
          <a:p>
            <a:r>
              <a:rPr lang="en-US" dirty="0" smtClean="0"/>
              <a:t>project value </a:t>
            </a:r>
          </a:p>
          <a:p>
            <a:r>
              <a:rPr lang="en-US" dirty="0" smtClean="0"/>
              <a:t>occurs</a:t>
            </a:r>
            <a:endParaRPr lang="en-US" dirty="0"/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 flipV="1">
            <a:off x="1837745" y="2057400"/>
            <a:ext cx="1819855" cy="11335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3"/>
            <a:endCxn id="10" idx="1"/>
          </p:cNvCxnSpPr>
          <p:nvPr/>
        </p:nvCxnSpPr>
        <p:spPr>
          <a:xfrm>
            <a:off x="1837745" y="3190965"/>
            <a:ext cx="1819855" cy="1000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81046" y="1881581"/>
            <a:ext cx="3487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default: owner-manager pays P</a:t>
            </a:r>
            <a:r>
              <a:rPr lang="en-US" sz="800" dirty="0" smtClean="0"/>
              <a:t>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4006334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Default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0" idx="3"/>
          </p:cNvCxnSpPr>
          <p:nvPr/>
        </p:nvCxnSpPr>
        <p:spPr>
          <a:xfrm flipV="1">
            <a:off x="4526620" y="3429000"/>
            <a:ext cx="89798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>
            <a:off x="4526620" y="4191000"/>
            <a:ext cx="959780" cy="818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15808" y="3190965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Restructure loan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0" y="4756666"/>
            <a:ext cx="107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Foreclose</a:t>
            </a:r>
            <a:endParaRPr lang="en-US" dirty="0"/>
          </a:p>
        </p:txBody>
      </p:sp>
      <p:cxnSp>
        <p:nvCxnSpPr>
          <p:cNvPr id="20" name="Straight Arrow Connector 19"/>
          <p:cNvCxnSpPr>
            <a:stCxn id="18" idx="3"/>
          </p:cNvCxnSpPr>
          <p:nvPr/>
        </p:nvCxnSpPr>
        <p:spPr>
          <a:xfrm flipV="1">
            <a:off x="6565798" y="4712732"/>
            <a:ext cx="292202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</p:cNvCxnSpPr>
          <p:nvPr/>
        </p:nvCxnSpPr>
        <p:spPr>
          <a:xfrm>
            <a:off x="6565798" y="4941332"/>
            <a:ext cx="292202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81446" y="4325678"/>
            <a:ext cx="153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Manage asset </a:t>
            </a:r>
          </a:p>
          <a:p>
            <a:r>
              <a:rPr lang="en-US" dirty="0" smtClean="0"/>
              <a:t>in-house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934200" y="5161140"/>
            <a:ext cx="169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Sell asset to </a:t>
            </a:r>
          </a:p>
          <a:p>
            <a:r>
              <a:rPr lang="en-US" dirty="0" smtClean="0"/>
              <a:t>outside investor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3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First intuition: </a:t>
            </a:r>
            <a:br>
              <a:rPr lang="en-US" dirty="0" smtClean="0"/>
            </a:br>
            <a:r>
              <a:rPr lang="en-US" dirty="0" smtClean="0"/>
              <a:t>wealth of potential buyers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z="2800" b="1" dirty="0" smtClean="0"/>
          </a:p>
          <a:p>
            <a:r>
              <a:rPr lang="en-US" sz="2800" b="1" dirty="0" smtClean="0"/>
              <a:t>When </a:t>
            </a:r>
            <a:r>
              <a:rPr lang="en-US" sz="2800" b="1" dirty="0"/>
              <a:t>the pool of potential buyers is strong</a:t>
            </a:r>
            <a:r>
              <a:rPr lang="en-US" sz="2800" dirty="0"/>
              <a:t>, the foreclosed asset is sold immediately because there is little gain from waiting for better-capitalized buyers to </a:t>
            </a:r>
            <a:r>
              <a:rPr lang="en-US" sz="2800" dirty="0" smtClean="0"/>
              <a:t>emerge</a:t>
            </a:r>
          </a:p>
          <a:p>
            <a:endParaRPr lang="en-US" sz="2800" dirty="0"/>
          </a:p>
          <a:p>
            <a:r>
              <a:rPr lang="en-US" sz="2800" b="1" dirty="0"/>
              <a:t>When there are no well-capitalized potential buyers</a:t>
            </a:r>
            <a:r>
              <a:rPr lang="en-US" sz="2800" dirty="0"/>
              <a:t>, the lender incurs the cost of carrying the asset in anticipation of a higher sales price in the near future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9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Endogenous borrower default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 smtClean="0"/>
              <a:t>In equilibrium </a:t>
            </a:r>
            <a:r>
              <a:rPr lang="en-US" sz="2800" dirty="0"/>
              <a:t>endogenous default is determined by the interaction </a:t>
            </a:r>
            <a:r>
              <a:rPr lang="en-US" sz="2800" dirty="0" smtClean="0"/>
              <a:t>of:</a:t>
            </a:r>
          </a:p>
          <a:p>
            <a:pPr lvl="1"/>
            <a:r>
              <a:rPr lang="en-US" sz="2800" dirty="0" smtClean="0"/>
              <a:t>project </a:t>
            </a:r>
            <a:r>
              <a:rPr lang="en-US" sz="2800" dirty="0"/>
              <a:t>value shock magnitudes, </a:t>
            </a:r>
            <a:endParaRPr lang="en-US" sz="2800" dirty="0" smtClean="0"/>
          </a:p>
          <a:p>
            <a:pPr lvl="1"/>
            <a:r>
              <a:rPr lang="en-US" sz="2800" dirty="0" smtClean="0"/>
              <a:t>the </a:t>
            </a:r>
            <a:r>
              <a:rPr lang="en-US" sz="2800" dirty="0"/>
              <a:t>relative efficiency of management</a:t>
            </a:r>
            <a:r>
              <a:rPr lang="en-US" sz="2800" dirty="0" smtClean="0"/>
              <a:t>, </a:t>
            </a:r>
          </a:p>
          <a:p>
            <a:pPr lvl="1"/>
            <a:r>
              <a:rPr lang="en-US" sz="2800" dirty="0" smtClean="0"/>
              <a:t>the </a:t>
            </a:r>
            <a:r>
              <a:rPr lang="en-US" sz="2800" dirty="0"/>
              <a:t>wealth level of potential buyers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5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Main result: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endParaRPr lang="en-US" sz="2400" b="1" dirty="0" smtClean="0"/>
          </a:p>
          <a:p>
            <a:endParaRPr lang="en-US" sz="2400" b="1" dirty="0"/>
          </a:p>
          <a:p>
            <a:r>
              <a:rPr lang="en-US" sz="2400" b="1" dirty="0" smtClean="0"/>
              <a:t>Lender renegotiates the debt </a:t>
            </a:r>
            <a:r>
              <a:rPr lang="en-US" sz="2400" dirty="0" smtClean="0"/>
              <a:t>when pool of outside buyers is shallow. In this case, and when the continuation value is positive, the </a:t>
            </a:r>
            <a:r>
              <a:rPr lang="en-US" sz="2400" i="1" dirty="0" smtClean="0"/>
              <a:t>borrower defaults strategically </a:t>
            </a:r>
            <a:r>
              <a:rPr lang="en-US" sz="2400" dirty="0" smtClean="0"/>
              <a:t>to obtain debt forgiveness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Default and foreclosure </a:t>
            </a:r>
            <a:r>
              <a:rPr lang="en-US" sz="2400" dirty="0" smtClean="0"/>
              <a:t>occur when the project value shock is sufficiently large and the pool of outside buyers is strong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139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Liquidation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Liquidation </a:t>
            </a:r>
            <a:r>
              <a:rPr lang="en-US" sz="2400" b="1" dirty="0"/>
              <a:t>is avoided when </a:t>
            </a:r>
            <a:r>
              <a:rPr lang="en-US" sz="2400" dirty="0" smtClean="0"/>
              <a:t>the lender </a:t>
            </a:r>
            <a:r>
              <a:rPr lang="en-US" sz="2400" dirty="0"/>
              <a:t>gains associated with foreclosure and asset sale are low. For instance, when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  <a:buFontTx/>
              <a:buChar char="-"/>
            </a:pPr>
            <a:r>
              <a:rPr lang="en-US" sz="2400" dirty="0" smtClean="0"/>
              <a:t>Management </a:t>
            </a:r>
            <a:r>
              <a:rPr lang="en-US" sz="2400" dirty="0"/>
              <a:t>skills </a:t>
            </a:r>
            <a:r>
              <a:rPr lang="en-US" sz="2400" dirty="0" smtClean="0"/>
              <a:t>are </a:t>
            </a:r>
            <a:r>
              <a:rPr lang="en-US" sz="2400" dirty="0"/>
              <a:t>in short </a:t>
            </a:r>
            <a:r>
              <a:rPr lang="en-US" sz="2400" dirty="0" smtClean="0"/>
              <a:t>supply (e.g., when incumbent managers are more efficient than outside managers).</a:t>
            </a:r>
            <a:r>
              <a:rPr lang="en-US" sz="2200" dirty="0" smtClean="0"/>
              <a:t> </a:t>
            </a:r>
            <a:r>
              <a:rPr lang="en-US" sz="2200" dirty="0"/>
              <a:t>The buyer </a:t>
            </a:r>
            <a:r>
              <a:rPr lang="en-US" sz="2200" dirty="0" smtClean="0"/>
              <a:t>has not </a:t>
            </a:r>
            <a:r>
              <a:rPr lang="en-US" sz="2200" dirty="0"/>
              <a:t>sufficient wealth to compensate for management inefficiencies and can therefore pay the lender a considerable share of the gains from improving the investment decisions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>
              <a:buFontTx/>
              <a:buChar char="-"/>
            </a:pPr>
            <a:r>
              <a:rPr lang="en-US" sz="2400" dirty="0" smtClean="0"/>
              <a:t>Potential buyers have limited wealth 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>
              <a:buFontTx/>
              <a:buChar char="-"/>
            </a:pPr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11677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theoretical results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458200" cy="643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29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Empirical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14400"/>
            <a:ext cx="79248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Data set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2589 commercial real estate assets covering a period between 1974 and </a:t>
            </a:r>
            <a:r>
              <a:rPr lang="en-US" dirty="0"/>
              <a:t>1995.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Commercial </a:t>
            </a:r>
            <a:r>
              <a:rPr lang="en-US" dirty="0"/>
              <a:t>real estate assets </a:t>
            </a:r>
            <a:r>
              <a:rPr lang="en-US" dirty="0" smtClean="0"/>
              <a:t>are typically all owner-managed and financed with a single mortgage loan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819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numbers: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Period </a:t>
            </a:r>
            <a:r>
              <a:rPr lang="en-US" dirty="0"/>
              <a:t>1986-1990: Annual default rates persistently high, with peak at 6.3%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LTV ratios between 71% to 75%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2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and restructuring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Loan </a:t>
            </a:r>
            <a:r>
              <a:rPr lang="en-US" dirty="0"/>
              <a:t>status: </a:t>
            </a:r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dirty="0"/>
              <a:t>) restructured, </a:t>
            </a:r>
            <a:endParaRPr lang="en-US" dirty="0" smtClean="0"/>
          </a:p>
          <a:p>
            <a:pPr lvl="1"/>
            <a:r>
              <a:rPr lang="en-US" dirty="0" smtClean="0"/>
              <a:t>2</a:t>
            </a:r>
            <a:r>
              <a:rPr lang="en-US" dirty="0"/>
              <a:t>) </a:t>
            </a:r>
            <a:r>
              <a:rPr lang="en-US" dirty="0" smtClean="0"/>
              <a:t>foreclosed</a:t>
            </a:r>
          </a:p>
          <a:p>
            <a:pPr lvl="1"/>
            <a:r>
              <a:rPr lang="en-US" dirty="0" smtClean="0"/>
              <a:t>3</a:t>
            </a:r>
            <a:r>
              <a:rPr lang="en-US" dirty="0"/>
              <a:t>) sale of foreclosed </a:t>
            </a:r>
            <a:r>
              <a:rPr lang="en-US" dirty="0" smtClean="0"/>
              <a:t>asset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/>
              <a:t>807 of the (nonrecourse) loans experienced a payment </a:t>
            </a:r>
            <a:r>
              <a:rPr lang="en-US" dirty="0" smtClean="0"/>
              <a:t>default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7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Downturn late 1980s, early 1990s due to overbuilding and credit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580" y="2133600"/>
            <a:ext cx="603885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886200" y="44196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10000" y="37338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000500" y="373380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00500" y="4092742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-30%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926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analysis predictions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Sale is delayed in the absence of deep-pocket investors</a:t>
            </a:r>
          </a:p>
          <a:p>
            <a:r>
              <a:rPr lang="en-US" dirty="0" smtClean="0"/>
              <a:t>When potential buyers had limited wealth (real estate downturn), only about 12% of foreclosed assets was sold per year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i="1" dirty="0"/>
              <a:t>Assets are sold relatively quickly when potential buyers are </a:t>
            </a:r>
            <a:r>
              <a:rPr lang="en-US" i="1" dirty="0" smtClean="0"/>
              <a:t>well-capitalized</a:t>
            </a:r>
            <a:endParaRPr lang="en-US" dirty="0" smtClean="0"/>
          </a:p>
          <a:p>
            <a:r>
              <a:rPr lang="en-US" dirty="0" smtClean="0"/>
              <a:t>When the industry began an extended recovery, the lender sold 40% of its year-beginning inventory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180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Cross-sectional variation: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Office </a:t>
            </a:r>
            <a:r>
              <a:rPr lang="en-US" dirty="0"/>
              <a:t>properties, which experienced an especially industry shock, were sold more slowly than apartment properties, which experienced a much smaller shock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8001000" cy="2932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1905000" y="39624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0" y="3810000"/>
            <a:ext cx="1178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LEAST OVERBUILT</a:t>
            </a:r>
            <a:endParaRPr lang="en-US" sz="10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524000" y="4144879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05000" y="4021768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MOST OVERBUILT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844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Price distortion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adverse shock to wealth created a wedge between the fundamental value of assets and the price at which assets could be sold. Assets where found to have 20 to 30% discounts to their fundamental value on average</a:t>
            </a:r>
          </a:p>
          <a:p>
            <a:endParaRPr lang="en-US" dirty="0"/>
          </a:p>
          <a:p>
            <a:r>
              <a:rPr lang="en-US" dirty="0" smtClean="0"/>
              <a:t>The lender perceived asset values would return to fundamental values either as well-capitalized outsiders entered the industry or as insiders recapitalized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39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paradox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Foreclosure occurred more frequently with loans that defaulted during the worst years of the downturn -  a time when it was more difficult for the lender to sell foreclosed property</a:t>
            </a:r>
          </a:p>
          <a:p>
            <a:endParaRPr lang="en-US" dirty="0"/>
          </a:p>
          <a:p>
            <a:r>
              <a:rPr lang="en-US" dirty="0" smtClean="0"/>
              <a:t>Restructuring became more prevalent as market conditions improved and there was a ready market for foreclosed properties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What explains these paradoxical outcomes?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18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explains these paradoxical outcomes</a:t>
            </a:r>
            <a:r>
              <a:rPr lang="en-US" sz="3200" dirty="0" smtClean="0"/>
              <a:t>? </a:t>
            </a:r>
            <a:r>
              <a:rPr lang="en-US" sz="3200" i="1" dirty="0" smtClean="0"/>
              <a:t>Endogenous borrower default</a:t>
            </a:r>
            <a:endParaRPr lang="en-US" sz="3200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45720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downturn in commercial real estate values simultaneously constrained buyers and made default attractive to the borrower. </a:t>
            </a:r>
          </a:p>
          <a:p>
            <a:endParaRPr lang="en-US" dirty="0" smtClean="0"/>
          </a:p>
          <a:p>
            <a:r>
              <a:rPr lang="en-US" dirty="0" smtClean="0"/>
              <a:t>While the lender may have preferred to restructure in presence of limited industry wealth, </a:t>
            </a:r>
            <a:r>
              <a:rPr lang="en-US" dirty="0" smtClean="0">
                <a:solidFill>
                  <a:srgbClr val="0033CC"/>
                </a:solidFill>
              </a:rPr>
              <a:t>foreclosure rates were high because borrowers were willing to walk away from the assets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33CC"/>
                </a:solidFill>
              </a:rPr>
              <a:t>During the recovery period, continuation values were higher, and borrowers defaulted only when they anticipated a restructuring 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00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Cross-sectional 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Restructuring is</a:t>
            </a:r>
          </a:p>
          <a:p>
            <a:pPr marL="0" indent="0">
              <a:buNone/>
            </a:pPr>
            <a:endParaRPr lang="en-US" sz="2800" dirty="0" smtClean="0"/>
          </a:p>
          <a:p>
            <a:pPr lvl="1"/>
            <a:r>
              <a:rPr lang="en-US" sz="2800" b="1" dirty="0" smtClean="0"/>
              <a:t>negatively </a:t>
            </a:r>
            <a:r>
              <a:rPr lang="en-US" sz="2800" b="1" dirty="0"/>
              <a:t>related </a:t>
            </a:r>
            <a:r>
              <a:rPr lang="en-US" sz="2800" b="1" dirty="0" smtClean="0"/>
              <a:t>to</a:t>
            </a:r>
            <a:r>
              <a:rPr lang="en-US" sz="2800" dirty="0" smtClean="0"/>
              <a:t> 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extent of the project value </a:t>
            </a:r>
            <a:r>
              <a:rPr lang="en-US" dirty="0" smtClean="0"/>
              <a:t>shock </a:t>
            </a:r>
          </a:p>
          <a:p>
            <a:pPr lvl="2"/>
            <a:r>
              <a:rPr lang="en-US" dirty="0" smtClean="0"/>
              <a:t>the strength </a:t>
            </a:r>
            <a:r>
              <a:rPr lang="en-US" dirty="0"/>
              <a:t>for the market foreclosed </a:t>
            </a:r>
            <a:r>
              <a:rPr lang="en-US" dirty="0" smtClean="0"/>
              <a:t>assets</a:t>
            </a:r>
          </a:p>
          <a:p>
            <a:pPr marL="594360" lvl="2" indent="0">
              <a:buNone/>
            </a:pPr>
            <a:endParaRPr lang="en-US" dirty="0" smtClean="0"/>
          </a:p>
          <a:p>
            <a:pPr lvl="1"/>
            <a:r>
              <a:rPr lang="en-US" sz="2800" b="1" dirty="0" smtClean="0"/>
              <a:t>positively </a:t>
            </a:r>
            <a:r>
              <a:rPr lang="en-US" sz="2800" b="1" dirty="0"/>
              <a:t>related to </a:t>
            </a:r>
            <a:r>
              <a:rPr lang="en-US" sz="2800" dirty="0"/>
              <a:t>the asset management’s </a:t>
            </a:r>
            <a:r>
              <a:rPr lang="en-US" sz="2800" dirty="0" smtClean="0"/>
              <a:t>specificity</a:t>
            </a:r>
          </a:p>
          <a:p>
            <a:pPr marL="32004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 smtClean="0"/>
              <a:t>When potential buyers have limited wealth, the lender prefers restructuring over foreclosure, and delayed over immediate sale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414</TotalTime>
  <Words>883</Words>
  <Application>Microsoft Office PowerPoint</Application>
  <PresentationFormat>On-screen Show (4:3)</PresentationFormat>
  <Paragraphs>127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Equity</vt:lpstr>
      <vt:lpstr>Financial Distress:  Foreclosure Vs. Restructuring</vt:lpstr>
      <vt:lpstr>Financial Distress</vt:lpstr>
      <vt:lpstr>To restructure the loan or to foreclose </vt:lpstr>
      <vt:lpstr>In the case of foreclosure</vt:lpstr>
      <vt:lpstr>Model framework</vt:lpstr>
      <vt:lpstr>First intuition:  wealth of potential buyers</vt:lpstr>
      <vt:lpstr>Endogenous borrower default</vt:lpstr>
      <vt:lpstr>Main result:</vt:lpstr>
      <vt:lpstr>Liquidation</vt:lpstr>
      <vt:lpstr>Summary of theoretical results</vt:lpstr>
      <vt:lpstr>Empirical analysis</vt:lpstr>
      <vt:lpstr>Important numbers:</vt:lpstr>
      <vt:lpstr>Default and restructuring</vt:lpstr>
      <vt:lpstr>Downturn late 1980s, early 1990s due to overbuilding and credit problems</vt:lpstr>
      <vt:lpstr>Empirical analysis predictions</vt:lpstr>
      <vt:lpstr>Cross-sectional variation: </vt:lpstr>
      <vt:lpstr>Price distortion</vt:lpstr>
      <vt:lpstr>A paradox</vt:lpstr>
      <vt:lpstr>What explains these paradoxical outcomes? Endogenous borrower default</vt:lpstr>
      <vt:lpstr>Cross-sectional analysis: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Distress</dc:title>
  <dc:creator>Jaime Luque</dc:creator>
  <cp:lastModifiedBy>Jaime Luque</cp:lastModifiedBy>
  <cp:revision>39</cp:revision>
  <dcterms:created xsi:type="dcterms:W3CDTF">2013-04-14T22:46:06Z</dcterms:created>
  <dcterms:modified xsi:type="dcterms:W3CDTF">2014-11-25T15:17:35Z</dcterms:modified>
</cp:coreProperties>
</file>