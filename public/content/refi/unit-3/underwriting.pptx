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3" r:id="rId1"/>
  </p:sldMasterIdLst>
  <p:notesMasterIdLst>
    <p:notesMasterId r:id="rId12"/>
  </p:notesMasterIdLst>
  <p:handoutMasterIdLst>
    <p:handoutMasterId r:id="rId13"/>
  </p:handoutMasterIdLst>
  <p:sldIdLst>
    <p:sldId id="256" r:id="rId2"/>
    <p:sldId id="404" r:id="rId3"/>
    <p:sldId id="408" r:id="rId4"/>
    <p:sldId id="831" r:id="rId5"/>
    <p:sldId id="406" r:id="rId6"/>
    <p:sldId id="833" r:id="rId7"/>
    <p:sldId id="407" r:id="rId8"/>
    <p:sldId id="410" r:id="rId9"/>
    <p:sldId id="405" r:id="rId10"/>
    <p:sldId id="409" r:id="rId11"/>
  </p:sldIdLst>
  <p:sldSz cx="9144000" cy="6858000" type="screen4x3"/>
  <p:notesSz cx="6997700" cy="92837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CC"/>
    <a:srgbClr val="0000FF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4660"/>
  </p:normalViewPr>
  <p:slideViewPr>
    <p:cSldViewPr>
      <p:cViewPr varScale="1">
        <p:scale>
          <a:sx n="67" d="100"/>
          <a:sy n="67" d="100"/>
        </p:scale>
        <p:origin x="1260" y="3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32125" cy="4635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63988" y="0"/>
            <a:ext cx="3032125" cy="4635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9E8512-59B4-4577-9937-013869CD4978}" type="datetimeFigureOut">
              <a:rPr lang="en-US" smtClean="0"/>
              <a:pPr/>
              <a:t>8/20/2020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8818564"/>
            <a:ext cx="3032125" cy="4635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63988" y="8818564"/>
            <a:ext cx="3032125" cy="4635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F242B2-4DDE-4B40-A135-88534B94F2D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5323757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83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0"/>
            <a:ext cx="3032641" cy="4635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027" tIns="46514" rIns="93027" bIns="46514" numCol="1" anchor="t" anchorCtr="0" compatLnSpc="1">
            <a:prstTxWarp prst="textNoShape">
              <a:avLst/>
            </a:prstTxWarp>
          </a:bodyPr>
          <a:lstStyle>
            <a:lvl1pPr defTabSz="930437">
              <a:defRPr sz="1300">
                <a:latin typeface="Times New Roman" pitchFamily="18" charset="0"/>
              </a:defRPr>
            </a:lvl1pPr>
          </a:lstStyle>
          <a:p>
            <a:endParaRPr lang="en-US"/>
          </a:p>
        </p:txBody>
      </p:sp>
      <p:sp>
        <p:nvSpPr>
          <p:cNvPr id="37683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63542" y="0"/>
            <a:ext cx="3032641" cy="4635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027" tIns="46514" rIns="93027" bIns="46514" numCol="1" anchor="t" anchorCtr="0" compatLnSpc="1">
            <a:prstTxWarp prst="textNoShape">
              <a:avLst/>
            </a:prstTxWarp>
          </a:bodyPr>
          <a:lstStyle>
            <a:lvl1pPr algn="r" defTabSz="930437">
              <a:defRPr sz="1300">
                <a:latin typeface="Times New Roman" pitchFamily="18" charset="0"/>
              </a:defRPr>
            </a:lvl1pPr>
          </a:lstStyle>
          <a:p>
            <a:endParaRPr lang="en-US"/>
          </a:p>
        </p:txBody>
      </p:sp>
      <p:sp>
        <p:nvSpPr>
          <p:cNvPr id="37683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77925" y="696913"/>
            <a:ext cx="4641850" cy="34813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37683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0075" y="4410065"/>
            <a:ext cx="5597553" cy="41767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027" tIns="46514" rIns="93027" bIns="4651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7683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" y="8818595"/>
            <a:ext cx="3032641" cy="4635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027" tIns="46514" rIns="93027" bIns="46514" numCol="1" anchor="b" anchorCtr="0" compatLnSpc="1">
            <a:prstTxWarp prst="textNoShape">
              <a:avLst/>
            </a:prstTxWarp>
          </a:bodyPr>
          <a:lstStyle>
            <a:lvl1pPr defTabSz="930437">
              <a:defRPr sz="1300">
                <a:latin typeface="Times New Roman" pitchFamily="18" charset="0"/>
              </a:defRPr>
            </a:lvl1pPr>
          </a:lstStyle>
          <a:p>
            <a:endParaRPr lang="en-US"/>
          </a:p>
        </p:txBody>
      </p:sp>
      <p:sp>
        <p:nvSpPr>
          <p:cNvPr id="37683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63542" y="8818595"/>
            <a:ext cx="3032641" cy="4635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027" tIns="46514" rIns="93027" bIns="46514" numCol="1" anchor="b" anchorCtr="0" compatLnSpc="1">
            <a:prstTxWarp prst="textNoShape">
              <a:avLst/>
            </a:prstTxWarp>
          </a:bodyPr>
          <a:lstStyle>
            <a:lvl1pPr algn="r" defTabSz="930437">
              <a:defRPr sz="1300">
                <a:latin typeface="Times New Roman" pitchFamily="18" charset="0"/>
              </a:defRPr>
            </a:lvl1pPr>
          </a:lstStyle>
          <a:p>
            <a:fld id="{8324DEF4-E4A2-42C6-9E3A-0F7701BDC5ED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796467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324DEF4-E4A2-42C6-9E3A-0F7701BDC5ED}" type="slidenum">
              <a:rPr lang="en-US" smtClean="0"/>
              <a:pPr/>
              <a:t>1</a:t>
            </a:fld>
            <a:endParaRPr 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3D75814-C926-4D47-9615-D93589727A00}" type="slidenum">
              <a:rPr lang="en-US"/>
              <a:pPr/>
              <a:t>7</a:t>
            </a:fld>
            <a:endParaRPr lang="en-US"/>
          </a:p>
        </p:txBody>
      </p:sp>
      <p:sp>
        <p:nvSpPr>
          <p:cNvPr id="184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* The most recent of these studies published (Esaki, 2002) is in the 11.432 course supplemental reader that can be purchased from the MIT Copy Center.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>
          <a:xfrm>
            <a:off x="6553200" y="6553199"/>
            <a:ext cx="2133600" cy="304801"/>
          </a:xfrm>
        </p:spPr>
        <p:txBody>
          <a:bodyPr/>
          <a:lstStyle/>
          <a:p>
            <a:fld id="{C674EDA7-B996-475E-B155-5CBB23D664F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57200" y="6537326"/>
            <a:ext cx="6035040" cy="320674"/>
          </a:xfrm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674EDA7-B996-475E-B155-5CBB23D664F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674EDA7-B996-475E-B155-5CBB23D664F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674EDA7-B996-475E-B155-5CBB23D664F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674EDA7-B996-475E-B155-5CBB23D664F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674EDA7-B996-475E-B155-5CBB23D664F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674EDA7-B996-475E-B155-5CBB23D664F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674EDA7-B996-475E-B155-5CBB23D664F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674EDA7-B996-475E-B155-5CBB23D664F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674EDA7-B996-475E-B155-5CBB23D664F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674EDA7-B996-475E-B155-5CBB23D664F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57200" y="6537326"/>
            <a:ext cx="6035040" cy="3206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100" i="1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553199"/>
            <a:ext cx="2133600" cy="3048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>
                <a:solidFill>
                  <a:schemeClr val="tx2"/>
                </a:solidFill>
              </a:defRPr>
            </a:lvl1pPr>
          </a:lstStyle>
          <a:p>
            <a:fld id="{C674EDA7-B996-475E-B155-5CBB23D664FF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</p:sldLayoutIdLst>
  <p:transition/>
  <p:hf hdr="0" ft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/>
              <a:t>Commercial Real Estate Mortgages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/>
              <a:t>Default &amp;</a:t>
            </a:r>
          </a:p>
          <a:p>
            <a:r>
              <a:rPr lang="en-US" b="1" dirty="0"/>
              <a:t>Mortgage Underwriting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6878CA-525B-4B1F-B0A0-E50593A3D10B}" type="slidenum">
              <a:rPr lang="en-US"/>
              <a:pPr/>
              <a:t>1</a:t>
            </a:fld>
            <a:endParaRPr lang="en-US" dirty="0"/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Additional Topics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Expected Returns and Default</a:t>
            </a:r>
          </a:p>
          <a:p>
            <a:r>
              <a:rPr lang="en-US" dirty="0"/>
              <a:t>Mortgage Underwriting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674EDA7-B996-475E-B155-5CBB23D664FF}" type="slidenum">
              <a:rPr lang="en-US" smtClean="0"/>
              <a:pPr/>
              <a:t>2</a:t>
            </a:fld>
            <a:endParaRPr lang="en-US" dirty="0"/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Expected Returns (Revisited)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/>
              <a:t>“Contractual Yield” (aka Stated Yield ) </a:t>
            </a:r>
          </a:p>
          <a:p>
            <a:pPr lvl="1"/>
            <a:r>
              <a:rPr lang="en-US" sz="2000" dirty="0"/>
              <a:t>= YTM based on contractual obligation, assuming no default, all payments made as required by the loan contract</a:t>
            </a:r>
          </a:p>
          <a:p>
            <a:r>
              <a:rPr lang="en-US" sz="2000" dirty="0"/>
              <a:t>Credit Loss</a:t>
            </a:r>
          </a:p>
          <a:p>
            <a:pPr lvl="1"/>
            <a:r>
              <a:rPr lang="en-US" sz="2000" dirty="0"/>
              <a:t>Shortfalls to the lender as a result of default and foreclosure</a:t>
            </a:r>
          </a:p>
          <a:p>
            <a:pPr lvl="1"/>
            <a:r>
              <a:rPr lang="en-US" sz="2000" dirty="0"/>
              <a:t>Results in…</a:t>
            </a:r>
          </a:p>
          <a:p>
            <a:r>
              <a:rPr lang="en-US" sz="2000" dirty="0"/>
              <a:t>Yield Degradation</a:t>
            </a:r>
          </a:p>
          <a:p>
            <a:pPr lvl="1"/>
            <a:r>
              <a:rPr lang="en-US" sz="2000" dirty="0"/>
              <a:t>Effect of credit loss on contractual yield</a:t>
            </a:r>
          </a:p>
          <a:p>
            <a:pPr lvl="1"/>
            <a:r>
              <a:rPr lang="en-US" sz="2000" dirty="0"/>
              <a:t>(i.e. how much has the yield declined due to the credit loss or default)</a:t>
            </a:r>
          </a:p>
          <a:p>
            <a:endParaRPr 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674EDA7-B996-475E-B155-5CBB23D664FF}" type="slidenum">
              <a:rPr lang="en-US" smtClean="0"/>
              <a:pPr/>
              <a:t>3</a:t>
            </a:fld>
            <a:endParaRPr lang="en-US" dirty="0"/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Expected Returns (Revisited)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674EDA7-B996-475E-B155-5CBB23D664FF}" type="slidenum">
              <a:rPr lang="en-US" smtClean="0">
                <a:solidFill>
                  <a:srgbClr val="A92026"/>
                </a:solidFill>
              </a:rPr>
              <a:pPr/>
              <a:t>4</a:t>
            </a:fld>
            <a:endParaRPr lang="en-US" dirty="0">
              <a:solidFill>
                <a:srgbClr val="A92026"/>
              </a:solidFill>
            </a:endParaRPr>
          </a:p>
        </p:txBody>
      </p:sp>
      <p:pic>
        <p:nvPicPr>
          <p:cNvPr id="307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771" y="1219200"/>
            <a:ext cx="8679550" cy="4800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71651689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Expected Returns (Revisited)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800" dirty="0"/>
              <a:t>It is the impact of Default Risk on the “ex ante” return is what investors care about</a:t>
            </a:r>
            <a:br>
              <a:rPr lang="en-US" sz="1800" dirty="0"/>
            </a:br>
            <a:r>
              <a:rPr lang="en-US" sz="1800" dirty="0"/>
              <a:t>	(i.e. expected return going into an investment)</a:t>
            </a:r>
          </a:p>
          <a:p>
            <a:r>
              <a:rPr lang="en-US" sz="1800" dirty="0"/>
              <a:t>Expected Return (aka “Expected Yield” or “Ex Ante Yield”) </a:t>
            </a:r>
          </a:p>
          <a:p>
            <a:pPr lvl="1"/>
            <a:r>
              <a:rPr lang="en-US" sz="1800" dirty="0"/>
              <a:t>= E[r] = Mean of probability distribution of future total return on the mortgage investment.</a:t>
            </a:r>
          </a:p>
          <a:p>
            <a:r>
              <a:rPr lang="en-US" sz="1800" dirty="0"/>
              <a:t>Hazard Function</a:t>
            </a:r>
          </a:p>
          <a:p>
            <a:pPr lvl="1"/>
            <a:r>
              <a:rPr lang="en-US" sz="1800" dirty="0"/>
              <a:t>Probability function of default happening in each year of a loan</a:t>
            </a:r>
          </a:p>
          <a:p>
            <a:pPr lvl="1"/>
            <a:r>
              <a:rPr lang="en-US" sz="1800" dirty="0"/>
              <a:t>Conditional probability of default at each point in time given that default has not already occurred before then</a:t>
            </a:r>
          </a:p>
          <a:p>
            <a:r>
              <a:rPr lang="en-US" sz="1800" dirty="0"/>
              <a:t>Recovery Rate</a:t>
            </a:r>
          </a:p>
          <a:p>
            <a:pPr lvl="1"/>
            <a:r>
              <a:rPr lang="en-US" sz="1800" dirty="0"/>
              <a:t>If a borrower defaults and the lender forecloses, what percentage of the OLB is the lender able to recover from </a:t>
            </a:r>
          </a:p>
          <a:p>
            <a:endParaRPr lang="en-US" sz="1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674EDA7-B996-475E-B155-5CBB23D664FF}" type="slidenum">
              <a:rPr lang="en-US" smtClean="0"/>
              <a:pPr/>
              <a:t>5</a:t>
            </a:fld>
            <a:endParaRPr lang="en-US" dirty="0"/>
          </a:p>
        </p:txBody>
      </p: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dirty="0"/>
              <a:t>Example “Conditional Yield Degradation”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674EDA7-B996-475E-B155-5CBB23D664FF}" type="slidenum">
              <a:rPr lang="en-US" smtClean="0">
                <a:solidFill>
                  <a:srgbClr val="A92026"/>
                </a:solidFill>
              </a:rPr>
              <a:pPr/>
              <a:t>6</a:t>
            </a:fld>
            <a:endParaRPr lang="en-US" dirty="0">
              <a:solidFill>
                <a:srgbClr val="A92026"/>
              </a:solidFill>
            </a:endParaRPr>
          </a:p>
        </p:txBody>
      </p:sp>
      <p:pic>
        <p:nvPicPr>
          <p:cNvPr id="317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1524000"/>
            <a:ext cx="7900988" cy="41146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78578227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2" name="Text Box 4"/>
          <p:cNvSpPr txBox="1">
            <a:spLocks noChangeArrowheads="1"/>
          </p:cNvSpPr>
          <p:nvPr/>
        </p:nvSpPr>
        <p:spPr bwMode="auto">
          <a:xfrm>
            <a:off x="228600" y="304800"/>
            <a:ext cx="86106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i="0">
                <a:effectLst>
                  <a:outerShdw blurRad="38100" dist="38100" dir="2700000" algn="tl">
                    <a:srgbClr val="FFFFFF"/>
                  </a:outerShdw>
                </a:effectLst>
              </a:rPr>
              <a:t>18.1.3 Yield Degradation in Typical Commercial Mortgages</a:t>
            </a:r>
          </a:p>
        </p:txBody>
      </p:sp>
      <p:sp>
        <p:nvSpPr>
          <p:cNvPr id="17413" name="Text Box 5"/>
          <p:cNvSpPr txBox="1">
            <a:spLocks noChangeArrowheads="1"/>
          </p:cNvSpPr>
          <p:nvPr/>
        </p:nvSpPr>
        <p:spPr bwMode="auto">
          <a:xfrm>
            <a:off x="381000" y="914400"/>
            <a:ext cx="8305800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i="0">
                <a:effectLst>
                  <a:outerShdw blurRad="38100" dist="38100" dir="2700000" algn="tl">
                    <a:srgbClr val="FFFFFF"/>
                  </a:outerShdw>
                </a:effectLst>
              </a:rPr>
              <a:t>The most widely used empirical evidence on commercial mortgage hazard rates in the U.S. is that of Snyderman and subsequent studies at Morgan-Stanley.*</a:t>
            </a:r>
          </a:p>
        </p:txBody>
      </p:sp>
      <p:pic>
        <p:nvPicPr>
          <p:cNvPr id="17415" name="Picture 7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828800" y="1676400"/>
            <a:ext cx="5791200" cy="4460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674EDA7-B996-475E-B155-5CBB23D664FF}" type="slidenum">
              <a:rPr lang="en-US" smtClean="0"/>
              <a:pPr/>
              <a:t>7</a:t>
            </a:fld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5"/>
          <p:cNvSpPr txBox="1">
            <a:spLocks noChangeArrowheads="1"/>
          </p:cNvSpPr>
          <p:nvPr/>
        </p:nvSpPr>
        <p:spPr bwMode="auto">
          <a:xfrm>
            <a:off x="457200" y="304800"/>
            <a:ext cx="838200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 i="0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The implied survival function and cumulative default probability is shown here:</a:t>
            </a:r>
          </a:p>
        </p:txBody>
      </p:sp>
      <p:sp>
        <p:nvSpPr>
          <p:cNvPr id="5" name="Text Box 6"/>
          <p:cNvSpPr txBox="1">
            <a:spLocks noChangeArrowheads="1"/>
          </p:cNvSpPr>
          <p:nvPr/>
        </p:nvSpPr>
        <p:spPr bwMode="auto">
          <a:xfrm>
            <a:off x="533400" y="5257800"/>
            <a:ext cx="8077200" cy="1158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en-US" i="0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Overall Average Default Probability = 16%.</a:t>
            </a:r>
          </a:p>
          <a:p>
            <a:pPr algn="ctr" eaLnBrk="1" hangingPunct="1">
              <a:spcBef>
                <a:spcPct val="50000"/>
              </a:spcBef>
              <a:defRPr/>
            </a:pPr>
            <a:r>
              <a:rPr lang="en-US" i="0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1 out of 6 commercial mortgages in the U.S. default at some point  in their lives.</a:t>
            </a:r>
          </a:p>
        </p:txBody>
      </p:sp>
      <p:sp>
        <p:nvSpPr>
          <p:cNvPr id="6" name="Slide Number Placeholder 4"/>
          <p:cNvSpPr txBox="1">
            <a:spLocks/>
          </p:cNvSpPr>
          <p:nvPr/>
        </p:nvSpPr>
        <p:spPr>
          <a:xfrm>
            <a:off x="6553200" y="6381750"/>
            <a:ext cx="2133600" cy="47625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7" name="Footer Placeholder 5"/>
          <p:cNvSpPr txBox="1">
            <a:spLocks/>
          </p:cNvSpPr>
          <p:nvPr/>
        </p:nvSpPr>
        <p:spPr bwMode="auto">
          <a:xfrm>
            <a:off x="5486400" y="6477000"/>
            <a:ext cx="3657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1100" i="1" kern="1200">
                <a:solidFill>
                  <a:schemeClr val="tx2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dirty="0"/>
              <a:t>© 2014 </a:t>
            </a:r>
            <a:r>
              <a:rPr lang="en-US" dirty="0" err="1"/>
              <a:t>OnCourse</a:t>
            </a:r>
            <a:r>
              <a:rPr lang="en-US" dirty="0"/>
              <a:t> Learning. All Rights Reserved.</a:t>
            </a:r>
          </a:p>
        </p:txBody>
      </p:sp>
      <p:grpSp>
        <p:nvGrpSpPr>
          <p:cNvPr id="8" name="Group 7"/>
          <p:cNvGrpSpPr/>
          <p:nvPr/>
        </p:nvGrpSpPr>
        <p:grpSpPr>
          <a:xfrm>
            <a:off x="1219200" y="1066800"/>
            <a:ext cx="6858000" cy="4180820"/>
            <a:chOff x="1219200" y="1066800"/>
            <a:chExt cx="6858000" cy="4180820"/>
          </a:xfrm>
        </p:grpSpPr>
        <p:pic>
          <p:nvPicPr>
            <p:cNvPr id="9" name="Picture 1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1219203" y="1066800"/>
              <a:ext cx="6475303" cy="3657600"/>
            </a:xfrm>
            <a:prstGeom prst="rect">
              <a:avLst/>
            </a:prstGeom>
            <a:noFill/>
            <a:ln w="9525">
              <a:solidFill>
                <a:schemeClr val="accent6"/>
              </a:solidFill>
              <a:miter lim="800000"/>
              <a:headEnd/>
              <a:tailEnd/>
            </a:ln>
          </p:spPr>
        </p:pic>
        <p:sp>
          <p:nvSpPr>
            <p:cNvPr id="10" name="TextBox 9"/>
            <p:cNvSpPr txBox="1"/>
            <p:nvPr/>
          </p:nvSpPr>
          <p:spPr>
            <a:xfrm>
              <a:off x="1219200" y="4724400"/>
              <a:ext cx="685800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i="0" dirty="0">
                  <a:solidFill>
                    <a:srgbClr val="00B0F0"/>
                  </a:solidFill>
                  <a:latin typeface="Calibri" pitchFamily="34" charset="0"/>
                </a:rPr>
                <a:t>EXHIBIT 18-2 </a:t>
              </a:r>
              <a:r>
                <a:rPr lang="en-US" sz="1400" b="0" i="0" dirty="0">
                  <a:latin typeface="Calibri" pitchFamily="34" charset="0"/>
                </a:rPr>
                <a:t>Typical Commercial Mortgage Survival Rates</a:t>
              </a:r>
            </a:p>
            <a:p>
              <a:r>
                <a:rPr lang="en-US" sz="1400" b="0" i="0" dirty="0">
                  <a:latin typeface="Calibri" pitchFamily="34" charset="0"/>
                </a:rPr>
                <a:t>Source: Based on data from Esaki et al. 2002.</a:t>
              </a:r>
            </a:p>
          </p:txBody>
        </p:sp>
      </p:grpSp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674EDA7-B996-475E-B155-5CBB23D664FF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0529614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Volatility, LTV and Risk</a:t>
            </a:r>
          </a:p>
        </p:txBody>
      </p:sp>
      <p:sp>
        <p:nvSpPr>
          <p:cNvPr id="10" name="Content Placeholder 9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sz="2000" dirty="0"/>
              <a:t>Assume</a:t>
            </a:r>
          </a:p>
          <a:p>
            <a:pPr lvl="1"/>
            <a:r>
              <a:rPr lang="en-US" sz="2000" dirty="0"/>
              <a:t>$100 initial value, growing 2%/year</a:t>
            </a:r>
          </a:p>
          <a:p>
            <a:pPr lvl="1"/>
            <a:r>
              <a:rPr lang="en-US" sz="2000" dirty="0"/>
              <a:t>75% LTV, no amortization</a:t>
            </a:r>
          </a:p>
          <a:p>
            <a:pPr lvl="1"/>
            <a:r>
              <a:rPr lang="en-US" sz="2000" dirty="0"/>
              <a:t>15% annual volatility in price changes (i.e. Std Dev of price change)</a:t>
            </a:r>
          </a:p>
          <a:p>
            <a:pPr lvl="1"/>
            <a:r>
              <a:rPr lang="en-US" sz="2000" dirty="0"/>
              <a:t>7-year mortgage</a:t>
            </a:r>
          </a:p>
          <a:p>
            <a:r>
              <a:rPr lang="en-US" sz="2000" dirty="0"/>
              <a:t>Result</a:t>
            </a:r>
          </a:p>
          <a:p>
            <a:pPr lvl="1"/>
            <a:r>
              <a:rPr lang="en-US" sz="2000" dirty="0"/>
              <a:t>1/6 Probability of default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674EDA7-B996-475E-B155-5CBB23D664FF}" type="slidenum">
              <a:rPr lang="en-US" smtClean="0"/>
              <a:pPr/>
              <a:t>9</a:t>
            </a:fld>
            <a:endParaRPr lang="en-US" dirty="0"/>
          </a:p>
        </p:txBody>
      </p:sp>
      <p:pic>
        <p:nvPicPr>
          <p:cNvPr id="12" name="Picture 4" descr="exh18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48200" y="2373599"/>
            <a:ext cx="4038600" cy="2979164"/>
          </a:xfrm>
          <a:prstGeom prst="rect">
            <a:avLst/>
          </a:prstGeom>
          <a:noFill/>
        </p:spPr>
      </p:pic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Loan Underwriting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4525963"/>
          </a:xfrm>
        </p:spPr>
        <p:txBody>
          <a:bodyPr/>
          <a:lstStyle/>
          <a:p>
            <a:r>
              <a:rPr lang="en-US" sz="1600" dirty="0"/>
              <a:t>Process lenders go through to decide to issue a commercial mortgage, and determine the terms of the loan</a:t>
            </a:r>
          </a:p>
          <a:p>
            <a:r>
              <a:rPr lang="it-IT" sz="1600" dirty="0"/>
              <a:t>Underwriting considers both</a:t>
            </a:r>
          </a:p>
          <a:p>
            <a:pPr lvl="1"/>
            <a:r>
              <a:rPr lang="it-IT" sz="1600" dirty="0"/>
              <a:t>Borrower – Character, Capital invested, Capacity to repay (from other resources)</a:t>
            </a:r>
          </a:p>
          <a:p>
            <a:pPr lvl="1"/>
            <a:r>
              <a:rPr lang="it-IT" sz="1600" dirty="0"/>
              <a:t>Property – Collateral, Conditions, Capacity to repay (from property cash flow)</a:t>
            </a:r>
          </a:p>
          <a:p>
            <a:r>
              <a:rPr lang="it-IT" sz="1600" dirty="0"/>
              <a:t>Standard Property Level Criteria</a:t>
            </a:r>
          </a:p>
          <a:p>
            <a:pPr lvl="1"/>
            <a:r>
              <a:rPr lang="it-IT" sz="1600" dirty="0"/>
              <a:t>Property income criteria</a:t>
            </a:r>
          </a:p>
          <a:p>
            <a:pPr lvl="2"/>
            <a:r>
              <a:rPr lang="it-IT" sz="1600" dirty="0"/>
              <a:t>Debt Service Coverage Ratio (DSCR) = PBTCF / Annual Debt Service</a:t>
            </a:r>
          </a:p>
          <a:p>
            <a:pPr lvl="3"/>
            <a:r>
              <a:rPr lang="it-IT" sz="1200" dirty="0"/>
              <a:t>Typical Range of 1.20 or greater is required</a:t>
            </a:r>
          </a:p>
          <a:p>
            <a:pPr lvl="2"/>
            <a:r>
              <a:rPr lang="it-IT" sz="1600" dirty="0"/>
              <a:t>Equity Before Tax Cash Flow (BTCF)</a:t>
            </a:r>
          </a:p>
          <a:p>
            <a:pPr lvl="3"/>
            <a:r>
              <a:rPr lang="it-IT" sz="1200" dirty="0"/>
              <a:t>From Cash Flow pro forma; is there sufficient cash flow after debt service to properly maintain the property?</a:t>
            </a:r>
          </a:p>
          <a:p>
            <a:pPr lvl="1"/>
            <a:r>
              <a:rPr lang="it-IT" sz="1600" dirty="0"/>
              <a:t>Asset value criteria</a:t>
            </a:r>
          </a:p>
          <a:p>
            <a:pPr lvl="2"/>
            <a:r>
              <a:rPr lang="it-IT" sz="1600" dirty="0"/>
              <a:t>Loan to Value Ratio (LTV)</a:t>
            </a:r>
          </a:p>
          <a:p>
            <a:pPr lvl="3"/>
            <a:r>
              <a:rPr lang="it-IT" sz="1600" dirty="0"/>
              <a:t>Value based on 3° party appraisal</a:t>
            </a:r>
          </a:p>
          <a:p>
            <a:pPr lvl="3"/>
            <a:r>
              <a:rPr lang="it-IT" sz="1600" dirty="0"/>
              <a:t>Typical range of 60 – 75%</a:t>
            </a:r>
          </a:p>
          <a:p>
            <a:pPr lvl="2"/>
            <a:r>
              <a:rPr lang="it-IT" sz="1600" dirty="0"/>
              <a:t>Loan to Cost (LTC)</a:t>
            </a:r>
          </a:p>
          <a:p>
            <a:pPr lvl="3"/>
            <a:r>
              <a:rPr lang="it-IT" sz="1600" dirty="0"/>
              <a:t>Typically applied in a development or redevelopment scenario</a:t>
            </a:r>
          </a:p>
          <a:p>
            <a:pPr lvl="1"/>
            <a:endParaRPr lang="it-IT" sz="1600" dirty="0"/>
          </a:p>
          <a:p>
            <a:endParaRPr lang="en-US" sz="16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674EDA7-B996-475E-B155-5CBB23D664FF}" type="slidenum">
              <a:rPr lang="en-US" smtClean="0"/>
              <a:pPr/>
              <a:t>10</a:t>
            </a:fld>
            <a:endParaRPr lang="en-US" dirty="0"/>
          </a:p>
        </p:txBody>
      </p:sp>
    </p:spTree>
  </p:cSld>
  <p:clrMapOvr>
    <a:masterClrMapping/>
  </p:clrMapOvr>
  <p:transition/>
</p:sld>
</file>

<file path=ppt/theme/theme1.xml><?xml version="1.0" encoding="utf-8"?>
<a:theme xmlns:a="http://schemas.openxmlformats.org/drawingml/2006/main" name="Joe Walsh, Generic Copyright">
  <a:themeElements>
    <a:clrScheme name="">
      <a:dk1>
        <a:srgbClr val="000000"/>
      </a:dk1>
      <a:lt1>
        <a:srgbClr val="FFFFFF"/>
      </a:lt1>
      <a:dk2>
        <a:srgbClr val="A92026"/>
      </a:dk2>
      <a:lt2>
        <a:srgbClr val="808080"/>
      </a:lt2>
      <a:accent1>
        <a:srgbClr val="C19A25"/>
      </a:accent1>
      <a:accent2>
        <a:srgbClr val="A41E21"/>
      </a:accent2>
      <a:accent3>
        <a:srgbClr val="FFFFFF"/>
      </a:accent3>
      <a:accent4>
        <a:srgbClr val="000000"/>
      </a:accent4>
      <a:accent5>
        <a:srgbClr val="DDCAAC"/>
      </a:accent5>
      <a:accent6>
        <a:srgbClr val="941A1D"/>
      </a:accent6>
      <a:hlink>
        <a:srgbClr val="929199"/>
      </a:hlink>
      <a:folHlink>
        <a:srgbClr val="6F6E6D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UW_PPT_white</Template>
  <TotalTime>4611</TotalTime>
  <Words>567</Words>
  <Application>Microsoft Office PowerPoint</Application>
  <PresentationFormat>On-screen Show (4:3)</PresentationFormat>
  <Paragraphs>72</Paragraphs>
  <Slides>10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Times New Roman</vt:lpstr>
      <vt:lpstr>Joe Walsh, Generic Copyright</vt:lpstr>
      <vt:lpstr>Commercial Real Estate Mortgages</vt:lpstr>
      <vt:lpstr>Additional Topics</vt:lpstr>
      <vt:lpstr>Expected Returns (Revisited)</vt:lpstr>
      <vt:lpstr>Expected Returns (Revisited)</vt:lpstr>
      <vt:lpstr>Expected Returns (Revisited)</vt:lpstr>
      <vt:lpstr>Example “Conditional Yield Degradation”</vt:lpstr>
      <vt:lpstr>PowerPoint Presentation</vt:lpstr>
      <vt:lpstr>PowerPoint Presentation</vt:lpstr>
      <vt:lpstr>Volatility, LTV and Risk</vt:lpstr>
      <vt:lpstr>Loan Underwriting</vt:lpstr>
    </vt:vector>
  </TitlesOfParts>
  <Company>The Yates Group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8 Lecture:</dc:title>
  <dc:creator>Joe Walsh</dc:creator>
  <cp:lastModifiedBy>Jaime Pérez Luque</cp:lastModifiedBy>
  <cp:revision>250</cp:revision>
  <dcterms:created xsi:type="dcterms:W3CDTF">2000-11-21T12:50:15Z</dcterms:created>
  <dcterms:modified xsi:type="dcterms:W3CDTF">2020-08-20T08:43:10Z</dcterms:modified>
</cp:coreProperties>
</file>