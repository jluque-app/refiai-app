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8"/>
  </p:notesMasterIdLst>
  <p:sldIdLst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ime Luque" initials="JL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92" autoAdjust="0"/>
  </p:normalViewPr>
  <p:slideViewPr>
    <p:cSldViewPr>
      <p:cViewPr varScale="1">
        <p:scale>
          <a:sx n="84" d="100"/>
          <a:sy n="84" d="100"/>
        </p:scale>
        <p:origin x="54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1B568-3949-48E6-A1DF-48288E304A51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4D89C-7CE3-4198-9299-101BA28238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0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8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6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5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1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1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8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70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1688" y="1905138"/>
            <a:ext cx="11082379" cy="1470025"/>
          </a:xfrm>
        </p:spPr>
        <p:txBody>
          <a:bodyPr lIns="0" tIns="0" rIns="0" bIns="0" anchor="b">
            <a:noAutofit/>
          </a:bodyPr>
          <a:lstStyle>
            <a:lvl1pPr algn="l">
              <a:defRPr sz="3600" b="0" i="0" spc="225">
                <a:solidFill>
                  <a:schemeClr val="bg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81688" y="3445471"/>
            <a:ext cx="11082379" cy="13736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300" b="0" i="0" baseline="0">
                <a:solidFill>
                  <a:schemeClr val="accent3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05E8C63A-E66D-D14E-8F36-5C1BF4B7D40A}"/>
              </a:ext>
            </a:extLst>
          </p:cNvPr>
          <p:cNvSpPr txBox="1"/>
          <p:nvPr userDrawn="1"/>
        </p:nvSpPr>
        <p:spPr>
          <a:xfrm>
            <a:off x="6895654" y="634703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200" dirty="0">
              <a:solidFill>
                <a:srgbClr val="3B2182"/>
              </a:solidFill>
            </a:endParaRPr>
          </a:p>
        </p:txBody>
      </p:sp>
      <p:pic>
        <p:nvPicPr>
          <p:cNvPr id="48" name="Image 47">
            <a:extLst>
              <a:ext uri="{FF2B5EF4-FFF2-40B4-BE49-F238E27FC236}">
                <a16:creationId xmlns="" xmlns:a16="http://schemas.microsoft.com/office/drawing/2014/main" id="{EC46E8E8-28A5-9B4C-8A9A-CF321AADF7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3993" y="4669602"/>
            <a:ext cx="12745993" cy="24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3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5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1688" y="1905138"/>
            <a:ext cx="11082379" cy="1470025"/>
          </a:xfrm>
        </p:spPr>
        <p:txBody>
          <a:bodyPr lIns="0" tIns="0" rIns="0" bIns="0" anchor="b">
            <a:noAutofit/>
          </a:bodyPr>
          <a:lstStyle>
            <a:lvl1pPr algn="l">
              <a:defRPr sz="3600" b="0" i="0" spc="225">
                <a:solidFill>
                  <a:schemeClr val="bg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81688" y="3445471"/>
            <a:ext cx="11082379" cy="13736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300" b="0" i="0" baseline="0">
                <a:solidFill>
                  <a:schemeClr val="accent3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05E8C63A-E66D-D14E-8F36-5C1BF4B7D40A}"/>
              </a:ext>
            </a:extLst>
          </p:cNvPr>
          <p:cNvSpPr txBox="1"/>
          <p:nvPr userDrawn="1"/>
        </p:nvSpPr>
        <p:spPr>
          <a:xfrm>
            <a:off x="6895654" y="634703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200" dirty="0">
              <a:solidFill>
                <a:srgbClr val="3B2182"/>
              </a:solidFill>
            </a:endParaRPr>
          </a:p>
        </p:txBody>
      </p:sp>
      <p:pic>
        <p:nvPicPr>
          <p:cNvPr id="48" name="Image 47">
            <a:extLst>
              <a:ext uri="{FF2B5EF4-FFF2-40B4-BE49-F238E27FC236}">
                <a16:creationId xmlns="" xmlns:a16="http://schemas.microsoft.com/office/drawing/2014/main" id="{EC46E8E8-28A5-9B4C-8A9A-CF321AADF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67"/>
          <a:stretch/>
        </p:blipFill>
        <p:spPr>
          <a:xfrm>
            <a:off x="-553993" y="6223300"/>
            <a:ext cx="12745993" cy="8526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E29E4BB8-1933-0B44-B948-B39A9F544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1" t="12367" r="74331" b="37759"/>
          <a:stretch/>
        </p:blipFill>
        <p:spPr>
          <a:xfrm>
            <a:off x="266700" y="453323"/>
            <a:ext cx="2552701" cy="12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2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DFC9CC4-A2A1-A94F-A407-77EC01D270E4}"/>
              </a:ext>
            </a:extLst>
          </p:cNvPr>
          <p:cNvSpPr/>
          <p:nvPr userDrawn="1"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="" xmlns:a16="http://schemas.microsoft.com/office/drawing/2014/main" id="{25D94348-89BF-2A4E-B41E-CC1DC7920C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688" y="1905138"/>
            <a:ext cx="11082379" cy="1470025"/>
          </a:xfrm>
        </p:spPr>
        <p:txBody>
          <a:bodyPr lIns="0" tIns="0" rIns="0" bIns="0" anchor="b">
            <a:noAutofit/>
          </a:bodyPr>
          <a:lstStyle>
            <a:lvl1pPr algn="l">
              <a:defRPr sz="3600" b="0" i="0" spc="225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="" xmlns:a16="http://schemas.microsoft.com/office/drawing/2014/main" id="{803996EF-89EB-ED4A-B387-A88D86A9B0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688" y="3445471"/>
            <a:ext cx="11082379" cy="13736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300" b="0" i="0" baseline="0">
                <a:solidFill>
                  <a:schemeClr val="tx2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="" xmlns:a16="http://schemas.microsoft.com/office/drawing/2014/main" id="{3E861D12-5CC8-EC4B-8FE1-6B46A31F1B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67"/>
          <a:stretch/>
        </p:blipFill>
        <p:spPr>
          <a:xfrm>
            <a:off x="-553993" y="6223300"/>
            <a:ext cx="12745993" cy="85262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="" xmlns:a16="http://schemas.microsoft.com/office/drawing/2014/main" id="{1E06E56A-5EA5-AF4E-BD21-1EAE99BDD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" t="14218" r="74812" b="39176"/>
          <a:stretch/>
        </p:blipFill>
        <p:spPr>
          <a:xfrm>
            <a:off x="0" y="489793"/>
            <a:ext cx="2656443" cy="112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8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DFC9CC4-A2A1-A94F-A407-77EC01D270E4}"/>
              </a:ext>
            </a:extLst>
          </p:cNvPr>
          <p:cNvSpPr/>
          <p:nvPr userDrawn="1"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="" xmlns:a16="http://schemas.microsoft.com/office/drawing/2014/main" id="{25D94348-89BF-2A4E-B41E-CC1DC7920C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688" y="1905138"/>
            <a:ext cx="11082379" cy="1470025"/>
          </a:xfrm>
        </p:spPr>
        <p:txBody>
          <a:bodyPr lIns="0" tIns="0" rIns="0" bIns="0" anchor="b">
            <a:noAutofit/>
          </a:bodyPr>
          <a:lstStyle>
            <a:lvl1pPr algn="l">
              <a:defRPr sz="3600" b="0" i="0" spc="225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="" xmlns:a16="http://schemas.microsoft.com/office/drawing/2014/main" id="{803996EF-89EB-ED4A-B387-A88D86A9B0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688" y="3445471"/>
            <a:ext cx="11082379" cy="13736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300" b="0" i="0" baseline="0">
                <a:solidFill>
                  <a:schemeClr val="tx2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C6630A4B-9A05-054D-B547-398534CDFEF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3993" y="4669602"/>
            <a:ext cx="12745993" cy="24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00BC60B-2723-8D4A-8F83-6A6FDF6C28DE}"/>
              </a:ext>
            </a:extLst>
          </p:cNvPr>
          <p:cNvSpPr/>
          <p:nvPr userDrawn="1"/>
        </p:nvSpPr>
        <p:spPr>
          <a:xfrm>
            <a:off x="2" y="2"/>
            <a:ext cx="12191999" cy="3445471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81688" y="3445471"/>
            <a:ext cx="11082379" cy="13736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300" b="0" i="0" baseline="0">
                <a:solidFill>
                  <a:schemeClr val="bg2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05E8C63A-E66D-D14E-8F36-5C1BF4B7D40A}"/>
              </a:ext>
            </a:extLst>
          </p:cNvPr>
          <p:cNvSpPr txBox="1"/>
          <p:nvPr userDrawn="1"/>
        </p:nvSpPr>
        <p:spPr>
          <a:xfrm>
            <a:off x="6895654" y="634703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200" dirty="0">
              <a:solidFill>
                <a:srgbClr val="3B218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81688" y="1905138"/>
            <a:ext cx="11082379" cy="1470025"/>
          </a:xfrm>
        </p:spPr>
        <p:txBody>
          <a:bodyPr lIns="0" tIns="0" rIns="0" bIns="0" anchor="b">
            <a:noAutofit/>
          </a:bodyPr>
          <a:lstStyle>
            <a:lvl1pPr algn="l">
              <a:defRPr sz="3600" b="0" i="0" spc="225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="" xmlns:a16="http://schemas.microsoft.com/office/drawing/2014/main" id="{3D480874-CDBA-054C-9396-BA423713CBE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3993" y="4669602"/>
            <a:ext cx="12745993" cy="24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512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00BC60B-2723-8D4A-8F83-6A6FDF6C28DE}"/>
              </a:ext>
            </a:extLst>
          </p:cNvPr>
          <p:cNvSpPr/>
          <p:nvPr userDrawn="1"/>
        </p:nvSpPr>
        <p:spPr>
          <a:xfrm>
            <a:off x="2" y="2"/>
            <a:ext cx="12191999" cy="3445471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81688" y="3445471"/>
            <a:ext cx="11082379" cy="137369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300" b="0" i="0" baseline="0">
                <a:solidFill>
                  <a:schemeClr val="bg2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05E8C63A-E66D-D14E-8F36-5C1BF4B7D40A}"/>
              </a:ext>
            </a:extLst>
          </p:cNvPr>
          <p:cNvSpPr txBox="1"/>
          <p:nvPr userDrawn="1"/>
        </p:nvSpPr>
        <p:spPr>
          <a:xfrm>
            <a:off x="6895654" y="634703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200" dirty="0">
              <a:solidFill>
                <a:srgbClr val="3B218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81688" y="1905138"/>
            <a:ext cx="11082379" cy="1470025"/>
          </a:xfrm>
        </p:spPr>
        <p:txBody>
          <a:bodyPr lIns="0" tIns="0" rIns="0" bIns="0" anchor="b">
            <a:noAutofit/>
          </a:bodyPr>
          <a:lstStyle>
            <a:lvl1pPr algn="l">
              <a:defRPr sz="3600" b="0" i="0" spc="225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="" xmlns:a16="http://schemas.microsoft.com/office/drawing/2014/main" id="{BAD6CB7F-E5C8-A945-BEA2-BB119CC7A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67"/>
          <a:stretch/>
        </p:blipFill>
        <p:spPr>
          <a:xfrm>
            <a:off x="-553993" y="6223300"/>
            <a:ext cx="12745993" cy="85262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="" xmlns:a16="http://schemas.microsoft.com/office/drawing/2014/main" id="{90B3D5BE-A88F-B04F-AA4F-0EA7DA290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" t="14218" r="74812" b="39176"/>
          <a:stretch/>
        </p:blipFill>
        <p:spPr>
          <a:xfrm>
            <a:off x="0" y="489793"/>
            <a:ext cx="2656443" cy="112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9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5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icture Placeholder 51"/>
          <p:cNvSpPr>
            <a:spLocks noGrp="1"/>
          </p:cNvSpPr>
          <p:nvPr>
            <p:ph type="pic" sz="quarter" idx="10"/>
          </p:nvPr>
        </p:nvSpPr>
        <p:spPr>
          <a:xfrm>
            <a:off x="4235" y="2"/>
            <a:ext cx="12187767" cy="3120543"/>
          </a:xfrm>
          <a:solidFill>
            <a:srgbClr val="B2B2B2"/>
          </a:solidFill>
        </p:spPr>
        <p:txBody>
          <a:bodyPr anchor="ctr"/>
          <a:lstStyle>
            <a:lvl1pPr marL="0" indent="0" algn="ctr">
              <a:buNone/>
              <a:defRPr sz="2100" b="0" i="0">
                <a:latin typeface="Montserrat" pitchFamily="2" charset="77"/>
              </a:defRPr>
            </a:lvl1pPr>
          </a:lstStyle>
          <a:p>
            <a:endParaRPr lang="en-GB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5629" y="3088459"/>
            <a:ext cx="11085511" cy="1028002"/>
          </a:xfrm>
        </p:spPr>
        <p:txBody>
          <a:bodyPr lIns="0" tIns="0" rIns="0" bIns="0" anchor="b">
            <a:noAutofit/>
          </a:bodyPr>
          <a:lstStyle>
            <a:lvl1pPr algn="l">
              <a:defRPr sz="3300" b="0" i="0">
                <a:solidFill>
                  <a:schemeClr val="bg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5629" y="4101342"/>
            <a:ext cx="11085511" cy="78734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150" b="0" i="0">
                <a:solidFill>
                  <a:srgbClr val="FFFFFF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943AA297-B2A4-404B-BF01-DA1B3F1DA8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3993" y="4669602"/>
            <a:ext cx="12745993" cy="24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3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54893" y="2572038"/>
            <a:ext cx="9289473" cy="856962"/>
          </a:xfrm>
        </p:spPr>
        <p:txBody>
          <a:bodyPr lIns="0" tIns="0" rIns="0" bIns="0" anchor="b">
            <a:noAutofit/>
          </a:bodyPr>
          <a:lstStyle>
            <a:lvl1pPr algn="l">
              <a:defRPr sz="3000" b="0" i="0" baseline="0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1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54891" y="3429000"/>
            <a:ext cx="9289472" cy="85696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="" xmlns:a16="http://schemas.microsoft.com/office/drawing/2014/main" id="{CD085AF7-1BDF-AD46-AB09-38CB3288B607}"/>
              </a:ext>
            </a:extLst>
          </p:cNvPr>
          <p:cNvSpPr txBox="1"/>
          <p:nvPr userDrawn="1"/>
        </p:nvSpPr>
        <p:spPr>
          <a:xfrm>
            <a:off x="11165429" y="6322362"/>
            <a:ext cx="547688" cy="1269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GB" sz="825" smtClean="0">
                <a:solidFill>
                  <a:srgbClr val="FEFFFE"/>
                </a:solidFill>
                <a:latin typeface="Montserrat" pitchFamily="2" charset="77"/>
              </a:rPr>
              <a:pPr algn="ctr"/>
              <a:t>‹Nº›</a:t>
            </a:fld>
            <a:endParaRPr lang="en-GB" sz="900" dirty="0">
              <a:solidFill>
                <a:srgbClr val="FEFFFE"/>
              </a:solidFill>
              <a:latin typeface="Montserrat" pitchFamily="2" charset="77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="" xmlns:a16="http://schemas.microsoft.com/office/drawing/2014/main" id="{DF79E0E9-4E28-5144-BACF-26CA9B1802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0" t="13887" r="74630" b="38085"/>
          <a:stretch/>
        </p:blipFill>
        <p:spPr>
          <a:xfrm>
            <a:off x="413570" y="6078850"/>
            <a:ext cx="1208629" cy="564027"/>
          </a:xfrm>
          <a:prstGeom prst="rect">
            <a:avLst/>
          </a:prstGeom>
        </p:spPr>
      </p:pic>
      <p:sp>
        <p:nvSpPr>
          <p:cNvPr id="8" name="Espace réservé du pied de page 3">
            <a:extLst>
              <a:ext uri="{FF2B5EF4-FFF2-40B4-BE49-F238E27FC236}">
                <a16:creationId xmlns="" xmlns:a16="http://schemas.microsoft.com/office/drawing/2014/main" id="{1EEBB46F-DBC3-F946-9C0D-FD75DF8EAC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76401" y="6203280"/>
            <a:ext cx="883920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fr-FR" dirty="0">
              <a:solidFill>
                <a:srgbClr val="FE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260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. Titr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5473A818-AD24-2D4A-A6E2-16D4DEB55891}"/>
              </a:ext>
            </a:extLst>
          </p:cNvPr>
          <p:cNvSpPr/>
          <p:nvPr userDrawn="1"/>
        </p:nvSpPr>
        <p:spPr>
          <a:xfrm>
            <a:off x="159134" y="168872"/>
            <a:ext cx="11873735" cy="6520259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BF4A70-6B87-F741-8C7C-64313B31FC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9793" y="2572038"/>
            <a:ext cx="9289473" cy="856962"/>
          </a:xfrm>
        </p:spPr>
        <p:txBody>
          <a:bodyPr lIns="0" tIns="0" rIns="0" bIns="0" anchor="b">
            <a:noAutofit/>
          </a:bodyPr>
          <a:lstStyle>
            <a:lvl1pPr algn="l">
              <a:defRPr sz="3000" b="0" i="0" baseline="0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320A3FC-145C-BB4A-A821-0821BEDC0D3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791" y="3523633"/>
            <a:ext cx="9289472" cy="61656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00" b="0" i="0">
                <a:solidFill>
                  <a:schemeClr val="bg2"/>
                </a:solidFill>
                <a:latin typeface="Montserrat Light" pitchFamily="2" charset="7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Subtitle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="" xmlns:a16="http://schemas.microsoft.com/office/drawing/2014/main" id="{AE393F67-6714-2244-BD42-43EF08F9F472}"/>
              </a:ext>
            </a:extLst>
          </p:cNvPr>
          <p:cNvSpPr txBox="1"/>
          <p:nvPr userDrawn="1"/>
        </p:nvSpPr>
        <p:spPr>
          <a:xfrm>
            <a:off x="11165429" y="6344339"/>
            <a:ext cx="547688" cy="1269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GB" sz="825" smtClean="0">
                <a:solidFill>
                  <a:srgbClr val="3B2182"/>
                </a:solidFill>
                <a:latin typeface="Montserrat" pitchFamily="2" charset="77"/>
              </a:rPr>
              <a:pPr algn="ctr"/>
              <a:t>‹Nº›</a:t>
            </a:fld>
            <a:endParaRPr lang="en-GB" sz="788" dirty="0">
              <a:solidFill>
                <a:srgbClr val="3B2182"/>
              </a:solidFill>
              <a:latin typeface="Montserrat" pitchFamily="2" charset="77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="" xmlns:a16="http://schemas.microsoft.com/office/drawing/2014/main" id="{0D6619E6-7CE3-4646-86D0-C2A8542934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7" y="6089054"/>
            <a:ext cx="1085464" cy="501328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165B85D0-E70C-224D-8857-F4B54EF05D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63700" y="6145790"/>
            <a:ext cx="883920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9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2927" y="689082"/>
            <a:ext cx="10991848" cy="625331"/>
          </a:xfrm>
        </p:spPr>
        <p:txBody>
          <a:bodyPr/>
          <a:lstStyle>
            <a:lvl1pPr>
              <a:defRPr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42927" y="1380755"/>
            <a:ext cx="11098212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2927" y="1873400"/>
            <a:ext cx="11098212" cy="325438"/>
          </a:xfrm>
        </p:spPr>
        <p:txBody>
          <a:bodyPr/>
          <a:lstStyle>
            <a:lvl1pPr>
              <a:defRPr sz="1575" b="0" i="0">
                <a:solidFill>
                  <a:schemeClr val="tx1"/>
                </a:solidFill>
                <a:latin typeface="Taviraj Medium" pitchFamily="2" charset="-34"/>
                <a:cs typeface="Taviraj Medium" pitchFamily="2" charset="-34"/>
              </a:defRPr>
            </a:lvl1pPr>
            <a:lvl2pPr>
              <a:defRPr/>
            </a:lvl2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542927" y="2490009"/>
            <a:ext cx="11098211" cy="3129741"/>
          </a:xfrm>
        </p:spPr>
        <p:txBody>
          <a:bodyPr/>
          <a:lstStyle>
            <a:lvl1pPr>
              <a:spcBef>
                <a:spcPts val="450"/>
              </a:spcBef>
              <a:spcAft>
                <a:spcPts val="900"/>
              </a:spcAft>
              <a:defRPr sz="1050" b="0" i="0">
                <a:solidFill>
                  <a:schemeClr val="tx1"/>
                </a:solidFill>
                <a:latin typeface="Montserrat" pitchFamily="2" charset="77"/>
              </a:defRPr>
            </a:lvl1pPr>
            <a:lvl2pPr>
              <a:defRPr sz="1050">
                <a:latin typeface="Montserrat Light" pitchFamily="2" charset="77"/>
              </a:defRPr>
            </a:lvl2pPr>
            <a:lvl3pPr marL="214313" indent="-214313">
              <a:spcBef>
                <a:spcPts val="450"/>
              </a:spcBef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  <a:latin typeface="Montserrat Light" pitchFamily="2" charset="77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1AE5E5AF-73E7-D74C-88E2-5CFB44FC4D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63700" y="6145790"/>
            <a:ext cx="883920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65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2927" y="689082"/>
            <a:ext cx="10991848" cy="625331"/>
          </a:xfrm>
        </p:spPr>
        <p:txBody>
          <a:bodyPr/>
          <a:lstStyle>
            <a:lvl1pPr>
              <a:defRPr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1AE5E5AF-73E7-D74C-88E2-5CFB44FC4D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63700" y="6145790"/>
            <a:ext cx="883920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83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1AE5E5AF-73E7-D74C-88E2-5CFB44FC4D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63700" y="6145790"/>
            <a:ext cx="883920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1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AECD7C3-950D-274B-B7F8-AB374BCA4229}"/>
              </a:ext>
            </a:extLst>
          </p:cNvPr>
          <p:cNvSpPr/>
          <p:nvPr userDrawn="1"/>
        </p:nvSpPr>
        <p:spPr>
          <a:xfrm>
            <a:off x="159133" y="168872"/>
            <a:ext cx="11873735" cy="6520259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0099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563709" y="689082"/>
            <a:ext cx="11098211" cy="625331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42928" y="1380755"/>
            <a:ext cx="11098211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2928" y="1873400"/>
            <a:ext cx="11098211" cy="325438"/>
          </a:xfrm>
        </p:spPr>
        <p:txBody>
          <a:bodyPr/>
          <a:lstStyle>
            <a:lvl1pPr>
              <a:defRPr sz="1575" b="0" i="0">
                <a:latin typeface="Taviraj Medium" pitchFamily="2" charset="-34"/>
                <a:cs typeface="Taviraj Medium" pitchFamily="2" charset="-34"/>
              </a:defRPr>
            </a:lvl1pPr>
            <a:lvl2pPr>
              <a:defRPr/>
            </a:lvl2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2925" y="3212978"/>
            <a:ext cx="5337051" cy="255270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50"/>
              </a:spcAft>
              <a:defRPr sz="975" b="0" i="0">
                <a:latin typeface="Montserrat Light" pitchFamily="2" charset="77"/>
              </a:defRPr>
            </a:lvl1pPr>
            <a:lvl2pPr marL="105300" indent="-1053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lang="fr-FR" sz="975" b="0" i="0" kern="1200" dirty="0" smtClean="0">
                <a:solidFill>
                  <a:srgbClr val="1C385B"/>
                </a:solidFill>
                <a:latin typeface="Montserrat Light" pitchFamily="2" charset="77"/>
                <a:ea typeface="+mn-ea"/>
                <a:cs typeface="+mn-cs"/>
              </a:defRPr>
            </a:lvl2pPr>
          </a:lstStyle>
          <a:p>
            <a:pPr lvl="0"/>
            <a:r>
              <a:rPr lang="en-GB" dirty="0"/>
              <a:t>Text 1</a:t>
            </a:r>
          </a:p>
          <a:p>
            <a:pPr marL="105300" lvl="1" indent="-105300" algn="l" defTabSz="685800" rtl="0" eaLnBrk="1" latinLnBrk="0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GB" dirty="0"/>
              <a:t>Text 2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312024" y="3212978"/>
            <a:ext cx="5337051" cy="2552701"/>
          </a:xfrm>
        </p:spPr>
        <p:txBody>
          <a:bodyPr/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450"/>
              </a:spcAft>
              <a:buFont typeface="Arial" pitchFamily="34" charset="0"/>
              <a:buNone/>
              <a:defRPr lang="fr-FR" sz="975" b="0" i="0" kern="1200" dirty="0" smtClean="0">
                <a:solidFill>
                  <a:srgbClr val="1C385B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105300" indent="-105300" algn="l" defTabSz="685800" rtl="0" eaLnBrk="1" latinLnBrk="0" hangingPunct="1">
              <a:spcBef>
                <a:spcPts val="0"/>
              </a:spcBef>
              <a:buFont typeface="Arial" pitchFamily="34" charset="0"/>
              <a:buChar char="•"/>
              <a:defRPr lang="fr-FR" sz="975" b="0" i="0" kern="1200" dirty="0" err="1" smtClean="0">
                <a:solidFill>
                  <a:srgbClr val="1C385B"/>
                </a:solidFill>
                <a:latin typeface="Montserrat Light" pitchFamily="2" charset="77"/>
                <a:ea typeface="+mn-ea"/>
                <a:cs typeface="+mn-cs"/>
              </a:defRPr>
            </a:lvl2pPr>
          </a:lstStyle>
          <a:p>
            <a:pPr lvl="0"/>
            <a:r>
              <a:rPr lang="en-GB" dirty="0"/>
              <a:t>Text 1</a:t>
            </a:r>
          </a:p>
          <a:p>
            <a:pPr marL="105300" lvl="1" indent="-105300" algn="l" defTabSz="685800" rtl="0" eaLnBrk="1" latinLnBrk="0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GB" dirty="0"/>
              <a:t>Text 2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="" xmlns:a16="http://schemas.microsoft.com/office/drawing/2014/main" id="{1DCDCB45-D542-AA4C-ACBC-B1CD181D9D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93" y="2318893"/>
            <a:ext cx="11098211" cy="325438"/>
          </a:xfrm>
        </p:spPr>
        <p:txBody>
          <a:bodyPr/>
          <a:lstStyle>
            <a:lvl1pPr marL="22860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GB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</a:defRPr>
            </a:lvl1pPr>
            <a:lvl2pPr>
              <a:defRPr/>
            </a:lvl2pPr>
          </a:lstStyle>
          <a:p>
            <a:pPr marL="228600">
              <a:spcAft>
                <a:spcPts val="0"/>
              </a:spcAft>
            </a:pP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Em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autem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etus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Ipiciun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delectius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Peribus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sus et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faccuptiant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iusape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eseque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nihiliquam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quunt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conectustrum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reriore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rferit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quis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molorec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tatist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qui a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incti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ute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cumetum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FBE7AACB-35DB-2E44-A12B-2CF155CF305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663700" y="6145790"/>
            <a:ext cx="883920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36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46894" y="695643"/>
            <a:ext cx="11098213" cy="625331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2925" y="3212978"/>
            <a:ext cx="5337051" cy="255270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50"/>
              </a:spcAft>
              <a:defRPr sz="975" b="0" i="0">
                <a:latin typeface="Montserrat" pitchFamily="2" charset="77"/>
              </a:defRPr>
            </a:lvl1pPr>
            <a:lvl2pPr marL="105300" indent="-1053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lang="fr-FR" sz="975" b="0" i="0" kern="1200" dirty="0" smtClean="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2pPr>
          </a:lstStyle>
          <a:p>
            <a:pPr lvl="0"/>
            <a:r>
              <a:rPr lang="en-GB" dirty="0"/>
              <a:t>Text 1</a:t>
            </a:r>
          </a:p>
          <a:p>
            <a:pPr marL="105300" lvl="1" indent="-105300" algn="l" defTabSz="685800" rtl="0" eaLnBrk="1" latinLnBrk="0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GB" dirty="0"/>
              <a:t>Text 2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42926" y="2490011"/>
            <a:ext cx="5337051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40604" y="2490011"/>
            <a:ext cx="5300537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6303565" y="3212978"/>
            <a:ext cx="5337051" cy="2552701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450"/>
              </a:spcAft>
              <a:defRPr lang="fr-FR" sz="975" b="0" i="0" dirty="0" smtClean="0">
                <a:latin typeface="Montserrat" pitchFamily="2" charset="77"/>
              </a:defRPr>
            </a:lvl1pPr>
            <a:lvl2pPr>
              <a:spcAft>
                <a:spcPts val="450"/>
              </a:spcAft>
              <a:defRPr lang="fr-FR" sz="975" dirty="0" smtClean="0">
                <a:solidFill>
                  <a:schemeClr val="tx1"/>
                </a:solidFill>
                <a:latin typeface="Montserrat Light" pitchFamily="2" charset="77"/>
              </a:defRPr>
            </a:lvl2pPr>
          </a:lstStyle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Text 1</a:t>
            </a:r>
          </a:p>
          <a:p>
            <a:pPr marL="105300" lvl="1" indent="-105300">
              <a:spcAft>
                <a:spcPts val="600"/>
              </a:spcAft>
              <a:buChar char="•"/>
            </a:pPr>
            <a:r>
              <a:rPr lang="en-GB" dirty="0"/>
              <a:t>Text 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FB78CF1E-D039-F245-9B7C-D3CC309478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2928" y="1509876"/>
            <a:ext cx="10907713" cy="915121"/>
          </a:xfrm>
        </p:spPr>
        <p:txBody>
          <a:bodyPr/>
          <a:lstStyle>
            <a:lvl1pPr algn="l">
              <a:buFontTx/>
              <a:buNone/>
              <a:defRPr sz="1500">
                <a:solidFill>
                  <a:schemeClr val="tx1"/>
                </a:solidFill>
              </a:defRPr>
            </a:lvl1pPr>
            <a:lvl2pPr marL="0" indent="0">
              <a:buNone/>
              <a:defRPr sz="1350"/>
            </a:lvl2pPr>
            <a:lvl4pPr marL="1028700" indent="0">
              <a:buNone/>
              <a:defRPr/>
            </a:lvl4pPr>
          </a:lstStyle>
          <a:p>
            <a:pPr marL="171450" lvl="1">
              <a:spcAft>
                <a:spcPts val="0"/>
              </a:spcAft>
            </a:pP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Em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autem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etus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Ipiciun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delectius</a:t>
            </a:r>
            <a:r>
              <a:rPr lang="en-GB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Peribus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sus et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faccuptiant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iusape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eseque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nihiliquam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quunt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conectustrum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reriore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rferit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quis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molorec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tatist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qui a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incti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ute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cumetum</a:t>
            </a:r>
            <a:r>
              <a:rPr lang="fr-FR" sz="1500" dirty="0">
                <a:effectLst/>
                <a:latin typeface="Montserrat Light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1F1EDD8A-F119-8E41-85C7-7095205DC53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663700" y="6145790"/>
            <a:ext cx="883920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9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4"/>
          <p:cNvSpPr>
            <a:spLocks noGrp="1"/>
          </p:cNvSpPr>
          <p:nvPr>
            <p:ph type="pic" sz="quarter" idx="16"/>
          </p:nvPr>
        </p:nvSpPr>
        <p:spPr>
          <a:xfrm>
            <a:off x="162532" y="160422"/>
            <a:ext cx="5355952" cy="65291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algn="ctr">
              <a:defRPr sz="2100" b="0" i="0">
                <a:latin typeface="Montserrat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01" y="755424"/>
            <a:ext cx="5545140" cy="625331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1" y="1380755"/>
            <a:ext cx="5545140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1873400"/>
            <a:ext cx="5545140" cy="325438"/>
          </a:xfrm>
        </p:spPr>
        <p:txBody>
          <a:bodyPr/>
          <a:lstStyle>
            <a:lvl1pPr>
              <a:defRPr sz="1575" b="0" i="0">
                <a:latin typeface="Montserrat Light" pitchFamily="2" charset="77"/>
              </a:defRPr>
            </a:lvl1pPr>
            <a:lvl2pPr>
              <a:defRPr/>
            </a:lvl2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6096001" y="2388411"/>
            <a:ext cx="5545139" cy="3129741"/>
          </a:xfrm>
        </p:spPr>
        <p:txBody>
          <a:bodyPr/>
          <a:lstStyle>
            <a:lvl1pPr>
              <a:defRPr kumimoji="0" 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defRPr>
            </a:lvl1pPr>
            <a:lvl2pPr>
              <a:defRPr kumimoji="0" 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defRPr>
            </a:lvl2pPr>
            <a:lvl3pPr marL="214313" indent="-214313"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  <a:latin typeface="Montserrat Light" pitchFamily="2" charset="77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="" xmlns:a16="http://schemas.microsoft.com/office/drawing/2014/main" id="{3F37D2FD-766B-4643-BE8C-63DF5A86FC6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7" y="6089054"/>
            <a:ext cx="1085464" cy="501328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A3E6E78A-2ABF-1749-804B-05E4C6C7C52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518486" y="6145790"/>
            <a:ext cx="4984415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91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Picture Placeholder 14"/>
          <p:cNvSpPr>
            <a:spLocks noGrp="1"/>
          </p:cNvSpPr>
          <p:nvPr>
            <p:ph type="pic" sz="quarter" idx="16"/>
          </p:nvPr>
        </p:nvSpPr>
        <p:spPr>
          <a:xfrm>
            <a:off x="144881" y="175402"/>
            <a:ext cx="5378416" cy="32375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algn="ctr">
              <a:defRPr sz="2100" b="0" i="0">
                <a:latin typeface="Montserrat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11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144881" y="3429000"/>
            <a:ext cx="5378417" cy="32375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algn="ctr">
              <a:defRPr sz="2100" b="0" i="0">
                <a:latin typeface="Montserrat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1" y="755424"/>
            <a:ext cx="5545140" cy="625331"/>
          </a:xfrm>
        </p:spPr>
        <p:txBody>
          <a:bodyPr/>
          <a:lstStyle>
            <a:lvl1pPr>
              <a:defRPr>
                <a:latin typeface="Taviraj Medium" pitchFamily="2" charset="-34"/>
                <a:cs typeface="Taviraj Medium" pitchFamily="2" charset="-34"/>
              </a:defRPr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1" y="1380755"/>
            <a:ext cx="5545140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1873400"/>
            <a:ext cx="5545140" cy="325438"/>
          </a:xfrm>
        </p:spPr>
        <p:txBody>
          <a:bodyPr/>
          <a:lstStyle>
            <a:lvl1pPr>
              <a:defRPr sz="1575" b="0" i="0">
                <a:latin typeface="Montserrat Light" pitchFamily="2" charset="77"/>
              </a:defRPr>
            </a:lvl1pPr>
            <a:lvl2pPr>
              <a:defRPr/>
            </a:lvl2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8"/>
          </p:nvPr>
        </p:nvSpPr>
        <p:spPr>
          <a:xfrm>
            <a:off x="6096001" y="2388411"/>
            <a:ext cx="5545139" cy="3129741"/>
          </a:xfrm>
        </p:spPr>
        <p:txBody>
          <a:bodyPr/>
          <a:lstStyle>
            <a:lvl1pPr>
              <a:defRPr kumimoji="0" 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defRPr>
            </a:lvl1pPr>
            <a:lvl2pPr>
              <a:defRPr kumimoji="0" 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defRPr>
            </a:lvl2pPr>
            <a:lvl3pPr marL="214313" indent="-214313"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  <a:latin typeface="Montserrat Light" pitchFamily="2" charset="77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="" xmlns:a16="http://schemas.microsoft.com/office/drawing/2014/main" id="{AAF27643-36B2-5440-8500-38A12C9D46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7" y="6089054"/>
            <a:ext cx="1085464" cy="501328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9353847B-F8C5-7B47-AAB4-531286E30A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523297" y="6145790"/>
            <a:ext cx="4979603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78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think-cell Slide" r:id="rId4" imgW="270" imgH="270" progId="">
                  <p:embed/>
                </p:oleObj>
              </mc:Choice>
              <mc:Fallback>
                <p:oleObj name="think-cell Slide" r:id="rId4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hart Placeholder 18"/>
          <p:cNvSpPr>
            <a:spLocks noGrp="1"/>
          </p:cNvSpPr>
          <p:nvPr>
            <p:ph type="chart" sz="quarter" idx="17"/>
          </p:nvPr>
        </p:nvSpPr>
        <p:spPr>
          <a:xfrm>
            <a:off x="162444" y="176463"/>
            <a:ext cx="5445125" cy="6529136"/>
          </a:xfrm>
          <a:solidFill>
            <a:schemeClr val="tx2"/>
          </a:solidFill>
          <a:ln/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1" y="755424"/>
            <a:ext cx="5545140" cy="625331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  <a:endParaRPr lang="en-GB" noProof="0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1" y="1380755"/>
            <a:ext cx="5545140" cy="492647"/>
          </a:xfrm>
        </p:spPr>
        <p:txBody>
          <a:bodyPr/>
          <a:lstStyle>
            <a:lvl1pPr>
              <a:defRPr sz="2400" b="0" i="0">
                <a:solidFill>
                  <a:schemeClr val="bg2"/>
                </a:solidFill>
                <a:latin typeface="Taviraj Medium" pitchFamily="2" charset="-34"/>
                <a:cs typeface="Taviraj Medium" pitchFamily="2" charset="-34"/>
              </a:defRPr>
            </a:lvl1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1873400"/>
            <a:ext cx="5545140" cy="325438"/>
          </a:xfrm>
        </p:spPr>
        <p:txBody>
          <a:bodyPr/>
          <a:lstStyle>
            <a:lvl1pPr>
              <a:defRPr sz="1575" b="0" i="0">
                <a:latin typeface="Montserrat Light" pitchFamily="2" charset="77"/>
              </a:defRPr>
            </a:lvl1pPr>
            <a:lvl2pPr>
              <a:defRPr/>
            </a:lvl2pPr>
          </a:lstStyle>
          <a:p>
            <a:pPr lvl="0"/>
            <a:r>
              <a:rPr lang="en-GB" dirty="0"/>
              <a:t>Subtitle 2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096001" y="2388411"/>
            <a:ext cx="5545139" cy="3129741"/>
          </a:xfrm>
        </p:spPr>
        <p:txBody>
          <a:bodyPr/>
          <a:lstStyle>
            <a:lvl1pPr>
              <a:defRPr kumimoji="0" 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defRPr>
            </a:lvl1pPr>
            <a:lvl2pPr>
              <a:defRPr kumimoji="0" 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defRPr>
            </a:lvl2pPr>
            <a:lvl3pPr marL="214313" indent="-214313"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  <a:latin typeface="Montserrat Light" pitchFamily="2" charset="77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="" xmlns:a16="http://schemas.microsoft.com/office/drawing/2014/main" id="{D6138DA5-38F8-2840-80E5-FE144C9C5ED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607569" y="6145790"/>
            <a:ext cx="4895331" cy="36512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3B2182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="" xmlns:a16="http://schemas.microsoft.com/office/drawing/2014/main" id="{EE4EFA3E-2657-304B-B238-B903C0CD3A2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7" y="6089054"/>
            <a:ext cx="1085464" cy="50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vmlDrawing" Target="../drawings/vmlDrawing1.v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C61EB-A2AB-41CF-B39D-79ABDD9D3F1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F2134-F061-4838-AFDB-B3652BFE20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6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398473D-FE78-2445-B209-8333C5195756}"/>
              </a:ext>
            </a:extLst>
          </p:cNvPr>
          <p:cNvSpPr/>
          <p:nvPr userDrawn="1"/>
        </p:nvSpPr>
        <p:spPr>
          <a:xfrm>
            <a:off x="159134" y="168872"/>
            <a:ext cx="11873735" cy="6520259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EC33F"/>
              </a:solidFill>
              <a:latin typeface="Montserrat" pitchFamily="2" charset="77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1"/>
            </p:custDataLst>
            <p:extLst/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think-cell Slide" r:id="rId22" imgW="270" imgH="270" progId="">
                  <p:embed/>
                </p:oleObj>
              </mc:Choice>
              <mc:Fallback>
                <p:oleObj name="think-cell Slide" r:id="rId22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52523" y="701770"/>
            <a:ext cx="11088616" cy="62533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GB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52523" y="1774770"/>
            <a:ext cx="11088616" cy="283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65429" y="6344339"/>
            <a:ext cx="547688" cy="1269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GB" sz="825" smtClean="0">
                <a:solidFill>
                  <a:srgbClr val="3B2182"/>
                </a:solidFill>
                <a:latin typeface="Montserrat" pitchFamily="2" charset="77"/>
              </a:rPr>
              <a:pPr algn="ctr"/>
              <a:t>‹Nº›</a:t>
            </a:fld>
            <a:endParaRPr lang="en-GB" sz="788" dirty="0">
              <a:solidFill>
                <a:srgbClr val="3B2182"/>
              </a:solidFill>
              <a:latin typeface="Montserrat" pitchFamily="2" charset="77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6417F8C3-1F6E-7441-A2A1-0630FF04241F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7" y="6089054"/>
            <a:ext cx="1085464" cy="501328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="" xmlns:a16="http://schemas.microsoft.com/office/drawing/2014/main" id="{93472812-0A7D-C64D-8DCF-6C1ECE151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800" y="6181633"/>
            <a:ext cx="4114800" cy="349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endParaRPr lang="en-US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8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685800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Taviraj Medium" pitchFamily="2" charset="-34"/>
          <a:ea typeface="+mj-ea"/>
          <a:cs typeface="Taviraj Medium" pitchFamily="2" charset="-34"/>
        </a:defRPr>
      </a:lvl1pPr>
    </p:titleStyle>
    <p:bodyStyle>
      <a:lvl1pPr marL="0" indent="0" algn="l" defTabSz="685800" rtl="0" eaLnBrk="1" latinLnBrk="0" hangingPunct="1">
        <a:spcBef>
          <a:spcPts val="450"/>
        </a:spcBef>
        <a:spcAft>
          <a:spcPts val="900"/>
        </a:spcAft>
        <a:buFont typeface="Arial" pitchFamily="34" charset="0"/>
        <a:buNone/>
        <a:defRPr sz="12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214313" indent="-214313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2pPr>
      <a:lvl3pPr marL="0" indent="0" algn="l" defTabSz="685800" rtl="0" eaLnBrk="1" latinLnBrk="0" hangingPunct="1">
        <a:spcBef>
          <a:spcPts val="0"/>
        </a:spcBef>
        <a:spcAft>
          <a:spcPts val="450"/>
        </a:spcAft>
        <a:buFont typeface="Arial" pitchFamily="34" charset="0"/>
        <a:buNone/>
        <a:tabLst/>
        <a:defRPr sz="12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ts val="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ts val="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63" userDrawn="1">
          <p15:clr>
            <a:srgbClr val="F26B43"/>
          </p15:clr>
        </p15:guide>
        <p15:guide id="2" pos="9777" userDrawn="1">
          <p15:clr>
            <a:srgbClr val="F26B43"/>
          </p15:clr>
        </p15:guide>
        <p15:guide id="3" orient="horz" pos="436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41200C-E399-4481-8221-E9986C5E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584" y="332656"/>
            <a:ext cx="8111359" cy="913417"/>
          </a:xfrm>
        </p:spPr>
        <p:txBody>
          <a:bodyPr/>
          <a:lstStyle/>
          <a:p>
            <a:pPr algn="ctr"/>
            <a:r>
              <a:rPr lang="en-US" sz="2800" b="1" dirty="0"/>
              <a:t>Financial </a:t>
            </a:r>
            <a:r>
              <a:rPr lang="en-US" sz="2800" b="1" dirty="0"/>
              <a:t>Feasibility Analysis</a:t>
            </a:r>
            <a:br>
              <a:rPr lang="en-US" sz="2800" b="1" dirty="0"/>
            </a:br>
            <a:r>
              <a:rPr lang="en-US" sz="2800" b="1" dirty="0"/>
              <a:t>(Front-door, Back-door)</a:t>
            </a:r>
            <a:endParaRPr lang="en-US" sz="27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D422FF8-E59F-48A2-97D4-D546B608D8C6}"/>
              </a:ext>
            </a:extLst>
          </p:cNvPr>
          <p:cNvSpPr txBox="1"/>
          <p:nvPr/>
        </p:nvSpPr>
        <p:spPr>
          <a:xfrm>
            <a:off x="911424" y="1484785"/>
            <a:ext cx="71385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3B2182"/>
                </a:solidFill>
              </a:rPr>
              <a:t>In this lecture we present the “Simple </a:t>
            </a:r>
            <a:r>
              <a:rPr lang="en-US" sz="2400" dirty="0" smtClean="0">
                <a:solidFill>
                  <a:srgbClr val="3B2182"/>
                </a:solidFill>
              </a:rPr>
              <a:t>Financial </a:t>
            </a:r>
            <a:r>
              <a:rPr lang="en-US" sz="2400" dirty="0">
                <a:solidFill>
                  <a:srgbClr val="3B2182"/>
                </a:solidFill>
              </a:rPr>
              <a:t>Feasibility Analysis” (SFFA) to analyze the feasibility of a real estate investment. </a:t>
            </a:r>
            <a:endParaRPr lang="en-US" sz="2400" dirty="0">
              <a:solidFill>
                <a:srgbClr val="3B218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3B2182"/>
              </a:solidFill>
            </a:endParaRPr>
          </a:p>
          <a:p>
            <a:pPr>
              <a:defRPr/>
            </a:pPr>
            <a:r>
              <a:rPr lang="en-US" sz="2400" dirty="0">
                <a:solidFill>
                  <a:srgbClr val="3B2182"/>
                </a:solidFill>
              </a:rPr>
              <a:t>This model is also known as “Front Door Back Door”, a term coined by James </a:t>
            </a:r>
            <a:r>
              <a:rPr lang="en-US" sz="2400" dirty="0" err="1">
                <a:solidFill>
                  <a:srgbClr val="3B2182"/>
                </a:solidFill>
              </a:rPr>
              <a:t>Graaskamp</a:t>
            </a:r>
            <a:r>
              <a:rPr lang="en-US" sz="2400" dirty="0">
                <a:solidFill>
                  <a:srgbClr val="3B2182"/>
                </a:solidFill>
              </a:rPr>
              <a:t>.</a:t>
            </a:r>
          </a:p>
          <a:p>
            <a:pPr>
              <a:defRPr/>
            </a:pPr>
            <a:endParaRPr lang="en-US" dirty="0">
              <a:solidFill>
                <a:srgbClr val="3B2182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3B2182"/>
                </a:solidFill>
              </a:rPr>
              <a:t>Reading Material</a:t>
            </a:r>
            <a:r>
              <a:rPr lang="en-US" dirty="0">
                <a:solidFill>
                  <a:srgbClr val="3B2182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3B2182"/>
                </a:solidFill>
              </a:rPr>
              <a:t>Book: Fundamentals of Real Estate Development (pages 243-254), by James </a:t>
            </a:r>
            <a:r>
              <a:rPr lang="en-US" dirty="0" err="1">
                <a:solidFill>
                  <a:srgbClr val="3B2182"/>
                </a:solidFill>
              </a:rPr>
              <a:t>Graaskamp</a:t>
            </a:r>
            <a:endParaRPr lang="en-US" dirty="0">
              <a:solidFill>
                <a:srgbClr val="3B218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3B2182"/>
                </a:solidFill>
              </a:rPr>
              <a:t>Book: Commercial Real Estate Finance and Analysis (Chapter 28.4), by D. </a:t>
            </a:r>
            <a:r>
              <a:rPr lang="en-US" dirty="0" err="1">
                <a:solidFill>
                  <a:srgbClr val="3B2182"/>
                </a:solidFill>
              </a:rPr>
              <a:t>Geltner</a:t>
            </a:r>
            <a:r>
              <a:rPr lang="en-US" dirty="0">
                <a:solidFill>
                  <a:srgbClr val="3B2182"/>
                </a:solidFill>
              </a:rPr>
              <a:t> and N. Miller</a:t>
            </a:r>
          </a:p>
          <a:p>
            <a:pPr>
              <a:defRPr/>
            </a:pPr>
            <a:endParaRPr lang="en-US" dirty="0">
              <a:solidFill>
                <a:srgbClr val="3B2182"/>
              </a:solidFill>
            </a:endParaRPr>
          </a:p>
          <a:p>
            <a:pPr>
              <a:defRPr/>
            </a:pPr>
            <a:endParaRPr lang="en-US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32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41200C-E399-4481-8221-E9986C5E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863" y="404664"/>
            <a:ext cx="8111359" cy="648072"/>
          </a:xfrm>
        </p:spPr>
        <p:txBody>
          <a:bodyPr/>
          <a:lstStyle/>
          <a:p>
            <a:pPr algn="ctr"/>
            <a:r>
              <a:rPr lang="en-US" sz="2800" b="1" dirty="0"/>
              <a:t>Introduction</a:t>
            </a:r>
            <a:endParaRPr lang="en-US" sz="27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D422FF8-E59F-48A2-97D4-D546B608D8C6}"/>
              </a:ext>
            </a:extLst>
          </p:cNvPr>
          <p:cNvSpPr txBox="1"/>
          <p:nvPr/>
        </p:nvSpPr>
        <p:spPr>
          <a:xfrm>
            <a:off x="735013" y="1484785"/>
            <a:ext cx="71161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Model’s </a:t>
            </a:r>
            <a:r>
              <a:rPr lang="en-US" sz="2400" dirty="0"/>
              <a:t>characteristics: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Feasibility based on a single year cash flow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Simple debt and equity capital structure</a:t>
            </a:r>
          </a:p>
          <a:p>
            <a:endParaRPr lang="en-US" sz="2400" dirty="0"/>
          </a:p>
          <a:p>
            <a:r>
              <a:rPr lang="en-US" sz="2400" dirty="0"/>
              <a:t>Shorthand for the way investors talk about real estate investments</a:t>
            </a:r>
          </a:p>
          <a:p>
            <a:endParaRPr lang="en-US" sz="2400" dirty="0"/>
          </a:p>
          <a:p>
            <a:r>
              <a:rPr lang="en-US" sz="2400" dirty="0"/>
              <a:t>We will focus on the Front Door model. Main question is: </a:t>
            </a:r>
            <a:r>
              <a:rPr lang="en-US" sz="2400" i="1" dirty="0"/>
              <a:t>Given project cost, what rents are required?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3B2182"/>
              </a:solidFill>
            </a:endParaRPr>
          </a:p>
          <a:p>
            <a:pPr>
              <a:defRPr/>
            </a:pPr>
            <a:endParaRPr lang="en-US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4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41200C-E399-4481-8221-E9986C5E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863" y="260648"/>
            <a:ext cx="8111359" cy="648072"/>
          </a:xfrm>
        </p:spPr>
        <p:txBody>
          <a:bodyPr/>
          <a:lstStyle/>
          <a:p>
            <a:pPr algn="ctr"/>
            <a:r>
              <a:rPr lang="en-US" sz="2800" dirty="0"/>
              <a:t>Front Door Approach</a:t>
            </a:r>
            <a:endParaRPr lang="en-US" sz="27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D422FF8-E59F-48A2-97D4-D546B608D8C6}"/>
              </a:ext>
            </a:extLst>
          </p:cNvPr>
          <p:cNvSpPr txBox="1"/>
          <p:nvPr/>
        </p:nvSpPr>
        <p:spPr>
          <a:xfrm>
            <a:off x="735013" y="1268761"/>
            <a:ext cx="543299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Front </a:t>
            </a:r>
            <a:r>
              <a:rPr lang="en-US" sz="2400" dirty="0"/>
              <a:t>Door</a:t>
            </a:r>
          </a:p>
          <a:p>
            <a:pPr lvl="1"/>
            <a:r>
              <a:rPr lang="en-US" sz="1600" dirty="0"/>
              <a:t>Given Project Costs</a:t>
            </a:r>
          </a:p>
          <a:p>
            <a:pPr lvl="1"/>
            <a:r>
              <a:rPr lang="en-US" sz="1600" dirty="0"/>
              <a:t>What rent (PGI) is required to make the project feasible</a:t>
            </a:r>
            <a:r>
              <a:rPr lang="en-US" sz="1600" dirty="0"/>
              <a:t>?</a:t>
            </a:r>
          </a:p>
          <a:p>
            <a:pPr lvl="1"/>
            <a:endParaRPr lang="en-US" sz="1600" dirty="0"/>
          </a:p>
          <a:p>
            <a:r>
              <a:rPr lang="en-US" sz="2400" dirty="0"/>
              <a:t>Constraints</a:t>
            </a:r>
          </a:p>
          <a:p>
            <a:pPr lvl="1"/>
            <a:r>
              <a:rPr lang="en-US" sz="1600" dirty="0"/>
              <a:t>Lender Debt Service</a:t>
            </a:r>
          </a:p>
          <a:p>
            <a:pPr lvl="2"/>
            <a:r>
              <a:rPr lang="en-US" sz="1200" dirty="0"/>
              <a:t>Debt Service Coverage Ratio (DSCR)</a:t>
            </a:r>
          </a:p>
          <a:p>
            <a:pPr lvl="1"/>
            <a:r>
              <a:rPr lang="en-US" sz="1600" dirty="0"/>
              <a:t>Equity Investor Dividend</a:t>
            </a:r>
          </a:p>
          <a:p>
            <a:pPr lvl="2"/>
            <a:r>
              <a:rPr lang="en-US" sz="1200" dirty="0"/>
              <a:t>Minimum Equity Dividend Rate (EDR) (a.k.a. Equity Cash-on-Cash (</a:t>
            </a:r>
            <a:r>
              <a:rPr lang="en-US" sz="1200" dirty="0" err="1"/>
              <a:t>CoC</a:t>
            </a:r>
            <a:r>
              <a:rPr lang="en-US" sz="1200" dirty="0"/>
              <a:t>)</a:t>
            </a:r>
          </a:p>
          <a:p>
            <a:pPr lvl="1"/>
            <a:r>
              <a:rPr lang="en-US" sz="1600" dirty="0"/>
              <a:t>Lender Capital Structure:</a:t>
            </a:r>
          </a:p>
          <a:p>
            <a:pPr lvl="2"/>
            <a:r>
              <a:rPr lang="en-US" sz="1200" dirty="0"/>
              <a:t>Maximum Loan-to-Cost/Value (LTV)</a:t>
            </a:r>
          </a:p>
          <a:p>
            <a:endParaRPr lang="en-US" sz="1400" i="1" dirty="0"/>
          </a:p>
          <a:p>
            <a:r>
              <a:rPr lang="en-US" sz="1400" i="1" dirty="0"/>
              <a:t>See </a:t>
            </a:r>
            <a:r>
              <a:rPr lang="en-US" sz="1400" i="1" dirty="0" err="1"/>
              <a:t>Graaskamp</a:t>
            </a:r>
            <a:r>
              <a:rPr lang="en-US" sz="1400" i="1" dirty="0"/>
              <a:t>, Fundamentals of Real Estate Development, page 250</a:t>
            </a:r>
          </a:p>
          <a:p>
            <a:r>
              <a:rPr lang="en-US" sz="2400" i="1" dirty="0"/>
              <a:t> </a:t>
            </a:r>
            <a:endParaRPr lang="en-US" sz="2400" i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3B2182"/>
              </a:solidFill>
            </a:endParaRPr>
          </a:p>
          <a:p>
            <a:pPr>
              <a:defRPr/>
            </a:pPr>
            <a:endParaRPr lang="en-US" dirty="0">
              <a:solidFill>
                <a:srgbClr val="3B2182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2024" y="1268761"/>
            <a:ext cx="3450610" cy="420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uadroTexto 2"/>
          <p:cNvSpPr txBox="1"/>
          <p:nvPr/>
        </p:nvSpPr>
        <p:spPr>
          <a:xfrm>
            <a:off x="7104112" y="5513625"/>
            <a:ext cx="216024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u="sng" dirty="0" err="1"/>
              <a:t>Definitions</a:t>
            </a:r>
            <a:endParaRPr lang="es-ES" sz="1600" b="1" u="sng" dirty="0"/>
          </a:p>
          <a:p>
            <a:pPr algn="ctr"/>
            <a:r>
              <a:rPr lang="es-ES" sz="1600" dirty="0"/>
              <a:t>ADS=PMT*12</a:t>
            </a:r>
          </a:p>
          <a:p>
            <a:pPr algn="ctr"/>
            <a:r>
              <a:rPr lang="es-ES" sz="1600" dirty="0"/>
              <a:t>MC=ADS/loan</a:t>
            </a:r>
          </a:p>
          <a:p>
            <a:pPr algn="ctr"/>
            <a:r>
              <a:rPr lang="es-ES" sz="1600" dirty="0"/>
              <a:t>DSCR=NOI/ADS</a:t>
            </a:r>
          </a:p>
        </p:txBody>
      </p:sp>
    </p:spTree>
    <p:extLst>
      <p:ext uri="{BB962C8B-B14F-4D97-AF65-F5344CB8AC3E}">
        <p14:creationId xmlns:p14="http://schemas.microsoft.com/office/powerpoint/2010/main" val="22586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41200C-E399-4481-8221-E9986C5E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585" y="85254"/>
            <a:ext cx="8111359" cy="648072"/>
          </a:xfrm>
        </p:spPr>
        <p:txBody>
          <a:bodyPr/>
          <a:lstStyle/>
          <a:p>
            <a:pPr algn="ctr"/>
            <a:r>
              <a:rPr lang="en-US" sz="2800" b="1" dirty="0"/>
              <a:t>FD/BD Limitations</a:t>
            </a:r>
            <a:endParaRPr lang="en-US" sz="27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D422FF8-E59F-48A2-97D4-D546B608D8C6}"/>
              </a:ext>
            </a:extLst>
          </p:cNvPr>
          <p:cNvSpPr txBox="1"/>
          <p:nvPr/>
        </p:nvSpPr>
        <p:spPr>
          <a:xfrm>
            <a:off x="735013" y="979468"/>
            <a:ext cx="6708503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Limitations </a:t>
            </a:r>
            <a:r>
              <a:rPr lang="en-US" sz="2400" dirty="0"/>
              <a:t>and shortcomings</a:t>
            </a:r>
          </a:p>
          <a:p>
            <a:pPr lvl="1"/>
            <a:r>
              <a:rPr lang="en-US" sz="1600" dirty="0"/>
              <a:t>Single period, static model</a:t>
            </a:r>
          </a:p>
          <a:p>
            <a:pPr lvl="2"/>
            <a:r>
              <a:rPr lang="en-US" sz="1200" dirty="0"/>
              <a:t>ignores or makes implicit assumptions about market dynamics over time (e.g. supply/demand dynamics, changing cash flows, etc.)</a:t>
            </a:r>
          </a:p>
          <a:p>
            <a:pPr lvl="2"/>
            <a:r>
              <a:rPr lang="en-US" sz="1200" dirty="0"/>
              <a:t>Time value of money; </a:t>
            </a:r>
          </a:p>
          <a:p>
            <a:pPr lvl="2"/>
            <a:r>
              <a:rPr lang="en-US" sz="1200" dirty="0"/>
              <a:t>ignores or makes implicit assumptions about cash flow timing and risks (e.g. construction process risk, deal structuring)</a:t>
            </a:r>
          </a:p>
          <a:p>
            <a:pPr lvl="1"/>
            <a:r>
              <a:rPr lang="en-US" sz="1600" dirty="0"/>
              <a:t>Overly simplistic capital structure</a:t>
            </a:r>
          </a:p>
          <a:p>
            <a:pPr lvl="2"/>
            <a:r>
              <a:rPr lang="en-US" sz="1200" dirty="0"/>
              <a:t>ignores or makes implicit assumptions about debt and equity investment decisions (e.g. project specific risks, EDR versus appreciation, equity and debt structures</a:t>
            </a:r>
            <a:r>
              <a:rPr lang="en-US" sz="1200" dirty="0"/>
              <a:t>)</a:t>
            </a:r>
          </a:p>
          <a:p>
            <a:pPr lvl="2"/>
            <a:endParaRPr lang="en-US" sz="1200" dirty="0"/>
          </a:p>
          <a:p>
            <a:r>
              <a:rPr lang="en-US" sz="2400" dirty="0"/>
              <a:t>Front-door/Back-door model is useful for</a:t>
            </a:r>
          </a:p>
          <a:p>
            <a:pPr lvl="1"/>
            <a:r>
              <a:rPr lang="en-US" sz="1600" dirty="0"/>
              <a:t>“Back of the envelope” screening of opportunities; a starting point for analysis</a:t>
            </a:r>
          </a:p>
          <a:p>
            <a:pPr lvl="1"/>
            <a:r>
              <a:rPr lang="en-US" sz="1600" dirty="0"/>
              <a:t>Understanding and communicating broad dynamics of real estate </a:t>
            </a:r>
            <a:r>
              <a:rPr lang="en-US" sz="1600" dirty="0"/>
              <a:t>markets</a:t>
            </a:r>
          </a:p>
          <a:p>
            <a:pPr lvl="1"/>
            <a:endParaRPr lang="en-US" sz="1600" dirty="0"/>
          </a:p>
          <a:p>
            <a:r>
              <a:rPr lang="en-US" sz="2400" dirty="0"/>
              <a:t>Never use this simplistic model for making actual investment decisions</a:t>
            </a:r>
          </a:p>
          <a:p>
            <a:r>
              <a:rPr lang="en-US" sz="2400" i="1" dirty="0"/>
              <a:t> </a:t>
            </a:r>
            <a:endParaRPr lang="en-US" sz="2400" i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3B2182"/>
              </a:solidFill>
            </a:endParaRPr>
          </a:p>
          <a:p>
            <a:pPr>
              <a:defRPr/>
            </a:pPr>
            <a:endParaRPr lang="en-US" dirty="0">
              <a:solidFill>
                <a:srgbClr val="3B21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97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47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SCP Europe">
  <a:themeElements>
    <a:clrScheme name="ESCP colors 2">
      <a:dk1>
        <a:srgbClr val="3B2182"/>
      </a:dk1>
      <a:lt1>
        <a:srgbClr val="FEC33F"/>
      </a:lt1>
      <a:dk2>
        <a:srgbClr val="8C9EB8"/>
      </a:dk2>
      <a:lt2>
        <a:srgbClr val="A58E7C"/>
      </a:lt2>
      <a:accent1>
        <a:srgbClr val="FEFFFE"/>
      </a:accent1>
      <a:accent2>
        <a:srgbClr val="3B2182"/>
      </a:accent2>
      <a:accent3>
        <a:srgbClr val="FEFFFE"/>
      </a:accent3>
      <a:accent4>
        <a:srgbClr val="8C9EB8"/>
      </a:accent4>
      <a:accent5>
        <a:srgbClr val="A58E7C"/>
      </a:accent5>
      <a:accent6>
        <a:srgbClr val="3B2182"/>
      </a:accent6>
      <a:hlink>
        <a:srgbClr val="FEC33F"/>
      </a:hlink>
      <a:folHlink>
        <a:srgbClr val="8C9EB8"/>
      </a:folHlink>
    </a:clrScheme>
    <a:fontScheme name="ESCP Fonts">
      <a:majorFont>
        <a:latin typeface="Andes Condensed Bold"/>
        <a:ea typeface=""/>
        <a:cs typeface=""/>
      </a:majorFont>
      <a:minorFont>
        <a:latin typeface="Andes Condensed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 cmpd="sng" algn="ctr">
          <a:noFill/>
          <a:prstDash val="solid"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FFFFFF"/>
              </a:solidFill>
              <a:prstDash val="solid"/>
            </a14:hiddenLine>
          </a:ext>
        </a:extLst>
      </a:spPr>
      <a:bodyPr rtlCol="0" anchor="ctr"/>
      <a:lstStyle>
        <a:defPPr algn="ctr">
          <a:defRPr sz="160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_16x9_STANDARD" id="{B8CDC71F-49EF-FC43-ADCE-2AAFA175D345}" vid="{74C5D050-C14E-EA41-8C7F-64D69707BCB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339</Words>
  <Application>Microsoft Office PowerPoint</Application>
  <PresentationFormat>Panorámica</PresentationFormat>
  <Paragraphs>50</Paragraphs>
  <Slides>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5" baseType="lpstr">
      <vt:lpstr>Andes Condensed Book</vt:lpstr>
      <vt:lpstr>Arial</vt:lpstr>
      <vt:lpstr>Calibri</vt:lpstr>
      <vt:lpstr>Montserrat</vt:lpstr>
      <vt:lpstr>Montserrat Light</vt:lpstr>
      <vt:lpstr>Taviraj Medium</vt:lpstr>
      <vt:lpstr>Times New Roman</vt:lpstr>
      <vt:lpstr>Office Theme</vt:lpstr>
      <vt:lpstr>ESCP Europe</vt:lpstr>
      <vt:lpstr>think-cell Slide</vt:lpstr>
      <vt:lpstr>Financial Feasibility Analysis (Front-door, Back-door)</vt:lpstr>
      <vt:lpstr>Introduction</vt:lpstr>
      <vt:lpstr>Front Door Approach</vt:lpstr>
      <vt:lpstr>FD/BD Limitations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for this class</dc:title>
  <dc:creator>Jaime Pérez Luque</dc:creator>
  <cp:lastModifiedBy>Windows User</cp:lastModifiedBy>
  <cp:revision>22</cp:revision>
  <dcterms:created xsi:type="dcterms:W3CDTF">2019-01-28T06:24:24Z</dcterms:created>
  <dcterms:modified xsi:type="dcterms:W3CDTF">2021-05-12T09:31:06Z</dcterms:modified>
</cp:coreProperties>
</file>