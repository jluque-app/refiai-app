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9977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i+Qoimfzv4tykP+8VLATsZOuG3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032641" cy="46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542" y="0"/>
            <a:ext cx="3032641" cy="46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8818595"/>
            <a:ext cx="3032641" cy="463571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542" y="8818595"/>
            <a:ext cx="3032641" cy="463571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 txBox="1"/>
          <p:nvPr>
            <p:ph idx="12" type="sldNum"/>
          </p:nvPr>
        </p:nvSpPr>
        <p:spPr>
          <a:xfrm>
            <a:off x="3963542" y="8818595"/>
            <a:ext cx="3032641" cy="463571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/>
          <p:nvPr>
            <p:ph idx="1" type="body"/>
          </p:nvPr>
        </p:nvSpPr>
        <p:spPr>
          <a:xfrm>
            <a:off x="700075" y="4410065"/>
            <a:ext cx="5597553" cy="4176744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5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bg>
      <p:bgPr>
        <a:solidFill>
          <a:schemeClr val="lt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Verdana"/>
              <a:buChar char="•"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Verdana"/>
              <a:buChar char="–"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Verdana"/>
              <a:buChar char="•"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»"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27"/>
          <p:cNvSpPr/>
          <p:nvPr/>
        </p:nvSpPr>
        <p:spPr>
          <a:xfrm flipH="1" rot="10800000">
            <a:off x="575897" y="801688"/>
            <a:ext cx="7979019" cy="123111"/>
          </a:xfrm>
          <a:prstGeom prst="rect">
            <a:avLst/>
          </a:prstGeom>
          <a:gradFill>
            <a:gsLst>
              <a:gs pos="0">
                <a:srgbClr val="969968">
                  <a:alpha val="31764"/>
                </a:srgbClr>
              </a:gs>
              <a:gs pos="100000">
                <a:srgbClr val="94976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7"/>
          <p:cNvSpPr txBox="1"/>
          <p:nvPr/>
        </p:nvSpPr>
        <p:spPr>
          <a:xfrm flipH="1">
            <a:off x="575875" y="801675"/>
            <a:ext cx="7979019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8" name="Google Shape;28;p27"/>
          <p:cNvCxnSpPr/>
          <p:nvPr/>
        </p:nvCxnSpPr>
        <p:spPr>
          <a:xfrm>
            <a:off x="578827" y="784225"/>
            <a:ext cx="7976088" cy="1588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Users\MSchneidler\Desktop\AW_20090219_#10552_Logo GLL Real Estate Partners.TIF" id="29" name="Google Shape;2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9242" y="6303119"/>
            <a:ext cx="1375673" cy="28824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7"/>
          <p:cNvSpPr txBox="1"/>
          <p:nvPr/>
        </p:nvSpPr>
        <p:spPr>
          <a:xfrm>
            <a:off x="472613" y="6402162"/>
            <a:ext cx="185962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October 18</a:t>
            </a:r>
            <a:r>
              <a:rPr b="0" baseline="30000" i="0" lang="en-U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, 2013</a:t>
            </a:r>
            <a:endParaRPr sz="11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9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0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1" name="Google Shape;51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31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0" name="Google Shape;60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1" name="Google Shape;61;p33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3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5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1" type="ftr"/>
          </p:nvPr>
        </p:nvSpPr>
        <p:spPr>
          <a:xfrm>
            <a:off x="457200" y="6537326"/>
            <a:ext cx="6035040" cy="320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Real Estate Capital Structures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b="1" lang="en-US"/>
              <a:t>The Case for Using Debt and Common Capital Structures</a:t>
            </a:r>
            <a:endParaRPr/>
          </a:p>
        </p:txBody>
      </p:sp>
      <p:sp>
        <p:nvSpPr>
          <p:cNvPr id="86" name="Google Shape;86;p1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/>
              <a:t>Why Use Debt in Real Estate Investment?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Limited Capital (“Equity Capital Constraint”)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Leverage Expertise (“human capital”)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Diversification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Other Considerations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Create Investment Products Matching Risk and Return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Incentive and Disciplinary Tool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Debt and Liquidity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Debt and Inflation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/>
              <a:t>Capital Structures in Real Estate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First Mortgage Debt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Second Mortgage Debt (“Junior” or “Mezzanine” Debt)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Preferred Equity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Common Equity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Capital Partner</a:t>
            </a:r>
            <a:endParaRPr/>
          </a:p>
          <a:p>
            <a:pPr indent="-228600" lvl="2" marL="1143000" rtl="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Expertise/Entrepreneurial Partner</a:t>
            </a:r>
            <a:endParaRPr sz="1400"/>
          </a:p>
        </p:txBody>
      </p:sp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Introduction: Project (Asset) Level Financing in Real Estate</a:t>
            </a:r>
            <a:endParaRPr b="1" sz="4000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981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Much </a:t>
            </a:r>
            <a:r>
              <a:rPr b="1" i="1" lang="en-US" sz="1600"/>
              <a:t>real estate finance occurs at the micro-level of individual investments </a:t>
            </a:r>
            <a:r>
              <a:rPr lang="en-US" sz="1600"/>
              <a:t>in properties, projects, or “deals ." 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(As opposed to entity level financing, as in corporate finance)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Why is it so common in Real Estate?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By nature</a:t>
            </a:r>
            <a:r>
              <a:rPr b="1" lang="en-US" sz="1600">
                <a:solidFill>
                  <a:srgbClr val="0000FF"/>
                </a:solidFill>
              </a:rPr>
              <a:t>, real estate is asset-heavy, labor/management-light</a:t>
            </a:r>
            <a:br>
              <a:rPr lang="en-US" sz="1600"/>
            </a:br>
            <a:r>
              <a:rPr lang="en-US" sz="1600"/>
              <a:t>(</a:t>
            </a:r>
            <a:r>
              <a:rPr b="1" i="1" lang="en-US" sz="1600"/>
              <a:t>value tied to assets </a:t>
            </a:r>
            <a:r>
              <a:rPr lang="en-US" sz="1600"/>
              <a:t>more so than human or intellectual capital)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Much real estate investment is still done directly by </a:t>
            </a:r>
            <a:r>
              <a:rPr b="1" i="1" lang="en-US" sz="1600">
                <a:solidFill>
                  <a:srgbClr val="0000FF"/>
                </a:solidFill>
              </a:rPr>
              <a:t>individuals or small entrepreneurial firms</a:t>
            </a:r>
            <a:r>
              <a:rPr b="1" lang="en-US" sz="1600">
                <a:solidFill>
                  <a:srgbClr val="0000FF"/>
                </a:solidFill>
              </a:rPr>
              <a:t>. 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Also, real estate assets are relatively </a:t>
            </a:r>
            <a:r>
              <a:rPr b="1" i="1" lang="en-US" sz="1600">
                <a:solidFill>
                  <a:srgbClr val="0000FF"/>
                </a:solidFill>
              </a:rPr>
              <a:t>simple, tangible and “transparent</a:t>
            </a:r>
            <a:r>
              <a:rPr b="1" i="1" lang="en-US" sz="1600"/>
              <a:t>”: </a:t>
            </a:r>
            <a:r>
              <a:rPr lang="en-US" sz="1600"/>
              <a:t>Makes them </a:t>
            </a:r>
            <a:r>
              <a:rPr b="1" i="1" lang="en-US" sz="1600">
                <a:solidFill>
                  <a:srgbClr val="0000FF"/>
                </a:solidFill>
              </a:rPr>
              <a:t>ideal candidates for secured debt </a:t>
            </a:r>
            <a:r>
              <a:rPr lang="en-US" sz="1600"/>
              <a:t>and other types of project-level financing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External investors need to feel confident that they know what is going on in the investment even if they don’t have direct management control or highly specialized expertise.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Also, </a:t>
            </a:r>
            <a:r>
              <a:rPr b="1" i="1" lang="en-US" sz="1600">
                <a:solidFill>
                  <a:srgbClr val="0000FF"/>
                </a:solidFill>
              </a:rPr>
              <a:t>the law governing real property rights facilitates this type of finance</a:t>
            </a:r>
            <a:r>
              <a:rPr lang="en-US" sz="1600"/>
              <a:t>.</a:t>
            </a:r>
            <a:endParaRPr/>
          </a:p>
        </p:txBody>
      </p:sp>
      <p:sp>
        <p:nvSpPr>
          <p:cNvPr id="100" name="Google Shape;100;p3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Use Debt?</a:t>
            </a:r>
            <a:br>
              <a:rPr lang="en-US"/>
            </a:br>
            <a:r>
              <a:rPr lang="en-US"/>
              <a:t>If You have Limited Capital…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 sz="2000">
                <a:solidFill>
                  <a:srgbClr val="FF0000"/>
                </a:solidFill>
              </a:rPr>
              <a:t>Human Capital </a:t>
            </a:r>
            <a:r>
              <a:rPr lang="en-US" sz="2000"/>
              <a:t>– Different players in the real estate industry have different skills and investment requirements. </a:t>
            </a:r>
            <a:r>
              <a:rPr b="1" lang="en-US" sz="2000">
                <a:solidFill>
                  <a:srgbClr val="0000FF"/>
                </a:solidFill>
              </a:rPr>
              <a:t>Some individuals posses human capital in their ability to manage or develop commercial real estate. </a:t>
            </a:r>
            <a:r>
              <a:rPr lang="en-US" sz="2000"/>
              <a:t>Highly specialized and focused:</a:t>
            </a:r>
            <a:endParaRPr/>
          </a:p>
          <a:p>
            <a:pPr indent="-342900" lvl="3" marL="8001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/>
              <a:t>Development Expertise</a:t>
            </a:r>
            <a:endParaRPr/>
          </a:p>
          <a:p>
            <a:pPr indent="-342900" lvl="3" marL="8001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/>
              <a:t>Operational Expertise</a:t>
            </a:r>
            <a:endParaRPr/>
          </a:p>
          <a:p>
            <a:pPr indent="-342900" lvl="3" marL="8001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/>
              <a:t>Asset Management Expertise</a:t>
            </a:r>
            <a:endParaRPr/>
          </a:p>
          <a:p>
            <a:pPr indent="-342900" lvl="3" marL="8001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/>
              <a:t>Capital/Wealth Management Expertise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If these players have limited capital, they can’t fully exploit their expertise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b="1" lang="en-US" sz="2000">
                <a:solidFill>
                  <a:srgbClr val="0000FF"/>
                </a:solidFill>
              </a:rPr>
              <a:t>Debt creates opportunity for industry experts to deploy their skills across more assets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b="1" lang="en-US" sz="2000">
                <a:solidFill>
                  <a:srgbClr val="0000FF"/>
                </a:solidFill>
              </a:rPr>
              <a:t>E.g., Resort hotel</a:t>
            </a:r>
            <a:endParaRPr b="1" sz="2000">
              <a:solidFill>
                <a:srgbClr val="0000FF"/>
              </a:solidFill>
            </a:endParaRPr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Use Debt?</a:t>
            </a:r>
            <a:br>
              <a:rPr lang="en-US"/>
            </a:br>
            <a:r>
              <a:rPr lang="en-US"/>
              <a:t>If You have Limited Capital…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</a:rPr>
              <a:t>Diversification</a:t>
            </a:r>
            <a:r>
              <a:rPr lang="en-US" sz="2400"/>
              <a:t> – By using debt, an equity investor with limited capital can invest in a diversified portfolio or real estate assets: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Geographic/Market Diversification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Property Type Diversification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400">
                <a:solidFill>
                  <a:srgbClr val="0000FF"/>
                </a:solidFill>
              </a:rPr>
              <a:t>Example</a:t>
            </a:r>
            <a:r>
              <a:rPr lang="en-US" sz="2400"/>
              <a:t>: Without the use of debt, $10m worth of equity can only purchase two $5m properties. With the use of 75%LTV ratio debt, the same $10m equity can be diversified across eight different $5m properties.</a:t>
            </a:r>
            <a:endParaRPr/>
          </a:p>
        </p:txBody>
      </p:sp>
      <p:sp>
        <p:nvSpPr>
          <p:cNvPr id="114" name="Google Shape;114;p5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71" y="1488332"/>
            <a:ext cx="8455207" cy="4659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6"/>
          <p:cNvGrpSpPr/>
          <p:nvPr/>
        </p:nvGrpSpPr>
        <p:grpSpPr>
          <a:xfrm>
            <a:off x="5990773" y="4155630"/>
            <a:ext cx="118074" cy="120074"/>
            <a:chOff x="8016841" y="5072624"/>
            <a:chExt cx="64583" cy="80044"/>
          </a:xfrm>
        </p:grpSpPr>
        <p:sp>
          <p:nvSpPr>
            <p:cNvPr id="121" name="Google Shape;121;p6"/>
            <p:cNvSpPr/>
            <p:nvPr/>
          </p:nvSpPr>
          <p:spPr>
            <a:xfrm>
              <a:off x="8023720" y="5089925"/>
              <a:ext cx="57704" cy="62743"/>
            </a:xfrm>
            <a:prstGeom prst="ellipse">
              <a:avLst/>
            </a:prstGeom>
            <a:solidFill>
              <a:srgbClr val="6F6C00"/>
            </a:solidFill>
            <a:ln cap="flat" cmpd="sng" w="25400">
              <a:solidFill>
                <a:srgbClr val="3A3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8016841" y="5072624"/>
              <a:ext cx="57704" cy="62743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3237117" y="3070168"/>
            <a:ext cx="1697196" cy="830997"/>
            <a:chOff x="3237117" y="3070168"/>
            <a:chExt cx="1697196" cy="830997"/>
          </a:xfrm>
        </p:grpSpPr>
        <p:grpSp>
          <p:nvGrpSpPr>
            <p:cNvPr id="124" name="Google Shape;124;p6"/>
            <p:cNvGrpSpPr/>
            <p:nvPr/>
          </p:nvGrpSpPr>
          <p:grpSpPr>
            <a:xfrm>
              <a:off x="4500146" y="3607674"/>
              <a:ext cx="118162" cy="120053"/>
              <a:chOff x="8016793" y="5072638"/>
              <a:chExt cx="64631" cy="80030"/>
            </a:xfrm>
          </p:grpSpPr>
          <p:sp>
            <p:nvSpPr>
              <p:cNvPr id="125" name="Google Shape;125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00003A"/>
              </a:solidFill>
              <a:ln cap="flat" cmpd="sng" w="25400">
                <a:solidFill>
                  <a:srgbClr val="0000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0000CC"/>
              </a:solidFill>
              <a:ln cap="flat" cmpd="sng" w="254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" name="Google Shape;127;p6"/>
            <p:cNvSpPr/>
            <p:nvPr/>
          </p:nvSpPr>
          <p:spPr>
            <a:xfrm>
              <a:off x="3237117" y="3070168"/>
              <a:ext cx="169719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Kansas City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.960</a:t>
              </a:r>
              <a:endParaRPr b="1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4745470" y="1984812"/>
            <a:ext cx="1655710" cy="951050"/>
            <a:chOff x="4745470" y="1984812"/>
            <a:chExt cx="1655710" cy="951050"/>
          </a:xfrm>
        </p:grpSpPr>
        <p:grpSp>
          <p:nvGrpSpPr>
            <p:cNvPr id="129" name="Google Shape;129;p6"/>
            <p:cNvGrpSpPr/>
            <p:nvPr/>
          </p:nvGrpSpPr>
          <p:grpSpPr>
            <a:xfrm>
              <a:off x="5507912" y="2815809"/>
              <a:ext cx="118162" cy="120053"/>
              <a:chOff x="8016793" y="5072638"/>
              <a:chExt cx="64631" cy="80030"/>
            </a:xfrm>
          </p:grpSpPr>
          <p:sp>
            <p:nvSpPr>
              <p:cNvPr id="130" name="Google Shape;130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00003A"/>
              </a:solidFill>
              <a:ln cap="flat" cmpd="sng" w="25400">
                <a:solidFill>
                  <a:srgbClr val="0000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0000CC"/>
              </a:solidFill>
              <a:ln cap="flat" cmpd="sng" w="254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" name="Google Shape;132;p6"/>
            <p:cNvSpPr/>
            <p:nvPr/>
          </p:nvSpPr>
          <p:spPr>
            <a:xfrm>
              <a:off x="4745470" y="1984812"/>
              <a:ext cx="165571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Milwaukee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9.58</a:t>
              </a:r>
              <a:endParaRPr b="1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6"/>
          <p:cNvGrpSpPr/>
          <p:nvPr/>
        </p:nvGrpSpPr>
        <p:grpSpPr>
          <a:xfrm>
            <a:off x="4906435" y="3534306"/>
            <a:ext cx="1433406" cy="830997"/>
            <a:chOff x="4906435" y="3534306"/>
            <a:chExt cx="1433406" cy="830997"/>
          </a:xfrm>
        </p:grpSpPr>
        <p:grpSp>
          <p:nvGrpSpPr>
            <p:cNvPr id="134" name="Google Shape;134;p6"/>
            <p:cNvGrpSpPr/>
            <p:nvPr/>
          </p:nvGrpSpPr>
          <p:grpSpPr>
            <a:xfrm>
              <a:off x="5160716" y="4113479"/>
              <a:ext cx="118162" cy="120053"/>
              <a:chOff x="8016793" y="5072638"/>
              <a:chExt cx="64631" cy="80030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00003A"/>
              </a:solidFill>
              <a:ln cap="flat" cmpd="sng" w="25400">
                <a:solidFill>
                  <a:srgbClr val="0000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0000CC"/>
              </a:solidFill>
              <a:ln cap="flat" cmpd="sng" w="254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" name="Google Shape;137;p6"/>
            <p:cNvSpPr/>
            <p:nvPr/>
          </p:nvSpPr>
          <p:spPr>
            <a:xfrm>
              <a:off x="4906435" y="3534306"/>
              <a:ext cx="143340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Memphis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.965</a:t>
              </a:r>
              <a:endParaRPr b="1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6"/>
          <p:cNvGrpSpPr/>
          <p:nvPr/>
        </p:nvGrpSpPr>
        <p:grpSpPr>
          <a:xfrm>
            <a:off x="5776904" y="4952650"/>
            <a:ext cx="1345240" cy="920858"/>
            <a:chOff x="5776904" y="4952650"/>
            <a:chExt cx="1345240" cy="920858"/>
          </a:xfrm>
        </p:grpSpPr>
        <p:grpSp>
          <p:nvGrpSpPr>
            <p:cNvPr id="139" name="Google Shape;139;p6"/>
            <p:cNvGrpSpPr/>
            <p:nvPr/>
          </p:nvGrpSpPr>
          <p:grpSpPr>
            <a:xfrm>
              <a:off x="6449524" y="4952650"/>
              <a:ext cx="118162" cy="120053"/>
              <a:chOff x="8016793" y="5072638"/>
              <a:chExt cx="64631" cy="80030"/>
            </a:xfrm>
          </p:grpSpPr>
          <p:sp>
            <p:nvSpPr>
              <p:cNvPr id="140" name="Google Shape;140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00003A"/>
              </a:solidFill>
              <a:ln cap="flat" cmpd="sng" w="25400">
                <a:solidFill>
                  <a:srgbClr val="0000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0000CC"/>
              </a:solidFill>
              <a:ln cap="flat" cmpd="sng" w="254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6"/>
            <p:cNvSpPr/>
            <p:nvPr/>
          </p:nvSpPr>
          <p:spPr>
            <a:xfrm>
              <a:off x="5776904" y="5042511"/>
              <a:ext cx="134524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Orlando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.970</a:t>
              </a:r>
              <a:endParaRPr b="1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6"/>
          <p:cNvSpPr/>
          <p:nvPr/>
        </p:nvSpPr>
        <p:spPr>
          <a:xfrm>
            <a:off x="629485" y="1417725"/>
            <a:ext cx="53101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rPr>
              <a:t>Markets with the highest correlation…</a:t>
            </a:r>
            <a:endParaRPr/>
          </a:p>
        </p:txBody>
      </p:sp>
      <p:grpSp>
        <p:nvGrpSpPr>
          <p:cNvPr id="144" name="Google Shape;144;p6"/>
          <p:cNvGrpSpPr/>
          <p:nvPr/>
        </p:nvGrpSpPr>
        <p:grpSpPr>
          <a:xfrm>
            <a:off x="2870994" y="3237563"/>
            <a:ext cx="1140825" cy="830997"/>
            <a:chOff x="2870994" y="3237563"/>
            <a:chExt cx="1140825" cy="830997"/>
          </a:xfrm>
        </p:grpSpPr>
        <p:grpSp>
          <p:nvGrpSpPr>
            <p:cNvPr id="145" name="Google Shape;145;p6"/>
            <p:cNvGrpSpPr/>
            <p:nvPr/>
          </p:nvGrpSpPr>
          <p:grpSpPr>
            <a:xfrm>
              <a:off x="3015256" y="3691893"/>
              <a:ext cx="118162" cy="120053"/>
              <a:chOff x="8016793" y="5072638"/>
              <a:chExt cx="64631" cy="80030"/>
            </a:xfrm>
          </p:grpSpPr>
          <p:sp>
            <p:nvSpPr>
              <p:cNvPr id="146" name="Google Shape;146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E1716"/>
              </a:solidFill>
              <a:ln cap="flat" cmpd="sng" w="25400">
                <a:solidFill>
                  <a:srgbClr val="3E17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6"/>
            <p:cNvSpPr/>
            <p:nvPr/>
          </p:nvSpPr>
          <p:spPr>
            <a:xfrm>
              <a:off x="2870994" y="3237563"/>
              <a:ext cx="114082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Denver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.441</a:t>
              </a:r>
              <a:endParaRPr b="1" sz="2400" cap="none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6"/>
          <p:cNvGrpSpPr/>
          <p:nvPr/>
        </p:nvGrpSpPr>
        <p:grpSpPr>
          <a:xfrm>
            <a:off x="6602599" y="4804310"/>
            <a:ext cx="1065568" cy="830997"/>
            <a:chOff x="6602599" y="4804310"/>
            <a:chExt cx="1065568" cy="830997"/>
          </a:xfrm>
        </p:grpSpPr>
        <p:grpSp>
          <p:nvGrpSpPr>
            <p:cNvPr id="150" name="Google Shape;150;p6"/>
            <p:cNvGrpSpPr/>
            <p:nvPr/>
          </p:nvGrpSpPr>
          <p:grpSpPr>
            <a:xfrm>
              <a:off x="6602599" y="5337957"/>
              <a:ext cx="118162" cy="120053"/>
              <a:chOff x="8016793" y="5072638"/>
              <a:chExt cx="64631" cy="80030"/>
            </a:xfrm>
          </p:grpSpPr>
          <p:sp>
            <p:nvSpPr>
              <p:cNvPr id="151" name="Google Shape;151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E1716"/>
              </a:solidFill>
              <a:ln cap="flat" cmpd="sng" w="25400">
                <a:solidFill>
                  <a:srgbClr val="3E17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" name="Google Shape;153;p6"/>
            <p:cNvSpPr/>
            <p:nvPr/>
          </p:nvSpPr>
          <p:spPr>
            <a:xfrm>
              <a:off x="6629101" y="4804310"/>
              <a:ext cx="103906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Miami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.723</a:t>
              </a:r>
              <a:endParaRPr b="1" sz="2400" cap="none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3556515" y="5193877"/>
            <a:ext cx="1308307" cy="865982"/>
            <a:chOff x="3556515" y="5193877"/>
            <a:chExt cx="1308307" cy="865982"/>
          </a:xfrm>
        </p:grpSpPr>
        <p:grpSp>
          <p:nvGrpSpPr>
            <p:cNvPr id="155" name="Google Shape;155;p6"/>
            <p:cNvGrpSpPr/>
            <p:nvPr/>
          </p:nvGrpSpPr>
          <p:grpSpPr>
            <a:xfrm>
              <a:off x="4085715" y="5193877"/>
              <a:ext cx="118162" cy="120053"/>
              <a:chOff x="8016793" y="5072638"/>
              <a:chExt cx="64631" cy="80030"/>
            </a:xfrm>
          </p:grpSpPr>
          <p:sp>
            <p:nvSpPr>
              <p:cNvPr id="156" name="Google Shape;156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E1716"/>
              </a:solidFill>
              <a:ln cap="flat" cmpd="sng" w="25400">
                <a:solidFill>
                  <a:srgbClr val="3E17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58;p6"/>
            <p:cNvSpPr/>
            <p:nvPr/>
          </p:nvSpPr>
          <p:spPr>
            <a:xfrm>
              <a:off x="3556515" y="5228862"/>
              <a:ext cx="130830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Houston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.404</a:t>
              </a:r>
              <a:endParaRPr b="1" sz="2400" cap="none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6"/>
          <p:cNvSpPr/>
          <p:nvPr/>
        </p:nvSpPr>
        <p:spPr>
          <a:xfrm>
            <a:off x="5258547" y="4222667"/>
            <a:ext cx="11599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Atlanta</a:t>
            </a:r>
            <a:endParaRPr b="1" sz="2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566788" y="960897"/>
            <a:ext cx="7984879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9968"/>
              </a:buClr>
              <a:buSzPct val="100000"/>
              <a:buFont typeface="Arial"/>
              <a:buNone/>
            </a:pPr>
            <a:r>
              <a:rPr lang="en-US" sz="2600">
                <a:solidFill>
                  <a:srgbClr val="969968"/>
                </a:solidFill>
                <a:latin typeface="Arial"/>
                <a:ea typeface="Arial"/>
                <a:cs typeface="Arial"/>
                <a:sym typeface="Arial"/>
              </a:rPr>
              <a:t>What markets have the highest and lowest correlations with Atlanta?</a:t>
            </a:r>
            <a:endParaRPr sz="2600">
              <a:solidFill>
                <a:srgbClr val="9699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6"/>
          <p:cNvGrpSpPr/>
          <p:nvPr/>
        </p:nvGrpSpPr>
        <p:grpSpPr>
          <a:xfrm>
            <a:off x="2663863" y="4554020"/>
            <a:ext cx="1042017" cy="830997"/>
            <a:chOff x="2663863" y="4554020"/>
            <a:chExt cx="1042017" cy="830997"/>
          </a:xfrm>
        </p:grpSpPr>
        <p:sp>
          <p:nvSpPr>
            <p:cNvPr id="162" name="Google Shape;162;p6"/>
            <p:cNvSpPr/>
            <p:nvPr/>
          </p:nvSpPr>
          <p:spPr>
            <a:xfrm>
              <a:off x="2663863" y="4554020"/>
              <a:ext cx="10420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Austin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.750</a:t>
              </a:r>
              <a:endParaRPr b="1" sz="2400" cap="none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" name="Google Shape;163;p6"/>
            <p:cNvGrpSpPr/>
            <p:nvPr/>
          </p:nvGrpSpPr>
          <p:grpSpPr>
            <a:xfrm>
              <a:off x="3564327" y="5133850"/>
              <a:ext cx="118162" cy="120053"/>
              <a:chOff x="8016793" y="5072638"/>
              <a:chExt cx="64631" cy="80030"/>
            </a:xfrm>
          </p:grpSpPr>
          <p:sp>
            <p:nvSpPr>
              <p:cNvPr id="164" name="Google Shape;164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E1716"/>
              </a:solidFill>
              <a:ln cap="flat" cmpd="sng" w="25400">
                <a:solidFill>
                  <a:srgbClr val="3E17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6" name="Google Shape;166;p6"/>
          <p:cNvGrpSpPr/>
          <p:nvPr/>
        </p:nvGrpSpPr>
        <p:grpSpPr>
          <a:xfrm>
            <a:off x="-38912" y="3368869"/>
            <a:ext cx="1979836" cy="830997"/>
            <a:chOff x="-38912" y="3368869"/>
            <a:chExt cx="1979836" cy="830997"/>
          </a:xfrm>
        </p:grpSpPr>
        <p:grpSp>
          <p:nvGrpSpPr>
            <p:cNvPr id="167" name="Google Shape;167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168" name="Google Shape;168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E1716"/>
              </a:solidFill>
              <a:ln cap="flat" cmpd="sng" w="25400">
                <a:solidFill>
                  <a:srgbClr val="3E17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6"/>
            <p:cNvSpPr/>
            <p:nvPr/>
          </p:nvSpPr>
          <p:spPr>
            <a:xfrm>
              <a:off x="-38912" y="3368869"/>
              <a:ext cx="197983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San Francisco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0000"/>
                  </a:solidFill>
                  <a:latin typeface="Arial"/>
                  <a:ea typeface="Arial"/>
                  <a:cs typeface="Arial"/>
                  <a:sym typeface="Arial"/>
                </a:rPr>
                <a:t>.619</a:t>
              </a:r>
              <a:endParaRPr b="1" sz="2400" cap="none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6"/>
          <p:cNvSpPr txBox="1"/>
          <p:nvPr/>
        </p:nvSpPr>
        <p:spPr>
          <a:xfrm>
            <a:off x="2879064" y="6387215"/>
            <a:ext cx="3081013" cy="26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i="1"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Source: GLL Analysis using REIS Data (Market Rent)</a:t>
            </a:r>
            <a:endParaRPr i="1"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93067" y="1417725"/>
            <a:ext cx="5685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80000"/>
                </a:solidFill>
                <a:latin typeface="Arial"/>
                <a:ea typeface="Arial"/>
                <a:cs typeface="Arial"/>
                <a:sym typeface="Arial"/>
              </a:rPr>
              <a:t>Markets with the lowest correlation…</a:t>
            </a:r>
            <a:endParaRPr b="1" sz="2400" cap="none">
              <a:solidFill>
                <a:srgbClr val="C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6"/>
          <p:cNvGrpSpPr/>
          <p:nvPr/>
        </p:nvGrpSpPr>
        <p:grpSpPr>
          <a:xfrm>
            <a:off x="6423269" y="4265879"/>
            <a:ext cx="1766316" cy="830997"/>
            <a:chOff x="6270869" y="4113479"/>
            <a:chExt cx="1766316" cy="830997"/>
          </a:xfrm>
        </p:grpSpPr>
        <p:grpSp>
          <p:nvGrpSpPr>
            <p:cNvPr id="174" name="Google Shape;174;p6"/>
            <p:cNvGrpSpPr/>
            <p:nvPr/>
          </p:nvGrpSpPr>
          <p:grpSpPr>
            <a:xfrm>
              <a:off x="6436860" y="4701453"/>
              <a:ext cx="118162" cy="120053"/>
              <a:chOff x="8016793" y="5072638"/>
              <a:chExt cx="64631" cy="80030"/>
            </a:xfrm>
          </p:grpSpPr>
          <p:sp>
            <p:nvSpPr>
              <p:cNvPr id="175" name="Google Shape;175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00003A"/>
              </a:solidFill>
              <a:ln cap="flat" cmpd="sng" w="25400">
                <a:solidFill>
                  <a:srgbClr val="0000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0000CC"/>
              </a:solidFill>
              <a:ln cap="flat" cmpd="sng" w="25400">
                <a:solidFill>
                  <a:srgbClr val="0000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6"/>
            <p:cNvSpPr/>
            <p:nvPr/>
          </p:nvSpPr>
          <p:spPr>
            <a:xfrm>
              <a:off x="6270869" y="4113479"/>
              <a:ext cx="176631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Jacksonville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6267"/>
                  </a:solidFill>
                  <a:latin typeface="Arial"/>
                  <a:ea typeface="Arial"/>
                  <a:cs typeface="Arial"/>
                  <a:sym typeface="Arial"/>
                </a:rPr>
                <a:t>.969</a:t>
              </a:r>
              <a:endParaRPr b="1" sz="2400">
                <a:solidFill>
                  <a:srgbClr val="E1626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6"/>
          <p:cNvSpPr/>
          <p:nvPr/>
        </p:nvSpPr>
        <p:spPr>
          <a:xfrm>
            <a:off x="539780" y="1417725"/>
            <a:ext cx="5685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Correlation with select major markets…</a:t>
            </a:r>
            <a:endParaRPr b="1" sz="2400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6"/>
          <p:cNvGrpSpPr/>
          <p:nvPr/>
        </p:nvGrpSpPr>
        <p:grpSpPr>
          <a:xfrm>
            <a:off x="6417795" y="2104865"/>
            <a:ext cx="1447192" cy="830997"/>
            <a:chOff x="-831213" y="3370524"/>
            <a:chExt cx="1447192" cy="830997"/>
          </a:xfrm>
        </p:grpSpPr>
        <p:grpSp>
          <p:nvGrpSpPr>
            <p:cNvPr id="180" name="Google Shape;180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181" name="Google Shape;181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F3F3F"/>
              </a:solidFill>
              <a:ln cap="flat" cmpd="sng" w="25400">
                <a:solidFill>
                  <a:srgbClr val="3F3F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7F7F7F"/>
              </a:solidFill>
              <a:ln cap="flat" cmpd="sng" w="254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" name="Google Shape;183;p6"/>
            <p:cNvSpPr/>
            <p:nvPr/>
          </p:nvSpPr>
          <p:spPr>
            <a:xfrm>
              <a:off x="-831213" y="3370524"/>
              <a:ext cx="144719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New York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.786</a:t>
              </a:r>
              <a:endParaRPr b="1" sz="2400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7983739" y="1784880"/>
            <a:ext cx="1152856" cy="830997"/>
            <a:chOff x="356124" y="3368869"/>
            <a:chExt cx="1152856" cy="830997"/>
          </a:xfrm>
        </p:grpSpPr>
        <p:grpSp>
          <p:nvGrpSpPr>
            <p:cNvPr id="185" name="Google Shape;185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F3F3F"/>
              </a:solidFill>
              <a:ln cap="flat" cmpd="sng" w="25400">
                <a:solidFill>
                  <a:srgbClr val="3F3F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7F7F7F"/>
              </a:solidFill>
              <a:ln cap="flat" cmpd="sng" w="254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6"/>
            <p:cNvSpPr/>
            <p:nvPr/>
          </p:nvSpPr>
          <p:spPr>
            <a:xfrm>
              <a:off x="393033" y="3368869"/>
              <a:ext cx="111594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Boston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.875</a:t>
              </a:r>
              <a:endParaRPr b="1" sz="2400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>
            <a:off x="6522821" y="3194313"/>
            <a:ext cx="2308324" cy="905068"/>
            <a:chOff x="-262446" y="3901165"/>
            <a:chExt cx="2308324" cy="905068"/>
          </a:xfrm>
        </p:grpSpPr>
        <p:grpSp>
          <p:nvGrpSpPr>
            <p:cNvPr id="190" name="Google Shape;190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191" name="Google Shape;191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F3F3F"/>
              </a:solidFill>
              <a:ln cap="flat" cmpd="sng" w="25400">
                <a:solidFill>
                  <a:srgbClr val="3F3F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7F7F7F"/>
              </a:solidFill>
              <a:ln cap="flat" cmpd="sng" w="254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" name="Google Shape;193;p6"/>
            <p:cNvSpPr/>
            <p:nvPr/>
          </p:nvSpPr>
          <p:spPr>
            <a:xfrm>
              <a:off x="-262446" y="3975236"/>
              <a:ext cx="230832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Washington, DC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.803</a:t>
              </a:r>
              <a:endParaRPr b="1" sz="2400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6"/>
          <p:cNvGrpSpPr/>
          <p:nvPr/>
        </p:nvGrpSpPr>
        <p:grpSpPr>
          <a:xfrm>
            <a:off x="4510895" y="2482502"/>
            <a:ext cx="1220207" cy="830997"/>
            <a:chOff x="-645841" y="3373179"/>
            <a:chExt cx="1220207" cy="830997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196" name="Google Shape;196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F3F3F"/>
              </a:solidFill>
              <a:ln cap="flat" cmpd="sng" w="25400">
                <a:solidFill>
                  <a:srgbClr val="3F3F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7F7F7F"/>
              </a:solidFill>
              <a:ln cap="flat" cmpd="sng" w="254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8" name="Google Shape;198;p6"/>
            <p:cNvSpPr/>
            <p:nvPr/>
          </p:nvSpPr>
          <p:spPr>
            <a:xfrm>
              <a:off x="-645841" y="3373179"/>
              <a:ext cx="122020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Chicago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.923</a:t>
              </a:r>
              <a:endParaRPr b="1" sz="2400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6"/>
          <p:cNvGrpSpPr/>
          <p:nvPr/>
        </p:nvGrpSpPr>
        <p:grpSpPr>
          <a:xfrm>
            <a:off x="-38912" y="3365748"/>
            <a:ext cx="1979836" cy="830997"/>
            <a:chOff x="-38912" y="3368869"/>
            <a:chExt cx="1979836" cy="830997"/>
          </a:xfrm>
        </p:grpSpPr>
        <p:grpSp>
          <p:nvGrpSpPr>
            <p:cNvPr id="200" name="Google Shape;200;p6"/>
            <p:cNvGrpSpPr/>
            <p:nvPr/>
          </p:nvGrpSpPr>
          <p:grpSpPr>
            <a:xfrm>
              <a:off x="356124" y="3901165"/>
              <a:ext cx="118162" cy="120053"/>
              <a:chOff x="8016793" y="5072638"/>
              <a:chExt cx="64631" cy="8003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8023720" y="5089925"/>
                <a:ext cx="57704" cy="62743"/>
              </a:xfrm>
              <a:prstGeom prst="ellipse">
                <a:avLst/>
              </a:prstGeom>
              <a:solidFill>
                <a:srgbClr val="3F3F3F"/>
              </a:solidFill>
              <a:ln cap="flat" cmpd="sng" w="25400">
                <a:solidFill>
                  <a:srgbClr val="3F3F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8016793" y="5072638"/>
                <a:ext cx="57704" cy="62743"/>
              </a:xfrm>
              <a:prstGeom prst="ellipse">
                <a:avLst/>
              </a:prstGeom>
              <a:solidFill>
                <a:srgbClr val="7F7F7F"/>
              </a:solidFill>
              <a:ln cap="flat" cmpd="sng" w="25400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3" name="Google Shape;203;p6"/>
            <p:cNvSpPr/>
            <p:nvPr/>
          </p:nvSpPr>
          <p:spPr>
            <a:xfrm>
              <a:off x="-38912" y="3368869"/>
              <a:ext cx="197983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San Francisco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.619</a:t>
              </a:r>
              <a:endParaRPr b="1" sz="2400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6"/>
          <p:cNvSpPr txBox="1"/>
          <p:nvPr/>
        </p:nvSpPr>
        <p:spPr>
          <a:xfrm>
            <a:off x="570036" y="263729"/>
            <a:ext cx="7984879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9968"/>
              </a:buClr>
              <a:buSzPct val="100000"/>
              <a:buFont typeface="Arial"/>
              <a:buNone/>
            </a:pPr>
            <a:r>
              <a:rPr lang="en-US" sz="2600">
                <a:solidFill>
                  <a:srgbClr val="969968"/>
                </a:solidFill>
                <a:latin typeface="Arial"/>
                <a:ea typeface="Arial"/>
                <a:cs typeface="Arial"/>
                <a:sym typeface="Arial"/>
              </a:rPr>
              <a:t>The Current U.S. Investment Climate – Space Market Analysis</a:t>
            </a:r>
            <a:endParaRPr sz="2600">
              <a:solidFill>
                <a:srgbClr val="96996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to Diversification</a:t>
            </a:r>
            <a:endParaRPr/>
          </a:p>
        </p:txBody>
      </p:sp>
      <p:sp>
        <p:nvSpPr>
          <p:cNvPr id="210" name="Google Shape;21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Alternative opportunities exist – REIT shares, Private Trusts and Partnerships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Management control and governance issues may convince some investors not to look for additional equity partners at a time when they face a given positive NPV opportunity.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Risk Impact of Debt – to be discussed later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Considerations </a:t>
            </a:r>
            <a:br>
              <a:rPr lang="en-US"/>
            </a:br>
            <a:r>
              <a:rPr lang="en-US"/>
              <a:t>in Using Debt in Real Estate</a:t>
            </a:r>
            <a:endParaRPr/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Create Investment Products Matching Risk and Return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Debt as an Incentive and Disciplinary Tool for Management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Debt and Liquidity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Debt and Inflation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218" name="Google Shape;218;p8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Investment Products</a:t>
            </a:r>
            <a:endParaRPr/>
          </a:p>
        </p:txBody>
      </p:sp>
      <p:sp>
        <p:nvSpPr>
          <p:cNvPr id="224" name="Google Shape;22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Investment Capital – A wide variety of investment criteria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Current Income vs. Capital Appreciation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Risk tolerance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Investment Strategies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Investment Time Horizons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Liquidity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Regulation and Supervision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Debt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Lower risk, Income Oriented, fixed horizon investment product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Equity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Higher risk, Growth Oriented, Open horizon investment product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investment nature of a real estate asset varies over the life-stages of an asset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225" name="Google Shape;225;p9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Incentive and Disciplinary Tool</a:t>
            </a:r>
            <a:endParaRPr/>
          </a:p>
        </p:txBody>
      </p:sp>
      <p:sp>
        <p:nvSpPr>
          <p:cNvPr id="231" name="Google Shape;231;p10"/>
          <p:cNvSpPr txBox="1"/>
          <p:nvPr>
            <p:ph idx="1" type="body"/>
          </p:nvPr>
        </p:nvSpPr>
        <p:spPr>
          <a:xfrm>
            <a:off x="457200" y="141763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Real Estate income properties are relatively simple to manage and have limited growth potential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Unleveraged: they create limited incentives for pro-active, value-adding management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With sufficient leverage, equity interests become high risk (high growth instruments) creating incentives for entrepreneurial, value adding management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0000FF"/>
                </a:solidFill>
              </a:rPr>
              <a:t>Example</a:t>
            </a:r>
            <a:r>
              <a:rPr lang="en-US" sz="2800"/>
              <a:t>: 75%LTV debt ratio transforms a 1% return impact into a 4% return impact.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sp>
        <p:nvSpPr>
          <p:cNvPr id="232" name="Google Shape;232;p10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Debt and Liquidity</a:t>
            </a:r>
            <a:endParaRPr/>
          </a:p>
        </p:txBody>
      </p:sp>
      <p:sp>
        <p:nvSpPr>
          <p:cNvPr id="238" name="Google Shape;23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Underlying Real Estate assets are illiquid, requiring considerable time and transaction costs to sell.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Investors can partially “liquidate” their real estate holdings quickly by using debt, freeing capital for other investments opportunities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Creates flexibility and provides options for the investor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/>
              <a:t>Note: Once assets are “fully leveraged,” the opportunity is gone.</a:t>
            </a:r>
            <a:endParaRPr sz="2400"/>
          </a:p>
        </p:txBody>
      </p:sp>
      <p:sp>
        <p:nvSpPr>
          <p:cNvPr id="239" name="Google Shape;239;p11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Debt and Inflation</a:t>
            </a:r>
            <a:endParaRPr/>
          </a:p>
        </p:txBody>
      </p:sp>
      <p:sp>
        <p:nvSpPr>
          <p:cNvPr id="245" name="Google Shape;245;p12"/>
          <p:cNvSpPr txBox="1"/>
          <p:nvPr>
            <p:ph idx="1"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i="1" lang="en-US" sz="1800">
                <a:solidFill>
                  <a:srgbClr val="0000FF"/>
                </a:solidFill>
              </a:rPr>
              <a:t>You do not make money from borrowing when inflation is high </a:t>
            </a:r>
            <a:r>
              <a:rPr lang="en-US" sz="1800"/>
              <a:t>unless the banker does not charge you the market rate for debt. Expected inflation is built into the interest rate charged on debt.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In general </a:t>
            </a:r>
            <a:r>
              <a:rPr b="1" i="1" lang="en-US" sz="1800">
                <a:solidFill>
                  <a:srgbClr val="0000FF"/>
                </a:solidFill>
              </a:rPr>
              <a:t>rents and property values tend to move with inflation</a:t>
            </a:r>
            <a:r>
              <a:rPr lang="en-US" sz="1800"/>
              <a:t>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800">
                <a:solidFill>
                  <a:srgbClr val="0000FF"/>
                </a:solidFill>
              </a:rPr>
              <a:t>Real estate investment with fixed-rate debt has inflation-hedging qualities</a:t>
            </a:r>
            <a:r>
              <a:rPr lang="en-US" sz="1800"/>
              <a:t>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When inflation increases, the “real” cost of a fixed-rate debt decreases and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The return on investment increases so that equity returns increase at the time when in inflation rises. This reverse-inflation risk may be useful to some investors.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Summary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There is no inflation benefit to real estate investment with debt “ex ante” (before the fact).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Real estate investments with fixed rate debt benefit from </a:t>
            </a:r>
            <a:r>
              <a:rPr b="1" i="1" lang="en-US" sz="1800"/>
              <a:t>unexpected</a:t>
            </a:r>
            <a:r>
              <a:rPr lang="en-US" sz="1800"/>
              <a:t> inflation because property cash flow tends to track inflation but debt service remains fixed, enhancing returns.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12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Capital Structure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304800" y="2743200"/>
            <a:ext cx="19812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 Cost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3"/>
          <p:cNvCxnSpPr/>
          <p:nvPr/>
        </p:nvCxnSpPr>
        <p:spPr>
          <a:xfrm flipH="1" rot="10800000">
            <a:off x="2286000" y="22098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4" name="Google Shape;254;p13"/>
          <p:cNvCxnSpPr/>
          <p:nvPr/>
        </p:nvCxnSpPr>
        <p:spPr>
          <a:xfrm>
            <a:off x="2286000" y="2971800"/>
            <a:ext cx="8382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55" name="Google Shape;255;p13"/>
          <p:cNvSpPr txBox="1"/>
          <p:nvPr/>
        </p:nvSpPr>
        <p:spPr>
          <a:xfrm>
            <a:off x="3124200" y="2057400"/>
            <a:ext cx="1447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3124200" y="3733800"/>
            <a:ext cx="1447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5715000" y="3048000"/>
            <a:ext cx="28194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Preferred Equity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5715000" y="38862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Equity-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Partner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13"/>
          <p:cNvCxnSpPr/>
          <p:nvPr/>
        </p:nvCxnSpPr>
        <p:spPr>
          <a:xfrm flipH="1" rot="10800000">
            <a:off x="4572000" y="3200400"/>
            <a:ext cx="1143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60" name="Google Shape;260;p13"/>
          <p:cNvCxnSpPr/>
          <p:nvPr/>
        </p:nvCxnSpPr>
        <p:spPr>
          <a:xfrm>
            <a:off x="4572000" y="39624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1" name="Google Shape;261;p13"/>
          <p:cNvSpPr txBox="1"/>
          <p:nvPr/>
        </p:nvSpPr>
        <p:spPr>
          <a:xfrm>
            <a:off x="5715000" y="1447800"/>
            <a:ext cx="27432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Mortgage Loan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5715000" y="21336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Mortgage Loan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(Mezzanine or Junior)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715000" y="47244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Equity-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Entrepreneurial Partner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3"/>
          <p:cNvCxnSpPr/>
          <p:nvPr/>
        </p:nvCxnSpPr>
        <p:spPr>
          <a:xfrm flipH="1" rot="10800000">
            <a:off x="4572000" y="1676400"/>
            <a:ext cx="1143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65" name="Google Shape;265;p13"/>
          <p:cNvCxnSpPr/>
          <p:nvPr/>
        </p:nvCxnSpPr>
        <p:spPr>
          <a:xfrm>
            <a:off x="4572000" y="2286000"/>
            <a:ext cx="1143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66" name="Google Shape;266;p13"/>
          <p:cNvCxnSpPr/>
          <p:nvPr/>
        </p:nvCxnSpPr>
        <p:spPr>
          <a:xfrm flipH="1" rot="10800000">
            <a:off x="5181600" y="41910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67" name="Google Shape;267;p13"/>
          <p:cNvCxnSpPr/>
          <p:nvPr/>
        </p:nvCxnSpPr>
        <p:spPr>
          <a:xfrm>
            <a:off x="5181600" y="4572000"/>
            <a:ext cx="533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8" name="Google Shape;268;p13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Project/Asset Level</a:t>
            </a:r>
            <a:br>
              <a:rPr lang="en-US" sz="4000"/>
            </a:br>
            <a:r>
              <a:rPr lang="en-US" sz="4000"/>
              <a:t>Capital Structures in Real Estate</a:t>
            </a:r>
            <a:endParaRPr sz="4000"/>
          </a:p>
        </p:txBody>
      </p:sp>
      <p:sp>
        <p:nvSpPr>
          <p:cNvPr id="274" name="Google Shape;27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First Mortgage Debt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Second Mortgage Debt</a:t>
            </a:r>
            <a:br>
              <a:rPr lang="en-US"/>
            </a:br>
            <a:r>
              <a:rPr lang="en-US"/>
              <a:t>	 (aka. “Mezzanine” or “Junior” Debt)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Preferred Equity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Common Equity, further differentiated as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/>
              <a:t>Capital (“Money”) Partner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/>
              <a:t>Entrepreneurial (“Expertise”) Partner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“Development Partner” or “Promote Partner”</a:t>
            </a:r>
            <a:endParaRPr/>
          </a:p>
        </p:txBody>
      </p:sp>
      <p:sp>
        <p:nvSpPr>
          <p:cNvPr id="275" name="Google Shape;275;p14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Operating vs. Capital Transactions</a:t>
            </a:r>
            <a:endParaRPr b="1"/>
          </a:p>
        </p:txBody>
      </p:sp>
      <p:sp>
        <p:nvSpPr>
          <p:cNvPr id="281" name="Google Shape;281;p15"/>
          <p:cNvSpPr txBox="1"/>
          <p:nvPr>
            <p:ph idx="1" type="body"/>
          </p:nvPr>
        </p:nvSpPr>
        <p:spPr>
          <a:xfrm>
            <a:off x="457200" y="1676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For clarification…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In the following slides, when we refer to priorities of payments, “operating cash flows” are distinguished from cash from “capital transactions.”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For example, when we say the Preferred Equity receives payment before the Common Equity, we generally mean that cash flows from operations go to pay just the Preferred dividend (i.e. </a:t>
            </a:r>
            <a:r>
              <a:rPr b="1" i="1" lang="en-US" sz="2000">
                <a:solidFill>
                  <a:srgbClr val="0000FF"/>
                </a:solidFill>
              </a:rPr>
              <a:t>return on</a:t>
            </a:r>
            <a:r>
              <a:rPr b="1" lang="en-US" sz="2000">
                <a:solidFill>
                  <a:srgbClr val="0000FF"/>
                </a:solidFill>
              </a:rPr>
              <a:t> capital</a:t>
            </a:r>
            <a:r>
              <a:rPr lang="en-US" sz="2000"/>
              <a:t>, as opposed to a </a:t>
            </a:r>
            <a:r>
              <a:rPr b="1" i="1" lang="en-US" sz="2000">
                <a:solidFill>
                  <a:srgbClr val="0000FF"/>
                </a:solidFill>
              </a:rPr>
              <a:t>return of </a:t>
            </a:r>
            <a:r>
              <a:rPr b="1" lang="en-US" sz="2000">
                <a:solidFill>
                  <a:srgbClr val="0000FF"/>
                </a:solidFill>
              </a:rPr>
              <a:t>capital</a:t>
            </a:r>
            <a:r>
              <a:rPr lang="en-US" sz="2000"/>
              <a:t>) before distributions are made to Common Equity.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On a </a:t>
            </a:r>
            <a:r>
              <a:rPr b="1" lang="en-US" sz="2000"/>
              <a:t>Capital Transaction</a:t>
            </a:r>
            <a:r>
              <a:rPr lang="en-US" sz="2000"/>
              <a:t>, such as a sale, the preferred Equity would receive its </a:t>
            </a:r>
            <a:r>
              <a:rPr b="1" i="1" lang="en-US" sz="2000"/>
              <a:t>return of </a:t>
            </a:r>
            <a:r>
              <a:rPr b="1" lang="en-US" sz="2000"/>
              <a:t>capital </a:t>
            </a:r>
            <a:r>
              <a:rPr lang="en-US" sz="2000"/>
              <a:t>before the Common Equity receives a </a:t>
            </a:r>
            <a:r>
              <a:rPr i="1" lang="en-US" sz="2000"/>
              <a:t>return of </a:t>
            </a:r>
            <a:r>
              <a:rPr lang="en-US" sz="2000"/>
              <a:t>equity.</a:t>
            </a:r>
            <a:endParaRPr/>
          </a:p>
        </p:txBody>
      </p:sp>
      <p:sp>
        <p:nvSpPr>
          <p:cNvPr id="282" name="Google Shape;282;p15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Mezzanine Debt</a:t>
            </a:r>
            <a:endParaRPr b="1"/>
          </a:p>
        </p:txBody>
      </p:sp>
      <p:sp>
        <p:nvSpPr>
          <p:cNvPr id="288" name="Google Shape;288;p16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Characteristics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Structured as a loan, including a “lien” on the property, but </a:t>
            </a:r>
            <a:r>
              <a:rPr b="1" i="1" lang="en-US" sz="2000"/>
              <a:t>subordinate to 1</a:t>
            </a:r>
            <a:r>
              <a:rPr b="1" baseline="30000" i="1" lang="en-US" sz="2000"/>
              <a:t>st</a:t>
            </a:r>
            <a:r>
              <a:rPr b="1" i="1" lang="en-US" sz="2000"/>
              <a:t> Mortgage debt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Typically </a:t>
            </a:r>
            <a:r>
              <a:rPr b="1" i="1" lang="en-US" sz="2000"/>
              <a:t>fixed term </a:t>
            </a:r>
            <a:r>
              <a:rPr lang="en-US" sz="2000"/>
              <a:t>for repayment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Rates and returns typically higher than 1</a:t>
            </a:r>
            <a:r>
              <a:rPr baseline="30000" lang="en-US" sz="2000"/>
              <a:t>st</a:t>
            </a:r>
            <a:r>
              <a:rPr lang="en-US" sz="2000"/>
              <a:t> Mortgage debt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Security and Priority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No payments received until 1</a:t>
            </a:r>
            <a:r>
              <a:rPr baseline="30000" lang="en-US" sz="2000"/>
              <a:t>st</a:t>
            </a:r>
            <a:r>
              <a:rPr lang="en-US" sz="2000"/>
              <a:t> Mortgage debt obligations are paid, priority payment over equity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Junior to First Mortgage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In Development, funds are contributed after equity, before 1</a:t>
            </a:r>
            <a:r>
              <a:rPr baseline="30000" lang="en-US" sz="2000"/>
              <a:t>st</a:t>
            </a:r>
            <a:r>
              <a:rPr lang="en-US" sz="2000"/>
              <a:t> Mortgage debt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/>
              <a:t>Failure to pay interest results in default (unless otherwise specified) and </a:t>
            </a:r>
            <a:r>
              <a:rPr b="1" i="1" lang="en-US" sz="2000"/>
              <a:t>possible foreclosure action to recover capital</a:t>
            </a:r>
            <a:endParaRPr/>
          </a:p>
        </p:txBody>
      </p:sp>
      <p:sp>
        <p:nvSpPr>
          <p:cNvPr id="289" name="Google Shape;289;p16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Mezzanine debt</a:t>
            </a:r>
            <a:endParaRPr/>
          </a:p>
        </p:txBody>
      </p:sp>
      <p:sp>
        <p:nvSpPr>
          <p:cNvPr id="295" name="Google Shape;29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Geltner &amp; Miller talk about the term “mezzanine debt” as originally being an interest in the property – like a second mortgage </a:t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But since the 2000s, mezzanine debt is best understood as a situation where the lender has a claim on the business entity’s ownership interests. </a:t>
            </a:r>
            <a:endParaRPr/>
          </a:p>
        </p:txBody>
      </p:sp>
      <p:sp>
        <p:nvSpPr>
          <p:cNvPr id="296" name="Google Shape;296;p17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Preferred Equity</a:t>
            </a:r>
            <a:endParaRPr b="1"/>
          </a:p>
        </p:txBody>
      </p:sp>
      <p:sp>
        <p:nvSpPr>
          <p:cNvPr id="302" name="Google Shape;302;p18"/>
          <p:cNvSpPr txBox="1"/>
          <p:nvPr>
            <p:ph idx="1" type="body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Characteristics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Private agreement with equity group; part of ownership structure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Provides a </a:t>
            </a:r>
            <a:r>
              <a:rPr b="1" i="1" lang="en-US" sz="1800">
                <a:solidFill>
                  <a:srgbClr val="0000FF"/>
                </a:solidFill>
              </a:rPr>
              <a:t>specified “preferred” dividend</a:t>
            </a:r>
            <a:r>
              <a:rPr b="1" i="1" lang="en-US" sz="1800"/>
              <a:t> </a:t>
            </a:r>
            <a:r>
              <a:rPr i="1" lang="en-US" sz="1800"/>
              <a:t>or yield payment </a:t>
            </a:r>
            <a:r>
              <a:rPr lang="en-US" sz="1800"/>
              <a:t>in the form of a contractually-stated return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Offers </a:t>
            </a:r>
            <a:r>
              <a:rPr b="1" i="1" lang="en-US" sz="1800"/>
              <a:t>fixed return</a:t>
            </a:r>
            <a:r>
              <a:rPr lang="en-US" sz="1800"/>
              <a:t>, higher than Mezz debt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Typically doesn’t share in capital appreciation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Unpaid return accrues until paid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>
                <a:solidFill>
                  <a:srgbClr val="0000FF"/>
                </a:solidFill>
              </a:rPr>
              <a:t>No operational control or decision making power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Security and Priority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No collateral security</a:t>
            </a:r>
            <a:r>
              <a:rPr lang="en-US" sz="1800"/>
              <a:t>, no formal lien on the underlying real estate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lang="en-US" sz="1800">
                <a:solidFill>
                  <a:srgbClr val="0000FF"/>
                </a:solidFill>
              </a:rPr>
              <a:t>Subordinate to all debt</a:t>
            </a:r>
            <a:r>
              <a:rPr lang="en-US" sz="1800"/>
              <a:t>; senior to common equity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In Development, funds are contributed before debt; capital returned after debt, before equity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No payments permitted until 1</a:t>
            </a:r>
            <a:r>
              <a:rPr baseline="30000" lang="en-US" sz="1800"/>
              <a:t>st</a:t>
            </a:r>
            <a:r>
              <a:rPr lang="en-US" sz="1800"/>
              <a:t> Mortgage debt obligations are paid, priority payment over equity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Not subject to capital calls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p18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Common Equity –</a:t>
            </a:r>
            <a:br>
              <a:rPr b="1" lang="en-US" sz="3600"/>
            </a:br>
            <a:r>
              <a:rPr b="1" lang="en-US" sz="3600"/>
              <a:t>“Capital Partner”</a:t>
            </a:r>
            <a:endParaRPr b="1" sz="3600"/>
          </a:p>
        </p:txBody>
      </p:sp>
      <p:sp>
        <p:nvSpPr>
          <p:cNvPr id="309" name="Google Shape;309;p19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Characteristics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Organized as a different “class” of partners or stockholders in the ownership equity entity. Share property ownership rights with “entrepreneurial partner”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Money partner </a:t>
            </a:r>
            <a:r>
              <a:rPr b="1" i="1" lang="en-US" sz="1800">
                <a:solidFill>
                  <a:srgbClr val="0000FF"/>
                </a:solidFill>
              </a:rPr>
              <a:t>brings most of the required equity cash </a:t>
            </a:r>
            <a:r>
              <a:rPr lang="en-US" sz="1800"/>
              <a:t>but lacks the ability or desire to manage the operation of the project or property. 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Money partner has </a:t>
            </a:r>
            <a:r>
              <a:rPr b="1" i="1" lang="en-US" sz="1800">
                <a:solidFill>
                  <a:srgbClr val="0000FF"/>
                </a:solidFill>
              </a:rPr>
              <a:t>control over major capital decisions </a:t>
            </a:r>
            <a:r>
              <a:rPr lang="en-US" sz="1800"/>
              <a:t>(financing and asset buy/sell decisions).  </a:t>
            </a:r>
            <a:r>
              <a:rPr b="1" i="1" lang="en-US" sz="1800"/>
              <a:t>No “day-to-day” operational control</a:t>
            </a:r>
            <a:r>
              <a:rPr lang="en-US" sz="1800"/>
              <a:t>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Security and Priority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b="1" i="1" lang="en-US" sz="1800"/>
              <a:t>Lower priority than all debt and preferred equity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May receive preference to “entrepreneurial partner”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Typically no recourse or guarantee provided to 1</a:t>
            </a:r>
            <a:r>
              <a:rPr baseline="30000" lang="en-US" sz="1800"/>
              <a:t>st</a:t>
            </a:r>
            <a:r>
              <a:rPr lang="en-US" sz="1800"/>
              <a:t> mortgage lender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Residual claim on cash flows; </a:t>
            </a:r>
            <a:r>
              <a:rPr b="1" i="1" lang="en-US" sz="1800"/>
              <a:t>suffers shortfalls and receives all upside </a:t>
            </a:r>
            <a:r>
              <a:rPr lang="en-US" sz="1800"/>
              <a:t>surplus and value appreciation (shared with “entrepreneurial partner”)</a:t>
            </a:r>
            <a:endParaRPr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19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Common Equity –</a:t>
            </a:r>
            <a:br>
              <a:rPr b="1" lang="en-US" sz="3600"/>
            </a:br>
            <a:r>
              <a:rPr b="1" lang="en-US" sz="3600"/>
              <a:t>“Entrepreneurial Partner”</a:t>
            </a:r>
            <a:endParaRPr b="1" sz="3600"/>
          </a:p>
        </p:txBody>
      </p:sp>
      <p:sp>
        <p:nvSpPr>
          <p:cNvPr id="316" name="Google Shape;316;p20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Characteristics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Organized as a different “class” of partners or stockholders in the ownership equity entity. Share property ownership rights with “money partner”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Entrepreneurial partner has </a:t>
            </a:r>
            <a:r>
              <a:rPr b="1" i="1" lang="en-US" sz="1800">
                <a:solidFill>
                  <a:srgbClr val="0000FF"/>
                </a:solidFill>
              </a:rPr>
              <a:t>operational control</a:t>
            </a:r>
            <a:r>
              <a:rPr lang="en-US" sz="1800"/>
              <a:t>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Entrepreneurial investor may essentially bring </a:t>
            </a:r>
            <a:r>
              <a:rPr b="1" i="1" lang="en-US" sz="1800"/>
              <a:t>operational management ability and the deal itself</a:t>
            </a:r>
            <a:r>
              <a:rPr lang="en-US" sz="1800"/>
              <a:t> (e.g., in a development, the land with entitlements and permits, as well as the project design).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Entrepreneurial partner may or may not subordinate some of its equity claim to that of the money partner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May </a:t>
            </a:r>
            <a:r>
              <a:rPr b="1" i="1" lang="en-US" sz="1800">
                <a:solidFill>
                  <a:srgbClr val="0000FF"/>
                </a:solidFill>
              </a:rPr>
              <a:t>earn additional fees</a:t>
            </a:r>
            <a:r>
              <a:rPr lang="en-US" sz="1800"/>
              <a:t>, such as a “</a:t>
            </a:r>
            <a:r>
              <a:rPr b="1" lang="en-US" sz="1800">
                <a:solidFill>
                  <a:srgbClr val="0000FF"/>
                </a:solidFill>
              </a:rPr>
              <a:t>management fee</a:t>
            </a:r>
            <a:r>
              <a:rPr lang="en-US" sz="1800"/>
              <a:t>,” “asset management fee” or “development fee” for services provided to the ownership group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Security and Priority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/>
              <a:t>Property owner; holds ownership risks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20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Common Equity – “Waterfall”</a:t>
            </a:r>
            <a:endParaRPr b="1" sz="3600"/>
          </a:p>
        </p:txBody>
      </p:sp>
      <p:sp>
        <p:nvSpPr>
          <p:cNvPr id="323" name="Google Shape;323;p21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solidFill>
                  <a:srgbClr val="0000FF"/>
                </a:solidFill>
              </a:rPr>
              <a:t>“Money partner” and “Entrepreneurial partner” negotiate rules for sharing of operational cash flows and “capital events”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Cash flow distributions of equity entity’s overall operating cash flow among the partners (after payment of debt service and dividend to “preferred equity” class), typically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Preferred component, </a:t>
            </a:r>
            <a:r>
              <a:rPr i="1" lang="en-US" sz="1600"/>
              <a:t>either</a:t>
            </a:r>
            <a:r>
              <a:rPr lang="en-US" sz="1600"/>
              <a:t> 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“</a:t>
            </a:r>
            <a:r>
              <a:rPr b="1" i="1" lang="en-US" sz="1600"/>
              <a:t>Pro rata pari passu</a:t>
            </a:r>
            <a:r>
              <a:rPr lang="en-US" sz="1600"/>
              <a:t>” basis (proportionately relative to their capital contributions) up to some “hurdle” rate, (e.g. 9% return on invested equity) or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b="1" i="1" lang="en-US" sz="1600"/>
              <a:t>Preferred return</a:t>
            </a:r>
            <a:r>
              <a:rPr lang="en-US" sz="1600"/>
              <a:t> to “money partner” to some level, then a “make-up” or “catch up” to the “entrepreneurial partner”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Promote component,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b="1" lang="en-US" sz="1600">
                <a:solidFill>
                  <a:srgbClr val="0000FF"/>
                </a:solidFill>
              </a:rPr>
              <a:t>Remaining cash flows split at some proportion, typically disproportionately in favor of the “entrepreneurial partner,” </a:t>
            </a:r>
            <a:r>
              <a:rPr lang="en-US" sz="1600"/>
              <a:t>(say 50/50); can have multiple splits as returns increase.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solidFill>
                  <a:srgbClr val="0000FF"/>
                </a:solidFill>
              </a:rPr>
              <a:t>Capital distributions (and capital calls) may follow the same or different rules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324" name="Google Shape;324;p21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Capital Structure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304800" y="2743200"/>
            <a:ext cx="19812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 Cost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22"/>
          <p:cNvCxnSpPr/>
          <p:nvPr/>
        </p:nvCxnSpPr>
        <p:spPr>
          <a:xfrm flipH="1" rot="10800000">
            <a:off x="2286000" y="2209800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2" name="Google Shape;332;p22"/>
          <p:cNvCxnSpPr/>
          <p:nvPr/>
        </p:nvCxnSpPr>
        <p:spPr>
          <a:xfrm>
            <a:off x="2286000" y="2971800"/>
            <a:ext cx="8382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3" name="Google Shape;333;p22"/>
          <p:cNvSpPr txBox="1"/>
          <p:nvPr/>
        </p:nvSpPr>
        <p:spPr>
          <a:xfrm>
            <a:off x="3124200" y="2057400"/>
            <a:ext cx="1447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3124200" y="3733800"/>
            <a:ext cx="1447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5715000" y="3048000"/>
            <a:ext cx="28194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Preferred Equity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5715000" y="38862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Equity-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 Partner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22"/>
          <p:cNvCxnSpPr/>
          <p:nvPr/>
        </p:nvCxnSpPr>
        <p:spPr>
          <a:xfrm flipH="1" rot="10800000">
            <a:off x="4572000" y="3200400"/>
            <a:ext cx="1143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8" name="Google Shape;338;p22"/>
          <p:cNvCxnSpPr/>
          <p:nvPr/>
        </p:nvCxnSpPr>
        <p:spPr>
          <a:xfrm>
            <a:off x="4572000" y="39624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9" name="Google Shape;339;p22"/>
          <p:cNvSpPr txBox="1"/>
          <p:nvPr/>
        </p:nvSpPr>
        <p:spPr>
          <a:xfrm>
            <a:off x="5715000" y="1447800"/>
            <a:ext cx="27432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Mortgage Loan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5715000" y="21336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Mortgage Loan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(Mezzanine or Junior)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5715000" y="4724400"/>
            <a:ext cx="2819400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Equity-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Entrepreneurial Partner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 flipH="1" rot="10800000">
            <a:off x="4572000" y="1676400"/>
            <a:ext cx="1143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3" name="Google Shape;343;p22"/>
          <p:cNvCxnSpPr/>
          <p:nvPr/>
        </p:nvCxnSpPr>
        <p:spPr>
          <a:xfrm>
            <a:off x="4572000" y="2286000"/>
            <a:ext cx="1143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4" name="Google Shape;344;p22"/>
          <p:cNvCxnSpPr/>
          <p:nvPr/>
        </p:nvCxnSpPr>
        <p:spPr>
          <a:xfrm flipH="1" rot="10800000">
            <a:off x="5181600" y="4191000"/>
            <a:ext cx="533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5" name="Google Shape;345;p22"/>
          <p:cNvCxnSpPr/>
          <p:nvPr/>
        </p:nvCxnSpPr>
        <p:spPr>
          <a:xfrm>
            <a:off x="5181600" y="4572000"/>
            <a:ext cx="533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6" name="Google Shape;346;p22"/>
          <p:cNvSpPr txBox="1"/>
          <p:nvPr>
            <p:ph idx="12" type="sldNum"/>
          </p:nvPr>
        </p:nvSpPr>
        <p:spPr>
          <a:xfrm>
            <a:off x="6553200" y="6553199"/>
            <a:ext cx="21336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Common Variations</a:t>
            </a:r>
            <a:endParaRPr b="1" sz="3600"/>
          </a:p>
        </p:txBody>
      </p:sp>
      <p:sp>
        <p:nvSpPr>
          <p:cNvPr id="352" name="Google Shape;352;p23"/>
          <p:cNvSpPr txBox="1"/>
          <p:nvPr>
            <p:ph idx="1" type="body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Debt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Participation loans </a:t>
            </a:r>
            <a:r>
              <a:rPr b="1" lang="en-US" sz="1600">
                <a:solidFill>
                  <a:srgbClr val="0000FF"/>
                </a:solidFill>
              </a:rPr>
              <a:t>– lender receives a proportion of capital appreciation </a:t>
            </a:r>
            <a:r>
              <a:rPr lang="en-US" sz="1600"/>
              <a:t>(that is, in addition to repayment of loan balance, lender receives a portion of the property value increase (“</a:t>
            </a:r>
            <a:r>
              <a:rPr b="1" lang="en-US" sz="1600">
                <a:solidFill>
                  <a:srgbClr val="0000FF"/>
                </a:solidFill>
              </a:rPr>
              <a:t>equity kicker</a:t>
            </a:r>
            <a:r>
              <a:rPr lang="en-US" sz="1600"/>
              <a:t>” – similar concept, just a better cocktail party term)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Equity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Preferred returns may or may not “accrue” or carry forward if they are not made in a given year.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Returns may have a “look-back” provision, either in terms of a cumulative return or an IRR.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“Profits interest” may be an equity class that pays no capital in, but receives a share of returns above a hurdle (often more palatable than up-front fees to the developer)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Fee based services – typically to “entrepreneurial partner” or a related entity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Management fees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Asset management fees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US" sz="1600"/>
              <a:t>Development fees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353" name="Google Shape;353;p23"/>
          <p:cNvSpPr txBox="1"/>
          <p:nvPr>
            <p:ph idx="4294967295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oe Walsh, Generic Copyright">
  <a:themeElements>
    <a:clrScheme name="">
      <a:dk1>
        <a:srgbClr val="000000"/>
      </a:dk1>
      <a:lt1>
        <a:srgbClr val="FFFFFF"/>
      </a:lt1>
      <a:dk2>
        <a:srgbClr val="A92026"/>
      </a:dk2>
      <a:lt2>
        <a:srgbClr val="808080"/>
      </a:lt2>
      <a:accent1>
        <a:srgbClr val="C19A25"/>
      </a:accent1>
      <a:accent2>
        <a:srgbClr val="A41E21"/>
      </a:accent2>
      <a:accent3>
        <a:srgbClr val="FFFFFF"/>
      </a:accent3>
      <a:accent4>
        <a:srgbClr val="000000"/>
      </a:accent4>
      <a:accent5>
        <a:srgbClr val="DDCAAC"/>
      </a:accent5>
      <a:accent6>
        <a:srgbClr val="941A1D"/>
      </a:accent6>
      <a:hlink>
        <a:srgbClr val="929199"/>
      </a:hlink>
      <a:folHlink>
        <a:srgbClr val="6F6E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2000-11-21T12:50:15Z</dcterms:created>
  <dc:creator>Joe Walsh</dc:creator>
</cp:coreProperties>
</file>